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Relationship Id="rId13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9.jpg"/><Relationship Id="rId5" Type="http://schemas.openxmlformats.org/officeDocument/2006/relationships/image" Target="../media/image24.jpg"/><Relationship Id="rId6" Type="http://schemas.openxmlformats.org/officeDocument/2006/relationships/image" Target="../media/image1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Relationship Id="rId10" Type="http://schemas.openxmlformats.org/officeDocument/2006/relationships/image" Target="../media/image18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Relationship Id="rId13" Type="http://schemas.openxmlformats.org/officeDocument/2006/relationships/image" Target="../media/image22.jpg"/><Relationship Id="rId14" Type="http://schemas.openxmlformats.org/officeDocument/2006/relationships/image" Target="../media/image30.jpg"/><Relationship Id="rId15" Type="http://schemas.openxmlformats.org/officeDocument/2006/relationships/image" Target="../media/image31.jpg"/><Relationship Id="rId16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jpg"/><Relationship Id="rId4" Type="http://schemas.openxmlformats.org/officeDocument/2006/relationships/image" Target="../media/image29.jpg"/><Relationship Id="rId5" Type="http://schemas.openxmlformats.org/officeDocument/2006/relationships/image" Target="../media/image10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20.jpg"/><Relationship Id="rId10" Type="http://schemas.openxmlformats.org/officeDocument/2006/relationships/image" Target="../media/image36.jpg"/><Relationship Id="rId11" Type="http://schemas.openxmlformats.org/officeDocument/2006/relationships/image" Target="../media/image37.jpg"/><Relationship Id="rId12" Type="http://schemas.openxmlformats.org/officeDocument/2006/relationships/image" Target="../media/image38.jpg"/><Relationship Id="rId13" Type="http://schemas.openxmlformats.org/officeDocument/2006/relationships/image" Target="../media/image39.jpg"/><Relationship Id="rId14" Type="http://schemas.openxmlformats.org/officeDocument/2006/relationships/image" Target="../media/image2.jpg"/><Relationship Id="rId15" Type="http://schemas.openxmlformats.org/officeDocument/2006/relationships/image" Target="../media/image40.jpg"/><Relationship Id="rId16" Type="http://schemas.openxmlformats.org/officeDocument/2006/relationships/image" Target="../media/image2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Relationship Id="rId7" Type="http://schemas.openxmlformats.org/officeDocument/2006/relationships/image" Target="../media/image14.jpg"/><Relationship Id="rId8" Type="http://schemas.openxmlformats.org/officeDocument/2006/relationships/image" Target="../media/image22.jpg"/><Relationship Id="rId9" Type="http://schemas.openxmlformats.org/officeDocument/2006/relationships/image" Target="../media/image45.jpg"/><Relationship Id="rId10" Type="http://schemas.openxmlformats.org/officeDocument/2006/relationships/image" Target="../media/image46.jpg"/><Relationship Id="rId11" Type="http://schemas.openxmlformats.org/officeDocument/2006/relationships/image" Target="../media/image47.jpg"/><Relationship Id="rId12" Type="http://schemas.openxmlformats.org/officeDocument/2006/relationships/image" Target="../media/image48.jpg"/><Relationship Id="rId13" Type="http://schemas.openxmlformats.org/officeDocument/2006/relationships/image" Target="../media/image49.jpg"/><Relationship Id="rId14" Type="http://schemas.openxmlformats.org/officeDocument/2006/relationships/image" Target="../media/image50.jpg"/><Relationship Id="rId15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jp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image" Target="../media/image5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Relationship Id="rId6" Type="http://schemas.openxmlformats.org/officeDocument/2006/relationships/image" Target="../media/image60.jpg"/><Relationship Id="rId7" Type="http://schemas.openxmlformats.org/officeDocument/2006/relationships/image" Target="../media/image52.jpg"/><Relationship Id="rId8" Type="http://schemas.openxmlformats.org/officeDocument/2006/relationships/image" Target="../media/image61.jpg"/><Relationship Id="rId9" Type="http://schemas.openxmlformats.org/officeDocument/2006/relationships/image" Target="../media/image62.jpg"/><Relationship Id="rId10" Type="http://schemas.openxmlformats.org/officeDocument/2006/relationships/image" Target="../media/image63.jpg"/><Relationship Id="rId11" Type="http://schemas.openxmlformats.org/officeDocument/2006/relationships/image" Target="../media/image6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jpg"/><Relationship Id="rId4" Type="http://schemas.openxmlformats.org/officeDocument/2006/relationships/image" Target="../media/image65.jpg"/><Relationship Id="rId5" Type="http://schemas.openxmlformats.org/officeDocument/2006/relationships/image" Target="../media/image11.jpg"/><Relationship Id="rId6" Type="http://schemas.openxmlformats.org/officeDocument/2006/relationships/image" Target="../media/image66.jpg"/><Relationship Id="rId7" Type="http://schemas.openxmlformats.org/officeDocument/2006/relationships/image" Target="../media/image54.jpg"/><Relationship Id="rId8" Type="http://schemas.openxmlformats.org/officeDocument/2006/relationships/image" Target="../media/image67.jpg"/><Relationship Id="rId9" Type="http://schemas.openxmlformats.org/officeDocument/2006/relationships/image" Target="../media/image3.jpg"/><Relationship Id="rId10" Type="http://schemas.openxmlformats.org/officeDocument/2006/relationships/image" Target="../media/image56.jpg"/><Relationship Id="rId11" Type="http://schemas.openxmlformats.org/officeDocument/2006/relationships/image" Target="../media/image68.jpg"/><Relationship Id="rId12" Type="http://schemas.openxmlformats.org/officeDocument/2006/relationships/image" Target="../media/image5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jpg"/><Relationship Id="rId4" Type="http://schemas.openxmlformats.org/officeDocument/2006/relationships/image" Target="../media/image70.jpg"/><Relationship Id="rId5" Type="http://schemas.openxmlformats.org/officeDocument/2006/relationships/image" Target="../media/image13.jpg"/><Relationship Id="rId6" Type="http://schemas.openxmlformats.org/officeDocument/2006/relationships/image" Target="../media/image71.jpg"/><Relationship Id="rId7" Type="http://schemas.openxmlformats.org/officeDocument/2006/relationships/image" Target="../media/image56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Relationship Id="rId10" Type="http://schemas.openxmlformats.org/officeDocument/2006/relationships/image" Target="../media/image51.jpg"/><Relationship Id="rId11" Type="http://schemas.openxmlformats.org/officeDocument/2006/relationships/image" Target="../media/image74.jpg"/><Relationship Id="rId12" Type="http://schemas.openxmlformats.org/officeDocument/2006/relationships/image" Target="../media/image5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jpg"/><Relationship Id="rId4" Type="http://schemas.openxmlformats.org/officeDocument/2006/relationships/image" Target="../media/image76.jpg"/><Relationship Id="rId5" Type="http://schemas.openxmlformats.org/officeDocument/2006/relationships/image" Target="../media/image4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Relationship Id="rId6" Type="http://schemas.openxmlformats.org/officeDocument/2006/relationships/image" Target="../media/image76.jpg"/><Relationship Id="rId7" Type="http://schemas.openxmlformats.org/officeDocument/2006/relationships/image" Target="../media/image83.jpg"/><Relationship Id="rId8" Type="http://schemas.openxmlformats.org/officeDocument/2006/relationships/image" Target="../media/image84.jpg"/><Relationship Id="rId9" Type="http://schemas.openxmlformats.org/officeDocument/2006/relationships/image" Target="../media/image4.jpg"/><Relationship Id="rId10" Type="http://schemas.openxmlformats.org/officeDocument/2006/relationships/image" Target="../media/image85.jpg"/><Relationship Id="rId11" Type="http://schemas.openxmlformats.org/officeDocument/2006/relationships/image" Target="../media/image77.jpg"/><Relationship Id="rId12" Type="http://schemas.openxmlformats.org/officeDocument/2006/relationships/image" Target="../media/image86.jpg"/><Relationship Id="rId13" Type="http://schemas.openxmlformats.org/officeDocument/2006/relationships/image" Target="../media/image78.jpg"/><Relationship Id="rId14" Type="http://schemas.openxmlformats.org/officeDocument/2006/relationships/image" Target="../media/image8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9.jpg"/><Relationship Id="rId4" Type="http://schemas.openxmlformats.org/officeDocument/2006/relationships/image" Target="../media/image88.jpg"/><Relationship Id="rId5" Type="http://schemas.openxmlformats.org/officeDocument/2006/relationships/image" Target="../media/image89.jpg"/><Relationship Id="rId6" Type="http://schemas.openxmlformats.org/officeDocument/2006/relationships/image" Target="../media/image80.jpg"/><Relationship Id="rId7" Type="http://schemas.openxmlformats.org/officeDocument/2006/relationships/image" Target="../media/image90.jpg"/><Relationship Id="rId8" Type="http://schemas.openxmlformats.org/officeDocument/2006/relationships/image" Target="../media/image91.jpg"/><Relationship Id="rId9" Type="http://schemas.openxmlformats.org/officeDocument/2006/relationships/image" Target="../media/image5.jpg"/><Relationship Id="rId10" Type="http://schemas.openxmlformats.org/officeDocument/2006/relationships/image" Target="../media/image92.jpg"/><Relationship Id="rId11" Type="http://schemas.openxmlformats.org/officeDocument/2006/relationships/image" Target="../media/image93.jpg"/><Relationship Id="rId12" Type="http://schemas.openxmlformats.org/officeDocument/2006/relationships/image" Target="../media/image9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12.jpg"/><Relationship Id="rId6" Type="http://schemas.openxmlformats.org/officeDocument/2006/relationships/image" Target="../media/image95.jpg"/><Relationship Id="rId7" Type="http://schemas.openxmlformats.org/officeDocument/2006/relationships/image" Target="../media/image96.jpg"/><Relationship Id="rId8" Type="http://schemas.openxmlformats.org/officeDocument/2006/relationships/image" Target="../media/image97.jpg"/><Relationship Id="rId9" Type="http://schemas.openxmlformats.org/officeDocument/2006/relationships/image" Target="../media/image6.jpg"/><Relationship Id="rId10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920240" cy="832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30428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FFC95C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33472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Корейський рамен</a:t>
            </a:r>
          </a:p>
          <a:p>
            <a:pPr algn="l">
              <a:lnSpc>
                <a:spcPct val="105000"/>
              </a:lnSpc>
            </a:pPr>
            <a:r>
              <a:rPr sz="4600" b="1" spc="-10">
                <a:solidFill>
                  <a:srgbClr val="FFFFFF"/>
                </a:solidFill>
                <a:latin typeface="Segoe UI"/>
              </a:rPr>
              <a:t>в Україні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53712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Оцінка шести SKU SIAS — рамену в пакеті — проти ринкової полиці та ціна закупівлі для полиці 120 грн:</a:t>
            </a:r>
          </a:p>
          <a:p>
            <a:pPr algn="l">
              <a:lnSpc>
                <a:spcPct val="150000"/>
              </a:lnSpc>
            </a:pPr>
            <a:r>
              <a:rPr sz="1100" b="0" spc="-10">
                <a:solidFill>
                  <a:srgbClr val="9FA9C4"/>
                </a:solidFill>
                <a:latin typeface="Segoe UI"/>
              </a:rPr>
              <a:t>96 SKU корейського рамену · 11 брендів · 13 мереж із 18 · зріз каталогів 29.09.2026 · митна база 2025–2026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449824"/>
            <a:ext cx="45720" cy="8412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5477256"/>
            <a:ext cx="100584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Усі ціни — роздріб за одну пачку, з ПДВ, на дату зрізу. Опт, ящики та мультипаки до медіан не входять.</a:t>
            </a:r>
          </a:p>
          <a:p>
            <a:pPr algn="l">
              <a:lnSpc>
                <a:spcPct val="14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Фото товарів — з каталогів мереж, як ідентифікація SKU. Фінансова модель — RAMEN_FINMODEL_4_TABS_PRESENTATION.xlsx.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Шість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ціни в колоді — за одну упаковку, з ПДВ. Опт і ящики до розрахунку не входять.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11 брендів · 4 сегменти · 13 мереж із 18. Кожна позиція має ціну в каталозі.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27632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27632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ЗА МИТНИЦЕЮ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933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838,5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50592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За весь 2025 рік — 711,6 т.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27632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27632"/>
            <a:ext cx="41148" cy="12984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2026 ПРОТИ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93392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×3,5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5059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Ті самі п’ять місяців: 239,7 → 838,5 т (+249,8 %); інвойс $1,02 → $3,20 млн.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054096"/>
            <a:ext cx="41148" cy="12984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ІМПОРТ З КОРЕЇ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Січень–травень 2026: +116,3 % до 54,8 т торік. Це 14 % коду; лідер — В’єтнам, 166,7 т.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3054096"/>
            <a:ext cx="3547872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3054096"/>
            <a:ext cx="41148" cy="12984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209544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РОЗРИВ ЦІН ФОРМАТІВ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419856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×1,8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87705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г: стакан 154 грн проти 86 грн у пакеті з бульйоном.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3054096"/>
            <a:ext cx="3566160" cy="12984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3054096"/>
            <a:ext cx="41148" cy="12984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209544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ЦІЛЬОВА ПОЛИЦЯ SIAS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419856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770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P75 серед 71 пакетів: +17 % до медіани 102,8 грн; дорожчих — 18 із 71.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517136"/>
            <a:ext cx="41148" cy="16459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Категорія повністю імпортна і швидко росте: ввіз за п’ять місяців 2026 року вже більший за весь 2025.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Корея росте повільніше за код в цілому: її частка впала з 23 % до 14 %.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Полиця концентрована: Samyang і Nongshim дають 54 позиції з 96 і стоять у 10–11 мережах.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4517136"/>
            <a:ext cx="5413248" cy="1645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0" y="4517136"/>
            <a:ext cx="41148" cy="16459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681728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ПОТРІБНО ВІД 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956048"/>
            <a:ext cx="4864608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1. Полиця 120 грн за моделлю з маржею 30 % вимагає закупівлі €0,54 (повна машина) або €0,32 (6 палет).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2. Зараз SIAS пропонує €0,65–0,75: потрібне зниження — на 17–28 % для повної машини і на 51–57 % для 6 палет.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3. Тому торг іде про ціну закупівлі, а не про ціну на полиці.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29.09.2026 (96 SKU); митна база користувача, код 1902 30 10 00, січень–травень 2025 і 2026; фінмодель RAMEN_FINMODEL_4_TABS (вкладки «Цена 120 грн»).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Код УКТ ЗЕД 1902 30 10 00: обсяг товарного коду, а не роздрібні продажі рамену. Однакові п’ять місяців для порівняння.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1627632"/>
            <a:ext cx="41148" cy="11887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4827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ОБСЯГ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F9A50B"/>
                </a:solidFill>
                <a:latin typeface="Segoe UI"/>
              </a:rPr>
              <a:t>+249,8 %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4827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239,7 → 838,5 т за січень–травень: ×3,5.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1627632"/>
            <a:ext cx="2487168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4000" y="1627632"/>
            <a:ext cx="41148" cy="11887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0032" y="1783080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ІНВОЙС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1993392"/>
            <a:ext cx="2011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spc="-10">
                <a:solidFill>
                  <a:srgbClr val="1E9EA6"/>
                </a:solidFill>
                <a:latin typeface="Segoe UI"/>
              </a:rPr>
              <a:t>+212,4 %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2381631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$1,02 → $3,20 млн: ×3,1.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2944368"/>
            <a:ext cx="5138928" cy="16276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2944368"/>
            <a:ext cx="41148" cy="16276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310896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КАЖЕ СЕРЕДНЯ ЦІНА ІМПОРТУ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59" y="3383280"/>
            <a:ext cx="459028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за кілограм: $4,27 у 2025 → $3,82 у 2026, тобто −10,7 %. Ввіз росте швидше за гроші: ймовірно, в обсязі додається дешевший товар.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SIAS це означає: категорія розширюється за рахунок цінового низу, а не премії.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681728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92240" y="4681728"/>
            <a:ext cx="41148" cy="14813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59" y="4846320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ЧОГО ЦЕ НЕ ПОКАЗУЄ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59" y="5120640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охоплює товар усіх країн походження, не лише корейський. Частки брендів і форматів у митній базі не видно — вони взяті з каталогів мереж.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303520"/>
            <a:ext cx="566928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303520"/>
            <a:ext cx="41148" cy="8778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7" y="5468112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ЯК ЧИТАТИ ЦИФРИ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7" y="5742431"/>
            <a:ext cx="512064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Порівняння — за однакові п’ять місяців (01–05). За увесь 2025 рік — 711,6 т: за п’ять місяців 2026-го ввезено вже на 18 % більше.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 2025 і 2026; повний 2025 рік — 711,6 т. Митна вартість на кілограм — власний розрахунок: інвойс ÷ вага.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їде: Корея — друга за обсягом країна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2026, код УКТ ЗЕД 1902 30 10 00. Країни за вагою нетто, тонн.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ПО КРАЇНАХ ПОХОДЖЕННЯ,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7" y="1883664"/>
            <a:ext cx="5486" cy="3163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50840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345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11680"/>
            <a:ext cx="1600400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560" y="202996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166,7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41858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Корея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395728"/>
            <a:ext cx="113771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0876" y="241401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80263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779776"/>
            <a:ext cx="834527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7687" y="27980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86,9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18668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163824"/>
            <a:ext cx="5622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5452" y="318211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58,6 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570732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50008" y="3547872"/>
            <a:ext cx="550192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3352" y="356616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57,3 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95478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3931920"/>
            <a:ext cx="48774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10908" y="395020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50,8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338828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315968"/>
            <a:ext cx="468168" cy="201168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91328" y="43342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48,8 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72287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700016"/>
            <a:ext cx="2409368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2528" y="471830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1627632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КОРЕЯ → УКРАЇНА · ПОРІВНЯННЯ ОДНАКОВИХ ПЕРІОДІВ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1920240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СІЧЕНЬ–ТРАВЕНЬ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1920240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1920240"/>
            <a:ext cx="10241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ЗМІНА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210312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Обсяг, 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54,8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210312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118,5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103120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+116,3 %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19088" y="2414016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45059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Інвойс, тис. $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348,6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45059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809,2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2450592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+132,1 %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279806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$ за кг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6,36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279806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6,83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2798064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+7,4 %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19088" y="3108960"/>
            <a:ext cx="5138928" cy="338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31455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-10">
                <a:solidFill>
                  <a:srgbClr val="303A5D"/>
                </a:solidFill>
                <a:latin typeface="Segoe UI"/>
              </a:rPr>
              <a:t>Частка в імпорті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22,9 %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18320" y="3145536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3145536"/>
            <a:ext cx="1024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−8,7 п.п.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92240" y="3639312"/>
            <a:ext cx="5138928" cy="14813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92240" y="3639312"/>
            <a:ext cx="41148" cy="148132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66559" y="380390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КОРЕЯ ДОРОЖЧА ЗА СЕРЕДНЄ В 1,8 РАЗА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59" y="4078224"/>
            <a:ext cx="4590288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Митна вартість корейського ввозу — $6,83/кг проти $3,82 в цілому по коду. Покупець у категорії вже платить премію за корейський товар.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5285232"/>
            <a:ext cx="5138928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5285232"/>
            <a:ext cx="41148" cy="9144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66559" y="5449824"/>
            <a:ext cx="4590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АЛЕ ЧАСТКА КОРЕЇ ПАДАЄ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59" y="5724144"/>
            <a:ext cx="4590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Код в цілому виріс на 250 %, Корея — на 116 %: різницю забрав дешевший ввіз.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285232"/>
            <a:ext cx="5760720" cy="9144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285232"/>
            <a:ext cx="41148" cy="9144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7" y="5449824"/>
            <a:ext cx="5212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СКІЛЬКИ ЦЕ В ПАЧКАХ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7" y="5724144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118,5 т при середній вазі пачки 120 г — близько 0,99 млн пачок за п’ять місяців. Це оцінка порядку величини, не продажі.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00, січень–травень. Частка Кореї, $/кг і кількість пачок — власний розрахунок. Країна походження за митною декларацією.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Чотири сегменти, 96 позицій: спершу спосіб приготування, далі вага, ціна й бренди. Належність наших шести SKU до сегментів 1 чи 2 потребує інструкцій приготування.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6517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25237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7" y="3639312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388620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4133088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437997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1627632"/>
            <a:ext cx="26517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1700784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066543"/>
            <a:ext cx="25237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493008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331012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31 %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365760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639312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390448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388620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93008" y="415137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133088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79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93008" y="4398264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37997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3056" y="1627632"/>
            <a:ext cx="26517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1700784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27064" y="2066543"/>
            <a:ext cx="25237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91072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68896" y="331012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19 %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365760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0336" y="3639312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390448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0336" y="388620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415137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0336" y="4133088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154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4398264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0336" y="437997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1627632"/>
            <a:ext cx="2651760" cy="3657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1700784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1" spc="-10">
                <a:solidFill>
                  <a:srgbClr val="FFFFFF"/>
                </a:solidFill>
                <a:latin typeface="Segoe UI"/>
              </a:rPr>
              <a:t>РИСОВІ ГАЛУШКИ ТА ЛОКШИНА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25128" y="2066543"/>
            <a:ext cx="25237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0880905440235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2130551"/>
            <a:ext cx="914400" cy="914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089136" y="3163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310128"/>
            <a:ext cx="16093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7 %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9136" y="365760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0" y="3639312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80–145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89136" y="3904487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3886200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198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89136" y="4151376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ЦІНА ЗА 100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58400" y="4133088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136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89136" y="4398264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4379976"/>
            <a:ext cx="1444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 І МЕДІАНА, грн за пачку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152644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5129784"/>
            <a:ext cx="950976" cy="228600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5740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63240" y="5129784"/>
            <a:ext cx="950976" cy="228600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6324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069080" y="5129784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6908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74920" y="5129784"/>
            <a:ext cx="950976" cy="228600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07492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80760" y="5129784"/>
            <a:ext cx="950976" cy="2286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8076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86600" y="5129784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8660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92440" y="5129784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92440" y="5134356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53728" y="51617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4361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5413248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063240" y="5413248"/>
            <a:ext cx="950976" cy="228600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6324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069080" y="5413248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6908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74920" y="5413248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60" y="5413248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8076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6600" y="5413248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8660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92440" y="5413248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092440" y="5417820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53728" y="54452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719572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057400" y="5696712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5740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063240" y="5696712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6324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69080" y="5696712"/>
            <a:ext cx="950976" cy="228600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06908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74920" y="5696712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7492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080760" y="5696712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08076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86600" y="5696712"/>
            <a:ext cx="950976" cy="2286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8660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2440" y="5696712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092440" y="5701283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53728" y="572871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66928" y="6003036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Рисові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057400" y="5980175"/>
            <a:ext cx="950976" cy="2286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05740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63240" y="5980175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6324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069080" y="5980175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06908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74920" y="5980175"/>
            <a:ext cx="950976" cy="228600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07492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80760" y="5980175"/>
            <a:ext cx="950976" cy="2286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08076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86600" y="5980175"/>
            <a:ext cx="950976" cy="228600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08660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92440" y="5980175"/>
            <a:ext cx="950976" cy="228600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092440" y="5984747"/>
            <a:ext cx="950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53728" y="601217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 SKU · медіана 198 грн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Сегмент визначено за способом приготування й форматом упаковки на фото картки; медіана — за медіанними цінами позицій у каталогах 18 мереж, 29.09.2026. Сільпо (4 позиції без ваги) до сегментів не віднесено.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ЦІНОВІ ПОВЕРХИ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Три поверхи локшини швидкого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Поверх визначено за ціною за 100 г — це єдиний коректний вимір, коли пачки важать від 50 до 200 г. Межі взяті з фактичного розподілу брендів, а не задані наперед.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36576" cy="310896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3E59A8"/>
                </a:solidFill>
                <a:latin typeface="Segoe UI"/>
              </a:rPr>
              <a:t>ПОВЕРХ 1 · ЕКОНОМ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9–25 грн  ·  14–37 грн/100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Українське виробництво і приватні марки мереж · 15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858500244579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2414016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09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Мівіна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22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37 грн/100 г · 16 мереж · 22 SKU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5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503" y="2414016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14015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Reeva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5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015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34 грн/100 г · 14 мереж · 7 SKU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3621024"/>
            <a:ext cx="566928" cy="566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809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Роллтон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21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35 грн/100 г · 1 мереж · 1 SKU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14015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482309741337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3" y="3621024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414015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Щедро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5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E59A8"/>
                </a:solidFill>
                <a:latin typeface="Segoe UI"/>
              </a:rPr>
              <a:t>15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14015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25 грн/100 г · 7 мереж · 4 SKU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1596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1591056"/>
            <a:ext cx="36576" cy="310896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1E9EA6"/>
                </a:solidFill>
                <a:latin typeface="Segoe UI"/>
              </a:rPr>
              <a:t>ПОВЕРХ 2 · МІДЛ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38–124 грн  ·  58–86 грн/100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Азія та імпорт середньої ціни — сюди потрапляє й дешева Корея · 9 брендів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713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880105211456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3" y="2414016"/>
            <a:ext cx="566928" cy="5669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1713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O'Food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77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67 грн/100 г · 2 мереж · 4 SKU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3055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088010459999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2414016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63055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5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89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63055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75 грн/100 г · 5 мереж · 11 SKU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1713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0064843610005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623" y="3621024"/>
            <a:ext cx="566928" cy="56692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51713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Paldo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713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95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713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77 грн/100 г · 5 мереж · 8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63055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5201810202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3621024"/>
            <a:ext cx="566928" cy="56692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63055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Yum Yum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3055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1E9EA6"/>
                </a:solidFill>
                <a:latin typeface="Segoe UI"/>
              </a:rPr>
              <a:t>60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3055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86 грн/100 г · 2 мереж · 1 SKU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65008" y="1591056"/>
            <a:ext cx="3566160" cy="3108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65008" y="1591056"/>
            <a:ext cx="36576" cy="3108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66176" y="1719072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ПОВЕРХ 3 · ІМПОРТНИЙ ПРЕМІУМ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66176" y="1975104"/>
            <a:ext cx="31638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34–204 грн  ·  93–146 грн/100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6176" y="2157984"/>
            <a:ext cx="316382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0" spc="-10">
                <a:solidFill>
                  <a:srgbClr val="717890"/>
                </a:solidFill>
                <a:latin typeface="Segoe UI"/>
              </a:rPr>
              <a:t>Samyang, Nongshim і в'єтнамська рисова локшина · 8 брендів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617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0880107311342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1664" y="2414016"/>
            <a:ext cx="566928" cy="5669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26617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Samyang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112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6617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93 грн/100 г · 11 мереж · 17 SKU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12096" y="2359152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88010431506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7584" y="2414016"/>
            <a:ext cx="566928" cy="56692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12096" y="3081528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Nongshim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12096" y="3236976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12096" y="3383280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107 грн/100 г · 9 мереж · 11 SKU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617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0885098715009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1664" y="3621024"/>
            <a:ext cx="566928" cy="56692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6617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Мама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6617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108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6617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121 грн/100 г · 5 мереж · 7 SKU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12096" y="3566160"/>
            <a:ext cx="1517904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0893601068154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87584" y="3621024"/>
            <a:ext cx="566928" cy="5669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9912096" y="4288536"/>
            <a:ext cx="15179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1C2235"/>
                </a:solidFill>
                <a:latin typeface="Segoe UI"/>
              </a:rPr>
              <a:t>Cung Dinh Kool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12096" y="4443984"/>
            <a:ext cx="151790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123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912096" y="4590288"/>
            <a:ext cx="15179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0" spc="-10">
                <a:solidFill>
                  <a:srgbClr val="717890"/>
                </a:solidFill>
                <a:latin typeface="Segoe UI"/>
              </a:rPr>
              <a:t>118 грн/100 г · 4 мереж · 1 SKU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4791456"/>
            <a:ext cx="11064240" cy="6949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6928" y="4791456"/>
            <a:ext cx="41148" cy="6949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" y="4864608"/>
            <a:ext cx="3200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B53A3A"/>
                </a:solidFill>
                <a:latin typeface="Segoe UI"/>
              </a:rPr>
              <a:t>ДЕ ОПИНЯЮТЬСЯ НАШІ ШІСТЬ SKU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" y="504748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92–107 грн/100 г при полиці 120 грн;</a:t>
            </a:r>
          </a:p>
          <a:p>
            <a:pPr algn="l">
              <a:lnSpc>
                <a:spcPct val="12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124–132 за поточною ціною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6240" y="4864608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При полиці 120 грн наші SKU стають між Samyang (93) і Nongshim (107 грн/100 г) — двома брендами, що тримають 54 позиції з 96. Поточна розрахункова полиця 140–162 грн виводить їх вище за обох.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614416"/>
            <a:ext cx="11064240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6928" y="5614416"/>
            <a:ext cx="41148" cy="1170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1247" y="5779007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ЗМІНЮЄ В КАРТИНІ КОНКУРЕНЦІЇ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1247" y="6053327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Корейський рамен — не однорідний преміум. Ottogi (75), Paldo (77), O’Food (67) і Bibigo (70 грн/100 г) стоять у МІДЛІ поруч із Yum Yum, а не поруч із Samyang і Nongshim; саме ця дешева половина (67–89 грн за пачку) — прямий ціновий конкурент новому бренду.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На пропозицію впливає й фабрика Nestlé в Смолигові (Волинь): запущена в липні 2025, близько $50 млн; ≈ 75 % випуску — на експорт до ЄС під Maggi, решта — на внутрішній ринок (Latifundist, Just Food).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43 %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ГРАМ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83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6002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0017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0001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8001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000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чотири наші SKU по 112,5–113 г — якщо їх спосіб приготування варіння з бульйоном (не підтверджено).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26 % вище за медіану сегмента (95 грн) і вище за P75 (113 грн): дорожчих за 120 лише 7 із 41. Поточна розрахункова полиця 140,55 грн дорожча за всіх, крім 2.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6484361004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8500696671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731155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3 — 68–90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68–90 грн (49–78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521145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68–72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6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062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5521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67–85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Таврія В 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521143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5211454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103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5246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5222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15774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27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112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74–102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15775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124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06484361004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Ottogi (4), O'Food (4), Nongshim (4). Уся ця частина дешевша за нашу ціль 120 грн (максимум 90 грн). Ціна за 100 г у цій частині — медіана 70 грн; наші SKU при полиці 120 грн мають 92–107 — у 1,4 раза більше.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3 — 92–112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92–112 грн (77–97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6484361006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92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22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999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1005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3107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3107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5006966714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85–122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09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0746030066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6958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7311227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731155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(5), Nongshim (3), Samyang (3). Уся ця частина дешевша за нашу ціль 120 грн (максимум 112 грн). Ціна за 100 г у цій частині — медіана 84 грн; наші SKU при полиці 120 грн мають 92–107 — у 1,2 раза більше.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3 — 112–205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позицій за медіанною ціною 112–205 грн (86–158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99–124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55252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55225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1577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4315062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98–129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METRO 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177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112–130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4315776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125–135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148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15002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7036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00311460173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165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(9), Samyang (2), Ottogi (2). Наша ціль 120 грн потрапляє в цю частину: дешевших за неї 6 із 13, дорожчих — 7. Ціна за 100 г у цій частині — медіана 100 грн; наші SKU при полиці 120 грн мають 92–107 — на рівні.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12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позиція без ваги в каталозі, віднесена за назвою (Nongshim Shin Ramyun).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Локшина, з якої воду зливають, а смак дає соус: Buldak, Toomba, Chapaghetti, Volcano, Carbonara.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31 %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ГРАМ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79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745672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5472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16378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58189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90945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Сюди найімовірніше потраплять Gouda Cheese 123 г і Carbonara Spicy 131 г — якщо їх спосіб приготування це підтвердить.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Ціль 120 грн — на 13 % вище за медіану сегмента (106 грн), але нижче P75 (137 грн): дорожчих за 120 — 11 із 30. Прямі аналоги за вагою: Paldo Volcano Carbonara 130 г — 114 грн, Choi’s Carbonara 131 г — 125,20 грн. Поточна полиця 162,18 грн дорожча за 29 із 30.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0616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3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06484361012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7311647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104301547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78–89 грн (57–77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310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95550503028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955505030283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95550503028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95550503028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50092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51782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Bibigo (4), Paldo (2), Ottogi (2). Уся ця частина дешевша за нашу ціль 120 грн (максимум 89 грн). Ціна за 100 г у цій частині — медіана 70 грн; наші SKU при полиці 120 грн мають 92–107 — у 1,4 раза більше.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89–123 грн (68–88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43061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430687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136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06484361000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72–124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Grono · NOVUS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0746030059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90–115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648436101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7311394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06484363106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0107311647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4315772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89–136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64843610127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Paldo (4), Nongshim (3), Samyang (3). Наша ціль 120 грн потрапляє в цю частину: дешевших за неї 9 із 10, дорожчих — 1. Ціна за 100 г у цій частині — медіана 79 грн; наші SKU при полиці 120 грн мають 92–107 — у 1,3 раза більше.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10 позицій за медіанною ціною 125–198 грн (93–150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33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94–184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34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86–151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731105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93–156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88010731164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104301847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131–154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11683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8801731168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157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80107311684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880104301547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Samyang (7), Nongshim (2), Choi's (1). Уся ця частина дорожча за нашу ціль 120 грн (мінімум 125 грн). Ціна за 100 г у цій частині — медіана 108 грн; наші SKU при полиці 120 грн мають 92–107 — на рівні.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* «Сільпо» — три позиції Samyang Buldak без ваги в каталозі, віднесені за назвою.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найдорожчий формат за грам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Заливається окропом, готується без плити: формат для споживання поза домом. Наші шість SKU — пакет, тому це ринковий контекст, а не пряма конкуренція.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19 %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ЦІНА ЗА ГРАМ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154 грн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100 г — медіана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Наші SKU при полиці 120 грн: 92–107.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454727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Ринок вже платить премію за зручність: 154 грн/100 г проти 83 у пакеті з бульйоном — у 1.9 раза більше.</a:t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Сегмент вузький: 18 позицій у 8 мережах і лише 4 бренди. Якщо в лінійці SIAS з’явиться стакан, це єдиний формат, де премія за грам уже прийнята ринком; у поточній пропозиції стакана немає.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006451755702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088010430293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088010430311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65–111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65–111 грн (81–179 грн/100 г).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114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73114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65–86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06451755702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06484361000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088010732107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003114601711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80104304956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8010430293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8" name="Picture 97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80104302931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32120"/>
            <a:ext cx="1106424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32120"/>
            <a:ext cx="41148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696712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ЦЕ ОЗНАЧАЄ ДЛЯ ПОЛИЦІ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71031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Бренди частини: Nongshim (8), Samyang (4), Ottogi (1). Уся ця частина дешевша за нашу ціль 120 грн (максимум 111 грн). Ціна за 100 г у цій частині — медіана 150 грн; наші SKU при полиці 120 грн мають 92–107 — на 34 % менше.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СЕГМЕНТИ 3 І 4 · КАТАЛОГ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 (решта) і рисові галушки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Решта стакана — 4 позиції; сегмент 4 — 7 позицій: рисові галушки й рисова локшина.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решта сегмента   ·   Залити окропом 3–4 хв · без плити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10430281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88010732112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137–150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Таврія В +1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8010430281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100–158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 · METRO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80104303111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639312"/>
            <a:ext cx="36576" cy="19202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3657600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СЕГМЕНТ 4 · РИСОВІ ГАЛУШКИ ТА ЛОКШИНА   ·   7 позицій   ·   медіана 198 грн   ·   136 грн/100 г   ·   вага 80–145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6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0880107311403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4041648"/>
            <a:ext cx="548640" cy="54864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5800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Topokki Рамен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80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67128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31136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31136" y="4233672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Baekje · Рисова зі смаком кімчі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92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106 грн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67328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831336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006484361010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9100" y="4041648"/>
            <a:ext cx="548640" cy="54864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886200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Rabokki локшина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86200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101–124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86200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67528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31536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0880905440235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9300" y="4041648"/>
            <a:ext cx="548640" cy="5486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486400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З сиром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58584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22592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088090544023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0356" y="4041648"/>
            <a:ext cx="548640" cy="54864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077456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Гострі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77456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77456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77456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58784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22792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0880905440237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0556" y="4041648"/>
            <a:ext cx="548640" cy="54864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677656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Зі смаком кімчі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77656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77656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77656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58984" y="3913632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22992" y="3977640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0880905440234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0756" y="4041648"/>
            <a:ext cx="548640" cy="54864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10277856" y="469087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Yopokki · Гостро-солодкі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277856" y="4983480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1E9EA6"/>
                </a:solidFill>
                <a:latin typeface="Segoe UI"/>
              </a:rPr>
              <a:t>145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77856" y="512978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204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277856" y="5349240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5614416"/>
            <a:ext cx="11064240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" y="5614416"/>
            <a:ext cx="41148" cy="7680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1247" y="5779007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ЧОМУ СЕГМЕНТ 4 НЕ Є ОРІЄНТИРОМ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7" y="6053327"/>
            <a:ext cx="10515600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Yopokki за 198–204 грн — рисовий снек (топокі), а не локшина. Використовувати цю ціну як доказ, що «корейське може коштувати 200 грн», не можна: у сегменті 7 позицій і 4 мережі.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СЕГМЕНТИ 3 І 4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 і рисові: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8 мереж із 18 мають позиції цього сегмента; число поруч — скільки позицій сегмента є в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257860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451713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2867890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25290" y="232257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42869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0269" y="263347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1042869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0269" y="294436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521434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78834" y="32552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521434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8834" y="356615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521434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78834" y="3877055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521434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78834" y="4187951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36208" y="4992624"/>
            <a:ext cx="5760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27648" y="5052060"/>
            <a:ext cx="4480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95160" y="5052060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13878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05318" y="5052060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95360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86800" y="505206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619488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10928" y="5052060"/>
            <a:ext cx="8759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14939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06379" y="5052060"/>
            <a:ext cx="3054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5340096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27648" y="5399532"/>
            <a:ext cx="6620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17689" y="5340096"/>
            <a:ext cx="1075334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09129" y="5399532"/>
            <a:ext cx="94731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84464" y="5340096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75904" y="5399532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94622" y="5340096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186062" y="5399532"/>
            <a:ext cx="5907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Суцільна перевірка каталогів 18 мереж, 29.09.2026. Сегменти 3 і 4 разом; «Сільпо» позицій цих сегментів не має.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Кожна клітинка — скільки позицій корейського рамену має цей формат у цій ваговій смузі. Насиченість кольору пропорційна кількості.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11064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МАТРИЦЯ ФОРМАТ × ВАГА · КІЛЬКІСТЬ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40–90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90–110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110–125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125–145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184708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145 г 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95144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Пакет (пачка)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2139696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2139696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97296" y="2139696"/>
            <a:ext cx="151790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51775" y="2139696"/>
            <a:ext cx="1517904" cy="457200"/>
          </a:xfrm>
          <a:prstGeom prst="rect">
            <a:avLst/>
          </a:prstGeom>
          <a:solidFill>
            <a:srgbClr val="5A73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5" y="2139696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06255" y="226771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788920"/>
            <a:ext cx="20116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88336" y="2633472"/>
            <a:ext cx="1517904" cy="457200"/>
          </a:xfrm>
          <a:prstGeom prst="rect">
            <a:avLst/>
          </a:prstGeom>
          <a:solidFill>
            <a:srgbClr val="A9B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8833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81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97296" y="2633472"/>
            <a:ext cx="1517904" cy="457200"/>
          </a:xfrm>
          <a:prstGeom prst="rect">
            <a:avLst/>
          </a:prstGeom>
          <a:solidFill>
            <a:srgbClr val="CFD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06255" y="2633472"/>
            <a:ext cx="1517904" cy="457200"/>
          </a:xfrm>
          <a:prstGeom prst="rect">
            <a:avLst/>
          </a:prstGeom>
          <a:solidFill>
            <a:srgbClr val="EB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06255" y="27614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383279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392423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ВАГОВІ СМУГИ РИНКУ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392423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частка SKU, медіана полиці та ціна за грам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3621024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ВАГОВА СМУГА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23744" y="362102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3621024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ЧАСТКА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362102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9824" y="362102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3408" y="3621024"/>
            <a:ext cx="4937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ЩО ЦЕ ЗА СМУГА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803904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380390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5264" y="380390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19 %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61104" y="38039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104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9824" y="38039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3803904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стакани й міні-пачки: дорого за грам, дешево за чек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4082796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411937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3744" y="41193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5264" y="41193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61104" y="41193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49824" y="4119372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3408" y="411937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перехідна смуга, мало позицій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4434840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23744" y="44348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5264" y="44348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61104" y="443484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49824" y="4434840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3408" y="4434840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найщільніша смуга ринку — Shin Ramyun, Ottogi, Paldo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" y="4713731"/>
            <a:ext cx="10936224" cy="30632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4750307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23744" y="47503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5264" y="4750307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28 %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61104" y="4750307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49824" y="4750307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3408" y="4750307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смуга преміальних лінійок і соусних SKU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06577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23744" y="506577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5264" y="5065775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61104" y="5065775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201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49824" y="5065775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3408" y="5065775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рисові галушки та нестандарт, інший привід споживання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66928" y="5907024"/>
            <a:ext cx="41148" cy="8412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7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7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66 % усіх позицій ринку. За форматом і грамажем заперечень немає.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5907024"/>
            <a:ext cx="5413248" cy="84124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17920" y="5907024"/>
            <a:ext cx="41148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92240" y="6071616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ЦІНА ЗА ГРАМ — ВИЩА ЗА ВІДПОВІДНІ СМУГИ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634593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При полиці 120 грн наші SKU — 92–107 грн/100 г проти 78–86 у їхніх смугах: на 7–37 % вище. За поточною розрахунковою ціною 124–132 грн/100 г.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НАЙПОПУЛЯРНІШІ ФОРМАТИ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Топ поєднань формат + вага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Поєднання з двома і більше позиціями. У 16 таких клітинках лежать 79 позицій із 96 — решта розсіяна по унікальних грамажах.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9344"/>
            <a:ext cx="41148" cy="1170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УПАКОВКА №1 НА РИНКУ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C4820A"/>
                </a:solidFill>
                <a:latin typeface="Segoe UI"/>
              </a:rPr>
              <a:t>пакет 120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22 позиції, медіана 93 грн, 77 грн/100 г.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Nongshim, Ottogi, Paldo — 11 мереж.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09344"/>
            <a:ext cx="41148" cy="117043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УПАКОВКА №2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1E9EA6"/>
                </a:solidFill>
                <a:latin typeface="Segoe UI"/>
              </a:rPr>
              <a:t>пакет 130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9 позицій, медіана 114 грн, 87 грн/100 г.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Сюди лягає наша Carbonara 131 г.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09344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09344"/>
            <a:ext cx="41148" cy="1170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НАЙДЕШЕВШИЙ ФОРМАТ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5D4B96"/>
                </a:solidFill>
                <a:latin typeface="Segoe UI"/>
              </a:rPr>
              <a:t>стакан 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410968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позиції, медіана 70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Samyang Buldak у стакані.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907792"/>
            <a:ext cx="41148" cy="11704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ЧОТИРЬОХ НАШИХ SKU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113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Жодної позиції ринку в цій вазі.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Найближча щільна клітинка — 120 г.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596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5968" y="2907792"/>
            <a:ext cx="41148" cy="117043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РІЗНИЦЯ ДО СТАНДАРТУ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113 проти 120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 7 г легше за стандарт категорії.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однакової ціни це −6 % продукту.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907792"/>
            <a:ext cx="3547872" cy="117043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5008" y="2907792"/>
            <a:ext cx="41148" cy="1170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06324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ПОКРИТТЯ СІТКИ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27355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303A5D"/>
                </a:solidFill>
                <a:latin typeface="Segoe UI"/>
              </a:rPr>
              <a:t>79 з 96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70941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лежать у повторюваних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поєднаннях формату й ваги.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242816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4251959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ТОП ПОЄДНАНЬ ФОРМАТ × ВАГА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251959"/>
            <a:ext cx="4023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хто їх тримає і чи є там наші SKU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480559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480559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480559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480559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4480559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4480559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4480559"/>
            <a:ext cx="3017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ХТО ТРИМАЄ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480559"/>
            <a:ext cx="18470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ЧИ Є ТУТ НАШІ SKU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6634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6634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663440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46634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6634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46634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11696" y="4663440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(9) · Ottogi (6) · Paldo (4)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4663440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 — наші 112,5–113 г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" y="4910327"/>
            <a:ext cx="10936224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4946903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94560" y="49469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4946903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946903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494690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94690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11696" y="4946903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Paldo (3) · Samyang (2) · Nongshim (2)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946903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так — Carbonara 131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5230367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94560" y="523036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5230367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5230367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80560" y="523036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523036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11696" y="5230367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(4) · Nongshim (1) · Paldo (1)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5230367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" y="5477255"/>
            <a:ext cx="10936224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5513831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94560" y="55138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20" y="5513831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0" y="5513831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80560" y="551383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7840" y="551383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11696" y="5513831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(5) · Paldo (1)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84080" y="5513831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5797295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рисові галушки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579729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17520" y="579729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0" y="5797295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80560" y="579729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204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77840" y="579729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11696" y="5797295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Yopokki (4) · Paldo (1)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84080" y="5797295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ні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6928" y="6163056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6928" y="6163056"/>
            <a:ext cx="41148" cy="56692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1248" y="6254496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ГОЛОВНЕ ПРО УПАКОВКУ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" y="6455664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Стандарт категорії — пакет 120 г. Чотири наші SKU на 7 г легші; при полиці 120 грн вони на 29 % дорожчі за медіану цієї клітинки (93 грн), за поточної розрахункової 140,55 грн — на 51 %.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ЗА ОДНУ УПАКОВКУ · 1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Ціна: пакет з бульйоном і наші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Сегмент 1 — 41 позицій: кожен бренд від найдешевшої до найдорожчої. Блок — медіана бренду, лінія — діапазон, тло — вікно P25–P75.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1064240" cy="2743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7335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СЕГМЕНТ 1 · ПАКЕТ З БУЛЬЙОНОМ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82496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682496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79565" y="1920240"/>
            <a:ext cx="743597" cy="173736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1348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0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02652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8304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53956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79608" y="1920240"/>
            <a:ext cx="5486" cy="17373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993391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00253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102–144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2002536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9304" y="2052828"/>
            <a:ext cx="244874" cy="54864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068" y="1993391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5619" y="199796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70–80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276856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228600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111–130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2286000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1868" y="2336292"/>
            <a:ext cx="1138473" cy="54864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3250" y="2276856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1782" y="228142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68–112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560320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56946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110–120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04488" y="256946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1869" y="2619756"/>
            <a:ext cx="853855" cy="54864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43764" y="2560320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7164" y="25648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72–105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843784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4368" y="2852928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4488" y="2852928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95047" y="2843784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50495" y="2848356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3127248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44368" y="3136392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105–135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4488" y="3136392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94956" y="3186684"/>
            <a:ext cx="325644" cy="54864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20692" y="3127248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12040" y="313182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108–121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3410712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41985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112–130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4488" y="3419856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10331" y="3470148"/>
            <a:ext cx="3378241" cy="54864"/>
          </a:xfrm>
          <a:prstGeom prst="rect">
            <a:avLst/>
          </a:prstGeom>
          <a:solidFill>
            <a:srgbClr val="8D92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18129" y="3410712"/>
            <a:ext cx="128016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0012" y="341528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74–205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05656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31308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56960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2612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8264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3916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9568" y="365760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6525" y="3803904"/>
            <a:ext cx="366967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1" spc="-10">
                <a:solidFill>
                  <a:srgbClr val="C4820A"/>
                </a:solidFill>
                <a:latin typeface="Segoe UI"/>
              </a:rPr>
              <a:t>вікно P25–P75 сегмента: 84–113 грн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" y="3986784"/>
            <a:ext cx="11064240" cy="2743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405079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НАШІ SKU · ПОЛИЦЯ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4059936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4059936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79565" y="4297680"/>
            <a:ext cx="743597" cy="88696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6928" y="4315968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4370832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ціль 120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4368" y="437997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112,5–113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04488" y="4379976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38644" y="4370832"/>
            <a:ext cx="128016" cy="173736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94092" y="437540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 грн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599432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8368" y="4654296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зараз, 33 палети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466344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112,5–113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4488" y="4663440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965659" y="4654296"/>
            <a:ext cx="128016" cy="173736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121107" y="46588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140,55 грн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4882896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937760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зараз, 6 палет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44368" y="494690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112,5–113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04488" y="494690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93559" y="4937760"/>
            <a:ext cx="128016" cy="173736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9007" y="494233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180,64 грн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6928" y="5468112"/>
            <a:ext cx="1106424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928" y="5468112"/>
            <a:ext cx="41148" cy="8778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247" y="5632704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ДЕ ЦЕ СТАВИТЬ НАС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7" y="5907024"/>
            <a:ext cx="1051560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Ціль 120 грн — на 26 % вище за медіану сегмента (95 грн) і вище за P75 (113 грн); діапазон перетинає 120 грн у 2 із 6 брендів. Поточна розрахункова ціна 140,55 грн (33 палети) — на 48 % вище за медіану.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Роздрібна ціна за пачку з ПДВ, медіана по мережах (29.09.2026). Наші SKU — полиця за фінмоделлю: ціль 120 грн; «зараз» — поточна собівартість Self-Cost, маржа 30 %, бонус 25 %, націнка 1,40.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ЗА ОДНУ УПАКОВКУ · 2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Ціна: пакет із соусом і наші SKU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Сегмент 2 — 30 позицій. Choi’s — окремий конкурент, не наш товар. Блок — медіана бренду, лінія — діапазон, тло — вікно P25–P75.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1064240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7335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СЕГМЕНТ 2 · ПАКЕТ ІЗ СОУСОМ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82496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682496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30847" y="1920240"/>
            <a:ext cx="1307706" cy="202082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1348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0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02652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8304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53956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79608" y="1920240"/>
            <a:ext cx="5486" cy="202082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993391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00253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2002536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1965" y="1993391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7413" y="199796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276856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228600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122–127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8" y="2286000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4019" y="2276856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9467" y="228142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560320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256946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120–130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256946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3763" y="2560320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99211" y="25648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2843784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2852928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105–140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8" y="2852928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89820" y="2903220"/>
            <a:ext cx="1089755" cy="54864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79023" y="2843784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1015" y="2848356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80–123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3127248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3136392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131–140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04488" y="3136392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7771" y="3186684"/>
            <a:ext cx="2794901" cy="54864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38644" y="3127248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94113" y="313182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89–198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3410712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341985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04488" y="3419856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978" y="3410712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7426" y="341528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3694176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370332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105–145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4488" y="3703320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12896" y="3753612"/>
            <a:ext cx="2038483" cy="54864"/>
          </a:xfrm>
          <a:prstGeom prst="rect">
            <a:avLst/>
          </a:prstGeom>
          <a:solidFill>
            <a:srgbClr val="DE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864289" y="3694176"/>
            <a:ext cx="12801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2820" y="369874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78–157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05656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31308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6960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82612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08264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3916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59568" y="394106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7807" y="4087368"/>
            <a:ext cx="423378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1" spc="-10">
                <a:solidFill>
                  <a:srgbClr val="C4820A"/>
                </a:solidFill>
                <a:latin typeface="Segoe UI"/>
              </a:rPr>
              <a:t>вікно P25–P75 сегмента: 86–137 грн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4270248"/>
            <a:ext cx="11064240" cy="2743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" y="4334256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НАШІ SKU · ПОЛИЦЯ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44368" y="4343400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04488" y="4343400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30847" y="4581144"/>
            <a:ext cx="1307706" cy="88696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4599432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4654296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ціль 120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4368" y="4663440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123–131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04488" y="4663440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38644" y="4654296"/>
            <a:ext cx="128016" cy="173736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94092" y="465886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 грн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" y="4882896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4937760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зараз, 33 палети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44368" y="494690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123–131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4488" y="494690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20116" y="4937760"/>
            <a:ext cx="128016" cy="173736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75564" y="494233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162,18 грн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" y="5166359"/>
            <a:ext cx="11045952" cy="26517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" y="5221224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C4820A"/>
                </a:solidFill>
                <a:latin typeface="Segoe UI"/>
              </a:rPr>
              <a:t>НАШ · SIAS · зараз, 6 палет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44368" y="5230368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123–131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04488" y="5230368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706155" y="5221224"/>
            <a:ext cx="128016" cy="173736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861603" y="5225796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208,43 грн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66928" y="5468112"/>
            <a:ext cx="11064240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" y="5468112"/>
            <a:ext cx="41148" cy="8778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1247" y="5632704"/>
            <a:ext cx="10515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ДЕ ЦЕ СТАВИТЬ НАС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7" y="5907024"/>
            <a:ext cx="10515600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Ціль 120 грн — на 13 % вище за медіану сегмента (106 грн) і нижче за P75 (137 грн); діапазон перетинає 120 грн у 3 із 7 брендів. Поточна розрахункова ціна 162,18 грн (33 палети) — на 53 % вище за медіану.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Роздрібна ціна за пачку з ПДВ, медіана по мережах (29.09.2026). Наші SKU — Gouda 123 г і Carbonara 131 г: ціль 120 грн; «зараз» — Self-Cost, маржа 30 %, бонус 25 %, націнка 1,40.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ЦІНА ЗА ОДНУ УПАКОВКУ · 3 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Ціна: стакан і рисові галушки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Суміжні сегменти: наших SKU тут немає. Показано, як ринок ціноутворює формат стакана і рисовий снек.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1064240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673352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СЕГМЕНТ 3 · СТАКАН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682496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8" y="1682496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0336" y="1920240"/>
            <a:ext cx="461543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51348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77000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02652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8304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53956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579608" y="1920240"/>
            <a:ext cx="5486" cy="113385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198881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199796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70–80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4488" y="199796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2380" y="2048256"/>
            <a:ext cx="2011559" cy="54864"/>
          </a:xfrm>
          <a:prstGeom prst="rect">
            <a:avLst/>
          </a:prstGeom>
          <a:solidFill>
            <a:srgbClr val="A59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4016" y="1988819"/>
            <a:ext cx="128016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95380" y="199339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65–143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26313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44368" y="2272284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4488" y="2272284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71966" y="2263139"/>
            <a:ext cx="128016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7414" y="226771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253745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44368" y="254660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04488" y="254660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97612" y="2537459"/>
            <a:ext cx="128016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3060" y="254203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81177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282092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62–80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04488" y="282092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2902" y="2871215"/>
            <a:ext cx="2512847" cy="54864"/>
          </a:xfrm>
          <a:prstGeom prst="rect">
            <a:avLst/>
          </a:prstGeom>
          <a:solidFill>
            <a:srgbClr val="A59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14026" y="2811779"/>
            <a:ext cx="128016" cy="17373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17189" y="281635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97–195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05656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1308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6960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82612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8264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3916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59568" y="305409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47296" y="3200399"/>
            <a:ext cx="338762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1" spc="-10">
                <a:solidFill>
                  <a:srgbClr val="C4820A"/>
                </a:solidFill>
                <a:latin typeface="Segoe UI"/>
              </a:rPr>
              <a:t>вікно P25–P75 сегмента 3: 93–111 грн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3438143"/>
            <a:ext cx="11064240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502151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СЕГМЕНТ 4 · РИСОВІ ГАЛУШКИ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44368" y="3511295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04488" y="3511295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3817620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382676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4488" y="382676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24531" y="3817620"/>
            <a:ext cx="128016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79979" y="382219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84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409193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Baekje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44368" y="410108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92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04488" y="410108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89922" y="4091939"/>
            <a:ext cx="128016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45370" y="409651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436625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44368" y="437540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04488" y="437540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41205" y="4366259"/>
            <a:ext cx="128016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96653" y="437083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640579"/>
            <a:ext cx="22677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Yopokki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4368" y="464972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04488" y="4649723"/>
            <a:ext cx="4114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93442" y="4700015"/>
            <a:ext cx="166155" cy="54864"/>
          </a:xfrm>
          <a:prstGeom prst="rect">
            <a:avLst/>
          </a:prstGeom>
          <a:solidFill>
            <a:srgbClr val="83C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595590" y="4640579"/>
            <a:ext cx="128016" cy="17373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51038" y="464515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198–204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212080"/>
            <a:ext cx="5413248" cy="10972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6928" y="5212080"/>
            <a:ext cx="41148" cy="10972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7" y="5376672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СТАКАН: ДЕШЕВИЙ ЗА ЧЕК, ДОРОГИЙ ЗА ГРАМ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7" y="5650992"/>
            <a:ext cx="486460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Ціна за пачку 65–195 грн, медіана 104 грн — як у пакеті, але вага вдвічі менша: 154 грн/100 г проти 83 у пакеті з бульйоном.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5212080"/>
            <a:ext cx="5413248" cy="10972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17920" y="5212080"/>
            <a:ext cx="41148" cy="10972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92240" y="5376672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РИСОВІ ГАЛУШКИ — ІНШИЙ ПРИВІД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92240" y="5650992"/>
            <a:ext cx="4864608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Yopokki 198–204 грн — снек, не локшина; без нього сегмент коштує 84–112 грн. Орієнтиром для рамену в пакеті він бути не може.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41908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Роздрібна ціна за пачку з ПДВ, медіана по мережах (29.09.2026). Вага стакана — 62–120 г, рисових — 80–145 г.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377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00784"/>
            <a:ext cx="16459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ПОКРИТТЯ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0078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13716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67588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БРЕНДИ НА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188366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88366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8366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65–205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8366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 · Ottogi · O’Food · 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0494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4152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14152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1415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14152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118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4152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72–205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4152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 · Yopokki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9938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39938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39938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239938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118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39938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76–157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39938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620670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657246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657246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C&amp;C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265724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65724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657246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105–204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657246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915107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2915107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2915107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291510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915107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70–138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915107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136392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17296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317296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31729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317296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17296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102–157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17296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430828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3430828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34308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21808" y="343082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43082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102–157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430828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652113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688689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88689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0288" y="3688689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8" y="3688689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688689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77–143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3688689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94655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3946550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0288" y="394655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394655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8" y="394655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77–143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3946550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4167835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" y="4204411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44368" y="4204411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420441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1808" y="4204411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128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19088" y="4204411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100–149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4204411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46227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446227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0288" y="44622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1808" y="44622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136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9088" y="44622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100–149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446227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4683556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47201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4368" y="4720132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0288" y="472013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1808" y="472013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138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19088" y="472013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138–139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4720132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4977993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44368" y="4977993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№1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0288" y="4977993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21808" y="4977993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19088" y="4977993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90–199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55279" y="4977993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" y="519927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6928" y="5235854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МегаМаркет · Ultramarket · ЕКО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4368" y="5235854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90288" y="523585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21808" y="523585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19088" y="5235854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55279" y="5235854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493715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Епіцентр · «Ідеал»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5493715"/>
            <a:ext cx="1645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/ регіон.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90288" y="5493715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21808" y="5493715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19088" y="5493715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55279" y="5493715"/>
            <a:ext cx="3675887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6692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1247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грн.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1596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1596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90288" y="6400800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5961888"/>
            <a:ext cx="356616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065008" y="5961888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39328" y="640080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мають ідентичні 12 позицій і той самий діапазон цін.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ПОЗИЦІЇ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Полиця не порожня — вона зайнята і поділена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Скільки позицій кожного бренду стоїть у кожній мережі. Насиченість кольору пропорційна кількості. Зріз 29.09.2026.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1264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Таврія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2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«ЧудоМ.»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0224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2016" y="170078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1700784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ВСЬОГО У ЗРІЗІ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06654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7943" y="1984248"/>
            <a:ext cx="566928" cy="34747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37943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59736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9736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81527" y="1984248"/>
            <a:ext cx="566928" cy="34747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1527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198424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1984248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46904" y="1984248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46904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8696" y="1984248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68696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0488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34071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34071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5864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55864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77656" y="1984248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77656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99448" y="198424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204825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207568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22 SKU · 12 мер.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246888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37943" y="2386584"/>
            <a:ext cx="566928" cy="34747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37943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59736" y="2386584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59736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81527" y="2386584"/>
            <a:ext cx="566928" cy="34747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81527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703320" y="2386584"/>
            <a:ext cx="566928" cy="34747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03320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5112" y="238658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25112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946904" y="2386584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46904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68696" y="2386584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68696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90488" y="238658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0488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80" y="238658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12280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34071" y="2386584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34071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55864" y="238658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55864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77656" y="238658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77656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99448" y="238658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99448" y="245059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76688" y="247802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32 SKU · 11 мер.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287121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37943" y="2788920"/>
            <a:ext cx="566928" cy="34747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37943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59736" y="2788920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459736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81527" y="2788920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81527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03320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03320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25112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25112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46904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46904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68696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68696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90488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90488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12280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12280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34071" y="2788920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34071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55864" y="2788920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055864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77656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677656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299448" y="278892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99448" y="285292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76688" y="2880360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15 SKU · 5 мер.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6928" y="327355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37943" y="3191256"/>
            <a:ext cx="566928" cy="34747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837943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59736" y="3191256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459736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081527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081527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703320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703320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25112" y="3191256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325112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946904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946904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568696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568696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190488" y="3191256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190488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812280" y="3191256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812280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434071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434071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055864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055864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677656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677656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299448" y="3191256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99448" y="3255264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076688" y="3282696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 SKU · 5 мер.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66928" y="3675888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37943" y="3593591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37943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59736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59736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81527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81527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703320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03320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325112" y="3593591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325112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946904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46904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90488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190488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812280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812280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434071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434071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55864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055864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677656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677656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9299448" y="3593591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299448" y="365760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076688" y="3685032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 SKU · 2 мер.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4078224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37943" y="3995928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37943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459736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459736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3081527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081527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703320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703320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325112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325112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946904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946904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568696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568696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190488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190488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812280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812280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434071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434071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55864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55864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677656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677656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9299448" y="3995928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299448" y="4059935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76688" y="4087368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 SKU · 1 мер.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4480560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Choi’s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837943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837943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459736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459736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081527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081527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3703320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703320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325112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325112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946904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946904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568696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568696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190488" y="439826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190488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812280" y="4398264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812280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434071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434071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055864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055864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8677656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677656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9299448" y="4398264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9299448" y="4462272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0076688" y="4489704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 SKU · 2 мер.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66928" y="4882896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Інші бренди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837943" y="4800600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837943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459736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459736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081527" y="4800600"/>
            <a:ext cx="566928" cy="34747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081527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3703320" y="4800600"/>
            <a:ext cx="566928" cy="34747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703320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325112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325112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946904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946904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568696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568696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6190488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190488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812280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812280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434071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434071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055864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055864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677656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8677656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9299448" y="4800600"/>
            <a:ext cx="566928" cy="34747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9299448" y="486460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076688" y="4892040"/>
            <a:ext cx="15179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7 SKU · 3 мер.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66928" y="5285232"/>
            <a:ext cx="3547872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66928" y="5285232"/>
            <a:ext cx="41148" cy="104241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22960" y="54406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МЕРЕЖ БЕЗ КАТЕГОРІЇ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22960" y="56509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5 із 18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22960" y="605510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Епіцентр, «Ідеал» — нуль позицій.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4315968" y="5285232"/>
            <a:ext cx="3547872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4315968" y="5285232"/>
            <a:ext cx="41148" cy="1042415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4572000" y="5440680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У «СІЛЬПО»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4572000" y="5650992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4 SKU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4572000" y="6055106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 входу — 90–199 грн.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8065008" y="5285232"/>
            <a:ext cx="3566160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8065008" y="5285232"/>
            <a:ext cx="41148" cy="104241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8321040" y="5440680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ДВА ЛІДЕРИ ДАЮТЬ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321040" y="5650992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54 з 96 SKU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321040" y="605510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Samyang і Nongshim — у 10–11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Нова марка заходить проти них.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Вхід у категорію вже пробитий: імпортер і місце на полиці під Samyang і Nongshim існують; вільне місце є лише там, де категорії немає зовсім. «Сільпо» — за назвою позицій (без ваги).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скільки точок у кожному каналі перевірено у зрізі.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ТОЧОК ПРОДАЖУ В КАНАЛІ · ПЕРЕВІРЕНО У ЗРІЗІ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3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85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87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29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0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729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32918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Продуктові мережі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2048256"/>
            <a:ext cx="1851660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4820" y="2066544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18  ·  13 мають рамен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491740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2468880"/>
            <a:ext cx="514350" cy="201168"/>
          </a:xfrm>
          <a:prstGeom prst="rect">
            <a:avLst/>
          </a:prstGeom>
          <a:solidFill>
            <a:srgbClr val="1E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7510" y="2487168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12364"/>
            <a:ext cx="16733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89504"/>
            <a:ext cx="411480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290779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749039"/>
            <a:ext cx="5394960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749039"/>
            <a:ext cx="41148" cy="2468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13631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КАНАЛ І ПОКУПЕЦЬ — РІЗНІ ОСІ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187952"/>
            <a:ext cx="4846320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Продуктові мережі — єдиний канал з обсягом, але саме там уже стоять Samyang і Nongshim.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Маркетплейси й азійські фудшопи дають орієнтир ціни, але не обсяг: медіана на Prom — 135 грн, у фудшопах 61–158 грн. Умови бонусу в цих каналах не перевірялися: у моделі закладено 25 % для мережевого роздробу.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На відміну від готового рису, outdoor- і мілітарі-рітейл для рамену не канал: рамен потребує окропу, тому в туристичних магазинах його немає.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Практичний вхід — «Сільпо» і п’ять нацмереж із нулем.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645920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173736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1737360"/>
            <a:ext cx="149961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17647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7510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139696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тримає 4 позиції на всю мережу.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57860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41148" cy="11521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4" y="29992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2999232"/>
            <a:ext cx="149961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302666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236976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401568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Prom · Rozetka · MAUDAU · Bigl. Медіана в категорії «локшина рамен» на Prom — 135 грн, мінімум 80 грн.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384048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169663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169663"/>
            <a:ext cx="41148" cy="115214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55664" y="426110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4261103"/>
            <a:ext cx="149961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0112" y="428853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4498848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4663440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Корейський рамен 61–158 грн, ядро 92–135 грн.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102352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431536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5431536"/>
            <a:ext cx="41148" cy="115214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552297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40112" y="5522976"/>
            <a:ext cx="1499616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40112" y="5550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5664" y="5760720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5925312"/>
            <a:ext cx="495604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5664" y="6364224"/>
            <a:ext cx="495604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СУМІЖНА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Не-корейська локшина: підлога, від якої рахує покупець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Чотирнадцять найпоширеніших не-корейських позицій локшини швидкого приготування — по одній на бренд. Вони формують уявлення про «нормальну» ціну в категорії.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36576" cy="19202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609344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E59A8"/>
                </a:solidFill>
                <a:latin typeface="Segoe UI"/>
              </a:rPr>
              <a:t>УКРАЇНА ТА АЗІЯ БЕЗ КОРЕЇ   ·   Варіння або окріп   ·   50–200 г   ·   9–144 грн   ·   18–146 грн/100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Garnenka зі смаком курки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9–13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ЕКО · Епіцентр 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Daryna зі смаком курки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50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Епіцентр · Торба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Хуторок зі смаком курки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13–16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МегаМаркет +1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48230974133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Щедро Том Ям з морепродуктами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12–18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482017925681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Reeva зі смаком грибів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15–22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ЕКО +9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27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ChiBi Sweet Chili Crab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18–25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ЕКО · Ідеал · NOVUS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22992" y="2203704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Acecook Hao Hao зі смаком Кімчі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77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38–51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0885201810202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рамен Yum Yum Tom Yum з креветками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60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089360106814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Micoem Cung Dinh з куркою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68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50–87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0482017244439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Hokkaido Club Рамен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80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62–90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Епіцентр · МегаМаркет +4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089345636281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Ippin класичний рамен Хаката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82–97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0858500244579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Макаронні вироби МІВІНА® Street Fo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121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81–108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Ідеал +9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22792" y="3986783"/>
            <a:ext cx="13441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рисова Bich-Chi Vina Pho Ga зі сма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70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100–108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МегаМаркет · Ultramarket +1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0893601068154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Cung Dinh Kool Korean BBQ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E59A8"/>
                </a:solidFill>
                <a:latin typeface="Segoe UI"/>
              </a:rPr>
              <a:t>105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110–144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559552"/>
            <a:ext cx="41148" cy="1152144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7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ЩО ЦЕ ОЗНАЧАЄ ДЛЯ ЦІНИ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7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Український мас-маркет — 9–22 грн за 50–60 г, тобто 18–33 грн/100 г. Корейський рамен коштує у 2,5–3 рази дорожче за грам, і ринок це приймає. Але прийнята премія має межу.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17920" y="555955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17920" y="5559552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92240" y="5724144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ДЕ ЦЯ МЕЖА ПРОХОДИТЬ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92240" y="5998464"/>
            <a:ext cx="48646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У корейському рамені в пакеті ціна за грам — від 49 до 158 грн/100 г, медіана 80. При полиці 120 грн наші SKU — 92–107 грн/100 г; на рівні 119 грн/100 г і вище стоять лише 6 із 71 пакетних позицій.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Choi’s: ринковий орієнтир, окремий продукт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Choi’s Carbonara 131 г — позиція вихідного зрізу 29.09.2026. Це окремий конкурент, а не наш товар SIAS.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70078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" y="176479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8288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47802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рамен карбон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7063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B53A3A"/>
                </a:solidFill>
                <a:latin typeface="Segoe UI"/>
              </a:rPr>
              <a:t>131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36392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1700784"/>
            <a:ext cx="2980944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1700784"/>
            <a:ext cx="41148" cy="170078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1856232"/>
            <a:ext cx="250545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РОЗДРІБНА ЦІНА НА ПОЛИЦІ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2066544"/>
            <a:ext cx="25054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2926080"/>
            <a:ext cx="2505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«Таврія В» і «Космос» на 29.09.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V3 (05–06.10) у «Таврії В» — 131,50 грн.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1700784"/>
            <a:ext cx="3108960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68112" y="1700784"/>
            <a:ext cx="41148" cy="17007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1856232"/>
            <a:ext cx="26334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НАШІ SIAS · GOUDA / CARBONARA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66544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2926080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Ціль за моделлю: на 4 % нижче за Choi’s 125,20.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Зараз за моделлю — 162,18 грн (+30 %).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1700784"/>
            <a:ext cx="2852928" cy="17007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778240" y="1700784"/>
            <a:ext cx="41148" cy="17007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1856232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СС ДЛЯ ПАРИТЕТУ 125,20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2066544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spc="-10">
                <a:solidFill>
                  <a:srgbClr val="C4820A"/>
                </a:solidFill>
                <a:latin typeface="Segoe UI"/>
              </a:rPr>
              <a:t>40,24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Закупівля SIAS: €0,57 (машина), €0,35 (6 палет) — при маржі 30 %.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712463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3721607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ЩО З ЦЬОГО МОЖНА І ЧОГО НЕ МОЖНА ВИВЕСТИ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950207"/>
            <a:ext cx="41148" cy="21031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· ЦЕ ПОРІВНЯННЯ РІЗНИХ 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Choi’s Carbonara коштує 125,20–131,50 грн. Наші SIAS Gouda / Carbonara за поточною собівартістю — 162,18 грн за моделлю, тобто на 30 % дорожче.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Щоб стати на 125,20 грн з маржею 30 %, потрібна СС 40,24 грн. Це ціновий сценарій, а не ціна закупівлі конкурента.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15968" y="3950207"/>
            <a:ext cx="3547872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5968" y="3950207"/>
            <a:ext cx="41148" cy="21031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411479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 · ЩО ПЕРЕВІРИТИ ДЛЯ 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4389119"/>
            <a:ext cx="2999232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Для наших шести SKU потрібно підтвердити: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склад та інструкції приготування;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що саме входить у собівартість — товар і всі витрати;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умови поставки й канал продажу;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· підтримку запуску і попит за нашою ціною.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65008" y="3950207"/>
            <a:ext cx="3566160" cy="21031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5008" y="3950207"/>
            <a:ext cx="41148" cy="21031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411479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 · МЕЖА ВИСНОВКУ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389119"/>
            <a:ext cx="3017520" cy="149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Ціна Choi’s не розкриває його собівартості, бонусу мережі чи маржі.</a:t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З неї не можна вивести закупівельну ціну SIAS, спільного імпортера або доступність ексклюзиву для нашого продукту.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4593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Джерело: каталоги tavriav.zakaz.ua і cosmos.zakaz.ua, «Локшина Choi’s рамен карбон 131 г»; 05–06.10 — за V3. Паритет — власний розрахунок за формулою вкладок 3–4.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За 100 г,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95,6 / 100,4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91,6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123,8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3712464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3712464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09760" y="3712464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61320" y="3712464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03720" y="4389120"/>
            <a:ext cx="4727448" cy="18836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03720" y="4389120"/>
            <a:ext cx="41148" cy="18836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78040" y="4553712"/>
            <a:ext cx="4178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ЩО ЦЕ ЗНАЧИТЬ ДЛЯ ПЕРЕГОВОРІВ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4828031"/>
            <a:ext cx="41788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1. Наша ціль 120 грн — на 4–9 % нижче за те, по чому цей бренд уже продають у «Таврії В». Якщо це той самий EAN 3760344350847, діючий імпортер матиме ціну вищу за нашу.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2. За 29.09 → 05–06.10 ціна в «Таврії В» зросла на 5 %, акційної ціни немає (стара ціна дорівнює новій).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3. Історії цін немає — лише дві дати. Її варто запросити в «Таврії В» і SIAS.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5248656"/>
            <a:ext cx="6035040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928" y="5248656"/>
            <a:ext cx="41148" cy="104241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41247" y="541324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ЄВРОПЕЙСЬКИЙ ОРІЄНТИР — ТІЛЬКИ ДЛЯ ПОРІВНЯННЯ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1247" y="5687568"/>
            <a:ext cx="5486400" cy="43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dotasia.eu продає ту саму позицію за €1,80 замість €2,20 (−18 %); Gouda Cheese 123 г — так само. Це інтернет-магазин в ЄС, ПДВ на сторінці не вказано, товар «немає в наявності» — прямо порівнювати з українською полицею не можна.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* З 71 пакетної позиції зрізу 29.09.2026. Курс для перерахунку EUR→грн — 51,20. Джерела: tavriav.zakaz.ua, cosmos.zakaz.ua; ціна «Таврії В» 05–06.10 — за V3; dotasia.eu (Choi’s Carbonara 131 г, Gouda 123 г).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АКЦІЇ ТА МІНІМАЛЬНІ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Одна й та сама позиція конкурента коштує по-різному в різних мережах і під час акцій. Для SIAS це діапазон конкурентного тиску на полиці.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834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ПОЗИЦІЯ КОНКУРЕНТА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700784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7" y="170078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НАЙНИЖЧА,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700784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НАЙВИЩА,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700784"/>
            <a:ext cx="8229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РІЗНИЦЯ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88366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88366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86,20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88366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88366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43 %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48840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18541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18541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7" y="218541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92,90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21854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156,00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218541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48716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48716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3087" y="248716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93,50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248716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184,00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248716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49 %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752344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278892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278892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278892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99,90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78892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151,00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34 %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090672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Shin Ramyun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1568" y="30906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33087" y="3090672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61888" y="30906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129,00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3090672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355848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39242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01568" y="3392424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33087" y="33924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7316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98,28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61888" y="3392424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124,00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3392424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694176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369417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140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33087" y="36941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7316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89,00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369417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136,00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8" y="369417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35 %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959352"/>
            <a:ext cx="7589520" cy="2926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99592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01568" y="3995928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137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33087" y="399592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7316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131,10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61888" y="3995928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154,00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50608" y="3995928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2976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01568" y="429768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130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33087" y="429768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7316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105,30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1888" y="4297680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121,00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0608" y="429768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21040" y="1627632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21040" y="1627632"/>
            <a:ext cx="41148" cy="11155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77072" y="1783080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НИЖЧІ ЗА 120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77072" y="1993392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B53A3A"/>
                </a:solidFill>
                <a:latin typeface="Segoe UI"/>
              </a:rPr>
              <a:t>8 з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242925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ключових позицій конкурентів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мають мінімальну ціну нижче 120 грн.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321040" y="2871216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21040" y="2871216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77072" y="3026664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РОЗКИД МІЖ МЕРЕЖАМИ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7072" y="3236976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C4820A"/>
                </a:solidFill>
                <a:latin typeface="Segoe UI"/>
              </a:rPr>
              <a:t>34 %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7072" y="36728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медіанний розкид найдешевшої й найдорожчої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мережі для 18 позицій у трьох і більше мережах.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1040" y="4114800"/>
            <a:ext cx="331012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4114800"/>
            <a:ext cx="41148" cy="11155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77072" y="4270248"/>
            <a:ext cx="2834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АКЦІЯ В «АШАНІ»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4480560"/>
            <a:ext cx="28346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spc="-10">
                <a:solidFill>
                  <a:srgbClr val="1E9EA6"/>
                </a:solidFill>
                <a:latin typeface="Segoe UI"/>
              </a:rPr>
              <a:t>30 з 52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77072" y="49164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записів пакетного рамену на акції;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знижка найчастіше 20–23 %, максимум 39 %.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4992624"/>
            <a:ext cx="7589520" cy="12618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66928" y="4992624"/>
            <a:ext cx="41148" cy="12618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7" y="5157216"/>
            <a:ext cx="7040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СКІЛЬКИ КОШТУЄ АКЦІЯ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1247" y="5431536"/>
            <a:ext cx="7040880" cy="6583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«Сільпо»: Samyang Buldak зі смаком курки та сиру і Buldak Carbonara — 89,99 грн замість 174 грн (−48 %). Samyang Tangle: від 77,50 до 157,00 грн залежно від мережі (−51 %).</a:t>
            </a:r>
          </a:p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Отже, конкурент може виставити ту саму пачку за 86–105 грн на акції; наша ціна 120 грн — вище за цей рівень, але нижче за повну ціну більшості позицій.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21040" y="5358384"/>
            <a:ext cx="3310128" cy="8961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21040" y="5358384"/>
            <a:ext cx="41148" cy="89611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95360" y="5522976"/>
            <a:ext cx="27614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ОБМЕЖЕННЯ ДАНИХ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95360" y="5797296"/>
            <a:ext cx="276148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Стару ціну віддають лише деякі мережі (в основному «Ашан»): частка акцій тут — нижня межа.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за пачку і стара ціна. «Різниця» = 1 − найнижча ÷ найвища ціна позиції по мережах. «Сільпо» — ціна й стара ціна в каталозі.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ЩО ПОКАЗАТИ SIAS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Чому полиця 120 грн — і що це означає для ціни закупівлі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Чотири кроки аргументації для переговорів: хто на полиці, по чому вони продають, де стоїмо ми і яка закупівля для цього потрібна.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2542032" cy="3931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41148" cy="39319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792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86537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Хто на полиці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323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54 з 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08960"/>
            <a:ext cx="2121408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Samyang і Nongshim — 54 позиції з 96 і 10–11 мереж. Медіана пакетного рамену — 102,8 грн; стандарт категорії — пакет 120 г.</a:t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Наші 113 г на 6 % легші за нього.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645920"/>
            <a:ext cx="2542032" cy="3931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645920"/>
            <a:ext cx="41148" cy="39319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1792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1376" y="186537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По чому вони продають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4323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86–105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108960"/>
            <a:ext cx="2121408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Так 8 із 9 ключових позицій Samyang, Nongshim і Paldo продаються за мінімальною ціною: в акції та в найдешевшій мережі.</a:t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«Ашан»: 30 із 52 записів — акція, знижка 20–23 %. «Сільпо»: Buldak 89,99 замість 174 грн.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1645920"/>
            <a:ext cx="2542032" cy="3931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645920"/>
            <a:ext cx="41148" cy="39319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792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B53A3A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6016" y="186537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Де стоїмо 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24323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10">
                <a:solidFill>
                  <a:srgbClr val="B53A3A"/>
                </a:solidFill>
                <a:latin typeface="Segoe UI"/>
              </a:rPr>
              <a:t>P75 · 18 з 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108960"/>
            <a:ext cx="2121408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Полиця 120 грн — верхній квартиль пакетного рамену: дорожчих лише 18 із 71, на 17 % вище за медіану. Поточна розрахункова полиця (140,55 і 162,18 грн) — це вже верхні 10 % і 4 %.</a:t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120 грн — стеля, а не нижня межа.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70848" y="1645920"/>
            <a:ext cx="2542032" cy="39319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70848" y="1645920"/>
            <a:ext cx="41148" cy="39319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7922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6" y="1865376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Яка закупівля потрібна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432304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10">
                <a:solidFill>
                  <a:srgbClr val="1E9EA6"/>
                </a:solidFill>
                <a:latin typeface="Segoe UI"/>
              </a:rPr>
              <a:t>€0,54 / €0,32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108960"/>
            <a:ext cx="2121408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Модель SIAS: бонус мережі 25 %, наша маржа 30 %, націнка 1,40. Полиця 120 грн = ціна партнеру 85,71 грн → СС не більше 38,57 грн.</a:t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Це закупівля €0,54 за повну машину (33 палети) і €0,32 за 6 палет — проти €0,65–0,75 зараз.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724144"/>
            <a:ext cx="11064240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724144"/>
            <a:ext cx="54864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852159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FFC95C"/>
                </a:solidFill>
                <a:latin typeface="Segoe UI"/>
              </a:rPr>
              <a:t>ЗАПИТ ДО 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610819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spc="-10">
                <a:solidFill>
                  <a:srgbClr val="FFFFFF"/>
                </a:solidFill>
                <a:latin typeface="Segoe UI"/>
              </a:rPr>
              <a:t>Ціна закупівлі, за якої ми ставимо 120 грн на полицю і зберігаємо маржу 30 %: €0,54 — повна машина, €0,32 — 6 палет.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Джерела: каталоги мереж 29.09.2026; фінмодель RAMEN_FINMODEL_4_TABS (вкладки «Цена 120 грн»). Згода SIAS на ці ціни не отримана — це ціна для обговорення.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ЦІНОУТВОРЕННЯ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 чого складається ціна на полиці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Як у фінмоделі: ціна партнеру = 100 %, а мережа додає до неї 40 % — так виходить полиця. Закупівля у SIAS — окремо.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11064240" cy="10058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82496"/>
            <a:ext cx="7315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ЦІНА ПАРТНЕРУ — ЗА НЕЮ МИ ПРОДАЄМО МЕРЕЖІ (100 %)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1865376"/>
            <a:ext cx="2645228" cy="31089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929384"/>
            <a:ext cx="26452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FFFFFF"/>
                </a:solidFill>
                <a:latin typeface="Segoe UI"/>
              </a:rPr>
              <a:t>Собівартість 45 %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3324" y="1865376"/>
            <a:ext cx="1469571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3324" y="1929384"/>
            <a:ext cx="14695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FFFFFF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5" y="1865376"/>
            <a:ext cx="1763485" cy="3108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5" y="1929384"/>
            <a:ext cx="176348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6381" y="1865376"/>
            <a:ext cx="2351314" cy="31089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6381" y="1929384"/>
            <a:ext cx="235131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Націнка магазину +40 %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2212848"/>
            <a:ext cx="5878285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231136"/>
            <a:ext cx="587828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= ціна партнеру 85,71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395728"/>
            <a:ext cx="10607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ПОЛИЦЯ = ціна партнеру × 1,40 = 120 грн.  Бонус 25 % і маржа 30 % — частки ціни партнеру; націнка 40 % — понад ціну партнеру.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43200"/>
            <a:ext cx="2377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ПОЗИЦІЯ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743200"/>
            <a:ext cx="5852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ГРН ЗА ПАЧКУ: ЦІНА ПАРТНЕРУ + НАЦІНКА МАГАЗИНУ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4320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ПАРТНЕРУ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274320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ЗАКУПІВЛЯ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274320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944368"/>
            <a:ext cx="11064240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2990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Ціль · 33 палети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1821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закупівля €0,54 · усі 6 SKU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026664"/>
            <a:ext cx="1049056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072384"/>
            <a:ext cx="10490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39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83696" y="3026664"/>
            <a:ext cx="582809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3696" y="3072384"/>
            <a:ext cx="582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6506" y="3026664"/>
            <a:ext cx="699371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6506" y="3072384"/>
            <a:ext cx="6993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5877" y="3026664"/>
            <a:ext cx="932495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5877" y="3072384"/>
            <a:ext cx="93249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1524" y="3044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C4820A"/>
                </a:solidFill>
                <a:latin typeface="Segoe UI"/>
              </a:rPr>
              <a:t>119,9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6733" y="29900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0723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30723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1E9EA6"/>
                </a:solidFill>
                <a:latin typeface="Segoe UI"/>
              </a:rPr>
              <a:t>€0,54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27080" y="30723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38,5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34472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Ціль · 6 палет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" y="36393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закупівля €0,32 · усі 6 SKU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483864"/>
            <a:ext cx="1039037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3529584"/>
            <a:ext cx="103903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73677" y="3483864"/>
            <a:ext cx="577243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3677" y="3529584"/>
            <a:ext cx="5772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50921" y="3483864"/>
            <a:ext cx="692691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0921" y="3529584"/>
            <a:ext cx="6926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43613" y="3483864"/>
            <a:ext cx="923589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3613" y="3529584"/>
            <a:ext cx="92358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0354" y="35021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C4820A"/>
                </a:solidFill>
                <a:latin typeface="Segoe UI"/>
              </a:rPr>
              <a:t>118,7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4469" y="34472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5295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35295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1E9EA6"/>
                </a:solidFill>
                <a:latin typeface="Segoe UI"/>
              </a:rPr>
              <a:t>€0,32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27080" y="35295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38,2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3858768"/>
            <a:ext cx="11064240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" y="39044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40965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 SKU · закупівля €0,65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3941064"/>
            <a:ext cx="1230139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0" y="3986784"/>
            <a:ext cx="12301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064779" y="3941064"/>
            <a:ext cx="683410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064779" y="3986784"/>
            <a:ext cx="68341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48189" y="3941064"/>
            <a:ext cx="820092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48189" y="3986784"/>
            <a:ext cx="8200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68282" y="3941064"/>
            <a:ext cx="1093457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68282" y="3986784"/>
            <a:ext cx="109345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34891" y="39593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141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9138" y="39044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0" y="39867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39867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€0,65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927080" y="39867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45,2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" y="43616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4944" y="45537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 SKU · закупівля €0,75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34640" y="4398264"/>
            <a:ext cx="1419391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34640" y="4443984"/>
            <a:ext cx="14193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4031" y="4398264"/>
            <a:ext cx="788550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54031" y="4443984"/>
            <a:ext cx="78855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42582" y="4398264"/>
            <a:ext cx="946260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42582" y="4443984"/>
            <a:ext cx="9462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988843" y="4398264"/>
            <a:ext cx="1261681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988843" y="4443984"/>
            <a:ext cx="126168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23676" y="44165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162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79699" y="43616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44000" y="44439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04120" y="44439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€0,75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927080" y="44439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52,1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4773168"/>
            <a:ext cx="11064240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" y="48188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4944" y="50109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 SKU · закупівля €0,65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34640" y="4855464"/>
            <a:ext cx="1580991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34640" y="4901184"/>
            <a:ext cx="158099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15631" y="4855464"/>
            <a:ext cx="878328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15631" y="4901184"/>
            <a:ext cx="878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93959" y="4855464"/>
            <a:ext cx="1053994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93959" y="4901184"/>
            <a:ext cx="105399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47953" y="4855464"/>
            <a:ext cx="1405325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47953" y="4901184"/>
            <a:ext cx="14053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26431" y="48737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181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38809" y="48188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0" y="4901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04120" y="49011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€0,65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080" y="49011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58,1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94944" y="527608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4944" y="5468112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 SKU · закупівля €0,75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834640" y="5312664"/>
            <a:ext cx="1824220" cy="274320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34640" y="5358384"/>
            <a:ext cx="18242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58860" y="5312664"/>
            <a:ext cx="1013455" cy="2743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58860" y="5358384"/>
            <a:ext cx="10134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72316" y="5312664"/>
            <a:ext cx="1216147" cy="2743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72316" y="5358384"/>
            <a:ext cx="12161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888463" y="5312664"/>
            <a:ext cx="1621529" cy="274320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888463" y="5358384"/>
            <a:ext cx="162152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83145" y="5330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spc="-10">
                <a:solidFill>
                  <a:srgbClr val="B53A3A"/>
                </a:solidFill>
                <a:latin typeface="Segoe UI"/>
              </a:rPr>
              <a:t>208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879319" y="5276088"/>
            <a:ext cx="22860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144000" y="53583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104120" y="535838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€0,75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927080" y="53583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-10">
                <a:solidFill>
                  <a:srgbClr val="717890"/>
                </a:solidFill>
                <a:latin typeface="Segoe UI"/>
              </a:rPr>
              <a:t>67,0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6609" y="2889504"/>
            <a:ext cx="10972" cy="283464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690616" y="5705856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1" spc="-10">
                <a:solidFill>
                  <a:srgbClr val="B53A3A"/>
                </a:solidFill>
                <a:latin typeface="Segoe UI"/>
              </a:rPr>
              <a:t>ціль 120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94944" y="5925312"/>
            <a:ext cx="164592" cy="12801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32688" y="590702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660904" y="5925312"/>
            <a:ext cx="164592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898648" y="590702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Бонус мережі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26864" y="5925312"/>
            <a:ext cx="164592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864608" y="590702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Наша маржа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592824" y="5925312"/>
            <a:ext cx="164592" cy="12801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30568" y="5907024"/>
            <a:ext cx="1737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Націнка магазину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95360" y="5907024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Чорна риска — ціна партнеру.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6928" y="6309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 (курс 51,20 грн/€, бонус 25 %, маржа 30 %, націнка 1,40, ціна вже з ПДВ): ціна партнеру = СС ÷ 0,45; полиця = ціна партнеру × 1,40. «Ціль» — вкладки «Цена 120 грн»; «Зараз» — СС за Self-Cost_Sias (вкладки 1–2).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ЗАПИТ ДО SIAS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закупівлі за одну пачку для полиці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Одна запитувана ціна для всіх шести SKU. Умови відвантаження — як у Self-Cost (FCA Roye); згода постачальника ще не отримана.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5413248" cy="1426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9344"/>
            <a:ext cx="41148" cy="14264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33 ПАЛЕТИ · ПОВНА МАШИНА · 52 800 ПАЧОК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4937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1E9EA6"/>
                </a:solidFill>
                <a:latin typeface="Segoe UI"/>
              </a:rPr>
              <a:t>€0,54 / пачка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60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Товар у партії — €28 512. Ціна короба (20 пачок) — €10,80.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Предельна ціна за моделлю — €0,5407.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9344"/>
            <a:ext cx="5413248" cy="142646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09344"/>
            <a:ext cx="41148" cy="14264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764792"/>
            <a:ext cx="4937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6 ПАЛЕТ · 9 600 ПАЧОК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975104"/>
            <a:ext cx="49377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B53A3A"/>
                </a:solidFill>
                <a:latin typeface="Segoe UI"/>
              </a:rPr>
              <a:t>€0,32 / пачка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60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Товар у партії — €3 072. Ціна короба (20 пачок) — €6,40.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Предельна ціна за моделлю — €0,3265.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182112"/>
            <a:ext cx="2286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ПОЗИЦІЯ SIAS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182112"/>
            <a:ext cx="731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3182112"/>
            <a:ext cx="10515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ЗАРАЗ, €/пач.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3182112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ЗАПИТ 6 ПАЛЕТ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3182112"/>
            <a:ext cx="14173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ЗАПИТ 33 ПАЛЕТИ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182112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ЗНИЖЕННЯ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182112"/>
            <a:ext cx="1188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ПАЛЕТ 6 / 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3182112"/>
            <a:ext cx="106984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ПАЧОК У 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6499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52928" y="336499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33649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33649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36499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57 %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0568" y="33649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336499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28 %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36499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336499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11 200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" y="3625596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66217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36621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366217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€0,75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6008" y="366217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366217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57 %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366217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7888" y="366217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28 %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6621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366217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11 200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95935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52928" y="395935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395935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6008" y="395935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70448" y="395935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395935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395935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95935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61320" y="395935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6 400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3776" y="4219956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425653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52928" y="425653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425653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36008" y="425653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70448" y="425653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425653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47888" y="425653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0" y="425653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61320" y="425653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8 000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55371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455371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4448" y="455371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36008" y="455371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70448" y="455371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455371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47888" y="455371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17 %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55371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455371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8 000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776" y="4814316"/>
            <a:ext cx="10936224" cy="2880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6928" y="485089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52928" y="485089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4448" y="485089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€0,65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36008" y="485089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€0,32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70448" y="485089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51 %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30568" y="485089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€0,54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47888" y="485089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17 %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485089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 / 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61320" y="485089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8 000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5148072"/>
            <a:ext cx="2286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spc="-10">
                <a:solidFill>
                  <a:srgbClr val="303A5D"/>
                </a:solidFill>
                <a:latin typeface="Segoe UI"/>
              </a:rPr>
              <a:t>ВСЬОГО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52928" y="5148072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84448" y="5148072"/>
            <a:ext cx="1051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36008" y="5148072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70448" y="514807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30568" y="5148072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47888" y="5148072"/>
            <a:ext cx="960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/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5148072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 / 33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61320" y="514807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9 600 / 52 800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6928" y="5669280"/>
            <a:ext cx="5486400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66928" y="5669280"/>
            <a:ext cx="41148" cy="7680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1247" y="5833872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ЯК ЧИТАТИ ЗНИЖЕННЯ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1247" y="6108192"/>
            <a:ext cx="4937760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Це різниця між поточною ціною SIAS (€0,65 для чотирьох SKU і €0,75 для Gouda та Carbonara) і запитом. Для машини — 17–28 %, для 6 палет — 51–57 %.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17920" y="5669280"/>
            <a:ext cx="5413248" cy="7680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17920" y="5669280"/>
            <a:ext cx="41148" cy="7680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92240" y="5833872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92240" y="6108192"/>
            <a:ext cx="4864608" cy="164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Повна машина — реалістичніший торг: потрібне зниження вдвічі менше. 6 палет за ціною €0,32 вимагає майже половини вартості товару.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652881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Джерело: RAMEN_FINMODEL_4_TABS_PRESENTATION.xlsx, вкладки «Цена 120 грн — 6 паллет» і «— 33 паллет»; ціна «зараз» — з Self-Cost_Sias. Ціна для обговорення, згоди SIAS немає.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ЗВІДКИ €0,54 І €0,32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Розрахунок закупівлі від полиці 120 грн, крок за кроком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Обернена задача вкладок «Цена 120 грн»: від цільової полиці вгору по ланцюгу — до максимальної ціни, яку ми можемо заплатити SIAS.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82496"/>
            <a:ext cx="457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КРОК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682496"/>
            <a:ext cx="4206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ЩО РАХУЄМО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6824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ДІЯ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1682496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6 ПАЛЕТ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1682496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33 ПАЛЕТИ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865376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1865376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Цільова полиця з ПДВ,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1865376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умова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186537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1865376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" y="2119579"/>
            <a:ext cx="10936224" cy="28163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215615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156155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Ціна партнеру з ПДВ, грн/уп.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156155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полиця ÷ 1,40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156155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85,71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156155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85,71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446934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446934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Частка ціни для собівартості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2446934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100 % − бонус 25 % − маржа 30 %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244693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45 %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446934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45 %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2701137"/>
            <a:ext cx="10936224" cy="28163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73771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2737713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Максимальна СС, грн/уп.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30368" y="2737713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крок 2 × крок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2737713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38,57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2737713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38,57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028492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3028492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Те саме в євро, €/уп.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3028492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крок 4 ÷ курс 51,20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302849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0,7533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302849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0,7533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" y="3282696"/>
            <a:ext cx="10936224" cy="28163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319272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3319272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Без фінансування закупівлі, €/уп.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3319272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крок 5 ÷ (1 + 2,5 %)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3319272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0,7350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0928" y="3319272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0,7350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6100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3610051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Мінус витрати партії на пачку, 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0368" y="3610051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партія ÷ кількість пачок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3610051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− 0,3431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0928" y="3610051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− 0,0861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" y="3864254"/>
            <a:ext cx="10936224" cy="28163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390083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" y="3900830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Предельна закупівля, €/уп.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0368" y="3900830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(крок 6 − крок 7) ÷ (1 + ПДВ 20 %)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73568" y="390083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0,3265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0928" y="3900830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0,5407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419160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" y="4191609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ЗАПИТ ДО SIAS, €/уп.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0368" y="4191609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крок 8, вниз до євроцента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73568" y="4191609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0,32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10928" y="4191609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0,54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3776" y="4445812"/>
            <a:ext cx="10936224" cy="28163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4482388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4482388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Перевірка: полиця,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30368" y="4482388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розклад ціни при запиті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73568" y="448238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118,72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10928" y="4482388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119,86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7731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" y="4773167"/>
            <a:ext cx="4206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Перевірка: наша маржа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0368" y="4773167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303A5D"/>
                </a:solidFill>
                <a:latin typeface="Segoe UI"/>
              </a:rPr>
              <a:t>прибуток після бонусу ÷ ціна партнеру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73568" y="4773167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30,0 %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10928" y="4773167"/>
            <a:ext cx="1920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30,0 %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528523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66928" y="5394960"/>
            <a:ext cx="5413248" cy="10058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928" y="5394960"/>
            <a:ext cx="41148" cy="10058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1247" y="5559552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ЩО В ВИТРАТАХ ПАРТІЇ (КРОК 7)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7" y="5833872"/>
            <a:ext cx="48646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 палет: фрахт €2 600 + брокер €288 + інші €42 + ПДВ на фрахт у митній базі €364 = €3 294, на 9 600 пачок.</a:t>
            </a:r>
          </a:p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33 палети: фрахт €3 700 + брокер €288 + інші €42 + ПДВ на фрахт €518 = €4 548, на 52 800 пачок.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394960"/>
            <a:ext cx="5413248" cy="10058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17920" y="5394960"/>
            <a:ext cx="41148" cy="100584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492240" y="5559552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ЧОМУ ЗАПИТ РІЗНИЙ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5833872"/>
            <a:ext cx="48646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Фрахт і брокер ділять на пачки: при 6 палетах це €0,34 на пачку, при 33 палетах — €0,09. Тому для однакової полиці з малої партії закупівля має бути нижчою на €0,22.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Джерело: «Цена 120 грн — 6 паллет» і «— 33 паллет» (клітинки H62–H82). Імпортний ПДВ і фінансування входять у собівартість, як у Self-Cost; мито 0 % (EUR.1). Лістинг окремою статтею не виділено.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ПОЛИЦЯ ЗАРАЗ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Наша ціна на полиці за поточною закупівлею: усі смаки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Шість SKU SIAS при поточних цінах закупівлі €0,65–0,75 і маржі 30 %. Ціна партнеру й полиця — з ПДВ, за одну пачку.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 · ПОТОЧНА СС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865376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1865376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865376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ПАРТНЕРУ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1865376"/>
            <a:ext cx="7132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ПОЛИЦЯ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6537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ДО 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865376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МАРЖА ПРИ 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04825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Gouda Cheese 123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20482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204825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115,84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204825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4825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04825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14,2 %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2340864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237744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Carbonara Spicy 131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23774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52,13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237744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115,84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21608" y="2377440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37744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23774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14,2 %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0662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Vegetable Flavor 113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27066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270662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100,40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21608" y="270662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2706624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270662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22,3 %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" y="2999232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03580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Spicy Flavor 112,5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303580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4368" y="30358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100,40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1608" y="303580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0358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01768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22,3 %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64991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Beef Flavor 113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336499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3364991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100,40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21608" y="336499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3364991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1768" y="336499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22,3 %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" y="3657600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369417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Chicken Flavor 113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04288" y="36941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45,18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69417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100,40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21608" y="369417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140,55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369417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01768" y="369417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22,3 %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 · ПОТОЧНА СС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1865376"/>
            <a:ext cx="17373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ПОЗИЦІЯ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1865376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865376"/>
            <a:ext cx="777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ПАРТНЕРУ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1865376"/>
            <a:ext cx="71323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ПОЛИЦЯ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85832" y="186537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ДО 120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52759" y="1865376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МАРЖА ПРИ 120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0" y="204825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Gouda Cheese 123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204825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67,00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204825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148,88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72600" y="204825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85832" y="204825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+88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52759" y="204825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−3,2 %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44768" y="2340864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2377440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Carbonara Spicy 131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2377440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67,00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95360" y="2377440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148,88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72600" y="2377440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208,43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85832" y="2377440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52759" y="237744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−3,2 %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2706624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Vegetable Flavor 113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5279" y="2706624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2706624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129,03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72600" y="270662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085832" y="2706624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+61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59" y="2706624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7,3 %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4768" y="2999232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0" y="3035808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Spicy Flavor 112,5 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3035808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95360" y="3035808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129,03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72600" y="303580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85832" y="3035808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+61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52759" y="3035808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7,3 %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17920" y="3364991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Beef Flavor 113 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79" y="3364991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95360" y="3364991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129,03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72600" y="336499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85832" y="3364991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+61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52759" y="3364991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7,3 %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44768" y="3657600"/>
            <a:ext cx="5440680" cy="3200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17920" y="369417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Chicken Flavor 113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55279" y="369417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58,06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95360" y="3694176"/>
            <a:ext cx="777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129,03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72600" y="369417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180,64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085832" y="3694176"/>
            <a:ext cx="5669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+61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52759" y="3694176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7,3 %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4114800"/>
            <a:ext cx="5394960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" y="4114800"/>
            <a:ext cx="41148" cy="11887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41247" y="4279392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ПОВНА МАШИНА: ВИЩЕ ЗА 120 НА 21–42 ГРН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41247" y="4553712"/>
            <a:ext cx="4846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Чотири SKU — 140,55 грн, Gouda і Carbonara — 162,18 грн. Якщо поставити на полицю 120 грн за поточної закупівлі, маржа буде 22,3 % і 14,2 % замість 30 %.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236208" y="4114800"/>
            <a:ext cx="5394960" cy="11887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236208" y="4114800"/>
            <a:ext cx="41148" cy="1188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510528" y="4279392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6 ПАЛЕТ: ВИЩЕ ЗА 120 НА 61–88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10528" y="4553712"/>
            <a:ext cx="4846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Чотири SKU — 180,64 грн, Gouda і Carbonara — 208,43 грн. Полиця 120 грн за поточної закупівлі дає маржу 7,3 % і −3,2 % — для пари це збиток.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66928" y="5486400"/>
            <a:ext cx="11064240" cy="6400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66928" y="5486400"/>
            <a:ext cx="41148" cy="64008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1248" y="5577840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ВИСНОВОК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" y="5779008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З малої партії полиця 120 грн недосяжна за поточної закупівлі. З повної машини — досяжна, але з маржею 14–22 % замість 30 %, або з пониженням закупівлі до €0,54.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6928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Фінмодель: вкладки «Финмодель 6 паллет» і «Финмодель 33 паллет», маржа 30 % (колонки T). СС — із Self-Cost_Sias.xlsx. «Маржа при 120» = (ціна партнеру при полиці 120 − СС − бонус) ÷ ціна партнеру.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за формулою вкладок «Цена 120 грн».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маржа 30 %.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66928" y="5138928"/>
            <a:ext cx="5413248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66928" y="5138928"/>
            <a:ext cx="41148" cy="12252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41247" y="5303520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ПОВНА МАШИНА: ДВА ШЛЯХИ ДО 120 ГРН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41247" y="5577840"/>
            <a:ext cx="48646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маржі 30 % потрібне €0,54 — зниження на 17–28 %. При маржі 20 % достатньо €0,67, що вище за поточні €0,65 для чотирьох SKU; при 15 % — €0,74, майже поточні €0,75.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17920" y="5138928"/>
            <a:ext cx="5413248" cy="12252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17920" y="5138928"/>
            <a:ext cx="41148" cy="122529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492240" y="5303520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1" spc="-10">
                <a:solidFill>
                  <a:srgbClr val="303A5D"/>
                </a:solidFill>
                <a:latin typeface="Segoe UI"/>
              </a:rPr>
              <a:t>6 ПАЛЕТ: ЖОДНА КЛІТИНКА НЕ ДОСЯГАЄ ПОТОЧНОЇ ЦІНИ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92240" y="5577840"/>
            <a:ext cx="486460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Для полиці 120 грн навіть при маржі 15 % потрібне €0,53, тобто мінус 18–29 % до поточної ціни. Щоб тримати 30 %, потрібне €0,32 — мінус 51–57 %.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 (курс 51,20; бонус 25 %;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ХТО З КИМ СТОЇТЬ · КАРТА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Карта цін: сегмент × цінова смуга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Усі бренди в клітинках за медіанною ціною позиції; помаранчеве — наші SKU: ціль 120 грн і поточна розрахункова полиця (33 палети). ×n — кількість смаків.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2768" y="1627632"/>
            <a:ext cx="2432304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700784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Пакет з бульйоном · 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27632"/>
            <a:ext cx="2432304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00784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Пакет із соусом ·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6832" y="1627632"/>
            <a:ext cx="2432304" cy="3108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700784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Стакан ·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4" y="1627632"/>
            <a:ext cx="2432304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4" y="1700784"/>
            <a:ext cx="2432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Рисові галушки ·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87702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до 80 грн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72768" y="199339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203911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 ×4 · Ottogi ×2 · Nongshim · Paldo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99339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203911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fire bull · Samyang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56832" y="199339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9984" y="203911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×3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98864" y="199339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203911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795778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72768" y="260146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26471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×5 · Ottogi ×4 · Nongshim ×3 · Otoki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260146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87952" y="26471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 ×4 · Ottogi ×2 · Paldo ×2 · 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56832" y="260146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9984" y="26471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4" y="260146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72016" y="264718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40385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72768" y="3209544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25526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×2 · Paldo · Samyang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3209544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7952" y="325526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×2 · Samyang ×2 · Nongshim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56832" y="3209544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9984" y="325526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×5 · Samyang · Paldo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98864" y="3209544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72016" y="325526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Baekje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011930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72768" y="3817620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45920" y="386334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×8 · Samyang ×4 · Ottogi ×2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27632" y="4151376"/>
            <a:ext cx="232257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27632" y="4178808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НАШІ 4 SKU · ціль 120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3817620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7952" y="386334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 ×2 · Nongshim · Choi's · Samyang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9663" y="4151376"/>
            <a:ext cx="232257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3" y="4178808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НАШІ 2 SKU · ціль 120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56832" y="3817620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9984" y="386334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×4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98864" y="3817620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2016" y="3863340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4620005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72768" y="4425696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5920" y="44714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27632" y="4759452"/>
            <a:ext cx="232257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27632" y="4786883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НАШІ 4 SKU · зараз 140,55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0" y="4425696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87952" y="44714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×4 · Nongshim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56832" y="4425696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9984" y="44714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 · Samyang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98864" y="4425696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72016" y="44714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5228082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72768" y="503377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45920" y="50794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0" y="503377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87952" y="50794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 ×3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69663" y="5367528"/>
            <a:ext cx="2322576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9663" y="539496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1" spc="-10">
                <a:solidFill>
                  <a:srgbClr val="303A5D"/>
                </a:solidFill>
                <a:latin typeface="Segoe UI"/>
              </a:rPr>
              <a:t>НАШІ 2 SKU · зараз 162,18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56832" y="503377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29984" y="50794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98864" y="5033772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72016" y="50794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5836157"/>
            <a:ext cx="960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72768" y="564184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645920" y="56875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0" y="564184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87952" y="56875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56832" y="564184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29984" y="56875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198864" y="5641848"/>
            <a:ext cx="2432304" cy="5623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72016" y="568756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Yopokki ×4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Чорний текст — бренди конкурентів і кількість їхніх позицій у смузі (медіанна ціна по мережах, 29.09.2026); помаранчеві плашки — наші SKU за фінмоделлю. Наших 4 SKU показано в сегменті 1, двох — у сегменті 2 за припущенням, що спосіб приготування це підтвердить.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ХТО З КИМ СТОЇТЬ · СУСІДИ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Найближчі за ціною до кожної нашої групи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Конкуренти сегментів 1–2 (пакет): три найближчі нижче й вище, плюс коридор ±20 %. Формат запису: бренд, назва, вага, медіанна ціна, грн.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2468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НАША ГРУПА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45920"/>
            <a:ext cx="3246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ДЕШЕВШЕ ЗА НАС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3246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ДОРОЖЧЕ ЗА НАС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645920"/>
            <a:ext cx="184708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717890"/>
                </a:solidFill>
                <a:latin typeface="Segoe UI"/>
              </a:rPr>
              <a:t>КОРИДОР ±20 %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65376"/>
            <a:ext cx="11064240" cy="1024127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865376"/>
            <a:ext cx="45720" cy="1024127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95681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 SKU · 112,5–113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34086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C4820A"/>
                </a:solidFill>
                <a:latin typeface="Segoe UI"/>
              </a:rPr>
              <a:t>ціль 120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95681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Kimchi Ramyun · 120 г · 118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Зі спеціями · 120 г · 117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 сиром гостра · 130 г · 115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5681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Chapaghetti · 140 г · 120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Зі смаком сиру · 105 г · 121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Paldo · Volcano Chicken з курко… · 140 г · 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95681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31 позицій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24942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Samyang, Nongshim, Paldo</a:t>
            </a:r>
          </a:p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(96–144 грн)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944368"/>
            <a:ext cx="45720" cy="1024127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03580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 SKU · 112,5–113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1985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C4820A"/>
                </a:solidFill>
                <a:latin typeface="Segoe UI"/>
              </a:rPr>
              <a:t>зараз 140,55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03580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Гостра з сиром · 130 г · 139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Зі смаком курки гостра · 140 г · 138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Зі смаком курки дуже го… · 140 г · 137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03580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Toomba Spicy&amp;Creamy Sti… · 137 г · 149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Tangle зі смаком вершко… · 105 г · 157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Tangle зі смаком вершко… · 105 г · 157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03580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23 позицій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28415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Nongshim, Samyang, Paldo</a:t>
            </a:r>
          </a:p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(112–168 грн)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023359"/>
            <a:ext cx="11064240" cy="1024127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023359"/>
            <a:ext cx="45720" cy="1024127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114799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Gouda 123 г · Carbonara 131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49884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C4820A"/>
                </a:solidFill>
                <a:latin typeface="Segoe UI"/>
              </a:rPr>
              <a:t>ціль 120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411479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Kimchi Ramyun · 120 г · 118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Зі спеціями · 120 г · 117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 сиром гостра · 130 г · 115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14799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Chapaghetti · 140 г · 120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Зі смаком сиру · 105 г · 121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Paldo · Volcano Chicken з курко… · 140 г · 123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114799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31 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407407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Samyang, Nongshim, Paldo</a:t>
            </a:r>
          </a:p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(96–144 грн)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102351"/>
            <a:ext cx="45720" cy="1024127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193791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Gouda 123 г · Carbonara 131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577840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C4820A"/>
                </a:solidFill>
                <a:latin typeface="Segoe UI"/>
              </a:rPr>
              <a:t>зараз 162,18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193791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Tangle зі смаком часник… · 105 г · 157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Tangle зі смаком вершко… · 105 г · 157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Samyang · Tangle зі смаком вершко… · 105 г · 157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193791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Шин Рамен Black · 130 г · 165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Spicy &amp; Creamy Toomba K… · 137 г · 198</a:t>
            </a:r>
          </a:p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303A5D"/>
                </a:solidFill>
                <a:latin typeface="Segoe UI"/>
              </a:rPr>
              <a:t>Nongshim · Shin Ramyun Black · 130 г · 205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193791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 позицій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548639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Samyang, Nongshim</a:t>
            </a:r>
          </a:p>
          <a:p>
            <a:pPr algn="l">
              <a:lnSpc>
                <a:spcPct val="12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(129–194 грн)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25449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Сусіди — з 71 пакетної позиції зрізу 29.09.2026 за медіанною ціною. Коридор ±20 % від ціни нашої групи. Стакани й рисові — інший привід, до сусідів не входять.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РИЗИКИ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може змінити розрахунок і яких даних бракує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Запит €0,54 / €0,32 тримається на умовах моделі. Нижче — припущення, які варто перевірити до підписання, і їхній вплив на допустиму ціну закупівлі.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45920"/>
            <a:ext cx="41148" cy="19568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8416" y="1773936"/>
            <a:ext cx="67665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1805940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73936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Згода SIAS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76272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€0,54 і €0,32 — це запит, а не угода. Для повної машини потрібне зниження 17–28 %, для 6 палет — 51–57 %.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18688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B53A3A"/>
                </a:solidFill>
                <a:latin typeface="Segoe UI"/>
              </a:rPr>
              <a:t>Без згоди: полиця 140,55–162,18 грн (машина)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1645920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645920"/>
            <a:ext cx="41148" cy="19568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77456" y="1773936"/>
            <a:ext cx="67665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7456" y="1805940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73936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ПДВ у моделі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176272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Імпортний ПДВ (6,0 грн/пачку) входить у СС, а ціна партнеру — з ПДВ (вихідний ПДВ 14,3 грн). Чистий ПДВ до сплати модель не показує.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072384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218688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B53A3A"/>
                </a:solidFill>
                <a:latin typeface="Segoe UI"/>
              </a:rPr>
              <a:t>Якщо ми платник ПДВ: −9,6 п.п. маржі (потребує підтвердження бухгалтерії)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645920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645920"/>
            <a:ext cx="41148" cy="19568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26496" y="1773936"/>
            <a:ext cx="67665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26496" y="1805940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ВИСОКИЙ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773936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Маржа 30 % — валова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176272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Внутрішня логістика, лістинг, промо й курсові різниці у моделі окремою статтею не виділені. Лістинг мережі лише зменшує допустиму закупівлю.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072384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18688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B53A3A"/>
                </a:solidFill>
                <a:latin typeface="Segoe UI"/>
              </a:rPr>
              <a:t>Реальний прибуток менший за 25,7 грн/пачку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730752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3730752"/>
            <a:ext cx="41148" cy="19568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28416" y="3858768"/>
            <a:ext cx="67665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3890772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85876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Діючий імпортер Choi’s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261104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Choi’s Carbonara вже стоїть у «Таврії В» і «Космосі» за 125,20–131,50 грн. Наша ціль 120 грн нижча — потрібні ексклюзив або чіткий розподіл каналів.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157216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0352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Ризик конфлікту каналів і цін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3730752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3730752"/>
            <a:ext cx="41148" cy="19568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77456" y="3858768"/>
            <a:ext cx="67665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77456" y="3890772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385876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Націнка 1,40 і бонус 25 %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261104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Обидва — умови моделі. Націнка 1,30 дає допустиму закупівлю €0,59, 1,55 — €0,48. Бонус 20 % — €0,61, 30 % — €0,47 (машина).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157216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530352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Допустима закупівля €0,47–€0,61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008" y="3730752"/>
            <a:ext cx="3547872" cy="19568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8" y="3730752"/>
            <a:ext cx="41148" cy="19568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26496" y="3858768"/>
            <a:ext cx="67665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6496" y="3890772"/>
            <a:ext cx="67665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СЕРЕДНІЙ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85876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Курс 51,20 грн/€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4261104"/>
            <a:ext cx="3090672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Закупівля в євро, полиця в гривні — курсовий ризик лягає на нас. При курсі 55 допустима закупівля — €0,50 (машина) і €0,28 (6 палет).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157216"/>
            <a:ext cx="30906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90" b="1" spc="-10">
                <a:solidFill>
                  <a:srgbClr val="717890"/>
                </a:solidFill>
                <a:latin typeface="Segoe UI"/>
              </a:rPr>
              <a:t>ВПЛИВ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5303520"/>
            <a:ext cx="30906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Кожні +4 грн до курсу = −8 % до ціни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797296"/>
            <a:ext cx="11064240" cy="6035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797296"/>
            <a:ext cx="41148" cy="6035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" y="5888736"/>
            <a:ext cx="10515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ЧОГО НЕ ВИСТАЧАЄ ДЛЯ ОСТАТОЧНОГО РІШЕННЯ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6089904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Специфікації шести SKU · розшифровка собівартості за статтями · податковий режим ПДВ · умови лістингу хоча б однієї мережі · статус і ціни Choi’s у «Таврії В» · історія цін конкурентів.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грн», зміна одного параметра за раз; ціна закупівлі — на повну машину (33 палети), якщо не зазначено інше.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ПІДСУМОК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просимо в SIAS і що робити далі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Одне рішення: чи будуємо полицю 120 грн на новій закупівлі, чи приймаємо нижчу маржу. Чотири кроки до рішення.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3547872" cy="1389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609344"/>
            <a:ext cx="41148" cy="1389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120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2374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P75 пакетного рамену: дорожчих — 18 із 71;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конкуренти в акції — 86–105 грн.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609344"/>
            <a:ext cx="3547872" cy="1389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609344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64792"/>
            <a:ext cx="30723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ЗАКУПІВЛЯ ДЛЯ МАРЖІ 30 %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75104"/>
            <a:ext cx="30723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1E9EA6"/>
                </a:solidFill>
                <a:latin typeface="Segoe UI"/>
              </a:rPr>
              <a:t>€0,54 / €0,32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23744"/>
            <a:ext cx="3072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повна машина / 6 палет — замість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€0,65–0,75 зараз.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609344"/>
            <a:ext cx="3566160" cy="1389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609344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64792"/>
            <a:ext cx="30906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ПОТРІБНЕ ЗНИЖЕННЯ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975104"/>
            <a:ext cx="30906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spc="-10">
                <a:solidFill>
                  <a:srgbClr val="B53A3A"/>
                </a:solidFill>
                <a:latin typeface="Segoe UI"/>
              </a:rPr>
              <a:t>17–28 % / 51–57 %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23744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машина / 6 палет. Альтернатива —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полиця 120 грн з маржею 14–22 %.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108960"/>
            <a:ext cx="5413248" cy="12435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108960"/>
            <a:ext cx="41148" cy="12435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218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B53A3A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25526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Показати SIAS ринок і запросити ціну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566160"/>
            <a:ext cx="4297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Слайди 32–33: конкуренти й акції, полиця 120 грн, ціна закупівлі €0,54 для машини. Попросити розшифровку СС за статтями.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133087"/>
            <a:ext cx="4297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B53A3A"/>
                </a:solidFill>
                <a:latin typeface="Segoe UI"/>
              </a:rPr>
              <a:t>ТЕРМІН: до переговорів · ВІДПОВІДАЄ: закупівлі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108960"/>
            <a:ext cx="5413248" cy="12435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108960"/>
            <a:ext cx="41148" cy="12435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218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B53A3A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255264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Вирішити: машина чи 6 палет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566160"/>
            <a:ext cx="4297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6 палет за поточних цін не дають полиці 120 грн за жодної маржі ≥ 15 %. Повна машина — єдиний реалістичний шлях.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133087"/>
            <a:ext cx="4297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B53A3A"/>
                </a:solidFill>
                <a:latin typeface="Segoe UI"/>
              </a:rPr>
              <a:t>ТЕРМІН: до переговорів · ВІДПОВІДАЄ: керівництво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462272"/>
            <a:ext cx="5413248" cy="12435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462272"/>
            <a:ext cx="41148" cy="124358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572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C4820A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608576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З’ясувати статус Choi’s у «Таврії В»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4919472"/>
            <a:ext cx="4297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Хто діючий імпортер, чи є ексклюзив, за якою ціною ввозили, історія цін. Без цього наша 120 грн може вступити в конфлікт.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5486400"/>
            <a:ext cx="4297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C4820A"/>
                </a:solidFill>
                <a:latin typeface="Segoe UI"/>
              </a:rPr>
              <a:t>ТЕРМІН: паралельно · ВІДПОВІДАЄ: категорійний менеджмент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462272"/>
            <a:ext cx="5413248" cy="12435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462272"/>
            <a:ext cx="41148" cy="12435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572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spc="-10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608576"/>
            <a:ext cx="4297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Закрити невизначеності моделі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919472"/>
            <a:ext cx="4297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Специфікації SKU (сегмент), режим ПДВ, лістинг і промо-бюджет мережі. Від них залежить, чи реальна маржа 30 %.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486400"/>
            <a:ext cx="4297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1" spc="-10">
                <a:solidFill>
                  <a:srgbClr val="1E9EA6"/>
                </a:solidFill>
                <a:latin typeface="Segoe UI"/>
              </a:rPr>
              <a:t>ТЕРМІН: до рішення · ВІДПОВІДАЄ: фінанси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797296"/>
            <a:ext cx="11064240" cy="84124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5797296"/>
            <a:ext cx="54864" cy="84124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" y="592531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FFC95C"/>
                </a:solidFill>
                <a:latin typeface="Segoe UI"/>
              </a:rPr>
              <a:t>РІШЕННЯ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" y="61813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spc="-10">
                <a:solidFill>
                  <a:srgbClr val="FFFFFF"/>
                </a:solidFill>
                <a:latin typeface="Segoe UI"/>
              </a:rPr>
              <a:t>Вимагати закупівлю €0,54 за повну машину або свідомо йти на маржу 14–22 %: з 6 палет полиця 120 грн недосяжна.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