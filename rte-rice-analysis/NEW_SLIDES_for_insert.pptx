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МАТРИЦЯ БРЕНДІВ · 1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Сегменти 1 і 2: готовий рис і рис під окріп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Це два сегменти, які конкурують із нами напряму. Усередині сегмента бренди відсортовані від найдешевшого до найдорожчого.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09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1554480"/>
            <a:ext cx="768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554480"/>
            <a:ext cx="969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155448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5" y="1554480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1554480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ЩО ЦЕ ТАКЕ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554480"/>
            <a:ext cx="17556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ДЕ ПРОДАЄТЬСЯ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755648"/>
            <a:ext cx="10789920" cy="21488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787651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1 · ГОТОВИЙ РИС ДО РОЗІГРІВУ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792224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Мікрохвильовка 60–90 с. Маса — готової страви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048255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Ben's Original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2048255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2048255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1" y="2048255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5" y="2048255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45–179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2048255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від Mars. Мікрохвильовка 90 с. Єдиний у мережевому роздрібі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048255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Мережа + маркетплейс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" y="2240279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27228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Маркел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227228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27228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3631" y="227228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5" y="227228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94–96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59" y="227228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реторт для військторгу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27228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Військторг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9631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Portion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76272" y="249631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249631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13631" y="249631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249631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109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59" y="249631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реторт 350 г. Найдешевший грам категорії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249631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Маркетплейс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" y="2688336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272034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Bibigo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76272" y="272034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272034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13631" y="272034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272034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135–189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59" y="272034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Корейський лоток білого рису. Розігрів 90 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272034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Фудшопи + маркетплейс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2944368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Ottogi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76272" y="2944368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4368" y="2944368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13631" y="2944368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34255" y="2944368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225–356 грн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52159" y="2944368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Корейська чаша з м'ясом і соусом. Розігрів 2 хв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2944368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3776" y="3136392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3168396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Clearspring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76272" y="3168396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44368" y="3168396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13631" y="3168396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34255" y="3168396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252–446 грн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52159" y="3168396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Органічний пауч з ЄС. Найдорожчий пауч ринку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3168396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Маркетплейс + спец.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339242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Adventure Menu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76272" y="339242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44368" y="339242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4820A"/>
                </a:solidFill>
                <a:latin typeface="Segoe UI"/>
              </a:rPr>
              <a:t>Пауч/Дойпак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13631" y="339242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34255" y="339242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315–483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52159" y="339242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Реторт 400 г + сублімат 110 г. Два формати в одному бренді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01200" y="339242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3762756"/>
            <a:ext cx="10789920" cy="2148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2" y="3794760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2 · СУХИЙ РИС ПІД ОКРІП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75120" y="3799332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Окріп 5–10 хв. Маса — сухого продукту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05536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Henan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76272" y="405536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44368" y="405536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13631" y="405536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34255" y="405536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83–156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52159" y="405536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Китайська чаша сухого рису. Залити окропом на 8 хв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01200" y="405536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Азійські фудшопи + МП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93776" y="4247388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928" y="427939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Gallina Blanca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76272" y="427939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44368" y="427939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13631" y="427939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34255" y="427939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229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52159" y="427939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Іспанський інстант-рис у чаші 84 г. Окріп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01200" y="427939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Спец. магазин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450342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Qiaoshanmei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76272" y="450342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944368" y="450342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Пакет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13631" y="450342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34255" y="450342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501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52159" y="450342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Китайський рис у пакеті під окріп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01200" y="450342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Ціна — роздріб за одну упаковку, без оптових порогів. Зріз 22–23.09.2026. Adventure Menu має дві технології: реторт 400 г (сегмент 1) і сублімат 110 г (сегмент 4).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МАТРИЦЯ БРЕНДІВ · 2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Сегменти 3 і 4: саморозігрів і сублімація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Ці два сегменти з нами не конкурують: інший привід споживання і інший канал. Показані, щоб було видно всю категорію.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09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1554480"/>
            <a:ext cx="7680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554480"/>
            <a:ext cx="9692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1554480"/>
            <a:ext cx="4206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5" y="1554480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1554480"/>
            <a:ext cx="374903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ЩО ЦЕ ТАКЕ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554480"/>
            <a:ext cx="17556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ДЕ ПРОДАЄТЬСЯ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755648"/>
            <a:ext cx="10789920" cy="214884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787651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3 · САМОРОЗІГРІВ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792224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Хімічний нагрівач 15 хв. Без техніки й окропу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048255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Haidilao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2048255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2048255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1" y="2048255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5" y="2048255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380–1190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2048255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Коробка з хімічним нагрівачем. Готується без техніки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048255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 + фудшопи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" y="2240279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27228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Zihaiguo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227228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27228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3631" y="227228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5" y="227228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735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59" y="227228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Коробка-саморозігрів 440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27228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9631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Rongcheng Haoji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76272" y="249631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249631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13631" y="249631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249631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735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59" y="249631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Коробка-саморозігрів 440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249631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" y="2688336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272034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Mo Xiao Xian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76272" y="272034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272034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13631" y="272034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272034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931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59" y="272034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Китайська чаша-саморозігрів. Найдорожча чаша ринку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272034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3090672"/>
            <a:ext cx="10789920" cy="21488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3122676"/>
            <a:ext cx="5852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СЕГМЕНТ 4 · СУБЛІМАЦІЯ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3127248"/>
            <a:ext cx="4572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0">
                <a:solidFill>
                  <a:srgbClr val="FFFFFF"/>
                </a:solidFill>
                <a:latin typeface="Segoe UI"/>
              </a:rPr>
              <a:t>Сушіння виморожуванням. Похід і армія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338328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Харчі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76272" y="338328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44368" y="338328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1" y="338328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34255" y="338328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83–321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52159" y="338328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 для туризму й армії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338328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3776" y="3575304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3607308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James Cook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76272" y="3607308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44368" y="3607308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13631" y="3607308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34255" y="3607308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55–156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52159" y="3607308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сублімат. Найширша вітчизняна лінійка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0" y="3607308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3831336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!FEST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76272" y="3831336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44368" y="3831336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13631" y="3831336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34255" y="3831336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133–140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2159" y="3831336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сублімат, львівський бренд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0" y="3831336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93776" y="4023360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6928" y="405536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Їжа в Похід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76272" y="405536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44368" y="405536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13631" y="405536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34255" y="405536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130–145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52159" y="405536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сублімат, власний магазин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405536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279392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SubliMate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76272" y="4279392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44368" y="4279392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13631" y="4279392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34255" y="4279392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290–370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52159" y="4279392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Український сублімат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01200" y="4279392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93776" y="4471416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6928" y="4503420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Trek'n Eat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76272" y="4503420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44368" y="4503420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13631" y="4503420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34255" y="4503420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269–715 грн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852159" y="4503420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Німецький сублімат для туризму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01200" y="4503420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4727448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Adventure Food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76272" y="4727448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944368" y="4727448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13631" y="4727448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34255" y="4727448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492 грн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852159" y="4727448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Нідерландський сублімат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601200" y="4727448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93776" y="4919472"/>
            <a:ext cx="10936224" cy="224028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66928" y="4951476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Travellunch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76272" y="4951476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4951476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13631" y="4951476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334255" y="4951476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275–889 грн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52159" y="4951476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Німецький сублімат. Найширша імпортна лінійка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601200" y="4951476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66928" y="5175504"/>
            <a:ext cx="160934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Mountain House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176272" y="5175504"/>
            <a:ext cx="76809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США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44368" y="5175504"/>
            <a:ext cx="96926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13631" y="5175504"/>
            <a:ext cx="4206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34255" y="5175504"/>
            <a:ext cx="15179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>
                <a:solidFill>
                  <a:srgbClr val="1C2235"/>
                </a:solidFill>
                <a:latin typeface="Segoe UI"/>
              </a:rPr>
              <a:t>699 грн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852159" y="5175504"/>
            <a:ext cx="3749039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Американський сублімат. Найдорожчий грам категорії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01200" y="5175504"/>
            <a:ext cx="17556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Ціна — роздріб за одну упаковку. Trek'n Eat: маса на картках продавців не вказана. Зріз 22–23.09.2026.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ФОРМАТИ УПАКОВКИ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Який формат насправді найпопулярніший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Кількість позицій і ціна дають протилежні відповіді. Розбираємо, яка з них релевантна.</a:t>
            </a:r>
          </a:p>
        </p:txBody>
      </p:sp>
      <p:pic>
        <p:nvPicPr>
          <p:cNvPr id="10" name="Picture 9" descr="c1_for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81328"/>
            <a:ext cx="11064240" cy="335731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023360"/>
            <a:ext cx="41148" cy="20116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D4B96"/>
                </a:solidFill>
                <a:latin typeface="Segoe UI"/>
              </a:rPr>
              <a:t>ПОПУЛЯРНІСТЬ ≠ ПОЛИЦЯ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Дойпак лідирує за кількістю позицій (30 із 84), але це артефакт каналу: туристичні магазини заводять по 1–2 SKU від десятка дрібних брендів.
За доступністю для покупця виграє пауч: 109 грн проти 315 грн у дойпака.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4023360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ВІКНО ПОРЦІЇ 210–250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Чаша й пауч конкурують у тому самому ваговому вікні — це порція «обід на одну людину».
16 позицій із 84 лежать у 220–250 г. Саме під цю вагу вже привчений покупець Ben's Original і Bibigo.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4023360"/>
            <a:ext cx="41148" cy="20116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РЕКОМЕНДАЦІЯ ФОРМАТУ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ПАУЧ 240–250 Г — для мережевої полиці: найнижча ціна входу, вага збігається з лідером категорії.
СТАКАН 150 Г — для азійського каналу: прямий конкурент Ottogi та Henan за вдвічі нижчою ціною.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Розподіл 84 позицій за типом паковання з карток продавців, 22–23.09.2026.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МОДЕЛЬ ФОРМАТУ І ВАГИ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Яке поєднання упаковки й грамажу тримає ринок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Кожна клітинка — скільки позицій категорії має цей формат у цій ваговій смузі.</a:t>
            </a:r>
          </a:p>
        </p:txBody>
      </p:sp>
      <p:pic>
        <p:nvPicPr>
          <p:cNvPr id="10" name="Picture 9" descr="c6_fmtwe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26464"/>
            <a:ext cx="11064240" cy="34117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681728"/>
            <a:ext cx="41148" cy="144475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F9A50B"/>
                </a:solidFill>
                <a:latin typeface="Segoe UI"/>
              </a:rPr>
              <a:t>ПОРЦІЙНЕ ВІКНО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200–299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22 позиції: пауч 14, чаша 8.
Одна порція на одну людину.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5848" y="4681728"/>
            <a:ext cx="41148" cy="144475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НАЙЩІЛЬНІША КЛІТИНКА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дойпак 100–149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16 позицій — але це сухий
сублімат, інший привід.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4681728"/>
            <a:ext cx="41148" cy="144475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4820A"/>
                </a:solidFill>
                <a:latin typeface="Segoe UI"/>
              </a:rPr>
              <a:t>ПАУЧ ЖИВЕ ТІЛЬКИ ТУТ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220–250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14 із 19 паучів. Поза вікном —
лише укр. реторт 350 г.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3687" y="4681728"/>
            <a:ext cx="2615184" cy="1444752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33687" y="4681728"/>
            <a:ext cx="41148" cy="1444752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3" y="4809744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37A169"/>
                </a:solidFill>
                <a:latin typeface="Segoe UI"/>
              </a:rPr>
              <a:t>ЧАША ПРАЦЮЄ СКРІЗЬ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3" y="499262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84–320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3" y="5504688"/>
            <a:ext cx="2286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Єдиний формат, присутній у шести
вагових смугах із семи.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84 позиції; 2 без указаної маси (Trek'n Eat) до крос-табу не входять. Вага — за картками продавців; для сухих продуктів це маса до заливання.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НАЙПОПУЛЯРНІШІ ФОРМАТИ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Які упаковки ринок обирає найчастіше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Ліворуч — конкретні поєднання формату й ваги. Праворуч — частка формату в усій категорії та окремо в каналах, куди ходить масовий покупець.</a:t>
            </a:r>
          </a:p>
        </p:txBody>
      </p:sp>
      <p:pic>
        <p:nvPicPr>
          <p:cNvPr id="10" name="Picture 9" descr="c7_comb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11064240" cy="429191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828032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C4820A"/>
                </a:solidFill>
                <a:latin typeface="Segoe UI"/>
              </a:rPr>
              <a:t>#1 НА РИНКУ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Пауч 220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7 позицій, усі Ben's Original.
Медіана 129 грн.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5848" y="4828032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C4820A"/>
                </a:solidFill>
                <a:latin typeface="Segoe UI"/>
              </a:rPr>
              <a:t>НАЙДЕШЕВШИЙ ВХІД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Пауч 250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6 позицій, медіана 90 грн —
найнижчий цінник категорії.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4768" y="4828032"/>
            <a:ext cx="41148" cy="12984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#1 В АЗІЙСЬКІЙ НІШІ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Чаша 174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5 позицій Henan, 148 грн.
Прямий конкурент нашого стакана.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3687" y="4828032"/>
            <a:ext cx="2615184" cy="129844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33687" y="4828032"/>
            <a:ext cx="41148" cy="1298448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3" y="4937760"/>
            <a:ext cx="2286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БЕЗ OUTDOOR-КАНАЛУ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3" y="5120640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C2235"/>
                </a:solidFill>
                <a:latin typeface="Segoe UI"/>
              </a:rPr>
              <a:t>чаша + пауч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3" y="5431536"/>
            <a:ext cx="2286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30" b="0">
                <a:solidFill>
                  <a:srgbClr val="303A5D"/>
                </a:solidFill>
                <a:latin typeface="Segoe UI"/>
              </a:rPr>
              <a:t>91 % позицій, доступних масовому
покупцю. Дойпак падає з 36 % до 4 %.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Поєднання з двома й більше позиціями; 13 поєднань покривають 52 із 84 позицій. Медіана ціни — за позиціями цього поєднання. «Масовий канал» — мережа, маркетплейси та спеціалізовані фудшопи (46 позицій); outdoor- і мілітарі-рітейл виключено.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КАРТА СЕГМЕНТІВ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До якого сегмента належить кожен слайд з брендами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Наступні слайди дослідження — картки брендів. Ось що на них, за сегментом і форматом.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72768"/>
            <a:ext cx="38039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ЩО НА СЛАЙДІ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1572768"/>
            <a:ext cx="2871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СЕГМЕНТ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8" y="1572768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572768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8128" y="1572768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28800"/>
            <a:ext cx="3803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1C2235"/>
                </a:solidFill>
                <a:latin typeface="Segoe UI"/>
              </a:rPr>
              <a:t>Ben's Original · 13 позицій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1810512"/>
            <a:ext cx="2871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СЕГМЕНТ 1 · ГОТОВИЙ РИС ДО РОЗІГРІВУ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1965960"/>
            <a:ext cx="28712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717890"/>
                </a:solidFill>
                <a:latin typeface="Segoe UI"/>
              </a:rPr>
              <a:t>Мікрохвильовка 60–90 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42048" y="1856231"/>
            <a:ext cx="420623" cy="182880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867204"/>
            <a:ext cx="42062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>
                <a:solidFill>
                  <a:srgbClr val="FFFFFF"/>
                </a:solidFill>
                <a:latin typeface="Segoe UI"/>
              </a:rPr>
              <a:t>ПАУЧ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184708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220–250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8128" y="184708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C2235"/>
                </a:solidFill>
                <a:latin typeface="Segoe UI"/>
              </a:rPr>
              <a:t>45–179 грн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" y="2121408"/>
            <a:ext cx="10936224" cy="365760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194560"/>
            <a:ext cx="3803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1C2235"/>
                </a:solidFill>
                <a:latin typeface="Segoe UI"/>
              </a:rPr>
              <a:t>Ottogi · 10 позицій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2176272"/>
            <a:ext cx="2871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СЕГМЕНТ 1 · ГОТОВИЙ РИС ДО РОЗІГРІВУ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2331720"/>
            <a:ext cx="28712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717890"/>
                </a:solidFill>
                <a:latin typeface="Segoe UI"/>
              </a:rPr>
              <a:t>Мікрохвильовка 60–90 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42048" y="2221991"/>
            <a:ext cx="420623" cy="18288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2232964"/>
            <a:ext cx="42062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8" y="221284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217–320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8128" y="221284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C2235"/>
                </a:solidFill>
                <a:latin typeface="Segoe UI"/>
              </a:rPr>
              <a:t>225–356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560320"/>
            <a:ext cx="3803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1C2235"/>
                </a:solidFill>
                <a:latin typeface="Segoe UI"/>
              </a:rPr>
              <a:t>Henan · 8 позицій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2542032"/>
            <a:ext cx="2871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СЕГМЕНТ 2 · СУХИЙ РИС ПІД ОКРІП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2697479"/>
            <a:ext cx="28712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717890"/>
                </a:solidFill>
                <a:latin typeface="Segoe UI"/>
              </a:rPr>
              <a:t>Окріп, 5–10 хв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42048" y="2587751"/>
            <a:ext cx="420623" cy="18288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42048" y="2598724"/>
            <a:ext cx="42062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>
                <a:solidFill>
                  <a:srgbClr val="FFFFFF"/>
                </a:solidFill>
                <a:latin typeface="Segoe UI"/>
              </a:rPr>
              <a:t>ЧАША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408" y="257860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144 і 174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8128" y="257860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C2235"/>
                </a:solidFill>
                <a:latin typeface="Segoe UI"/>
              </a:rPr>
              <a:t>83–156 грн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776" y="2852927"/>
            <a:ext cx="10936224" cy="365760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2926079"/>
            <a:ext cx="3803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1C2235"/>
                </a:solidFill>
                <a:latin typeface="Segoe UI"/>
              </a:rPr>
              <a:t>Bibigo, Clearspring, Portion, Маркел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2907791"/>
            <a:ext cx="2871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СЕГМЕНТ 1 · ГОТОВИЙ РИС ДО РОЗІГРІВУ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2" y="3063239"/>
            <a:ext cx="28712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717890"/>
                </a:solidFill>
                <a:latin typeface="Segoe UI"/>
              </a:rPr>
              <a:t>Мікрохвильовка 60–90 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42048" y="2953511"/>
            <a:ext cx="772668" cy="18288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42048" y="2964484"/>
            <a:ext cx="7726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>
                <a:solidFill>
                  <a:srgbClr val="FFFFFF"/>
                </a:solidFill>
                <a:latin typeface="Segoe UI"/>
              </a:rPr>
              <a:t>ЧАША + ПАУЧ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8" y="294436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210–350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68128" y="294436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C2235"/>
                </a:solidFill>
                <a:latin typeface="Segoe UI"/>
              </a:rPr>
              <a:t>94–446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291839"/>
            <a:ext cx="3803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1C2235"/>
                </a:solidFill>
                <a:latin typeface="Segoe UI"/>
              </a:rPr>
              <a:t>Haidilao · 10 позицій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832" y="3273551"/>
            <a:ext cx="2871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C94F7C"/>
                </a:solidFill>
                <a:latin typeface="Segoe UI"/>
              </a:rPr>
              <a:t>СЕГМЕНТ 3 · САМОРОЗІГРІВ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2" y="3428999"/>
            <a:ext cx="28712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717890"/>
                </a:solidFill>
                <a:latin typeface="Segoe UI"/>
              </a:rPr>
              <a:t>Хімічний нагрівач, 15 хв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42048" y="3319271"/>
            <a:ext cx="571500" cy="18288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42048" y="3330244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>
                <a:solidFill>
                  <a:srgbClr val="FFFFFF"/>
                </a:solidFill>
                <a:latin typeface="Segoe UI"/>
              </a:rPr>
              <a:t>КОРОБКА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79408" y="3310127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165–360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68128" y="3310127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C2235"/>
                </a:solidFill>
                <a:latin typeface="Segoe UI"/>
              </a:rPr>
              <a:t>380–1 190 грн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3776" y="3584447"/>
            <a:ext cx="10936224" cy="365760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3657599"/>
            <a:ext cx="3803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1C2235"/>
                </a:solidFill>
                <a:latin typeface="Segoe UI"/>
              </a:rPr>
              <a:t>Mo Xiao Xian, Zihaiguo, Rongcheng Haoji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70832" y="3639311"/>
            <a:ext cx="2871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C94F7C"/>
                </a:solidFill>
                <a:latin typeface="Segoe UI"/>
              </a:rPr>
              <a:t>СЕГМЕНТ 3 · САМОРОЗІГРІВ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70832" y="3794759"/>
            <a:ext cx="28712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717890"/>
                </a:solidFill>
                <a:latin typeface="Segoe UI"/>
              </a:rPr>
              <a:t>Хімічний нагрівач, 15 хв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42048" y="3685031"/>
            <a:ext cx="923544" cy="18288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42048" y="3696004"/>
            <a:ext cx="923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>
                <a:solidFill>
                  <a:srgbClr val="FFFFFF"/>
                </a:solidFill>
                <a:latin typeface="Segoe UI"/>
              </a:rPr>
              <a:t>ЧАША + КОРОБКА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79408" y="3675887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275–440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68128" y="3675887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C2235"/>
                </a:solidFill>
                <a:latin typeface="Segoe UI"/>
              </a:rPr>
              <a:t>735–931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4023359"/>
            <a:ext cx="3803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1C2235"/>
                </a:solidFill>
                <a:latin typeface="Segoe UI"/>
              </a:rPr>
              <a:t>Travellunch, Trek'n Eat, Mountain House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70832" y="4005071"/>
            <a:ext cx="2871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СЕГМЕНТ 4 · СУБЛІМАЦІЯ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0832" y="4160520"/>
            <a:ext cx="28712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717890"/>
                </a:solidFill>
                <a:latin typeface="Segoe UI"/>
              </a:rPr>
              <a:t>Сушіння виморожуванням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42048" y="4050791"/>
            <a:ext cx="521208" cy="182880"/>
          </a:xfrm>
          <a:prstGeom prst="roundRect">
            <a:avLst>
              <a:gd name="adj" fmla="val 50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42048" y="4061764"/>
            <a:ext cx="5212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79408" y="4041647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110–250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68128" y="4041647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C2235"/>
                </a:solidFill>
                <a:latin typeface="Segoe UI"/>
              </a:rPr>
              <a:t>269–889 грн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93776" y="4315968"/>
            <a:ext cx="10936224" cy="365760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4389120"/>
            <a:ext cx="3803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1C2235"/>
                </a:solidFill>
                <a:latin typeface="Segoe UI"/>
              </a:rPr>
              <a:t>Adventure Menu, SubliMate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70832" y="4370831"/>
            <a:ext cx="2871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СЕГМЕНТ 4 · СУБЛІМАЦІЯ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70832" y="4526280"/>
            <a:ext cx="28712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717890"/>
                </a:solidFill>
                <a:latin typeface="Segoe UI"/>
              </a:rPr>
              <a:t>Сушіння виморожуванням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242048" y="4416552"/>
            <a:ext cx="873252" cy="182880"/>
          </a:xfrm>
          <a:prstGeom prst="roundRect">
            <a:avLst>
              <a:gd name="adj" fmla="val 50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42048" y="4427524"/>
            <a:ext cx="8732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>
                <a:solidFill>
                  <a:srgbClr val="FFFFFF"/>
                </a:solidFill>
                <a:latin typeface="Segoe UI"/>
              </a:rPr>
              <a:t>ПАУЧ + ДОЙПАК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79408" y="4407407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110–400 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68128" y="4407407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C2235"/>
                </a:solidFill>
                <a:latin typeface="Segoe UI"/>
              </a:rPr>
              <a:t>290–483 грн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754880"/>
            <a:ext cx="3803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1C2235"/>
                </a:solidFill>
                <a:latin typeface="Segoe UI"/>
              </a:rPr>
              <a:t>James Cook, Їжа в Похід, Харчі, !FEST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70832" y="4736592"/>
            <a:ext cx="2871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СЕГМЕНТ 4 · СУБЛІМАЦІЯ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70832" y="4892040"/>
            <a:ext cx="28712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717890"/>
                </a:solidFill>
                <a:latin typeface="Segoe UI"/>
              </a:rPr>
              <a:t>Сушіння виморожуванням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242048" y="4782312"/>
            <a:ext cx="521208" cy="182880"/>
          </a:xfrm>
          <a:prstGeom prst="roundRect">
            <a:avLst>
              <a:gd name="adj" fmla="val 50000"/>
            </a:avLst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242048" y="4793284"/>
            <a:ext cx="5212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>
                <a:solidFill>
                  <a:srgbClr val="FFFFFF"/>
                </a:solidFill>
                <a:latin typeface="Segoe UI"/>
              </a:rPr>
              <a:t>ДОЙПАК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79408" y="477316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80–100 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68128" y="477316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C2235"/>
                </a:solidFill>
                <a:latin typeface="Segoe UI"/>
              </a:rPr>
              <a:t>55–321 грн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93776" y="5047488"/>
            <a:ext cx="10936224" cy="365760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928" y="5120640"/>
            <a:ext cx="3803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>
                <a:solidFill>
                  <a:srgbClr val="1C2235"/>
                </a:solidFill>
                <a:latin typeface="Segoe UI"/>
              </a:rPr>
              <a:t>Суміжна полиця · консерва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70832" y="5102352"/>
            <a:ext cx="2871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37A169"/>
                </a:solidFill>
                <a:latin typeface="Segoe UI"/>
              </a:rPr>
              <a:t>СЕГМЕНТ 5 · СУМІЖНА ПОЛИЦЯ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70832" y="5257800"/>
            <a:ext cx="28712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0">
                <a:solidFill>
                  <a:srgbClr val="717890"/>
                </a:solidFill>
                <a:latin typeface="Segoe UI"/>
              </a:rPr>
              <a:t>Консерва, готова до вживання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42048" y="5148072"/>
            <a:ext cx="621792" cy="18288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242048" y="5159044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>
                <a:solidFill>
                  <a:srgbClr val="FFFFFF"/>
                </a:solidFill>
                <a:latin typeface="Segoe UI"/>
              </a:rPr>
              <a:t>БЛЯШАНКА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79408" y="513892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250–350 г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68128" y="513892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C2235"/>
                </a:solidFill>
                <a:latin typeface="Segoe UI"/>
              </a:rPr>
              <a:t>63–160 грн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66928" y="5614416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66928" y="5614416"/>
            <a:ext cx="41148" cy="54864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4672" y="5769864"/>
            <a:ext cx="10607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ЯК ЧИТАТИ ДАЛІ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" y="6035040"/>
            <a:ext cx="1060704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Сегменти 1 і 2 — наш конкурентний сет: той самий привід споживання і той самий канал. Сегменти 3 і 4 з нами не конкурують. Сегмент 5 — консерва, що вже стоїть у мережі.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Сегментація за технологією приготування: вона визначає і ціну, і канал продажу. Зріз 22–23.09.2026.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РИТЕЙЛ-АУДИТ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Що з готового рису реально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Суцільна перевірка каталогів Ашан, Сільпо, METRO, NOVUS, МегаМаркет, Ultramarket, ЕКО маркет, Epicentr, Космос — 28.09.2026.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4114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1619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ЗБЕРІГАННЯ ПРИ КІМНАТНІЙ · НАШ СЕТ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31619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C4820A"/>
                </a:solidFill>
                <a:latin typeface="Segoe UI"/>
              </a:rPr>
              <a:t>12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55648"/>
            <a:ext cx="2615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1755648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ЩО САМЕ СТОЇТЬ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1" y="1755648"/>
            <a:ext cx="13898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17556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1755648"/>
            <a:ext cx="1335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96143" y="1755648"/>
            <a:ext cx="15179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10" b="1">
                <a:solidFill>
                  <a:srgbClr val="717890"/>
                </a:solidFill>
                <a:latin typeface="Segoe UI"/>
              </a:rPr>
              <a:t>ПОХОДЖЕННЯ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938528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Сільпо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1938528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Ben's Original / Uncle Ben's Express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1" y="1938528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4820A"/>
                </a:solidFill>
                <a:latin typeface="Segoe UI"/>
              </a:rPr>
              <a:t>пауч 220–250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1938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193852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90–179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6143" y="1938528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Mars · ЄС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" y="2121408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2153412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2112" y="2153412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The Local Food по-тайськи з куркою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1" y="2153412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4820A"/>
                </a:solidFill>
                <a:latin typeface="Segoe UI"/>
              </a:rPr>
              <a:t>лоток 350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21534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19" y="2153412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207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96143" y="21534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487168"/>
            <a:ext cx="41148" cy="1737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2500884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ОХОЛОДЖЕНА КУЛІНАРІЯ · 2–5 ДІБ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500884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11 SKU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724911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82112" y="2724911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«Легко!» рис з овочами та курячим фрікасе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1" y="2724911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лоток 280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19" y="27249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19" y="2724911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96143" y="2724911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3776" y="2907791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2939795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Сільпо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82112" y="2939795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«Чіл Міл» рис паровий · рис з яйцем і овочами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14031" y="2939795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лоток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19" y="293979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19" y="2939795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75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96143" y="2939795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154679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Сільпо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82112" y="3154679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Боули з рисом · теріякі · рис по-китайськи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4031" y="3154679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кулінарія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19" y="315467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19" y="3154679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139–439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96143" y="3154679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93776" y="3337559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3369563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82112" y="3369563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«Майстри Смаку» рис з овочами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14031" y="3369563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кулінарія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19" y="336956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19" y="3369563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299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96143" y="3369563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3584447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82112" y="3584447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Рис японський з овочами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4031" y="3584447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E9EA6"/>
                </a:solidFill>
                <a:latin typeface="Segoe UI"/>
              </a:rPr>
              <a:t>кулінарія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19" y="358444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19" y="3584447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366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96143" y="3584447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3918203"/>
            <a:ext cx="41148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3232" y="3931919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СУМІШ ПІД ВАРІННЯ · НЕ ГОТОВИЙ ПРОДУКТ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3931919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5D4B96"/>
                </a:solidFill>
                <a:latin typeface="Segoe UI"/>
              </a:rPr>
              <a:t>3 SKU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4155947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Ашан · NOVUS · МегаМаркет · Сільпо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82112" y="4155947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«Жменька» Tasty Mix басматі з овочами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14031" y="4155947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5D4B96"/>
                </a:solidFill>
                <a:latin typeface="Segoe UI"/>
              </a:rPr>
              <a:t>пакет 200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03919" y="415594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61119" y="4155947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89–92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96143" y="4155947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93776" y="4338827"/>
            <a:ext cx="10936224" cy="21488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6928" y="4370831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NOVUS · Сільпо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82112" y="4370831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Trapeza басматі з карі по-індійськи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14031" y="4370831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5D4B96"/>
                </a:solidFill>
                <a:latin typeface="Segoe UI"/>
              </a:rPr>
              <a:t>пакет 250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919" y="437083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61119" y="4370831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59–85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96143" y="4370831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585716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82112" y="458571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«Зерновита» рис з овочами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14031" y="4585716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5D4B96"/>
                </a:solidFill>
                <a:latin typeface="Segoe UI"/>
              </a:rPr>
              <a:t>пакет 500 г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03919" y="45857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61119" y="4585716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78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96143" y="4585716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" y="4919472"/>
            <a:ext cx="41148" cy="173736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3232" y="4933188"/>
            <a:ext cx="64008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0" y="4933188"/>
            <a:ext cx="40233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0 SKU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5157216"/>
            <a:ext cx="2615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82112" y="515721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готового рису немає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14031" y="5157216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03919" y="51572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61119" y="5157216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96143" y="5157216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лише крупа 1–10 кг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66928" y="5138928"/>
            <a:ext cx="5413248" cy="1005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66928" y="5138928"/>
            <a:ext cx="41148" cy="10058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4672" y="5294376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4820A"/>
                </a:solidFill>
                <a:latin typeface="Segoe UI"/>
              </a:rPr>
              <a:t>AMBIENT-ПОЛИЦЯ — ЦЕ 12 SKU НА ВСЮ КРАЇНУ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4672" y="5559552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11 із них — Ben's Original у «Сільпо». Єдина інша позиція: український лоток The Local Food по-тайськи 350 г за 207 грн у МегаМаркеті.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17920" y="5138928"/>
            <a:ext cx="5413248" cy="100584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217920" y="5138928"/>
            <a:ext cx="41148" cy="1005840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55664" y="5294376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FA9C4"/>
                </a:solidFill>
                <a:latin typeface="Segoe UI"/>
              </a:rPr>
              <a:t>METRO — НУЛЬ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55664" y="5559552"/>
            <a:ext cx="4956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Cash&amp;Carry тримає лише крупу 1–10 кг під власними марками Metro Chef і Aro. Формат обслуговує HoReCa, не кінцевого покупця.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Джерело: відкритий каталожний API zakaz.ua (Ашан, METRO, NOVUS, МегаМаркет, Ultramarket, ЕКО маркет, Epicentr, Космос) та sf-ecom-api.silpo.ua — 28.09.2026. Фоззі Cash&amp;Carry перевірити не вдалося: каталог закритий ботозахистом.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АЗІЙСЬКІ БРЕНДИ В МЕРЕЖАХ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Ottogi і Bibigo вже на полиці — але тільки з локшиною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Ці бренди продають рис у чашах по 225–356 грн, але завозять у мережі лише локшину й рамен. Полиця під них уже відкрита — рису на ній немає.</a:t>
            </a:r>
          </a:p>
        </p:txBody>
      </p:sp>
      <p:pic>
        <p:nvPicPr>
          <p:cNvPr id="10" name="Picture 9" descr="c8_asian_shel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17904"/>
            <a:ext cx="11064240" cy="406229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773168"/>
            <a:ext cx="3547872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773168"/>
            <a:ext cx="41148" cy="13716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928616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ВХІД У МЕРЕЖУ ВЖЕ ПРОБИТИЙ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193792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Ottogi має 14 позицій у трьох мережах, Bibigo — 6 в «Ашані». Імпортер, договір із мережею і місце на полиці під ці бренди вже 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4773168"/>
            <a:ext cx="3547872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4773168"/>
            <a:ext cx="41148" cy="13716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4928616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4820A"/>
                </a:solidFill>
                <a:latin typeface="Segoe UI"/>
              </a:rPr>
              <a:t>НІХТО ПРОСТО НЕ ЗАВІЗ РИС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5193792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Ті самі Ottogi і Bibigo продають чаші з рисом по 225–356 грн — але лише в азійських фудшопах. У мережу зайшла тільки локшина.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4773168"/>
            <a:ext cx="3547872" cy="137160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4773168"/>
            <a:ext cx="41148" cy="137160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928616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94F7C"/>
                </a:solidFill>
                <a:latin typeface="Segoe UI"/>
              </a:rPr>
              <a:t>ВІКНО МОЖЕ БУТИ КОРОТКИМ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193792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Імпортер Ottogi додасть рисові SKU до наявного лістингу швидше, ніж ми збудуємо свій з нуля. Це аргумент заходити зараз.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Підрахунок позицій за відкритими каталогами мереж, 28.09.2026. Ураховано позиції, де назва бренду є в назві товару. «З них рис» — жодної позиції готового чи сирого рису під цими брендами в жодній із перевірених мереж.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Дві осі: точка продажу і покупець, який у неї приходить. Вони не збігаються.</a:t>
            </a:r>
          </a:p>
        </p:txBody>
      </p:sp>
      <p:pic>
        <p:nvPicPr>
          <p:cNvPr id="10" name="Picture 9" descr="c5_chan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17904"/>
            <a:ext cx="5029200" cy="189652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870448" y="1554480"/>
            <a:ext cx="5760720" cy="93268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70448" y="1554480"/>
            <a:ext cx="41148" cy="932688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9904" y="1664207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Продуктовий роздріб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12680" y="1682495"/>
            <a:ext cx="923544" cy="182880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1693468"/>
            <a:ext cx="923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1874519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C94F7C"/>
                </a:solidFill>
                <a:latin typeface="Segoe UI"/>
              </a:rPr>
              <a:t>МЕРЕЖІ НАЦІОНАЛЬНОГО ПОКРИТТЯ  ·  3 МЕРЕЖІ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05740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Сільпо · МегаМаркет · Ultramarket. Решта 14 перевірених мереж категорії не мають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2313432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Масовий покупець · щоденне харчування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0448" y="2569464"/>
            <a:ext cx="5760720" cy="932688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70448" y="2569464"/>
            <a:ext cx="41148" cy="9326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9904" y="26791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Онлайн-маркетплейси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2697480"/>
            <a:ext cx="923544" cy="182880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708452"/>
            <a:ext cx="9235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9904" y="2889504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C4820A"/>
                </a:solidFill>
                <a:latin typeface="Segoe UI"/>
              </a:rPr>
              <a:t>УНІВЕРСАЛЬНІ МАЙДАНЧИКИ  ·  3 МАЙДАНЧИКИ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904" y="3072384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MAUDAU · Rozetka · Prom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3328416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Масовий покупець · плановане замовлення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70448" y="3584448"/>
            <a:ext cx="5760720" cy="128016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70448" y="3584448"/>
            <a:ext cx="41148" cy="128016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9904" y="369417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Спеціалізований фудрітейл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3712463"/>
            <a:ext cx="1275588" cy="18288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3723436"/>
            <a:ext cx="12755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ЦІЛЬОВИЙ КАНАЛ · ВХІД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9904" y="3904487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1E9EA6"/>
                </a:solidFill>
                <a:latin typeface="Segoe UI"/>
              </a:rPr>
              <a:t>АЗІЙСЬКІ ТА ЕТНІЧНІ МАГАЗИНИ  ·  20 МАГАЗИНІВ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4" y="4087368"/>
            <a:ext cx="5394960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Смак Кореї · Тайякі Март · Pulsar · Апетітаріум · Gurmissimo · Edison Lee · OMG! Asia · СНЕКІС · DCM · Скарби Азії · AsiaStyle · ASIA FOODS · Wèi Māo · AsianFoods · Asia Goods Store · SushiPovar · KladezGroup · Sweet Svitt · Товари з Іспанії · Asia Foods Trade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4690872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Покупець азійської кухні · знає категорію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70448" y="4946904"/>
            <a:ext cx="5760720" cy="113385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70448" y="4946904"/>
            <a:ext cx="41148" cy="1133856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505663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C2235"/>
                </a:solidFill>
                <a:latin typeface="Segoe UI"/>
              </a:rPr>
              <a:t>Outdoor- і мілітарі-рітейл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12680" y="5074920"/>
            <a:ext cx="973836" cy="182880"/>
          </a:xfrm>
          <a:prstGeom prst="roundRect">
            <a:avLst>
              <a:gd name="adj" fmla="val 50000"/>
            </a:avLst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5085892"/>
            <a:ext cx="9738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" b="1">
                <a:solidFill>
                  <a:srgbClr val="FFFFFF"/>
                </a:solidFill>
                <a:latin typeface="Segoe UI"/>
              </a:rPr>
              <a:t>НЕ НАШ ПОКУПЕЦЬ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9904" y="5266944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9FA9C4"/>
                </a:solidFill>
                <a:latin typeface="Segoe UI"/>
              </a:rPr>
              <a:t>ТУРИСТИЧНІ ТА ВІЙСЬКОВІ МАГАЗИНИ  ·  40 МАГАЗИНІВ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9904" y="5449824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690" b="0">
                <a:solidFill>
                  <a:srgbClr val="303A5D"/>
                </a:solidFill>
                <a:latin typeface="Segoe UI"/>
              </a:rPr>
              <a:t>ALANTUR · Highlander · ForCamp · Гайдамака · Freeride · MK-Sport · Daruy · Tactico · Лєєр · Activity та ще ~30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9904" y="5907024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>
                <a:solidFill>
                  <a:srgbClr val="717890"/>
                </a:solidFill>
                <a:latin typeface="Segoe UI"/>
              </a:rPr>
              <a:t>ПОКУПЕЦЬ:  Турист і військовий · автономне харчування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3931920"/>
            <a:ext cx="5029200" cy="214884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3931920"/>
            <a:ext cx="41148" cy="214884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08736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КАНАЛ І ПОКУПЕЦЬ — РІЗНІ ОСІ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4352544"/>
            <a:ext cx="45720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Outdoor- і мілітарі-рітейл дає 40 із 66 точок продажу, але це не наш канал: туди приходять по автономне харчування в дорогу, а не по обід.
Саме тому 30 із 84 позицій категорії — сублімат у дойпаку. Він домінує за кількістю SKU й не конкурує з нами за привід споживання.
Наш вхід — 20 азійських фудшопів: там уже стоять Ottogi і Henan, прямі конкуренти нашого стакана, і там покупець знає категорію.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181344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>
                <a:solidFill>
                  <a:srgbClr val="F9A50B"/>
                </a:solidFill>
                <a:latin typeface="Segoe UI"/>
              </a:rPr>
              <a:t>ЯК РАХУВАЛИ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364224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0" b="0">
                <a:solidFill>
                  <a:srgbClr val="9FA9C4"/>
                </a:solidFill>
                <a:latin typeface="Segoe UI"/>
              </a:rPr>
              <a:t>Точка продажу = окремий продавець, у якого в каталозі є хоча б одна з 84 позицій категорії. Рахували поіменно за картками товару: у кожній картці вказано продавця. Продуктовий роздріб (3): Сільпо, МегаМаркет, Ultramarket — перевірено суцільно через каталожні API 9 мереж 28.09.2026. Маркетплейси (3): MAUDAU, Rozetka, Prom. Фудшопи (20) і outdoor (40) — за зрізом 22–23.09.2026; в outdoor поіменно ідентифіковано 28 із 40, решта продають ті самі сублімати. Агрегатори zakaz.ua і GoToShop не рахуються як точки продажу: вони віддають товар чужих мереж.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Шість висновків, які визначають рішення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Що дає зіставлення ринкового зрізу з нашою фінансовою моделлю.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НАША НАЙДЕШЕВША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4820A"/>
                </a:solidFill>
                <a:latin typeface="Segoe UI"/>
              </a:rPr>
              <a:t>133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BSCM пауч 150 г.
Медіана пауча — 109 грн.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РОЗРИВ ДО МЕДІАНИ ПАУЧА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94F7C"/>
                </a:solidFill>
                <a:latin typeface="Segoe UI"/>
              </a:rPr>
              <a:t>+22 %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Дешевше за нас у мережі
не буде без зміни FOB.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НАШ НАЙКРАЩИЙ ФОРМАТ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E9EA6"/>
                </a:solidFill>
                <a:latin typeface="Segoe UI"/>
              </a:rPr>
              <a:t>стакан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BSCM 150 г — 139 грн проти
Ottogi 225–356 грн.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ПОТЕНЦІАЛ 40′ FCL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37A169"/>
                </a:solidFill>
                <a:latin typeface="Segoe UI"/>
              </a:rPr>
              <a:t>−12 %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Собівартість і полиця
падають лише від логістики.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SKU ПОЗА РИНКОМ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5D4B96"/>
                </a:solidFill>
                <a:latin typeface="Segoe UI"/>
              </a:rPr>
              <a:t>2 з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ONE'S Fried Rice 332 грн
і подвійний стакан 219 грн.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36992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9A50B"/>
                </a:solidFill>
                <a:latin typeface="Segoe UI"/>
              </a:rPr>
              <a:t>129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Стакан BSCM 150 г.
Потрібен FOB $0,480.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389120"/>
            <a:ext cx="5413248" cy="17830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389120"/>
            <a:ext cx="41148" cy="17830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454456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ЩО РОБИТИ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809744"/>
            <a:ext cx="495604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1. Заводити азійський формат — стакан BSCM 150 г. Це єдина наша позиція, що б'є прямого конкурента ціною: −38 % до медіани Ottogi.
2. Пауч 240 г у мережу не заходить проти Ben's Original без FOB ≤ $0,405.
3. ONE'S Fried Rice 200 г — перерахувати або зняти: 332 грн проти Ottogi 255 грн.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389120"/>
            <a:ext cx="5413248" cy="178308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389120"/>
            <a:ext cx="41148" cy="1783080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454456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FA9C4"/>
                </a:solidFill>
                <a:latin typeface="Segoe UI"/>
              </a:rPr>
              <a:t>НА ЧОМУ ТРИМАЄТЬСЯ ВИСНОВОК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4809744"/>
            <a:ext cx="495604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1. Полиця рахується як собівартість × 3,5 за поточних умов: бонус мережі 25 %, цільова маржа 35 %, націнка мережі 1,40.
2. Ринкові ціни — роздріб за одну упаковку в 64 точках продажу, зріз 22–23.09.2026.
3. Азійський стакан — єдиний наш формат, що входить дешевше за діючого лідера ніші.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Eurostat Comext (CN 1904 90 10), 17 мереж zakaz.ua, «Сільпо», Prom, Rozetka, MAUDAU, спеціалізовані фудшопи — 22–23.09.2026 · RICE_PRICING_Slelf_.xlsx · RTE_Rice_Suppliers.pptx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Де ми стоїмо: від найдешевшої до найдорожчої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Усі ринкові якорі й усі сім наших товарних груп на одній шкалі. Помаранчеве — ми.</a:t>
            </a:r>
          </a:p>
        </p:txBody>
      </p:sp>
      <p:pic>
        <p:nvPicPr>
          <p:cNvPr id="10" name="Picture 9" descr="c3_p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463040"/>
            <a:ext cx="9372600" cy="441553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5669280"/>
            <a:ext cx="3538728" cy="45720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669280"/>
            <a:ext cx="41148" cy="45720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751576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37A169"/>
                </a:solidFill>
                <a:latin typeface="Segoe UI"/>
              </a:rPr>
              <a:t>МИ В ВІКНІ ПОЛИЦІ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91616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6 із 7 наших груп потрапляють у 45–180 грн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5669280"/>
            <a:ext cx="3538728" cy="45720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5669280"/>
            <a:ext cx="41148" cy="45720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5751576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C94F7C"/>
                </a:solidFill>
                <a:latin typeface="Segoe UI"/>
              </a:rPr>
              <a:t>АЛЕ НЕ В ЙОГО НИЗУ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591616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наш мінімум 133 грн проти медіани пауча 109 грн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5669280"/>
            <a:ext cx="3538728" cy="45720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5669280"/>
            <a:ext cx="41148" cy="45720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5751576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D4B96"/>
                </a:solidFill>
                <a:latin typeface="Segoe UI"/>
              </a:rPr>
              <a:t>ДВІ ГРУПИ ВИПАЛИ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91616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подвійний стакан 219 грн і ONE'S 332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Наша полиця розрахована за фінмоделлю: 20′ FCL навалом, курс 45 грн/$, бонус мережі 25 %, цільова маржа 35 %, націнка мережі 1,40. Для кожної групи показано найдешевший SKU.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ФІНМОДЕЛЬ ПРОТИ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Скільки коштує кожен наш формат на полиці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Полиця = собівартість × 3,5 за поточних умов. Вертикальні лінії — ринкові цілі.</a:t>
            </a:r>
          </a:p>
        </p:txBody>
      </p:sp>
      <p:pic>
        <p:nvPicPr>
          <p:cNvPr id="10" name="Picture 9" descr="c4_f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63040"/>
            <a:ext cx="9784080" cy="342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541264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ЯКИЙ FOB ПОТРІБЕН ПІД ЦІЛЬОВУ ПОЛИЦЮ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742432"/>
            <a:ext cx="2103120" cy="40233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797296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МЕДІАНА ПАУЧА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94360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109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5934456"/>
            <a:ext cx="822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C2235"/>
                </a:solidFill>
                <a:latin typeface="Segoe UI"/>
              </a:rPr>
              <a:t>$0,405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9776" y="5742432"/>
            <a:ext cx="2103120" cy="40233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5797296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BEN'S МЕДІАНА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94360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98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2" y="5934456"/>
            <a:ext cx="822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C2235"/>
                </a:solidFill>
                <a:latin typeface="Segoe UI"/>
              </a:rPr>
              <a:t>$0,366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92624" y="5742432"/>
            <a:ext cx="2103120" cy="40233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5797296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ПОЛИЦЯ 129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594360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129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934456"/>
            <a:ext cx="822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5472" y="5742432"/>
            <a:ext cx="2103120" cy="40233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1775" y="5797296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ПАРИТЕТ BIBIGO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5" y="594360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162 грн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5934456"/>
            <a:ext cx="822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C2235"/>
                </a:solidFill>
                <a:latin typeface="Segoe UI"/>
              </a:rPr>
              <a:t>$0,602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5742432"/>
            <a:ext cx="2103120" cy="40233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64624" y="5797296"/>
            <a:ext cx="1828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OTTOGI −22 %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4624" y="594360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199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52176" y="5934456"/>
            <a:ext cx="8229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C2235"/>
                </a:solidFill>
                <a:latin typeface="Segoe UI"/>
              </a:rPr>
              <a:t>$0,740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236208"/>
            <a:ext cx="11064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полиця = FOB × 268,9 (20′ FCL)   ·   × 241,1 (40′ FCL)   ·   кожні $0,10 зниження FOB знімають 27 грн з полиці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Перехідний коефіцієнт FOB → собівартість (1,7074 для 20′ FCL і 1,5306 для 40′ FCL) виведено з даних RTE_Rice_Suppliers для BSCM Jasmine 240 г і перевірено на решті BSCM і CM Premium. FOB ONE'S у пропозиції не вказаний — $1,238 і $0,571 це ОЦІНКА за тим самим коефіцієнтом.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РЕКОМЕНДАЦІЯ · ФОРМАТ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Що заводити: азійський стакан як герой лінійки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Три кандидати, оцінені за конкурентною позицією, а не за собівартістю.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FF8EC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3538728" cy="2743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РЕКОМЕНДУЄМО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BSCM · СТАКАН 150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9EA6"/>
                </a:solidFill>
                <a:latin typeface="Segoe UI"/>
              </a:rPr>
              <a:t>139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Ottogi 225–356 грн · Henan 83–156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НАША ПЕРЕВАГА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−45 % до медіани Ottogi (255 грн)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КАНАЛ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20 азійських фудшопів уже продають цю полицю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РИЗИК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Henan дешевший: 83 грн за 144 г. Але це сухий рис під окріп, не готова страва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Єдина наша позиція, що входить у нішу дешевше за діючого лідера. Азійський формат, азійський канал, зрозуміле порівняння для покупця.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4256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4256" y="1517904"/>
            <a:ext cx="3538728" cy="2743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4256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ДРУГИЙ ПРІОРИТЕТ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ONE'S · ЛОТОК 210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D4B96"/>
                </a:solidFill>
                <a:latin typeface="Segoe UI"/>
              </a:rPr>
              <a:t>153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Bibigo 210 г · 135–189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НАША ПЕРЕВАГА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Той самий грамаж, ціна в середині діапазону конкурента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КАНАЛ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Смак Кореї · Rozetka · Prom — де вже стоїть Bibigo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РИЗИК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MOQ 200 коробів на SKU · передоплата 100 % T/T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3712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3712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Найточніше зіставлення в усій лінійці: та сама вага, та сама країна, той самий канал. Заходимо рівно по центру ціни конкурента.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01583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01583" y="1517904"/>
            <a:ext cx="3538728" cy="27432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01583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НЕ ЗАВОДИТИ ЗАРАЗ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BSCM · ПАУЧ 240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94F7C"/>
                </a:solidFill>
                <a:latin typeface="Segoe UI"/>
              </a:rPr>
              <a:t>157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Ben's Original 45–179 грн, медіана 90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НАША ПОЗИЦІЯ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+74 % до медіани Ben's, 88-й перцентиль його діапазону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ПРОБЛЕМА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Mars має заводи в ЄС, нульове мито і 13 SKU в «Сільпо»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УМОВА ВХОДУ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FOB ≤ $0,405 або підтвердження гіпотези щодо ПДВ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1040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Формат правильний — вага збігається з лідером. Але ціновий розрив проти Mars не закривається за поточного FOB.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Ціни — полиця за поточною фінмоделлю (20′ FCL навалом, курс 45, бонус 25 %, маржа 35 %, націнка 1,40). Ринкові ціни конкурентів — роздріб за одну упаковку, 22–23.09.2026.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РЕКОМЕНДАЦІЯ · ЦІНА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Цільова полиця і що для неї потрібно від постачальника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Три цінові сценарії на герой-SKU. Рекомендований — середній.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9FA9C4"/>
                </a:solidFill>
                <a:latin typeface="Segoe UI"/>
              </a:rPr>
              <a:t>АГРЕСИВНИЙ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2235"/>
                </a:solidFill>
                <a:latin typeface="Segoe UI"/>
              </a:rPr>
              <a:t>119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$0,443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−11 %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Нижче Henan-медіани (140 грн), −53 % до Ottogi. Бере полицю ціною, але вбиває маржу при будь-якому зростанні курсу.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Ризик: немає запасу на бонус вище 25 %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0F9FA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E9EA6"/>
                </a:solidFill>
                <a:latin typeface="Segoe UI"/>
              </a:rPr>
              <a:t>РЕКОМЕНДОВАНО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E9EA6"/>
                </a:solidFill>
                <a:latin typeface="Segoe UI"/>
              </a:rPr>
              <a:t>129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−4 %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−49 % до медіани Ottogi, −8 % до медіани Henan, у верхній частині вікна мережевої полиці. Зберігає цільову маржу 35 % і залишає простір на промо.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Потрібно від BSCM: FOB $0,480 замість $0,500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9FA9C4"/>
                </a:solidFill>
                <a:latin typeface="Segoe UI"/>
              </a:rPr>
              <a:t>КОМФОРТНИЙ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2235"/>
                </a:solidFill>
                <a:latin typeface="Segoe UI"/>
              </a:rPr>
              <a:t>139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0384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0384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0 %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Поточний FOB без переговорів. Усе ще −45 % до Ottogi, але дорожче за медіану Henan і на рівні її верхньої межі.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Працює лише в азійському каналі, не в мережі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242816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АРХІТЕКТУРА ЦІН ПО ВСІЙ ЛІНІЙЦІ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535424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1C2235"/>
                </a:solidFill>
                <a:latin typeface="Segoe U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4535424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ТОВАРНА ГРУПА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453542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РОЛЬ У ЛІНІЙЦІ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04688" y="4535424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ПОЛИЦЯ ЗАРАЗ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4535424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3" y="4535424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63455" y="4535424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ОРІЄНТИР НА ПОЛИЦІ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773168"/>
            <a:ext cx="10789920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4846320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стакан 150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4846320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1E9EA6"/>
                </a:solidFill>
                <a:latin typeface="Segoe UI"/>
              </a:rPr>
              <a:t>Герой · азійський формат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4688" y="4846320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139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03136" y="4846320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129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3" y="4846320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63455" y="4846320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Ottogi 255 · Henan 140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3776" y="4999024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5040172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ONE'S лоток 210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5040172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5D4B96"/>
                </a:solidFill>
                <a:latin typeface="Segoe UI"/>
              </a:rPr>
              <a:t>Другий герой · Корея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04688" y="5040172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153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3136" y="5040172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155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3023" y="5040172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~$0,577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63455" y="5040172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Bibigo 135–189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5234025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пауч 200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55848" y="5234025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4820A"/>
                </a:solidFill>
                <a:latin typeface="Segoe UI"/>
              </a:rPr>
              <a:t>Об'єм · вхід у ціну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4688" y="5234025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150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03136" y="5234025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129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93023" y="5234025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63455" y="5234025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пауч-медіана 109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3776" y="5386730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" y="5427878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пауч 240 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55848" y="5427878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4820A"/>
                </a:solidFill>
                <a:latin typeface="Segoe UI"/>
              </a:rPr>
              <a:t>Мережа · 2-га хвиля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4688" y="5427878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157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03136" y="5427878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109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93023" y="5427878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63455" y="5427878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Ben's медіана 90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5621731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CM Premium 250 г органік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55848" y="5621731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7A169"/>
                </a:solidFill>
                <a:latin typeface="Segoe UI"/>
              </a:rPr>
              <a:t>Преміум · нішa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04688" y="5621731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178 грн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03136" y="5621731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178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93023" y="5621731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$0,667 — без змін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63455" y="5621731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Clearspring 252–446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93776" y="5774435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6928" y="5815583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ONE'S Fried Rice 200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55848" y="5815583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94F7C"/>
                </a:solidFill>
                <a:latin typeface="Segoe UI"/>
              </a:rPr>
              <a:t>Переглянути або зняти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04688" y="5815583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332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03136" y="5815583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199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93023" y="5815583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94F7C"/>
                </a:solidFill>
                <a:latin typeface="Segoe UI"/>
              </a:rPr>
              <a:t>~$0,740 (−40 %)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63455" y="5815583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Ottogi 225–356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928" y="6009436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подвійний стакан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55848" y="6009436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Private label · пізніше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04688" y="6009436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219 грн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03136" y="6009436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179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93023" y="6009436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$0,666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63455" y="6009436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верх вікна полиці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Цільова полиця — наша рекомендація. Потрібний FOB розрахований за формулою полиця = FOB × 268,9 (20′ FCL). FOB для ONE'S — оцінка, постачальник його не розкрив. Перехід на 40′ FCL знижує потрібний FOB на ~10 %.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РЕКОМЕНДАЦІЯ · ПОСТАЧАЛЬНИК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Хто дає найкращий формат і на яку ціну тиснути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Три постачальники в обоймі, оцінені за форматом, гнучкістю та ціновою ефективністю.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3538728" cy="2743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ОСНОВНИЙ ПОСТАЧАЛЬНИК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BSCM FOODS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Таїланд · Бангкок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ФОРМАТИ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240 · спецвиробництво 150/200 · стакан 150 · подвійний стакан 2×125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Єдиний, хто робить стакан — формат, яким ми б'ємо Ottogi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18 місяців за кімнатної температури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BRC · HACCP · ISO 22000 · GMP · Organic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FOB-ДІАПАЗОН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$0,472 – $0,750 залежно від SKU і ваги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PRIVATE LABEL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Так — подвійний стакан, кейс мережі SPAR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ЦІЛЬОВИЙ FOB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Стакан 150 г: $0,480 замість $0,500 (−4 %).
Пауч 240 г: $0,405 замість $0,583 (−31 %) — якщо йдемо в мережу.
Обов'язково: перехід на 40′ FCL дає ще −12 % до собівартості.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6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34256" y="1517904"/>
            <a:ext cx="3538728" cy="2743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34256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ТОЧКОВО, ПІД BIBIGO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ONE'S INTERNATIONAL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Корея · Гурі-сі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ФОРМАТИ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Лоток 200 г (fried rice) · лоток 210 г (білий рис)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Корейське походження — премія в азійському каналі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12 місяців — найкоротший з трьох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3712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HACCP · FSSC 22000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FOB-ДІАПАЗОН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Не розкрито. Оцінка з СС: ~$0,571 і ~$1,238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2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УМОВИ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3712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MOQ 200 коробів на SKU · передоплата 100 % T/T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53712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53712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ЦІЛЬОВИЙ FOB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3712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Cooked White Rice 210 г: брати як є — б'є Bibigo.
Fried Rice 200 г: потрібен FOB ≈ $0,740 (−40 % до оцінки).
Першим кроком — вимагати розкриття FOB по кожному SKU.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01583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01583" y="1517904"/>
            <a:ext cx="3538728" cy="27432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01583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НІШЕВИЙ ПРЕМІУМ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CM PREMIUM RICE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Таїланд · Nakhon Ratchasima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ФОРМАТИ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250 г органік · 24 шт у коробі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Сертифікована органіка — інша полиця, інший покупець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ПОТУЖНІСТЬ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120 000 т/рік · 30+ партнерських рисозаводів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BRC · HACCP · ISO 9001 · Halal · Organic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FOB-ДІАПАЗОН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$0,667 — однаковий на всі 4 SKU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ОБМЕЖЕННЯ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Один формат. Гнучкості за вагою немає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21040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37A169"/>
                </a:solidFill>
                <a:latin typeface="Segoe UI"/>
              </a:rPr>
              <a:t>ЦІЛЬОВИЙ FOB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Тиснути не треба: 178 грн проти Clearspring 252–446 грн — ми вже вдвічі дешевші за єдиного органічного конкурента.
Ризик — не ціна, а обсяг: органіка в Україні це мала полиця.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Профілі — за RTE_Rice_Suppliers.pptx. FOB BSCM і CM Premium — з комерційних пропозицій. FOB ONE'S у пропозиції відсутній: значення виведено з собівартості за коефіцієнтом 1,7074 і є ОЦІНКОЮ, не фактом.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C95C"/>
                </a:solidFill>
                <a:latin typeface="Segoe UI"/>
              </a:rPr>
              <a:t>ПЛАН ДІЙ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Що робити далі — і в якому порядку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5368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17890"/>
                </a:solidFill>
                <a:latin typeface="Segoe UI"/>
              </a:rPr>
              <a:t>Послідовність від найдешевшого кроку до найдорожчого рішення.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72768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9EA6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Запит FOB у ONE'S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1 ТИЖДЕНЬ · ЗАКУПІВЛЯ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Вимагати FOB по кожному SKU окремо. Cooked White Rice 210 г беремо як є — він б'є Bibigo. Fried Rice 200 г без цієї цифри оцінити неможливо.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1572768"/>
            <a:ext cx="41148" cy="20116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9A50B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Переговори з BSCM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F9A50B"/>
                </a:solidFill>
                <a:latin typeface="Segoe UI"/>
              </a:rPr>
              <a:t>2–3 ТИЖНІ · ЗАКУПІВЛЯ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Ціль: стакан 150 г за FOB $0,480 і розрахунок під 40′ FCL. Аргумент — обсяг одразу по двох форматах: стакан 150 г і пауч 200 г.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01583" y="1572768"/>
            <a:ext cx="41148" cy="20116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D4B96"/>
                </a:solidFill>
                <a:latin typeface="Segoe U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Дизайн і локалізація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D4B96"/>
                </a:solidFill>
                <a:latin typeface="Segoe UI"/>
              </a:rPr>
              <a:t>3–4 ТИЖНІ · МАРКЕТИНГ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Серед 84 позицій ринку немає жодної україномовної упаковки. Локалізація — безкоштовна відмінність, яку не має жоден конкурент.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785615"/>
            <a:ext cx="41148" cy="201168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7A169"/>
                </a:solidFill>
                <a:latin typeface="Segoe U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Тест в азійському каналі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37A169"/>
                </a:solidFill>
                <a:latin typeface="Segoe UI"/>
              </a:rPr>
              <a:t>1–2 МІСЯЦІ · ПРОДАЖІ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Завести стакан 150 г у 5 фудшопів: Смак Кореї, Апетітаріум, Gurmissimo, OMG! Asia, Скарби Азії. Там уже стоять Ottogi і Henan.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4256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4256" y="3785615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9EA6"/>
                </a:solidFill>
                <a:latin typeface="Segoe U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Зібрати оборотність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ПАРАЛЕЛЬНО З КРОКОМ 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Продажі поштучно за SKU і тижнями. Без цих даних мережа не заводить нову імпортну категорію — це єдиний аргумент, який працює.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1583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01583" y="3785615"/>
            <a:ext cx="41148" cy="20116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7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94F7C"/>
                </a:solidFill>
                <a:latin typeface="Segoe U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Розмова з «Сільпо»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C94F7C"/>
                </a:solidFill>
                <a:latin typeface="Segoe UI"/>
              </a:rPr>
              <a:t>ПІСЛЯ КРОКУ 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Заходити зі стаканом і паучем 200 г за 129 грн, а не з паучем 240 г за 157 грн. Ben's Original за 90 грн виграє прямий ціновий бій.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5943600"/>
            <a:ext cx="10789920" cy="548640"/>
          </a:xfrm>
          <a:prstGeom prst="roundRect">
            <a:avLst>
              <a:gd name="adj" fmla="val 5000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" y="5943600"/>
            <a:ext cx="41148" cy="54864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6053328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ГОЛОВНЕ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74519" y="603504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Вхід у мережу — не перший крок, а п'ятий. Спочатку азійський канал і цифри оборотності, і тільки потім розмова про полицю «Сільпо».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583680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Eurostat Comext (CN 1904 90 10), 17 мереж zakaz.ua, «Сільпо», Prom, Rozetka, MAUDAU, спеціалізовані фудшопи — 22–23.09.2026 · RICE_PRICING_Slelf_.xlsx · RTE_Rice_Suppliers.pptx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