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4.jpg"/><Relationship Id="rId5" Type="http://schemas.openxmlformats.org/officeDocument/2006/relationships/image" Target="../media/image3.jpg"/><Relationship Id="rId6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Relationship Id="rId4" Type="http://schemas.openxmlformats.org/officeDocument/2006/relationships/image" Target="../media/image3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Relationship Id="rId10" Type="http://schemas.openxmlformats.org/officeDocument/2006/relationships/image" Target="../media/image14.jpg"/><Relationship Id="rId11" Type="http://schemas.openxmlformats.org/officeDocument/2006/relationships/image" Target="../media/image15.jpg"/><Relationship Id="rId12" Type="http://schemas.openxmlformats.org/officeDocument/2006/relationships/image" Target="../media/image16.jpg"/><Relationship Id="rId13" Type="http://schemas.openxmlformats.org/officeDocument/2006/relationships/image" Target="../media/image17.jpg"/><Relationship Id="rId14" Type="http://schemas.openxmlformats.org/officeDocument/2006/relationships/image" Target="../media/image18.jpg"/><Relationship Id="rId15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25.jpg"/><Relationship Id="rId9" Type="http://schemas.openxmlformats.org/officeDocument/2006/relationships/image" Target="../media/image6.jpg"/><Relationship Id="rId10" Type="http://schemas.openxmlformats.org/officeDocument/2006/relationships/image" Target="../media/image26.jpg"/><Relationship Id="rId11" Type="http://schemas.openxmlformats.org/officeDocument/2006/relationships/image" Target="../media/image27.jpg"/><Relationship Id="rId12" Type="http://schemas.openxmlformats.org/officeDocument/2006/relationships/image" Target="../media/image2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9.jpg"/><Relationship Id="rId4" Type="http://schemas.openxmlformats.org/officeDocument/2006/relationships/image" Target="../media/image4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Relationship Id="rId10" Type="http://schemas.openxmlformats.org/officeDocument/2006/relationships/image" Target="../media/image3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5.jpg"/><Relationship Id="rId6" Type="http://schemas.openxmlformats.org/officeDocument/2006/relationships/image" Target="../media/image43.jpg"/><Relationship Id="rId7" Type="http://schemas.openxmlformats.org/officeDocument/2006/relationships/image" Target="../media/image44.jpg"/><Relationship Id="rId8" Type="http://schemas.openxmlformats.org/officeDocument/2006/relationships/image" Target="../media/image45.jpg"/><Relationship Id="rId9" Type="http://schemas.openxmlformats.org/officeDocument/2006/relationships/image" Target="../media/image46.jpg"/><Relationship Id="rId10" Type="http://schemas.openxmlformats.org/officeDocument/2006/relationships/image" Target="../media/image47.jpg"/><Relationship Id="rId11" Type="http://schemas.openxmlformats.org/officeDocument/2006/relationships/image" Target="../media/image48.jpg"/><Relationship Id="rId12" Type="http://schemas.openxmlformats.org/officeDocument/2006/relationships/image" Target="../media/image4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jpg"/><Relationship Id="rId8" Type="http://schemas.openxmlformats.org/officeDocument/2006/relationships/image" Target="../media/image5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Relationship Id="rId7" Type="http://schemas.openxmlformats.org/officeDocument/2006/relationships/image" Target="../media/image59.jpg"/><Relationship Id="rId8" Type="http://schemas.openxmlformats.org/officeDocument/2006/relationships/image" Target="../media/image60.jpg"/><Relationship Id="rId9" Type="http://schemas.openxmlformats.org/officeDocument/2006/relationships/image" Target="../media/image61.jpg"/><Relationship Id="rId10" Type="http://schemas.openxmlformats.org/officeDocument/2006/relationships/image" Target="../media/image62.jpg"/><Relationship Id="rId11" Type="http://schemas.openxmlformats.org/officeDocument/2006/relationships/image" Target="../media/image63.jpg"/><Relationship Id="rId12" Type="http://schemas.openxmlformats.org/officeDocument/2006/relationships/image" Target="../media/image64.jpg"/><Relationship Id="rId13" Type="http://schemas.openxmlformats.org/officeDocument/2006/relationships/image" Target="../media/image65.jpg"/><Relationship Id="rId14" Type="http://schemas.openxmlformats.org/officeDocument/2006/relationships/image" Target="../media/image6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7.jpg"/><Relationship Id="rId4" Type="http://schemas.openxmlformats.org/officeDocument/2006/relationships/image" Target="../media/image68.jpg"/><Relationship Id="rId5" Type="http://schemas.openxmlformats.org/officeDocument/2006/relationships/image" Target="../media/image69.jpg"/><Relationship Id="rId6" Type="http://schemas.openxmlformats.org/officeDocument/2006/relationships/image" Target="../media/image70.jpg"/><Relationship Id="rId7" Type="http://schemas.openxmlformats.org/officeDocument/2006/relationships/image" Target="../media/image71.jpg"/><Relationship Id="rId8" Type="http://schemas.openxmlformats.org/officeDocument/2006/relationships/image" Target="../media/image72.jpg"/><Relationship Id="rId9" Type="http://schemas.openxmlformats.org/officeDocument/2006/relationships/image" Target="../media/image73.jpg"/><Relationship Id="rId10" Type="http://schemas.openxmlformats.org/officeDocument/2006/relationships/image" Target="../media/image7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5.jpg"/><Relationship Id="rId4" Type="http://schemas.openxmlformats.org/officeDocument/2006/relationships/image" Target="../media/image76.jpg"/><Relationship Id="rId5" Type="http://schemas.openxmlformats.org/officeDocument/2006/relationships/image" Target="../media/image77.jpg"/><Relationship Id="rId6" Type="http://schemas.openxmlformats.org/officeDocument/2006/relationships/image" Target="../media/image78.jpg"/><Relationship Id="rId7" Type="http://schemas.openxmlformats.org/officeDocument/2006/relationships/image" Target="../media/image79.jpg"/><Relationship Id="rId8" Type="http://schemas.openxmlformats.org/officeDocument/2006/relationships/image" Target="../media/image80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83.jpg"/><Relationship Id="rId12" Type="http://schemas.openxmlformats.org/officeDocument/2006/relationships/image" Target="../media/image84.jpg"/><Relationship Id="rId13" Type="http://schemas.openxmlformats.org/officeDocument/2006/relationships/image" Target="../media/image8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6.jpg"/><Relationship Id="rId4" Type="http://schemas.openxmlformats.org/officeDocument/2006/relationships/image" Target="../media/image87.jpg"/><Relationship Id="rId5" Type="http://schemas.openxmlformats.org/officeDocument/2006/relationships/image" Target="../media/image88.jpg"/><Relationship Id="rId6" Type="http://schemas.openxmlformats.org/officeDocument/2006/relationships/image" Target="../media/image89.jpg"/><Relationship Id="rId7" Type="http://schemas.openxmlformats.org/officeDocument/2006/relationships/image" Target="../media/image90.jpg"/><Relationship Id="rId8" Type="http://schemas.openxmlformats.org/officeDocument/2006/relationships/image" Target="../media/image9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d_bg_titl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md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75488"/>
            <a:ext cx="1773936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3504" y="1847088"/>
            <a:ext cx="493776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2139696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C95C"/>
                </a:solidFill>
                <a:latin typeface="Segoe UI"/>
              </a:rPr>
              <a:t>ДОСЛІДЖЕННЯ РИНКУ · ВЕРЕСЕНЬ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542032"/>
            <a:ext cx="6583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Готовий рис
в Україні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4681728"/>
            <a:ext cx="5394960" cy="50292"/>
          </a:xfrm>
          <a:prstGeom prst="rect">
            <a:avLst/>
          </a:prstGeom>
          <a:solidFill>
            <a:srgbClr val="55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52944" y="877824"/>
            <a:ext cx="2148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560" y="1005840"/>
            <a:ext cx="1385606" cy="19385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857232" y="877824"/>
            <a:ext cx="2148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hn_scallop1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36" y="1094494"/>
            <a:ext cx="1856232" cy="176121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52944" y="3200400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hd_beef_stew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3328416"/>
            <a:ext cx="1664208" cy="166420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857232" y="3200400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ot_bibimba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3536" y="3345065"/>
            <a:ext cx="1856232" cy="16309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Шість цифр, які описують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Усі ціни в колоді — за одну упаковку. Опт і ящики до розрахунку не входять.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ОБСЯГ ІМПОРТУ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9A50B"/>
                </a:solidFill>
                <a:latin typeface="Segoe UI"/>
              </a:rPr>
              <a:t>182 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Готовий рис, CN 1904 90 10.
+59 % до 2024 року.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68880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88336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ЄМНІСТЬ РОЗДРІБУ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7A169"/>
                </a:solidFill>
                <a:latin typeface="Segoe UI"/>
              </a:rPr>
              <a:t>87–110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млн грн на рік — оцінка
за імпортом × 2,2–2,8.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99632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ПОЗИЦІЙ У ПРОДАЖУ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7B5EA7"/>
                </a:solidFill>
                <a:latin typeface="Segoe UI"/>
              </a:rPr>
              <a:t>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23 брендів, 56 продавців.
У мережі — 11 позицій.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65008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4464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НАЙПОШИРЕНІШИЙ ФОРМАТ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9EA6"/>
                </a:solidFill>
                <a:latin typeface="Segoe UI"/>
              </a:rPr>
              <a:t>дойпак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30 позицій (36 %),
але це туризм, не полиця.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30384" y="1719072"/>
            <a:ext cx="1700784" cy="177393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930384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49840" y="1956815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МАСОВА ВАГА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176272"/>
            <a:ext cx="1261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5B6B8C"/>
                </a:solidFill>
                <a:latin typeface="Segoe UI"/>
              </a:rPr>
              <a:t>250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633472"/>
            <a:ext cx="1261872" cy="768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9 позицій. Далі 220 г — 7,
174 г — 5, 85 г — 5.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" y="3712463"/>
            <a:ext cx="5358384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03504" y="3712463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3895344"/>
            <a:ext cx="4809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224527"/>
            <a:ext cx="4809744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>
                <a:solidFill>
                  <a:srgbClr val="D5DBEA"/>
                </a:solidFill>
                <a:latin typeface="Segoe UI"/>
              </a:rPr>
              <a:t>1.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Категорія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імпортується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але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не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потрапляє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в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мережі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: 11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із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84 — і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всі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це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Ben's Original у «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Сільпо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».
2.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Зростання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2025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року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дає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Болгарія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: 44,8 → 78,3 т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за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рік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+75 %.
3.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Формат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який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реально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працює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на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полиці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—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пауч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220–250 г: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медіана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109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грн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за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упаковку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найнижча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в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категорії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.
4.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Готового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рису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в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Україні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не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виробляють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: 100 %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обсягу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 — </a:t>
            </a:r>
            <a:r>
              <a:rPr sz="1000" b="0" i="0" dirty="0" err="1">
                <a:solidFill>
                  <a:srgbClr val="D5DBEA"/>
                </a:solidFill>
                <a:latin typeface="Segoe UI"/>
              </a:rPr>
              <a:t>імпорт</a:t>
            </a:r>
            <a:r>
              <a:rPr sz="1000" b="0" i="0" dirty="0">
                <a:solidFill>
                  <a:srgbClr val="D5DBEA"/>
                </a:solidFill>
                <a:latin typeface="Segoe UI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2" y="3712463"/>
            <a:ext cx="5358384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199632" y="3712463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10528" y="3895344"/>
            <a:ext cx="4809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Чого на ринку немає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4224527"/>
            <a:ext cx="4809744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1. Немає чаші за 100–150 грн у мережі: Ottogi коштує 225–356 грн, Henan 83–156, але обидва лише онлайн.
2. Немає українського виробника готового рису в паучі для мікрохвильовки — українські 16 позицій це або консерва, або сублімат для туризму.
3. Немає жодного бренду одночасно в мережі та на маркетплейсі, крім Ben's.
4. Немає локалізації: жодної україномовної упаковки серед 84 позицій.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Eurostat Comext (CN 1904 90 10, експорт ЄС→Україна), UN Comtrade, 17 мереж zakaz.ua, «Сільпо», Prom, Rozetka, MAUDAU — 22–23.09.2026. Ємність роздрібу — оцінка, метод на слайді 03.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ОБСЯГ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182 тонн імпорту, 87–110 млн грн роздрібу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Готовий рис в Україні не виробляють у паучах — увесь обсяг категорії це імпорт.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6675120" cy="30540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88366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ІМПОРТ ГОТОВОГО РИСУ З ЄС, ТОНН НА РІК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74133"/>
            <a:ext cx="786384" cy="895530"/>
          </a:xfrm>
          <a:prstGeom prst="roundRect">
            <a:avLst>
              <a:gd name="adj" fmla="val 10000"/>
            </a:avLst>
          </a:prstGeom>
          <a:solidFill>
            <a:srgbClr val="C2C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05467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€294k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322575"/>
            <a:ext cx="786384" cy="1847088"/>
          </a:xfrm>
          <a:prstGeom prst="roundRect">
            <a:avLst>
              <a:gd name="adj" fmla="val 10000"/>
            </a:avLst>
          </a:prstGeom>
          <a:solidFill>
            <a:srgbClr val="C2C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73936" y="2103120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204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39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€553k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2326190"/>
            <a:ext cx="786384" cy="1843473"/>
          </a:xfrm>
          <a:prstGeom prst="roundRect">
            <a:avLst>
              <a:gd name="adj" fmla="val 10000"/>
            </a:avLst>
          </a:prstGeom>
          <a:solidFill>
            <a:srgbClr val="C2C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88336" y="2106734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204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83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3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€567k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016589"/>
            <a:ext cx="786384" cy="1153074"/>
          </a:xfrm>
          <a:prstGeom prst="roundRect">
            <a:avLst>
              <a:gd name="adj" fmla="val 1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02736" y="2797133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128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7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€434k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032855"/>
            <a:ext cx="786384" cy="1136808"/>
          </a:xfrm>
          <a:prstGeom prst="roundRect">
            <a:avLst>
              <a:gd name="adj" fmla="val 1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17136" y="2813399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126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€428k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3166597"/>
            <a:ext cx="786384" cy="1003066"/>
          </a:xfrm>
          <a:prstGeom prst="roundRect">
            <a:avLst>
              <a:gd name="adj" fmla="val 1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31536" y="2947141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717890"/>
                </a:solidFill>
                <a:latin typeface="Segoe UI"/>
              </a:rPr>
              <a:t>111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315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1C2235"/>
                </a:solidFill>
                <a:latin typeface="Segoe UI"/>
              </a:rPr>
              <a:t>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315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€475k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548491"/>
            <a:ext cx="786384" cy="1621172"/>
          </a:xfrm>
          <a:prstGeom prst="roundRect">
            <a:avLst>
              <a:gd name="adj" fmla="val 1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45936" y="2329035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F9A50B"/>
                </a:solidFill>
                <a:latin typeface="Segoe UI"/>
              </a:rPr>
              <a:t>179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5936" y="4224527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4407407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717890"/>
                </a:solidFill>
                <a:latin typeface="Segoe UI"/>
              </a:rPr>
              <a:t>€823k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55371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2025 рік — рекорд за вартістю: 823 тис. € проти 475 тис. € у 2024-му.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79" y="1719072"/>
            <a:ext cx="4059936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35823" y="1883664"/>
            <a:ext cx="3584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ЗВІДКИ ЇДЕ, 2025 РІК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35823" y="21031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Болгарія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0" y="2148839"/>
            <a:ext cx="1218179" cy="1188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78131" y="209397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78,3 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35823" y="237743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Польща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0" y="2423159"/>
            <a:ext cx="1468660" cy="1188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228612" y="236829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94,4 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35823" y="265175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Італія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0" y="2697479"/>
            <a:ext cx="87123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47075" y="264261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5,6 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35823" y="292607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Іспанія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0" y="297179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96528" y="291693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0,4 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35823" y="320039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Франція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0" y="324611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796528" y="319125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0,4 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35823" y="347471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Корея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86800" y="352043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796528" y="346557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2,0 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35823" y="3749039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Китай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86800" y="3794759"/>
            <a:ext cx="36576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796528" y="373989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1,0 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35823" y="4059935"/>
            <a:ext cx="358444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Болгарія і Польща — 95 % тонажу. Це заводи ЄС, що пакують рис у пауч.
Корея і Китай разом дають 3,1 т — це чаші Ottogi, Bibigo та Henan.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3504" y="4809744"/>
            <a:ext cx="10954512" cy="1316736"/>
          </a:xfrm>
          <a:prstGeom prst="roundRect">
            <a:avLst>
              <a:gd name="adj" fmla="val 7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603504" y="4809744"/>
            <a:ext cx="82296" cy="131673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4400" y="495604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Як рахували ємність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35424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182 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35424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імпорт 2025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24144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0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39 млн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CIF за курсом НБУ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32320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51775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× 2,2–2,8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51775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мито 0 %, ПДВ, маржа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40496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59952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87–110 млн грн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59952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роздріб на рік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48672" y="4974336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9A50B"/>
                </a:solidFill>
                <a:latin typeface="Segoe UI"/>
              </a:rPr>
              <a:t>→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68128" y="4956048"/>
            <a:ext cx="13350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≈ 830 тис.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68128" y="5212080"/>
            <a:ext cx="13350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FA9C4"/>
                </a:solidFill>
                <a:latin typeface="Segoe UI"/>
              </a:rPr>
              <a:t>упаковок на рік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5303520"/>
            <a:ext cx="34747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B9C2DA"/>
                </a:solidFill>
                <a:latin typeface="Segoe UI"/>
              </a:rPr>
              <a:t>Перевірка з іншого боку: 830 тис. упаковок × 110 грн медіани = 91 млн грн. Два методи сходяться.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Eurostat Comext DS-045409, CN 1904 90 10 «рис приготовлений», експорт ЄС→Україна, 2019–2025; UN Comtrade (Корея, Китай, Таїланд, 2025); курс НБУ (середній 2025: 47,15 грн/€, 41,71 грн/$). Ємність роздрібу — ОЦІНКА, не заміряні продажі.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КАРТА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23 бренди, чотири технології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Групування за тим, як продукт готується: від цього залежить і ціна, і канал.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ГОТОВИЙ РИС · РОЗІГРІВ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30 позицій · 7 брендів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Ben's Original · Ottogi · Bibigo · Clearspring · Portion · Маркел · Adventure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Мікрохвильовка 60–90 с або реторт. Маса — готової страви.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9A50B"/>
                </a:solidFill>
                <a:latin typeface="Segoe UI"/>
              </a:rPr>
              <a:t>164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45 – 446 грн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410712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30168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C94F7C"/>
                </a:solidFill>
                <a:latin typeface="Segoe UI"/>
              </a:rPr>
              <a:t>ЗАЛИТИ ОКРОПОМ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12 позицій · 3 бренди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Henan · Gallina Blanca · Qiaoshanmei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0168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Сухий рис із соусом у чаші чи пакеті, 5–10 хв.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0168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30168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94F7C"/>
                </a:solidFill>
                <a:latin typeface="Segoe UI"/>
              </a:rPr>
              <a:t>138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0168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83 – 501 грн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37376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7B5EA7"/>
                </a:solidFill>
                <a:latin typeface="Segoe UI"/>
              </a:rPr>
              <a:t>САМОРОЗІГРІВ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14 позицій · 4 бренди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Haidilao · Mo Xiao Xian · Zihaiguo · Rongcheng Haoji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Хімічний нагрівач у коробці, без техніки, 15 хв.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7376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37376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7376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7B5EA7"/>
                </a:solidFill>
                <a:latin typeface="Segoe UI"/>
              </a:rPr>
              <a:t>735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7376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380 – 1 190 грн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25128" y="1737360"/>
            <a:ext cx="2578608" cy="268833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025128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44584" y="1920240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1E9EA6"/>
                </a:solidFill>
                <a:latin typeface="Segoe UI"/>
              </a:rPr>
              <a:t>СУБЛІМАЦІЯ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2176272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303A5D"/>
                </a:solidFill>
                <a:latin typeface="Segoe UI"/>
              </a:rPr>
              <a:t>28 позицій · 10 брендів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584" y="2542032"/>
            <a:ext cx="2157984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Travellunch · Trek'n Eat · Adventure Food · Mountain House · Adventure Menu · SubliMate · James Cook · Їжа в Похід · Харчі · !FEST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4584" y="3255264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Сушіння виморожуванням, окріп. Туризм і армія.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44584" y="3712463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44584" y="3803904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1 УПАКОВКУ · МЕДІАНА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4584" y="3968496"/>
            <a:ext cx="21579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9EA6"/>
                </a:solidFill>
                <a:latin typeface="Segoe UI"/>
              </a:rPr>
              <a:t>302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44584" y="4206240"/>
            <a:ext cx="2157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діапазон 55 – 889 грн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3504" y="4572000"/>
            <a:ext cx="10954512" cy="1719072"/>
          </a:xfrm>
          <a:prstGeom prst="roundRect">
            <a:avLst>
              <a:gd name="adj" fmla="val 7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03504" y="4572000"/>
            <a:ext cx="91440" cy="17190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7552" y="47365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C95C"/>
                </a:solidFill>
                <a:latin typeface="Segoe UI"/>
              </a:rPr>
              <a:t>Що показує розбір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6696" y="513892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25296" y="5084064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Segoe UI"/>
              </a:rPr>
              <a:t>Ben's Original — 13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єдиний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бренд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 у 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мережі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 («</a:t>
            </a:r>
            <a:r>
              <a:rPr sz="1000" b="0" i="0" dirty="0" err="1">
                <a:solidFill>
                  <a:srgbClr val="FFFFFF"/>
                </a:solidFill>
                <a:latin typeface="Segoe UI"/>
              </a:rPr>
              <a:t>Сільпо</a:t>
            </a:r>
            <a:r>
              <a:rPr sz="1000" b="0" i="0" dirty="0">
                <a:solidFill>
                  <a:srgbClr val="FFFFFF"/>
                </a:solidFill>
                <a:latin typeface="Segoe UI"/>
              </a:rPr>
              <a:t>»).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6696" y="541324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25296" y="5358383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Ottogi і Henan — 18 азійських чаш; Henan удвічі дешевший за упаковку.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6696" y="568756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25296" y="5632703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Українських позицій — 16, але жодної в паучі для мікрохвильовки.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791456"/>
            <a:ext cx="36576" cy="128016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20256" y="4736592"/>
            <a:ext cx="4663440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Медіана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готового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рису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для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розігріву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(30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) — 73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грн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за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100 г.
У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мережі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продається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11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позицій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із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84.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Решта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73 —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лише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онлайн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: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маркетплейси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азійські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фудшопи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туристичні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й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військові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магазини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.
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Країни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: ЄС — 31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позиція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Китай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— 24,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Україна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— 16, </a:t>
            </a:r>
            <a:r>
              <a:rPr sz="1000" b="0" i="0" dirty="0" err="1">
                <a:solidFill>
                  <a:srgbClr val="B9C2DA"/>
                </a:solidFill>
                <a:latin typeface="Segoe UI"/>
              </a:rPr>
              <a:t>Корея</a:t>
            </a:r>
            <a:r>
              <a:rPr sz="1000" b="0" i="0" dirty="0">
                <a:solidFill>
                  <a:srgbClr val="B9C2DA"/>
                </a:solidFill>
                <a:latin typeface="Segoe UI"/>
              </a:rPr>
              <a:t> — 11, США — 2.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 dirty="0" err="1">
                <a:solidFill>
                  <a:srgbClr val="717890"/>
                </a:solidFill>
                <a:latin typeface="Segoe UI"/>
              </a:rPr>
              <a:t>Джерела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: 17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мереж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на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zakaz.ua, «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Сільпо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», Prom, MAUDAU,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Rozetka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,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спеціалізовані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</a:t>
            </a:r>
            <a:r>
              <a:rPr sz="800" b="0" i="0" dirty="0" err="1">
                <a:solidFill>
                  <a:srgbClr val="717890"/>
                </a:solidFill>
                <a:latin typeface="Segoe UI"/>
              </a:rPr>
              <a:t>магазини</a:t>
            </a:r>
            <a:r>
              <a:rPr sz="800" b="0" i="0" dirty="0">
                <a:solidFill>
                  <a:srgbClr val="717890"/>
                </a:solidFill>
                <a:latin typeface="Segoe UI"/>
              </a:rPr>
              <a:t> — 22–23.09.2026.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ФОРМАТИ УПАКОВКИ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Дойпак і чаша — 63 % позицій, але полицю тримає пауч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tl_strog1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415" y="1938528"/>
            <a:ext cx="722785" cy="896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9EA6"/>
                </a:solidFill>
                <a:latin typeface="Segoe UI"/>
              </a:rPr>
              <a:t>ДОЙПАК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Дойпак із сублімату. Легкий, але потребує окропу. Туризм і армія.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3694176"/>
            <a:ext cx="764177" cy="16459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30 позицій · 36 % · 11 брендів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9EA6"/>
                </a:solidFill>
                <a:latin typeface="Segoe UI"/>
              </a:rPr>
              <a:t>315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E9EA6"/>
                </a:solidFill>
                <a:latin typeface="Segoe UI"/>
              </a:rPr>
              <a:t>55 – 889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110 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0712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410712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557016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hn_scallop1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788" y="1938528"/>
            <a:ext cx="944454" cy="8961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30168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94F7C"/>
                </a:solidFill>
                <a:latin typeface="Segoe UI"/>
              </a:rPr>
              <a:t>ЧАША · СТАКАН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Жорстка чаша чи стакан. Готова страва або сухий рис під окріп. Формат для офісу.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30168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630168" y="3694176"/>
            <a:ext cx="585869" cy="164592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30168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23 позиції · 27 % · 5 брендів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30168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30168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0168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94F7C"/>
                </a:solidFill>
                <a:latin typeface="Segoe UI"/>
              </a:rPr>
              <a:t>229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0168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0168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94F7C"/>
                </a:solidFill>
                <a:latin typeface="Segoe UI"/>
              </a:rPr>
              <a:t>83 – 931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0168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218 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217920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64224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bens_basmati2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6965" y="1938528"/>
            <a:ext cx="640516" cy="89611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37376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ПАУЧ · РЕТОРТ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7376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Плаский реторт-пауч. Мікрохвильовка 90 с або окріп. Формат мережевої полиці.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37376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437376" y="3694176"/>
            <a:ext cx="483978" cy="16459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37376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19 позицій · 23 % · 5 брендів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37376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37376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7376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109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37376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37376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45 – 376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7376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7376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25128" y="1700784"/>
            <a:ext cx="2578608" cy="36027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9025128" y="170078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171432" y="1883664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hd_beef_stew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376" y="1938528"/>
            <a:ext cx="896112" cy="89611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244584" y="2980944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КОРОБКА З НАГРІВАЧЕМ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44584" y="3218688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Картон із хімічним нагрівачем. Без техніки. Дорогий і об'ємний.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44584" y="3694176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244584" y="3694176"/>
            <a:ext cx="305670" cy="16459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4584" y="3913632"/>
            <a:ext cx="21579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12 позицій · 14 % · 3 бренди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44584" y="4206240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44584" y="42976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ЦІНА ЗА 1 ШТ, МЕДІАНА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44584" y="4443984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708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44584" y="464515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 ЦІНИ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44584" y="4791456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380 – 1 190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44584" y="4992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МАСА, МЕДІАНА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44584" y="5138928"/>
            <a:ext cx="21579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230 г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3504" y="5449824"/>
            <a:ext cx="10954512" cy="85953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603504" y="5449824"/>
            <a:ext cx="82296" cy="85953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14400" y="5632704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14400" y="5961888"/>
            <a:ext cx="1040587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Дойпак виграє за кількістю позицій лише тому, що туристичні магазини заводять десятки дрібних брендів. За доступністю для покупця виграє пауч: 109 грн медіана проти 315 грн у дойпака й 708 грн у коробки з нагрівачем.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Розподіл 84 позицій за типом паковання з карток продавців, 22–23.09.2026.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ГРАМАЖ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250 і 220 грамів — половина всієї полиці паучів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Скільки позицій припадає на кожну вагу і як ваги розподілені між форматами.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007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НАЙЧАСТІШІ ВАГИ, ПОЗИЦІЙ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901695"/>
            <a:ext cx="859536" cy="106680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" y="268223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85 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72768" y="3328415"/>
            <a:ext cx="859536" cy="64008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72768" y="31089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90 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2032" y="3115055"/>
            <a:ext cx="859536" cy="85344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42032" y="289559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110 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296" y="3115055"/>
            <a:ext cx="859536" cy="85344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11296" y="289559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1296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125 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328415"/>
            <a:ext cx="859536" cy="640080"/>
          </a:xfrm>
          <a:prstGeom prst="roundRect">
            <a:avLst>
              <a:gd name="adj" fmla="val 12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31089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94F7C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144 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9824" y="2901695"/>
            <a:ext cx="859536" cy="1066800"/>
          </a:xfrm>
          <a:prstGeom prst="roundRect">
            <a:avLst>
              <a:gd name="adj" fmla="val 12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49824" y="268223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94F7C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824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174 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9088" y="2474975"/>
            <a:ext cx="859536" cy="1493520"/>
          </a:xfrm>
          <a:prstGeom prst="roundRect">
            <a:avLst>
              <a:gd name="adj" fmla="val 12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225551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9A50B"/>
                </a:solidFill>
                <a:latin typeface="Segoe U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220 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88352" y="2048255"/>
            <a:ext cx="859536" cy="1920240"/>
          </a:xfrm>
          <a:prstGeom prst="roundRect">
            <a:avLst>
              <a:gd name="adj" fmla="val 12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88352" y="182879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9A50B"/>
                </a:solidFill>
                <a:latin typeface="Segoe U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4023359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4261104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Колір стовпця — формат, у якому ця вага трапляється найчастіше: помаранчевий — пауч, рожевий — чаша, бірюзовий — дойпак.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1700784"/>
            <a:ext cx="3255264" cy="3163824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40496" y="186537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ВАГОВЕ ВІКНО ФОРМАТУ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0496" y="217627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E9EA6"/>
                </a:solidFill>
                <a:latin typeface="Segoe UI"/>
              </a:rPr>
              <a:t>Дойпак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235915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80–250 г · медіана 110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0496" y="27432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94F7C"/>
                </a:solidFill>
                <a:latin typeface="Segoe UI"/>
              </a:rPr>
              <a:t>Чаша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0496" y="292608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84–320 г · медіана 218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0496" y="331012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9A50B"/>
                </a:solidFill>
                <a:latin typeface="Segoe UI"/>
              </a:rPr>
              <a:t>Пауч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0496" y="3493008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220–400 г · медіана 250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0496" y="38770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B5EA7"/>
                </a:solidFill>
                <a:latin typeface="Segoe UI"/>
              </a:rPr>
              <a:t>Коробка з нагрівачем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0496" y="4059936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C2235"/>
                </a:solidFill>
                <a:latin typeface="Segoe UI"/>
              </a:rPr>
              <a:t>165–440 г · медіана 230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0496" y="446227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Чаша й пауч конкурують у вікні 210–250 г — це порція на одну людину.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5010912"/>
            <a:ext cx="10954512" cy="131673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03504" y="5010912"/>
            <a:ext cx="82296" cy="131673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4400" y="5193792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обирати під полицю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522976"/>
            <a:ext cx="1040587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Вагове ядро категорії — 220–250 г: 16 позицій із 84, усі пауч або чаша, усі в корені порції «обід для однієї людини». Це та вага, під яку вже налаштований покупець Ben's Original і Bibigo.
Легкі ваги 80–146 г — це не менша порція, а сухий продукт: сублімат і інстант-рис, які треба залити окропом. Порівнювати їх із паучем за грам не можна.
Важкі 310–440 г — корейські чаші Ottogi та китайські коробки з нагрівачем: порція «на голодного», але й ціна за упаковку 250–735 грн.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Маса з карток продавців; 2 позицій без указаної маси до розрахунку не входять.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ЦІНА ЗА ОДНУ УПАКОВКУ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Від 45 до 1 190 грн: сходи всіх 23 брендів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Крапка — медіана бренду, смуга — від найдешевшої до найдорожчої його позиції.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64208"/>
            <a:ext cx="10954512" cy="4608576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97449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31689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250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90995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25235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4540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8780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750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8086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12326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1 000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71632" y="1828800"/>
            <a:ext cx="10972" cy="4041648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05872" y="590702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1 250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907024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ГРН ЗА ОДНУ УПАКОВКУ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182880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182880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 i="0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182880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1" i="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198424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Маркел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200253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200253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7877" y="2034539"/>
            <a:ext cx="18288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259297" y="1997963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0465" y="1975103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94 – 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214884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16352" y="216712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2167128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54742" y="2199132"/>
            <a:ext cx="746940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292742" y="216255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3122" y="213969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45 – 179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231343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James Cook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16352" y="233172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3008" y="233172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0484" y="2363724"/>
            <a:ext cx="562992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337335" y="232714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64916" y="230428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55 – 156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2478024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Portion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16352" y="249631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93008" y="2496312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11489" y="2528316"/>
            <a:ext cx="18288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342909" y="249174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02929" y="246888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109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2642616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Харчі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16352" y="266090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93008" y="2660904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66561" y="2692908"/>
            <a:ext cx="1326655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404225" y="265633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84656" y="263347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83 – 321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280720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Henan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16352" y="282549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93008" y="282549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66561" y="2857500"/>
            <a:ext cx="406915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4423735" y="282092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64916" y="2798064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83 – 156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297180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!FEST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16352" y="299008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93008" y="2990088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45270" y="3022092"/>
            <a:ext cx="39019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476690" y="298551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75729" y="296265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133 – 140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" y="313639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16352" y="3154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93008" y="315468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56418" y="3186684"/>
            <a:ext cx="301005" cy="6400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4487838" y="315010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48864" y="312724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135 – 189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" y="3300984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Їжа в Похід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16352" y="33192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93008" y="3319272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28547" y="3351276"/>
            <a:ext cx="83612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4501774" y="331470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703600" y="329184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130 – 145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" y="3465576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Gallina Blanca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16352" y="348386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93008" y="3483864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080391" y="3515868"/>
            <a:ext cx="18288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5011811" y="347929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71831" y="345643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229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" y="363016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16352" y="364845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93008" y="364845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208597" y="3680460"/>
            <a:ext cx="1081391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5140017" y="364388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81429" y="3621024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252 – 446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" y="379476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16352" y="381304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93008" y="3813048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058095" y="3845052"/>
            <a:ext cx="730217" cy="6400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5156740" y="380847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879752" y="378561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225 – 356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1248" y="395935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SubliMate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16352" y="397764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93008" y="3977640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20416" y="4009644"/>
            <a:ext cx="445934" cy="64008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5457746" y="397306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957791" y="395020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290 – 370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1248" y="4123944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Adventure Menu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816352" y="414223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93008" y="4142232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559771" y="4174236"/>
            <a:ext cx="936462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5831216" y="413766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587674" y="411480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315 – 483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1248" y="4288536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Trek'n Eat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816352" y="430682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93008" y="4306824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303359" y="4338828"/>
            <a:ext cx="2486085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6477821" y="430225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880884" y="427939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269 – 715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41248" y="4453128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Adventure Food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16352" y="447141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93008" y="4471416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546401" y="4503420"/>
            <a:ext cx="18288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6477821" y="446684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637841" y="4443984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492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41248" y="4617720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Qiaoshanmei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16352" y="463600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93008" y="4636007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596569" y="4668012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6527989" y="463143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688009" y="460857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501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1248" y="4782312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Travellunch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16352" y="480059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493008" y="4800599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336804" y="4832603"/>
            <a:ext cx="3422547" cy="6400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6895885" y="479602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850792" y="477316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275 – 889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41248" y="4946903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Haidilao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816352" y="496519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93008" y="4965191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922093" y="4997195"/>
            <a:ext cx="4515087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ounded Rectangle 136"/>
          <p:cNvSpPr/>
          <p:nvPr/>
        </p:nvSpPr>
        <p:spPr>
          <a:xfrm>
            <a:off x="7442155" y="4960619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528621" y="4937759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380 – 1 190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41248" y="5111495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Mountain House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816352" y="512978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США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493008" y="5129783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700257" y="5161787"/>
            <a:ext cx="18288" cy="64008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7631677" y="5125211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7791697" y="5102351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699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41248" y="5276087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Zihaiguo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816352" y="529437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493008" y="5294375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900928" y="5326379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7832348" y="5289803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992368" y="5266943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735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41248" y="5440679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Rongcheng Haoji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816352" y="545896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493008" y="5458967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7900928" y="5490971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ounded Rectangle 154"/>
          <p:cNvSpPr/>
          <p:nvPr/>
        </p:nvSpPr>
        <p:spPr>
          <a:xfrm>
            <a:off x="7832348" y="5454395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7992368" y="5431535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735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41248" y="5605271"/>
            <a:ext cx="19568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03A5D"/>
                </a:solidFill>
                <a:latin typeface="Segoe UI"/>
              </a:rPr>
              <a:t>Mo Xiao Xian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816352" y="56235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493008" y="5623559"/>
            <a:ext cx="3291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993467" y="5655563"/>
            <a:ext cx="18288" cy="6400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8924887" y="5618987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9084907" y="5596127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931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054742" y="6126480"/>
            <a:ext cx="752514" cy="457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4054742" y="618134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9A50B"/>
                </a:solidFill>
                <a:latin typeface="Segoe UI"/>
              </a:rPr>
              <a:t>вікно мережевої полиці: 45–180 грн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41248" y="618134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Колір — країна: Україна · Китай · Корея · ЄС · США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Ціна за одну упаковку в роздріб, без оптових порогів: у 6 продавців діє нижча ціна від 3–20 шт, вона в розрахунок не бралася. 22–23.09.2026.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1 · BEN'S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13 позицій: пауч 220, 240 і 250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Найглибша лінійка категорії і єдиний бренд, що дійшов до мережевої полиці.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Mars · ЄС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пауч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45–179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18–81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bens_longgr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82" y="2395728"/>
            <a:ext cx="546395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45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18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81497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254649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266" y="2395728"/>
            <a:ext cx="549014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300369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0369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00369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00369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0369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59490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832642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bens_mediterr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441" y="2395728"/>
            <a:ext cx="544649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878362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Mediterran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78362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8362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78362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78362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37483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410635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bens_risibis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7562" y="2395728"/>
            <a:ext cx="546395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456355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Risi Bisi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56355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56355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56355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56355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15476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988628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bens_curry_indie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318" y="2395728"/>
            <a:ext cx="556869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034348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Indian Curry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34348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34348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34348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34348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93469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566621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bens_curry_linse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0967" y="2395728"/>
            <a:ext cx="531557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612341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Curry з сочевицею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2341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12341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2341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41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12341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071462" y="2286000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10144614" y="2359152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bens_basmati22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7613" y="2395728"/>
            <a:ext cx="554251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190334" y="32369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90334" y="35844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90334" y="3749039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100–144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90334" y="39959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45–65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90334" y="41513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Сільпо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03504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676656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bens_mexikanisch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2273" y="4480560"/>
            <a:ext cx="549014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22376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Mexikanisch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376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2376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109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376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50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181497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2254649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Picture 87" descr="bens_curryreis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9792" y="4480560"/>
            <a:ext cx="569962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2300369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Curryreis Indien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00369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00369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144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00369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65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00369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759490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3832642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bens_stickybow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5716" y="4480560"/>
            <a:ext cx="514100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3878362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Для боулів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78362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78362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149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78362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78362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337483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5410635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bens_sweetchili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9706" y="4480560"/>
            <a:ext cx="562106" cy="768096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456355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Sweet Chili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56355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56355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179 грн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56355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56355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915476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6988628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2" name="Picture 111" descr="bens_bio240_singl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7712" y="4480560"/>
            <a:ext cx="482081" cy="768096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034348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Bio Basmati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034348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240 г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34348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139 грн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034348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58 грн/100 г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034348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Edison Lee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493469" y="4370832"/>
            <a:ext cx="1486553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8566621" y="4443984"/>
            <a:ext cx="1340249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0" name="Picture 119" descr="bens_lang220_singl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67912" y="4480560"/>
            <a:ext cx="537667" cy="768096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8612341" y="5321808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12341" y="566928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612341" y="5833872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139 грн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12341" y="6080760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63 грн/100 г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12341" y="623620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Edison Lee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каталог «Сільпо» (11 позицій), MAUDAU, Edison Lee — 22.09.2026. Basmati 220 г: 100 грн у MAUDAU і 144 грн у «Сільпо». Дві позиції Edison Lee продаються поштучно, ціна за один пауч.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2 · OTTOGI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10 позицій: чаша 217–320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Готовий рис із наповнювачем для мікрохвильовки. Продається у чотирьох продавців.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Республіка Корея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чаша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225–356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79–130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ot_bulgog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745" y="2395728"/>
            <a:ext cx="879267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Бульгогі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320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79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Март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269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88584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ottogi_hambur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079" y="2395728"/>
            <a:ext cx="864980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3156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Гамбурзький стейк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156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315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156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156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156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188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9503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ot_pork3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126" y="2395728"/>
            <a:ext cx="879267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4075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075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075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075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81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075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Март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3107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30422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ot_chicken_ri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902" y="2395728"/>
            <a:ext cx="768096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4994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Гострі курячі ребра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994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994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255–260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994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82–84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994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 · Gurmissimo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4026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51341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ot_octopu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5969" y="2395728"/>
            <a:ext cx="886342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5913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Гострий восьминіг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913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280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913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255–289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913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91–103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913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 · Апетіт. · Gurm.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7665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ot_tun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7265" y="4480560"/>
            <a:ext cx="970226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2237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Тунець і майонез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247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225–320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91–130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· Gurmissimo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1269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88584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ot_bibimb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4462" y="4480560"/>
            <a:ext cx="874214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93156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Пібімпаб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3156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3156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252–334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3156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94–124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3156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Тайякі · Апетітаріум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188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9503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ot_pork_spicy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7588" y="4480560"/>
            <a:ext cx="886342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14075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свинина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4075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4075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334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4075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124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4075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Апетітаріум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3107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730422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Picture 87" descr="ot_beef32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902" y="4480560"/>
            <a:ext cx="768096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34994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яловичина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4994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320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4994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356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4994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111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4994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Апетітаріум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44026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951341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ottogi_jjampong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61413" y="4480560"/>
            <a:ext cx="875454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55913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Jjampong: рис у супі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5913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217,5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5913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255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5913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117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5913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Pulsar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Pulsar, Апетітаріум, Gurmissimo, Тайякі Март — 22.09.2026. Ціни роздрібні: у «Тайякі Март» від 15–20 шт діє нижча ціна, вона не бралася.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3 · HENAN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8 позицій: чаша 144 і 174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Сухий рис у чаші, заливається окропом на 8 хвилин. Найдешевша чаша на ринку.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Henan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Китай · Xiao Guo Zao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чаша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83–156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58–106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hn_braised1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697" y="2395728"/>
            <a:ext cx="821660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курка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129–156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74–90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СНЕКІС · DCM · Апетіт.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438144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hn_scallop1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249" y="2395728"/>
            <a:ext cx="809532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483864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Гребінці та гриби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3864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3864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140–156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3864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80–90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83864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Gurm. · DCM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199632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hn_sausage1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274" y="2395728"/>
            <a:ext cx="802458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245352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Кантонська ковбаска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118–156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2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68–90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 · Gurm. · Апетіт.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87968" y="2286000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961120" y="2359152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hn_pepperbeef17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5912" y="2395728"/>
            <a:ext cx="774159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006840" y="3236976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358444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3749039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118–156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399592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68–90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4151376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 · Gurm. · Апетіт.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76656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hn_pepperchicken17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79" y="4480560"/>
            <a:ext cx="768096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22376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з перцем чилі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174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112–150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64–86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· СНЕКІС · DCM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64992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438144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hn_spicychicken14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270" y="4480560"/>
            <a:ext cx="805490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483864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курка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83864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83864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83864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58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83864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OMG! Asia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26480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6199632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hn_sweetsourbeef14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8250" y="4480560"/>
            <a:ext cx="1186506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245352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Кисло-солодка яловичина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5352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5352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135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45352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45352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DCM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887968" y="4370832"/>
            <a:ext cx="2670048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961120" y="4443984"/>
            <a:ext cx="2523744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hn_eggplant14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7957" y="4480560"/>
            <a:ext cx="1050068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006840" y="5321808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з баклажанами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06840" y="566928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144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06840" y="583387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152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06840" y="6080760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106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06840" y="6236208"/>
            <a:ext cx="24323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DCM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MAUDAU, Апетітаріум, Gurmissimo, OMG! Asia, СНЕКІС, DCM — 22–23.09.2026. Маса — сухого продукту до заливання.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4–8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Bibigo, Clearspring, Portion, Маркел, Gallina Blanca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По одній-дві позиції в кожного: різні країни, різні формати, різні канали.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bibigo_bow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20462"/>
            <a:ext cx="1493520" cy="15003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Білий рис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BIBIGO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210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135–189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64–90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Смак Кореї · Rozetka · Prom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4496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17648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learspr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512" y="1877766"/>
            <a:ext cx="1493520" cy="178573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63368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Brown &amp; Wild 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3368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CLEARSPRING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3368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252–446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3368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101–178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3368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MAUDAU · спец. магазини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5488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58640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58640" y="2660903"/>
            <a:ext cx="1603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717890"/>
                </a:solidFill>
                <a:latin typeface="Segoe UI"/>
              </a:rPr>
              <a:t>фото немає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4360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із куркою та овочами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4360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PORTION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4360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109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4360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31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360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Rozetka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79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99631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mk_rice3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5" y="1829441"/>
            <a:ext cx="1493520" cy="18823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45351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із соєвим м'ясом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1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МАРКЕЛ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1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94–96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1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1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СУХПАЙ · UPcompany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67472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040624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yt_beef8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5488" y="2023871"/>
            <a:ext cx="1493520" cy="14935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86344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Yatekomo: яловичина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6344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GALLINA BLANCA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84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86344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229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6344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273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6344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0846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88161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yt_teriyaki8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6480" y="2023871"/>
            <a:ext cx="1493520" cy="14935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2733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Yatekomo: теріякі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733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GALLINA BLANCA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84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733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229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733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273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733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5010912"/>
            <a:ext cx="10954512" cy="12984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03504" y="5010912"/>
            <a:ext cx="82296" cy="129844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400" y="5193792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522976"/>
            <a:ext cx="10405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Portion і Маркел — український реторт 350 г за 94–109 грн: найдешевший грам категорії, 27–31 грн за 100 г. Bibigo — той самий товар у трьох каналах, розкид 40 %. Clearspring — органіка, найдорожчий грам серед паучів. Gallina Blanca Yatekomo — 84 г сухого рису в чаші, заливається окропом.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Смак Кореї, Rozetka, Prom, MAUDAU, СУХПАЙ, UPcompany, «Товари з Іспанії» — 22–23.09.2026. Фото Portion: Rozetka не віддає зображення картки.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 9 · HAIDILAO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10 позицій: коробка 165–360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Хімічний нагрівач у коробці — готується без мікрохвильовки й окропу.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303A5D"/>
                </a:solidFill>
                <a:latin typeface="Segoe UI"/>
              </a:rPr>
              <a:t>Haidilao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Китай · саморозігрів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коробка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380–1 190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230–371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hd_stewed_chicken1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405" y="2395728"/>
            <a:ext cx="753946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Stewed Chicken*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165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380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230 грн/100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Sweet Svitt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269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88584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hd_beef_curry27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521" y="2395728"/>
            <a:ext cx="768096" cy="7680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3156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карі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156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156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770–799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156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283–294 грн/100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156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1884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95036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hd_beef_stew27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2395728"/>
            <a:ext cx="768096" cy="7680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40756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яловичина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40756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0756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799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0756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294 грн/100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0756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3107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30422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hd_tomato_beef27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849" y="2395728"/>
            <a:ext cx="778202" cy="7680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4994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Томати й грудинка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994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272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994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799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994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294 грн/100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994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40265" y="2286000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513417" y="2359152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hd_canton18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5092" y="2395728"/>
            <a:ext cx="768096" cy="7680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59137" y="32369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Кантонський стиль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9137" y="35844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59137" y="3749039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680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9137" y="39959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364 грн/100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9137" y="41513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7665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hd_stew_chicken18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8331" y="4480560"/>
            <a:ext cx="768096" cy="7680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2237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курка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37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650–680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348–364 грн/100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 · Desna · Tactico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1269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88584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 descr="hd_pork_fish18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7521" y="4480560"/>
            <a:ext cx="768096" cy="7680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93156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Свинина, рибний смак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3156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187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3156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3156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348 грн/100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3156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1884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95036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hd_teriyaki18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9025" y="4480560"/>
            <a:ext cx="803468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140756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теріякі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40756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181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40756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650–660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40756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359–365 грн/100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40756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 · Шериф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3107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730422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8" name="Picture 87" descr="hd_spicy_chicken175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8721" y="4480560"/>
            <a:ext cx="802458" cy="76809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34994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Гострий курячий соус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4994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175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4994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650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4994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371 грн/100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4994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440265" y="4370832"/>
            <a:ext cx="2117750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9513417" y="4443984"/>
            <a:ext cx="1971446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hd_porkbelly36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5092" y="4480560"/>
            <a:ext cx="768096" cy="7680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559137" y="5321808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Грудинка з гірчичною зеленню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59137" y="566928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360 г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59137" y="5833872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1 190 грн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59137" y="6080760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331 грн/100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559137" y="623620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Daruy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Daruy, Tactico, Desna, Sweet Svitt, «Шериф» — 22–23.09.2026. Найдорожча упаковка категорії — 1 190 грн за 360 г. * Sweet Svitt: назва картки Stewed Chicken, на фото — рис з яловичиною та грибами.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10–13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Mo Xiao Xian, Zihaiguo, Rongcheng Haoji, Qiaoshanmei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Китайський саморозігрів і рис під окріп. Усі чотири бренди — в одному магазині.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x_beef_bambo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23871"/>
            <a:ext cx="1493520" cy="1493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бамбуком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MO XIAO XIAN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275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931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339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4496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17648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mx_bacon_pea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512" y="2023871"/>
            <a:ext cx="1493520" cy="14935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63368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Бекон і горошок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3368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MO XIAO XIAN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275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3368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931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3368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339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3368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5488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58640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qs_sh_pepperbee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504" y="2023871"/>
            <a:ext cx="1493520" cy="14935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04360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двома перцями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4360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ZIHAIGUO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4360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735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4360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167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360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79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99631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qs_sh_braisedpor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5" y="2023871"/>
            <a:ext cx="1493520" cy="14935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45351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Тушкована свинина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1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RONGCHENG HAOJI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440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1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735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1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167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1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67472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040624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qs_spicybee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488" y="2023871"/>
            <a:ext cx="1493520" cy="14935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086344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Гостра яловичина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6344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QIAOSHANMEI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86344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501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86344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343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6344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08464" y="1719072"/>
            <a:ext cx="1749552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881616" y="1792224"/>
            <a:ext cx="1603248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qs_braisedpork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6480" y="2023871"/>
            <a:ext cx="1493520" cy="14935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27336" y="3785615"/>
            <a:ext cx="151180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 по-тайванськи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7336" y="4133087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QIAOSHANMEI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7336" y="4297679"/>
            <a:ext cx="15118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501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7336" y="4544568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343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7336" y="4700016"/>
            <a:ext cx="15118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5010912"/>
            <a:ext cx="10954512" cy="12984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03504" y="5010912"/>
            <a:ext cx="82296" cy="129844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400" y="5193792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522976"/>
            <a:ext cx="10405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Zihaiguo і Rongcheng Haoji — коробка 440 г за 735 грн: 167 грн за 100 г, дешевше за грам, ніж Haidilao (230–371). Mo Xiao Xian — 931 грн за 275 г, найдорожча чаша ринку. Qiaoshanmei — не саморозігрів, а рис у пакеті під окріп, 501 грн.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«Скарби Азії» (Prom), 23.09.2026. Бренди Zihaiguo і Rongcheng Haoji визначено за написами на упаковці, Qiaoshanmei — за карткою продавця.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14–17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Travellunch, Trek'n Eat, Mountain House, Adventure 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Рис-страви у дойпаку: залити окропом на 8–10 хвилин. Німеччина, США, Нідерланди.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tl_strog1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63" y="1828800"/>
            <a:ext cx="708034" cy="877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275–515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220–412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Гайдамака · ALANTUR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81497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254649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tl_beef_pepper1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334" y="1828800"/>
            <a:ext cx="706879" cy="8778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00369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0369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0369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295–515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0369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236–412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0369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Гайдамака · ALANTUR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59490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832642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tl_nasi12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9722" y="1828800"/>
            <a:ext cx="686088" cy="8778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78362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Nasi Goreng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8362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8362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567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8362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454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78362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7483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410635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tl_curry12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8657" y="1828800"/>
            <a:ext cx="724204" cy="87782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56355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карі з рисом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6355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125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6355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515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56355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412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6355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15476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988628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tl_strog25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5313" y="1828800"/>
            <a:ext cx="706879" cy="87782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34348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34348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4348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702–811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34348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281–324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4348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ForCamp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93469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566621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tl_beef_pepper25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3701" y="1828800"/>
            <a:ext cx="686088" cy="87782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12341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з перцем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12341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2341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811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2341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324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2341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71462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0144614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tl_nasi25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1695" y="1828800"/>
            <a:ext cx="686088" cy="877823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190334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Nasi Goreng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90334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TRAVELLUNCH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90334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889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90334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356 грн/100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90334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76656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te_fish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887" y="4059936"/>
            <a:ext cx="765785" cy="87782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22376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Риба з рисом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TREK'N EAT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269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Freeride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181497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2254649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74" descr="te_strog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19537" y="4059936"/>
            <a:ext cx="1210473" cy="877823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2300369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Бефстроганов з рисом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00369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TREK'N EAT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маса н/д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00369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715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00369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Kamanti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759490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3832642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 descr="mh_curry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22273" y="4059936"/>
            <a:ext cx="960986" cy="877823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878362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Жовте карі з куркою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78362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MOUNTAIN HOUSE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78362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699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78362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635 грн/100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78362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110вольт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37483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5410635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mh_friedric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90359" y="4059936"/>
            <a:ext cx="780801" cy="877823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5456355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Chicken Fried Rice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56355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MOUNTAIN HOUSE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133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56355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699 грн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56355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526 грн/100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56355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110вольт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915476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6988628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Picture 97" descr="af_curry146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2030" y="4059936"/>
            <a:ext cx="733445" cy="877823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034348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карі з фруктами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34348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FOOD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146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34348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492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34348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337 грн/100 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34348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Клуб Мандрівник · ще 3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93469" y="3950208"/>
            <a:ext cx="3064546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8493469" y="3950208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804365" y="4133088"/>
            <a:ext cx="251590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04365" y="4462272"/>
            <a:ext cx="2515906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Travellunch — 7 позицій у двох вагах, 125 і 250 г, найширша імпортна лінійка. Mountain House — 699 грн за 110–133 г сухої маси, найдорожчий грам категорії. Канал — туристичні й військові магазини, у продуктовий роздріб ці бренди не йдуть.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ALANTUR, Highlander, ForCamp, Військторг Гайдамака, Freeride, Kamanti, 110вольт, Клуб Мандрівник — 22–23.09.2026.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18–19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Adventure Menu і SubliMate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Adventure Menu — єдиний бренд із двома технологіями: готова страва 400 г і сублімат 110 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m_korma4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796" y="1828800"/>
            <a:ext cx="761165" cy="877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Chicken Korma з рисом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376–404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94–101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ALANTUR · ForCamp · MK-Sport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2694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885846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am_wil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874" y="1828800"/>
            <a:ext cx="755390" cy="8778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931566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в томатному соусі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1566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1566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315–356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1566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79–89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1566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Freeride · MK-Sport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1884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95036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am_meatball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6347" y="1828800"/>
            <a:ext cx="728824" cy="8778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40756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Фрикадельки з басматі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0756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0756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336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756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84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0756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Лєєр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31075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304227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am_korma1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0309" y="1828800"/>
            <a:ext cx="799281" cy="87782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49947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Korma з басматі · сублімат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9947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9947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378–483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49947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344–439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9947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Лєєр · OXO · MK · Freeride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40265" y="1719072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513417" y="1792224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am_tikka1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7767" y="1828800"/>
            <a:ext cx="802746" cy="87782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559137" y="2779776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Tikka Masala · сублімат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9137" y="312724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9137" y="3291840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390–483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9137" y="3538728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355–439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9137" y="3694176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Palmer · Лєєр · MK · Freeride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3504" y="3950208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76656" y="4023360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sm_plov14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119" y="4059936"/>
            <a:ext cx="1106520" cy="87782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22376" y="5010912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узбецький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" y="535838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" y="5522976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309–310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" y="576986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221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" y="5925312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 · Суренж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12694" y="3950208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2885846" y="4023360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sm_chicken_frui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5634" y="4059936"/>
            <a:ext cx="1071869" cy="877823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931566" y="5010912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куркою і фруктами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31566" y="535838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110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31566" y="5522976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290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31566" y="576986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264 грн/100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31566" y="5925312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Суренж · ВсеОпт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21884" y="3950208"/>
            <a:ext cx="2117750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095036" y="4023360"/>
            <a:ext cx="1971446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sm_green_curry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2879" y="4059936"/>
            <a:ext cx="1115760" cy="87782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140756" y="5010912"/>
            <a:ext cx="188000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Тайське зелене карі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40756" y="535838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SUBLIMATE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40756" y="5522976"/>
            <a:ext cx="188000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370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40756" y="5769864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308 грн/100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40756" y="5925312"/>
            <a:ext cx="188000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31075" y="3950208"/>
            <a:ext cx="4326940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7231075" y="3950208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541971" y="4133088"/>
            <a:ext cx="37783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41971" y="4462272"/>
            <a:ext cx="3778300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Лінія Adventure Menu 400 г READY TO EAT — реторт без води, 79–101 грн за 100 г: у тому ж коридорі, що Ben's Original і Ottogi, але продається лише в туристичних магазинах. SubliMate — український сублімат, 290–370 грн за дойпак.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ALANTUR, ForCamp, MK-Sport, Freeride, Лєєр, OXO, Palmer, Highlander, ВсеОпт, Суренж — 22–23.09.2026.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БРЕНДИ 20–23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James Cook, Їжа в Похід, Харчі, !FEST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Українські виробники рисових страв у дойпаку. Канал — туристичні й військові магазини.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jc_meatve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03" y="1828800"/>
            <a:ext cx="1033753" cy="877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м'ясом та овочами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83–138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92–153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 · Klever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81497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254649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jc_curr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897" y="1828800"/>
            <a:ext cx="1033753" cy="8778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00369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Карі з рисом та куркою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0369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0369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133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0369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148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0369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Activity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59490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832642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jc_mashkichir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1270" y="1828800"/>
            <a:ext cx="1042993" cy="8778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78362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Машкічірі: рис з бобами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8362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8362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156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8362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195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78362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Terra Incognita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7483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410635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jc_ve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0449" y="1828800"/>
            <a:ext cx="980621" cy="87782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56355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овочами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6355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JAMES COOK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90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6355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55–81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56355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61–90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6355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 · ВсеОпт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15476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988628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yp_chicken8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7197" y="1828800"/>
            <a:ext cx="783111" cy="87782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34348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куркою та овочами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34348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ЇЖА В ПОХІД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4348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145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34348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171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4348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93469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566621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yp_veg8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0570" y="1828800"/>
            <a:ext cx="792351" cy="877823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12341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 овочами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12341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ЇЖА В ПОХІД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2341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2341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153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2341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71462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0144614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kh_pork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46861" y="1828800"/>
            <a:ext cx="735755" cy="877823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190334" y="2779776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зі свининою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90334" y="312724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90334" y="3291840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120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90334" y="3538728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141 грн/100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90334" y="3694176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Харчі ТМ · Висот-Нік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76656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kh_ricemeat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437" y="4059936"/>
            <a:ext cx="742685" cy="87782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22376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Рисова каша з м'ясом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120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141 грн/100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2376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Highlander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181497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2254649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kh_kichri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6896" y="4059936"/>
            <a:ext cx="735755" cy="877823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300369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Кічрі: боби з рисом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00369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85 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00369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83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00369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98 грн/100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00369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Висот-Нік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759490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3832642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kh_plovxl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14855" y="4059936"/>
            <a:ext cx="1175822" cy="877823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3878362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XL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78362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ХАРЧІ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100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78362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321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78362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321 грн/100 г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78362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8 продавців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337483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5410635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" name="Picture 91" descr="fest_plov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5708" y="4059936"/>
            <a:ext cx="850103" cy="877823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5456355" y="5010912"/>
            <a:ext cx="124880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56355" y="535838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!FEST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100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56355" y="5522976"/>
            <a:ext cx="12488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133–140 грн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56355" y="5769864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133–140 грн/100 г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56355" y="5925312"/>
            <a:ext cx="12488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SportStorm · Kalush-Craft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915476" y="3950208"/>
            <a:ext cx="4642539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6915476" y="3950208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226372" y="4133088"/>
            <a:ext cx="40938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26372" y="4462272"/>
            <a:ext cx="4093899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Українські сублімати — 55–321 грн за упаковку, імпортні — 269–889 грн. James Cook — 4 рисові позиції, найширша українська лінійка. Українське виробництво в категорії є, але воно цілком у туристичному каналі.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Highlander, Activity, ВсеОпт, Klever-Shop, Terra Incognita, «Їжа в Похід», Харчі ТМ, Висот-Нік, SportStorm, Kalush-Craft — 22–23.09.2026.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ЩО СТОЇТЬ У МЕРЕЖІ ЗАМІСТЬ НАС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Рис із м'ясом є на полиці — але в бляшанці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Мережі не мають пауча з готовим рисом, зате мають суміжну категорію за 63–160 грн.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6656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h_hapay_r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10512"/>
            <a:ext cx="950975" cy="13898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Каша рисова зі свининою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HAPAY!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63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18 грн/100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50592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23744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h_lappetit_por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810512"/>
            <a:ext cx="987551" cy="138988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69464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Каша рисова зі свининою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9464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L'APPETIT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9464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120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9464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35 грн/100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9464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370832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ch_lappetit_bee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732" y="1810512"/>
            <a:ext cx="923543" cy="138988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16552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Каша рисова з яловичиною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L'APPETIT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126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37 грн/100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2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17920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ch_hapay_plov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1810512"/>
            <a:ext cx="1014983" cy="138988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63640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з качки та булгуру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HAPAY!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340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117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34 грн/100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91856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065008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ch_foodfabrik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2099287"/>
            <a:ext cx="1499616" cy="81233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110728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з куркою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0728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FOOD FABRIKA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0728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119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0728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48 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0728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Восторг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38944" y="1700784"/>
            <a:ext cx="1755648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912096" y="1773936"/>
            <a:ext cx="1609344" cy="1463039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ch_myastori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0" y="1951661"/>
            <a:ext cx="1499616" cy="110758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57816" y="3273552"/>
            <a:ext cx="151790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Плов з куркою та родзинками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57816" y="362102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М'ЯСТОРІЯ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57816" y="378561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147–160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57816" y="4032504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42–46 грн/100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57816" y="418795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17890"/>
                </a:solidFill>
                <a:latin typeface="Segoe UI"/>
              </a:rPr>
              <a:t>Novus · МегаМаркет · Космос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" y="4535424"/>
            <a:ext cx="5358384" cy="17556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03504" y="4535424"/>
            <a:ext cx="82296" cy="1755648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400" y="4718304"/>
            <a:ext cx="4809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Чому це важливо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047488"/>
            <a:ext cx="48097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Це прямий конкурент за той самий привід: гаряча страва з рисом і м'ясом без готування. Він уже стоїть на полиці, коштує 63–160 грн за 250–350 г і має українського виробника.
Пауч із готовим рисом заходить у той самий гаманець, тож орієнтир ціни — не Ottogi за 255 грн, а ця полиця.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99632" y="4535424"/>
            <a:ext cx="5358384" cy="175564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55664" y="4700016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3A5D"/>
                </a:solidFill>
                <a:latin typeface="Segoe UI"/>
              </a:rPr>
              <a:t>Порівняння за 100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5664" y="4992624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Каша рисова hapay! 340 г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50224" y="5038344"/>
            <a:ext cx="461356" cy="118872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184732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37A169"/>
                </a:solidFill>
                <a:latin typeface="Segoe UI"/>
              </a:rPr>
              <a:t>18,5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55664" y="523036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Плов Food Fabrika 250 г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50224" y="5276088"/>
            <a:ext cx="1187057" cy="11887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910433" y="522122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7B5EA7"/>
                </a:solidFill>
                <a:latin typeface="Segoe UI"/>
              </a:rPr>
              <a:t>47,6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55664" y="5468112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Ben's Original, медіана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50224" y="5513831"/>
            <a:ext cx="1022465" cy="1188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745841" y="545896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F9A50B"/>
                </a:solidFill>
                <a:latin typeface="Segoe UI"/>
              </a:rPr>
              <a:t>41,0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55664" y="5705855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Плов М'ясторія 350 г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50224" y="5751575"/>
            <a:ext cx="1139674" cy="118872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63050" y="569671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94F7C"/>
                </a:solidFill>
                <a:latin typeface="Segoe UI"/>
              </a:rPr>
              <a:t>45,7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55664" y="5943599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Ottogi, медіана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650224" y="5989319"/>
            <a:ext cx="2194560" cy="118872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917936" y="5934455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B6B8C"/>
                </a:solidFill>
                <a:latin typeface="Segoe UI"/>
              </a:rPr>
              <a:t>88,0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API 17 мереж zakaz.ua, 23.09.2026. Ці 6 позицій — суміжна категорія, у 84 позицій дослідження вони не входять. Охолоджені страви й кулінарію мереж не показано: у них термін 2–5 діб.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ДЕ ПРЕДСТАВЛЕНО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56 продавців, чотири типи каналів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Категорія живе в онлайні: у мережі — лише Ben's Original у «Сільпо», 11 позицій.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0954512" cy="694944"/>
          </a:xfrm>
          <a:prstGeom prst="roundRect">
            <a:avLst>
              <a:gd name="adj" fmla="val 12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19072"/>
            <a:ext cx="82296" cy="6949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82880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9A50B"/>
                </a:solidFill>
                <a:latin typeface="Segoe UI"/>
              </a:rPr>
              <a:t>МЕРЕЖЕВИЙ РОЗДРІБ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066543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Ben's Original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47088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61104" y="1847088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Сільпо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44784" y="1911095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F9A50B"/>
                </a:solidFill>
                <a:latin typeface="Segoe UI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2487168"/>
            <a:ext cx="10954512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3504" y="2487168"/>
            <a:ext cx="82296" cy="6949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259689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37A169"/>
                </a:solidFill>
                <a:latin typeface="Segoe UI"/>
              </a:rPr>
              <a:t>ОНЛАЙН-СУПЕРМАРКЕТИ Й МАРКЕТПЛЕЙСИ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834639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Ben's · Henan · Bibigo · Clearspring · Portion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2615184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61104" y="2615184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MAUDAU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04841" y="2615184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04841" y="2615184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Rozetka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7100" y="2615184"/>
            <a:ext cx="435254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07100" y="2615184"/>
            <a:ext cx="43525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Prom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4784" y="2679191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37A169"/>
                </a:solidFill>
                <a:latin typeface="Segoe UI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3255263"/>
            <a:ext cx="10954512" cy="1005840"/>
          </a:xfrm>
          <a:prstGeom prst="roundRect">
            <a:avLst>
              <a:gd name="adj" fmla="val 12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03504" y="3255263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" y="3364991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7B5EA7"/>
                </a:solidFill>
                <a:latin typeface="Segoe UI"/>
              </a:rPr>
              <a:t>СПЕЦІАЛІЗОВАНІ ФУДШОПИ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3602735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Ottogi · Henan · Bibigo · саморозігрів · Gallina Blanca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1104" y="3383279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61104" y="3383279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Смак Кореї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38928" y="3383279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38928" y="3383279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Тайякі Март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5273" y="3383279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75273" y="3383279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Pulsar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19011" y="3383279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19011" y="3383279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Апетітаріум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55356" y="3383279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55356" y="3383279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Gurmissimo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33180" y="3383279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33180" y="3383279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Edison Lee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1004" y="3383279"/>
            <a:ext cx="727862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11004" y="3383279"/>
            <a:ext cx="72786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OMG! Asia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61104" y="3675887"/>
            <a:ext cx="552297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61104" y="3675887"/>
            <a:ext cx="55229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СНЕКІС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04841" y="3675887"/>
            <a:ext cx="376732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04841" y="3675887"/>
            <a:ext cx="3767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DCM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73014" y="3675887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73014" y="3675887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Скарби Азії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59" y="3675887"/>
            <a:ext cx="1137513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09359" y="3675887"/>
            <a:ext cx="1137513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Товари з Іспанії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38313" y="3675887"/>
            <a:ext cx="844905" cy="23774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538313" y="3675887"/>
            <a:ext cx="84490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Sweet Svitt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44784" y="3602735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7B5EA7"/>
                </a:solidFill>
                <a:latin typeface="Segoe UI"/>
              </a:rPr>
              <a:t>12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3504" y="4334256"/>
            <a:ext cx="10954512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03504" y="4334256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77824" y="444398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E9EA6"/>
                </a:solidFill>
                <a:latin typeface="Segoe UI"/>
              </a:rPr>
              <a:t>ТУРИСТИЧНІ ТА ВІЙСЬКОВІ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" y="4681728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Haidilao · Adventure Menu · усі сублімати · Маркел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61104" y="4462272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61104" y="4462272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ALANTUR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63363" y="4462272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63363" y="4462272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Highlander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41187" y="4462272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41187" y="4462272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ForCamp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3446" y="4462272"/>
            <a:ext cx="727862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43446" y="4462272"/>
            <a:ext cx="72786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Гайдамака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62748" y="4462272"/>
            <a:ext cx="66934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62748" y="4462272"/>
            <a:ext cx="669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Freeride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23529" y="4462272"/>
            <a:ext cx="66934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123529" y="4462272"/>
            <a:ext cx="669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MK-Sport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884310" y="4462272"/>
            <a:ext cx="493776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884310" y="4462272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Daruy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69526" y="4462272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469526" y="4462272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Tactico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171785" y="4462272"/>
            <a:ext cx="435254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171785" y="4462272"/>
            <a:ext cx="43525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Лєєр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261104" y="4754880"/>
            <a:ext cx="66934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261104" y="4754880"/>
            <a:ext cx="669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Activity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021884" y="4754880"/>
            <a:ext cx="610819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21884" y="4754880"/>
            <a:ext cx="61081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+ ще 30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44784" y="4681728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1E9EA6"/>
                </a:solidFill>
                <a:latin typeface="Segoe UI"/>
              </a:rPr>
              <a:t>40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3504" y="5358384"/>
            <a:ext cx="5358384" cy="896112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41248" y="5486400"/>
            <a:ext cx="4882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Що відомо про імпортерів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1248" y="5724144"/>
            <a:ext cx="48828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Картки продавців імпортера не називають. OMG! Asia і СНЕКІС описують себе як прямих імпортерів з Азії; Ben's Original виробляє Mars (заводи Франція, Німеччина).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99632" y="5358384"/>
            <a:ext cx="5358384" cy="896112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437376" y="5486400"/>
            <a:ext cx="4882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303A5D"/>
                </a:solidFill>
                <a:latin typeface="Segoe UI"/>
              </a:rPr>
              <a:t>Мережі без жодної позиції категорії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37376" y="5724144"/>
            <a:ext cx="48828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АТБ, Novus, Metro, Varus, Ашан, Fozzy, «Таврія В», МегаМаркет, ЕКО маркет, Ultramarket та ще 7 мереж. Суміжну категорію (слайд 17) частина з них має.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ВИСНОВКИ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Що показало дослідження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Чотири факти про ринок і три питання, на які дані відповіді не дають.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" y="1700784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847088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1. Ринок є, полиці немає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139696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182 т імпорту і 84 позицій у продажу — але 73 із них живуть лише онлайн. Мережеву дистрибуцію має один бренд.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00784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99632" y="1700784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847088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2. Вікно ціни — 45–180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139696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Стільки коштує упаковка, яку покупець бере в мережі. Усе, що дорожче 250 грн, продається поштучно в нішевих магазинах.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962656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3504" y="2962656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310896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3. Формат — пауч 220–250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401568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16 позицій у цьому вікні, медіана 109 грн. Чаша дорожча вдвічі, коробка з нагрівачем — усемеро.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962656"/>
            <a:ext cx="5358384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99632" y="2962656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310896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03A5D"/>
                </a:solidFill>
                <a:latin typeface="Segoe UI"/>
              </a:rPr>
              <a:t>4. Українського пауча немає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401568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1C2235"/>
                </a:solidFill>
                <a:latin typeface="Segoe UI"/>
              </a:rPr>
              <a:t>16 українських позицій — це консерви й сублімати для туризму. Готового рису в паучі під мікрохвильовку не робить ніхто.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" y="4334256"/>
            <a:ext cx="10954512" cy="159105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03504" y="4334256"/>
            <a:ext cx="82296" cy="15910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517136"/>
            <a:ext cx="104058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Чого дані не показують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040587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1. Продажів. Ні мережі, ні маркетплейси не віддають обсяги. Ємність роздрібу на слайді 03 — оцінка за імпортом, а не заміряний продаж.
2. Хто імпортер. У картках продавців імпортера не вказано; Prom показує лише продавця. Точний перелік дасть лише вивантаження Держмитслужби за УКТЗЕД 1904 90 10.
3. Оборотності на полиці «Сільпо». Скільки Ben's Original реально продає за місяць — без даних мережі не порахувати.
Наступний крок, який закриє 1 і 2: замовити митну базу за 1904 90 10 за 2024–2025 рр. і запитати в «Сільпо» дані про категорію.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Дослідження: 84 позиції, 23 бренди, 56 продавців, 17 мереж. Зріз 22–23 вересня 2026 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Шість висновків, які визначають рішення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Що дає зіставлення ринкового зрізу з нашою фінансовою моделлю.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НАША НАЙДЕШЕВША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4820A"/>
                </a:solidFill>
                <a:latin typeface="Segoe UI"/>
              </a:rPr>
              <a:t>133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BSCM пауч 150 г.
Медіана пауча — 109 грн.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РОЗРИВ ДО МЕДІАНИ ПАУЧА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94F7C"/>
                </a:solidFill>
                <a:latin typeface="Segoe UI"/>
              </a:rPr>
              <a:t>+22 %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Дешевше за нас у мережі
не буде без зміни FOB.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НАШ НАЙКРАЩИЙ ФОРМАТ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E9EA6"/>
                </a:solidFill>
                <a:latin typeface="Segoe UI"/>
              </a:rPr>
              <a:t>стакан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BSCM 150 г — 139 грн проти
Ottogi 225–356 грн.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ПОТЕНЦІАЛ 40′ FCL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37A169"/>
                </a:solidFill>
                <a:latin typeface="Segoe UI"/>
              </a:rPr>
              <a:t>−12 %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Собівартість і полиця
падають лише від логістики.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SKU ПОЗА РИНКОМ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5D4B96"/>
                </a:solidFill>
                <a:latin typeface="Segoe UI"/>
              </a:rPr>
              <a:t>2 з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ONE'S Fried Rice 332 грн
і подвійний стакан 219 грн.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6992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9A50B"/>
                </a:solidFill>
                <a:latin typeface="Segoe UI"/>
              </a:rPr>
              <a:t>129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Стакан BSCM 150 г.
Потрібен FOB $0,480.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389120"/>
            <a:ext cx="5413248" cy="17830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389120"/>
            <a:ext cx="41148" cy="17830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454456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ЩО РОБИТИ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809744"/>
            <a:ext cx="495604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1. Заводити азійський формат — стакан BSCM 150 г. Це єдина наша позиція, що б'є прямого конкурента ціною: −38 % до медіани Ottogi.
2. Пауч 240 г у мережу не заходить проти Ben's Original без FOB ≤ $0,405.
3. ONE'S Fried Rice 200 г — перерахувати або зняти: 332 грн проти Ottogi 255 грн.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389120"/>
            <a:ext cx="5413248" cy="178308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389120"/>
            <a:ext cx="41148" cy="1783080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454456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FA9C4"/>
                </a:solidFill>
                <a:latin typeface="Segoe UI"/>
              </a:rPr>
              <a:t>НА ЧОМУ ТРИМАЄТЬСЯ ВИСНОВОК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4809744"/>
            <a:ext cx="495604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1. Полиця рахується як собівартість × 3,5 за поточних умов: бонус мережі 25 %, цільова маржа 35 %, націнка мережі 1,40.
2. Ринкові ціни — роздріб за одну упаковку в 64 точках продажу, зріз 22–23.09.2026.
3. Азійський стакан — єдиний наш формат, що входить дешевше за діючого лідера ніші.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Eurostat Comext (CN 1904 90 10), 17 мереж zakaz.ua, «Сільпо», Prom, Rozetka, MAUDAU, спеціалізовані фудшопи — 22–23.09.2026 · RICE_PRICING_Slelf_.xlsx · RTE_Rice_Suppliers.pptx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МАТРИЦЯ БРЕНДІВ · 1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Сегменти 1 і 2: готовий рис і рис під окріп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Це два сегменти, які конкурують із нами напряму. Усередині сегмента бренди відсортовані від найдешевшого до найдорожчого.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09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1554480"/>
            <a:ext cx="768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554480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155448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5" y="1554480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1554480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ЩО ЦЕ ТАКЕ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554480"/>
            <a:ext cx="17556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ДЕ ПРОДАЄТЬСЯ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755648"/>
            <a:ext cx="10789920" cy="21488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787651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1 · ГОТОВИЙ РИС ДО РОЗІГРІВУ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792224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Мікрохвильовка 60–90 с. Маса — готової страви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048255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Ben's Original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2048255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2048255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1" y="2048255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5" y="2048255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45–179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2048255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від Mars. Мікрохвильовка 90 с. Єдиний у мережевому роздрібі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048255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Мережа + маркетплейс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" y="2240279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27228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Маркел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227228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27228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3631" y="227228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5" y="227228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94–96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9" y="227228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реторт для військторгу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27228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Військторг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9631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Portion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76272" y="249631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249631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13631" y="249631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249631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109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59" y="249631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реторт 350 г. Найдешевший грам категорії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249631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Маркетплейс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" y="2688336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272034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Bibigo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76272" y="272034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272034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13631" y="272034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272034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135–189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59" y="272034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Корейський лоток білого рису. Розігрів 90 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272034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Фудшопи + маркетплейс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2944368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Ottogi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76272" y="2944368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4368" y="2944368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13631" y="2944368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34255" y="2944368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225–356 грн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52159" y="294436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Корейська чаша з м'ясом і соусом. Розігрів 2 хв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2944368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3776" y="3136392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3168396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Clearspring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76272" y="3168396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44368" y="3168396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13631" y="3168396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34255" y="3168396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252–446 грн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2159" y="3168396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Органічний пауч з ЄС. Найдорожчий пауч ринку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3168396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Маркетплейс + спец.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339242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Adventure Menu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76272" y="339242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44368" y="339242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Пауч/Дойпак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13631" y="339242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34255" y="339242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315–483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52159" y="339242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Реторт 400 г + сублімат 110 г. Два формати в одному бренді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01200" y="339242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3762756"/>
            <a:ext cx="10789920" cy="2148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" y="3794760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2 · СУХИЙ РИС ПІД ОКРІП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75120" y="3799332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Окріп 5–10 хв. Маса — сухого продукту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05536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Henan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76272" y="405536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44368" y="405536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13631" y="405536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34255" y="405536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83–156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52159" y="405536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Китайська чаша сухого рису. Залити окропом на 8 хв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01200" y="405536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Азійські фудшопи + МП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93776" y="4247388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" y="427939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Gallina Blanca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76272" y="427939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44368" y="427939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13631" y="427939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34255" y="427939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229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52159" y="427939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Іспанський інстант-рис у чаші 84 г. Окріп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1200" y="427939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Спец. магазин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450342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Qiaoshanmei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76272" y="450342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44368" y="450342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Пакет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13631" y="450342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34255" y="450342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501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52159" y="450342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Китайський рис у пакеті під окріп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01200" y="450342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Ціна — роздріб за одну упаковку, без оптових порогів. Зріз 22–23.09.2026. Adventure Menu має дві технології: реторт 400 г (сегмент 1) і сублімат 110 г (сегмент 4).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МАТРИЦЯ БРЕНДІВ · 2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Сегменти 3 і 4: саморозігрів і сублімація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Ці два сегменти з нами не конкурують: інший привід споживання і інший канал. Показані, щоб було видно всю категорію.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09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1554480"/>
            <a:ext cx="768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554480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155448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5" y="1554480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1554480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ЩО ЦЕ ТАКЕ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554480"/>
            <a:ext cx="17556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ДЕ ПРОДАЄТЬСЯ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755648"/>
            <a:ext cx="10789920" cy="214884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787651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3 · САМОРОЗІГРІВ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792224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Хімічний нагрівач 15 хв. Без техніки й окропу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048255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Haidilao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2048255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2048255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1" y="2048255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5" y="2048255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380–1190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2048255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Коробка з хімічним нагрівачем. Готується без техніки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048255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 + фудшопи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" y="2240279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27228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Zihaiguo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227228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27228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3631" y="227228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5" y="227228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735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9" y="227228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Коробка-саморозігрів 440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27228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9631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Rongcheng Haoji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76272" y="249631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249631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13631" y="249631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249631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735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59" y="249631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Коробка-саморозігрів 440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249631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" y="2688336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272034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Mo Xiao Xian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76272" y="272034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272034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13631" y="272034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272034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931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59" y="272034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Китайська чаша-саморозігрів. Найдорожча чаша ринку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272034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3090672"/>
            <a:ext cx="10789920" cy="21488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3122676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4 · СУБЛІМАЦІЯ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3127248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Сушіння виморожуванням. Похід і армія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338328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Харчі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76272" y="338328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44368" y="338328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1" y="338328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34255" y="338328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83–321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52159" y="338328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 для туризму й армії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338328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3776" y="3575304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3607308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James Cook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76272" y="3607308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44368" y="3607308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13631" y="3607308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34255" y="3607308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55–156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52159" y="360730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сублімат. Найширша вітчизняна лінійка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0" y="3607308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3831336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!FEST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76272" y="3831336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44368" y="3831336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13631" y="3831336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34255" y="3831336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133–140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59" y="3831336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сублімат, львівський бренд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0" y="3831336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93776" y="4023360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928" y="405536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Їжа в Похід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76272" y="405536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44368" y="405536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13631" y="405536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34255" y="405536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130–145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52159" y="405536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сублімат, власний магазин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405536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27939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SubliMate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76272" y="427939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44368" y="427939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13631" y="427939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34255" y="427939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290–370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52159" y="427939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1200" y="427939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93776" y="4471416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6928" y="450342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Trek'n Eat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76272" y="450342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44368" y="450342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13631" y="450342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34255" y="450342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269–715 грн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52159" y="450342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Німецький сублімат для туризму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01200" y="450342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4727448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Adventure Food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76272" y="4727448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44368" y="4727448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13631" y="4727448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34255" y="4727448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492 грн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52159" y="472744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Нідерландський сублімат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601200" y="4727448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93776" y="4919472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66928" y="4951476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Travellunch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76272" y="4951476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4951476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13631" y="4951476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334255" y="4951476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275–889 грн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52159" y="4951476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Німецький сублімат. Найширша імпортна лінійка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01200" y="4951476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6928" y="517550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Mountain House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176272" y="517550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США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44368" y="517550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13631" y="517550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34255" y="517550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699 грн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852159" y="517550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Американський сублімат. Найдорожчий грам категорії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01200" y="517550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Ціна — роздріб за одну упаковку. Trek'n Eat: маса на картках продавців не вказана. Зріз 22–23.09.2026.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ФОРМАТИ УПАКОВКИ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Який формат насправді найпопулярніший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Кількість позицій і ціна дають протилежні відповіді. Розбираємо, яка з них релевантна.</a:t>
            </a:r>
          </a:p>
        </p:txBody>
      </p:sp>
      <p:pic>
        <p:nvPicPr>
          <p:cNvPr id="10" name="Picture 9" descr="c1_for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81328"/>
            <a:ext cx="11064240" cy="335731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023360"/>
            <a:ext cx="41148" cy="20116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D4B96"/>
                </a:solidFill>
                <a:latin typeface="Segoe UI"/>
              </a:rPr>
              <a:t>ПОПУЛЯРНІСТЬ ≠ ПОЛИЦЯ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Дойпак лідирує за кількістю позицій (30 із 84), але це артефакт каналу: туристичні магазини заводять по 1–2 SKU від десятка дрібних брендів.
За доступністю для покупця виграє пауч: 109 грн проти 315 грн у дойпака.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4023360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ВІКНО ПОРЦІЇ 210–250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Чаша й пауч конкурують у тому самому ваговому вікні — це порція «обід на одну людину».
16 позицій із 84 лежать у 220–250 г. Саме під цю вагу вже привчений покупець Ben's Original і Bibigo.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4023360"/>
            <a:ext cx="41148" cy="2011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РЕКОМЕНДАЦІЯ ФОРМАТУ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ПАУЧ 240–250 Г — для мережевої полиці: найнижча ціна входу, вага збігається з лідером категорії.
СТАКАН 150 Г — для азійського каналу: прямий конкурент Ottogi та Henan за вдвічі нижчою ціною.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Розподіл 84 позицій за типом паковання з карток продавців, 22–23.09.2026.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МОДЕЛЬ ФОРМАТУ І ВАГИ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Яке поєднання упаковки й грамажу тримає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Кожна клітинка — скільки позицій категорії має цей формат у цій ваговій смузі.</a:t>
            </a:r>
          </a:p>
        </p:txBody>
      </p:sp>
      <p:pic>
        <p:nvPicPr>
          <p:cNvPr id="10" name="Picture 9" descr="c6_fmtwe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26464"/>
            <a:ext cx="11064240" cy="34117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681728"/>
            <a:ext cx="41148" cy="144475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F9A50B"/>
                </a:solidFill>
                <a:latin typeface="Segoe UI"/>
              </a:rPr>
              <a:t>ПОРЦІЙНЕ ВІКНО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200–299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22 позиції: пауч 14, чаша 8.
Одна порція на одну людину.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8" y="4681728"/>
            <a:ext cx="41148" cy="144475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НАЙЩІЛЬНІША КЛІТИНКА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дойпак 100–149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16 позицій — але це сухий
сублімат, інший привід.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4681728"/>
            <a:ext cx="41148" cy="144475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4820A"/>
                </a:solidFill>
                <a:latin typeface="Segoe UI"/>
              </a:rPr>
              <a:t>ПАУЧ ЖИВЕ ТІЛЬКИ ТУТ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220–250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14 із 19 паучів. Поза вікном —
лише укр. реторт 350 г.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7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33687" y="4681728"/>
            <a:ext cx="41148" cy="1444752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37A169"/>
                </a:solidFill>
                <a:latin typeface="Segoe UI"/>
              </a:rPr>
              <a:t>ЧАША ПРАЦЮЄ СКРІЗЬ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3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84–320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3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Єдиний формат, присутній у шести
вагових смугах із семи.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84 позиції; 2 без указаної маси (Trek'n Eat) до крос-табу не входять. Вага — за картками продавців; для сухих продуктів це маса до заливання.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НАЙПОПУЛЯРНІШІ ФОРМАТИ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Які упаковки ринок обирає найчастіше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Ліворуч — конкретні поєднання формату й ваги. Праворуч — частка формату в усій категорії та окремо в каналах, куди ходить масовий покупець.</a:t>
            </a:r>
          </a:p>
        </p:txBody>
      </p:sp>
      <p:pic>
        <p:nvPicPr>
          <p:cNvPr id="10" name="Picture 9" descr="c7_comb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11064240" cy="429191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828032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C4820A"/>
                </a:solidFill>
                <a:latin typeface="Segoe UI"/>
              </a:rPr>
              <a:t>#1 НА РИНКУ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Пауч 220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7 позицій, усі Ben's Original.
Медіана 129 грн.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8" y="4828032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C4820A"/>
                </a:solidFill>
                <a:latin typeface="Segoe UI"/>
              </a:rPr>
              <a:t>НАЙДЕШЕВШИЙ ВХІД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Пауч 250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6 позицій, медіана 90 грн —
найнижчий цінник категорії.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4828032"/>
            <a:ext cx="41148" cy="12984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#1 В АЗІЙСЬКІЙ НІШІ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Чаша 174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5 позицій Henan, 148 грн.
Прямий конкурент нашого стакана.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7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33687" y="4828032"/>
            <a:ext cx="41148" cy="1298448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БЕЗ OUTDOOR-КАНАЛУ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3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чаша + пауч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3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91 % позицій, доступних масовому
покупцю. Дойпак падає з 36 % до 4 %.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Поєднання з двома й більше позиціями; 13 поєднань покривають 52 із 84 позицій. Медіана ціни — за позиціями цього поєднання. «Масовий канал» — мережа, маркетплейси та спеціалізовані фудшопи (46 позицій); outdoor- і мілітарі-рітейл виключено.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Де ми стоїмо: від найдешевшої до найдорожчої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Усі ринкові якорі й усі сім наших товарних груп на одній шкалі. Помаранчеве — ми.</a:t>
            </a:r>
          </a:p>
        </p:txBody>
      </p:sp>
      <p:pic>
        <p:nvPicPr>
          <p:cNvPr id="10" name="Picture 9" descr="c3_p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44752"/>
            <a:ext cx="7635240" cy="359704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30768" y="1481328"/>
            <a:ext cx="3200400" cy="148132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30768" y="1481328"/>
            <a:ext cx="41148" cy="1481328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512" y="163677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37A169"/>
                </a:solidFill>
                <a:latin typeface="Segoe UI"/>
              </a:rPr>
              <a:t>МИ В ВІКНІ ПОЛИЦІ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1901952"/>
            <a:ext cx="27432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Шість із семи наших груп потрапляють у вікно 45–180 грн, у якому покупець реально бере товар у мережі.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0768" y="3090672"/>
            <a:ext cx="3200400" cy="157276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30768" y="3090672"/>
            <a:ext cx="41148" cy="1572768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3246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94F7C"/>
                </a:solidFill>
                <a:latin typeface="Segoe UI"/>
              </a:rPr>
              <a:t>АЛЕ НЕ В ЙОГО НИЗУ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3511296"/>
            <a:ext cx="27432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Наш найдешевший SKU — 133 грн. Медіана пауча — 109 грн, Ben's Original — 90 грн. За ціною входу ми в верхній третині вікна.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4791456"/>
            <a:ext cx="3200400" cy="1353312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0768" y="4791456"/>
            <a:ext cx="41148" cy="13533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2" y="494690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D4B96"/>
                </a:solidFill>
                <a:latin typeface="Segoe UI"/>
              </a:rPr>
              <a:t>ДВІ ГРУПИ ВИПАЛИ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5212080"/>
            <a:ext cx="2743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Подвійний стакан 219 грн і ONE'S Fried Rice 332 грн — вище стелі мережевої полиці.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Наша полиця розрахована за фінмоделлю: 20′ FCL навалом, курс 45 грн/$, бонус мережі 25 %, цільова маржа 35 %, націнка мережі 1,40. Для кожної групи показано найдешевший SKU.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РИТЕЙЛ-АУДИТ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з готового рису реально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Суцільна перевірка каталогів Ашан, Сільпо, METRO, NOVUS, МегаМаркет, Ultramarket, ЕКО маркет, Epicentr, Космос — 28.09.2026.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4114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1619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ЗБЕРІГАННЯ ПРИ КІМНАТНІЙ · НАШ СЕТ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1619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12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55648"/>
            <a:ext cx="2615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1755648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ЩО САМЕ СТОЇТЬ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1" y="1755648"/>
            <a:ext cx="13898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17556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755648"/>
            <a:ext cx="1335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96143" y="1755648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ПОХОДЖЕННЯ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938528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1938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Ben's Original / Uncle Ben's Express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1" y="1938528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4820A"/>
                </a:solidFill>
                <a:latin typeface="Segoe UI"/>
              </a:rPr>
              <a:t>пауч 220–250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1938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193852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90–179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6143" y="1938528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Mars · ЄС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" y="2121408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153412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2112" y="2153412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The Local Food по-тайськи з куркою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1" y="2153412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4820A"/>
                </a:solidFill>
                <a:latin typeface="Segoe UI"/>
              </a:rPr>
              <a:t>лоток 350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21534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19" y="2153412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96143" y="21534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487168"/>
            <a:ext cx="41148" cy="1737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2500884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ОХОЛОДЖЕНА КУЛІНАРІЯ · 2–5 ДІБ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500884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11 SKU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724911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2112" y="2724911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«Легко!» рис з овочами та курячим фрікасе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1" y="2724911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лоток 280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19" y="27249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19" y="2724911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96143" y="2724911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3776" y="2907791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2939795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82112" y="2939795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«Чіл Міл» рис паровий · рис з яйцем і овочами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14031" y="2939795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лоток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19" y="293979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19" y="2939795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75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96143" y="2939795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154679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82112" y="3154679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Боули з рисом · теріякі · рис по-китайськи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4031" y="3154679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19" y="315467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19" y="3154679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139–439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96143" y="3154679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93776" y="3337559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3369563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82112" y="3369563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«Майстри Смаку» рис з овочами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14031" y="3369563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19" y="336956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19" y="3369563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299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96143" y="3369563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3584447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82112" y="3584447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Рис японський з овочами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4031" y="3584447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19" y="358444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19" y="3584447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366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96143" y="3584447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3918203"/>
            <a:ext cx="41148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3232" y="3931919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СУМІШ ПІД ВАРІННЯ · НЕ ГОТОВИЙ ПРОДУКТ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3931919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3 SKU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4155947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Ашан · NOVUS · МегаМаркет · Сільпо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82112" y="4155947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«Жменька» Tasty Mix басматі з овочами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14031" y="4155947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200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3919" y="415594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61119" y="4155947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89–92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96143" y="4155947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93776" y="4338827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6928" y="4370831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NOVUS · Сільпо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82112" y="4370831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Trapeza басматі з карі по-індійськи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14031" y="4370831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250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919" y="437083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61119" y="4370831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59–85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96143" y="4370831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585716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82112" y="458571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«Зерновита» рис з овочами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14031" y="4585716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500 г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03919" y="45857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61119" y="4585716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78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96143" y="4585716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" y="4919472"/>
            <a:ext cx="41148" cy="173736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3232" y="4933188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0" y="4933188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0 SKU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5157216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2112" y="515721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готового рису немає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14031" y="5157216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03919" y="51572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61119" y="5157216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96143" y="5157216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лише крупа 1–10 кг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66928" y="5138928"/>
            <a:ext cx="5413248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66928" y="5138928"/>
            <a:ext cx="41148" cy="10058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4672" y="5294376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4820A"/>
                </a:solidFill>
                <a:latin typeface="Segoe UI"/>
              </a:rPr>
              <a:t>AMBIENT-ПОЛИЦЯ — ЦЕ 12 SKU НА ВСЮ КРАЇНУ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4672" y="5559552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11 із них — Ben's Original у «Сільпо». Єдина інша позиція: український лоток The Local Food по-тайськи 350 г за 207 грн у МегаМаркеті.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17920" y="5138928"/>
            <a:ext cx="5413248" cy="100584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217920" y="5138928"/>
            <a:ext cx="41148" cy="1005840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55664" y="5294376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FA9C4"/>
                </a:solidFill>
                <a:latin typeface="Segoe UI"/>
              </a:rPr>
              <a:t>METRO — НУЛЬ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55664" y="5559552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Cash&amp;Carry тримає лише крупу 1–10 кг під власними марками Metro Chef і Aro. Формат обслуговує HoReCa, не кінцевого покупця.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Джерело: відкритий каталожний API zakaz.ua (Ашан, METRO, NOVUS, МегаМаркет, Ultramarket, ЕКО маркет, Epicentr, Космос) та sf-ecom-api.silpo.ua — 28.09.2026. Фоззі Cash&amp;Carry перевірити не вдалося: каталог закритий ботозахистом.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АЗІЙСЬКИЙ ФОРМАТ У МЕРЕЖАХ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Дистрибуція вже є — рису в ній немає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Скільки позицій кожного азійського бренду вже стоїть у національних мережах.</a:t>
            </a:r>
          </a:p>
        </p:txBody>
      </p:sp>
      <p:pic>
        <p:nvPicPr>
          <p:cNvPr id="10" name="Picture 9" descr="c8_asian_shel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17904"/>
            <a:ext cx="11064240" cy="406229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773168"/>
            <a:ext cx="41148" cy="13716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БАР'ЄР — НЕ ДИСТРИБУЦІЯ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Ottogi має 14 позицій у трьох мережах, Bibigo — 6 в «Ашані». Імпортер, лістинг, полиця й логістика під ці бренди вже існують.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4773168"/>
            <a:ext cx="41148" cy="13716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4820A"/>
                </a:solidFill>
                <a:latin typeface="Segoe UI"/>
              </a:rPr>
              <a:t>НІХТО ПРОСТО НЕ ЗАВІЗ РИС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Ті самі Ottogi і Bibigo продають чаші з рисом по 225–356 грн — але лише в азійських фудшопах. У мережу зайшла тільки локшина.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4773168"/>
            <a:ext cx="41148" cy="137160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94F7C"/>
                </a:solidFill>
                <a:latin typeface="Segoe UI"/>
              </a:rPr>
              <a:t>ВІКНО МОЖЕ БУТИ КОРОТКИМ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Імпортер Ottogi додасть рисові SKU до наявного лістингу швидше, ніж ми збудуємо свій з нуля. Це аргумент заходити зараз.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Підрахунок позицій за відкритими каталогами мереж, 28.09.2026. Ураховано позиції, де назва бренду є в назві товару. «З них рис» — жодної позиції готового чи сирого рису під цими брендами в жодній із перевірених мереж.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Дві осі: точка продажу і покупець, який у неї приходить. Вони не збігаються.</a:t>
            </a:r>
          </a:p>
        </p:txBody>
      </p:sp>
      <p:pic>
        <p:nvPicPr>
          <p:cNvPr id="10" name="Picture 9" descr="c5_chan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17904"/>
            <a:ext cx="5029200" cy="189652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870448" y="1554480"/>
            <a:ext cx="5760720" cy="93268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70448" y="1554480"/>
            <a:ext cx="41148" cy="932688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9904" y="1664207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Продуктовий роздріб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1682495"/>
            <a:ext cx="923544" cy="18288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69346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1874519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C94F7C"/>
                </a:solidFill>
                <a:latin typeface="Segoe UI"/>
              </a:rPr>
              <a:t>МЕРЕЖІ НАЦІОНАЛЬНОГО ПОКРИТТЯ  ·  3 МЕРЕЖІ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05740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Сільпо · МегаМаркет · Ultramarket. Решта 14 перевірених мереж категорії не мають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2313432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Масовий покупець · щоденне харчування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0448" y="2569464"/>
            <a:ext cx="5760720" cy="93268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70448" y="2569464"/>
            <a:ext cx="41148" cy="9326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9904" y="26791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2697480"/>
            <a:ext cx="923544" cy="182880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708452"/>
            <a:ext cx="923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9904" y="2889504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C4820A"/>
                </a:solidFill>
                <a:latin typeface="Segoe UI"/>
              </a:rPr>
              <a:t>УНІВЕРСАЛЬНІ МАЙДАНЧИКИ  ·  3 МАЙДАНЧИКИ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4" y="3072384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MAUDAU · Rozetka · Prom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332841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Масовий покупець · плановане замовлення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70448" y="3584448"/>
            <a:ext cx="5760720" cy="128016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70448" y="3584448"/>
            <a:ext cx="41148" cy="128016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9904" y="369417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Спеціалізований фудрітейл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3712463"/>
            <a:ext cx="1275588" cy="18288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3723436"/>
            <a:ext cx="12755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 · ВХІД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904" y="3904487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1E9EA6"/>
                </a:solidFill>
                <a:latin typeface="Segoe UI"/>
              </a:rPr>
              <a:t>АЗІЙСЬКІ ТА ЕТНІЧНІ МАГАЗИНИ  ·  20 МАГАЗИНІВ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4" y="4087368"/>
            <a:ext cx="539496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Смак Кореї · Тайякі Март · Pulsar · Апетітаріум · Gurmissimo · Edison Lee · OMG! Asia · СНЕКІС · DCM · Скарби Азії · AsiaStyle · ASIA FOODS · Wèi Māo · AsianFoods · Asia Goods Store · SushiPovar · KladezGroup · Sweet Svitt · Товари з Іспанії · Asia Foods Trade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4690872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Покупець азійської кухні · знає категорію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70448" y="4946904"/>
            <a:ext cx="5760720" cy="113385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70448" y="4946904"/>
            <a:ext cx="41148" cy="1133856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505663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Outdoor- і мілітарі-рітейл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12680" y="5074920"/>
            <a:ext cx="973836" cy="182880"/>
          </a:xfrm>
          <a:prstGeom prst="roundRect">
            <a:avLst>
              <a:gd name="adj" fmla="val 50000"/>
            </a:avLst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5085892"/>
            <a:ext cx="9738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НЕ НАШ ПОКУПЕЦЬ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4" y="5266944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9FA9C4"/>
                </a:solidFill>
                <a:latin typeface="Segoe UI"/>
              </a:rPr>
              <a:t>ТУРИСТИЧНІ ТА ВІЙСЬКОВІ МАГАЗИНИ  ·  40 МАГАЗИНІВ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9904" y="544982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ALANTUR · Highlander · ForCamp · Гайдамака · Freeride · MK-Sport · Daruy · Tactico · Лєєр · Activity та ще ~30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5907024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Турист і військовий · автономне харчування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3931920"/>
            <a:ext cx="5029200" cy="2148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3931920"/>
            <a:ext cx="41148" cy="214884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0873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КАНАЛ І ПОКУПЕЦЬ — РІЗНІ ОСІ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4352544"/>
            <a:ext cx="45720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Outdoor- і мілітарі-рітейл дає 40 із 66 точок продажу, але це не наш канал: туди приходять по автономне харчування в дорогу, а не по обід.
Саме тому 30 із 84 позицій категорії — сублімат у дойпаку. Він домінує за кількістю SKU й не конкурує з нами за привід споживання.
Наш вхід — 20 азійських фудшопів: там уже стоять Ottogi і Henan, прямі конкуренти нашого стакана, і там покупець знає категорію.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181344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F9A50B"/>
                </a:solidFill>
                <a:latin typeface="Segoe UI"/>
              </a:rPr>
              <a:t>ЯК РАХУВАЛИ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64224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" b="0">
                <a:solidFill>
                  <a:srgbClr val="9FA9C4"/>
                </a:solidFill>
                <a:latin typeface="Segoe UI"/>
              </a:rPr>
              <a:t>Точка продажу = окремий продавець, у якого в каталозі є хоча б одна з 84 позицій категорії. Рахували поіменно за картками товару: у кожній картці вказано продавця. Продуктовий роздріб (3): Сільпо, МегаМаркет, Ultramarket — перевірено суцільно через каталожні API 9 мереж 28.09.2026. Маркетплейси (3): MAUDAU, Rozetka, Prom. Фудшопи (20) і outdoor (40) — за зрізом 22–23.09.2026; в outdoor поіменно ідентифіковано 28 із 40, решта продають ті самі сублімати. Агрегатори zakaz.ua і GoToShop не рахуються як точки продажу: вони віддають товар чужих мереж.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ФІНМОДЕЛЬ ПРОТИ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Скільки коштує кожен наш формат на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Полиця = собівартість × 3,5 за поточних умов. Вертикальні лінії — ринкові цілі.</a:t>
            </a:r>
          </a:p>
        </p:txBody>
      </p:sp>
      <p:pic>
        <p:nvPicPr>
          <p:cNvPr id="10" name="Picture 9" descr="c4_f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0"/>
            <a:ext cx="7635240" cy="267645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30768" y="1481328"/>
            <a:ext cx="3200400" cy="278892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13648" y="162763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ЯКИЙ FOB ПОТРІБЕН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181965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717890"/>
                </a:solidFill>
                <a:latin typeface="Segoe UI"/>
              </a:rPr>
              <a:t>ЦІЛЬ / 20′ FCL / 40′ FCL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2066543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Медіана пауча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2208275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109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084831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$0,405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63072" y="2084831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$0,452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2487168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Ben's медіана @240 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628899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98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50545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$0,366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63072" y="250545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$0,408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2907791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Полиця 129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3049523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129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926079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63072" y="2926079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$0,535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3328415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Паритет Bibigo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3470147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162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346703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$0,602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63072" y="3346703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$0,672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3749039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Ottogi −22 %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3890772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199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3767327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$0,740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63072" y="3767327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$0,826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30768" y="4434840"/>
            <a:ext cx="3200400" cy="1719072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30768" y="4434840"/>
            <a:ext cx="41148" cy="17190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59028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ФОРМУЛА ПЕРЕГОВОРІВ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68512" y="4855464"/>
            <a:ext cx="2743200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полиця = FOB × 268,9  (20′ FCL)
полиця = FOB × 241,1  (40′ FCL)
Кожні $0,10 зниження FOB знімають 27 грн з полиці.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Перехідний коефіцієнт FOB → собівартість (1,7074 для 20′ FCL і 1,5306 для 40′ FCL) виведено з даних RTE_Rice_Suppliers для BSCM Jasmine 240 г і перевірено на решті BSCM і CM Premium. FOB ONE'S у пропозиції не вказаний — $1,238 і $0,571 це ОЦІНКА за тим самим коефіцієнтом.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АУДИТ ФІНМОДЕЛІ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Чотири припущення, які треба закрити до переговорів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Модель арифметично коректна. Ризики — у вхідних даних і в трактуванні податків.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41148" cy="2139696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190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94F7C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74650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ПДВ, ймовірно, задвоєно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075688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Собівартість містить імпортний ПДВ 20 % (RTE_Rice_Suppliers), а ціна партнера в моделі «вже з ПДВ». Для платника ПДВ імпортний податок — податковий кредит, а не витрата.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2871215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7180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C94F7C"/>
                </a:solidFill>
                <a:latin typeface="Segoe UI"/>
              </a:rPr>
              <a:t>ЯКЩО ПІДТВЕРДИТЬСЯ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15468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СС падає на 16,7 %, полиця BSCM пауч 240 г: 157 → 131 грн, стакан 150 г: 139 → 116 грн. Це змінює весь висновок щодо пауча.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72768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572768"/>
            <a:ext cx="41148" cy="21396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7190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A50B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174650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«Маржа 35 %» — не прибуток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075688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У моделі маржа = (ціна партнера − СС − бонус) / ціна партнера. У ній немає нашого ФОП, маркетингу, вхідних бонусів мережі, внутрішньої логістики, списань і прострочення.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55664" y="2871215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297180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F9A50B"/>
                </a:solidFill>
                <a:latin typeface="Segoe UI"/>
              </a:rPr>
              <a:t>ЩО ЗРОБИТИ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15468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Додати рядок операційних витрат. Поки його немає, 35 % не можна називати рентабельністю — це валова націнка.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04487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904487"/>
            <a:ext cx="41148" cy="213969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0507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D4B96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0782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Ставка мита не підтверджена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407407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У СС закладено мито 10 %. Дослідження ринку вказує 0 % для CN 1904 90 10 з ЄС. Для Таїланду й Кореї діє інша ставка, джерело в моделі не зазначено.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" y="5202936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30352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D4B96"/>
                </a:solidFill>
                <a:latin typeface="Segoe UI"/>
              </a:rPr>
              <a:t>ЩО ЗРОБИТИ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48640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Отримати письмову тарифну класифікацію за УКТЗЕД 1904 90 10 до підписання контракту. Похибка в 10 % — це 27 грн на полиці.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904487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904487"/>
            <a:ext cx="41148" cy="21396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40507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59" y="40782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Бонус мережі 25 % — гіпотеза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4407407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Ставка 25 % взята з прикладу по локшині. Реальні умови «Сільпо» для нової імпортної категорії без історії продажів можуть бути вищими, плюс вхідний бонус і плата за лістинг.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55664" y="5202936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530352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ЩО ЗРОБИТИ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548640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Запросити комерційні умови до розрахунку цін. За бонусу 30 % полиця зростає на 17 % при тій самій маржі.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Пункт 1 — ГІПОТЕЗА, що потребує підтвердження бухгалтером: залежить від статусу платника ПДВ і від того, як ПДВ ураховано в аркушах Self_Cost. Пункти 2–4 — прямі спостереження за вмістом моделі й супровідних файлів.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ФОРМАТ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заводити: азійський стакан як герой лінійки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кандидати, оцінені за конкурентною позицією, а не за собівартістю.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FF8EC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3538728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РЕКОМЕНДУЄМО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BSCM · СТАКАН 150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9EA6"/>
                </a:solidFill>
                <a:latin typeface="Segoe UI"/>
              </a:rPr>
              <a:t>139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Ottogi 225–356 грн · Henan 83–156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НАША ПЕРЕВАГА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−45 % до медіани Ottogi (255 грн)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КАНАЛ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20 азійських фудшопів уже продають цю полицю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РИЗИК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Henan дешевший: 83 грн за 144 г. Але це сухий рис під окріп, не готова страва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Єдина наша позиція, що входить у нішу дешевше за діючого лідера. Азійський формат, азійський канал, зрозуміле порівняння для покупця.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4256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4256" y="1517904"/>
            <a:ext cx="3538728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4256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ДРУГИЙ ПРІОРИТЕТ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ONE'S · ЛОТОК 210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D4B96"/>
                </a:solidFill>
                <a:latin typeface="Segoe UI"/>
              </a:rPr>
              <a:t>153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Bibigo 210 г · 135–189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НАША ПЕРЕВАГА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Той самий грамаж, ціна в середині діапазону конкурента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КАНАЛ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Смак Кореї · Rozetka · Prom — де вже стоїть Bibigo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РИЗИК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MOQ 200 коробів на SKU · передоплата 100 % T/T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3712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3712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Найточніше зіставлення в усій лінійці: та сама вага, та сама країна, той самий канал. Заходимо рівно по центру ціни конкурента.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01583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01583" y="1517904"/>
            <a:ext cx="3538728" cy="27432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01583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НЕ ЗАВОДИТИ ЗАРАЗ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BSCM · ПАУЧ 240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94F7C"/>
                </a:solidFill>
                <a:latin typeface="Segoe UI"/>
              </a:rPr>
              <a:t>157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Ben's Original 45–179 грн, медіана 90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НАША ПОЗИЦІЯ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+74 % до медіани Ben's, 88-й перцентиль його діапазону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ПРОБЛЕМА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Mars має заводи в ЄС, нульове мито і 13 SKU в «Сільпо»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УМОВА ВХОДУ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FOB ≤ $0,405 або підтвердження гіпотези щодо ПДВ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40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Формат правильний — вага збігається з лідером. Але ціновий розрив проти Mars не закривається за поточного FOB.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Ціни — полиця за поточною фінмоделлю (20′ FCL навалом, курс 45, бонус 25 %, маржа 35 %, націнка 1,40). Ринкові ціни конкурентів — роздріб за одну упаковку, 22–23.09.2026.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ЦІНА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Цільова полиця і що для неї потрібно від постачальника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цінові сценарії на герой-SKU. Рекомендований — середній.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9FA9C4"/>
                </a:solidFill>
                <a:latin typeface="Segoe UI"/>
              </a:rPr>
              <a:t>АГРЕСИВНИЙ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2235"/>
                </a:solidFill>
                <a:latin typeface="Segoe UI"/>
              </a:rPr>
              <a:t>119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$0,443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−11 %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Нижче Henan-медіани (140 грн), −53 % до Ottogi. Бере полицю ціною, але вбиває маржу при будь-якому зростанні курсу.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Ризик: немає запасу на бонус вище 25 %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0F9FA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E9EA6"/>
                </a:solidFill>
                <a:latin typeface="Segoe UI"/>
              </a:rPr>
              <a:t>РЕКОМЕНДОВАНО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E9EA6"/>
                </a:solidFill>
                <a:latin typeface="Segoe UI"/>
              </a:rPr>
              <a:t>129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−4 %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−49 % до медіани Ottogi, −8 % до медіани Henan, у верхній частині вікна мережевої полиці. Зберігає цільову маржу 35 % і залишає простір на промо.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Потрібно від BSCM: FOB $0,480 замість $0,500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9FA9C4"/>
                </a:solidFill>
                <a:latin typeface="Segoe UI"/>
              </a:rPr>
              <a:t>КОМФОРТНИЙ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2235"/>
                </a:solidFill>
                <a:latin typeface="Segoe UI"/>
              </a:rPr>
              <a:t>139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0384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0 %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Поточний FOB без переговорів. Усе ще −45 % до Ottogi, але дорожче за медіану Henan і на рівні її верхньої межі.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Працює лише в азійському каналі, не в мережі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242816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АРХІТЕКТУРА ЦІН ПО ВСІЙ ЛІНІЙЦІ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535424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1C2235"/>
                </a:solidFill>
                <a:latin typeface="Segoe U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535424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ТОВАРНА ГРУПА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453542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РОЛЬ У ЛІНІЙЦІ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4688" y="453542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ПОЛИЦЯ ЗАРАЗ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4535424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3" y="4535424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3455" y="4535424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ОРІЄНТИР НА ПОЛИЦІ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773168"/>
            <a:ext cx="10789920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4846320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стакан 150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4846320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1E9EA6"/>
                </a:solidFill>
                <a:latin typeface="Segoe UI"/>
              </a:rPr>
              <a:t>Герой · азійський формат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4688" y="4846320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139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3136" y="4846320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129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3" y="4846320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3455" y="4846320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Ottogi 255 · Henan 140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3776" y="4999024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5040172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ONE'S лоток 210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5040172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5D4B96"/>
                </a:solidFill>
                <a:latin typeface="Segoe UI"/>
              </a:rPr>
              <a:t>Другий герой · Корея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04688" y="5040172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153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3136" y="5040172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155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3023" y="5040172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~$0,577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63455" y="5040172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Bibigo 135–189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5234025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пауч 200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55848" y="5234025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4820A"/>
                </a:solidFill>
                <a:latin typeface="Segoe UI"/>
              </a:rPr>
              <a:t>Об'єм · вхід у ціну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5234025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150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03136" y="5234025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129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93023" y="5234025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63455" y="5234025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пауч-медіана 109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3776" y="5386730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5427878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пауч 240 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55848" y="5427878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4820A"/>
                </a:solidFill>
                <a:latin typeface="Segoe UI"/>
              </a:rPr>
              <a:t>Мережа · 2-га хвиля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5427878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157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03136" y="5427878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109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93023" y="5427878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63455" y="5427878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Ben's медіана 90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5621731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CM Premium 250 г органік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55848" y="5621731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7A169"/>
                </a:solidFill>
                <a:latin typeface="Segoe UI"/>
              </a:rPr>
              <a:t>Преміум · нішa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04688" y="5621731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178 грн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03136" y="5621731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178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93023" y="5621731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$0,667 — без змін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63455" y="5621731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Clearspring 252–446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93776" y="5774435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928" y="5815583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ONE'S Fried Rice 200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55848" y="5815583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94F7C"/>
                </a:solidFill>
                <a:latin typeface="Segoe UI"/>
              </a:rPr>
              <a:t>Переглянути або зняти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04688" y="5815583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332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03136" y="5815583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199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93023" y="5815583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94F7C"/>
                </a:solidFill>
                <a:latin typeface="Segoe UI"/>
              </a:rPr>
              <a:t>~$0,740 (−40 %)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63455" y="5815583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Ottogi 225–356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8" y="6009436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подвійний стакан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55848" y="6009436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Private label · пізніше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04688" y="6009436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219 грн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03136" y="6009436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179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93023" y="6009436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$0,666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63455" y="6009436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верх вікна полиці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Цільова полиця — наша рекомендація. Потрібний FOB розрахований за формулою полиця = FOB × 268,9 (20′ FCL). FOB для ONE'S — оцінка, постачальник його не розкрив. Перехід на 40′ FCL знижує потрібний FOB на ~10 %.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ПОСТАЧАЛЬНИК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Хто дає найкращий формат і на яку ціну тиснути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постачальники в обоймі, оцінені за форматом, гнучкістю та ціновою ефективністю.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3538728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ОСНОВНИЙ ПОСТАЧАЛЬНИК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BSCM FOODS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Таїланд · Бангкок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ФОРМАТИ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240 · спецвиробництво 150/200 · стакан 150 · подвійний стакан 2×125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Єдиний, хто робить стакан — формат, яким ми б'ємо Ottogi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18 місяців за кімнатної температури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BRC · HACCP · ISO 22000 · GMP · Organic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FOB-ДІАПАЗОН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$0,472 – $0,750 залежно від SKU і ваги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PRIVATE LABEL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Так — подвійний стакан, кейс мережі SPAR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ЦІЛЬОВИЙ FOB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Стакан 150 г: $0,480 замість $0,500 (−4 %).
Пауч 240 г: $0,405 замість $0,583 (−31 %) — якщо йдемо в мережу.
Обов'язково: перехід на 40′ FCL дає ще −12 % до собівартості.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6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34256" y="1517904"/>
            <a:ext cx="3538728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34256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ТОЧКОВО, ПІД BIBIGO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ONE'S INTERNATIONAL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Корея · Гурі-сі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ФОРМАТИ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Лоток 200 г (fried rice) · лоток 210 г (білий рис)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Корейське походження — премія в азійському каналі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12 місяців — найкоротший з трьох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3712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HACCP · FSSC 22000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FOB-ДІАПАЗОН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Не розкрито. Оцінка з СС: ~$0,571 і ~$1,238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УМОВИ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MOQ 200 коробів на SKU · передоплата 100 % T/T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53712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53712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ЦІЛЬОВИЙ FOB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3712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Cooked White Rice 210 г: брати як є — б'є Bibigo.
Fried Rice 200 г: потрібен FOB ≈ $0,740 (−40 % до оцінки).
Першим кроком — вимагати розкриття FOB по кожному SKU.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01583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01583" y="1517904"/>
            <a:ext cx="3538728" cy="27432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01583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НІШЕВИЙ ПРЕМІУМ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CM PREMIUM RICE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Таїланд · Nakhon Ratchasima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ФОРМАТИ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250 г органік · 24 шт у коробі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Сертифікована органіка — інша полиця, інший покупець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ПОТУЖНІСТЬ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120 000 т/рік · 30+ партнерських рисозаводів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BRC · HACCP · ISO 9001 · Halal · Organic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FOB-ДІАПАЗОН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$0,667 — однаковий на всі 4 SKU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ОБМЕЖЕННЯ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Один формат. Гнучкості за вагою немає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21040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37A169"/>
                </a:solidFill>
                <a:latin typeface="Segoe UI"/>
              </a:rPr>
              <a:t>ЦІЛЬОВИЙ FOB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Тиснути не треба: 178 грн проти Clearspring 252–446 грн — ми вже вдвічі дешевші за єдиного органічного конкурента.
Ризик — не ціна, а обсяг: органіка в Україні це мала полиця.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Профілі — за RTE_Rice_Suppliers.pptx. FOB BSCM і CM Premium — з комерційних пропозицій. FOB ONE'S у пропозиції відсутній: значення виведено з собівартості за коефіцієнтом 1,7074 і є ОЦІНКОЮ, не фактом.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ПЛАН ДІЙ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робити далі — і в якому порядку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Послідовність від найдешевшого кроку до найдорожчого рішення.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9EA6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Запит FOB у ONE'S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1 ТИЖДЕНЬ · ЗАКУПІВЛЯ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Вимагати FOB по кожному SKU окремо. Cooked White Rice 210 г беремо як є — він б'є Bibigo. Fried Rice 200 г без цієї цифри оцінити неможливо.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1572768"/>
            <a:ext cx="41148" cy="2011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9A50B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Переговори з BSCM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F9A50B"/>
                </a:solidFill>
                <a:latin typeface="Segoe UI"/>
              </a:rPr>
              <a:t>2–3 ТИЖНІ · ЗАКУПІВЛЯ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Ціль: стакан 150 г за FOB $0,480 і розрахунок під 40′ FCL. Аргумент — обсяг одразу по двох форматах: стакан 150 г і пауч 200 г.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1583" y="1572768"/>
            <a:ext cx="41148" cy="20116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D4B96"/>
                </a:solidFill>
                <a:latin typeface="Segoe U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Дизайн і локалізація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D4B96"/>
                </a:solidFill>
                <a:latin typeface="Segoe UI"/>
              </a:rPr>
              <a:t>3–4 ТИЖНІ · МАРКЕТИНГ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Серед 84 позицій ринку немає жодної україномовної упаковки. Локалізація — безкоштовна відмінність, яку не має жоден конкурент.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785615"/>
            <a:ext cx="41148" cy="201168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7A169"/>
                </a:solidFill>
                <a:latin typeface="Segoe U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Тест в азійському каналі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37A169"/>
                </a:solidFill>
                <a:latin typeface="Segoe UI"/>
              </a:rPr>
              <a:t>1–2 МІСЯЦІ · ПРОДАЖІ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Завести стакан 150 г у 5 фудшопів: Смак Кореї, Апетітаріум, Gurmissimo, OMG! Asia, Скарби Азії. Там уже стоять Ottogi і Henan.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4256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4256" y="3785615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9EA6"/>
                </a:solidFill>
                <a:latin typeface="Segoe U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Зібрати оборотність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ПАРАЛЕЛЬНО З КРОКОМ 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Продажі поштучно за SKU і тижнями. Без цих даних мережа не заводить нову імпортну категорію — це єдиний аргумент, який працює.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1583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01583" y="3785615"/>
            <a:ext cx="41148" cy="20116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94F7C"/>
                </a:solidFill>
                <a:latin typeface="Segoe U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Розмова з «Сільпо»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C94F7C"/>
                </a:solidFill>
                <a:latin typeface="Segoe UI"/>
              </a:rPr>
              <a:t>ПІСЛЯ КРОКУ 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Заходити зі стаканом і паучем 200 г за 129 грн, а не з паучем 240 г за 157 грн. Ben's Original за 90 грн виграє прямий ціновий бій.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943600"/>
            <a:ext cx="10789920" cy="548640"/>
          </a:xfrm>
          <a:prstGeom prst="roundRect">
            <a:avLst>
              <a:gd name="adj" fmla="val 5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5943600"/>
            <a:ext cx="41148" cy="54864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6053328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ГОЛОВНЕ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74519" y="603504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Вхід у мережу — не перший крок, а п'ятий. Спочатку азійський канал і цифри оборотності, і тільки потім розмова про полицю «Сільпо».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583680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Eurostat Comext (CN 1904 90 10), 17 мереж zakaz.ua, «Сільпо», Prom, Rozetka, MAUDAU, спеціалізовані фудшопи — 22–23.09.2026 · RICE_PRICING_Slelf_.xlsx · RTE_Rice_Suppliers.pptx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4552</Words>
  <Application>Microsoft Office PowerPoint</Application>
  <PresentationFormat>Широкий екран</PresentationFormat>
  <Paragraphs>932</Paragraphs>
  <Slides>19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19</vt:i4>
      </vt:variant>
    </vt:vector>
  </HeadingPairs>
  <TitlesOfParts>
    <vt:vector size="23" baseType="lpstr">
      <vt:lpstr>Arial</vt:lpstr>
      <vt:lpstr>Calibri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Чаплигін lлля</cp:lastModifiedBy>
  <cp:revision>2</cp:revision>
  <dcterms:created xsi:type="dcterms:W3CDTF">2013-01-27T09:14:16Z</dcterms:created>
  <dcterms:modified xsi:type="dcterms:W3CDTF">2026-09-23T11:30:11Z</dcterms:modified>
  <cp:category/>
</cp:coreProperties>
</file>