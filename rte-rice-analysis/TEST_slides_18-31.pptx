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СЕГМЕНТ 4 · СУБЛІМАЦІЯ   ·   ДОЙПАК   ·   ІМПОРТНИЙ СУБЛІМАТ · 4 БРЕНДИ, 12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Дойпак 110–250 г — Німеччина, США, Нідерланди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Рис-страви у дойпаку: залити окропом на 8–10 хвилин.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10698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ФОРМАТ: ДОЙПАК   ·   Сушіння виморожуванням   ·   Окріп, мінімальна вага   ·   привід: Похід і армія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4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22" y="2011679"/>
            <a:ext cx="442488" cy="5488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125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275–515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5821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29829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14_2.52_3.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302" y="2011679"/>
            <a:ext cx="441916" cy="548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4693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125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4693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295–515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4693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64715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8723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14_4.24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770" y="2011679"/>
            <a:ext cx="428767" cy="5488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3587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3587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3587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3587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3609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27617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14_5.97_3.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2658" y="2011679"/>
            <a:ext cx="452778" cy="54882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2481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2481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125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2481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515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2481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2502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26510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14_7.69_3.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983" y="2011679"/>
            <a:ext cx="441916" cy="54882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81374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1374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250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1374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702–811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1374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61396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25404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14_9.42_3.0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2451" y="2011679"/>
            <a:ext cx="428767" cy="54882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0268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0268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250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0268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811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0268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60290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224298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s14_11.14_3.0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1345" y="2011679"/>
            <a:ext cx="428767" cy="5488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9162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Nasi Goreng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9162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TRAVELLUNCH  ·  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9162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889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9162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0936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14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22" y="3794760"/>
            <a:ext cx="442488" cy="54882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Риба з рисом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TREK'N EAT  ·  МАСА Н/Д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269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65821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229829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14_2.52_3.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302" y="3794760"/>
            <a:ext cx="441916" cy="5488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4693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TREK'N EAT  ·  МАСА Н/Д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4693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715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4693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64715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28723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s14_4.24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770" y="3794760"/>
            <a:ext cx="428767" cy="54882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3587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3587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MOUNTAIN HOUSE  ·  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3587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3587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63609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27617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s14_5.97_5.4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936" y="3794760"/>
            <a:ext cx="488223" cy="54882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2481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Chicken Fried Rice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2481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MOUNTAIN HOUSE  ·  133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2481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2481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962502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26510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s14_7.69_3.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983" y="3794760"/>
            <a:ext cx="441916" cy="54882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81374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81374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FOOD  ·  146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81374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492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81374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6928" y="541324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6928" y="5413248"/>
            <a:ext cx="45720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1248" y="551383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5D4B96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" y="569671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D5DBEA"/>
                </a:solidFill>
                <a:latin typeface="Segoe UI"/>
              </a:rPr>
              <a:t>Travellunch — найширша імпортна лінійка, 7 позицій у двох вагах. Канал — туристичні й військові магазини; у продуктовий роздріб ці бренди не йдуть.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ALANTUR, Highlander, ForCamp, Гайдамака, Freeride, Kamanti, 110вольт — 22–23.09.2026.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СЕГМЕНТ 4 · СУБЛІМАЦІЯ   ·   ПАУЧ + ДОЙПАК   ·   ДВІ ТЕХНОЛОГІЇ В ОДНОМУ БРЕНДІ · 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Adventure Menu — пауч 400 г і дойпак 110 г, SubliMate — дойпак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Єдиний бренд категорії, що робить і готову страву, і сублімат.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10698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ФОРМАТ: ПАУЧ + ДОЙПАК   ·   Сушіння виморожуванням   ·   Окріп, мінімальна вага   ·   привід: Похід і армія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5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26312"/>
            <a:ext cx="1196557" cy="5195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MENU  ·  400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376–404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5821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29829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15_3.21_3.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152" y="2011679"/>
            <a:ext cx="472216" cy="548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4693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MENU  ·  400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4693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315–356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4693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64715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8723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15_5.62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335" y="2011679"/>
            <a:ext cx="455637" cy="5488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3587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3587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MENU  ·  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3587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3587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3609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27617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15_8.04_3.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9219" y="2011679"/>
            <a:ext cx="499657" cy="54882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2481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2481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MENU  ·  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2481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378–483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2481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2502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26510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15_10.45_3.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6969" y="2011679"/>
            <a:ext cx="501944" cy="54882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81374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1374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ADVENTURE MENU  ·  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1374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390–483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1374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61396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25404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15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556" y="2026312"/>
            <a:ext cx="1196557" cy="51955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0268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0268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SUBLIMATE  ·  140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0268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309–310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0268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60290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224298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s15_3.21_5.4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0718" y="2011679"/>
            <a:ext cx="670021" cy="5488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9162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9162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SUBLIMATE  ·  110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9162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290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9162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0936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15_5.62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548" y="3794760"/>
            <a:ext cx="455637" cy="54882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SUBLIMATE  ·  120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370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41324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6928" y="5413248"/>
            <a:ext cx="45720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" y="551383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5D4B96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" y="569671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315–404 грн за упаковку. Продається лише в туристичних магазинах, хоча технологічно це та сама полиця, що Ben's і Ottogi.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ALANTUR, ForCamp, MK-Sport, Freeride, Лєєр, OXO, Palmer, Highlander — 22–23.09.2026.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СЕГМЕНТ 4 · СУБЛІМАЦІЯ   ·   ДОЙПАК   ·   УКРАЇНСЬКИЙ СУБЛІМАТ · 4 БРЕНДИ, 11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Дойпак 80–100 г — усе вітчизняне виробництво категорії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Канал — туристичні та військові магазини.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41148" cy="1965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10698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ФОРМАТ: ДОЙПАК   ·   Сушіння виморожуванням   ·   Окріп, мінімальна вага   ·   привід: Похід і армія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6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75" y="2011679"/>
            <a:ext cx="646581" cy="5488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JAMES COOK  ·  90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83–138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5821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29829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16_2.52_3.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969" y="2011679"/>
            <a:ext cx="646581" cy="548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4693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4693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JAMES COOK  ·  90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4693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133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4693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64715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28723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16_4.24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004" y="2011679"/>
            <a:ext cx="652298" cy="5488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3587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3587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JAMES COOK  ·  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3587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156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3587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3609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27617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16_5.97_3.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621" y="2011679"/>
            <a:ext cx="612852" cy="54882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2481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2481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JAMES COOK  ·  90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2481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55–81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2481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2502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26510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16_7.69_3.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3258" y="2011679"/>
            <a:ext cx="489367" cy="54882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81374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1374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ЇЖА В ПОХІД  ·  85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1374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145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1374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61396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25404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16_9.42_3.0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9007" y="2011679"/>
            <a:ext cx="495655" cy="54882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80268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0268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ЇЖА В ПОХІД  ·  85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0268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130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0268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60290" y="188366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224298" y="194767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s16_11.14_3.0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5623" y="2011679"/>
            <a:ext cx="460210" cy="5488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9162" y="266108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9162" y="295369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ХАРЧІ  ·  85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9162" y="309999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120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9162" y="331945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0936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s16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75" y="3794760"/>
            <a:ext cx="646581" cy="54882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ХАРЧІ  ·  85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120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65821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229829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16_2.52_3.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969" y="3794760"/>
            <a:ext cx="646581" cy="54882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4693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4693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ХАРЧІ  ·  85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4693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4693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64715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28723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s16_4.24_3.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004" y="3794760"/>
            <a:ext cx="652298" cy="54882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3587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Плов XL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3587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ХАРЧІ  ·  100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3587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321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3587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63609" y="3666744"/>
            <a:ext cx="1470877" cy="1655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27617" y="3730752"/>
            <a:ext cx="1342861" cy="67683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s16_5.97_3.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621" y="3794760"/>
            <a:ext cx="612852" cy="54882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2481" y="4444166"/>
            <a:ext cx="12331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Плов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2481" y="4736774"/>
            <a:ext cx="123313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5D4B96"/>
                </a:solidFill>
                <a:latin typeface="Segoe UI"/>
              </a:rPr>
              <a:t>!FEST  ·  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2481" y="4883078"/>
            <a:ext cx="12331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133–140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2481" y="5102534"/>
            <a:ext cx="1233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" y="541324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5413248"/>
            <a:ext cx="45720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8" y="551383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5D4B96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" y="569671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D5DBEA"/>
                </a:solidFill>
                <a:latin typeface="Segoe UI"/>
              </a:rPr>
              <a:t>Українське виробництво в категорії є, але воно цілком у туристичному каналі: 55–321 грн за упаковку проти 269–889 грн в імпортних брендів. Готового рису в паучі під мікрохвильовку не робить ніхто.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Highlander, Activity, ВсеОпт, Klever-Shop, Terra Incognita, Висот-Нік — 22–23.09.2026.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СЕГМЕНТ 5 · СУМІЖНА ПОЛИЦЯ   ·   БЛЯШАНКА   ·   СУМІЖНА ПОЛИЦЯ · 6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Рис із м'ясом у мережах уже є — але в консервній бляшанці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Прямий конкурент за той самий привід: гаряча страва з рисом і м'ясом без готування.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41148" cy="196596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72768"/>
            <a:ext cx="10698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37A169"/>
                </a:solidFill>
                <a:latin typeface="Segoe UI"/>
              </a:rPr>
              <a:t>ФОРМАТ: БЛЯШАНКА   ·   Консерва, готова до вживання   ·   Маса — готової страви   ·   привід: Обід поза домом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5_0.79_3.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50880"/>
            <a:ext cx="1463039" cy="6352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HAPAY!  ·  340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63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96312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17_2.81_3.5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391" y="2011679"/>
            <a:ext cx="649185" cy="9136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51176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76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L'APPETIT  ·  340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120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1176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1688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17_4.83_3.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805" y="2011679"/>
            <a:ext cx="607108" cy="9136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16552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Каша рисова з яловичиною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L'APPETIT  ·  340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126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7064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17_6.85_3.5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8126" y="2011679"/>
            <a:ext cx="667218" cy="9136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1928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Плов з качки та булгуру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HAPAY!  ·  340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117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8431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92440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17_8.87_3.5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2072422"/>
            <a:ext cx="1463040" cy="7921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47304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Плов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7304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FOOD FABRIKA  ·  250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7304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7304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Восторг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93807" y="1883664"/>
            <a:ext cx="1737360" cy="2304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57815" y="1947672"/>
            <a:ext cx="1609344" cy="104168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17_10.89_3.5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3819" y="2011679"/>
            <a:ext cx="1237337" cy="9136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012680" y="3025932"/>
            <a:ext cx="1499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Плов з куркою та родзинками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3355116"/>
            <a:ext cx="149961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37A169"/>
                </a:solidFill>
                <a:latin typeface="Segoe UI"/>
              </a:rPr>
              <a:t>М'ЯСТОРІЯ  ·  350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3501420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147–160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3720876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717890"/>
                </a:solidFill>
                <a:latin typeface="Segoe UI"/>
              </a:rPr>
              <a:t>Novus · МегаМаркет · Космос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41324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5413248"/>
            <a:ext cx="45720" cy="71323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5513832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37A169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69671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D5DBEA"/>
                </a:solidFill>
                <a:latin typeface="Segoe UI"/>
              </a:rPr>
              <a:t>Ця полиця вже стоїть у мережах, коштує 63–160 грн і має українського виробника. Пауч із готовим рисом заходить у той самий гаманець, тож орієнтир ціни — не Ottogi за 255 грн, а саме вона.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API 17 мереж zakaz.ua, 23.09.2026. Охолоджену кулінарію мереж не показано.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Суцільна перевірка каталогів Ашан, Сільпо, METRO, NOVUS, МегаМаркет, Ultramarket, ЕКО маркет, Epicentr, Космос — 28.09.2026.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114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16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ЗБЕРІГАННЯ ПРИ КІМНАТНІЙ · НАШ СЕТ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16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1755648"/>
            <a:ext cx="1389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556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3" y="175564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385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1938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93852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пауч 220–250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1938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9385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90–179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3" y="193852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2121408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5341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15341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15341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1534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15341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3" y="21534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87168"/>
            <a:ext cx="41148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500884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0884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11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72491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272491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272491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 280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7249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272491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72491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2907791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939795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2939795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1" y="2939795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293979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2939795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93979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154679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15467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1" y="3154679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19" y="31546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154679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139–439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3" y="3154679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3337559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69563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3369563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1" y="3369563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33695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3369563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3" y="3369563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35844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844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35844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3584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844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366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6143" y="35844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18203"/>
            <a:ext cx="41148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9319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9319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3 SKU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1559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559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1" y="41559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19" y="41559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19" y="41559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89–92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3" y="41559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6" y="4338827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37083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 · Сільпо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43708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1" y="437083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19" y="43708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19" y="437083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59–85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3" y="437083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5857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2112" y="45857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1" y="45857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500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19" y="45857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5857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96143" y="45857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19472"/>
            <a:ext cx="41148" cy="17373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4933188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933188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0 SKU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51572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51572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1" y="51572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19" y="51572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19" y="51572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96143" y="51572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6928" y="5138928"/>
            <a:ext cx="41148" cy="10058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AMBIENT-ПОЛИЦЯ — ЦЕ 12 SKU НА ВСЮ КРАЇНУ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 із них — Ben's Original у «Сільпо». Єдина інша позиція: український лоток The Local Food по-тайськи 350 г за 207 грн у МегаМаркеті.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920" y="5138928"/>
            <a:ext cx="41148" cy="100584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5664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METRO — НУЛЬ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Cash&amp;Carry тримає лише крупу 1–10 кг під власними марками Metro Chef і Aro. Формат обслуговує HoReCa, не кінцевого покупця.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відкритий каталожний API zakaz.ua (Ашан, METRO, NOVUS, МегаМаркет, Ultramarket, ЕКО маркет, Epicentr, Космос) та sf-ecom-api.silpo.ua — 28.09.2026. Фоззі Cash&amp;Carry перевірити не вдалося: каталог закритий ботозахистом.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АЗІЙСЬКІ БРЕНДИ В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Ottogi і Bibigo вже на полиці — але тільки з локшиною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бренди продають рис у чашах по 225–356 грн, але завозять у мережі лише локшину й рамен. Полиця під них уже відкрита — рису на ній немає.</a:t>
            </a:r>
          </a:p>
        </p:txBody>
      </p:sp>
      <p:pic>
        <p:nvPicPr>
          <p:cNvPr id="10" name="Picture 9" descr="c8_asian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11064240" cy="40622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1148" cy="13716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ВХІД У МЕРЕЖУ ВЖЕ ПРОБИТИЙ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Ottogi має 14 позицій у трьох мережах, Bibigo — 6 в «Ашані». Імпортер, договір із мережею і місце на полиці під ці бренди вже 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773168"/>
            <a:ext cx="41148" cy="13716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НІХТО ПРОСТО НЕ ЗАВІЗ РИС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Ті самі Ottogi і Bibigo продають чаші з рисом по 225–356 грн — але лише в азійських фудшопах. У мережу зайшла тільки локшина.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773168"/>
            <a:ext cx="41148" cy="13716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ВІКНО МОЖЕ БУТИ КОРОТКИМ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Імпортер Ottogi додасть рисові SKU до наявного лістингу швидше, ніж ми збудуємо свій з нуля. Це аргумент заходити зараз.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Підрахунок позицій за відкритими каталогами мереж, 28.09.2026. Ураховано позиції, де назва бренду є в назві товару. «З них рис» — жодної позиції готового чи сирого рису під цими брендами в жодній із перевірених мереж.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10" name="Picture 9" descr="c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3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 · МегаМаркет · Ultramarket. Решта 14 перевірених мереж категорії не мають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2569464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569464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679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697480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708452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88950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07238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332841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584448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70448" y="3584448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6941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712463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723436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904487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087368"/>
            <a:ext cx="53949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69087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94690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946904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5056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74920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085892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526694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44982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907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66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F9A50B"/>
                </a:solidFill>
                <a:latin typeface="Segoe UI"/>
              </a:rPr>
              <a:t>ЯК РАХУВАЛИ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6422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" b="0">
                <a:solidFill>
                  <a:srgbClr val="9FA9C4"/>
                </a:solidFill>
                <a:latin typeface="Segoe UI"/>
              </a:rPr>
              <a:t>Точка продажу = окремий продавець, у якого в каталозі є хоча б одна з 84 позицій категорії. Рахували поіменно за картками товару: у кожній картці вказано продавця. Продуктовий роздріб (3): Сільпо, МегаМаркет, Ultramarket — перевірено суцільно через каталожні API 9 мереж 28.09.2026. Маркетплейси (3): MAUDAU, Rozetka, Prom. Фудшопи (20) і outdoor (40) — за зрізом 22–23.09.2026; в outdoor поіменно ідентифіковано 28 із 40, решта продають ті самі сублімати. Агрегатори zakaz.ua і GoToShop не рахуються як точки продажу: вони віддають товар чужих мереж.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332 грн проти Ottogi 255 грн.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10" name="Picture 9" descr="c3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9372600" cy="44155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41148" cy="45720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6 із 7 наших груп потрапляють у 45–180 грн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5669280"/>
            <a:ext cx="41148" cy="4572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наш мінімум 133 грн проти медіани пауча 109 грн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5669280"/>
            <a:ext cx="41148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подвійний стакан 219 грн і ONE'S 332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10" name="Picture 9" descr="c4_f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9784080" cy="342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4126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 ПІД ЦІЛЬОВУ ПОЛИЦЮ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BEN'S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98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ПАРИТЕТ BIBIGO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162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OTTOGI −22 %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199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236208"/>
            <a:ext cx="11064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полиця = FOB × 268,9 (20′ FCL)   ·   × 241,1 (40′ FCL)   ·   кожні $0,10 зниження FOB знімають 27 грн з полиці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