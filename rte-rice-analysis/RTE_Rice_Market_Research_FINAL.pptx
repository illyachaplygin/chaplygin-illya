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image" Target="../media/image37.jp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image" Target="../media/image4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50.jpg"/><Relationship Id="rId9" Type="http://schemas.openxmlformats.org/officeDocument/2006/relationships/image" Target="../media/image5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Relationship Id="rId7" Type="http://schemas.openxmlformats.org/officeDocument/2006/relationships/image" Target="../media/image5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1828800" cy="790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2402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9A50B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43984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B9C2DA"/>
                </a:solidFill>
                <a:latin typeface="Segoe UI"/>
              </a:rPr>
              <a:t>Карта ринку, сегментація категорії, аналітика форматів упаковки та зіставлення нашої фінансової моделі з полицею.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2180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22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9A50B"/>
                </a:solidFill>
                <a:latin typeface="Segoe U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32180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522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9A50B"/>
                </a:solidFill>
                <a:latin typeface="Segoe UI"/>
              </a:rPr>
              <a:t>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32180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717890"/>
                </a:solidFill>
                <a:latin typeface="Segoe UI"/>
              </a:rPr>
              <a:t>ПРОДАВЦІВ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522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9A50B"/>
                </a:solidFill>
                <a:latin typeface="Segoe UI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32180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717890"/>
                </a:solidFill>
                <a:latin typeface="Segoe UI"/>
              </a:rPr>
              <a:t>НАШИХ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5522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609344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182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609344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87–110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609344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23 бренди, 64 продавці.
У мережі — 12 позицій.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99232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80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2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дойпак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99232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80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2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250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99232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80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ФОРМАТ ПОЛИЦІ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2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19 позицій, медіана 109 грн —
найдешевший вхід у категорію.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517136"/>
            <a:ext cx="5413248" cy="164592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41148" cy="16459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37760"/>
            <a:ext cx="49560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Категорія імпортується, але майже не потрапляє в мережі: 12 позицій із 84.
2. Зростання 2025 року дає Болгарія: 44,8 → 78,3 т за рік, +75 %.
3. Формат, який працює на полиці, — пауч 220–250 г: медіана 109 грн.
4. Готового рису в Україні не виробляють: 100 % обсягу — імпорт.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517136"/>
            <a:ext cx="5413248" cy="164592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41148" cy="16459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37760"/>
            <a:ext cx="49560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чаші за 100–150 грн у мережі: Ottogi 225–356, Henan 83–156 — обидва лише онлайн.
2. Немає українського готового рису в паучі для мікрохвильовки.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 та каталожні API мереж 28.09.2026.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182 тонни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pic>
        <p:nvPicPr>
          <p:cNvPr id="10" name="Picture 9" descr="c9_im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91056"/>
            <a:ext cx="6309360" cy="29927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23760" y="1645920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88366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13648" y="1924812"/>
            <a:ext cx="2011680" cy="960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0" y="1883664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94,4 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15798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Болгарія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13648" y="2199132"/>
            <a:ext cx="1668586" cy="960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0" y="2157984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78,3 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432303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13648" y="2473451"/>
            <a:ext cx="119336" cy="960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0" y="2432303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5,6 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706623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13648" y="2747771"/>
            <a:ext cx="42620" cy="960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0" y="2706623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2,0 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2980943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13648" y="3022091"/>
            <a:ext cx="36576" cy="9601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0" y="2980943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1,0 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255263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Іспанія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13648" y="3296411"/>
            <a:ext cx="36576" cy="9601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98480" y="3255263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0,4 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529583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Франція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13648" y="3570731"/>
            <a:ext cx="36576" cy="9601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98480" y="3529583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0,4 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895343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>
                <a:solidFill>
                  <a:srgbClr val="717890"/>
                </a:solidFill>
                <a:latin typeface="Segoe UI"/>
              </a:rPr>
              <a:t>Польща і Болгарія — 95 % тонажу: це заводи ЄС, що пакують рис у пауч. Корея і Китай разом дають 3,1 т — це чаші Ottogi, Bibigo та Henan.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4988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F9A50B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4718304"/>
            <a:ext cx="2048256" cy="7863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82803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182 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120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імпорт 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33472" y="497433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16352" y="4718304"/>
            <a:ext cx="2048256" cy="7863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80944" y="482803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39 млн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80944" y="5120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2896" y="497433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65776" y="4718304"/>
            <a:ext cx="2048256" cy="7863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30368" y="482803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× 2,2–2,8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30368" y="5120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мито, ПДВ, маржа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497433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0" y="4718304"/>
            <a:ext cx="2048256" cy="7863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79792" y="482803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87–110 млн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79792" y="5120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81744" y="497433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64624" y="4718304"/>
            <a:ext cx="2048256" cy="7863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29215" y="482803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≈ 830 тис.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29215" y="5120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650992"/>
            <a:ext cx="11064240" cy="45720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5650992"/>
            <a:ext cx="41148" cy="4572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" y="5733288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F9A50B"/>
                </a:solidFill>
                <a:latin typeface="Segoe UI"/>
              </a:rPr>
              <a:t>ПЕРЕВІРКА З ІНШОГО БОКУ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572414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303A5D"/>
                </a:solidFill>
                <a:latin typeface="Segoe UI"/>
              </a:rPr>
              <a:t>830 тис. упаковок × 110 грн медіани = 91 млн грн. Два методи сходяться.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DS-045409, CN 1904 90 10, експорт ЄС→Україна 2019–2025; UN Comtrade; курс НБУ.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23 бренди, чотири технології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609344"/>
            <a:ext cx="2615184" cy="3931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09344"/>
            <a:ext cx="2615184" cy="2743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5963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011680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>
                <a:solidFill>
                  <a:srgbClr val="C4820A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267712"/>
            <a:ext cx="22128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218688"/>
            <a:ext cx="2212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" y="3749039"/>
            <a:ext cx="22128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3858768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МЕДІАНА ЗА УПАКОВКУ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041648"/>
            <a:ext cx="22128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4820A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443984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608576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303A5D"/>
                </a:solidFill>
                <a:latin typeface="Segoe UI"/>
              </a:rPr>
              <a:t>45 – 446 грн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55848" y="1609344"/>
            <a:ext cx="2615184" cy="3931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55848" y="1609344"/>
            <a:ext cx="2615184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5848" y="165963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2011680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>
                <a:solidFill>
                  <a:srgbClr val="1E9EA6"/>
                </a:solidFill>
                <a:latin typeface="Segoe UI"/>
              </a:rPr>
              <a:t>12 позицій · 3 брендів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6" y="2267712"/>
            <a:ext cx="22128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7016" y="3218688"/>
            <a:ext cx="2212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57016" y="3749039"/>
            <a:ext cx="22128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7016" y="3858768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МЕДІАНА ЗА УПАКОВКУ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7016" y="4041648"/>
            <a:ext cx="22128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138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7016" y="4443984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6" y="4608576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303A5D"/>
                </a:solidFill>
                <a:latin typeface="Segoe UI"/>
              </a:rPr>
              <a:t>83 – 501 грн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1609344"/>
            <a:ext cx="2615184" cy="3931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44768" y="1609344"/>
            <a:ext cx="2615184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65963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2011680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>
                <a:solidFill>
                  <a:srgbClr val="C94F7C"/>
                </a:solidFill>
                <a:latin typeface="Segoe UI"/>
              </a:rPr>
              <a:t>14 позицій · 4 брендів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2267712"/>
            <a:ext cx="22128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3218688"/>
            <a:ext cx="2212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45936" y="3749039"/>
            <a:ext cx="22128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5936" y="3858768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МЕДІАНА ЗА УПАКОВКУ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5936" y="4041648"/>
            <a:ext cx="22128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4443984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5936" y="4608576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303A5D"/>
                </a:solidFill>
                <a:latin typeface="Segoe UI"/>
              </a:rPr>
              <a:t>380 – 1 190 грн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33687" y="1609344"/>
            <a:ext cx="2615184" cy="3931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33687" y="1609344"/>
            <a:ext cx="2615184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33687" y="165963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СУБЛІМАЦІЯ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34855" y="2011680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>
                <a:solidFill>
                  <a:srgbClr val="5D4B96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34855" y="2267712"/>
            <a:ext cx="22128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34855" y="3218688"/>
            <a:ext cx="2212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34855" y="3749039"/>
            <a:ext cx="22128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4855" y="3858768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МЕДІАНА ЗА УПАКОВКУ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4855" y="4041648"/>
            <a:ext cx="22128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302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4855" y="4443984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4855" y="4608576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303A5D"/>
                </a:solidFill>
                <a:latin typeface="Segoe UI"/>
              </a:rPr>
              <a:t>55 – 889 грн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650992"/>
            <a:ext cx="11064240" cy="4572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5650992"/>
            <a:ext cx="41148" cy="4572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" y="5733288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3240" y="5724144"/>
            <a:ext cx="8321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303A5D"/>
                </a:solidFill>
                <a:latin typeface="Segoe UI"/>
              </a:rPr>
              <a:t>Ben's Original — 13 позицій, єдиний бренд у мережі. Ottogi і Henan — 18 азійських чаш. Українських позицій 16, але жодної в паучі.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17 мереж на zakaz.ua, «Сільпо», Prom, MAUDAU, Rozetka, спеціалізовані магазини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1 і 2: готовий рис і рис під окріп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два сегменти, які конкурують із нами напряму.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Мікрохвильовка 60–90 с. Маса — готової страви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45–179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від Mars. Мікрохвильовка 90 с. Єдиний у мережевому роздрібі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94–96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для військторгу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350 г. Найдешевший грам категорії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135–189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Корейський лоток білого рису. Розігрів 90 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4436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294436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294436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3631" y="294436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5" y="294436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225–356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59" y="294436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Корейська чаша з м'ясом і соусом. Розігрів 2 хв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294436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13639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16839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76272" y="316839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4368" y="316839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3631" y="316839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34255" y="316839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252–446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59" y="316839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Органічний пауч з ЄС. Найдорожчий пауч ринку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16839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39242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76272" y="339242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4368" y="339242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13631" y="339242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34255" y="339242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315–483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52159" y="339242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Реторт 400 г + сублімат 110 г. Два формати в одному бренді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339242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3762756"/>
            <a:ext cx="10789920" cy="2148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232" y="3794760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0" y="3799332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Окріп 5–10 хв. Маса — сухого продукту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83–156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 сухого рису. Залити окропом на 8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3776" y="4247388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Іспанський інстант-рис у чаші 84 г.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Китайський рис у пакеті під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упаковку, без оптових порогів. Зріз 22–23.09.2026. Adventure Menu має дві технології: реторт 400 г (сегмент 1) і сублімат 110 г (сегмент 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3 і 4: саморозігрів і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два сегменти з нами не конкурують: інший привід споживання і інший канал. Показані, щоб було видно всю категорію.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Хімічний нагрівач 15 хв. Без техніки й окропу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380–1190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 з хімічним нагрівачем. Готується без техніки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чаша-саморозігрів. Найдорожча чаша ринку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3090672"/>
            <a:ext cx="10789920" cy="2148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122676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3127248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Сушіння виморожуванням. Похід і армія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38328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76272" y="338328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44368" y="338328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13631" y="338328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34255" y="338328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83–321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59" y="338328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 для туризму й армії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38328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575304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60730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76272" y="360730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44368" y="360730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3631" y="360730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34255" y="360730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55–156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2159" y="360730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сублімат. Найширша вітчизняна лінійка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01200" y="360730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3133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76272" y="383133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44368" y="383133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13631" y="383133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34255" y="383133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133–140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52159" y="383133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львівський бренд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01200" y="383133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023360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130–145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власний магазин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290–370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93776" y="447141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269–715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 для туризму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72744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76272" y="472744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44368" y="472744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13631" y="472744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34255" y="472744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2159" y="472744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Нідерландський сублімат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01200" y="472744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91947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95147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76272" y="495147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44368" y="495147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13631" y="495147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34255" y="495147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275–889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52159" y="495147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сублімат. Найширша імпортна лінійка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01200" y="495147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517550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76272" y="517550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44368" y="517550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13631" y="517550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34255" y="517550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852159" y="517550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Американський сублімат. Найдорожчий грам категорії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01200" y="517550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упаковку. Trek'n Eat: маса на картках продавців не вказана. Зріз 22–23.09.2026.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10" name="Picture 9" descr="c1_form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10" name="Picture 9" descr="c6_fmt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26464"/>
            <a:ext cx="11064240" cy="34117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ЧАША ПРАЦЮЄ СКРІЗЬ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84–320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Єдиний формат, присутній у шести
вагових смугах із семи.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Вага — за картками продавців; для сухих продуктів це маса до заливання.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10" name="Picture 9" descr="c7_comb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Медіана 129 грн.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медіана 90 грн —
найнижчий цінник категорії.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pic>
        <p:nvPicPr>
          <p:cNvPr id="10" name="Picture 9" descr="c10_br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4716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Зріз 22–23.09.2026.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КАРТА СЕГМЕНТІВ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До якого сегмента належить кожен слайд з брендами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Наступні слайди дослідження — картки брендів. Ось що на них, за сегментом і форматом.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803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ЩО НА СЛАЙДІ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2" y="157276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42048" y="1572768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1572768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8128" y="1572768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2880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Ben's Original · 13 позицій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832" y="1810512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1965960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Мікрохвильовка 60–90 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42048" y="1856231"/>
            <a:ext cx="420623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1867204"/>
            <a:ext cx="42062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9408" y="184708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8128" y="184708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45–179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776" y="2121408"/>
            <a:ext cx="10936224" cy="3657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19456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Ottogi · 10 позицій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2176272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2" y="2331720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Мікрохвильовка 60–90 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42048" y="2221991"/>
            <a:ext cx="420623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2232964"/>
            <a:ext cx="42062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9408" y="221284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217–320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8128" y="221284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225–356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56032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Henan · 8 позицій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2" y="2542032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0832" y="2697479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Окріп, 5–10 хв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42048" y="2587751"/>
            <a:ext cx="420623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42048" y="2598724"/>
            <a:ext cx="42062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9408" y="257860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144 і 174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8128" y="257860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83–156 грн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852927"/>
            <a:ext cx="10936224" cy="3657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926079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Bibigo, Clearspring, Portion, Маркел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70832" y="2907791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70832" y="3063239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Мікрохвильовка 60–90 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42048" y="2953511"/>
            <a:ext cx="77266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42048" y="2964484"/>
            <a:ext cx="7726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ЧАША + 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9408" y="294436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210–350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68128" y="29443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94–446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291839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Haidilao · 10 позицій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70832" y="3273551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70832" y="3428999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Хімічний нагрівач, 15 хв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42048" y="3319271"/>
            <a:ext cx="571500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3330244"/>
            <a:ext cx="571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79408" y="3310127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165–360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68128" y="3310127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380–1 190 грн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3776" y="3584447"/>
            <a:ext cx="10936224" cy="3657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657599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Mo Xiao Xian, Zihaiguo, Rongcheng Haoji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0832" y="3639311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70832" y="3794759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Хімічний нагрівач, 15 хв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42048" y="3685031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42048" y="3696004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ЧАША + КОРОБКА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79408" y="3675887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275–440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68128" y="3675887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735–931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023359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Travellunch, Trek'n Eat, Mountain House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0832" y="4005071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0832" y="4160520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Сушіння виморожуванням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242048" y="4050791"/>
            <a:ext cx="521208" cy="182880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42048" y="4061764"/>
            <a:ext cx="5212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79408" y="4041647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110–250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68128" y="4041647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269–889 грн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4315968"/>
            <a:ext cx="10936224" cy="3657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438912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Adventure Menu, SubliMate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70832" y="4370831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70832" y="4526280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Сушіння виморожуванням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42048" y="4416552"/>
            <a:ext cx="873252" cy="182880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42048" y="4427524"/>
            <a:ext cx="8732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ПАУЧ + ДОЙПАК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79408" y="4407407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110–400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68128" y="4407407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290–483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75488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70832" y="4736592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70832" y="4892040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Сушіння виморожуванням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242048" y="4782312"/>
            <a:ext cx="521208" cy="182880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42048" y="4793284"/>
            <a:ext cx="5212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79408" y="477316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80–100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47731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55–321 грн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3776" y="5047488"/>
            <a:ext cx="10936224" cy="3657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512064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Суміжна полиця · консерва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70832" y="5102352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37A169"/>
                </a:solidFill>
                <a:latin typeface="Segoe UI"/>
              </a:rPr>
              <a:t>СЕГМЕНТ 5 · СУМІЖНА ПОЛИЦЯ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70832" y="5257800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Консерва, готова до вживання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42048" y="5148072"/>
            <a:ext cx="621792" cy="18288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242048" y="515904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БЛЯШАНКА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513892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250–350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68128" y="51389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63–160 грн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6928" y="5614416"/>
            <a:ext cx="11064240" cy="5486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14416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69864"/>
            <a:ext cx="10607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ЯК ЧИТАТИ ДАЛІ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6035040"/>
            <a:ext cx="10607040" cy="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Сегменти 1 і 2 — наш конкурентний сет: той самий привід споживання і той самий канал. Сегменти 3 і 4 з нами не конкурують. Сегмент 5 — консерва, що вже стоїть у мережі.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Сегментація за технологією приготування: вона визначає і ціну, і канал продажу. Зріз 22–23.09.2026.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1 · ГОТОВИЙ РИС ДО РОЗІГРІВУ   ·   ПАУЧ   ·   BEN'S ORIGINAL · 13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Пауч 220–250 г — єдиний бренд на мережевій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Найглибша лінійка сегмента і єдина, що дійшла до продуктового роздрібу.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ФОРМАТ: ПАУЧ   ·   Мікрохвильовка 60–90 с   ·   Маса — готової страви   ·   привід: Обід поза домом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08_0.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012" y="2011679"/>
            <a:ext cx="390709" cy="54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Long Grain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250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45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08_2.5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5252" y="2011679"/>
            <a:ext cx="392016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Basmati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08_4.2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5452" y="2011679"/>
            <a:ext cx="389402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Mediterran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90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08_5.9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3693" y="2011679"/>
            <a:ext cx="390709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Risi Bisi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250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90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08_7.6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993" y="2011679"/>
            <a:ext cx="397896" cy="54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Indian Curry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250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90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08_9.4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034" y="2011679"/>
            <a:ext cx="379602" cy="54882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08_11.1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7760" y="2011679"/>
            <a:ext cx="395936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Basmati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100–144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08_0.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358" y="3794760"/>
            <a:ext cx="392016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Mexikanisch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165821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29829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08_2.5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5252" y="3794760"/>
            <a:ext cx="392016" cy="54882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4693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Curryreis Indien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4693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144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4693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764715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28723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s08_4.2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6559" y="3794760"/>
            <a:ext cx="367188" cy="54882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3587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Для боулів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3587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3587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149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3587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63609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427617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s08_5.9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3693" y="3794760"/>
            <a:ext cx="390709" cy="54882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2481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Sweet Chili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2481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2481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2481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962502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7026510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s08_7.6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993" y="3794760"/>
            <a:ext cx="397896" cy="54882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81374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Bio Basmati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81374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240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81374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81374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561396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8625404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s08_9.4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034" y="3794760"/>
            <a:ext cx="379602" cy="548822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80268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Long Grain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80268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80268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80268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C4820A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Ben's Original тримає всю мережеву полицю категорії: 11 позицій у «Сільпо» плюс 2 в Edison Lee. Ціновий діапазон 45–179 грн за упаковку — це і є вікно, у яке має вписатися будь-який новий пауч.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каталог «Сільпо» (11 позицій), MAUDAU, Edison Lee — 22.09.2026.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1 · ГОТОВИЙ РИС ДО РОЗІГРІВУ   ·   ЧАША   ·   OTTOGI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Чаша 217–320 г — корейський лідер азійського каналу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Готова страва з наповнювачем, розігрів у мікрохвильовці. Продається у чотирьох продавців.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ФОРМАТ: ЧАША   ·   Мікрохвильовка 60–90 с   ·   Маса — готової страви   ·   привід: Обід поза домом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026312"/>
            <a:ext cx="1196557" cy="519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Бульгогі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320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252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09_3.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221" y="2011679"/>
            <a:ext cx="618079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315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09_5.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887" y="2011679"/>
            <a:ext cx="628532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Свинина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310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09_8.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636" y="2011679"/>
            <a:ext cx="548822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310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255–260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09_10.4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1388" y="2011679"/>
            <a:ext cx="633106" cy="54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280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255–289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8556" y="2026312"/>
            <a:ext cx="1196557" cy="51955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247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225–320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09_3.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6689" y="2011679"/>
            <a:ext cx="618079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Пібімпаб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269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252–334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09_5.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813" y="3794760"/>
            <a:ext cx="633106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269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334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165821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29829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09_8.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6849" y="3794760"/>
            <a:ext cx="548822" cy="54882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4693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320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4693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356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4693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764715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28723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s09_10.4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3601" y="3794760"/>
            <a:ext cx="633106" cy="54882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3587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3587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217,5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3587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3587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1E9EA6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Найдорожча упаковка сегмента розігріву: 225–356 грн. Це прямий конкурент нашого стакана — і саме тут у нас найбільший ціновий запас.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Pulsar, Апетітаріум, Gurmissimo, Тайякі Март — 22.09.2026. Ціни роздрібні.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2 · СУХИЙ РИС ПІД ОКРІП   ·   ЧАША   ·   HENAN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Чаша 144 і 174 г — найдешевша чаша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Маса — сухого продукту до заливання.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ФОРМАТ: ЧАША   ·   Окріп, 5–10 хв   ·   Маса — сухого продукту   ·   привід: Офіс і гуртожиток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026312"/>
            <a:ext cx="1196557" cy="519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174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129–156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0_3.8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148" y="2011679"/>
            <a:ext cx="578224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174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140–156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0_6.8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328" y="2011679"/>
            <a:ext cx="573650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174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118–156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0_9.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2349" y="2011679"/>
            <a:ext cx="553396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174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118–156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662" y="2026312"/>
            <a:ext cx="1196557" cy="51955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174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112–150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10_3.8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9030" y="2011679"/>
            <a:ext cx="575610" cy="54882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Гостра курка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144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10_6.8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8903" y="2011679"/>
            <a:ext cx="573650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144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135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10_9.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337" y="3794760"/>
            <a:ext cx="750057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144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152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1E9EA6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83–156 грн за упаковку. Дешевше за Ottogi вдвічі, але це не готова страва, а концентрат — покупець доплачує за зручність, не за вагу.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MAUDAU, Апетітаріум, Gurmissimo, OMG! Asia, СНЕКІС, DCM — 22–23.09.2026.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1 · ГОТОВИЙ РИС ДО РОЗІГРІВУ   ·   ЧАША + ПАУЧ   ·   ПООДИНОКІ БРЕНДИ · 4 БРЕНДИ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Bibigo — чаша, Clearspring, Portion і Маркел 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Той самий сегмент розігріву в двох форматах, різні країни й канали.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ФОРМАТ: ЧАША + ПАУЧ   ·   Мікрохвильовка 60–90 с   ·   Маса — готової страви   ·   привід: Обід поза домом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150880"/>
            <a:ext cx="1463039" cy="63526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Білий рис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BIBIGO  ·  210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135–189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32304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96312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1_2.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002" y="2011680"/>
            <a:ext cx="763963" cy="9136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51176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Brown &amp; Wild Rice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CLEARSPRING  ·  250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1176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252–446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61688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1688" y="2340498"/>
            <a:ext cx="16093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30" b="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2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PORTION  ·  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63056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7064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1_6.8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9419" y="2011679"/>
            <a:ext cx="724633" cy="9136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81928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МАРКЕЛ  ·  350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1928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94–96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1928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28431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92440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1_8.8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0277" y="2011679"/>
            <a:ext cx="913668" cy="9136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47304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47304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GALLINA BLANCA  ·  84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7304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7304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93807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957815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11_10.8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5653" y="2011679"/>
            <a:ext cx="913668" cy="9136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012680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GALLINA BLANCA  ·  84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2680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2680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1E9EA6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грн, найдешевша упаковка сегмента. Bibigo — той самий товар у трьох каналах із розкидом 40 %. Gallina Blanca праворуч — інший сегмент: 84 г сухого рису в чаші під окріп.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Смак Кореї, Rozetka, Prom, MAUDAU, СУХПАЙ, UPcompany — 22–23.09.2026. Фото Portion: Rozetka не віддає зображення картки.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3 · САМОРОЗІГРІВ   ·   КОРОБКА   ·   HAIDILAO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Коробка 165–360 г — лідер саморозігріву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Хімічний нагрівач у коробці: готується без мікрохвильовки й окропу.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ФОРМАТ: КОРОБКА   ·   Хімічний нагрівач, 15 хв   ·   Без техніки й окропу   ·   привід: Дорога, подарунок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026312"/>
            <a:ext cx="1196557" cy="519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Stewed Chicken*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165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380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2_3.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849" y="2011679"/>
            <a:ext cx="548822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272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770–799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2_5.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5742" y="2011679"/>
            <a:ext cx="548822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272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799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2_8.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043" y="2011679"/>
            <a:ext cx="556009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272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799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2_10.4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3530" y="2011679"/>
            <a:ext cx="548822" cy="54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187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680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8556" y="2026312"/>
            <a:ext cx="1196557" cy="51955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187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650–680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12_3.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1317" y="2011679"/>
            <a:ext cx="548822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650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12_5.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214" y="3794760"/>
            <a:ext cx="574303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181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650–660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165821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29829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12_8.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3255" y="3794760"/>
            <a:ext cx="556009" cy="54882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4693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175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4693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650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4693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764715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28723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s12_10.4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5742" y="3794760"/>
            <a:ext cx="548822" cy="54882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3587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3587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360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3587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1 190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3587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C94F7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380–1 190 грн за упаковку — найдорожчий формат ринку. З нами не конкурує: інший привід споживання й інший канал.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Daruy, Tactico, Desna, Sweet Svitt, «Шериф» — 22–23.09.2026.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3 · САМОРОЗІГРІВ   ·   ЧАША + КОРОБКА   ·   КИТАЙСЬКИЙ САМОРОЗІГРІВ · 3 БРЕНДИ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Mo Xiao Xian — чаша, Zihaiguo і Rongcheng Haoji — коробка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бренди в одному магазині. Qiaoshanmei праворуч — інший сегмент: рис у пакеті під окріп.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ФОРМАТ: ЧАША + КОРОБКА   ·   Хімічний нагрівач, 15 хв   ·   Без техніки й окропу   ·   привід: Дорога, подарунок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150880"/>
            <a:ext cx="1463039" cy="63526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MO XIAO XIAN  ·  275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32304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96312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3_2.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149" y="2011679"/>
            <a:ext cx="913668" cy="9136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51176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MO XIAO XIAN  ·  275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1176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61688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3_4.8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525" y="2011679"/>
            <a:ext cx="913668" cy="9136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ZIHAIGUO  ·  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63056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7064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3_6.8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901" y="2011679"/>
            <a:ext cx="913668" cy="9136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81928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RONGCHENG HAOJI  ·  440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1928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1928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28431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92440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3_8.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277" y="2011679"/>
            <a:ext cx="913668" cy="9136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47304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47304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QIAOSHANMEI  ·  146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7304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7304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93807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957815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13_10.8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5653" y="2011679"/>
            <a:ext cx="913668" cy="9136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012680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QIAOSHANMEI  ·  146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2680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2680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C94F7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Zihaiguo і Rongcheng Haoji дають удвічі більшу порцію за ті самі гроші, що Haidilao. Mo Xiao Xian — 931 грн за 275 г, найдорожча чаша ринку.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«Скарби Азії» (Prom), 23.09.2026. Бренди визначено за написами на упаковці.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4 · СУБЛІМАЦІЯ   ·   ДОЙПАК   ·   ІМПОРТНИЙ СУБЛІМАТ · 4 БРЕНДИ, 12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Дойпак 110–250 г — Німеччина, США, Нідерланди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Рис-страви у дойпаку: залити окропом на 8–10 хвилин.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ФОРМАТ: ДОЙПАК   ·   Сушіння виморожуванням   ·   Окріп, мінімальна вага   ·   привід: Похід і армія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14_0.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122" y="2011679"/>
            <a:ext cx="442488" cy="54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125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275–515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4_2.5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0302" y="2011679"/>
            <a:ext cx="441916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125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295–515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4_4.2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5770" y="2011679"/>
            <a:ext cx="428767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567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4_5.9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2658" y="2011679"/>
            <a:ext cx="452778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125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515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4_7.6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6983" y="2011679"/>
            <a:ext cx="441916" cy="54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250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702–811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14_9.4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2451" y="2011679"/>
            <a:ext cx="428767" cy="54882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250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811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14_11.1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1345" y="2011679"/>
            <a:ext cx="428767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Nasi Goreng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889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14_0.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122" y="3794760"/>
            <a:ext cx="442488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Риба з рисом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TREK'N EAT  ·  МАСА 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269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165821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29829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14_2.5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0302" y="3794760"/>
            <a:ext cx="441916" cy="54882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4693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TREK'N EAT  ·  МАСА Н/Д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4693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715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4693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764715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28723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s14_4.2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5770" y="3794760"/>
            <a:ext cx="428767" cy="54882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3587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3587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MOUNTAIN HOUSE  ·  110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3587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3587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63609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427617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s14_5.9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4936" y="3794760"/>
            <a:ext cx="488223" cy="54882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2481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Chicken Fried Rice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2481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MOUNTAIN HOUSE  ·  133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2481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2481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962502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7026510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s14_7.6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6983" y="3794760"/>
            <a:ext cx="441916" cy="54882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81374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81374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ADVENTURE FOOD  ·  146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81374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492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81374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5D4B96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Travellunch — найширша імпортна лінійка, 7 позицій у двох вагах. Канал — туристичні й військові магазини; у продуктовий роздріб ці бренди не йдуть.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ALANTUR, Highlander, ForCamp, Гайдамака, Freeride, Kamanti, 110вольт — 22–23.09.2026.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4 · СУБЛІМАЦІЯ   ·   ПАУЧ + ДОЙПАК   ·   ДВІ ТЕХНОЛОГІЇ В ОДНОМУ БРЕНДІ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Adventure Menu — пауч 400 г і дойпак 110 г, SubliMate — дойпак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Єдиний бренд категорії, що робить і готову страву, і сублімат.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ФОРМАТ: ПАУЧ + ДОЙПАК   ·   Сушіння виморожуванням   ·   Окріп, мінімальна вага   ·   привід: Похід і армія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026312"/>
            <a:ext cx="1196557" cy="519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ADVENTURE MENU  ·  400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376–404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5_3.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5152" y="2011679"/>
            <a:ext cx="472216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ADVENTURE MENU  ·  400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315–356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5_5.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335" y="2011679"/>
            <a:ext cx="455637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ADVENTURE MENU  ·  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336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5_8.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9219" y="2011679"/>
            <a:ext cx="499657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ADVENTURE MENU  ·  110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378–483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5_10.4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6969" y="2011679"/>
            <a:ext cx="501944" cy="54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ADVENTURE MENU  ·  110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390–483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8556" y="2026312"/>
            <a:ext cx="1196557" cy="51955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SUBLIMATE  ·  140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309–310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15_3.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718" y="2011679"/>
            <a:ext cx="670021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SUBLIMATE  ·  110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290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15_5.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548" y="3794760"/>
            <a:ext cx="455637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SUBLIMATE  ·  120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370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5D4B96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315–404 грн за упаковку. Продається лише в туристичних магазинах, хоча технологічно це та сама полиця, що Ben's і Ottogi.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ALANTUR, ForCamp, MK-Sport, Freeride, Лєєр, OXO, Palmer, Highlander — 22–23.09.2026.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4 · СУБЛІМАЦІЯ   ·   ДОЙПАК   ·   УКРАЇНСЬКИЙ СУБЛІМАТ · 4 БРЕНДИ,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Дойпак 80–100 г — усе вітчизняне виробництво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Канал — туристичні та військові магазини.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ФОРМАТ: ДОЙПАК   ·   Сушіння виморожуванням   ·   Окріп, мінімальна вага   ·   привід: Похід і армія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16_0.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075" y="2011679"/>
            <a:ext cx="646581" cy="54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JAMES COOK  ·  90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83–138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6_2.5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7969" y="2011679"/>
            <a:ext cx="646581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JAMES COOK  ·  90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133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6_4.2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4004" y="2011679"/>
            <a:ext cx="652298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JAMES COOK  ·  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6_5.9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2621" y="2011679"/>
            <a:ext cx="612852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JAMES COOK  ·  90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55–81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6_7.6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3258" y="2011679"/>
            <a:ext cx="489367" cy="54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ЇЖА В ПОХІД  ·  85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145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16_9.4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9007" y="2011679"/>
            <a:ext cx="495655" cy="54882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ЇЖА В ПОХІД  ·  85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130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16_11.1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65623" y="2011679"/>
            <a:ext cx="460210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ХАРЧІ  ·  85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120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16_0.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075" y="3794760"/>
            <a:ext cx="646581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ХАРЧІ  ·  85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120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165821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29829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16_2.5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7969" y="3794760"/>
            <a:ext cx="646581" cy="54882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4693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ХАРЧІ  ·  85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4693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4693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764715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28723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s16_4.2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4004" y="3794760"/>
            <a:ext cx="652298" cy="54882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3587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Плов XL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3587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ХАРЧІ  ·  100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3587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321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3587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63609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427617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s16_5.9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2621" y="3794760"/>
            <a:ext cx="612852" cy="54882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2481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Плов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2481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!FEST  ·  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2481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133–140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2481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5D4B96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Українське виробництво в категорії є, але воно цілком у туристичному каналі: 55–321 грн за упаковку проти 269–889 грн в імпортних брендів. Готового рису в паучі під мікрохвильовку не робить ніхто.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Highlander, Activity, ВсеОпт, Klever-Shop, Terra Incognita, Висот-Нік — 22–23.09.2026.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5 · СУМІЖНА ПОЛИЦЯ   ·   БЛЯШАНКА   ·   СУМІЖНА ПОЛИЦЯ · 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Рис із м'ясом у мережах уже є — але в консервній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Прямий конкурент за той самий привід: гаряча страва з рисом і м'ясом без готування.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37A169"/>
                </a:solidFill>
                <a:latin typeface="Segoe UI"/>
              </a:rPr>
              <a:t>ФОРМАТ: БЛЯШАНКА   ·   Консерва, готова до вживання   ·   Маса — готової страви   ·   привід: Обід поза домом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150880"/>
            <a:ext cx="1463039" cy="63526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37A169"/>
                </a:solidFill>
                <a:latin typeface="Segoe UI"/>
              </a:rPr>
              <a:t>HAPAY!  ·  340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63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32304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96312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7_2.8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391" y="2011679"/>
            <a:ext cx="649185" cy="9136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51176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37A169"/>
                </a:solidFill>
                <a:latin typeface="Segoe UI"/>
              </a:rPr>
              <a:t>L'APPETIT  ·  340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1176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120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61688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7_4.8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2805" y="2011679"/>
            <a:ext cx="607108" cy="9136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37A169"/>
                </a:solidFill>
                <a:latin typeface="Segoe UI"/>
              </a:rPr>
              <a:t>L'APPETIT  ·  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126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63056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7064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7_6.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8126" y="2011679"/>
            <a:ext cx="667218" cy="9136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81928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37A169"/>
                </a:solidFill>
                <a:latin typeface="Segoe UI"/>
              </a:rPr>
              <a:t>HAPAY!  ·  340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1928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117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1928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28431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92440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7_8.8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5592" y="2072422"/>
            <a:ext cx="1463040" cy="79218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47304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47304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37A169"/>
                </a:solidFill>
                <a:latin typeface="Segoe UI"/>
              </a:rPr>
              <a:t>FOOD FABRIKA  ·  250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7304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7304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93807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957815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17_10.8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819" y="2011679"/>
            <a:ext cx="1237337" cy="9136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012680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37A169"/>
                </a:solidFill>
                <a:latin typeface="Segoe UI"/>
              </a:rPr>
              <a:t>М'ЯСТОРІЯ  ·  350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2680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147–160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2680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37A169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Ця полиця вже стоїть у мережах, коштує 63–160 грн і має українського виробника. Пауч із готовим рисом заходить у той самий гаманець, тож орієнтир ціни — не Ottogi за 255 грн, а саме вона.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API 17 мереж zakaz.ua, 23.09.2026. Охолоджену кулінарію мереж не показано.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55648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1755648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17556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1755648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6143" y="1755648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938528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1938528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193852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19385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19" y="19385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6143" y="1938528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153412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215341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1" y="2153412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21534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19" y="2153412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143" y="2153412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72491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2112" y="272491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1" y="272491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19" y="27249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19" y="272491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96143" y="272491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39795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82112" y="2939795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1" y="2939795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19" y="2939795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2939795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6143" y="2939795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154679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3154679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1" y="3154679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19" y="315467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19" y="3154679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3" y="3154679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69563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2112" y="3369563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14031" y="3369563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19" y="336956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19" y="3369563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96143" y="3369563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5844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844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031" y="35844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19" y="35844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19" y="35844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96143" y="35844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1559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559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14031" y="41559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19" y="41559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61119" y="41559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3" y="41559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37083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82112" y="437083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031" y="437083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19" y="437083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61119" y="437083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96143" y="437083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5857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2112" y="45857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4031" y="45857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19" y="45857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61119" y="45857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96143" y="45857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1572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82112" y="51572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14031" y="51572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19" y="51572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61119" y="51572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96143" y="51572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АЗІЙСЬКІ БРЕНДИ В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Ottogi і Bibigo вже на полиці — але тільки з локшиною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бренди продають рис у чашах по 225–356 грн, але завозять у мережі лише локшину й рамен. Полиця під них уже відкрита — рису на ній немає.</a:t>
            </a:r>
          </a:p>
        </p:txBody>
      </p:sp>
      <p:pic>
        <p:nvPicPr>
          <p:cNvPr id="10" name="Picture 9" descr="c8_asian_she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406229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ВХІД У МЕРЕЖУ ВЖЕ ПРОБИТИЙ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договір із мережею і місце на полиці під ці бренди вже 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10" name="Picture 9" descr="c5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181344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F9A50B"/>
                </a:solidFill>
                <a:latin typeface="Segoe UI"/>
              </a:rPr>
              <a:t>ЯК РАХУВАЛИ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64224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" b="0">
                <a:solidFill>
                  <a:srgbClr val="9FA9C4"/>
                </a:solidFill>
                <a:latin typeface="Segoe UI"/>
              </a:rPr>
              <a:t>Точка продажу = окремий продавець, у якого в каталозі є хоча б одна з 84 позицій категорії. Рахували поіменно за картками товару: у кожній картці вказано продавця. Продуктовий роздріб (3): Сільпо, МегаМаркет, Ultramarket — перевірено суцільно через каталожні API 9 мереж 28.09.2026. Маркетплейси (3): MAUDAU, Rozetka, Prom. Фудшопи (20) і outdoor (40) — за зрізом 22–23.09.2026; в outdoor поіменно ідентифіковано 28 із 40, решта продають ті самі сублімати. Агрегатори zakaz.ua і GoToShop не рахуються як точки продажу: вони віддають товар чужих мереж.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332 грн проти Ottogi 255 грн.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10" name="Picture 9" descr="c3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463040"/>
            <a:ext cx="9372600" cy="441553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5669280"/>
            <a:ext cx="3538728" cy="4572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669280"/>
            <a:ext cx="41148" cy="45720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5751576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91616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6 із 7 наших груп потрапляють у 45–180 грн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5669280"/>
            <a:ext cx="3538728" cy="4572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6" y="5669280"/>
            <a:ext cx="41148" cy="4572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5751576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591616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наш мінімум 133 грн проти медіани пауча 109 грн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3" y="5669280"/>
            <a:ext cx="3538728" cy="4572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3" y="5669280"/>
            <a:ext cx="41148" cy="4572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5751576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91616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подвійний стакан 219 грн і ONE'S 332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10" name="Picture 9" descr="c4_f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463040"/>
            <a:ext cx="9784080" cy="342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5541264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 ПІД ЦІЛЬОВУ ПОЛИЦЮ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79776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BEN'S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98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92624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05472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51775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ПАРИТЕТ BIBIGO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1775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162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18320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64624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OTTOGI −22 %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64624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199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52176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36208"/>
            <a:ext cx="11064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полиця = FOB × 268,9 (20′ FCL)   ·   × 241,1 (40′ FCL)   ·   кожні $0,10 зниження FOB знімають 27 грн з полиці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