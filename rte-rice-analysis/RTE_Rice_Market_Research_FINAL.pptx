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7" r:id="rId27"/>
    <p:sldId id="278" r:id="rId28"/>
    <p:sldId id="260" r:id="rId6"/>
    <p:sldId id="279" r:id="rId29"/>
    <p:sldId id="261" r:id="rId7"/>
    <p:sldId id="287" r:id="rId37"/>
    <p:sldId id="288" r:id="rId38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9" r:id="rId39"/>
    <p:sldId id="290" r:id="rId40"/>
    <p:sldId id="276" r:id="rId26"/>
    <p:sldId id="273" r:id="rId19"/>
    <p:sldId id="274" r:id="rId20"/>
    <p:sldId id="291" r:id="rId41"/>
    <p:sldId id="275" r:id="rId25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3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Relationship Id="rId9" Type="http://schemas.openxmlformats.org/officeDocument/2006/relationships/image" Target="../media/image6.jpg"/><Relationship Id="rId10" Type="http://schemas.openxmlformats.org/officeDocument/2006/relationships/image" Target="../media/image26.jpg"/><Relationship Id="rId11" Type="http://schemas.openxmlformats.org/officeDocument/2006/relationships/image" Target="../media/image27.jpg"/><Relationship Id="rId12" Type="http://schemas.openxmlformats.org/officeDocument/2006/relationships/image" Target="../media/image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9.jpg"/><Relationship Id="rId4" Type="http://schemas.openxmlformats.org/officeDocument/2006/relationships/image" Target="../media/image4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5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image" Target="../media/image62.jpg"/><Relationship Id="rId11" Type="http://schemas.openxmlformats.org/officeDocument/2006/relationships/image" Target="../media/image63.jpg"/><Relationship Id="rId12" Type="http://schemas.openxmlformats.org/officeDocument/2006/relationships/image" Target="../media/image64.jpg"/><Relationship Id="rId13" Type="http://schemas.openxmlformats.org/officeDocument/2006/relationships/image" Target="../media/image65.jpg"/><Relationship Id="rId14" Type="http://schemas.openxmlformats.org/officeDocument/2006/relationships/image" Target="../media/image6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7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jpg"/><Relationship Id="rId10" Type="http://schemas.openxmlformats.org/officeDocument/2006/relationships/image" Target="../media/image7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image" Target="../media/image83.jpg"/><Relationship Id="rId12" Type="http://schemas.openxmlformats.org/officeDocument/2006/relationships/image" Target="../media/image84.jpg"/><Relationship Id="rId13" Type="http://schemas.openxmlformats.org/officeDocument/2006/relationships/image" Target="../media/image8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image" Target="../media/image88.jpg"/><Relationship Id="rId6" Type="http://schemas.openxmlformats.org/officeDocument/2006/relationships/image" Target="../media/image89.jpg"/><Relationship Id="rId7" Type="http://schemas.openxmlformats.org/officeDocument/2006/relationships/image" Target="../media/image90.jpg"/><Relationship Id="rId8" Type="http://schemas.openxmlformats.org/officeDocument/2006/relationships/image" Target="../media/image9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D5DBEA"/>
                </a:solidFill>
                <a:latin typeface="Segoe UI"/>
              </a:rPr>
              <a:t>1.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імпортується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але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потрапляє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11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84 — і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всі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це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Ben's Original у «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».
2.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Зростання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2025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року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дає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Болгарія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44,8 → 78,3 т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рік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+75 %.
3.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Формат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який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реально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працює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полиці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пауч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220–250 г: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109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упаковку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найнижча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категорії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
4.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Україні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виробляють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100 %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обсягу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Segoe UI"/>
              </a:rPr>
              <a:t>Ben's Original — 13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єдиний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бренд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у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(«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B9C2DA"/>
                </a:solidFill>
                <a:latin typeface="Segoe UI"/>
              </a:rPr>
              <a:t>Медіана готового рису для розігріву (30 позицій) — 164 грн за упаковку.</a:t>
            </a:r>
          </a:p>
          <a:p>
            <a:r>
              <a:rPr sz="1000" b="0" i="0">
                <a:solidFill>
                  <a:srgbClr val="B9C2DA"/>
                </a:solidFill>
                <a:latin typeface="Segoe UI"/>
              </a:rPr>
              <a:t>У мережі продається 11 позицій із 84. Решта 73 — лише онлайн: маркетплейси, азійські фудшопи, туристичні й військові магазини.</a:t>
            </a:r>
          </a:p>
          <a:p>
            <a:r>
              <a:rPr sz="1000" b="0" i="0">
                <a:solidFill>
                  <a:srgbClr val="B9C2DA"/>
                </a:solidFill>
                <a:latin typeface="Segoe UI"/>
              </a:rPr>
              <a:t>Країни: ЄС — 31 позиція, Китай — 24, Україна — 16, Корея — 11, США — 2.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 dirty="0" err="1">
                <a:solidFill>
                  <a:srgbClr val="717890"/>
                </a:solidFill>
                <a:latin typeface="Segoe UI"/>
              </a:rPr>
              <a:t>Джерела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: 17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мереж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на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zakaz.ua, «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Сільпо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», Prom, MAUDAU,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Rozetka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спеціалізовані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магазини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BEN'S ORIGINAL · 13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220–250 г — єдиний бренд на мережевій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сегмента і єдина, що дійшла до продуктового роздрібу.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Мікрохвильовка 60–90 с   ·   Маса — готової страви   ·   привід: Обід поза домом   ·   медіана сегмента 164 грн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25856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25856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83133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83133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41324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1324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98601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98601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56792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56792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14069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14069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25856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25856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83133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83133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41324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1324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98601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98601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56792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56792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OTTOGI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217–320 г — корейський лідер азійського каналу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Готова страва з наповнювачем. Найдорожча упаковка сегмента розігріву.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Мікрохвильовка 60–90 с   ·   Маса — готової страви   ·   привід: Обід поза домом   ·   медіана сегмента 164 грн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88950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88950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09320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09320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5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306055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50975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0975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88950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88950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9320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9320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306055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06055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50975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50975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2 · СУХИЙ РИС ПІД ОКРІП   ·   HENAN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144 і 174 г — найдешевша чаша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Маса — до заливання.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Окріп, 5–10 хв   ·   Маса — сухого продукту   ·   привід: Офіс і гуртожиток   ·   медіана сегмента 138 грн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43814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3814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199632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199632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96111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6111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43814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3814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99632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99632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96111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6111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ПООДИНОКІ БРЕНДИ · 4 БРЕНДИ, 4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Bibigo, Clearspring, Portion, Маркел — по одній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Той самий сегмент розігріву, але різні країни, ваги й канали. Gallina Blanca у правій частині — інший сегмент, рис під окріп.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найдешевша упаковка сегмента.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Мікрохвильовка 60–90 с   ·   Маса — готової страви   ·   привід: Обід поза домом   ·   медіана сегмента 164 грн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61688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61688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99632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99632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37575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37575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884663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884663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3 · САМОРОЗІГРІВ   ·   HAIDILAO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165–360 г — лідер саморозігріву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коробці: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Хімічний нагрівач, 15 хв   ·   Без техніки й окропу   ·   привід: Дорога, подарунок   ·   медіана сегмента 735 грн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6656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6656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889504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889504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093208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093208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5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306055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509759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09759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76656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889504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889504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93208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93208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306055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06055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509759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509759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3 · САМОРОЗІГРІВ   ·   КИТАЙСЬКИЙ САМОРОЗІГРІВ · РЕШТА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Xian, Zihaiguo, Rongcheng Haoji — 4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три бренди в одному магазині. Qiaoshanmei у правій частині — інший сегмент: рис у пакеті під окріп, не саморозігрів.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 — удвічі більша порція, ніж у Haidilao за ті самі гроші.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Хімічний нагрівач, 15 хв   ·   Без техніки й окропу   ·   привід: Дорога, подарунок   ·   медіана сегмента 735 грн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61688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61688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99632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99632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37575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37575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884663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884663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ІМПОРТНИЙ СУБЛІМАТ · 4 БРЕНДИ, 12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Travellunch, Trek'n Eat, Mountain House, Adventure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Німеччина, США, Нідерланди. Залити окропом на 8–10 хвилин.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Сушіння виморожуванням   ·   Окріп, мінімальна вага   ·   привід: Похід і армія   ·   медіана сегмента 302 грн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98601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8601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ГОТОВА СТРАВА І СУБЛІМАТ · 2 БРЕНДИ,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і SubliMate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Adventure Menu — єдиний бренд із двома технологіями: реторт 400 г і сублімат 110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315–404 грн за упаковку: дорожче за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Сушіння виморожуванням   ·   Окріп, мінімальна вага   ·   привід: Похід і армія   ·   медіана сегмента 302 грн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76656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6656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889504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889504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93208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093208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306055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06055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509759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509759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889504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889504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9320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09320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УКРАЇНСЬКИЙ СУБЛІМАТ · 4 БРЕНДИ,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 українське виробництво категорії. Канал — outdoor- і мілітарі-рітейл.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Сушіння виморожуванням   ·   Окріп, мінімальна вага   ·   привід: Похід і армія   ·   медіана сегмента 302 грн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5 · СУМІЖНА ПОЛИЦЯ · КОНСЕРВА   ·   КОНСЕРВА НА ПОЛИЦІ · 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у мережах уже є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Прямий конкурент за той самий привід: гаряча страва з рисом і м'ясом без готування.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упаковку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1" i="0">
                <a:solidFill>
                  <a:srgbClr val="C94F7C"/>
                </a:solidFill>
                <a:latin typeface="Segoe UI"/>
              </a:rPr>
              <a:t>153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1" i="0">
                <a:solidFill>
                  <a:srgbClr val="5B6B8C"/>
                </a:solidFill>
                <a:latin typeface="Segoe UI"/>
              </a:rPr>
              <a:t>255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37A169"/>
                </a:solidFill>
                <a:latin typeface="Segoe UI"/>
              </a:rPr>
              <a:t>Готова до вживання   ·   Маса — готової страви   ·   привід: Обід поза домом   ·   медіана сегмента 119 грн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76656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6656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523744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23744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370832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370832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17920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065007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65007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12096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12096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56 продавців, чотири типи каналів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Категорія живе в онлайні: у мережі — лише Ben's Original у «Сільпо», 11 позицій.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6949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2880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847088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61104" y="1847088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4784" y="191109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487168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504" y="2487168"/>
            <a:ext cx="82296" cy="6949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" y="259689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ОНЛАЙН-СУПЕРМАРКЕТИ Й МАРКЕТПЛЕЙСИ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834639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· Henan · Bibigo · Clearspring · Portion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2615184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615184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MAUDAU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4841" y="2615184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04841" y="2615184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Rozetka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7100" y="2615184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07100" y="2615184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44784" y="2679191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3255263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3504" y="3255263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7824" y="3364991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СПЕЦІАЛІЗОВАНІ ФУДШОПИ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3602735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 · Henan · Bibigo · саморозігрів · Gallina Blanca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1104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61104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Смак Кореї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928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38928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5273" y="3383279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75273" y="3383279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19011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19011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55356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55356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33180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33180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1004" y="3383279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1004" y="3383279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OMG! Asia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1104" y="3675887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61104" y="3675887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СНЕКІС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04841" y="3675887"/>
            <a:ext cx="37673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04841" y="3675887"/>
            <a:ext cx="3767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DCM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3014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73014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59" y="3675887"/>
            <a:ext cx="1137513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59" y="3675887"/>
            <a:ext cx="1137513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38313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38313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Sweet Svitt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360273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12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334256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03504" y="4334256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77824" y="444398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ТУРИСТИЧНІ ТА ВІЙСЬКОВІ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4681728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Haidilao · Adventure Menu · усі сублімати · Маркел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1104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61104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63363" y="44622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963363" y="446227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Highlander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1187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41187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ForCamp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3446" y="4462272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43446" y="4462272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Гайдамака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62748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362748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Freeride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23529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123529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884310" y="4462272"/>
            <a:ext cx="493776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884310" y="4462272"/>
            <a:ext cx="4937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69526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469526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Tactico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71785" y="4462272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171785" y="4462272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Лєєр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61104" y="4754880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261104" y="4754880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Activity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1884" y="4754880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021884" y="4754880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+ ще 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44784" y="468172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1E9EA6"/>
                </a:solidFill>
                <a:latin typeface="Segoe UI"/>
              </a:rPr>
              <a:t>40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41248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імпортерів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Картки продавців імпортера не називають. OMG! Asia і СНЕКІС описують себе як прямих імпортерів з Азії; Ben's Original виробляє Mars (заводи Франція, Німеччина).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99632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437376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37376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мереж. Суміжну категорію (слайд 17) частина з них має.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332 грн проти Ottogi 255 грн.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10" name="Picture 9" descr="c5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181344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F9A50B"/>
                </a:solidFill>
                <a:latin typeface="Segoe UI"/>
              </a:rPr>
              <a:t>ЯК РАХУВАЛИ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64224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" b="0">
                <a:solidFill>
                  <a:srgbClr val="9FA9C4"/>
                </a:solidFill>
                <a:latin typeface="Segoe UI"/>
              </a:rPr>
              <a:t>Точка продажу = окремий продавець, у якого в каталозі є хоча б одна з 84 позицій категорії. Рахували поіменно за картками товару: у кожній картці вказано продавця. Продуктовий роздріб (3): Сільпо, МегаМаркет, Ultramarket — перевірено суцільно через каталожні API 9 мереж 28.09.2026. Маркетплейси (3): MAUDAU, Rozetka, Prom. Фудшопи (20) і outdoor (40) — за зрізом 22–23.09.2026; в outdoor поіменно ідентифіковано 28 із 40, решта продають ті самі сублімати. Агрегатори zakaz.ua і GoToShop не рахуються як точки продажу: вони віддають товар чужих мереж.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1 і 2: готовий рис і рис під окріп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два сегменти, які конкурують із нами напряму.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Мікрохвильовка 60–90 с. Маса — готової страви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45–179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від Mars. Мікрохвильовка 90 с. Єдиний у мережевому роздрібі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94–96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для військторгу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350 г. Найдешевший грам категорії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135–189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Корейський лоток білого рису. Розігрів 90 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4436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294436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294436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3631" y="294436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5" y="294436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225–356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59" y="294436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Корейська чаша з м'ясом і соусом. Розігрів 2 хв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294436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13639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16839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76272" y="316839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4368" y="316839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3631" y="316839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34255" y="316839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252–446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59" y="316839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Органічний пауч з ЄС. Найдорожчий пауч ринку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16839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39242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76272" y="339242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4368" y="339242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13631" y="339242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34255" y="339242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315–483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52159" y="339242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Реторт 400 г + сублімат 110 г. Два формати в одному бренді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339242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3762756"/>
            <a:ext cx="10789920" cy="2148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232" y="3794760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0" y="3799332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Окріп 5–10 хв. Маса — сухого продукту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83–156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 сухого рису. Залити окропом на 8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3776" y="4247388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Іспанський інстант-рис у чаші 84 г.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Китайський рис у пакеті під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упаковку, без оптових порогів. Зріз 22–23.09.2026. Adventure Menu має дві технології: реторт 400 г (сегмент 1) і сублімат 110 г (сегмент 4).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3 і 4: саморозігрів і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два сегменти з нами не конкурують: інший привід споживання і інший канал. Показані, щоб було видно всю категорію.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Хімічний нагрівач 15 хв. Без техніки й окропу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380–1190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 з хімічним нагрівачем. Готується без техніки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чаша-саморозігрів. Найдорожча чаша ринку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3090672"/>
            <a:ext cx="10789920" cy="2148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122676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3127248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Сушіння виморожуванням. Похід і армія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38328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76272" y="338328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44368" y="338328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13631" y="338328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34255" y="338328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83–321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59" y="338328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 для туризму й армії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38328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575304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60730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76272" y="360730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44368" y="360730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3631" y="360730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34255" y="360730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55–156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2159" y="360730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сублімат. Найширша вітчизняна лінійка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01200" y="360730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3133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76272" y="383133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44368" y="383133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13631" y="383133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34255" y="383133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133–140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52159" y="383133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львівський бренд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01200" y="383133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023360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130–145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власний магазин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290–370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93776" y="447141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269–715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 для туризму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72744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76272" y="472744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44368" y="472744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13631" y="472744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34255" y="472744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2159" y="472744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Нідерландський сублімат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01200" y="472744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91947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95147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76272" y="495147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44368" y="495147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13631" y="495147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34255" y="495147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275–889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52159" y="495147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сублімат. Найширша імпортна лінійка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01200" y="495147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517550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76272" y="517550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44368" y="517550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13631" y="517550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34255" y="517550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852159" y="517550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Американський сублімат. Найдорожчий грам категорії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01200" y="517550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упаковку. Trek'n Eat: маса на картках продавців не вказана. Зріз 22–23.09.2026.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10" name="Picture 9" descr="c1_form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10" name="Picture 9" descr="c3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44752"/>
            <a:ext cx="7635240" cy="359704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30768" y="1481328"/>
            <a:ext cx="41148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16367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8512" y="1901952"/>
            <a:ext cx="274320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Шість із семи наших груп потрапляють у вікно 45–180 грн, у якому покупець реально бере товар у мережі.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090672"/>
            <a:ext cx="3200400" cy="15727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30768" y="3090672"/>
            <a:ext cx="41148" cy="157276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3511296"/>
            <a:ext cx="2743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Наш найдешевший SKU — 133 грн. Медіана пауча — 109 грн, Ben's Original — 90 грн. За ціною входу ми в верхній третині вікна.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4791456"/>
            <a:ext cx="3200400" cy="13533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4791456"/>
            <a:ext cx="41148" cy="13533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8512" y="49469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5212080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Подвійний стакан 219 грн і ONE'S Fried Rice 332 грн — вище стелі мережевої полиці.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10" name="Picture 9" descr="c4_f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63040"/>
            <a:ext cx="7635240" cy="26764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2788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16276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18196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717890"/>
                </a:solidFill>
                <a:latin typeface="Segoe UI"/>
              </a:rPr>
              <a:t>ЦІЛЬ / 20′ FCL / 40′ FCL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06654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220827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109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2487168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Ben's медіана @240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62889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3072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2907791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304952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129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3072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$0,535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332841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Паритет Bibigo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3470147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162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63072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$0,672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374903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Ottogi −22 %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3648" y="3890772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3072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$0,826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30768" y="4434840"/>
            <a:ext cx="3200400" cy="171907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30768" y="4434840"/>
            <a:ext cx="41148" cy="17190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590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ФОРМУЛА ПЕРЕГОВОРІВ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68512" y="4855464"/>
            <a:ext cx="274320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полиця = FOB × 268,9  (20′ FCL)
полиця = FOB × 241,1  (40′ FCL)
Кожні $0,10 зниження FOB знімають 27 грн з полиці.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АУДИТ ФІНМОДЕЛІ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Чотири припущення, які треба закрити до переговорів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Модель арифметично коректна. Ризики — у вхідних даних і в трактуванні податків.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1396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94F7C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ПДВ, ймовірно, задвоєно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Собівартість містить імпортний ПДВ 20 % (RTE_Rice_Suppliers), а ціна партнера в моделі «вже з ПДВ». Для платника ПДВ імпортний податок — податковий кредит, а не витрата.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ЯКЩО ПІДТВЕРДИТЬСЯ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СС падає на 16,7 %, полиця BSCM пауч 240 г: 157 → 131 грн, стакан 150 г: 139 → 116 грн. Це змінює весь висновок щодо пауча.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572768"/>
            <a:ext cx="41148" cy="21396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9A50B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«Маржа 35 %» — не прибуток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моделі маржа = (ціна партнера − СС − бонус) / ціна партнера. У ній немає нашого ФОП, маркетингу, вхідних бонусів мережі, внутрішньої логістики, списань і прострочення.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55664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ЩО ЗРОБИТИ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Додати рядок операційних витрат. Поки його немає, 35 % не можна називати рентабельністю — це валова націнка.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904487"/>
            <a:ext cx="41148" cy="21396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Ставка мита не підтверджена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СС закладено мито 10 %. Дослідження ринку вказує 0 % для CN 1904 90 10 з ЄС. Для Таїланду й Кореї діє інша ставка, джерело в моделі не зазначено.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ЩО ЗРОБИТИ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Отримати письмову тарифну класифікацію за УКТЗЕД 1904 90 10 до підписання контракту. Похибка в 10 % — це 27 грн на полиці.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904487"/>
            <a:ext cx="41148" cy="21396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59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Бонус мережі 25 % — гіпотеза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Ставка 25 % взята з прикладу по локшині. Реальні умови «Сільпо» для нової імпортної категорії без історії продажів можуть бути вищими, плюс вхідний бонус і плата за лістинг.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55664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ЩО ЗРОБИТИ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Запросити комерційні умови до розрахунку цін. За бонусу 30 % полиця зростає на 17 % при тій самій маржі.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Пункт 1 — ГІПОТЕЗА, що потребує підтвердження бухгалтером: залежить від статусу платника ПДВ і від того, як ПДВ ураховано в аркушах Self_Cost. Пункти 2–4 — прямі спостереження за вмістом моделі й супровідних файлів.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10" name="Picture 9" descr="c6_fmt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26464"/>
            <a:ext cx="11064240" cy="34117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ЧАША ПРАЦЮЄ СКРІЗЬ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84–320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Єдиний формат, присутній у шести
вагових смугах із семи.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Вага — за картками продавців; для сухих продуктів це маса до заливання.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10" name="Picture 9" descr="c7_comb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Медіана 129 грн.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медіана 90 грн —
найнижчий цінник категорії.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55648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1755648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17556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1755648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6143" y="1755648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938528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1938528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193852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19385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19" y="19385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6143" y="1938528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153412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215341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1" y="2153412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21534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19" y="2153412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143" y="2153412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72491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2112" y="272491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1" y="272491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19" y="27249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19" y="272491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96143" y="272491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39795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82112" y="2939795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1" y="2939795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19" y="2939795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2939795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6143" y="2939795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154679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3154679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1" y="3154679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19" y="315467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19" y="3154679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3" y="3154679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69563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2112" y="3369563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14031" y="3369563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19" y="336956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19" y="3369563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96143" y="3369563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5844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844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031" y="35844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19" y="35844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19" y="35844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96143" y="35844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1559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559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14031" y="41559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19" y="41559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61119" y="41559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3" y="41559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37083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82112" y="437083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031" y="437083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19" y="437083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61119" y="437083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96143" y="437083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5857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2112" y="45857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4031" y="45857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19" y="45857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61119" y="45857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96143" y="45857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1572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82112" y="51572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14031" y="51572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19" y="51572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61119" y="51572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96143" y="51572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АЗІЙСЬКИЙ ФОРМАТ У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Дистрибуція вже є — рису в ній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Скільки позицій кожного азійського бренду вже стоїть у національних мережах.</a:t>
            </a:r>
          </a:p>
        </p:txBody>
      </p:sp>
      <p:pic>
        <p:nvPicPr>
          <p:cNvPr id="10" name="Picture 9" descr="c8_asian_she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406229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БАР'ЄР — НЕ ДИСТРИБУЦІЯ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лістинг, полиця й логістика під ці бренди вже існують.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9A50B"/>
                </a:solidFill>
                <a:latin typeface="Segoe UI"/>
              </a:rPr>
              <a:t>ПОЗИЦІОНУВАННЯ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9692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Де ми стоїмо
і що заводити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41648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B9C2DA"/>
                </a:solidFill>
                <a:latin typeface="Segoe UI"/>
              </a:rPr>
              <a:t>Зіставлення фінансової моделі з полицею, рекомендація формату й ціни, цільовий FOB.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5B6B8C"/>
                </a:solidFill>
                <a:latin typeface="Segoe U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НАШИХ SKU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ТОВАРНИХ ГРУП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ПОСТАЧАЛЬНИКІВ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СЦЕНАРІЇВ ЦІНИ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4552</Words>
  <Application>Microsoft Office PowerPoint</Application>
  <PresentationFormat>Широкий екран</PresentationFormat>
  <Paragraphs>932</Paragraphs>
  <Slides>19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19</vt:i4>
      </vt:variant>
    </vt:vector>
  </HeadingPairs>
  <TitlesOfParts>
    <vt:vector size="23" baseType="lpstr">
      <vt:lpstr>Arial</vt:lpstr>
      <vt:lpstr>Calibri</vt:lpstr>
      <vt:lpstr>Segoe UI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Чаплигін lлля</cp:lastModifiedBy>
  <cp:revision>2</cp:revision>
  <dcterms:created xsi:type="dcterms:W3CDTF">2013-01-27T09:14:16Z</dcterms:created>
  <dcterms:modified xsi:type="dcterms:W3CDTF">2026-09-23T11:30:11Z</dcterms:modified>
  <cp:category/>
</cp:coreProperties>
</file>