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26"/>
    <p:sldId id="277" r:id="rId27"/>
    <p:sldId id="260" r:id="rId6"/>
    <p:sldId id="278" r:id="rId28"/>
    <p:sldId id="261" r:id="rId7"/>
    <p:sldId id="279" r:id="rId29"/>
    <p:sldId id="280" r:id="rId30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32"/>
    <p:sldId id="283" r:id="rId33"/>
    <p:sldId id="284" r:id="rId34"/>
    <p:sldId id="273" r:id="rId19"/>
    <p:sldId id="274" r:id="rId20"/>
    <p:sldId id="275" r:id="rId25"/>
    <p:sldId id="281" r:id="rId31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6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jpg"/><Relationship Id="rId4" Type="http://schemas.openxmlformats.org/officeDocument/2006/relationships/image" Target="../media/image4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5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65.jpg"/><Relationship Id="rId14" Type="http://schemas.openxmlformats.org/officeDocument/2006/relationships/image" Target="../media/image6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7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83.jpg"/><Relationship Id="rId12" Type="http://schemas.openxmlformats.org/officeDocument/2006/relationships/image" Target="../media/image84.jpg"/><Relationship Id="rId13" Type="http://schemas.openxmlformats.org/officeDocument/2006/relationships/image" Target="../media/image8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Усі ціни в колоді — за одну упаковку. Опт і ящики до розрахунку не входять.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9A50B"/>
                </a:solidFill>
                <a:latin typeface="Segoe UI"/>
              </a:rPr>
              <a:t>182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Готовий рис, CN 1904 90 10.
+59 % до 2024 року.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8880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7A169"/>
                </a:solidFill>
                <a:latin typeface="Segoe UI"/>
              </a:rPr>
              <a:t>87–110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млн грн на рік — оцінка
за імпортом × 2,2–2,8.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9632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B5EA7"/>
                </a:solidFill>
                <a:latin typeface="Segoe UI"/>
              </a:rPr>
              <a:t>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23 брендів, 56 продавців.
У мережі — 11 позицій.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65008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30 позицій (36 %),
але це туризм, не полиця.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038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93038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B6B8C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9 позицій. Далі 220 г — 7,
174 г — 5, 85 г — 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03504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D5DBEA"/>
                </a:solidFill>
                <a:latin typeface="Segoe UI"/>
              </a:rPr>
              <a:t>1.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імпортується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але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потрапляє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11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84 — і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всі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це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Ben's Original у «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».
2.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Зростання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2025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року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дає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Болгарія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44,8 → 78,3 т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рік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+75 %.
3.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Формат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який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реально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працює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полиці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пауч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220–250 г: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109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упаковку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найнижча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категорії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
4.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Україні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виробляють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100 %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обсягу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99632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Немає чаші за 100–150 грн у мережі: Ottogi коштує 225–356 грн, Henan 83–156, але обидва лише онлайн.
2. Немає українського виробника готового рису в паучі для мікрохвильовки — українські 16 позицій це або консерва, або сублімат для туризму.
3. Немає жодного бренду одночасно в мережі та на маркетплейсі, крім Ben's.
4. Немає локалізації: жодної україномовної упаковки серед 84 позицій.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(CN 1904 90 10, експорт ЄС→Україна), UN Comtrade, 17 мереж zakaz.ua, «Сільпо», Prom, Rozetka, MAUDAU — 22–23.09.2026. Ємність роздрібу — оцінка, метод на слайді 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182 тонн імпорту, 87–110 млн грн роздрібу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в Україні не виробляють у паучах — увесь обсяг категорії це імпорт.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6675120" cy="30540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ІМПОРТ ГОТОВОГО РИСУ З ЄС, ТОНН НА РІК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74133"/>
            <a:ext cx="786384" cy="895530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05467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€294k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322575"/>
            <a:ext cx="786384" cy="1847088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73936" y="210312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€553k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326190"/>
            <a:ext cx="786384" cy="1843473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8336" y="2106734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€567k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016589"/>
            <a:ext cx="786384" cy="1153074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2736" y="2797133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€434k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032855"/>
            <a:ext cx="786384" cy="1136808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2813399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€428k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166597"/>
            <a:ext cx="786384" cy="1003066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31536" y="2947141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€475k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548491"/>
            <a:ext cx="786384" cy="1621172"/>
          </a:xfrm>
          <a:prstGeom prst="roundRect">
            <a:avLst>
              <a:gd name="adj" fmla="val 1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2329035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9A50B"/>
                </a:solidFill>
                <a:latin typeface="Segoe UI"/>
              </a:rPr>
              <a:t>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€823k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537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2025 рік — рекорд за вартістю: 823 тис. € проти 475 тис. € у 2024-му.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719072"/>
            <a:ext cx="4059936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5823" y="1883664"/>
            <a:ext cx="3584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ЗВІДКИ ЇДЕ, 2025 РІК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3" y="21031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Болгарія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148839"/>
            <a:ext cx="1218179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78131" y="209397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78,3 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5823" y="23774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423159"/>
            <a:ext cx="1468660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28612" y="23682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94,4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5823" y="265175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Італія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2697479"/>
            <a:ext cx="87123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47075" y="264261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5,6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3" y="292607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Іспанія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297179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96528" y="29169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3" y="320039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Франція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24611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96528" y="319125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5823" y="347471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0" y="352043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96528" y="346557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2,0 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5823" y="37490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379475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6528" y="37398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1,0 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5823" y="4059935"/>
            <a:ext cx="358444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Болгарія і Польща — 95 % тонажу. Це заводи ЄС, що пакують рис у пауч.
Корея і Китай разом дають 3,1 т — це чаші Ottogi, Bibigo та Henan.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809744"/>
            <a:ext cx="10954512" cy="131673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03504" y="4809744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49560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Як рахували ємність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24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182 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35424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імпорт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4144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39 млн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CIF за курсом НБУ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5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× 2,2–2,8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1775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мито 0 %, ПДВ, маржа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0496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9952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87–110 млн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68128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≈ 830 тис.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упаковок на рік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303520"/>
            <a:ext cx="3474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B9C2DA"/>
                </a:solidFill>
                <a:latin typeface="Segoe UI"/>
              </a:rPr>
              <a:t>Перевірка з іншого боку: 830 тис. упаковок × 110 грн медіани = 91 млн грн. Два методи сходяться.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DS-045409, CN 1904 90 10 «рис приготовлений», експорт ЄС→Україна, 2019–2025; UN Comtrade (Корея, Китай, Таїланд, 2025); курс НБУ (середній 2025: 47,15 грн/€, 41,71 грн/$). Ємність роздрібу — ОЦІНКА, не заміряні продажі.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23 бренди, чотири технології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Групування за тим, як продукт готується: від цього залежить і ціна, і канал.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ГОТОВИЙ РИС · РОЗІГРІВ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30 позицій · 7 брендів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· Ottogi · Bibigo · Clearspring · Portion · Маркел · Adventure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Мікрохвильовка 60–90 с або реторт. Маса — готової страви.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164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45 – 446 грн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10712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C94F7C"/>
                </a:solidFill>
                <a:latin typeface="Segoe UI"/>
              </a:rPr>
              <a:t>ЗАЛИТИ ОКРОПОМ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12 позицій · 3 бренди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Henan · Gallina Blanca · Qiaoshanmei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Сухий рис із соусом у чаші чи пакеті, 5–10 хв.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138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83 – 501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Хімічний нагрівач у коробці, без техніки, 15 хв.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735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380 – 1 190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25128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E9EA6"/>
                </a:solidFill>
                <a:latin typeface="Segoe UI"/>
              </a:rPr>
              <a:t>СУБЛІМАЦІЯ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28 позицій · 10 брендів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Travellunch · Trek'n Eat · Adventure Food · Mountain House · Adventure Menu · SubliMate · James Cook · Їжа в Похід · Харчі · !FEST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Сушіння виморожуванням, окріп. Туризм і армія.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44584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302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55 – 889 грн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4572000"/>
            <a:ext cx="10954512" cy="1719072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03504" y="4572000"/>
            <a:ext cx="91440" cy="17190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2" y="4736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Що показує розбір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" y="5138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5084064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Segoe UI"/>
              </a:rPr>
              <a:t>Ben's Original — 13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єдиний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бренд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у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(«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»).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" y="54132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25296" y="535838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Ottogi і Henan — 18 азійських чаш; Henan удвічі дешевший за упаковку.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6696" y="568756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25296" y="563270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Українських позицій — 16, але жодної в паучі для мікрохвильовки.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791456"/>
            <a:ext cx="36576" cy="128016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20256" y="4736592"/>
            <a:ext cx="4663440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для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розігріву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(30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) — 73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100 г.
У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продається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84.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Решта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73 —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лише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онлайн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маркетплейси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азійські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фудшопи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туристичні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й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військові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магазини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.
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Країни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ЄС — 31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Китай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24,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Україна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16,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Корея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11, США — 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 dirty="0" err="1">
                <a:solidFill>
                  <a:srgbClr val="717890"/>
                </a:solidFill>
                <a:latin typeface="Segoe UI"/>
              </a:rPr>
              <a:t>Джерела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: 17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мереж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на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zakaz.ua, «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Сільпо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», Prom, MAUDAU,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Rozetka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спеціалізовані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магазини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— 22–23.09.2026.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 і чаша — 63 % позицій, але полицю тримає 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415" y="1938528"/>
            <a:ext cx="722785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Дойпак із сублімату. Легкий, але потребує окропу. Туризм і армія.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764177" cy="16459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30 позицій · 36 % · 11 брендів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315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55 – 889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10712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57016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88" y="1938528"/>
            <a:ext cx="944454" cy="896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30168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Жорстка чаша чи стакан. Готова страва або сухий рис під окріп. Формат для офісу.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0168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630168" y="3694176"/>
            <a:ext cx="585869" cy="16459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23 позиції · 27 % · 5 брендів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168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0168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229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83 – 931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218 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64224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bens_basmati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965" y="1938528"/>
            <a:ext cx="640516" cy="8961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37376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Плаский реторт-пауч. Мікрохвильовка 90 с або окріп. Формат мережевої полиці.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7376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37376" y="3694176"/>
            <a:ext cx="483978" cy="1645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37376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19 позицій · 23 % · 5 брендів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7376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37376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– 376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7376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25128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25128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171432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6" y="1938528"/>
            <a:ext cx="896112" cy="8961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44584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4584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Картон із хімічним нагрівачем. Без техніки. Дорогий і об'ємний.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44584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244584" y="3694176"/>
            <a:ext cx="305670" cy="1645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4584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12 позицій · 14 % · 3 бренди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4584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584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708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4584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4584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380 – 1 190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4584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230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3504" y="5449824"/>
            <a:ext cx="10954512" cy="8595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03504" y="5449824"/>
            <a:ext cx="82296" cy="8595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5632704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4400" y="5961888"/>
            <a:ext cx="1040587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Дойпак виграє за кількістю позицій лише тому, що туристичні магазини заводять десятки дрібних брендів. За доступністю для покупця виграє пауч: 109 грн медіана проти 315 грн у дойпака й 708 грн у коробки з нагрівачем.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250 і 220 грамів — половина всієї полиці паучів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Скільки позицій припадає на кожну вагу і як ваги розподілені між форматами.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НАЙЧАСТІШІ ВАГИ, ПОЗИЦІЙ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85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90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11296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125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144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82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174 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2474975"/>
            <a:ext cx="859536" cy="149352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225551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2048255"/>
            <a:ext cx="859536" cy="192024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18287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261104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Колір стовпця — формат, у якому ця вага трапляється найчастіше: помаранчевий — пауч, рожевий — чаша, бірюзовий — дойпак.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700784"/>
            <a:ext cx="3255264" cy="31638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86537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ВАГОВЕ ВІКНО ФОРМАТУ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217627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235915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80–250 г · медіана 110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94F7C"/>
                </a:solidFill>
                <a:latin typeface="Segoe UI"/>
              </a:rPr>
              <a:t>Чаша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292608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84–320 г · медіана 218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33101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Пауч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349300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220–400 г · медіана 250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3877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05993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165–440 г · медіана 230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446227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Чаша й пауч конкурують у вікні 210–250 г — це порція на одну людину.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010912"/>
            <a:ext cx="10954512" cy="13167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03504" y="5010912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обирати під полицю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22976"/>
            <a:ext cx="104058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Вагове ядро категорії — 220–250 г: 16 позицій із 84, усі пауч або чаша, усі в корені порції «обід для однієї людини». Це та вага, під яку вже налаштований покупець Ben's Original і Bibigo.
Легкі ваги 80–146 г — це не менша порція, а сухий продукт: сублімат і інстант-рис, які треба залити окропом. Порівнювати їх із паучем за грам не можна.
Важкі 310–440 г — корейські чаші Ottogi та китайські коробки з нагрівачем: порція «на голодного», але й ціна за упаковку 250–735 грн.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Маса з карток продавців; 2 позицій без указаної маси до розрахунку не входять.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45 до 1 190 грн: сходи всіх 23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Крапка — медіана бренду, смуга — від найдешевшої до найдорожчої його позиції.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64208"/>
            <a:ext cx="10954512" cy="4608576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97449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31689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90995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5235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4540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8780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750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8086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2326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1632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5872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 ЗА ОДНУ УПАКОВКУ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182880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182880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182880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98424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00253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200253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7877" y="2034539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9297" y="199796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0465" y="19751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94 – 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14884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21671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16712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4742" y="2199132"/>
            <a:ext cx="74694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2742" y="21625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3122" y="213969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31343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6352" y="23317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233172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0484" y="2363724"/>
            <a:ext cx="56299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337335" y="232714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4916" y="23042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55 – 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247802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6352" y="24963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249631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1489" y="2528316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342909" y="24917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02929" y="246888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264261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Харчі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266090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266090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6561" y="2692908"/>
            <a:ext cx="1326655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404225" y="26563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84656" y="26334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83 – 321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280720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28254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282549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6561" y="2857500"/>
            <a:ext cx="406915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23735" y="28209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64916" y="279806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83 – 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297180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6352" y="2990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299008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5270" y="3022092"/>
            <a:ext cx="39019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476690" y="29855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5729" y="296265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133 – 140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313639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6352" y="3154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3008" y="315468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56418" y="3186684"/>
            <a:ext cx="301005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487838" y="31501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48864" y="312724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135 – 189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330098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6352" y="33192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3008" y="331927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8547" y="3351276"/>
            <a:ext cx="8361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01774" y="33147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03600" y="329184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130 – 145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346557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348386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93008" y="348386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80391" y="3515868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011811" y="34792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71831" y="34564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363016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6352" y="364845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93008" y="364845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08597" y="3680460"/>
            <a:ext cx="1081391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140017" y="364388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1429" y="362102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252 – 446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" y="379476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6352" y="3813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93008" y="381304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58095" y="3845052"/>
            <a:ext cx="730217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156740" y="38084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9752" y="378561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225 – 356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395935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16352" y="397764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93008" y="397764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20416" y="4009644"/>
            <a:ext cx="445934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457746" y="39730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57791" y="395020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290 – 370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412394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Menu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16352" y="41422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93008" y="414223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59771" y="4174236"/>
            <a:ext cx="936462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831216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7674" y="411480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315 – 483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" y="428853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Trek'n Eat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16352" y="430682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93008" y="430682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303359" y="4338828"/>
            <a:ext cx="2486085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477821" y="43022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880884" y="42793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269 – 715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" y="445312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16352" y="44714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93008" y="447141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546401" y="45034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477821" y="44668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37841" y="444398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492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461772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6352" y="463600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93008" y="463600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96569" y="4668012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6527989" y="463143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88009" y="460857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501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478231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6352" y="480059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93008" y="480059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36804" y="4832603"/>
            <a:ext cx="3422547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6895885" y="479602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50792" y="477316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275 – 889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4946903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6352" y="496519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3008" y="4965191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922093" y="4997195"/>
            <a:ext cx="4515087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7442155" y="496061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28621" y="4937759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380 – 1 190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5111495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16352" y="512978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93008" y="5129783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700257" y="5161787"/>
            <a:ext cx="18288" cy="64008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631677" y="512521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91697" y="5102351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699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" y="5276087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6352" y="529437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93008" y="5294375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00928" y="5326379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7832348" y="528980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992368" y="526694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" y="5440679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16352" y="545896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93008" y="545896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900928" y="5490971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7832348" y="545439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992368" y="5431535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5605271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6352" y="56235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93008" y="562355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993467" y="5655563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8924887" y="561898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084907" y="5596127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931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054742" y="6126480"/>
            <a:ext cx="752514" cy="45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054742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вікно мережевої полиці: 45–180 грн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41248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Колір — країна: Україна · Китай · Корея · ЄС · США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Ціна за одну упаковку в роздріб, без оптових порогів: у 6 продавців діє нижча ціна від 3–20 шт, вона в розрахунок не бралася. 22–23.09.2026.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1 · BEN'S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13 позицій: пауч 220, 240 і 250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Найглибша лінійка категорії і єдиний бренд, що дійшов до мережевої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18–81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82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81497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54649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266" y="2395728"/>
            <a:ext cx="549014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00369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0369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0369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0369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0369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59490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832642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441" y="2395728"/>
            <a:ext cx="544649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78362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8362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8362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8362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8362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7483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10635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562" y="2395728"/>
            <a:ext cx="546395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355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6355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6355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6355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6355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15476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988628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318" y="2395728"/>
            <a:ext cx="556869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34348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34348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34348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4348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4348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93469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566621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967" y="2395728"/>
            <a:ext cx="531557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2341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2341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2341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2341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2341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71462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0144614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bens_basmati2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7613" y="2395728"/>
            <a:ext cx="554251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90334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90334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0334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100–144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90334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45–65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0334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76656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273" y="4480560"/>
            <a:ext cx="549014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2376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50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181497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254649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792" y="4480560"/>
            <a:ext cx="569962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00369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0369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0369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0369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65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0369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59490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832642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bens_stickybow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716" y="4480560"/>
            <a:ext cx="514100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78362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78362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78362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78362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78362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37483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410635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bens_sweetchili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9706" y="4480560"/>
            <a:ext cx="562106" cy="76809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56355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56355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56355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56355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56355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15476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988628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bens_bio240_sing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7712" y="4480560"/>
            <a:ext cx="482081" cy="7680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34348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34348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34348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4348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34348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93469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566621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bens_lang220_singl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7912" y="4480560"/>
            <a:ext cx="537667" cy="768096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612341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12341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12341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12341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 грн/100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12341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позицій), MAUDAU, Edison Lee — 22.09.2026. Basmati 220 г: 100 грн у MAUDAU і 144 грн у «Сільпо». Дві позиції Edison Lee продаються поштучно, ціна за один пауч.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2 · OTTOGI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чаша 217–320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із наповнювачем для мікрохвильовки. Продається у чотирьох продавців.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Республіка Корея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79–130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45" y="2395728"/>
            <a:ext cx="879267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ttogi_hambu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079" y="2395728"/>
            <a:ext cx="864980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ot_pork3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126" y="2395728"/>
            <a:ext cx="879267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ot_chicken_ri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902" y="2395728"/>
            <a:ext cx="768096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255–260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82–84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ot_octop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969" y="2395728"/>
            <a:ext cx="886342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91–103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ot_tu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265" y="4480560"/>
            <a:ext cx="97022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225–320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91–130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ot_bibimb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4462" y="4480560"/>
            <a:ext cx="874214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94–124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ot_pork_spic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88" y="4480560"/>
            <a:ext cx="886342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124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ot_beef3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902" y="4480560"/>
            <a:ext cx="768096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356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ottogi_jjampong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1413" y="4480560"/>
            <a:ext cx="875454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117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 — 22.09.2026. Ціни роздрібні: у «Тайякі Март» від 15–20 шт діє нижча ціна, вона не бралася.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3 · HENAN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8 позицій: чаша 144 і 174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Сухий рис у чаші, заливається окропом на 8 хвилин. Найдешевша чаша на ринку.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Xiao Guo Zao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83–156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58–106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n_braised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7" y="2395728"/>
            <a:ext cx="821660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129–156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74–90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38144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49" y="2395728"/>
            <a:ext cx="809532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3864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140–156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80–90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99632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n_sausage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74" y="2395728"/>
            <a:ext cx="802458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45352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961120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n_pepperbeef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912" y="2395728"/>
            <a:ext cx="774159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6656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n_pepperchicken1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79" y="4480560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112–150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64–86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438144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n_spicychicken14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270" y="4480560"/>
            <a:ext cx="805490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483864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3864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3864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199632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n_sweetsourbeef1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250" y="4480560"/>
            <a:ext cx="118650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45352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5352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135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5352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87968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961120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n_eggplant14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957" y="4480560"/>
            <a:ext cx="10500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006840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152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840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106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MAUDAU, Апетітаріум, Gurmissimo, OMG! Asia, СНЕКІС, DCM — 22–23.09.2026. Маса — сухого продукту до заливання.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4–8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Bibigo, Clearspring, Portion, Маркел, Gallina Blanca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По одній-дві позиції в кожного: різні країни, різні формати, різні канали.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0462"/>
            <a:ext cx="1493520" cy="15003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135–189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64–90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1877766"/>
            <a:ext cx="1493520" cy="17857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252–446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101–178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8640" y="2660903"/>
            <a:ext cx="160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куркою та овочами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109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31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Rozetka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mk_rice3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5" y="1829441"/>
            <a:ext cx="1493520" cy="18823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94–96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t_beef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t_teriyaki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Portion і Маркел — український реторт 350 г за 94–109 грн: найдешевший грам категорії, 27–31 грн за 100 г. Bibigo — той самий товар у трьох каналах, розкид 40 %. Clearspring — органіка, найдорожчий грам серед паучів. Gallina Blanca Yatekomo — 84 г сухого рису в чаші, заливається окропом.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Смак Кореї, Rozetka, Prom, MAUDAU, СУХПАЙ, UPcompany, «Товари з Іспанії» — 22–23.09.2026. Фото Portion: Rozetka не віддає зображення картки.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9 · HAIDILAO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коробка 165–360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Хімічний нагрівач у коробці — готується без мікрохвильовки й окропу.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саморозігрів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коробка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380–1 190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230–371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d_stewed_chicken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05" y="2395728"/>
            <a:ext cx="753946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d_beef_curry2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521" y="2395728"/>
            <a:ext cx="768096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770–799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283–294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395728"/>
            <a:ext cx="768096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849" y="2395728"/>
            <a:ext cx="778202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d_canton1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092" y="2395728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364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d_stew_chicken18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331" y="4480560"/>
            <a:ext cx="76809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650–680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348–364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d_pork_fish1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7521" y="4480560"/>
            <a:ext cx="76809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d_teriyaki18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9025" y="4480560"/>
            <a:ext cx="8034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650–660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359–365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hd_spicy_chicken17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8721" y="4480560"/>
            <a:ext cx="802458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hd_porkbelly36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5092" y="4480560"/>
            <a:ext cx="768096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1 190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331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Daruy, Tactico, Desna, Sweet Svitt, «Шериф» — 22–23.09.2026. Найдорожча упаковка категорії — 1 190 грн за 360 г. * Sweet Svitt: назва картки Stewed Chicken, на фото — рис з яловичиною та грибами.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10–13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Mo Xiao Xian, Zihaiguo, Rongcheng Haoji, Qiaoshanmei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Китайський саморозігрів і рис під окріп. Усі чотири бренди — в одному магазині.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x_beef_bambo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3871"/>
            <a:ext cx="1493520" cy="149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x_bacon_pe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2023871"/>
            <a:ext cx="1493520" cy="1493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s_sh_pepper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04" y="2023871"/>
            <a:ext cx="1493520" cy="1493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ZIHAIGUO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735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qs_sh_braised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5" y="2023871"/>
            <a:ext cx="1493520" cy="1493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RONGCHENG HAOJI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s_spicy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s_braised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Zihaiguo і Rongcheng Haoji — коробка 440 г за 735 грн: 167 грн за 100 г, дешевше за грам, ніж Haidilao (230–371). Mo Xiao Xian — 931 грн за 275 г, найдорожча чаша ринку. Qiaoshanmei — не саморозігрів, а рис у пакеті під окріп, 501 грн.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«Скарби Азії» (Prom), 23.09.2026. Бренди Zihaiguo і Rongcheng Haoji визначено за написами на упаковці, Qiaoshanmei — за карткою продавця.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14–17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Travellunch, Trek'n Eat, Mountain House, Adventure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Рис-страви у дойпаку: залити окропом на 8–10 хвилин. Німеччина, США, Нідерланди.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63" y="1828800"/>
            <a:ext cx="708034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220–412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l_beef_pepper1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334" y="1828800"/>
            <a:ext cx="706879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295–515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236–412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l_nasi1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22" y="1828800"/>
            <a:ext cx="686088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tl_curry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657" y="1828800"/>
            <a:ext cx="724204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515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412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l_strog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313" y="1828800"/>
            <a:ext cx="706879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702–811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281–324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l_beef_pepper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701" y="1828800"/>
            <a:ext cx="686088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811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324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tl_nasi2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695" y="1828800"/>
            <a:ext cx="686088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356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te_fis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87" y="4059936"/>
            <a:ext cx="7657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te_strog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9537" y="4059936"/>
            <a:ext cx="1210473" cy="8778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715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mh_curry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2273" y="4059936"/>
            <a:ext cx="960986" cy="87782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635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mh_friedric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0359" y="4059936"/>
            <a:ext cx="780801" cy="877823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Fried Rice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133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526 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15476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988628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af_curry14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2030" y="4059936"/>
            <a:ext cx="733445" cy="87782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034348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34348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FOOD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4348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492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4348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337 грн/100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34348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93469" y="3950208"/>
            <a:ext cx="3064546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493469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804365" y="4133088"/>
            <a:ext cx="25159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4365" y="4462272"/>
            <a:ext cx="2515906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Travellunch — 7 позицій у двох вагах, 125 і 250 г, найширша імпортна лінійка. Mountain House — 699 грн за 110–133 г сухої маси, найдорожчий грам категорії. Канал — туристичні й військові магазини, у продуктовий роздріб ці бренди не йдуть.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Highlander, ForCamp, Військторг Гайдамака, Freeride, Kamanti, 110вольт, Клуб Мандрівник — 22–23.09.2026.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18–19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Adventure Menu і SubliMate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Adventure Menu — єдиний бренд із двома технологіями: готова страва 400 г і сублімат 110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m_korma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96" y="1828800"/>
            <a:ext cx="761165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94–101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269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8584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74" y="1828800"/>
            <a:ext cx="755390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3156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156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156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156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79–89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56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188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9503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347" y="1828800"/>
            <a:ext cx="728824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075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075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75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75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075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3107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0422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m_korma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0309" y="1828800"/>
            <a:ext cx="79928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4994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94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994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378–483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994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344–439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994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026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1341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am_tikka1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7767" y="1828800"/>
            <a:ext cx="802746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5913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913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913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390–483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913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355–439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913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665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sm_plov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19" y="4059936"/>
            <a:ext cx="1106520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237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309–310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221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269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88584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sm_chicken_frui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634" y="4059936"/>
            <a:ext cx="1071869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3156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156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156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290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156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264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156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188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09503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sm_green_curr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2879" y="4059936"/>
            <a:ext cx="1115760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14075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4075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075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370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075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308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4075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31075" y="3950208"/>
            <a:ext cx="4326940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231075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541971" y="4133088"/>
            <a:ext cx="37783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1971" y="4462272"/>
            <a:ext cx="377830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79–101 грн за 100 г: у тому ж коридорі, що Ben's Original і Ottogi, але продається лише в туристичних магазинах. SubliMate — український сублімат, 290–370 грн за дойпак.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ForCamp, MK-Sport, Freeride, Лєєр, OXO, Palmer, Highlander, ВсеОпт, Суренж — 22–23.09.2026.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20–23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Українські виробники рисових страв у дойпаку. Канал — туристичні й військові магазини.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c_meatv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03" y="1828800"/>
            <a:ext cx="1033753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92–153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jc_cu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897" y="1828800"/>
            <a:ext cx="1033753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jc_mashkichi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270" y="1828800"/>
            <a:ext cx="1042993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156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195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c_ve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449" y="1828800"/>
            <a:ext cx="98062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55–81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61–90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p_chicken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7197" y="1828800"/>
            <a:ext cx="783111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145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171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p_veg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0570" y="1828800"/>
            <a:ext cx="792351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153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kh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6861" y="1828800"/>
            <a:ext cx="735755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kh_riceme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37" y="4059936"/>
            <a:ext cx="7426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kh_kich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6896" y="4059936"/>
            <a:ext cx="735755" cy="87782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0369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98 грн/100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kh_plovx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855" y="4059936"/>
            <a:ext cx="1175822" cy="877823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321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321 грн/100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fest_plov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5708" y="4059936"/>
            <a:ext cx="850103" cy="87782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!FEST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133–140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133–140 грн/100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915476" y="3950208"/>
            <a:ext cx="4642539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915476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226372" y="4133088"/>
            <a:ext cx="40938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6372" y="4462272"/>
            <a:ext cx="4093899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Українські сублімати — 55–321 грн за упаковку, імпортні — 269–889 грн. James Cook — 4 рисові позиції, найширша українська лінійка. Українське виробництво в категорії є, але воно цілком у туристичному каналі.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Highlander, Activity, ВсеОпт, Klever-Shop, Terra Incognita, «Їжа в Похід», Харчі ТМ, Висот-Нік, SportStorm, Kalush-Craft — 22–23.09.2026.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ЩО СТОЇТЬ У МЕРЕЖІ ЗАМІСТЬ НАС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Рис із м'ясом є на полиці — але в бляшанці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Мережі не мають пауча з готовим рисом, зате мають суміжну категорію за 63–160 грн.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_hapay_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0512"/>
            <a:ext cx="950975" cy="1389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63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23744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h_lappetit_po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810512"/>
            <a:ext cx="987551" cy="1389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9464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70832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h_lappetit_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1810512"/>
            <a:ext cx="923543" cy="138988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16552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яловичиною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_hapay_plo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810512"/>
            <a:ext cx="1014983" cy="13898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63640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качки та булгуру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117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65008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h_foodfabrik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2099287"/>
            <a:ext cx="1499616" cy="81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10728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FOOD FABRIKA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0728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119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48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Восторг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1209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h_myastori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1951661"/>
            <a:ext cx="1499616" cy="11075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5781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 та родзинками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5781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М'ЯСТОРІЯ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781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147–160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5781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42–46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781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Novus · МегаМаркет · Космос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4535424"/>
            <a:ext cx="82296" cy="175564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471830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Чому це важливо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047488"/>
            <a:ext cx="48097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Це прямий конкурент за той самий привід: гаряча страва з рисом і м'ясом без готування. Він уже стоїть на полиці, коштує 63–160 грн за 250–350 г і має українського виробника.
Пауч із готовим рисом заходить у той самий гаманець, тож орієнтир ціни — не Ottogi за 255 грн, а ця полиця.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9632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55664" y="470001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Порівняння за 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499262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Каша рисова hapay! 340 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50224" y="5038344"/>
            <a:ext cx="461356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84732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37A169"/>
                </a:solidFill>
                <a:latin typeface="Segoe UI"/>
              </a:rPr>
              <a:t>18,5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5664" y="523036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Food Fabrika 250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50224" y="5276088"/>
            <a:ext cx="1187057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10433" y="522122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Segoe UI"/>
              </a:rPr>
              <a:t>47,6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546811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Original, медіана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50224" y="5513831"/>
            <a:ext cx="1022465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45841" y="54589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F9A50B"/>
                </a:solidFill>
                <a:latin typeface="Segoe UI"/>
              </a:rPr>
              <a:t>41,0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5664" y="5705855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М'ясторія 350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5751575"/>
            <a:ext cx="1139674" cy="11887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63050" y="56967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45,7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55664" y="5943599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Ottogi, медіана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50224" y="5989319"/>
            <a:ext cx="2194560" cy="118872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17936" y="593445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B6B8C"/>
                </a:solidFill>
                <a:latin typeface="Segoe UI"/>
              </a:rPr>
              <a:t>88,0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API 17 мереж zakaz.ua, 23.09.2026. Ці 6 позицій — суміжна категорія, у 84 позицій дослідження вони не входять. Охолоджені страви й кулінарію мереж не показано: у них термін 2–5 діб.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56 продавців, чотири типи каналів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Категорія живе в онлайні: у мережі — лише Ben's Original у «Сільпо», 11 позицій.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288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66543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1104" y="1847088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191109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487168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" y="248716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5968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ОНЛАЙН-СУПЕРМАРКЕТИ Й МАРКЕТПЛЕЙСИ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34639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· Henan · Bibigo · Clearspring · Portion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615184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2615184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4841" y="2615184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4841" y="2615184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7100" y="2615184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07100" y="2615184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2679191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255263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" y="325526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3364991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СПЕЦІАЛІЗОВАНІ ФУДШОПИ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602735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Ottogi · Henan · Bibigo · саморозігрів · Gallina Blanca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928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38928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5273" y="3383279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75273" y="3383279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19011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19011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55356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55356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3180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3180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1004" y="3383279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1004" y="3383279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OMG!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675887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61104" y="3675887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СНЕКІС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4841" y="3675887"/>
            <a:ext cx="37673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4841" y="3675887"/>
            <a:ext cx="3767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DCM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3014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3014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Скарби Азії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59" y="3675887"/>
            <a:ext cx="113751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59" y="3675887"/>
            <a:ext cx="1137513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38313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38313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Sweet Svitt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60273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7B5EA7"/>
                </a:solidFill>
                <a:latin typeface="Segoe UI"/>
              </a:rPr>
              <a:t>12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4334256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03504" y="4334256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" y="44439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4681728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Haidilao · Adventure Menu · усі сублімати · Маркел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4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61104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63363" y="446227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63363" y="446227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1187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41187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3446" y="4462272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3446" y="4462272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Гайдамака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62748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62748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Freeride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23529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23529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MK-Sport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84310" y="4462272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84310" y="4462272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9526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69526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71785" y="4462272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171785" y="4462272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Лєєр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61104" y="4754880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61104" y="4754880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1884" y="4754880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1884" y="4754880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+ ще 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468172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40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1248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Що відомо про імпортерів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Картки продавців імпортера не називають. OMG! Asia і СНЕКІС описують себе як прямих імпортерів з Азії; Ben's Original виробляє Mars (заводи Франція, Німеччина).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37376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Мережі без жодної позиції категорії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37376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АТБ, Novus, Metro, Varus, Ашан, Fozzy, «Таврія В», МегаМаркет, ЕКО маркет, Ultramarket та ще 7 мереж. Суміжну категорію (слайд 17) частина з них має.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показало дослідження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Чотири факти про ринок і три питання, на які дані відповіді не дають.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1. Ринок є, полиці немає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182 т імпорту і 84 позицій у продажу — але 73 із них живуть лише онлайн. Мережеву дистрибуцію має один бренд.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2. Вікно ціни — 45–180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Стільки коштує упаковка, яку покупець бере в мережі. Усе, що дорожче 250 грн, продається поштучно в нішевих магазинах.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3. Формат — пауч 220–250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позицій у цьому вікні, медіана 109 грн. Чаша дорожча вдвічі, коробка з нагрівачем — усемеро.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4. Українського пауча немає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українських позицій — це консерви й сублімати для туризму. Готового рису в паучі під мікрохвильовку не робить ніхто.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4334256"/>
            <a:ext cx="10954512" cy="159105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3504" y="4334256"/>
            <a:ext cx="82296" cy="15910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дані не показують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40587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Продажів. Ні мережі, ні маркетплейси не віддають обсяги. Ємність роздрібу на слайді 03 — оцінка за імпортом, а не заміряний продаж.
2. Хто імпортер. У картках продавців імпортера не вказано; Prom показує лише продавця. Точний перелік дасть лише вивантаження Держмитслужби за УКТЗЕД 1904 90 10.
3. Оборотності на полиці «Сільпо». Скільки Ben's Original реально продає за місяць — без даних мережі не порахувати.
Наступний крок, який закриє 1 і 2: замовити митну базу за 1904 90 10 за 2024–2025 рр. і запитати в «Сільпо» дані про категорію.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Дослідження: 84 позиції, 23 бренди, 56 продавців, 17 мереж. Зріз 22–23 вересня 2026 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332 грн проти Ottogi 255 грн.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1 і 2: готовий рис і рис під окріп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Це два сегменти, які конкурують із нами напряму. Усередині сегмента бренди відсортовані від найдешевшого до найдорожчого.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Мікрохвильовка 60–90 с. Маса — готової страви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45–179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від Mars. Мікрохвильовка 90 с. Єдиний у мережевому роздрібі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94–96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для військторгу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350 г. Найдешевший грам категорії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135–189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Корейський лоток білого рису. Розігрів 90 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4436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294436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294436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1" y="294436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5" y="294436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225–356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59" y="294436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Корейська чаша з м'ясом і соусом. Розігрів 2 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94436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" y="313639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316839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6272" y="316839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44368" y="316839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1" y="316839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5" y="316839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252–446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59" y="316839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Органічний пауч з ЄС. Найдорожчий пауч ринку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16839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39242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76272" y="339242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339242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13631" y="339242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4255" y="339242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315–483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59" y="339242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Реторт 400 г + сублімат 110 г. Два формати в одному бренді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339242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3762756"/>
            <a:ext cx="10789920" cy="2148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3794760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2 · СУХИЙ РИС ПІД ОКРІП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3799332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Окріп 5–10 хв. Маса — сухого продукту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83–156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 сухого рису. Залити окропом на 8 хв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" y="4247388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Іспанський інстант-рис у чаші 84 г. Окріп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501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Китайський рис у пакеті під окріп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упаковку, без оптових порогів. Зріз 22–23.09.2026. Adventure Menu має дві технології: реторт 400 г (сегмент 1) і сублімат 110 г (сегмент 4).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3 і 4: саморозігрів і сублімація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два сегменти з нами не конкурують: інший привід споживання і інший канал. Показані, щоб було видно всю категорію.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Хімічний нагрівач 15 хв. Без техніки й окропу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380–1190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 з хімічним нагрівачем. Готується без техніки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931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чаша-саморозігрів. Найдорожча чаша ринку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090672"/>
            <a:ext cx="10789920" cy="21488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122676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127248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Сушіння виморожуванням. Похід і армія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38328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76272" y="338328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338328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1" y="338328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5" y="338328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83–321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59" y="33832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 для туризму й армії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38328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575304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60730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76272" y="360730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0730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13631" y="360730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4255" y="360730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55–156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360730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сублімат. Найширша вітчизняна лінійка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60730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83133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76272" y="383133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44368" y="383133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1" y="383133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34255" y="383133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133–140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83133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львівський бренд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383133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3776" y="4023360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130–145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власний магазин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290–370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447141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269–715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 для туризму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72744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76272" y="472744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44368" y="472744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13631" y="472744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4255" y="472744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492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59" y="47274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Нідерландський сублімат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0" y="472744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91947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95147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76272" y="495147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495147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3631" y="495147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34255" y="495147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275–889 грн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59" y="495147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сублімат. Найширша імпортна лінійка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495147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" y="517550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76272" y="517550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4368" y="517550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13631" y="517550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4255" y="517550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2159" y="517550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Американський сублімат. Найдорожчий грам категорії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1200" y="517550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упаковку. Trek'n Eat: маса на картках продавців не вказана. Зріз 22–23.09.2026.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10" name="Picture 9" descr="c1_for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МОДЕЛЬ ФОРМАТУ І ВАГИ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Яке поєднання упаковки й грамажу тримає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Кожна клітинка — скільки позицій категорії має цей формат у цій ваговій смузі.</a:t>
            </a:r>
          </a:p>
        </p:txBody>
      </p:sp>
      <p:pic>
        <p:nvPicPr>
          <p:cNvPr id="10" name="Picture 9" descr="c6_fmt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26464"/>
            <a:ext cx="11064240" cy="34117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681728"/>
            <a:ext cx="41148" cy="144475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F9A50B"/>
                </a:solidFill>
                <a:latin typeface="Segoe UI"/>
              </a:rPr>
              <a:t>ПОРЦІЙНЕ ВІКНО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200–299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22 позиції: пауч 14, чаша 8.
Одна порція на одну людину.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681728"/>
            <a:ext cx="41148" cy="144475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дойпак 100–149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16 позицій — але це сухий
сублімат, інший привід.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681728"/>
            <a:ext cx="41148" cy="1444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4820A"/>
                </a:solidFill>
                <a:latin typeface="Segoe UI"/>
              </a:rPr>
              <a:t>ПАУЧ ЖИВЕ ТІЛЬКИ ТУТ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14 із 19 паучів. Поза вікном —
лише укр. реторт 350 г.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681728"/>
            <a:ext cx="41148" cy="144475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ЧАША ПРАЦЮЄ СКРІЗЬ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84–320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Єдиний формат, присутній у шести
вагових смугах із семи.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84 позиції; 2 без указаної маси (Trek'n Eat) до крос-табу не входять. Вага — за картками продавців; для сухих продуктів це маса до заливання.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Які упаковки ринок обирає найчастіше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Ліворуч — конкретні поєднання формату й ваги. Праворуч — частка формату в усій категорії та окремо в каналах, куди ходить масовий покупець.</a:t>
            </a:r>
          </a:p>
        </p:txBody>
      </p:sp>
      <p:pic>
        <p:nvPicPr>
          <p:cNvPr id="10" name="Picture 9" descr="c7_comb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11064240" cy="42919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#1 НА РИНКУ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7 позицій, усі Ben's Original.
Медіана 129 грн.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6 позицій, медіана 90 грн —
найнижчий цінник категорії.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8280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#1 В АЗІЙСЬКІЙ НІШІ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174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 позицій Henan, 148 грн.
Прямий конкурент нашого стакана.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828032"/>
            <a:ext cx="41148" cy="129844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БЕЗ OUTDOOR-КАНАЛУ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+ пауч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91 % позицій, доступних масовому
покупцю. Дойпак падає з 36 % до 4 %.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Поєднання з двома й більше позиціями; 13 поєднань покривають 52 із 84 позицій. Медіана ціни — за позиціями цього поєднання. «Масовий канал» — мережа, маркетплейси та спеціалізовані фудшопи (46 позицій); outdoor- і мілітарі-рітейл виключено.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10" name="Picture 9" descr="c3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4752"/>
            <a:ext cx="7635240" cy="35970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148132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8" y="1481328"/>
            <a:ext cx="41148" cy="148132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6367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1901952"/>
            <a:ext cx="2743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Шість із семи наших груп потрапляють у вікно 45–180 грн, у якому покупець реально бере товар у мережі.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3090672"/>
            <a:ext cx="3200400" cy="15727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3090672"/>
            <a:ext cx="41148" cy="157276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3246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3511296"/>
            <a:ext cx="2743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Наш найдешевший SKU — 133 грн. Медіана пауча — 109 грн, Ben's Original — 90 грн. За ціною входу ми в верхній третині вікна.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4791456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8" y="4791456"/>
            <a:ext cx="41148" cy="13533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4946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5212080"/>
            <a:ext cx="2743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Подвійний стакан 219 грн і ONE'S Fried Rice 332 грн — вище стелі мережевої полиці.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Суцільна перевірка каталогів Ашан, Сільпо, METRO, NOVUS, МегаМаркет, Ultramarket, ЕКО маркет, Epicentr, Космос — 28.09.2026.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114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16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ЗБЕРІГАННЯ ПРИ КІМНАТНІЙ · НАШ СЕТ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16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1755648"/>
            <a:ext cx="1389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556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3" y="175564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385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1938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93852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пауч 220–250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1938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9385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90–179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3" y="193852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2121408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5341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15341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15341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1534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15341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3" y="21534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87168"/>
            <a:ext cx="41148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500884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0884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11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72491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272491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272491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 280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7249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272491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72491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2907791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939795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2939795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1" y="2939795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293979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2939795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93979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154679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15467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1" y="3154679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19" y="31546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154679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139–439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3" y="3154679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3337559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69563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3369563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1" y="3369563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33695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3369563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3" y="3369563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35844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844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35844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3584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844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366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6143" y="35844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18203"/>
            <a:ext cx="41148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9319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9319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3 SKU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1559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559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1" y="41559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19" y="41559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19" y="41559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89–92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3" y="41559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6" y="4338827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37083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 · Сільпо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43708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1" y="437083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19" y="43708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19" y="437083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59–85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3" y="437083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5857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2112" y="45857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1" y="45857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500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19" y="45857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5857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96143" y="45857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19472"/>
            <a:ext cx="41148" cy="17373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4933188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933188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0 SKU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51572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51572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1" y="51572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19" y="51572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19" y="51572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96143" y="51572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6928" y="5138928"/>
            <a:ext cx="41148" cy="10058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AMBIENT-ПОЛИЦЯ — ЦЕ 12 SKU НА ВСЮ КРАЇНУ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 із них — Ben's Original у «Сільпо». Єдина інша позиція: український лоток The Local Food по-тайськи 350 г за 207 грн у МегаМаркеті.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920" y="5138928"/>
            <a:ext cx="41148" cy="100584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5664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METRO — НУЛЬ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Cash&amp;Carry тримає лише крупу 1–10 кг під власними марками Metro Chef і Aro. Формат обслуговує HoReCa, не кінцевого покупця.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відкритий каталожний API zakaz.ua (Ашан, METRO, NOVUS, МегаМаркет, Ultramarket, ЕКО маркет, Epicentr, Космос) та sf-ecom-api.silpo.ua — 28.09.2026. Фоззі Cash&amp;Carry перевірити не вдалося: каталог закритий ботозахистом.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АЗІЙСЬКИЙ ФОРМАТ У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Дистрибуція вже є — рису в ній немає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Скільки позицій кожного азійського бренду вже стоїть у національних мережах.</a:t>
            </a:r>
          </a:p>
        </p:txBody>
      </p:sp>
      <p:pic>
        <p:nvPicPr>
          <p:cNvPr id="10" name="Picture 9" descr="c8_asian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11064240" cy="40622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1148" cy="13716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БАР'ЄР — НЕ ДИСТРИБУЦІЯ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Ottogi має 14 позицій у трьох мережах, Bibigo — 6 в «Ашані». Імпортер, лістинг, полиця й логістика під ці бренди вже існують.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773168"/>
            <a:ext cx="41148" cy="13716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НІХТО ПРОСТО НЕ ЗАВІЗ РИС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Ті самі Ottogi і Bibigo продають чаші з рисом по 225–356 грн — але лише в азійських фудшопах. У мережу зайшла тільки локшина.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773168"/>
            <a:ext cx="41148" cy="13716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ВІКНО МОЖЕ БУТИ КОРОТКИМ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Імпортер Ottogi додасть рисові SKU до наявного лістингу швидше, ніж ми збудуємо свій з нуля. Це аргумент заходити зараз.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Підрахунок позицій за відкритими каталогами мереж, 28.09.2026. Ураховано позиції, де назва бренду є в назві товару. «З них рис» — жодної позиції готового чи сирого рису під цими брендами в жодній із перевірених мереж.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10" name="Picture 9" descr="c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3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 · МегаМаркет · Ultramarket. Решта 14 перевірених мереж категорії не мають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2569464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569464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679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697480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708452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88950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07238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332841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584448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70448" y="3584448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6941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712463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723436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904487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087368"/>
            <a:ext cx="53949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69087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94690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946904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5056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74920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085892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526694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44982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907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66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F9A50B"/>
                </a:solidFill>
                <a:latin typeface="Segoe UI"/>
              </a:rPr>
              <a:t>ЯК РАХУВАЛИ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6422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" b="0">
                <a:solidFill>
                  <a:srgbClr val="9FA9C4"/>
                </a:solidFill>
                <a:latin typeface="Segoe UI"/>
              </a:rPr>
              <a:t>Точка продажу = окремий продавець, у якого в каталозі є хоча б одна з 84 позицій категорії. Рахували поіменно за картками товару: у кожній картці вказано продавця. Продуктовий роздріб (3): Сільпо, МегаМаркет, Ultramarket — перевірено суцільно через каталожні API 9 мереж 28.09.2026. Маркетплейси (3): MAUDAU, Rozetka, Prom. Фудшопи (20) і outdoor (40) — за зрізом 22–23.09.2026; в outdoor поіменно ідентифіковано 28 із 40, решта продають ті самі сублімати. Агрегатори zakaz.ua і GoToShop не рахуються як точки продажу: вони віддають товар чужих мереж.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10" name="Picture 9" descr="c4_f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7635240" cy="26764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278892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3648" y="16276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8196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717890"/>
                </a:solidFill>
                <a:latin typeface="Segoe UI"/>
              </a:rPr>
              <a:t>ЦІЛЬ / 20′ FCL / 40′ FCL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06654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20827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109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3072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4871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Ben's медіана @240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62889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3072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907791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04952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129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3072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$0,535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32841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Паритет Bibigo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470147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162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$0,672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74903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Ottogi −22 %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3890772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199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$0,826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30768" y="4434840"/>
            <a:ext cx="3200400" cy="171907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590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ФОРМУЛА ПЕРЕГОВОРІВ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4855464"/>
            <a:ext cx="274320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полиця = FOB × 268,9  (20′ FCL)
полиця = FOB × 241,1  (40′ FCL)
Кожні $0,10 зниження FOB знімають 27 грн з полиці.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АУДИТ ФІНМОДЕЛІ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Чотири припущення, які треба закрити до переговорів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Модель арифметично коректна. Ризики — у вхідних даних і в трактуванні податків.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1396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4F7C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ПДВ, ймовірно, задвоєно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Собівартість містить імпортний ПДВ 20 % (RTE_Rice_Suppliers), а ціна партнера в моделі «вже з ПДВ». Для платника ПДВ імпортний податок — податковий кредит, а не витрата.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ЯКЩО ПІДТВЕРДИТЬСЯ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СС падає на 16,7 %, полиця BSCM пауч 240 г: 157 → 131 грн, стакан 150 г: 139 → 116 грн. Це змінює весь висновок щодо пауча.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72768"/>
            <a:ext cx="41148" cy="21396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A50B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«Маржа 35 %» — не прибуток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моделі маржа = (ціна партнера − СС − бонус) / ціна партнера. У ній немає нашого ФОП, маркетингу, вхідних бонусів мережі, внутрішньої логістики, списань і прострочення.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ЩО ЗРОБИТИ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Додати рядок операційних витрат. Поки його немає, 35 % не можна називати рентабельністю — це валова націнка.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4487"/>
            <a:ext cx="41148" cy="21396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D4B96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Ставка мита не підтверджена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СС закладено мито 10 %. Дослідження ринку вказує 0 % для CN 1904 90 10 з ЄС. Для Таїланду й Кореї діє інша ставка, джерело в моделі не зазначено.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ЩО ЗРОБИТИ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Отримати письмову тарифну класифікацію за УКТЗЕД 1904 90 10 до підписання контракту. Похибка в 10 % — це 27 грн на полиці.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04487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Бонус мережі 25 % — гіпотеза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Ставка 25 % взята з прикладу по локшині. Реальні умови «Сільпо» для нової імпортної категорії без історії продажів можуть бути вищими, плюс вхідний бонус і плата за лістинг.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5664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ЩО ЗРОБИТИ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Запросити комерційні умови до розрахунку цін. За бонусу 30 % полиця зростає на 17 % при тій самій маржі.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Пункт 1 — ГІПОТЕЗА, що потребує підтвердження бухгалтером: залежить від статусу платника ПДВ і від того, як ПДВ ураховано в аркушах Self_Cost. Пункти 2–4 — прямі спостереження за вмістом моделі й супровідних файлів.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4552</Words>
  <Application>Microsoft Office PowerPoint</Application>
  <PresentationFormat>Широкий екран</PresentationFormat>
  <Paragraphs>932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2026-09-23T11:30:11Z</dcterms:modified>
  <cp:category/>
</cp:coreProperties>
</file>