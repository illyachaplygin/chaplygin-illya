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2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1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_rels/presentation.xml.rels" ContentType="application/vnd.openxmlformats-package.relationships+xml"/>
  <Override PartName="/ppt/media/image56.jpeg" ContentType="image/jpeg"/>
  <Override PartName="/ppt/media/image55.jpeg" ContentType="image/jpeg"/>
  <Override PartName="/ppt/media/image54.jpeg" ContentType="image/jpeg"/>
  <Override PartName="/ppt/media/image53.jpeg" ContentType="image/jpeg"/>
  <Override PartName="/ppt/media/image52.jpeg" ContentType="image/jpeg"/>
  <Override PartName="/ppt/media/image50.jpeg" ContentType="image/jpeg"/>
  <Override PartName="/ppt/media/image46.jpeg" ContentType="image/jpeg"/>
  <Override PartName="/ppt/media/image45.jpeg" ContentType="image/jpeg"/>
  <Override PartName="/ppt/media/image44.jpeg" ContentType="image/jpeg"/>
  <Override PartName="/ppt/media/image43.jpeg" ContentType="image/jpeg"/>
  <Override PartName="/ppt/media/image42.jpeg" ContentType="image/jpeg"/>
  <Override PartName="/ppt/media/image41.jpeg" ContentType="image/jpeg"/>
  <Override PartName="/ppt/media/image40.jpeg" ContentType="image/jpeg"/>
  <Override PartName="/ppt/media/image39.jpeg" ContentType="image/jpeg"/>
  <Override PartName="/ppt/media/image37.jpeg" ContentType="image/jpeg"/>
  <Override PartName="/ppt/media/image36.jpeg" ContentType="image/jpeg"/>
  <Override PartName="/ppt/media/image75.png" ContentType="image/png"/>
  <Override PartName="/ppt/media/image17.jpeg" ContentType="image/jpeg"/>
  <Override PartName="/ppt/media/image57.jpeg" ContentType="image/jpeg"/>
  <Override PartName="/ppt/media/image20.jpeg" ContentType="image/jpeg"/>
  <Override PartName="/ppt/media/image18.jpeg" ContentType="image/jpeg"/>
  <Override PartName="/ppt/media/image60.jpeg" ContentType="image/jpeg"/>
  <Override PartName="/ppt/media/image19.jpeg" ContentType="image/jpeg"/>
  <Override PartName="/ppt/media/image61.jpeg" ContentType="image/jpeg"/>
  <Override PartName="/ppt/media/image21.jpeg" ContentType="image/jpeg"/>
  <Override PartName="/ppt/media/image58.jpeg" ContentType="image/jpeg"/>
  <Override PartName="/ppt/media/image7.jpeg" ContentType="image/jpeg"/>
  <Override PartName="/ppt/media/image71.jpeg" ContentType="image/jpeg"/>
  <Override PartName="/ppt/media/image29.jpeg" ContentType="image/jpeg"/>
  <Override PartName="/ppt/media/image23.jpeg" ContentType="image/jpeg"/>
  <Override PartName="/ppt/media/image72.jpeg" ContentType="image/jpeg"/>
  <Override PartName="/ppt/media/image8.jpeg" ContentType="image/jpeg"/>
  <Override PartName="/ppt/media/image1.png" ContentType="image/png"/>
  <Override PartName="/ppt/media/image69.jpeg" ContentType="image/jpeg"/>
  <Override PartName="/ppt/media/image32.jpeg" ContentType="image/jpeg"/>
  <Override PartName="/ppt/media/image74.png" ContentType="image/png"/>
  <Override PartName="/ppt/media/image34.jpeg" ContentType="image/jpeg"/>
  <Override PartName="/ppt/media/image70.jpeg" ContentType="image/jpeg"/>
  <Override PartName="/ppt/media/image28.jpeg" ContentType="image/jpeg"/>
  <Override PartName="/ppt/media/image68.jpeg" ContentType="image/jpeg"/>
  <Override PartName="/ppt/media/image31.jpeg" ContentType="image/jpeg"/>
  <Override PartName="/ppt/media/image67.jpeg" ContentType="image/jpeg"/>
  <Override PartName="/ppt/media/image6.png" ContentType="image/png"/>
  <Override PartName="/ppt/media/image30.jpeg" ContentType="image/jpeg"/>
  <Override PartName="/ppt/media/image66.jpeg" ContentType="image/jpeg"/>
  <Override PartName="/ppt/media/image65.jpeg" ContentType="image/jpeg"/>
  <Override PartName="/ppt/media/image27.jpeg" ContentType="image/jpeg"/>
  <Override PartName="/ppt/media/image64.jpeg" ContentType="image/jpeg"/>
  <Override PartName="/ppt/media/image63.jpeg" ContentType="image/jpeg"/>
  <Override PartName="/ppt/media/image25.jpeg" ContentType="image/jpeg"/>
  <Override PartName="/ppt/media/image76.png" ContentType="image/png"/>
  <Override PartName="/ppt/media/image62.jpeg" ContentType="image/jpeg"/>
  <Override PartName="/ppt/media/image24.jpeg" ContentType="image/jpeg"/>
  <Override PartName="/ppt/media/image16.jpeg" ContentType="image/jpeg"/>
  <Override PartName="/ppt/media/image15.jpeg" ContentType="image/jpeg"/>
  <Override PartName="/ppt/media/image14.jpeg" ContentType="image/jpeg"/>
  <Override PartName="/ppt/media/image22.jpeg" ContentType="image/jpeg"/>
  <Override PartName="/ppt/media/image5.png" ContentType="image/png"/>
  <Override PartName="/ppt/media/image59.jpeg" ContentType="image/jpeg"/>
  <Override PartName="/ppt/media/image3.png" ContentType="image/png"/>
  <Override PartName="/ppt/media/image38.jpeg" ContentType="image/jpeg"/>
  <Override PartName="/ppt/media/image2.png" ContentType="image/png"/>
  <Override PartName="/ppt/media/image26.jpeg" ContentType="image/jpeg"/>
  <Override PartName="/ppt/media/image4.png" ContentType="image/png"/>
  <Override PartName="/ppt/media/image51.jpeg" ContentType="image/jpeg"/>
  <Override PartName="/ppt/media/image13.jpeg" ContentType="image/jpeg"/>
  <Override PartName="/ppt/media/image9.jpeg" ContentType="image/jpeg"/>
  <Override PartName="/ppt/media/image12.jpeg" ContentType="image/jpeg"/>
  <Override PartName="/ppt/media/image49.jpeg" ContentType="image/jpeg"/>
  <Override PartName="/ppt/media/image10.jpeg" ContentType="image/jpeg"/>
  <Override PartName="/ppt/media/image47.jpeg" ContentType="image/jpeg"/>
  <Override PartName="/ppt/media/image73.png" ContentType="image/png"/>
  <Override PartName="/ppt/media/image11.jpeg" ContentType="image/jpeg"/>
  <Override PartName="/ppt/media/image48.jpeg" ContentType="image/jpeg"/>
  <Override PartName="/ppt/media/image33.jpeg" ContentType="image/jpeg"/>
  <Override PartName="/ppt/media/image35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6049C9C-26D1-4BF7-95C2-7ABB3BE004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51877D8-6C42-493E-8137-7AA72E3A88C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2FBAA39-EC53-4CF0-B60E-14DE506C66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D6FE0B3-4447-4A7D-B583-5EE32AB8B8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5602CAE-D726-43B9-920E-EA5939FE8F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538AA35-9490-4648-8368-19B3123CAD3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AB01A933-A588-48C4-BB5D-0E2F439E68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926C7FD-F93C-4D5B-BE9B-12BDB056F4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64FE91E-1351-4F9F-8CF5-0B7F6789C7C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2F14AF9-FC9F-4855-811B-1BDAF89C79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08C1557-350F-440A-AEDD-9DFC903CA6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BF6D8D-7452-4BBD-B80A-CCF3520CA2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393B8F-BA6B-4E36-8247-E9C295277C1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806D57-E2E7-4FCC-8AB1-E1592A1A537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6F79F3-08D0-4626-8438-E303BB1E74C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701CCC-9DC2-4749-8F63-A885FB3A76D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10AE7C-BC5C-431D-A7BD-9638F561294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8B0B25-FF38-4398-BF0F-2F66D13BE1A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51B68A-7401-4164-B7B7-66C50FF8715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605F44-7B5C-4EC4-9071-29658010D3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384E6A-BA14-4EB6-BCD8-4BF7C0D4A84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41A942-13C1-4351-B248-8F6A5E96920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jpeg"/><Relationship Id="rId3" Type="http://schemas.openxmlformats.org/officeDocument/2006/relationships/image" Target="../media/image8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8.jpeg"/><Relationship Id="rId11" Type="http://schemas.openxmlformats.org/officeDocument/2006/relationships/image" Target="../media/image15.jpeg"/><Relationship Id="rId12" Type="http://schemas.openxmlformats.org/officeDocument/2006/relationships/image" Target="../media/image10.jpeg"/><Relationship Id="rId13" Type="http://schemas.openxmlformats.org/officeDocument/2006/relationships/image" Target="../media/image11.jpeg"/><Relationship Id="rId14" Type="http://schemas.openxmlformats.org/officeDocument/2006/relationships/image" Target="../media/image12.jpeg"/><Relationship Id="rId15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17.jpeg"/><Relationship Id="rId9" Type="http://schemas.openxmlformats.org/officeDocument/2006/relationships/image" Target="../media/image22.jpeg"/><Relationship Id="rId10" Type="http://schemas.openxmlformats.org/officeDocument/2006/relationships/image" Target="../media/image19.jpeg"/><Relationship Id="rId11" Type="http://schemas.openxmlformats.org/officeDocument/2006/relationships/image" Target="../media/image20.jpeg"/><Relationship Id="rId1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3.jpeg"/><Relationship Id="rId3" Type="http://schemas.openxmlformats.org/officeDocument/2006/relationships/image" Target="../media/image24.jpeg"/><Relationship Id="rId4" Type="http://schemas.openxmlformats.org/officeDocument/2006/relationships/image" Target="../media/image25.jpeg"/><Relationship Id="rId5" Type="http://schemas.openxmlformats.org/officeDocument/2006/relationships/image" Target="../media/image26.jpeg"/><Relationship Id="rId6" Type="http://schemas.openxmlformats.org/officeDocument/2006/relationships/image" Target="../media/image23.jpeg"/><Relationship Id="rId7" Type="http://schemas.openxmlformats.org/officeDocument/2006/relationships/image" Target="../media/image27.jpeg"/><Relationship Id="rId8" Type="http://schemas.openxmlformats.org/officeDocument/2006/relationships/image" Target="../media/image25.jpeg"/><Relationship Id="rId9" Type="http://schemas.openxmlformats.org/officeDocument/2006/relationships/image" Target="../media/image28.jpeg"/><Relationship Id="rId10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9.jpeg"/><Relationship Id="rId3" Type="http://schemas.openxmlformats.org/officeDocument/2006/relationships/image" Target="../media/image30.jpeg"/><Relationship Id="rId4" Type="http://schemas.openxmlformats.org/officeDocument/2006/relationships/image" Target="../media/image31.jpeg"/><Relationship Id="rId5" Type="http://schemas.openxmlformats.org/officeDocument/2006/relationships/image" Target="../media/image32.jpeg"/><Relationship Id="rId6" Type="http://schemas.openxmlformats.org/officeDocument/2006/relationships/image" Target="../media/image33.jpeg"/><Relationship Id="rId7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4.jpeg"/><Relationship Id="rId3" Type="http://schemas.openxmlformats.org/officeDocument/2006/relationships/image" Target="../media/image35.jpeg"/><Relationship Id="rId4" Type="http://schemas.openxmlformats.org/officeDocument/2006/relationships/image" Target="../media/image36.jpeg"/><Relationship Id="rId5" Type="http://schemas.openxmlformats.org/officeDocument/2006/relationships/image" Target="../media/image37.jpeg"/><Relationship Id="rId6" Type="http://schemas.openxmlformats.org/officeDocument/2006/relationships/image" Target="../media/image38.jpeg"/><Relationship Id="rId7" Type="http://schemas.openxmlformats.org/officeDocument/2006/relationships/image" Target="../media/image34.jpeg"/><Relationship Id="rId8" Type="http://schemas.openxmlformats.org/officeDocument/2006/relationships/image" Target="../media/image35.jpeg"/><Relationship Id="rId9" Type="http://schemas.openxmlformats.org/officeDocument/2006/relationships/image" Target="../media/image39.jpeg"/><Relationship Id="rId10" Type="http://schemas.openxmlformats.org/officeDocument/2006/relationships/image" Target="../media/image37.jpeg"/><Relationship Id="rId11" Type="http://schemas.openxmlformats.org/officeDocument/2006/relationships/image" Target="../media/image38.jpeg"/><Relationship Id="rId1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0.jpeg"/><Relationship Id="rId3" Type="http://schemas.openxmlformats.org/officeDocument/2006/relationships/image" Target="../media/image41.jpeg"/><Relationship Id="rId4" Type="http://schemas.openxmlformats.org/officeDocument/2006/relationships/image" Target="../media/image42.jpeg"/><Relationship Id="rId5" Type="http://schemas.openxmlformats.org/officeDocument/2006/relationships/image" Target="../media/image43.jpeg"/><Relationship Id="rId6" Type="http://schemas.openxmlformats.org/officeDocument/2006/relationships/image" Target="../media/image44.jpeg"/><Relationship Id="rId7" Type="http://schemas.openxmlformats.org/officeDocument/2006/relationships/image" Target="../media/image45.jpeg"/><Relationship Id="rId8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6.jpeg"/><Relationship Id="rId3" Type="http://schemas.openxmlformats.org/officeDocument/2006/relationships/image" Target="../media/image47.jpeg"/><Relationship Id="rId4" Type="http://schemas.openxmlformats.org/officeDocument/2006/relationships/image" Target="../media/image48.jpeg"/><Relationship Id="rId5" Type="http://schemas.openxmlformats.org/officeDocument/2006/relationships/image" Target="../media/image49.jpeg"/><Relationship Id="rId6" Type="http://schemas.openxmlformats.org/officeDocument/2006/relationships/image" Target="../media/image50.jpeg"/><Relationship Id="rId7" Type="http://schemas.openxmlformats.org/officeDocument/2006/relationships/image" Target="../media/image51.jpeg"/><Relationship Id="rId8" Type="http://schemas.openxmlformats.org/officeDocument/2006/relationships/image" Target="../media/image52.jpeg"/><Relationship Id="rId9" Type="http://schemas.openxmlformats.org/officeDocument/2006/relationships/image" Target="../media/image46.jpeg"/><Relationship Id="rId10" Type="http://schemas.openxmlformats.org/officeDocument/2006/relationships/image" Target="../media/image47.jpeg"/><Relationship Id="rId11" Type="http://schemas.openxmlformats.org/officeDocument/2006/relationships/image" Target="../media/image48.jpeg"/><Relationship Id="rId12" Type="http://schemas.openxmlformats.org/officeDocument/2006/relationships/image" Target="../media/image53.jpeg"/><Relationship Id="rId13" Type="http://schemas.openxmlformats.org/officeDocument/2006/relationships/image" Target="../media/image50.jpeg"/><Relationship Id="rId14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4.jpeg"/><Relationship Id="rId3" Type="http://schemas.openxmlformats.org/officeDocument/2006/relationships/image" Target="../media/image55.jpeg"/><Relationship Id="rId4" Type="http://schemas.openxmlformats.org/officeDocument/2006/relationships/image" Target="../media/image56.jpeg"/><Relationship Id="rId5" Type="http://schemas.openxmlformats.org/officeDocument/2006/relationships/image" Target="../media/image57.jpeg"/><Relationship Id="rId6" Type="http://schemas.openxmlformats.org/officeDocument/2006/relationships/image" Target="../media/image58.jpeg"/><Relationship Id="rId7" Type="http://schemas.openxmlformats.org/officeDocument/2006/relationships/image" Target="../media/image54.jpeg"/><Relationship Id="rId8" Type="http://schemas.openxmlformats.org/officeDocument/2006/relationships/image" Target="../media/image59.jpeg"/><Relationship Id="rId9" Type="http://schemas.openxmlformats.org/officeDocument/2006/relationships/image" Target="../media/image56.jpeg"/><Relationship Id="rId10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0.jpeg"/><Relationship Id="rId3" Type="http://schemas.openxmlformats.org/officeDocument/2006/relationships/image" Target="../media/image61.jpeg"/><Relationship Id="rId4" Type="http://schemas.openxmlformats.org/officeDocument/2006/relationships/image" Target="../media/image62.jpeg"/><Relationship Id="rId5" Type="http://schemas.openxmlformats.org/officeDocument/2006/relationships/image" Target="../media/image63.jpeg"/><Relationship Id="rId6" Type="http://schemas.openxmlformats.org/officeDocument/2006/relationships/image" Target="../media/image64.jpeg"/><Relationship Id="rId7" Type="http://schemas.openxmlformats.org/officeDocument/2006/relationships/image" Target="../media/image65.jpeg"/><Relationship Id="rId8" Type="http://schemas.openxmlformats.org/officeDocument/2006/relationships/image" Target="../media/image66.jpeg"/><Relationship Id="rId9" Type="http://schemas.openxmlformats.org/officeDocument/2006/relationships/image" Target="../media/image60.jpeg"/><Relationship Id="rId10" Type="http://schemas.openxmlformats.org/officeDocument/2006/relationships/image" Target="../media/image61.jpeg"/><Relationship Id="rId11" Type="http://schemas.openxmlformats.org/officeDocument/2006/relationships/image" Target="../media/image62.jpeg"/><Relationship Id="rId12" Type="http://schemas.openxmlformats.org/officeDocument/2006/relationships/image" Target="../media/image63.jpeg"/><Relationship Id="rId13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7.jpeg"/><Relationship Id="rId3" Type="http://schemas.openxmlformats.org/officeDocument/2006/relationships/image" Target="../media/image68.jpeg"/><Relationship Id="rId4" Type="http://schemas.openxmlformats.org/officeDocument/2006/relationships/image" Target="../media/image69.jpeg"/><Relationship Id="rId5" Type="http://schemas.openxmlformats.org/officeDocument/2006/relationships/image" Target="../media/image70.jpeg"/><Relationship Id="rId6" Type="http://schemas.openxmlformats.org/officeDocument/2006/relationships/image" Target="../media/image71.jpeg"/><Relationship Id="rId7" Type="http://schemas.openxmlformats.org/officeDocument/2006/relationships/image" Target="../media/image72.jpeg"/><Relationship Id="rId8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3.png"/><Relationship Id="rId3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4.png"/><Relationship Id="rId3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5.png"/><Relationship Id="rId3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6.png"/><Relationship Id="rId3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400" cy="8208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9" name="Picture 3" descr="logo.png"/>
          <p:cNvPicPr/>
          <p:nvPr/>
        </p:nvPicPr>
        <p:blipFill>
          <a:blip r:embed="rId1"/>
          <a:stretch/>
        </p:blipFill>
        <p:spPr>
          <a:xfrm>
            <a:off x="822960" y="640080"/>
            <a:ext cx="1828440" cy="790200"/>
          </a:xfrm>
          <a:prstGeom prst="rect">
            <a:avLst/>
          </a:prstGeom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822960" y="2240280"/>
            <a:ext cx="82292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9a50b"/>
                </a:solidFill>
                <a:latin typeface="Segoe UI"/>
              </a:rPr>
              <a:t>ДОСЛІДЖЕННЯ РИНКУ ТА ПОЗИЦІОНУВАННЯ · ВЕРЕСЕНЬ 2026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2651760"/>
            <a:ext cx="9692280" cy="13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400" spc="-1" strike="noStrike">
                <a:solidFill>
                  <a:srgbClr val="ffffff"/>
                </a:solidFill>
                <a:latin typeface="Segoe UI"/>
              </a:rPr>
              <a:t>Готовий рис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5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Segoe UI"/>
              </a:rPr>
              <a:t>в Україні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822960" y="4443840"/>
            <a:ext cx="89607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b="0" lang="en-US" sz="1200" spc="-1" strike="noStrike">
                <a:solidFill>
                  <a:srgbClr val="b9c2da"/>
                </a:solidFill>
                <a:latin typeface="Segoe UI"/>
              </a:rPr>
              <a:t>Карта ринку, сегментація категорії, аналітика форматів упаковки та зіставлення нашої фінансової моделі з полицею.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822960" y="5321880"/>
            <a:ext cx="24685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717890"/>
                </a:solidFill>
                <a:latin typeface="Segoe UI"/>
              </a:rPr>
              <a:t>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822960" y="5523120"/>
            <a:ext cx="2468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600" spc="-1" strike="noStrike">
                <a:solidFill>
                  <a:srgbClr val="f9a50b"/>
                </a:solidFill>
                <a:latin typeface="Segoe UI"/>
              </a:rPr>
              <a:t>23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3520440" y="5321880"/>
            <a:ext cx="24685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717890"/>
                </a:solidFill>
                <a:latin typeface="Segoe UI"/>
              </a:rPr>
              <a:t>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3520440" y="5523120"/>
            <a:ext cx="2468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600" spc="-1" strike="noStrike">
                <a:solidFill>
                  <a:srgbClr val="f9a50b"/>
                </a:solidFill>
                <a:latin typeface="Segoe UI"/>
              </a:rPr>
              <a:t>84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6217920" y="5321880"/>
            <a:ext cx="24685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717890"/>
                </a:solidFill>
                <a:latin typeface="Segoe UI"/>
              </a:rPr>
              <a:t>ПРОДАВЦІВ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217920" y="5523120"/>
            <a:ext cx="2468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600" spc="-1" strike="noStrike">
                <a:solidFill>
                  <a:srgbClr val="f9a50b"/>
                </a:solidFill>
                <a:latin typeface="Segoe UI"/>
              </a:rPr>
              <a:t>64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8915400" y="5321880"/>
            <a:ext cx="24685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717890"/>
                </a:solidFill>
                <a:latin typeface="Segoe UI"/>
              </a:rPr>
              <a:t>НАШИХ SKU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14"/>
          <p:cNvSpPr/>
          <p:nvPr/>
        </p:nvSpPr>
        <p:spPr>
          <a:xfrm>
            <a:off x="8915400" y="5523120"/>
            <a:ext cx="2468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600" spc="-1" strike="noStrike">
                <a:solidFill>
                  <a:srgbClr val="f9a50b"/>
                </a:solidFill>
                <a:latin typeface="Segoe UI"/>
              </a:rPr>
              <a:t>32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85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ГОЛОВНЕ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ounded Rectangle 9"/>
          <p:cNvSpPr/>
          <p:nvPr/>
        </p:nvSpPr>
        <p:spPr>
          <a:xfrm>
            <a:off x="567000" y="160920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768240" y="176472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ОБСЯГ ІМПОРТУ 2025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1"/>
          <p:cNvSpPr/>
          <p:nvPr/>
        </p:nvSpPr>
        <p:spPr>
          <a:xfrm>
            <a:off x="768240" y="197496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c4820a"/>
                </a:solidFill>
                <a:latin typeface="Segoe UI"/>
              </a:rPr>
              <a:t>182 т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Box 12"/>
          <p:cNvSpPr/>
          <p:nvPr/>
        </p:nvSpPr>
        <p:spPr>
          <a:xfrm>
            <a:off x="768240" y="245052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Готовий рис, CN 1904 90 10.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+59 % до 2024 року.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ounded Rectangle 13"/>
          <p:cNvSpPr/>
          <p:nvPr/>
        </p:nvSpPr>
        <p:spPr>
          <a:xfrm>
            <a:off x="4251960" y="160920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14"/>
          <p:cNvSpPr/>
          <p:nvPr/>
        </p:nvSpPr>
        <p:spPr>
          <a:xfrm>
            <a:off x="4453200" y="176472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ЄМНІСТЬ РОЗДРІБУ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15"/>
          <p:cNvSpPr/>
          <p:nvPr/>
        </p:nvSpPr>
        <p:spPr>
          <a:xfrm>
            <a:off x="4453200" y="197496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1e9ea6"/>
                </a:solidFill>
                <a:latin typeface="Segoe UI"/>
              </a:rPr>
              <a:t>87–110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16"/>
          <p:cNvSpPr/>
          <p:nvPr/>
        </p:nvSpPr>
        <p:spPr>
          <a:xfrm>
            <a:off x="4453200" y="245052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млн грн на рік — оцінка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за імпортом × 2,2–2,8.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ounded Rectangle 17"/>
          <p:cNvSpPr/>
          <p:nvPr/>
        </p:nvSpPr>
        <p:spPr>
          <a:xfrm>
            <a:off x="7936920" y="160920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TextBox 18"/>
          <p:cNvSpPr/>
          <p:nvPr/>
        </p:nvSpPr>
        <p:spPr>
          <a:xfrm>
            <a:off x="8138160" y="176472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ПОЗИЦІЙ У ПРОДАЖУ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19"/>
          <p:cNvSpPr/>
          <p:nvPr/>
        </p:nvSpPr>
        <p:spPr>
          <a:xfrm>
            <a:off x="8138160" y="197496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5d4b96"/>
                </a:solidFill>
                <a:latin typeface="Segoe UI"/>
              </a:rPr>
              <a:t>84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20"/>
          <p:cNvSpPr/>
          <p:nvPr/>
        </p:nvSpPr>
        <p:spPr>
          <a:xfrm>
            <a:off x="8138160" y="245052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23 бренди, 64 продавці.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У мережі — 12 позицій.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1"/>
          <p:cNvSpPr/>
          <p:nvPr/>
        </p:nvSpPr>
        <p:spPr>
          <a:xfrm>
            <a:off x="567000" y="299916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TextBox 22"/>
          <p:cNvSpPr/>
          <p:nvPr/>
        </p:nvSpPr>
        <p:spPr>
          <a:xfrm>
            <a:off x="768240" y="315468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НАЙПОШИРЕНІШИЙ ФОРМАТ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23"/>
          <p:cNvSpPr/>
          <p:nvPr/>
        </p:nvSpPr>
        <p:spPr>
          <a:xfrm>
            <a:off x="768240" y="336492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c94f7c"/>
                </a:solidFill>
                <a:latin typeface="Segoe UI"/>
              </a:rPr>
              <a:t>дойпак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24"/>
          <p:cNvSpPr/>
          <p:nvPr/>
        </p:nvSpPr>
        <p:spPr>
          <a:xfrm>
            <a:off x="768240" y="384048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30 позицій (36 %),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але це туризм, не полиця.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Rounded Rectangle 25"/>
          <p:cNvSpPr/>
          <p:nvPr/>
        </p:nvSpPr>
        <p:spPr>
          <a:xfrm>
            <a:off x="4251960" y="299916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TextBox 26"/>
          <p:cNvSpPr/>
          <p:nvPr/>
        </p:nvSpPr>
        <p:spPr>
          <a:xfrm>
            <a:off x="4453200" y="315468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МАСОВА ВАГА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Box 27"/>
          <p:cNvSpPr/>
          <p:nvPr/>
        </p:nvSpPr>
        <p:spPr>
          <a:xfrm>
            <a:off x="4453200" y="336492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37a169"/>
                </a:solidFill>
                <a:latin typeface="Segoe UI"/>
              </a:rPr>
              <a:t>250 г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28"/>
          <p:cNvSpPr/>
          <p:nvPr/>
        </p:nvSpPr>
        <p:spPr>
          <a:xfrm>
            <a:off x="4453200" y="384048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9 позицій. Далі 220 г — 7,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174 г — 5, 85 г — 5.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ounded Rectangle 29"/>
          <p:cNvSpPr/>
          <p:nvPr/>
        </p:nvSpPr>
        <p:spPr>
          <a:xfrm>
            <a:off x="7936920" y="299916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30"/>
          <p:cNvSpPr/>
          <p:nvPr/>
        </p:nvSpPr>
        <p:spPr>
          <a:xfrm>
            <a:off x="8138160" y="315468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ФОРМАТ ПОЛИЦІ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31"/>
          <p:cNvSpPr/>
          <p:nvPr/>
        </p:nvSpPr>
        <p:spPr>
          <a:xfrm>
            <a:off x="8138160" y="336492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f9a50b"/>
                </a:solidFill>
                <a:latin typeface="Segoe UI"/>
              </a:rPr>
              <a:t>пауч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32"/>
          <p:cNvSpPr/>
          <p:nvPr/>
        </p:nvSpPr>
        <p:spPr>
          <a:xfrm>
            <a:off x="8138160" y="384048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19 позицій, медіана 109 грн —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найдешевший вхід у категорію.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ounded Rectangle 33"/>
          <p:cNvSpPr/>
          <p:nvPr/>
        </p:nvSpPr>
        <p:spPr>
          <a:xfrm>
            <a:off x="567000" y="4517280"/>
            <a:ext cx="5412960" cy="164556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Rectangle 34"/>
          <p:cNvSpPr/>
          <p:nvPr/>
        </p:nvSpPr>
        <p:spPr>
          <a:xfrm>
            <a:off x="567000" y="4517280"/>
            <a:ext cx="40680" cy="16455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35"/>
          <p:cNvSpPr/>
          <p:nvPr/>
        </p:nvSpPr>
        <p:spPr>
          <a:xfrm>
            <a:off x="804600" y="4672440"/>
            <a:ext cx="49557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9a50b"/>
                </a:solidFill>
                <a:latin typeface="Segoe UI"/>
              </a:rPr>
              <a:t>ЩО ЦЕ ОЗНАЧАЄ ДЛЯ ПОЛИЦІ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36"/>
          <p:cNvSpPr/>
          <p:nvPr/>
        </p:nvSpPr>
        <p:spPr>
          <a:xfrm>
            <a:off x="804600" y="4937760"/>
            <a:ext cx="49557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1. Категорія імпортується, але майже не потрапляє в мережі: 12 позицій із 84.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2. Зростання 2025 року дає Болгарія: 44,8 → 78,3 т за рік, +75 %.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3. Формат, який працює на полиці, — пауч 220–250 г: медіана 109 грн.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4. Готового рису в Україні не виробляють: 100 % обсягу — імпорт.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ounded Rectangle 37"/>
          <p:cNvSpPr/>
          <p:nvPr/>
        </p:nvSpPr>
        <p:spPr>
          <a:xfrm>
            <a:off x="6217920" y="4517280"/>
            <a:ext cx="5412960" cy="164556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ectangle 38"/>
          <p:cNvSpPr/>
          <p:nvPr/>
        </p:nvSpPr>
        <p:spPr>
          <a:xfrm>
            <a:off x="6217920" y="4517280"/>
            <a:ext cx="40680" cy="164556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39"/>
          <p:cNvSpPr/>
          <p:nvPr/>
        </p:nvSpPr>
        <p:spPr>
          <a:xfrm>
            <a:off x="6455520" y="4672440"/>
            <a:ext cx="49557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9fa9c4"/>
                </a:solidFill>
                <a:latin typeface="Segoe UI"/>
              </a:rPr>
              <a:t>ЧОГО НА РИНКУ НЕМАЄ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40"/>
          <p:cNvSpPr/>
          <p:nvPr/>
        </p:nvSpPr>
        <p:spPr>
          <a:xfrm>
            <a:off x="6455520" y="4937760"/>
            <a:ext cx="495576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1. Немає чаші за 100–150 грн у мережі: Ottogi 225–356, Henan 83–156 — обидва лише онлайн.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2. Немає українського готового рису в паучі для мікрохвильовки.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3. Немає жодного бренду одночасно в мережі та на маркетплейсі, крім Ben's.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4. Немає локалізації: жодної україномовної упаковки серед 84 позицій.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41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 та каталожні API мереж 28.09.2026.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26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ОБСЯГ РИНКУ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182 тонни імпорту, 87–110 млн грн роздрібу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Picture 9" descr="c9_import.png"/>
          <p:cNvPicPr/>
          <p:nvPr/>
        </p:nvPicPr>
        <p:blipFill>
          <a:blip r:embed="rId2"/>
          <a:stretch/>
        </p:blipFill>
        <p:spPr>
          <a:xfrm>
            <a:off x="567000" y="1591200"/>
            <a:ext cx="6309000" cy="2992320"/>
          </a:xfrm>
          <a:prstGeom prst="rect">
            <a:avLst/>
          </a:prstGeom>
          <a:ln w="0">
            <a:noFill/>
          </a:ln>
        </p:spPr>
      </p:pic>
      <p:sp>
        <p:nvSpPr>
          <p:cNvPr id="131" name="TextBox 10"/>
          <p:cNvSpPr/>
          <p:nvPr/>
        </p:nvSpPr>
        <p:spPr>
          <a:xfrm>
            <a:off x="7223760" y="1645920"/>
            <a:ext cx="438876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50" spc="-1" strike="noStrike">
                <a:solidFill>
                  <a:srgbClr val="717890"/>
                </a:solidFill>
                <a:latin typeface="Segoe UI"/>
              </a:rPr>
              <a:t>ЗВІДКИ ЇДЕ, 2025 РІК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11"/>
          <p:cNvSpPr/>
          <p:nvPr/>
        </p:nvSpPr>
        <p:spPr>
          <a:xfrm>
            <a:off x="7223760" y="188352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Польща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ectangle 12"/>
          <p:cNvSpPr/>
          <p:nvPr/>
        </p:nvSpPr>
        <p:spPr>
          <a:xfrm>
            <a:off x="8613720" y="1924920"/>
            <a:ext cx="2011320" cy="957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13"/>
          <p:cNvSpPr/>
          <p:nvPr/>
        </p:nvSpPr>
        <p:spPr>
          <a:xfrm>
            <a:off x="10698480" y="188352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94,4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14"/>
          <p:cNvSpPr/>
          <p:nvPr/>
        </p:nvSpPr>
        <p:spPr>
          <a:xfrm>
            <a:off x="7223760" y="215784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Болгарія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angle 15"/>
          <p:cNvSpPr/>
          <p:nvPr/>
        </p:nvSpPr>
        <p:spPr>
          <a:xfrm>
            <a:off x="8613720" y="2199240"/>
            <a:ext cx="1668240" cy="957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16"/>
          <p:cNvSpPr/>
          <p:nvPr/>
        </p:nvSpPr>
        <p:spPr>
          <a:xfrm>
            <a:off x="10698480" y="215784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78,3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17"/>
          <p:cNvSpPr/>
          <p:nvPr/>
        </p:nvSpPr>
        <p:spPr>
          <a:xfrm>
            <a:off x="7223760" y="243216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Італія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18"/>
          <p:cNvSpPr/>
          <p:nvPr/>
        </p:nvSpPr>
        <p:spPr>
          <a:xfrm>
            <a:off x="8613720" y="2473560"/>
            <a:ext cx="118800" cy="957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19"/>
          <p:cNvSpPr/>
          <p:nvPr/>
        </p:nvSpPr>
        <p:spPr>
          <a:xfrm>
            <a:off x="10698480" y="243216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5,6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20"/>
          <p:cNvSpPr/>
          <p:nvPr/>
        </p:nvSpPr>
        <p:spPr>
          <a:xfrm>
            <a:off x="7223760" y="270648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Корея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21"/>
          <p:cNvSpPr/>
          <p:nvPr/>
        </p:nvSpPr>
        <p:spPr>
          <a:xfrm>
            <a:off x="8613720" y="2747880"/>
            <a:ext cx="42120" cy="957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22"/>
          <p:cNvSpPr/>
          <p:nvPr/>
        </p:nvSpPr>
        <p:spPr>
          <a:xfrm>
            <a:off x="10698480" y="270648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2,0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23"/>
          <p:cNvSpPr/>
          <p:nvPr/>
        </p:nvSpPr>
        <p:spPr>
          <a:xfrm>
            <a:off x="7223760" y="298080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Китай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24"/>
          <p:cNvSpPr/>
          <p:nvPr/>
        </p:nvSpPr>
        <p:spPr>
          <a:xfrm>
            <a:off x="8613720" y="3022200"/>
            <a:ext cx="36360" cy="9576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25"/>
          <p:cNvSpPr/>
          <p:nvPr/>
        </p:nvSpPr>
        <p:spPr>
          <a:xfrm>
            <a:off x="10698480" y="298080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1,0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6"/>
          <p:cNvSpPr/>
          <p:nvPr/>
        </p:nvSpPr>
        <p:spPr>
          <a:xfrm>
            <a:off x="7223760" y="325512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Іспанія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7"/>
          <p:cNvSpPr/>
          <p:nvPr/>
        </p:nvSpPr>
        <p:spPr>
          <a:xfrm>
            <a:off x="8613720" y="3296520"/>
            <a:ext cx="36360" cy="9576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8"/>
          <p:cNvSpPr/>
          <p:nvPr/>
        </p:nvSpPr>
        <p:spPr>
          <a:xfrm>
            <a:off x="10698480" y="325512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0,4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9"/>
          <p:cNvSpPr/>
          <p:nvPr/>
        </p:nvSpPr>
        <p:spPr>
          <a:xfrm>
            <a:off x="7223760" y="3529440"/>
            <a:ext cx="1371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Франція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ectangle 30"/>
          <p:cNvSpPr/>
          <p:nvPr/>
        </p:nvSpPr>
        <p:spPr>
          <a:xfrm>
            <a:off x="8613720" y="3570840"/>
            <a:ext cx="36360" cy="9576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31"/>
          <p:cNvSpPr/>
          <p:nvPr/>
        </p:nvSpPr>
        <p:spPr>
          <a:xfrm>
            <a:off x="10698480" y="352944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0,4 т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32"/>
          <p:cNvSpPr/>
          <p:nvPr/>
        </p:nvSpPr>
        <p:spPr>
          <a:xfrm>
            <a:off x="7223760" y="3895200"/>
            <a:ext cx="438876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60" spc="-1" strike="noStrike">
                <a:solidFill>
                  <a:srgbClr val="717890"/>
                </a:solidFill>
                <a:latin typeface="Segoe UI"/>
              </a:rPr>
              <a:t>Польща і Болгарія — 95 % тонажу: це заводи ЄС, що пакують рис у пауч. Корея і Китай разом дають 3,1 т — це чаші Ottogi, Bibigo та Henan.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33"/>
          <p:cNvSpPr/>
          <p:nvPr/>
        </p:nvSpPr>
        <p:spPr>
          <a:xfrm>
            <a:off x="567000" y="4498920"/>
            <a:ext cx="1106388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50" spc="-1" strike="noStrike">
                <a:solidFill>
                  <a:srgbClr val="f9a50b"/>
                </a:solidFill>
                <a:latin typeface="Segoe UI"/>
              </a:rPr>
              <a:t>ЯК РАХУВАЛИ ЄМНІСТЬ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34"/>
          <p:cNvSpPr/>
          <p:nvPr/>
        </p:nvSpPr>
        <p:spPr>
          <a:xfrm>
            <a:off x="567000" y="4718160"/>
            <a:ext cx="2048040" cy="7858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35"/>
          <p:cNvSpPr/>
          <p:nvPr/>
        </p:nvSpPr>
        <p:spPr>
          <a:xfrm>
            <a:off x="731520" y="4827960"/>
            <a:ext cx="17370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182 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36"/>
          <p:cNvSpPr/>
          <p:nvPr/>
        </p:nvSpPr>
        <p:spPr>
          <a:xfrm>
            <a:off x="731520" y="5120640"/>
            <a:ext cx="173700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імпорт 2025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7"/>
          <p:cNvSpPr/>
          <p:nvPr/>
        </p:nvSpPr>
        <p:spPr>
          <a:xfrm>
            <a:off x="2633400" y="4974480"/>
            <a:ext cx="182520" cy="19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100" spc="-1" strike="noStrike">
                <a:solidFill>
                  <a:srgbClr val="9fa9c4"/>
                </a:solidFill>
                <a:latin typeface="Segoe U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ounded Rectangle 38"/>
          <p:cNvSpPr/>
          <p:nvPr/>
        </p:nvSpPr>
        <p:spPr>
          <a:xfrm>
            <a:off x="2816280" y="4718160"/>
            <a:ext cx="2048040" cy="7858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9"/>
          <p:cNvSpPr/>
          <p:nvPr/>
        </p:nvSpPr>
        <p:spPr>
          <a:xfrm>
            <a:off x="2980800" y="4827960"/>
            <a:ext cx="17370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39 млн грн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40"/>
          <p:cNvSpPr/>
          <p:nvPr/>
        </p:nvSpPr>
        <p:spPr>
          <a:xfrm>
            <a:off x="2980800" y="5120640"/>
            <a:ext cx="173700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CIF за курсом НБУ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41"/>
          <p:cNvSpPr/>
          <p:nvPr/>
        </p:nvSpPr>
        <p:spPr>
          <a:xfrm>
            <a:off x="4883040" y="4974480"/>
            <a:ext cx="182520" cy="19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100" spc="-1" strike="noStrike">
                <a:solidFill>
                  <a:srgbClr val="9fa9c4"/>
                </a:solidFill>
                <a:latin typeface="Segoe U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ounded Rectangle 42"/>
          <p:cNvSpPr/>
          <p:nvPr/>
        </p:nvSpPr>
        <p:spPr>
          <a:xfrm>
            <a:off x="5065920" y="4718160"/>
            <a:ext cx="2048040" cy="7858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43"/>
          <p:cNvSpPr/>
          <p:nvPr/>
        </p:nvSpPr>
        <p:spPr>
          <a:xfrm>
            <a:off x="5230440" y="4827960"/>
            <a:ext cx="17370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× 2,2–2,8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44"/>
          <p:cNvSpPr/>
          <p:nvPr/>
        </p:nvSpPr>
        <p:spPr>
          <a:xfrm>
            <a:off x="5230440" y="5120640"/>
            <a:ext cx="173700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мито, ПДВ, маржа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45"/>
          <p:cNvSpPr/>
          <p:nvPr/>
        </p:nvSpPr>
        <p:spPr>
          <a:xfrm>
            <a:off x="7132320" y="4974480"/>
            <a:ext cx="182520" cy="19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100" spc="-1" strike="noStrike">
                <a:solidFill>
                  <a:srgbClr val="9fa9c4"/>
                </a:solidFill>
                <a:latin typeface="Segoe U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ounded Rectangle 46"/>
          <p:cNvSpPr/>
          <p:nvPr/>
        </p:nvSpPr>
        <p:spPr>
          <a:xfrm>
            <a:off x="7315200" y="4718160"/>
            <a:ext cx="2048040" cy="7858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47"/>
          <p:cNvSpPr/>
          <p:nvPr/>
        </p:nvSpPr>
        <p:spPr>
          <a:xfrm>
            <a:off x="7479720" y="4827960"/>
            <a:ext cx="17370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87–110 млн грн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8"/>
          <p:cNvSpPr/>
          <p:nvPr/>
        </p:nvSpPr>
        <p:spPr>
          <a:xfrm>
            <a:off x="7479720" y="5120640"/>
            <a:ext cx="173700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роздріб на рік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49"/>
          <p:cNvSpPr/>
          <p:nvPr/>
        </p:nvSpPr>
        <p:spPr>
          <a:xfrm>
            <a:off x="9381600" y="4974480"/>
            <a:ext cx="182520" cy="19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100" spc="-1" strike="noStrike">
                <a:solidFill>
                  <a:srgbClr val="9fa9c4"/>
                </a:solidFill>
                <a:latin typeface="Segoe UI"/>
              </a:rPr>
              <a:t>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ounded Rectangle 50"/>
          <p:cNvSpPr/>
          <p:nvPr/>
        </p:nvSpPr>
        <p:spPr>
          <a:xfrm>
            <a:off x="9564480" y="4718160"/>
            <a:ext cx="2048040" cy="7858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51"/>
          <p:cNvSpPr/>
          <p:nvPr/>
        </p:nvSpPr>
        <p:spPr>
          <a:xfrm>
            <a:off x="9729360" y="4827960"/>
            <a:ext cx="17370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≈ </a:t>
            </a: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830 тис.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52"/>
          <p:cNvSpPr/>
          <p:nvPr/>
        </p:nvSpPr>
        <p:spPr>
          <a:xfrm>
            <a:off x="9729360" y="5120640"/>
            <a:ext cx="173700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упаковок на рік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ounded Rectangle 53"/>
          <p:cNvSpPr/>
          <p:nvPr/>
        </p:nvSpPr>
        <p:spPr>
          <a:xfrm>
            <a:off x="567000" y="5650920"/>
            <a:ext cx="11063880" cy="4568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54"/>
          <p:cNvSpPr/>
          <p:nvPr/>
        </p:nvSpPr>
        <p:spPr>
          <a:xfrm>
            <a:off x="567000" y="5650920"/>
            <a:ext cx="40680" cy="45684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55"/>
          <p:cNvSpPr/>
          <p:nvPr/>
        </p:nvSpPr>
        <p:spPr>
          <a:xfrm>
            <a:off x="822960" y="5733360"/>
            <a:ext cx="274284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f9a50b"/>
                </a:solidFill>
                <a:latin typeface="Segoe UI"/>
              </a:rPr>
              <a:t>ПЕРЕВІРКА З ІНШОГО БОКУ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56"/>
          <p:cNvSpPr/>
          <p:nvPr/>
        </p:nvSpPr>
        <p:spPr>
          <a:xfrm>
            <a:off x="3611880" y="5724000"/>
            <a:ext cx="777204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20" spc="-1" strike="noStrike">
                <a:solidFill>
                  <a:srgbClr val="303a5d"/>
                </a:solidFill>
                <a:latin typeface="Segoe UI"/>
              </a:rPr>
              <a:t>830 тис. упаковок × 110 грн медіани = 91 млн грн. Два методи сходяться.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57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Eurostat Comext DS-045409, CN 1904 90 10, експорт ЄС→Україна 2019–2025; UN Comtrade; курс НБУ. Ємність роздрібу — ОЦІНКА, не заміряні продажі.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83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КАРТА РИНКУ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23 бренди, чотири технології приготування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Rounded Rectangle 9"/>
          <p:cNvSpPr/>
          <p:nvPr/>
        </p:nvSpPr>
        <p:spPr>
          <a:xfrm>
            <a:off x="567000" y="1609200"/>
            <a:ext cx="2614680" cy="39315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Rectangle 10"/>
          <p:cNvSpPr/>
          <p:nvPr/>
        </p:nvSpPr>
        <p:spPr>
          <a:xfrm>
            <a:off x="567000" y="1609200"/>
            <a:ext cx="2614680" cy="27396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11"/>
          <p:cNvSpPr/>
          <p:nvPr/>
        </p:nvSpPr>
        <p:spPr>
          <a:xfrm>
            <a:off x="567000" y="1659600"/>
            <a:ext cx="26146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ГОТОВИЙ РИС · РОЗІГРІВ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768240" y="2011680"/>
            <a:ext cx="221256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60" spc="-1" strike="noStrike">
                <a:solidFill>
                  <a:srgbClr val="c4820a"/>
                </a:solidFill>
                <a:latin typeface="Segoe UI"/>
              </a:rPr>
              <a:t>30 позицій · 7 брендів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13"/>
          <p:cNvSpPr/>
          <p:nvPr/>
        </p:nvSpPr>
        <p:spPr>
          <a:xfrm>
            <a:off x="768240" y="2267640"/>
            <a:ext cx="2212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Ben's Original · Ottogi · Bibigo · Clearspring · Portion · Маркел · Adventure Menu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Box 14"/>
          <p:cNvSpPr/>
          <p:nvPr/>
        </p:nvSpPr>
        <p:spPr>
          <a:xfrm>
            <a:off x="768240" y="3218760"/>
            <a:ext cx="2212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tangle 15"/>
          <p:cNvSpPr/>
          <p:nvPr/>
        </p:nvSpPr>
        <p:spPr>
          <a:xfrm>
            <a:off x="768240" y="3749040"/>
            <a:ext cx="221256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16"/>
          <p:cNvSpPr/>
          <p:nvPr/>
        </p:nvSpPr>
        <p:spPr>
          <a:xfrm>
            <a:off x="768240" y="3858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МЕДІАНА ЗА УПАКОВКУ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7"/>
          <p:cNvSpPr/>
          <p:nvPr/>
        </p:nvSpPr>
        <p:spPr>
          <a:xfrm>
            <a:off x="768240" y="4041720"/>
            <a:ext cx="2212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c4820a"/>
                </a:solidFill>
                <a:latin typeface="Segoe UI"/>
              </a:rPr>
              <a:t>164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18"/>
          <p:cNvSpPr/>
          <p:nvPr/>
        </p:nvSpPr>
        <p:spPr>
          <a:xfrm>
            <a:off x="768240" y="4443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19"/>
          <p:cNvSpPr/>
          <p:nvPr/>
        </p:nvSpPr>
        <p:spPr>
          <a:xfrm>
            <a:off x="768240" y="4608720"/>
            <a:ext cx="22125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50" spc="-1" strike="noStrike">
                <a:solidFill>
                  <a:srgbClr val="303a5d"/>
                </a:solidFill>
                <a:latin typeface="Segoe UI"/>
              </a:rPr>
              <a:t>45 – 446 грн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ounded Rectangle 20"/>
          <p:cNvSpPr/>
          <p:nvPr/>
        </p:nvSpPr>
        <p:spPr>
          <a:xfrm>
            <a:off x="3355920" y="1609200"/>
            <a:ext cx="2614680" cy="39315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Rectangle 21"/>
          <p:cNvSpPr/>
          <p:nvPr/>
        </p:nvSpPr>
        <p:spPr>
          <a:xfrm>
            <a:off x="3355920" y="1609200"/>
            <a:ext cx="2614680" cy="2739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" name="TextBox 22"/>
          <p:cNvSpPr/>
          <p:nvPr/>
        </p:nvSpPr>
        <p:spPr>
          <a:xfrm>
            <a:off x="3355920" y="1659600"/>
            <a:ext cx="26146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ЗАЛИТИ ОКРОПОМ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23"/>
          <p:cNvSpPr/>
          <p:nvPr/>
        </p:nvSpPr>
        <p:spPr>
          <a:xfrm>
            <a:off x="3557160" y="2011680"/>
            <a:ext cx="221256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60" spc="-1" strike="noStrike">
                <a:solidFill>
                  <a:srgbClr val="1e9ea6"/>
                </a:solidFill>
                <a:latin typeface="Segoe UI"/>
              </a:rPr>
              <a:t>12 позицій · 3 брендів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24"/>
          <p:cNvSpPr/>
          <p:nvPr/>
        </p:nvSpPr>
        <p:spPr>
          <a:xfrm>
            <a:off x="3557160" y="2267640"/>
            <a:ext cx="221256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Henan · Gallina Blanca · Qiaoshanmei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5"/>
          <p:cNvSpPr/>
          <p:nvPr/>
        </p:nvSpPr>
        <p:spPr>
          <a:xfrm>
            <a:off x="3557160" y="3218760"/>
            <a:ext cx="221256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Rectangle 26"/>
          <p:cNvSpPr/>
          <p:nvPr/>
        </p:nvSpPr>
        <p:spPr>
          <a:xfrm>
            <a:off x="3557160" y="3749040"/>
            <a:ext cx="221256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TextBox 27"/>
          <p:cNvSpPr/>
          <p:nvPr/>
        </p:nvSpPr>
        <p:spPr>
          <a:xfrm>
            <a:off x="3557160" y="3858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МЕДІАНА ЗА УПАКОВКУ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Box 28"/>
          <p:cNvSpPr/>
          <p:nvPr/>
        </p:nvSpPr>
        <p:spPr>
          <a:xfrm>
            <a:off x="3557160" y="4041720"/>
            <a:ext cx="2212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1e9ea6"/>
                </a:solidFill>
                <a:latin typeface="Segoe UI"/>
              </a:rPr>
              <a:t>138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9"/>
          <p:cNvSpPr/>
          <p:nvPr/>
        </p:nvSpPr>
        <p:spPr>
          <a:xfrm>
            <a:off x="3557160" y="4443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30"/>
          <p:cNvSpPr/>
          <p:nvPr/>
        </p:nvSpPr>
        <p:spPr>
          <a:xfrm>
            <a:off x="3557160" y="4608720"/>
            <a:ext cx="22125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50" spc="-1" strike="noStrike">
                <a:solidFill>
                  <a:srgbClr val="303a5d"/>
                </a:solidFill>
                <a:latin typeface="Segoe UI"/>
              </a:rPr>
              <a:t>83 – 501 грн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31"/>
          <p:cNvSpPr/>
          <p:nvPr/>
        </p:nvSpPr>
        <p:spPr>
          <a:xfrm>
            <a:off x="6144840" y="1609200"/>
            <a:ext cx="2614680" cy="39315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Rectangle 32"/>
          <p:cNvSpPr/>
          <p:nvPr/>
        </p:nvSpPr>
        <p:spPr>
          <a:xfrm>
            <a:off x="6144840" y="1609200"/>
            <a:ext cx="2614680" cy="27396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33"/>
          <p:cNvSpPr/>
          <p:nvPr/>
        </p:nvSpPr>
        <p:spPr>
          <a:xfrm>
            <a:off x="6144840" y="1659600"/>
            <a:ext cx="26146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САМОРОЗІГРІВ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4"/>
          <p:cNvSpPr/>
          <p:nvPr/>
        </p:nvSpPr>
        <p:spPr>
          <a:xfrm>
            <a:off x="6346080" y="2011680"/>
            <a:ext cx="221256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60" spc="-1" strike="noStrike">
                <a:solidFill>
                  <a:srgbClr val="c94f7c"/>
                </a:solidFill>
                <a:latin typeface="Segoe UI"/>
              </a:rPr>
              <a:t>14 позицій · 4 брендів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35"/>
          <p:cNvSpPr/>
          <p:nvPr/>
        </p:nvSpPr>
        <p:spPr>
          <a:xfrm>
            <a:off x="6346080" y="2267640"/>
            <a:ext cx="2212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Haidilao · Mo Xiao Xian · Zihaiguo · Rongcheng Haoji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Box 36"/>
          <p:cNvSpPr/>
          <p:nvPr/>
        </p:nvSpPr>
        <p:spPr>
          <a:xfrm>
            <a:off x="6346080" y="3218760"/>
            <a:ext cx="2212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Rectangle 37"/>
          <p:cNvSpPr/>
          <p:nvPr/>
        </p:nvSpPr>
        <p:spPr>
          <a:xfrm>
            <a:off x="6346080" y="3749040"/>
            <a:ext cx="221256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38"/>
          <p:cNvSpPr/>
          <p:nvPr/>
        </p:nvSpPr>
        <p:spPr>
          <a:xfrm>
            <a:off x="6346080" y="3858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МЕДІАНА ЗА УПАКОВКУ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39"/>
          <p:cNvSpPr/>
          <p:nvPr/>
        </p:nvSpPr>
        <p:spPr>
          <a:xfrm>
            <a:off x="6346080" y="4041720"/>
            <a:ext cx="2212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c94f7c"/>
                </a:solidFill>
                <a:latin typeface="Segoe UI"/>
              </a:rPr>
              <a:t>735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Box 40"/>
          <p:cNvSpPr/>
          <p:nvPr/>
        </p:nvSpPr>
        <p:spPr>
          <a:xfrm>
            <a:off x="6346080" y="4443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41"/>
          <p:cNvSpPr/>
          <p:nvPr/>
        </p:nvSpPr>
        <p:spPr>
          <a:xfrm>
            <a:off x="6346080" y="4608720"/>
            <a:ext cx="22125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50" spc="-1" strike="noStrike">
                <a:solidFill>
                  <a:srgbClr val="303a5d"/>
                </a:solidFill>
                <a:latin typeface="Segoe UI"/>
              </a:rPr>
              <a:t>380 – 1 190 грн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ounded Rectangle 42"/>
          <p:cNvSpPr/>
          <p:nvPr/>
        </p:nvSpPr>
        <p:spPr>
          <a:xfrm>
            <a:off x="8933760" y="1609200"/>
            <a:ext cx="2614680" cy="39315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Rectangle 43"/>
          <p:cNvSpPr/>
          <p:nvPr/>
        </p:nvSpPr>
        <p:spPr>
          <a:xfrm>
            <a:off x="8933760" y="1609200"/>
            <a:ext cx="2614680" cy="27396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" name="TextBox 44"/>
          <p:cNvSpPr/>
          <p:nvPr/>
        </p:nvSpPr>
        <p:spPr>
          <a:xfrm>
            <a:off x="8933760" y="1659600"/>
            <a:ext cx="26146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СУБЛІМАЦІЯ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45"/>
          <p:cNvSpPr/>
          <p:nvPr/>
        </p:nvSpPr>
        <p:spPr>
          <a:xfrm>
            <a:off x="9135000" y="2011680"/>
            <a:ext cx="221256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60" spc="-1" strike="noStrike">
                <a:solidFill>
                  <a:srgbClr val="5d4b96"/>
                </a:solidFill>
                <a:latin typeface="Segoe UI"/>
              </a:rPr>
              <a:t>28 позицій · 10 брендів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46"/>
          <p:cNvSpPr/>
          <p:nvPr/>
        </p:nvSpPr>
        <p:spPr>
          <a:xfrm>
            <a:off x="9135000" y="2267640"/>
            <a:ext cx="221256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7"/>
          <p:cNvSpPr/>
          <p:nvPr/>
        </p:nvSpPr>
        <p:spPr>
          <a:xfrm>
            <a:off x="9135000" y="3218760"/>
            <a:ext cx="221256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Rectangle 48"/>
          <p:cNvSpPr/>
          <p:nvPr/>
        </p:nvSpPr>
        <p:spPr>
          <a:xfrm>
            <a:off x="9135000" y="3749040"/>
            <a:ext cx="221256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49"/>
          <p:cNvSpPr/>
          <p:nvPr/>
        </p:nvSpPr>
        <p:spPr>
          <a:xfrm>
            <a:off x="9135000" y="3858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МЕДІАНА ЗА УПАКОВКУ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Box 50"/>
          <p:cNvSpPr/>
          <p:nvPr/>
        </p:nvSpPr>
        <p:spPr>
          <a:xfrm>
            <a:off x="9135000" y="4041720"/>
            <a:ext cx="22125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5d4b96"/>
                </a:solidFill>
                <a:latin typeface="Segoe UI"/>
              </a:rPr>
              <a:t>302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51"/>
          <p:cNvSpPr/>
          <p:nvPr/>
        </p:nvSpPr>
        <p:spPr>
          <a:xfrm>
            <a:off x="9135000" y="4443840"/>
            <a:ext cx="22125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717890"/>
                </a:solidFill>
                <a:latin typeface="Segoe UI"/>
              </a:rPr>
              <a:t>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52"/>
          <p:cNvSpPr/>
          <p:nvPr/>
        </p:nvSpPr>
        <p:spPr>
          <a:xfrm>
            <a:off x="9135000" y="4608720"/>
            <a:ext cx="221256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50" spc="-1" strike="noStrike">
                <a:solidFill>
                  <a:srgbClr val="303a5d"/>
                </a:solidFill>
                <a:latin typeface="Segoe UI"/>
              </a:rPr>
              <a:t>55 – 889 грн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53"/>
          <p:cNvSpPr/>
          <p:nvPr/>
        </p:nvSpPr>
        <p:spPr>
          <a:xfrm>
            <a:off x="567000" y="5650920"/>
            <a:ext cx="11063880" cy="4568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Rectangle 54"/>
          <p:cNvSpPr/>
          <p:nvPr/>
        </p:nvSpPr>
        <p:spPr>
          <a:xfrm>
            <a:off x="567000" y="5650920"/>
            <a:ext cx="40680" cy="45684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5"/>
          <p:cNvSpPr/>
          <p:nvPr/>
        </p:nvSpPr>
        <p:spPr>
          <a:xfrm>
            <a:off x="822960" y="5733360"/>
            <a:ext cx="21942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ЩО ПОКАЗУЄ РОЗБІР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56"/>
          <p:cNvSpPr/>
          <p:nvPr/>
        </p:nvSpPr>
        <p:spPr>
          <a:xfrm>
            <a:off x="3063240" y="5724000"/>
            <a:ext cx="8320680" cy="14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20" spc="-1" strike="noStrike">
                <a:solidFill>
                  <a:srgbClr val="303a5d"/>
                </a:solidFill>
                <a:latin typeface="Segoe UI"/>
              </a:rPr>
              <a:t>Ben's Original — 13 позицій, єдиний бренд у мережі. Ottogi і Henan — 18 азійських чаш. Українських позицій 16, але жодної в паучі.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7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17 мереж на zakaz.ua, «Сільпо», Prom, MAUDAU, Rozetka, спеціалізовані магазини —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9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240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МАТРИЦЯ БРЕНДІВ · 1 З 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9"/>
          <p:cNvSpPr/>
          <p:nvPr/>
        </p:nvSpPr>
        <p:spPr>
          <a:xfrm>
            <a:off x="567000" y="1554480"/>
            <a:ext cx="16088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БРЕНД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0"/>
          <p:cNvSpPr/>
          <p:nvPr/>
        </p:nvSpPr>
        <p:spPr>
          <a:xfrm>
            <a:off x="2176200" y="1554480"/>
            <a:ext cx="767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КРАЇНА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11"/>
          <p:cNvSpPr/>
          <p:nvPr/>
        </p:nvSpPr>
        <p:spPr>
          <a:xfrm>
            <a:off x="2944440" y="1554480"/>
            <a:ext cx="968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ФОРМАТ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12"/>
          <p:cNvSpPr/>
          <p:nvPr/>
        </p:nvSpPr>
        <p:spPr>
          <a:xfrm>
            <a:off x="3913560" y="1554480"/>
            <a:ext cx="420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SKU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4334400" y="1554480"/>
            <a:ext cx="15174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ЦІНА ЗА УПАКОВКУ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14"/>
          <p:cNvSpPr/>
          <p:nvPr/>
        </p:nvSpPr>
        <p:spPr>
          <a:xfrm>
            <a:off x="5852160" y="1554480"/>
            <a:ext cx="37486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ЩО ЦЕ ТАКЕ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15"/>
          <p:cNvSpPr/>
          <p:nvPr/>
        </p:nvSpPr>
        <p:spPr>
          <a:xfrm>
            <a:off x="9601200" y="1554480"/>
            <a:ext cx="17553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ДЕ ПРОДАЄТЬСЯ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16"/>
          <p:cNvSpPr/>
          <p:nvPr/>
        </p:nvSpPr>
        <p:spPr>
          <a:xfrm>
            <a:off x="567000" y="1755720"/>
            <a:ext cx="10789560" cy="21456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17"/>
          <p:cNvSpPr/>
          <p:nvPr/>
        </p:nvSpPr>
        <p:spPr>
          <a:xfrm>
            <a:off x="713160" y="1787760"/>
            <a:ext cx="58518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18"/>
          <p:cNvSpPr/>
          <p:nvPr/>
        </p:nvSpPr>
        <p:spPr>
          <a:xfrm>
            <a:off x="6675120" y="1792080"/>
            <a:ext cx="45716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19"/>
          <p:cNvSpPr/>
          <p:nvPr/>
        </p:nvSpPr>
        <p:spPr>
          <a:xfrm>
            <a:off x="567000" y="20484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Ben's Original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20"/>
          <p:cNvSpPr/>
          <p:nvPr/>
        </p:nvSpPr>
        <p:spPr>
          <a:xfrm>
            <a:off x="2176200" y="20484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1"/>
          <p:cNvSpPr/>
          <p:nvPr/>
        </p:nvSpPr>
        <p:spPr>
          <a:xfrm>
            <a:off x="2944440" y="20484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4820a"/>
                </a:solidFill>
                <a:latin typeface="Segoe UI"/>
              </a:rPr>
              <a:t>Пауч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22"/>
          <p:cNvSpPr/>
          <p:nvPr/>
        </p:nvSpPr>
        <p:spPr>
          <a:xfrm>
            <a:off x="3913560" y="20484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23"/>
          <p:cNvSpPr/>
          <p:nvPr/>
        </p:nvSpPr>
        <p:spPr>
          <a:xfrm>
            <a:off x="4334400" y="20484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45–179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24"/>
          <p:cNvSpPr/>
          <p:nvPr/>
        </p:nvSpPr>
        <p:spPr>
          <a:xfrm>
            <a:off x="5852160" y="20484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25"/>
          <p:cNvSpPr/>
          <p:nvPr/>
        </p:nvSpPr>
        <p:spPr>
          <a:xfrm>
            <a:off x="9601200" y="20484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Мережа + маркетплейс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26"/>
          <p:cNvSpPr/>
          <p:nvPr/>
        </p:nvSpPr>
        <p:spPr>
          <a:xfrm>
            <a:off x="493920" y="224028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27"/>
          <p:cNvSpPr/>
          <p:nvPr/>
        </p:nvSpPr>
        <p:spPr>
          <a:xfrm>
            <a:off x="567000" y="22723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Маркел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Box 28"/>
          <p:cNvSpPr/>
          <p:nvPr/>
        </p:nvSpPr>
        <p:spPr>
          <a:xfrm>
            <a:off x="2176200" y="22723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29"/>
          <p:cNvSpPr/>
          <p:nvPr/>
        </p:nvSpPr>
        <p:spPr>
          <a:xfrm>
            <a:off x="2944440" y="22723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4820a"/>
                </a:solidFill>
                <a:latin typeface="Segoe UI"/>
              </a:rPr>
              <a:t>Пауч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30"/>
          <p:cNvSpPr/>
          <p:nvPr/>
        </p:nvSpPr>
        <p:spPr>
          <a:xfrm>
            <a:off x="3913560" y="22723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31"/>
          <p:cNvSpPr/>
          <p:nvPr/>
        </p:nvSpPr>
        <p:spPr>
          <a:xfrm>
            <a:off x="4334400" y="22723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94–96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32"/>
          <p:cNvSpPr/>
          <p:nvPr/>
        </p:nvSpPr>
        <p:spPr>
          <a:xfrm>
            <a:off x="5852160" y="22723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33"/>
          <p:cNvSpPr/>
          <p:nvPr/>
        </p:nvSpPr>
        <p:spPr>
          <a:xfrm>
            <a:off x="9601200" y="22723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Військторг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34"/>
          <p:cNvSpPr/>
          <p:nvPr/>
        </p:nvSpPr>
        <p:spPr>
          <a:xfrm>
            <a:off x="567000" y="249624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Portion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35"/>
          <p:cNvSpPr/>
          <p:nvPr/>
        </p:nvSpPr>
        <p:spPr>
          <a:xfrm>
            <a:off x="2176200" y="249624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36"/>
          <p:cNvSpPr/>
          <p:nvPr/>
        </p:nvSpPr>
        <p:spPr>
          <a:xfrm>
            <a:off x="2944440" y="249624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4820a"/>
                </a:solidFill>
                <a:latin typeface="Segoe UI"/>
              </a:rPr>
              <a:t>Пауч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Box 37"/>
          <p:cNvSpPr/>
          <p:nvPr/>
        </p:nvSpPr>
        <p:spPr>
          <a:xfrm>
            <a:off x="3913560" y="249624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38"/>
          <p:cNvSpPr/>
          <p:nvPr/>
        </p:nvSpPr>
        <p:spPr>
          <a:xfrm>
            <a:off x="4334400" y="249624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109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Box 39"/>
          <p:cNvSpPr/>
          <p:nvPr/>
        </p:nvSpPr>
        <p:spPr>
          <a:xfrm>
            <a:off x="5852160" y="249624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40"/>
          <p:cNvSpPr/>
          <p:nvPr/>
        </p:nvSpPr>
        <p:spPr>
          <a:xfrm>
            <a:off x="9601200" y="249624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Маркетплейс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41"/>
          <p:cNvSpPr/>
          <p:nvPr/>
        </p:nvSpPr>
        <p:spPr>
          <a:xfrm>
            <a:off x="493920" y="268848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TextBox 42"/>
          <p:cNvSpPr/>
          <p:nvPr/>
        </p:nvSpPr>
        <p:spPr>
          <a:xfrm>
            <a:off x="567000" y="27205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Bibigo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43"/>
          <p:cNvSpPr/>
          <p:nvPr/>
        </p:nvSpPr>
        <p:spPr>
          <a:xfrm>
            <a:off x="2176200" y="27205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Корея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44"/>
          <p:cNvSpPr/>
          <p:nvPr/>
        </p:nvSpPr>
        <p:spPr>
          <a:xfrm>
            <a:off x="2944440" y="27205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e9ea6"/>
                </a:solidFill>
                <a:latin typeface="Segoe UI"/>
              </a:rPr>
              <a:t>Чаша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45"/>
          <p:cNvSpPr/>
          <p:nvPr/>
        </p:nvSpPr>
        <p:spPr>
          <a:xfrm>
            <a:off x="3913560" y="27205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46"/>
          <p:cNvSpPr/>
          <p:nvPr/>
        </p:nvSpPr>
        <p:spPr>
          <a:xfrm>
            <a:off x="4334400" y="27205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135–189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47"/>
          <p:cNvSpPr/>
          <p:nvPr/>
        </p:nvSpPr>
        <p:spPr>
          <a:xfrm>
            <a:off x="5852160" y="27205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48"/>
          <p:cNvSpPr/>
          <p:nvPr/>
        </p:nvSpPr>
        <p:spPr>
          <a:xfrm>
            <a:off x="9601200" y="27205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Фудшопи + маркетплейс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49"/>
          <p:cNvSpPr/>
          <p:nvPr/>
        </p:nvSpPr>
        <p:spPr>
          <a:xfrm>
            <a:off x="567000" y="294444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Ottogi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Box 50"/>
          <p:cNvSpPr/>
          <p:nvPr/>
        </p:nvSpPr>
        <p:spPr>
          <a:xfrm>
            <a:off x="2176200" y="294444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Корея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51"/>
          <p:cNvSpPr/>
          <p:nvPr/>
        </p:nvSpPr>
        <p:spPr>
          <a:xfrm>
            <a:off x="2944440" y="294444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e9ea6"/>
                </a:solidFill>
                <a:latin typeface="Segoe UI"/>
              </a:rPr>
              <a:t>Чаша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52"/>
          <p:cNvSpPr/>
          <p:nvPr/>
        </p:nvSpPr>
        <p:spPr>
          <a:xfrm>
            <a:off x="3913560" y="294444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53"/>
          <p:cNvSpPr/>
          <p:nvPr/>
        </p:nvSpPr>
        <p:spPr>
          <a:xfrm>
            <a:off x="4334400" y="294444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225–356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54"/>
          <p:cNvSpPr/>
          <p:nvPr/>
        </p:nvSpPr>
        <p:spPr>
          <a:xfrm>
            <a:off x="5852160" y="294444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55"/>
          <p:cNvSpPr/>
          <p:nvPr/>
        </p:nvSpPr>
        <p:spPr>
          <a:xfrm>
            <a:off x="9601200" y="294444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Азійські фудшопи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56"/>
          <p:cNvSpPr/>
          <p:nvPr/>
        </p:nvSpPr>
        <p:spPr>
          <a:xfrm>
            <a:off x="493920" y="313632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TextBox 57"/>
          <p:cNvSpPr/>
          <p:nvPr/>
        </p:nvSpPr>
        <p:spPr>
          <a:xfrm>
            <a:off x="567000" y="316836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Clearspring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58"/>
          <p:cNvSpPr/>
          <p:nvPr/>
        </p:nvSpPr>
        <p:spPr>
          <a:xfrm>
            <a:off x="2176200" y="316836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59"/>
          <p:cNvSpPr/>
          <p:nvPr/>
        </p:nvSpPr>
        <p:spPr>
          <a:xfrm>
            <a:off x="2944440" y="316836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4820a"/>
                </a:solidFill>
                <a:latin typeface="Segoe UI"/>
              </a:rPr>
              <a:t>Пауч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60"/>
          <p:cNvSpPr/>
          <p:nvPr/>
        </p:nvSpPr>
        <p:spPr>
          <a:xfrm>
            <a:off x="3913560" y="316836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Box 61"/>
          <p:cNvSpPr/>
          <p:nvPr/>
        </p:nvSpPr>
        <p:spPr>
          <a:xfrm>
            <a:off x="4334400" y="316836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252–446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62"/>
          <p:cNvSpPr/>
          <p:nvPr/>
        </p:nvSpPr>
        <p:spPr>
          <a:xfrm>
            <a:off x="5852160" y="316836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63"/>
          <p:cNvSpPr/>
          <p:nvPr/>
        </p:nvSpPr>
        <p:spPr>
          <a:xfrm>
            <a:off x="9601200" y="316836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Маркетплейс + спец.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64"/>
          <p:cNvSpPr/>
          <p:nvPr/>
        </p:nvSpPr>
        <p:spPr>
          <a:xfrm>
            <a:off x="567000" y="339228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Adventure Menu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65"/>
          <p:cNvSpPr/>
          <p:nvPr/>
        </p:nvSpPr>
        <p:spPr>
          <a:xfrm>
            <a:off x="2176200" y="339228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66"/>
          <p:cNvSpPr/>
          <p:nvPr/>
        </p:nvSpPr>
        <p:spPr>
          <a:xfrm>
            <a:off x="2944440" y="339228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4820a"/>
                </a:solidFill>
                <a:latin typeface="Segoe UI"/>
              </a:rPr>
              <a:t>Пауч/Дойпак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67"/>
          <p:cNvSpPr/>
          <p:nvPr/>
        </p:nvSpPr>
        <p:spPr>
          <a:xfrm>
            <a:off x="3913560" y="339228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68"/>
          <p:cNvSpPr/>
          <p:nvPr/>
        </p:nvSpPr>
        <p:spPr>
          <a:xfrm>
            <a:off x="4334400" y="339228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315–483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69"/>
          <p:cNvSpPr/>
          <p:nvPr/>
        </p:nvSpPr>
        <p:spPr>
          <a:xfrm>
            <a:off x="5852160" y="339228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70"/>
          <p:cNvSpPr/>
          <p:nvPr/>
        </p:nvSpPr>
        <p:spPr>
          <a:xfrm>
            <a:off x="9601200" y="339228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ectangle 71"/>
          <p:cNvSpPr/>
          <p:nvPr/>
        </p:nvSpPr>
        <p:spPr>
          <a:xfrm>
            <a:off x="567000" y="3762720"/>
            <a:ext cx="10789560" cy="2145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72"/>
          <p:cNvSpPr/>
          <p:nvPr/>
        </p:nvSpPr>
        <p:spPr>
          <a:xfrm>
            <a:off x="713160" y="3794760"/>
            <a:ext cx="58518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73"/>
          <p:cNvSpPr/>
          <p:nvPr/>
        </p:nvSpPr>
        <p:spPr>
          <a:xfrm>
            <a:off x="6675120" y="3799440"/>
            <a:ext cx="45716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74"/>
          <p:cNvSpPr/>
          <p:nvPr/>
        </p:nvSpPr>
        <p:spPr>
          <a:xfrm>
            <a:off x="567000" y="40554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Henan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75"/>
          <p:cNvSpPr/>
          <p:nvPr/>
        </p:nvSpPr>
        <p:spPr>
          <a:xfrm>
            <a:off x="2176200" y="40554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Китай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76"/>
          <p:cNvSpPr/>
          <p:nvPr/>
        </p:nvSpPr>
        <p:spPr>
          <a:xfrm>
            <a:off x="2944440" y="40554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e9ea6"/>
                </a:solidFill>
                <a:latin typeface="Segoe UI"/>
              </a:rPr>
              <a:t>Чаша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77"/>
          <p:cNvSpPr/>
          <p:nvPr/>
        </p:nvSpPr>
        <p:spPr>
          <a:xfrm>
            <a:off x="3913560" y="40554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78"/>
          <p:cNvSpPr/>
          <p:nvPr/>
        </p:nvSpPr>
        <p:spPr>
          <a:xfrm>
            <a:off x="4334400" y="40554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83–156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79"/>
          <p:cNvSpPr/>
          <p:nvPr/>
        </p:nvSpPr>
        <p:spPr>
          <a:xfrm>
            <a:off x="5852160" y="40554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80"/>
          <p:cNvSpPr/>
          <p:nvPr/>
        </p:nvSpPr>
        <p:spPr>
          <a:xfrm>
            <a:off x="9601200" y="40554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Азійські фудшопи + МП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ounded Rectangle 81"/>
          <p:cNvSpPr/>
          <p:nvPr/>
        </p:nvSpPr>
        <p:spPr>
          <a:xfrm>
            <a:off x="493920" y="424728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TextBox 82"/>
          <p:cNvSpPr/>
          <p:nvPr/>
        </p:nvSpPr>
        <p:spPr>
          <a:xfrm>
            <a:off x="567000" y="42793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Gallina Blanca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83"/>
          <p:cNvSpPr/>
          <p:nvPr/>
        </p:nvSpPr>
        <p:spPr>
          <a:xfrm>
            <a:off x="2176200" y="42793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4"/>
          <p:cNvSpPr/>
          <p:nvPr/>
        </p:nvSpPr>
        <p:spPr>
          <a:xfrm>
            <a:off x="2944440" y="42793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e9ea6"/>
                </a:solidFill>
                <a:latin typeface="Segoe UI"/>
              </a:rPr>
              <a:t>Чаша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85"/>
          <p:cNvSpPr/>
          <p:nvPr/>
        </p:nvSpPr>
        <p:spPr>
          <a:xfrm>
            <a:off x="3913560" y="42793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86"/>
          <p:cNvSpPr/>
          <p:nvPr/>
        </p:nvSpPr>
        <p:spPr>
          <a:xfrm>
            <a:off x="4334400" y="42793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229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87"/>
          <p:cNvSpPr/>
          <p:nvPr/>
        </p:nvSpPr>
        <p:spPr>
          <a:xfrm>
            <a:off x="5852160" y="42793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88"/>
          <p:cNvSpPr/>
          <p:nvPr/>
        </p:nvSpPr>
        <p:spPr>
          <a:xfrm>
            <a:off x="9601200" y="42793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Спец. магазин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89"/>
          <p:cNvSpPr/>
          <p:nvPr/>
        </p:nvSpPr>
        <p:spPr>
          <a:xfrm>
            <a:off x="567000" y="45036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Qiaoshanmei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90"/>
          <p:cNvSpPr/>
          <p:nvPr/>
        </p:nvSpPr>
        <p:spPr>
          <a:xfrm>
            <a:off x="2176200" y="45036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Китай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91"/>
          <p:cNvSpPr/>
          <p:nvPr/>
        </p:nvSpPr>
        <p:spPr>
          <a:xfrm>
            <a:off x="2944440" y="45036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e9ea6"/>
                </a:solidFill>
                <a:latin typeface="Segoe UI"/>
              </a:rPr>
              <a:t>Пакет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92"/>
          <p:cNvSpPr/>
          <p:nvPr/>
        </p:nvSpPr>
        <p:spPr>
          <a:xfrm>
            <a:off x="3913560" y="45036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93"/>
          <p:cNvSpPr/>
          <p:nvPr/>
        </p:nvSpPr>
        <p:spPr>
          <a:xfrm>
            <a:off x="4334400" y="45036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501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94"/>
          <p:cNvSpPr/>
          <p:nvPr/>
        </p:nvSpPr>
        <p:spPr>
          <a:xfrm>
            <a:off x="5852160" y="45036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95"/>
          <p:cNvSpPr/>
          <p:nvPr/>
        </p:nvSpPr>
        <p:spPr>
          <a:xfrm>
            <a:off x="9601200" y="45036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Азійський фудшоп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96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5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336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МАТРИЦЯ БРЕНДІВ · 2 З 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9"/>
          <p:cNvSpPr/>
          <p:nvPr/>
        </p:nvSpPr>
        <p:spPr>
          <a:xfrm>
            <a:off x="567000" y="1554480"/>
            <a:ext cx="16088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БРЕНД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10"/>
          <p:cNvSpPr/>
          <p:nvPr/>
        </p:nvSpPr>
        <p:spPr>
          <a:xfrm>
            <a:off x="2176200" y="1554480"/>
            <a:ext cx="767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КРАЇНА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1"/>
          <p:cNvSpPr/>
          <p:nvPr/>
        </p:nvSpPr>
        <p:spPr>
          <a:xfrm>
            <a:off x="2944440" y="1554480"/>
            <a:ext cx="968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ФОРМАТ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Box 12"/>
          <p:cNvSpPr/>
          <p:nvPr/>
        </p:nvSpPr>
        <p:spPr>
          <a:xfrm>
            <a:off x="3913560" y="1554480"/>
            <a:ext cx="420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SKU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13"/>
          <p:cNvSpPr/>
          <p:nvPr/>
        </p:nvSpPr>
        <p:spPr>
          <a:xfrm>
            <a:off x="4334400" y="1554480"/>
            <a:ext cx="15174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ЦІНА ЗА УПАКОВКУ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14"/>
          <p:cNvSpPr/>
          <p:nvPr/>
        </p:nvSpPr>
        <p:spPr>
          <a:xfrm>
            <a:off x="5852160" y="1554480"/>
            <a:ext cx="37486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ЩО ЦЕ ТАКЕ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5"/>
          <p:cNvSpPr/>
          <p:nvPr/>
        </p:nvSpPr>
        <p:spPr>
          <a:xfrm>
            <a:off x="9601200" y="1554480"/>
            <a:ext cx="17553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ДЕ ПРОДАЄТЬСЯ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ectangle 16"/>
          <p:cNvSpPr/>
          <p:nvPr/>
        </p:nvSpPr>
        <p:spPr>
          <a:xfrm>
            <a:off x="567000" y="1755720"/>
            <a:ext cx="10789560" cy="21456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TextBox 17"/>
          <p:cNvSpPr/>
          <p:nvPr/>
        </p:nvSpPr>
        <p:spPr>
          <a:xfrm>
            <a:off x="713160" y="1787760"/>
            <a:ext cx="58518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СЕГМЕНТ 3 · САМОРОЗІГРІВ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8"/>
          <p:cNvSpPr/>
          <p:nvPr/>
        </p:nvSpPr>
        <p:spPr>
          <a:xfrm>
            <a:off x="6675120" y="1792080"/>
            <a:ext cx="45716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19"/>
          <p:cNvSpPr/>
          <p:nvPr/>
        </p:nvSpPr>
        <p:spPr>
          <a:xfrm>
            <a:off x="567000" y="20484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Haidilao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20"/>
          <p:cNvSpPr/>
          <p:nvPr/>
        </p:nvSpPr>
        <p:spPr>
          <a:xfrm>
            <a:off x="2176200" y="20484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Китай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21"/>
          <p:cNvSpPr/>
          <p:nvPr/>
        </p:nvSpPr>
        <p:spPr>
          <a:xfrm>
            <a:off x="2944440" y="20484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94f7c"/>
                </a:solidFill>
                <a:latin typeface="Segoe UI"/>
              </a:rPr>
              <a:t>Коробка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22"/>
          <p:cNvSpPr/>
          <p:nvPr/>
        </p:nvSpPr>
        <p:spPr>
          <a:xfrm>
            <a:off x="3913560" y="20484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23"/>
          <p:cNvSpPr/>
          <p:nvPr/>
        </p:nvSpPr>
        <p:spPr>
          <a:xfrm>
            <a:off x="4334400" y="20484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380–1190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24"/>
          <p:cNvSpPr/>
          <p:nvPr/>
        </p:nvSpPr>
        <p:spPr>
          <a:xfrm>
            <a:off x="5852160" y="20484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25"/>
          <p:cNvSpPr/>
          <p:nvPr/>
        </p:nvSpPr>
        <p:spPr>
          <a:xfrm>
            <a:off x="9601200" y="20484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 + фудшопи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Rounded Rectangle 26"/>
          <p:cNvSpPr/>
          <p:nvPr/>
        </p:nvSpPr>
        <p:spPr>
          <a:xfrm>
            <a:off x="493920" y="224028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TextBox 27"/>
          <p:cNvSpPr/>
          <p:nvPr/>
        </p:nvSpPr>
        <p:spPr>
          <a:xfrm>
            <a:off x="567000" y="22723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Zihaiguo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28"/>
          <p:cNvSpPr/>
          <p:nvPr/>
        </p:nvSpPr>
        <p:spPr>
          <a:xfrm>
            <a:off x="2176200" y="22723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Китай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29"/>
          <p:cNvSpPr/>
          <p:nvPr/>
        </p:nvSpPr>
        <p:spPr>
          <a:xfrm>
            <a:off x="2944440" y="22723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94f7c"/>
                </a:solidFill>
                <a:latin typeface="Segoe UI"/>
              </a:rPr>
              <a:t>Коробка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30"/>
          <p:cNvSpPr/>
          <p:nvPr/>
        </p:nvSpPr>
        <p:spPr>
          <a:xfrm>
            <a:off x="3913560" y="22723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31"/>
          <p:cNvSpPr/>
          <p:nvPr/>
        </p:nvSpPr>
        <p:spPr>
          <a:xfrm>
            <a:off x="4334400" y="22723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735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32"/>
          <p:cNvSpPr/>
          <p:nvPr/>
        </p:nvSpPr>
        <p:spPr>
          <a:xfrm>
            <a:off x="5852160" y="22723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Коробка-саморозігрів 440 г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33"/>
          <p:cNvSpPr/>
          <p:nvPr/>
        </p:nvSpPr>
        <p:spPr>
          <a:xfrm>
            <a:off x="9601200" y="22723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Азійський фудшоп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34"/>
          <p:cNvSpPr/>
          <p:nvPr/>
        </p:nvSpPr>
        <p:spPr>
          <a:xfrm>
            <a:off x="567000" y="249624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Rongcheng Haoji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35"/>
          <p:cNvSpPr/>
          <p:nvPr/>
        </p:nvSpPr>
        <p:spPr>
          <a:xfrm>
            <a:off x="2176200" y="249624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Китай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2944440" y="249624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c94f7c"/>
                </a:solidFill>
                <a:latin typeface="Segoe UI"/>
              </a:rPr>
              <a:t>Коробка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37"/>
          <p:cNvSpPr/>
          <p:nvPr/>
        </p:nvSpPr>
        <p:spPr>
          <a:xfrm>
            <a:off x="3913560" y="249624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38"/>
          <p:cNvSpPr/>
          <p:nvPr/>
        </p:nvSpPr>
        <p:spPr>
          <a:xfrm>
            <a:off x="4334400" y="249624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735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39"/>
          <p:cNvSpPr/>
          <p:nvPr/>
        </p:nvSpPr>
        <p:spPr>
          <a:xfrm>
            <a:off x="5852160" y="249624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Коробка-саморозігрів 440 г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0"/>
          <p:cNvSpPr/>
          <p:nvPr/>
        </p:nvSpPr>
        <p:spPr>
          <a:xfrm>
            <a:off x="9601200" y="249624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Азійський фудшоп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41"/>
          <p:cNvSpPr/>
          <p:nvPr/>
        </p:nvSpPr>
        <p:spPr>
          <a:xfrm>
            <a:off x="493920" y="268848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TextBox 42"/>
          <p:cNvSpPr/>
          <p:nvPr/>
        </p:nvSpPr>
        <p:spPr>
          <a:xfrm>
            <a:off x="567000" y="27205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Mo Xiao Xian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3"/>
          <p:cNvSpPr/>
          <p:nvPr/>
        </p:nvSpPr>
        <p:spPr>
          <a:xfrm>
            <a:off x="2176200" y="27205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Китай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44"/>
          <p:cNvSpPr/>
          <p:nvPr/>
        </p:nvSpPr>
        <p:spPr>
          <a:xfrm>
            <a:off x="2944440" y="27205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e9ea6"/>
                </a:solidFill>
                <a:latin typeface="Segoe UI"/>
              </a:rPr>
              <a:t>Чаша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Box 45"/>
          <p:cNvSpPr/>
          <p:nvPr/>
        </p:nvSpPr>
        <p:spPr>
          <a:xfrm>
            <a:off x="3913560" y="27205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Box 46"/>
          <p:cNvSpPr/>
          <p:nvPr/>
        </p:nvSpPr>
        <p:spPr>
          <a:xfrm>
            <a:off x="4334400" y="27205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931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47"/>
          <p:cNvSpPr/>
          <p:nvPr/>
        </p:nvSpPr>
        <p:spPr>
          <a:xfrm>
            <a:off x="5852160" y="27205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48"/>
          <p:cNvSpPr/>
          <p:nvPr/>
        </p:nvSpPr>
        <p:spPr>
          <a:xfrm>
            <a:off x="9601200" y="27205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Азійський фудшоп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ectangle 49"/>
          <p:cNvSpPr/>
          <p:nvPr/>
        </p:nvSpPr>
        <p:spPr>
          <a:xfrm>
            <a:off x="567000" y="3090600"/>
            <a:ext cx="10789560" cy="21456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50"/>
          <p:cNvSpPr/>
          <p:nvPr/>
        </p:nvSpPr>
        <p:spPr>
          <a:xfrm>
            <a:off x="713160" y="3122640"/>
            <a:ext cx="58518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СЕГМЕНТ 4 · СУБЛІМАЦІЯ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51"/>
          <p:cNvSpPr/>
          <p:nvPr/>
        </p:nvSpPr>
        <p:spPr>
          <a:xfrm>
            <a:off x="6675120" y="3127320"/>
            <a:ext cx="45716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52"/>
          <p:cNvSpPr/>
          <p:nvPr/>
        </p:nvSpPr>
        <p:spPr>
          <a:xfrm>
            <a:off x="567000" y="338328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Харчі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53"/>
          <p:cNvSpPr/>
          <p:nvPr/>
        </p:nvSpPr>
        <p:spPr>
          <a:xfrm>
            <a:off x="2176200" y="338328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54"/>
          <p:cNvSpPr/>
          <p:nvPr/>
        </p:nvSpPr>
        <p:spPr>
          <a:xfrm>
            <a:off x="2944440" y="338328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55"/>
          <p:cNvSpPr/>
          <p:nvPr/>
        </p:nvSpPr>
        <p:spPr>
          <a:xfrm>
            <a:off x="3913560" y="338328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56"/>
          <p:cNvSpPr/>
          <p:nvPr/>
        </p:nvSpPr>
        <p:spPr>
          <a:xfrm>
            <a:off x="4334400" y="338328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83–321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Box 57"/>
          <p:cNvSpPr/>
          <p:nvPr/>
        </p:nvSpPr>
        <p:spPr>
          <a:xfrm>
            <a:off x="5852160" y="338328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58"/>
          <p:cNvSpPr/>
          <p:nvPr/>
        </p:nvSpPr>
        <p:spPr>
          <a:xfrm>
            <a:off x="9601200" y="338328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Rounded Rectangle 59"/>
          <p:cNvSpPr/>
          <p:nvPr/>
        </p:nvSpPr>
        <p:spPr>
          <a:xfrm>
            <a:off x="493920" y="357516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1" name="TextBox 60"/>
          <p:cNvSpPr/>
          <p:nvPr/>
        </p:nvSpPr>
        <p:spPr>
          <a:xfrm>
            <a:off x="567000" y="36072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James Cook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Box 61"/>
          <p:cNvSpPr/>
          <p:nvPr/>
        </p:nvSpPr>
        <p:spPr>
          <a:xfrm>
            <a:off x="2176200" y="36072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Box 62"/>
          <p:cNvSpPr/>
          <p:nvPr/>
        </p:nvSpPr>
        <p:spPr>
          <a:xfrm>
            <a:off x="2944440" y="36072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63"/>
          <p:cNvSpPr/>
          <p:nvPr/>
        </p:nvSpPr>
        <p:spPr>
          <a:xfrm>
            <a:off x="3913560" y="36072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64"/>
          <p:cNvSpPr/>
          <p:nvPr/>
        </p:nvSpPr>
        <p:spPr>
          <a:xfrm>
            <a:off x="4334400" y="36072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55–156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65"/>
          <p:cNvSpPr/>
          <p:nvPr/>
        </p:nvSpPr>
        <p:spPr>
          <a:xfrm>
            <a:off x="5852160" y="36072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66"/>
          <p:cNvSpPr/>
          <p:nvPr/>
        </p:nvSpPr>
        <p:spPr>
          <a:xfrm>
            <a:off x="9601200" y="36072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67"/>
          <p:cNvSpPr/>
          <p:nvPr/>
        </p:nvSpPr>
        <p:spPr>
          <a:xfrm>
            <a:off x="567000" y="383148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!FEST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68"/>
          <p:cNvSpPr/>
          <p:nvPr/>
        </p:nvSpPr>
        <p:spPr>
          <a:xfrm>
            <a:off x="2176200" y="383148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69"/>
          <p:cNvSpPr/>
          <p:nvPr/>
        </p:nvSpPr>
        <p:spPr>
          <a:xfrm>
            <a:off x="2944440" y="383148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70"/>
          <p:cNvSpPr/>
          <p:nvPr/>
        </p:nvSpPr>
        <p:spPr>
          <a:xfrm>
            <a:off x="3913560" y="383148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71"/>
          <p:cNvSpPr/>
          <p:nvPr/>
        </p:nvSpPr>
        <p:spPr>
          <a:xfrm>
            <a:off x="4334400" y="383148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133–140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72"/>
          <p:cNvSpPr/>
          <p:nvPr/>
        </p:nvSpPr>
        <p:spPr>
          <a:xfrm>
            <a:off x="5852160" y="383148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73"/>
          <p:cNvSpPr/>
          <p:nvPr/>
        </p:nvSpPr>
        <p:spPr>
          <a:xfrm>
            <a:off x="9601200" y="383148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ounded Rectangle 74"/>
          <p:cNvSpPr/>
          <p:nvPr/>
        </p:nvSpPr>
        <p:spPr>
          <a:xfrm>
            <a:off x="493920" y="402336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75"/>
          <p:cNvSpPr/>
          <p:nvPr/>
        </p:nvSpPr>
        <p:spPr>
          <a:xfrm>
            <a:off x="567000" y="40554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Їжа в Похід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76"/>
          <p:cNvSpPr/>
          <p:nvPr/>
        </p:nvSpPr>
        <p:spPr>
          <a:xfrm>
            <a:off x="2176200" y="40554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77"/>
          <p:cNvSpPr/>
          <p:nvPr/>
        </p:nvSpPr>
        <p:spPr>
          <a:xfrm>
            <a:off x="2944440" y="40554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78"/>
          <p:cNvSpPr/>
          <p:nvPr/>
        </p:nvSpPr>
        <p:spPr>
          <a:xfrm>
            <a:off x="3913560" y="40554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79"/>
          <p:cNvSpPr/>
          <p:nvPr/>
        </p:nvSpPr>
        <p:spPr>
          <a:xfrm>
            <a:off x="4334400" y="40554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130–145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80"/>
          <p:cNvSpPr/>
          <p:nvPr/>
        </p:nvSpPr>
        <p:spPr>
          <a:xfrm>
            <a:off x="5852160" y="40554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81"/>
          <p:cNvSpPr/>
          <p:nvPr/>
        </p:nvSpPr>
        <p:spPr>
          <a:xfrm>
            <a:off x="9601200" y="40554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Власний магазин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82"/>
          <p:cNvSpPr/>
          <p:nvPr/>
        </p:nvSpPr>
        <p:spPr>
          <a:xfrm>
            <a:off x="567000" y="42793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SubliMate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83"/>
          <p:cNvSpPr/>
          <p:nvPr/>
        </p:nvSpPr>
        <p:spPr>
          <a:xfrm>
            <a:off x="2176200" y="42793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84"/>
          <p:cNvSpPr/>
          <p:nvPr/>
        </p:nvSpPr>
        <p:spPr>
          <a:xfrm>
            <a:off x="2944440" y="42793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85"/>
          <p:cNvSpPr/>
          <p:nvPr/>
        </p:nvSpPr>
        <p:spPr>
          <a:xfrm>
            <a:off x="3913560" y="42793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86"/>
          <p:cNvSpPr/>
          <p:nvPr/>
        </p:nvSpPr>
        <p:spPr>
          <a:xfrm>
            <a:off x="4334400" y="42793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290–370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87"/>
          <p:cNvSpPr/>
          <p:nvPr/>
        </p:nvSpPr>
        <p:spPr>
          <a:xfrm>
            <a:off x="5852160" y="42793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Український сублімат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88"/>
          <p:cNvSpPr/>
          <p:nvPr/>
        </p:nvSpPr>
        <p:spPr>
          <a:xfrm>
            <a:off x="9601200" y="42793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Rounded Rectangle 89"/>
          <p:cNvSpPr/>
          <p:nvPr/>
        </p:nvSpPr>
        <p:spPr>
          <a:xfrm>
            <a:off x="493920" y="447156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1" name="TextBox 90"/>
          <p:cNvSpPr/>
          <p:nvPr/>
        </p:nvSpPr>
        <p:spPr>
          <a:xfrm>
            <a:off x="567000" y="450360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Trek'n Eat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91"/>
          <p:cNvSpPr/>
          <p:nvPr/>
        </p:nvSpPr>
        <p:spPr>
          <a:xfrm>
            <a:off x="2176200" y="450360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92"/>
          <p:cNvSpPr/>
          <p:nvPr/>
        </p:nvSpPr>
        <p:spPr>
          <a:xfrm>
            <a:off x="2944440" y="450360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93"/>
          <p:cNvSpPr/>
          <p:nvPr/>
        </p:nvSpPr>
        <p:spPr>
          <a:xfrm>
            <a:off x="3913560" y="450360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Box 94"/>
          <p:cNvSpPr/>
          <p:nvPr/>
        </p:nvSpPr>
        <p:spPr>
          <a:xfrm>
            <a:off x="4334400" y="450360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269–715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95"/>
          <p:cNvSpPr/>
          <p:nvPr/>
        </p:nvSpPr>
        <p:spPr>
          <a:xfrm>
            <a:off x="5852160" y="450360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96"/>
          <p:cNvSpPr/>
          <p:nvPr/>
        </p:nvSpPr>
        <p:spPr>
          <a:xfrm>
            <a:off x="9601200" y="450360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97"/>
          <p:cNvSpPr/>
          <p:nvPr/>
        </p:nvSpPr>
        <p:spPr>
          <a:xfrm>
            <a:off x="567000" y="472752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Adventure Food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98"/>
          <p:cNvSpPr/>
          <p:nvPr/>
        </p:nvSpPr>
        <p:spPr>
          <a:xfrm>
            <a:off x="2176200" y="472752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99"/>
          <p:cNvSpPr/>
          <p:nvPr/>
        </p:nvSpPr>
        <p:spPr>
          <a:xfrm>
            <a:off x="2944440" y="472752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100"/>
          <p:cNvSpPr/>
          <p:nvPr/>
        </p:nvSpPr>
        <p:spPr>
          <a:xfrm>
            <a:off x="3913560" y="472752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101"/>
          <p:cNvSpPr/>
          <p:nvPr/>
        </p:nvSpPr>
        <p:spPr>
          <a:xfrm>
            <a:off x="4334400" y="472752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492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102"/>
          <p:cNvSpPr/>
          <p:nvPr/>
        </p:nvSpPr>
        <p:spPr>
          <a:xfrm>
            <a:off x="5852160" y="472752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Нідерландський сублімат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103"/>
          <p:cNvSpPr/>
          <p:nvPr/>
        </p:nvSpPr>
        <p:spPr>
          <a:xfrm>
            <a:off x="9601200" y="472752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Rounded Rectangle 104"/>
          <p:cNvSpPr/>
          <p:nvPr/>
        </p:nvSpPr>
        <p:spPr>
          <a:xfrm>
            <a:off x="493920" y="4919400"/>
            <a:ext cx="10935720" cy="223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TextBox 105"/>
          <p:cNvSpPr/>
          <p:nvPr/>
        </p:nvSpPr>
        <p:spPr>
          <a:xfrm>
            <a:off x="567000" y="495144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Travellunch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106"/>
          <p:cNvSpPr/>
          <p:nvPr/>
        </p:nvSpPr>
        <p:spPr>
          <a:xfrm>
            <a:off x="2176200" y="495144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ЄС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107"/>
          <p:cNvSpPr/>
          <p:nvPr/>
        </p:nvSpPr>
        <p:spPr>
          <a:xfrm>
            <a:off x="2944440" y="495144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108"/>
          <p:cNvSpPr/>
          <p:nvPr/>
        </p:nvSpPr>
        <p:spPr>
          <a:xfrm>
            <a:off x="3913560" y="495144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109"/>
          <p:cNvSpPr/>
          <p:nvPr/>
        </p:nvSpPr>
        <p:spPr>
          <a:xfrm>
            <a:off x="4334400" y="495144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275–889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110"/>
          <p:cNvSpPr/>
          <p:nvPr/>
        </p:nvSpPr>
        <p:spPr>
          <a:xfrm>
            <a:off x="5852160" y="495144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111"/>
          <p:cNvSpPr/>
          <p:nvPr/>
        </p:nvSpPr>
        <p:spPr>
          <a:xfrm>
            <a:off x="9601200" y="495144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112"/>
          <p:cNvSpPr/>
          <p:nvPr/>
        </p:nvSpPr>
        <p:spPr>
          <a:xfrm>
            <a:off x="567000" y="5175360"/>
            <a:ext cx="16088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Mountain House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Box 113"/>
          <p:cNvSpPr/>
          <p:nvPr/>
        </p:nvSpPr>
        <p:spPr>
          <a:xfrm>
            <a:off x="2176200" y="5175360"/>
            <a:ext cx="7678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США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114"/>
          <p:cNvSpPr/>
          <p:nvPr/>
        </p:nvSpPr>
        <p:spPr>
          <a:xfrm>
            <a:off x="2944440" y="5175360"/>
            <a:ext cx="9687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5d4b96"/>
                </a:solidFill>
                <a:latin typeface="Segoe UI"/>
              </a:rPr>
              <a:t>Дойпак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115"/>
          <p:cNvSpPr/>
          <p:nvPr/>
        </p:nvSpPr>
        <p:spPr>
          <a:xfrm>
            <a:off x="3913560" y="5175360"/>
            <a:ext cx="420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116"/>
          <p:cNvSpPr/>
          <p:nvPr/>
        </p:nvSpPr>
        <p:spPr>
          <a:xfrm>
            <a:off x="4334400" y="5175360"/>
            <a:ext cx="151740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20" spc="-1" strike="noStrike">
                <a:solidFill>
                  <a:srgbClr val="1c2235"/>
                </a:solidFill>
                <a:latin typeface="Segoe UI"/>
              </a:rPr>
              <a:t>699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117"/>
          <p:cNvSpPr/>
          <p:nvPr/>
        </p:nvSpPr>
        <p:spPr>
          <a:xfrm>
            <a:off x="5852160" y="5175360"/>
            <a:ext cx="374868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118"/>
          <p:cNvSpPr/>
          <p:nvPr/>
        </p:nvSpPr>
        <p:spPr>
          <a:xfrm>
            <a:off x="9601200" y="5175360"/>
            <a:ext cx="175536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20" spc="-1" strike="noStrike">
                <a:solidFill>
                  <a:srgbClr val="717890"/>
                </a:solidFill>
                <a:latin typeface="Segoe UI"/>
              </a:rPr>
              <a:t>Туризм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19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2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54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455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ФОРМАТИ УПАКОВКИ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07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9" name="Picture 9" descr="c1_formats.png"/>
          <p:cNvPicPr/>
          <p:nvPr/>
        </p:nvPicPr>
        <p:blipFill>
          <a:blip r:embed="rId2"/>
          <a:stretch/>
        </p:blipFill>
        <p:spPr>
          <a:xfrm>
            <a:off x="567000" y="1481400"/>
            <a:ext cx="11063880" cy="3357000"/>
          </a:xfrm>
          <a:prstGeom prst="rect">
            <a:avLst/>
          </a:prstGeom>
          <a:ln w="0">
            <a:noFill/>
          </a:ln>
        </p:spPr>
      </p:pic>
      <p:sp>
        <p:nvSpPr>
          <p:cNvPr id="460" name="Rounded Rectangle 10"/>
          <p:cNvSpPr/>
          <p:nvPr/>
        </p:nvSpPr>
        <p:spPr>
          <a:xfrm>
            <a:off x="567000" y="4023360"/>
            <a:ext cx="3547440" cy="20113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1" name="Rectangle 11"/>
          <p:cNvSpPr/>
          <p:nvPr/>
        </p:nvSpPr>
        <p:spPr>
          <a:xfrm>
            <a:off x="567000" y="4023360"/>
            <a:ext cx="40680" cy="201132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2" name="TextBox 12"/>
          <p:cNvSpPr/>
          <p:nvPr/>
        </p:nvSpPr>
        <p:spPr>
          <a:xfrm>
            <a:off x="804600" y="4178880"/>
            <a:ext cx="3090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5d4b96"/>
                </a:solidFill>
                <a:latin typeface="Segoe UI"/>
              </a:rPr>
              <a:t>ПОПУЛЯРНІСТЬ ≠ ПОЛИЦЯ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13"/>
          <p:cNvSpPr/>
          <p:nvPr/>
        </p:nvSpPr>
        <p:spPr>
          <a:xfrm>
            <a:off x="804600" y="4443840"/>
            <a:ext cx="3090240" cy="81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За доступністю для покупця виграє пауч: 109 грн проти 315 грн у дойпака.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ounded Rectangle 14"/>
          <p:cNvSpPr/>
          <p:nvPr/>
        </p:nvSpPr>
        <p:spPr>
          <a:xfrm>
            <a:off x="4325040" y="4023360"/>
            <a:ext cx="3547440" cy="20113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5" name="Rectangle 15"/>
          <p:cNvSpPr/>
          <p:nvPr/>
        </p:nvSpPr>
        <p:spPr>
          <a:xfrm>
            <a:off x="4325040" y="4023360"/>
            <a:ext cx="40680" cy="201132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TextBox 16"/>
          <p:cNvSpPr/>
          <p:nvPr/>
        </p:nvSpPr>
        <p:spPr>
          <a:xfrm>
            <a:off x="4563000" y="4178880"/>
            <a:ext cx="3090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e9ea6"/>
                </a:solidFill>
                <a:latin typeface="Segoe UI"/>
              </a:rPr>
              <a:t>ВІКНО ПОРЦІЇ 210–250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17"/>
          <p:cNvSpPr/>
          <p:nvPr/>
        </p:nvSpPr>
        <p:spPr>
          <a:xfrm>
            <a:off x="4563000" y="4443840"/>
            <a:ext cx="30902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16 позицій із 84 лежать у 220–250 г. Саме під цю вагу вже привчений покупець Ben's Original і Bibigo.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Rounded Rectangle 18"/>
          <p:cNvSpPr/>
          <p:nvPr/>
        </p:nvSpPr>
        <p:spPr>
          <a:xfrm>
            <a:off x="8083440" y="4023360"/>
            <a:ext cx="3547440" cy="20113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Rectangle 19"/>
          <p:cNvSpPr/>
          <p:nvPr/>
        </p:nvSpPr>
        <p:spPr>
          <a:xfrm>
            <a:off x="8083440" y="4023360"/>
            <a:ext cx="40680" cy="201132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20"/>
          <p:cNvSpPr/>
          <p:nvPr/>
        </p:nvSpPr>
        <p:spPr>
          <a:xfrm>
            <a:off x="8321040" y="4178880"/>
            <a:ext cx="3090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9a50b"/>
                </a:solidFill>
                <a:latin typeface="Segoe UI"/>
              </a:rPr>
              <a:t>РЕКОМЕНДАЦІЯ ФОРМАТУ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21"/>
          <p:cNvSpPr/>
          <p:nvPr/>
        </p:nvSpPr>
        <p:spPr>
          <a:xfrm>
            <a:off x="8321040" y="4443840"/>
            <a:ext cx="309024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СТАКАН 150 Г — для азійського каналу: прямий конкурент Ottogi та Henan за вдвічі нижчою ціною.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2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76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47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МОДЕЛЬ ФОРМАТУ І ВАГИ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08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81" name="Picture 9" descr="c6_fmtweight.png"/>
          <p:cNvPicPr/>
          <p:nvPr/>
        </p:nvPicPr>
        <p:blipFill>
          <a:blip r:embed="rId2"/>
          <a:stretch/>
        </p:blipFill>
        <p:spPr>
          <a:xfrm>
            <a:off x="567000" y="1426320"/>
            <a:ext cx="11063880" cy="3411360"/>
          </a:xfrm>
          <a:prstGeom prst="rect">
            <a:avLst/>
          </a:prstGeom>
          <a:ln w="0">
            <a:noFill/>
          </a:ln>
        </p:spPr>
      </p:pic>
      <p:sp>
        <p:nvSpPr>
          <p:cNvPr id="482" name="Rounded Rectangle 10"/>
          <p:cNvSpPr/>
          <p:nvPr/>
        </p:nvSpPr>
        <p:spPr>
          <a:xfrm>
            <a:off x="567000" y="4681800"/>
            <a:ext cx="2614680" cy="14443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67000" y="4681800"/>
            <a:ext cx="40680" cy="144432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786240" y="4809600"/>
            <a:ext cx="2285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f9a50b"/>
                </a:solidFill>
                <a:latin typeface="Segoe UI"/>
              </a:rPr>
              <a:t>ПОРЦІЙНЕ ВІКНО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786240" y="499248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200–299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4"/>
          <p:cNvSpPr/>
          <p:nvPr/>
        </p:nvSpPr>
        <p:spPr>
          <a:xfrm>
            <a:off x="786240" y="550476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22 позиції: пауч 14, чаша 8.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Одна порція на одну людину.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Rounded Rectangle 15"/>
          <p:cNvSpPr/>
          <p:nvPr/>
        </p:nvSpPr>
        <p:spPr>
          <a:xfrm>
            <a:off x="3355920" y="4681800"/>
            <a:ext cx="2614680" cy="14443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Rectangle 16"/>
          <p:cNvSpPr/>
          <p:nvPr/>
        </p:nvSpPr>
        <p:spPr>
          <a:xfrm>
            <a:off x="3355920" y="4681800"/>
            <a:ext cx="40680" cy="144432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3575160" y="4809600"/>
            <a:ext cx="2285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5d4b96"/>
                </a:solidFill>
                <a:latin typeface="Segoe UI"/>
              </a:rPr>
              <a:t>НАЙЩІЛЬНІША КЛІТИНКА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18"/>
          <p:cNvSpPr/>
          <p:nvPr/>
        </p:nvSpPr>
        <p:spPr>
          <a:xfrm>
            <a:off x="3575160" y="499248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дойпак 100–149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9"/>
          <p:cNvSpPr/>
          <p:nvPr/>
        </p:nvSpPr>
        <p:spPr>
          <a:xfrm>
            <a:off x="3575160" y="550476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16 позицій — але це сухий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сублімат, інший привід.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20"/>
          <p:cNvSpPr/>
          <p:nvPr/>
        </p:nvSpPr>
        <p:spPr>
          <a:xfrm>
            <a:off x="6144840" y="4681800"/>
            <a:ext cx="2614680" cy="14443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Rectangle 21"/>
          <p:cNvSpPr/>
          <p:nvPr/>
        </p:nvSpPr>
        <p:spPr>
          <a:xfrm>
            <a:off x="6144840" y="4681800"/>
            <a:ext cx="40680" cy="144432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4" name="TextBox 22"/>
          <p:cNvSpPr/>
          <p:nvPr/>
        </p:nvSpPr>
        <p:spPr>
          <a:xfrm>
            <a:off x="6364080" y="4809600"/>
            <a:ext cx="2285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c4820a"/>
                </a:solidFill>
                <a:latin typeface="Segoe UI"/>
              </a:rPr>
              <a:t>ПАУЧ ЖИВЕ ТІЛЬКИ ТУТ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6364080" y="499248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220–250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TextBox 24"/>
          <p:cNvSpPr/>
          <p:nvPr/>
        </p:nvSpPr>
        <p:spPr>
          <a:xfrm>
            <a:off x="6364080" y="550476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14 із 19 паучів. Поза вікном 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лише укр. реторт 350 г.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Rounded Rectangle 25"/>
          <p:cNvSpPr/>
          <p:nvPr/>
        </p:nvSpPr>
        <p:spPr>
          <a:xfrm>
            <a:off x="8933760" y="4681800"/>
            <a:ext cx="2614680" cy="14443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8" name="Rectangle 26"/>
          <p:cNvSpPr/>
          <p:nvPr/>
        </p:nvSpPr>
        <p:spPr>
          <a:xfrm>
            <a:off x="8933760" y="4681800"/>
            <a:ext cx="40680" cy="144432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9" name="TextBox 27"/>
          <p:cNvSpPr/>
          <p:nvPr/>
        </p:nvSpPr>
        <p:spPr>
          <a:xfrm>
            <a:off x="9153000" y="4809600"/>
            <a:ext cx="2285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37a169"/>
                </a:solidFill>
                <a:latin typeface="Segoe UI"/>
              </a:rPr>
              <a:t>ЧАША ПРАЦЮЄ СКРІЗЬ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Box 28"/>
          <p:cNvSpPr/>
          <p:nvPr/>
        </p:nvSpPr>
        <p:spPr>
          <a:xfrm>
            <a:off x="9153000" y="499248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84–320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29"/>
          <p:cNvSpPr/>
          <p:nvPr/>
        </p:nvSpPr>
        <p:spPr>
          <a:xfrm>
            <a:off x="9153000" y="550476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Єдиний формат, присутній у шести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вагових смугах із семи.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30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06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50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НАЙПОПУЛЯРНІШІ ФОРМАТИ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09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1" name="Picture 9" descr="c7_combos.png"/>
          <p:cNvPicPr/>
          <p:nvPr/>
        </p:nvPicPr>
        <p:blipFill>
          <a:blip r:embed="rId2"/>
          <a:stretch/>
        </p:blipFill>
        <p:spPr>
          <a:xfrm>
            <a:off x="567000" y="1572840"/>
            <a:ext cx="11063880" cy="4291560"/>
          </a:xfrm>
          <a:prstGeom prst="rect">
            <a:avLst/>
          </a:prstGeom>
          <a:ln w="0">
            <a:noFill/>
          </a:ln>
        </p:spPr>
      </p:pic>
      <p:sp>
        <p:nvSpPr>
          <p:cNvPr id="512" name="Rounded Rectangle 10"/>
          <p:cNvSpPr/>
          <p:nvPr/>
        </p:nvSpPr>
        <p:spPr>
          <a:xfrm>
            <a:off x="567000" y="4827960"/>
            <a:ext cx="2614680" cy="1298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3" name="Rectangle 11"/>
          <p:cNvSpPr/>
          <p:nvPr/>
        </p:nvSpPr>
        <p:spPr>
          <a:xfrm>
            <a:off x="567000" y="4827960"/>
            <a:ext cx="40680" cy="129816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TextBox 12"/>
          <p:cNvSpPr/>
          <p:nvPr/>
        </p:nvSpPr>
        <p:spPr>
          <a:xfrm>
            <a:off x="786240" y="4937760"/>
            <a:ext cx="22856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c4820a"/>
                </a:solidFill>
                <a:latin typeface="Segoe UI"/>
              </a:rPr>
              <a:t>#1 НА РИНКУ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13"/>
          <p:cNvSpPr/>
          <p:nvPr/>
        </p:nvSpPr>
        <p:spPr>
          <a:xfrm>
            <a:off x="786240" y="512064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Пауч 220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14"/>
          <p:cNvSpPr/>
          <p:nvPr/>
        </p:nvSpPr>
        <p:spPr>
          <a:xfrm>
            <a:off x="786240" y="54316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7 позицій, усі Ben's Original.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Медіана 129 грн.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5"/>
          <p:cNvSpPr/>
          <p:nvPr/>
        </p:nvSpPr>
        <p:spPr>
          <a:xfrm>
            <a:off x="3355920" y="4827960"/>
            <a:ext cx="2614680" cy="1298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16"/>
          <p:cNvSpPr/>
          <p:nvPr/>
        </p:nvSpPr>
        <p:spPr>
          <a:xfrm>
            <a:off x="3355920" y="4827960"/>
            <a:ext cx="40680" cy="129816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17"/>
          <p:cNvSpPr/>
          <p:nvPr/>
        </p:nvSpPr>
        <p:spPr>
          <a:xfrm>
            <a:off x="3575160" y="4937760"/>
            <a:ext cx="22856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c4820a"/>
                </a:solidFill>
                <a:latin typeface="Segoe UI"/>
              </a:rPr>
              <a:t>НАЙДЕШЕВШИЙ ВХІД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8"/>
          <p:cNvSpPr/>
          <p:nvPr/>
        </p:nvSpPr>
        <p:spPr>
          <a:xfrm>
            <a:off x="3575160" y="512064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Пауч 250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19"/>
          <p:cNvSpPr/>
          <p:nvPr/>
        </p:nvSpPr>
        <p:spPr>
          <a:xfrm>
            <a:off x="3575160" y="54316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6 позицій, медіана 90 грн 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найнижчий цінник категорії.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20"/>
          <p:cNvSpPr/>
          <p:nvPr/>
        </p:nvSpPr>
        <p:spPr>
          <a:xfrm>
            <a:off x="6144840" y="4827960"/>
            <a:ext cx="2614680" cy="1298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21"/>
          <p:cNvSpPr/>
          <p:nvPr/>
        </p:nvSpPr>
        <p:spPr>
          <a:xfrm>
            <a:off x="6144840" y="4827960"/>
            <a:ext cx="40680" cy="12981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TextBox 22"/>
          <p:cNvSpPr/>
          <p:nvPr/>
        </p:nvSpPr>
        <p:spPr>
          <a:xfrm>
            <a:off x="6364080" y="4937760"/>
            <a:ext cx="22856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#1 В АЗІЙСЬКІЙ НІШІ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3"/>
          <p:cNvSpPr/>
          <p:nvPr/>
        </p:nvSpPr>
        <p:spPr>
          <a:xfrm>
            <a:off x="6364080" y="512064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Чаша 174 г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24"/>
          <p:cNvSpPr/>
          <p:nvPr/>
        </p:nvSpPr>
        <p:spPr>
          <a:xfrm>
            <a:off x="6364080" y="54316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5 позицій Henan, 148 грн.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Прямий конкурент нашого стакана.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Rounded Rectangle 25"/>
          <p:cNvSpPr/>
          <p:nvPr/>
        </p:nvSpPr>
        <p:spPr>
          <a:xfrm>
            <a:off x="8933760" y="4827960"/>
            <a:ext cx="2614680" cy="1298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Rectangle 26"/>
          <p:cNvSpPr/>
          <p:nvPr/>
        </p:nvSpPr>
        <p:spPr>
          <a:xfrm>
            <a:off x="8933760" y="4827960"/>
            <a:ext cx="40680" cy="129816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9" name="TextBox 27"/>
          <p:cNvSpPr/>
          <p:nvPr/>
        </p:nvSpPr>
        <p:spPr>
          <a:xfrm>
            <a:off x="9153000" y="4937760"/>
            <a:ext cx="22856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БЕЗ OUTDOOR-КАНАЛУ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28"/>
          <p:cNvSpPr/>
          <p:nvPr/>
        </p:nvSpPr>
        <p:spPr>
          <a:xfrm>
            <a:off x="9153000" y="5120640"/>
            <a:ext cx="2285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300" spc="-1" strike="noStrike">
                <a:solidFill>
                  <a:srgbClr val="1c2235"/>
                </a:solidFill>
                <a:latin typeface="Segoe UI"/>
              </a:rPr>
              <a:t>чаша + пауч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29"/>
          <p:cNvSpPr/>
          <p:nvPr/>
        </p:nvSpPr>
        <p:spPr>
          <a:xfrm>
            <a:off x="9153000" y="54316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91 % позицій, доступних масовому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b="0" lang="en-US" sz="730" spc="-1" strike="noStrike">
                <a:solidFill>
                  <a:srgbClr val="303a5d"/>
                </a:solidFill>
                <a:latin typeface="Segoe UI"/>
              </a:rPr>
              <a:t>покупцю. Дойпак падає з 36 % до 4 %.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30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36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53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ЦІНА ЗА ОДНУ УПАКОВКУ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1" name="Picture 9" descr="c10_brands.png"/>
          <p:cNvPicPr/>
          <p:nvPr/>
        </p:nvPicPr>
        <p:blipFill>
          <a:blip r:embed="rId2"/>
          <a:stretch/>
        </p:blipFill>
        <p:spPr>
          <a:xfrm>
            <a:off x="567000" y="1517760"/>
            <a:ext cx="11063880" cy="4715640"/>
          </a:xfrm>
          <a:prstGeom prst="rect">
            <a:avLst/>
          </a:prstGeom>
          <a:ln w="0">
            <a:noFill/>
          </a:ln>
        </p:spPr>
      </p:pic>
      <p:sp>
        <p:nvSpPr>
          <p:cNvPr id="542" name="TextBox 10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Зріз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46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54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КАРТА СЕГМЕНТІВ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До якого сегмента належить кожен слайд з брендами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Наступні слайди дослідження — картки брендів. Ось що на них, за сегментом і форматом.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9"/>
          <p:cNvSpPr/>
          <p:nvPr/>
        </p:nvSpPr>
        <p:spPr>
          <a:xfrm>
            <a:off x="567000" y="1572840"/>
            <a:ext cx="38034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ЩО НА СЛАЙДІ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10"/>
          <p:cNvSpPr/>
          <p:nvPr/>
        </p:nvSpPr>
        <p:spPr>
          <a:xfrm>
            <a:off x="4370760" y="1572840"/>
            <a:ext cx="28710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СЕГМЕНТ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11"/>
          <p:cNvSpPr/>
          <p:nvPr/>
        </p:nvSpPr>
        <p:spPr>
          <a:xfrm>
            <a:off x="7242120" y="1572840"/>
            <a:ext cx="17370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ФОРМАТ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12"/>
          <p:cNvSpPr/>
          <p:nvPr/>
        </p:nvSpPr>
        <p:spPr>
          <a:xfrm>
            <a:off x="8979480" y="1572840"/>
            <a:ext cx="118836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ВАГА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13"/>
          <p:cNvSpPr/>
          <p:nvPr/>
        </p:nvSpPr>
        <p:spPr>
          <a:xfrm>
            <a:off x="10168200" y="1572840"/>
            <a:ext cx="146268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ЦІНА ЗА УПАКОВКУ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14"/>
          <p:cNvSpPr/>
          <p:nvPr/>
        </p:nvSpPr>
        <p:spPr>
          <a:xfrm>
            <a:off x="567000" y="182880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Ben's Original · 13 позицій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15"/>
          <p:cNvSpPr/>
          <p:nvPr/>
        </p:nvSpPr>
        <p:spPr>
          <a:xfrm>
            <a:off x="4370760" y="181044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16"/>
          <p:cNvSpPr/>
          <p:nvPr/>
        </p:nvSpPr>
        <p:spPr>
          <a:xfrm>
            <a:off x="4370760" y="196596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Мікрохвильовка 60–90 с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Rounded Rectangle 17"/>
          <p:cNvSpPr/>
          <p:nvPr/>
        </p:nvSpPr>
        <p:spPr>
          <a:xfrm>
            <a:off x="7242120" y="1856160"/>
            <a:ext cx="420120" cy="18252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0" name="TextBox 18"/>
          <p:cNvSpPr/>
          <p:nvPr/>
        </p:nvSpPr>
        <p:spPr>
          <a:xfrm>
            <a:off x="7242120" y="1867320"/>
            <a:ext cx="42012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ПАУЧ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Box 19"/>
          <p:cNvSpPr/>
          <p:nvPr/>
        </p:nvSpPr>
        <p:spPr>
          <a:xfrm>
            <a:off x="8979480" y="184716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220–250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20"/>
          <p:cNvSpPr/>
          <p:nvPr/>
        </p:nvSpPr>
        <p:spPr>
          <a:xfrm>
            <a:off x="10168200" y="184716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45–179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Rounded Rectangle 21"/>
          <p:cNvSpPr/>
          <p:nvPr/>
        </p:nvSpPr>
        <p:spPr>
          <a:xfrm>
            <a:off x="493920" y="2121480"/>
            <a:ext cx="10935720" cy="36540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4" name="TextBox 22"/>
          <p:cNvSpPr/>
          <p:nvPr/>
        </p:nvSpPr>
        <p:spPr>
          <a:xfrm>
            <a:off x="567000" y="219456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Ottogi · 10 позицій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23"/>
          <p:cNvSpPr/>
          <p:nvPr/>
        </p:nvSpPr>
        <p:spPr>
          <a:xfrm>
            <a:off x="4370760" y="217620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24"/>
          <p:cNvSpPr/>
          <p:nvPr/>
        </p:nvSpPr>
        <p:spPr>
          <a:xfrm>
            <a:off x="4370760" y="233172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Мікрохвильовка 60–90 с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Rounded Rectangle 25"/>
          <p:cNvSpPr/>
          <p:nvPr/>
        </p:nvSpPr>
        <p:spPr>
          <a:xfrm>
            <a:off x="7242120" y="2221920"/>
            <a:ext cx="420120" cy="18252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8" name="TextBox 26"/>
          <p:cNvSpPr/>
          <p:nvPr/>
        </p:nvSpPr>
        <p:spPr>
          <a:xfrm>
            <a:off x="7242120" y="2233080"/>
            <a:ext cx="42012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ЧАША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27"/>
          <p:cNvSpPr/>
          <p:nvPr/>
        </p:nvSpPr>
        <p:spPr>
          <a:xfrm>
            <a:off x="8979480" y="221292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217–320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28"/>
          <p:cNvSpPr/>
          <p:nvPr/>
        </p:nvSpPr>
        <p:spPr>
          <a:xfrm>
            <a:off x="10168200" y="221292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225–356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Box 29"/>
          <p:cNvSpPr/>
          <p:nvPr/>
        </p:nvSpPr>
        <p:spPr>
          <a:xfrm>
            <a:off x="567000" y="256032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Henan · 8 позицій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Box 30"/>
          <p:cNvSpPr/>
          <p:nvPr/>
        </p:nvSpPr>
        <p:spPr>
          <a:xfrm>
            <a:off x="4370760" y="254196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СЕГМЕНТ 2 · СУХИЙ РИС ПІД ОКРІП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31"/>
          <p:cNvSpPr/>
          <p:nvPr/>
        </p:nvSpPr>
        <p:spPr>
          <a:xfrm>
            <a:off x="4370760" y="269748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Окріп, 5–10 хв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Rounded Rectangle 32"/>
          <p:cNvSpPr/>
          <p:nvPr/>
        </p:nvSpPr>
        <p:spPr>
          <a:xfrm>
            <a:off x="7242120" y="2587680"/>
            <a:ext cx="420120" cy="18252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TextBox 33"/>
          <p:cNvSpPr/>
          <p:nvPr/>
        </p:nvSpPr>
        <p:spPr>
          <a:xfrm>
            <a:off x="7242120" y="2598840"/>
            <a:ext cx="42012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ЧАША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34"/>
          <p:cNvSpPr/>
          <p:nvPr/>
        </p:nvSpPr>
        <p:spPr>
          <a:xfrm>
            <a:off x="8979480" y="257868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144 і 174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35"/>
          <p:cNvSpPr/>
          <p:nvPr/>
        </p:nvSpPr>
        <p:spPr>
          <a:xfrm>
            <a:off x="10168200" y="257868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83–156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Rounded Rectangle 36"/>
          <p:cNvSpPr/>
          <p:nvPr/>
        </p:nvSpPr>
        <p:spPr>
          <a:xfrm>
            <a:off x="493920" y="2853000"/>
            <a:ext cx="10935720" cy="36540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37"/>
          <p:cNvSpPr/>
          <p:nvPr/>
        </p:nvSpPr>
        <p:spPr>
          <a:xfrm>
            <a:off x="567000" y="292608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Bibigo, Clearspring, Portion, Маркел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38"/>
          <p:cNvSpPr/>
          <p:nvPr/>
        </p:nvSpPr>
        <p:spPr>
          <a:xfrm>
            <a:off x="4370760" y="290772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39"/>
          <p:cNvSpPr/>
          <p:nvPr/>
        </p:nvSpPr>
        <p:spPr>
          <a:xfrm>
            <a:off x="4370760" y="306324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Мікрохвильовка 60–90 с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ounded Rectangle 40"/>
          <p:cNvSpPr/>
          <p:nvPr/>
        </p:nvSpPr>
        <p:spPr>
          <a:xfrm>
            <a:off x="7242120" y="2953440"/>
            <a:ext cx="772200" cy="18252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TextBox 41"/>
          <p:cNvSpPr/>
          <p:nvPr/>
        </p:nvSpPr>
        <p:spPr>
          <a:xfrm>
            <a:off x="7242120" y="2964600"/>
            <a:ext cx="7722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ЧАША + ПАУЧ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42"/>
          <p:cNvSpPr/>
          <p:nvPr/>
        </p:nvSpPr>
        <p:spPr>
          <a:xfrm>
            <a:off x="8979480" y="294444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210–350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43"/>
          <p:cNvSpPr/>
          <p:nvPr/>
        </p:nvSpPr>
        <p:spPr>
          <a:xfrm>
            <a:off x="10168200" y="294444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94–446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44"/>
          <p:cNvSpPr/>
          <p:nvPr/>
        </p:nvSpPr>
        <p:spPr>
          <a:xfrm>
            <a:off x="567000" y="329184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Haidilao · 10 позицій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Box 45"/>
          <p:cNvSpPr/>
          <p:nvPr/>
        </p:nvSpPr>
        <p:spPr>
          <a:xfrm>
            <a:off x="4370760" y="327348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94f7c"/>
                </a:solidFill>
                <a:latin typeface="Segoe UI"/>
              </a:rPr>
              <a:t>СЕГМЕНТ 3 · САМОРОЗІГРІВ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46"/>
          <p:cNvSpPr/>
          <p:nvPr/>
        </p:nvSpPr>
        <p:spPr>
          <a:xfrm>
            <a:off x="4370760" y="342900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Хімічний нагрівач, 15 хв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Rounded Rectangle 47"/>
          <p:cNvSpPr/>
          <p:nvPr/>
        </p:nvSpPr>
        <p:spPr>
          <a:xfrm>
            <a:off x="7242120" y="3319200"/>
            <a:ext cx="571320" cy="18252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0" name="TextBox 48"/>
          <p:cNvSpPr/>
          <p:nvPr/>
        </p:nvSpPr>
        <p:spPr>
          <a:xfrm>
            <a:off x="7242120" y="3330360"/>
            <a:ext cx="57132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КОРОБКА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49"/>
          <p:cNvSpPr/>
          <p:nvPr/>
        </p:nvSpPr>
        <p:spPr>
          <a:xfrm>
            <a:off x="8979480" y="331020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165–360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50"/>
          <p:cNvSpPr/>
          <p:nvPr/>
        </p:nvSpPr>
        <p:spPr>
          <a:xfrm>
            <a:off x="10168200" y="331020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380–1 190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Rounded Rectangle 51"/>
          <p:cNvSpPr/>
          <p:nvPr/>
        </p:nvSpPr>
        <p:spPr>
          <a:xfrm>
            <a:off x="493920" y="3584520"/>
            <a:ext cx="10935720" cy="36540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52"/>
          <p:cNvSpPr/>
          <p:nvPr/>
        </p:nvSpPr>
        <p:spPr>
          <a:xfrm>
            <a:off x="567000" y="365760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Mo Xiao Xian, Zihaiguo, Rongcheng Haoji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53"/>
          <p:cNvSpPr/>
          <p:nvPr/>
        </p:nvSpPr>
        <p:spPr>
          <a:xfrm>
            <a:off x="4370760" y="363924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94f7c"/>
                </a:solidFill>
                <a:latin typeface="Segoe UI"/>
              </a:rPr>
              <a:t>СЕГМЕНТ 3 · САМОРОЗІГРІВ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54"/>
          <p:cNvSpPr/>
          <p:nvPr/>
        </p:nvSpPr>
        <p:spPr>
          <a:xfrm>
            <a:off x="4370760" y="379476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Хімічний нагрівач, 15 хв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Rounded Rectangle 55"/>
          <p:cNvSpPr/>
          <p:nvPr/>
        </p:nvSpPr>
        <p:spPr>
          <a:xfrm>
            <a:off x="7242120" y="3684960"/>
            <a:ext cx="923040" cy="18252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8" name="TextBox 56"/>
          <p:cNvSpPr/>
          <p:nvPr/>
        </p:nvSpPr>
        <p:spPr>
          <a:xfrm>
            <a:off x="7242120" y="3696120"/>
            <a:ext cx="92304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ЧАША + КОРОБКА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57"/>
          <p:cNvSpPr/>
          <p:nvPr/>
        </p:nvSpPr>
        <p:spPr>
          <a:xfrm>
            <a:off x="8979480" y="367596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275–440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58"/>
          <p:cNvSpPr/>
          <p:nvPr/>
        </p:nvSpPr>
        <p:spPr>
          <a:xfrm>
            <a:off x="10168200" y="367596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735–931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59"/>
          <p:cNvSpPr/>
          <p:nvPr/>
        </p:nvSpPr>
        <p:spPr>
          <a:xfrm>
            <a:off x="567000" y="402336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Travellunch, Trek'n Eat, Mountain House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60"/>
          <p:cNvSpPr/>
          <p:nvPr/>
        </p:nvSpPr>
        <p:spPr>
          <a:xfrm>
            <a:off x="4370760" y="400500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СЕГМЕНТ 4 · СУБЛІМАЦІЯ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61"/>
          <p:cNvSpPr/>
          <p:nvPr/>
        </p:nvSpPr>
        <p:spPr>
          <a:xfrm>
            <a:off x="4370760" y="416052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Сушіння виморожуванням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Rounded Rectangle 62"/>
          <p:cNvSpPr/>
          <p:nvPr/>
        </p:nvSpPr>
        <p:spPr>
          <a:xfrm>
            <a:off x="7242120" y="4050720"/>
            <a:ext cx="520920" cy="18252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5" name="TextBox 63"/>
          <p:cNvSpPr/>
          <p:nvPr/>
        </p:nvSpPr>
        <p:spPr>
          <a:xfrm>
            <a:off x="7242120" y="4061880"/>
            <a:ext cx="52092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ДОЙПАК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64"/>
          <p:cNvSpPr/>
          <p:nvPr/>
        </p:nvSpPr>
        <p:spPr>
          <a:xfrm>
            <a:off x="8979480" y="404172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110–250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65"/>
          <p:cNvSpPr/>
          <p:nvPr/>
        </p:nvSpPr>
        <p:spPr>
          <a:xfrm>
            <a:off x="10168200" y="404172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269–889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ounded Rectangle 66"/>
          <p:cNvSpPr/>
          <p:nvPr/>
        </p:nvSpPr>
        <p:spPr>
          <a:xfrm>
            <a:off x="493920" y="4316040"/>
            <a:ext cx="10935720" cy="36540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67"/>
          <p:cNvSpPr/>
          <p:nvPr/>
        </p:nvSpPr>
        <p:spPr>
          <a:xfrm>
            <a:off x="567000" y="438912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Adventure Menu, SubliMate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68"/>
          <p:cNvSpPr/>
          <p:nvPr/>
        </p:nvSpPr>
        <p:spPr>
          <a:xfrm>
            <a:off x="4370760" y="437076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СЕГМЕНТ 4 · СУБЛІМАЦІЯ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69"/>
          <p:cNvSpPr/>
          <p:nvPr/>
        </p:nvSpPr>
        <p:spPr>
          <a:xfrm>
            <a:off x="4370760" y="452628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Сушіння виморожуванням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Rounded Rectangle 70"/>
          <p:cNvSpPr/>
          <p:nvPr/>
        </p:nvSpPr>
        <p:spPr>
          <a:xfrm>
            <a:off x="7242120" y="4416480"/>
            <a:ext cx="873000" cy="18252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3" name="TextBox 71"/>
          <p:cNvSpPr/>
          <p:nvPr/>
        </p:nvSpPr>
        <p:spPr>
          <a:xfrm>
            <a:off x="7242120" y="4427640"/>
            <a:ext cx="8730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ПАУЧ + ДОЙПАК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72"/>
          <p:cNvSpPr/>
          <p:nvPr/>
        </p:nvSpPr>
        <p:spPr>
          <a:xfrm>
            <a:off x="8979480" y="440748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110–400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73"/>
          <p:cNvSpPr/>
          <p:nvPr/>
        </p:nvSpPr>
        <p:spPr>
          <a:xfrm>
            <a:off x="10168200" y="440748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290–483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74"/>
          <p:cNvSpPr/>
          <p:nvPr/>
        </p:nvSpPr>
        <p:spPr>
          <a:xfrm>
            <a:off x="567000" y="475488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James Cook, Їжа в Похід, Харчі, !FEST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75"/>
          <p:cNvSpPr/>
          <p:nvPr/>
        </p:nvSpPr>
        <p:spPr>
          <a:xfrm>
            <a:off x="4370760" y="473652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СЕГМЕНТ 4 · СУБЛІМАЦІЯ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76"/>
          <p:cNvSpPr/>
          <p:nvPr/>
        </p:nvSpPr>
        <p:spPr>
          <a:xfrm>
            <a:off x="4370760" y="489204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Сушіння виморожуванням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Rounded Rectangle 77"/>
          <p:cNvSpPr/>
          <p:nvPr/>
        </p:nvSpPr>
        <p:spPr>
          <a:xfrm>
            <a:off x="7242120" y="4782240"/>
            <a:ext cx="520920" cy="18252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TextBox 78"/>
          <p:cNvSpPr/>
          <p:nvPr/>
        </p:nvSpPr>
        <p:spPr>
          <a:xfrm>
            <a:off x="7242120" y="4793400"/>
            <a:ext cx="52092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ДОЙПАК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79"/>
          <p:cNvSpPr/>
          <p:nvPr/>
        </p:nvSpPr>
        <p:spPr>
          <a:xfrm>
            <a:off x="8979480" y="477324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80–100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80"/>
          <p:cNvSpPr/>
          <p:nvPr/>
        </p:nvSpPr>
        <p:spPr>
          <a:xfrm>
            <a:off x="10168200" y="477324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55–321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Rounded Rectangle 81"/>
          <p:cNvSpPr/>
          <p:nvPr/>
        </p:nvSpPr>
        <p:spPr>
          <a:xfrm>
            <a:off x="493920" y="5047560"/>
            <a:ext cx="10935720" cy="36540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4" name="TextBox 82"/>
          <p:cNvSpPr/>
          <p:nvPr/>
        </p:nvSpPr>
        <p:spPr>
          <a:xfrm>
            <a:off x="567000" y="5120640"/>
            <a:ext cx="38034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39" spc="-1" strike="noStrike">
                <a:solidFill>
                  <a:srgbClr val="1c2235"/>
                </a:solidFill>
                <a:latin typeface="Segoe UI"/>
              </a:rPr>
              <a:t>Суміжна полиця · консерва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83"/>
          <p:cNvSpPr/>
          <p:nvPr/>
        </p:nvSpPr>
        <p:spPr>
          <a:xfrm>
            <a:off x="4370760" y="5102280"/>
            <a:ext cx="2871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37a169"/>
                </a:solidFill>
                <a:latin typeface="Segoe UI"/>
              </a:rPr>
              <a:t>СЕГМЕНТ 5 · СУМІЖНА ПОЛИЦЯ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Box 84"/>
          <p:cNvSpPr/>
          <p:nvPr/>
        </p:nvSpPr>
        <p:spPr>
          <a:xfrm>
            <a:off x="4370760" y="5257800"/>
            <a:ext cx="2871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60" spc="-1" strike="noStrike">
                <a:solidFill>
                  <a:srgbClr val="717890"/>
                </a:solidFill>
                <a:latin typeface="Segoe UI"/>
              </a:rPr>
              <a:t>Консерва, готова до вживання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Rounded Rectangle 85"/>
          <p:cNvSpPr/>
          <p:nvPr/>
        </p:nvSpPr>
        <p:spPr>
          <a:xfrm>
            <a:off x="7242120" y="5148000"/>
            <a:ext cx="621360" cy="18252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8" name="TextBox 86"/>
          <p:cNvSpPr/>
          <p:nvPr/>
        </p:nvSpPr>
        <p:spPr>
          <a:xfrm>
            <a:off x="7242120" y="5159160"/>
            <a:ext cx="62136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ffffff"/>
                </a:solidFill>
                <a:latin typeface="Segoe UI"/>
              </a:rPr>
              <a:t>БЛЯШАНКА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87"/>
          <p:cNvSpPr/>
          <p:nvPr/>
        </p:nvSpPr>
        <p:spPr>
          <a:xfrm>
            <a:off x="8979480" y="5139000"/>
            <a:ext cx="11883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250–350 г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88"/>
          <p:cNvSpPr/>
          <p:nvPr/>
        </p:nvSpPr>
        <p:spPr>
          <a:xfrm>
            <a:off x="10168200" y="5139000"/>
            <a:ext cx="1462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c2235"/>
                </a:solidFill>
                <a:latin typeface="Segoe UI"/>
              </a:rPr>
              <a:t>63–160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Rounded Rectangle 89"/>
          <p:cNvSpPr/>
          <p:nvPr/>
        </p:nvSpPr>
        <p:spPr>
          <a:xfrm>
            <a:off x="567000" y="5614560"/>
            <a:ext cx="11063880" cy="5482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2" name="Rectangle 90"/>
          <p:cNvSpPr/>
          <p:nvPr/>
        </p:nvSpPr>
        <p:spPr>
          <a:xfrm>
            <a:off x="567000" y="5614560"/>
            <a:ext cx="40680" cy="54828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3" name="TextBox 91"/>
          <p:cNvSpPr/>
          <p:nvPr/>
        </p:nvSpPr>
        <p:spPr>
          <a:xfrm>
            <a:off x="804600" y="5769720"/>
            <a:ext cx="1060668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9a50b"/>
                </a:solidFill>
                <a:latin typeface="Segoe UI"/>
              </a:rPr>
              <a:t>ЯК ЧИТАТИ ДАЛІ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92"/>
          <p:cNvSpPr/>
          <p:nvPr/>
        </p:nvSpPr>
        <p:spPr>
          <a:xfrm>
            <a:off x="804600" y="6035040"/>
            <a:ext cx="1060668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Сегменти 1 і 2 — наш конкурентний сет: той самий привід споживання і той самий канал. Сегменти 3 і 4 з нами не конкурують. Сегмент 5 — консерва, що вже стоїть у мережі.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Box 93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Сегментація за технологією приготування: вона визначає і ціну, і канал продажу. Зріз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39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640" name="TextBox 5"/>
          <p:cNvSpPr/>
          <p:nvPr/>
        </p:nvSpPr>
        <p:spPr>
          <a:xfrm>
            <a:off x="2304360" y="311040"/>
            <a:ext cx="8503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fc95c"/>
                </a:solidFill>
                <a:latin typeface="Segoe UI"/>
              </a:rPr>
              <a:t>СЕГМЕНТ 1 · ГОТОВИЙ РИС ДО РОЗІГРІВУ   ·   ПАУЧ   ·   BEN'S ORIGINAL · 13 ПОЗИЦІЙ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5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ФОРМАТ: ПАУЧ   ·   Мікрохвильовка 60–90 с   ·   Маса — готової страви   ·   привід: Обід поза домом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48" name="Picture 13" descr="s08_0.79_3.54.jpg"/>
          <p:cNvPicPr/>
          <p:nvPr/>
        </p:nvPicPr>
        <p:blipFill>
          <a:blip r:embed="rId2"/>
          <a:stretch/>
        </p:blipFill>
        <p:spPr>
          <a:xfrm>
            <a:off x="1107000" y="2011680"/>
            <a:ext cx="390240" cy="548640"/>
          </a:xfrm>
          <a:prstGeom prst="rect">
            <a:avLst/>
          </a:prstGeom>
          <a:ln w="0">
            <a:noFill/>
          </a:ln>
        </p:spPr>
      </p:pic>
      <p:sp>
        <p:nvSpPr>
          <p:cNvPr id="649" name="TextBox 14"/>
          <p:cNvSpPr/>
          <p:nvPr/>
        </p:nvSpPr>
        <p:spPr>
          <a:xfrm>
            <a:off x="6858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Long Grain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45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55" name="Picture 20" descr="s08_2.52_3.54.jpg"/>
          <p:cNvPicPr/>
          <p:nvPr/>
        </p:nvPicPr>
        <p:blipFill>
          <a:blip r:embed="rId3"/>
          <a:stretch/>
        </p:blipFill>
        <p:spPr>
          <a:xfrm>
            <a:off x="2705400" y="2011680"/>
            <a:ext cx="391680" cy="548640"/>
          </a:xfrm>
          <a:prstGeom prst="rect">
            <a:avLst/>
          </a:prstGeom>
          <a:ln w="0">
            <a:noFill/>
          </a:ln>
        </p:spPr>
      </p:pic>
      <p:sp>
        <p:nvSpPr>
          <p:cNvPr id="656" name="TextBox 21"/>
          <p:cNvSpPr/>
          <p:nvPr/>
        </p:nvSpPr>
        <p:spPr>
          <a:xfrm>
            <a:off x="228456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Basmati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2" name="Picture 27" descr="s08_4.24_3.54.jpg"/>
          <p:cNvPicPr/>
          <p:nvPr/>
        </p:nvPicPr>
        <p:blipFill>
          <a:blip r:embed="rId4"/>
          <a:stretch/>
        </p:blipFill>
        <p:spPr>
          <a:xfrm>
            <a:off x="4305600" y="2011680"/>
            <a:ext cx="389160" cy="548640"/>
          </a:xfrm>
          <a:prstGeom prst="rect">
            <a:avLst/>
          </a:prstGeom>
          <a:ln w="0">
            <a:noFill/>
          </a:ln>
        </p:spPr>
      </p:pic>
      <p:sp>
        <p:nvSpPr>
          <p:cNvPr id="663" name="TextBox 28"/>
          <p:cNvSpPr/>
          <p:nvPr/>
        </p:nvSpPr>
        <p:spPr>
          <a:xfrm>
            <a:off x="38836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Mediterran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9" name="Picture 34" descr="s08_5.97_3.54.jpg"/>
          <p:cNvPicPr/>
          <p:nvPr/>
        </p:nvPicPr>
        <p:blipFill>
          <a:blip r:embed="rId5"/>
          <a:stretch/>
        </p:blipFill>
        <p:spPr>
          <a:xfrm>
            <a:off x="5903640" y="2011680"/>
            <a:ext cx="390240" cy="548640"/>
          </a:xfrm>
          <a:prstGeom prst="rect">
            <a:avLst/>
          </a:prstGeom>
          <a:ln w="0">
            <a:noFill/>
          </a:ln>
        </p:spPr>
      </p:pic>
      <p:sp>
        <p:nvSpPr>
          <p:cNvPr id="670" name="TextBox 35"/>
          <p:cNvSpPr/>
          <p:nvPr/>
        </p:nvSpPr>
        <p:spPr>
          <a:xfrm>
            <a:off x="548244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Risi Bisi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5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76" name="Picture 41" descr="s08_7.69_3.54.jpg"/>
          <p:cNvPicPr/>
          <p:nvPr/>
        </p:nvPicPr>
        <p:blipFill>
          <a:blip r:embed="rId6"/>
          <a:stretch/>
        </p:blipFill>
        <p:spPr>
          <a:xfrm>
            <a:off x="7499160" y="2011680"/>
            <a:ext cx="397440" cy="548640"/>
          </a:xfrm>
          <a:prstGeom prst="rect">
            <a:avLst/>
          </a:prstGeom>
          <a:ln w="0">
            <a:noFill/>
          </a:ln>
        </p:spPr>
      </p:pic>
      <p:sp>
        <p:nvSpPr>
          <p:cNvPr id="677" name="TextBox 42"/>
          <p:cNvSpPr/>
          <p:nvPr/>
        </p:nvSpPr>
        <p:spPr>
          <a:xfrm>
            <a:off x="70812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Indian Curry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2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83" name="Picture 48" descr="s08_9.42_3.54.jpg"/>
          <p:cNvPicPr/>
          <p:nvPr/>
        </p:nvPicPr>
        <p:blipFill>
          <a:blip r:embed="rId7"/>
          <a:stretch/>
        </p:blipFill>
        <p:spPr>
          <a:xfrm>
            <a:off x="9106920" y="2011680"/>
            <a:ext cx="379080" cy="548640"/>
          </a:xfrm>
          <a:prstGeom prst="rect">
            <a:avLst/>
          </a:prstGeom>
          <a:ln w="0">
            <a:noFill/>
          </a:ln>
        </p:spPr>
      </p:pic>
      <p:sp>
        <p:nvSpPr>
          <p:cNvPr id="684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Curry з сочевицею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90" name="Picture 55" descr="s08_11.14_3.54.jpg"/>
          <p:cNvPicPr/>
          <p:nvPr/>
        </p:nvPicPr>
        <p:blipFill>
          <a:blip r:embed="rId8"/>
          <a:stretch/>
        </p:blipFill>
        <p:spPr>
          <a:xfrm>
            <a:off x="10697760" y="2011680"/>
            <a:ext cx="395640" cy="548640"/>
          </a:xfrm>
          <a:prstGeom prst="rect">
            <a:avLst/>
          </a:prstGeom>
          <a:ln w="0">
            <a:noFill/>
          </a:ln>
        </p:spPr>
      </p:pic>
      <p:sp>
        <p:nvSpPr>
          <p:cNvPr id="691" name="TextBox 56"/>
          <p:cNvSpPr/>
          <p:nvPr/>
        </p:nvSpPr>
        <p:spPr>
          <a:xfrm>
            <a:off x="102790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Basmati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100–144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MAUDAU · 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6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97" name="Picture 62" descr="s08_0.79_5.82.jpg"/>
          <p:cNvPicPr/>
          <p:nvPr/>
        </p:nvPicPr>
        <p:blipFill>
          <a:blip r:embed="rId9"/>
          <a:stretch/>
        </p:blipFill>
        <p:spPr>
          <a:xfrm>
            <a:off x="1106280" y="3794760"/>
            <a:ext cx="391680" cy="548640"/>
          </a:xfrm>
          <a:prstGeom prst="rect">
            <a:avLst/>
          </a:prstGeom>
          <a:ln w="0">
            <a:noFill/>
          </a:ln>
        </p:spPr>
      </p:pic>
      <p:sp>
        <p:nvSpPr>
          <p:cNvPr id="698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Mexikanisch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109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Rounded Rectangle 67"/>
          <p:cNvSpPr/>
          <p:nvPr/>
        </p:nvSpPr>
        <p:spPr>
          <a:xfrm>
            <a:off x="216576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3" name="Rounded Rectangle 68"/>
          <p:cNvSpPr/>
          <p:nvPr/>
        </p:nvSpPr>
        <p:spPr>
          <a:xfrm>
            <a:off x="222984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4" name="Picture 69" descr="s08_2.52_3.54.jpg"/>
          <p:cNvPicPr/>
          <p:nvPr/>
        </p:nvPicPr>
        <p:blipFill>
          <a:blip r:embed="rId10"/>
          <a:stretch/>
        </p:blipFill>
        <p:spPr>
          <a:xfrm>
            <a:off x="2705400" y="3794760"/>
            <a:ext cx="391680" cy="548640"/>
          </a:xfrm>
          <a:prstGeom prst="rect">
            <a:avLst/>
          </a:prstGeom>
          <a:ln w="0">
            <a:noFill/>
          </a:ln>
        </p:spPr>
      </p:pic>
      <p:sp>
        <p:nvSpPr>
          <p:cNvPr id="705" name="TextBox 70"/>
          <p:cNvSpPr/>
          <p:nvPr/>
        </p:nvSpPr>
        <p:spPr>
          <a:xfrm>
            <a:off x="228456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Curryreis Indien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TextBox 71"/>
          <p:cNvSpPr/>
          <p:nvPr/>
        </p:nvSpPr>
        <p:spPr>
          <a:xfrm>
            <a:off x="228456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TextBox 72"/>
          <p:cNvSpPr/>
          <p:nvPr/>
        </p:nvSpPr>
        <p:spPr>
          <a:xfrm>
            <a:off x="228456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144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73"/>
          <p:cNvSpPr/>
          <p:nvPr/>
        </p:nvSpPr>
        <p:spPr>
          <a:xfrm>
            <a:off x="228456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ounded Rectangle 74"/>
          <p:cNvSpPr/>
          <p:nvPr/>
        </p:nvSpPr>
        <p:spPr>
          <a:xfrm>
            <a:off x="376488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Rounded Rectangle 75"/>
          <p:cNvSpPr/>
          <p:nvPr/>
        </p:nvSpPr>
        <p:spPr>
          <a:xfrm>
            <a:off x="382860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1" name="Picture 76" descr="s08_4.24_5.82.jpg"/>
          <p:cNvPicPr/>
          <p:nvPr/>
        </p:nvPicPr>
        <p:blipFill>
          <a:blip r:embed="rId11"/>
          <a:stretch/>
        </p:blipFill>
        <p:spPr>
          <a:xfrm>
            <a:off x="4316400" y="3794760"/>
            <a:ext cx="366840" cy="548640"/>
          </a:xfrm>
          <a:prstGeom prst="rect">
            <a:avLst/>
          </a:prstGeom>
          <a:ln w="0">
            <a:noFill/>
          </a:ln>
        </p:spPr>
      </p:pic>
      <p:sp>
        <p:nvSpPr>
          <p:cNvPr id="712" name="TextBox 77"/>
          <p:cNvSpPr/>
          <p:nvPr/>
        </p:nvSpPr>
        <p:spPr>
          <a:xfrm>
            <a:off x="388368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Для боулів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78"/>
          <p:cNvSpPr/>
          <p:nvPr/>
        </p:nvSpPr>
        <p:spPr>
          <a:xfrm>
            <a:off x="388368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79"/>
          <p:cNvSpPr/>
          <p:nvPr/>
        </p:nvSpPr>
        <p:spPr>
          <a:xfrm>
            <a:off x="388368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149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80"/>
          <p:cNvSpPr/>
          <p:nvPr/>
        </p:nvSpPr>
        <p:spPr>
          <a:xfrm>
            <a:off x="388368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Rounded Rectangle 81"/>
          <p:cNvSpPr/>
          <p:nvPr/>
        </p:nvSpPr>
        <p:spPr>
          <a:xfrm>
            <a:off x="536364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7" name="Rounded Rectangle 82"/>
          <p:cNvSpPr/>
          <p:nvPr/>
        </p:nvSpPr>
        <p:spPr>
          <a:xfrm>
            <a:off x="542772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8" name="Picture 83" descr="s08_5.97_3.54.jpg"/>
          <p:cNvPicPr/>
          <p:nvPr/>
        </p:nvPicPr>
        <p:blipFill>
          <a:blip r:embed="rId12"/>
          <a:stretch/>
        </p:blipFill>
        <p:spPr>
          <a:xfrm>
            <a:off x="5903640" y="3794760"/>
            <a:ext cx="390240" cy="548640"/>
          </a:xfrm>
          <a:prstGeom prst="rect">
            <a:avLst/>
          </a:prstGeom>
          <a:ln w="0">
            <a:noFill/>
          </a:ln>
        </p:spPr>
      </p:pic>
      <p:sp>
        <p:nvSpPr>
          <p:cNvPr id="719" name="TextBox 84"/>
          <p:cNvSpPr/>
          <p:nvPr/>
        </p:nvSpPr>
        <p:spPr>
          <a:xfrm>
            <a:off x="548244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Sweet Chili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TextBox 85"/>
          <p:cNvSpPr/>
          <p:nvPr/>
        </p:nvSpPr>
        <p:spPr>
          <a:xfrm>
            <a:off x="548244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86"/>
          <p:cNvSpPr/>
          <p:nvPr/>
        </p:nvSpPr>
        <p:spPr>
          <a:xfrm>
            <a:off x="548244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179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Box 87"/>
          <p:cNvSpPr/>
          <p:nvPr/>
        </p:nvSpPr>
        <p:spPr>
          <a:xfrm>
            <a:off x="548244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Сільпо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Rounded Rectangle 88"/>
          <p:cNvSpPr/>
          <p:nvPr/>
        </p:nvSpPr>
        <p:spPr>
          <a:xfrm>
            <a:off x="69624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4" name="Rounded Rectangle 89"/>
          <p:cNvSpPr/>
          <p:nvPr/>
        </p:nvSpPr>
        <p:spPr>
          <a:xfrm>
            <a:off x="70264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25" name="Picture 90" descr="s08_7.69_3.54.jpg"/>
          <p:cNvPicPr/>
          <p:nvPr/>
        </p:nvPicPr>
        <p:blipFill>
          <a:blip r:embed="rId13"/>
          <a:stretch/>
        </p:blipFill>
        <p:spPr>
          <a:xfrm>
            <a:off x="7499160" y="3794760"/>
            <a:ext cx="397440" cy="548640"/>
          </a:xfrm>
          <a:prstGeom prst="rect">
            <a:avLst/>
          </a:prstGeom>
          <a:ln w="0">
            <a:noFill/>
          </a:ln>
        </p:spPr>
      </p:pic>
      <p:sp>
        <p:nvSpPr>
          <p:cNvPr id="726" name="TextBox 91"/>
          <p:cNvSpPr/>
          <p:nvPr/>
        </p:nvSpPr>
        <p:spPr>
          <a:xfrm>
            <a:off x="70812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Bio Basmati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92"/>
          <p:cNvSpPr/>
          <p:nvPr/>
        </p:nvSpPr>
        <p:spPr>
          <a:xfrm>
            <a:off x="70812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93"/>
          <p:cNvSpPr/>
          <p:nvPr/>
        </p:nvSpPr>
        <p:spPr>
          <a:xfrm>
            <a:off x="70812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139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94"/>
          <p:cNvSpPr/>
          <p:nvPr/>
        </p:nvSpPr>
        <p:spPr>
          <a:xfrm>
            <a:off x="70812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Edison Lee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95"/>
          <p:cNvSpPr/>
          <p:nvPr/>
        </p:nvSpPr>
        <p:spPr>
          <a:xfrm>
            <a:off x="856152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1" name="Rounded Rectangle 96"/>
          <p:cNvSpPr/>
          <p:nvPr/>
        </p:nvSpPr>
        <p:spPr>
          <a:xfrm>
            <a:off x="862524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32" name="Picture 97" descr="s08_9.42_3.54.jpg"/>
          <p:cNvPicPr/>
          <p:nvPr/>
        </p:nvPicPr>
        <p:blipFill>
          <a:blip r:embed="rId14"/>
          <a:stretch/>
        </p:blipFill>
        <p:spPr>
          <a:xfrm>
            <a:off x="9106920" y="3794760"/>
            <a:ext cx="379080" cy="548640"/>
          </a:xfrm>
          <a:prstGeom prst="rect">
            <a:avLst/>
          </a:prstGeom>
          <a:ln w="0">
            <a:noFill/>
          </a:ln>
        </p:spPr>
      </p:pic>
      <p:sp>
        <p:nvSpPr>
          <p:cNvPr id="733" name="TextBox 98"/>
          <p:cNvSpPr/>
          <p:nvPr/>
        </p:nvSpPr>
        <p:spPr>
          <a:xfrm>
            <a:off x="868032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Long Grain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Box 99"/>
          <p:cNvSpPr/>
          <p:nvPr/>
        </p:nvSpPr>
        <p:spPr>
          <a:xfrm>
            <a:off x="868032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4820a"/>
                </a:solidFill>
                <a:latin typeface="Segoe UI"/>
              </a:rPr>
              <a:t>220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100"/>
          <p:cNvSpPr/>
          <p:nvPr/>
        </p:nvSpPr>
        <p:spPr>
          <a:xfrm>
            <a:off x="868032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139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101"/>
          <p:cNvSpPr/>
          <p:nvPr/>
        </p:nvSpPr>
        <p:spPr>
          <a:xfrm>
            <a:off x="868032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Edison Lee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Rounded Rectangle 102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8" name="Rectangle 103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TextBox 104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c4820a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Box 105"/>
          <p:cNvSpPr/>
          <p:nvPr/>
        </p:nvSpPr>
        <p:spPr>
          <a:xfrm>
            <a:off x="841320" y="5696640"/>
            <a:ext cx="10515240" cy="3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Ben's Original тримає всю мережеву полицю категорії: 11 позицій у «Сільпо» плюс 2 в Edison Lee. Ціновий діапазон 45–179 грн за упаковку — це і є вікно, у яке має вписатися будь-який новий пауч.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106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каталог «Сільпо» (11 позицій), MAUDAU, Edison Lee — 22.09.2026.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5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746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СЕГМЕНТ 1 · ГОТОВИЙ РИС ДО РОЗІГРІВУ   ·   ЧАША   ·   OTTOGI · 10 ПОЗИЦІЙ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Готова страва з наповнювачем, розігрів у мікрохвильовці. Продається у чотирьох продавців.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1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ФОРМАТ: ЧАША   ·   Мікрохвильовка 60–90 с   ·   Маса — готової страви   ·   привід: Обід поза домом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13" descr="s09_0.79_3.54.jpg"/>
          <p:cNvPicPr/>
          <p:nvPr/>
        </p:nvPicPr>
        <p:blipFill>
          <a:blip r:embed="rId2"/>
          <a:stretch/>
        </p:blipFill>
        <p:spPr>
          <a:xfrm>
            <a:off x="988200" y="2011680"/>
            <a:ext cx="628200" cy="548640"/>
          </a:xfrm>
          <a:prstGeom prst="rect">
            <a:avLst/>
          </a:prstGeom>
          <a:ln w="0">
            <a:noFill/>
          </a:ln>
        </p:spPr>
      </p:pic>
      <p:sp>
        <p:nvSpPr>
          <p:cNvPr id="755" name="TextBox 14"/>
          <p:cNvSpPr/>
          <p:nvPr/>
        </p:nvSpPr>
        <p:spPr>
          <a:xfrm>
            <a:off x="6858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Бульгогі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320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252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Тайякі Март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1" name="Picture 20" descr="s09_3.21_3.54.jpg"/>
          <p:cNvPicPr/>
          <p:nvPr/>
        </p:nvPicPr>
        <p:blipFill>
          <a:blip r:embed="rId3"/>
          <a:stretch/>
        </p:blipFill>
        <p:spPr>
          <a:xfrm>
            <a:off x="2592360" y="2011680"/>
            <a:ext cx="617760" cy="548640"/>
          </a:xfrm>
          <a:prstGeom prst="rect">
            <a:avLst/>
          </a:prstGeom>
          <a:ln w="0">
            <a:noFill/>
          </a:ln>
        </p:spPr>
      </p:pic>
      <p:sp>
        <p:nvSpPr>
          <p:cNvPr id="762" name="TextBox 21"/>
          <p:cNvSpPr/>
          <p:nvPr/>
        </p:nvSpPr>
        <p:spPr>
          <a:xfrm>
            <a:off x="228456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Гамбурзький стейк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315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Pulsar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7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8" name="Picture 27" descr="s09_5.62_3.54.jpg"/>
          <p:cNvPicPr/>
          <p:nvPr/>
        </p:nvPicPr>
        <p:blipFill>
          <a:blip r:embed="rId4"/>
          <a:stretch/>
        </p:blipFill>
        <p:spPr>
          <a:xfrm>
            <a:off x="4185720" y="2011680"/>
            <a:ext cx="628200" cy="548640"/>
          </a:xfrm>
          <a:prstGeom prst="rect">
            <a:avLst/>
          </a:prstGeom>
          <a:ln w="0">
            <a:noFill/>
          </a:ln>
        </p:spPr>
      </p:pic>
      <p:sp>
        <p:nvSpPr>
          <p:cNvPr id="769" name="TextBox 28"/>
          <p:cNvSpPr/>
          <p:nvPr/>
        </p:nvSpPr>
        <p:spPr>
          <a:xfrm>
            <a:off x="38836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Свинина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310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252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Тайякі Март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4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5" name="Picture 34" descr="s09_8.04_3.54.jpg"/>
          <p:cNvPicPr/>
          <p:nvPr/>
        </p:nvPicPr>
        <p:blipFill>
          <a:blip r:embed="rId5"/>
          <a:stretch/>
        </p:blipFill>
        <p:spPr>
          <a:xfrm>
            <a:off x="5824800" y="201168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776" name="TextBox 35"/>
          <p:cNvSpPr/>
          <p:nvPr/>
        </p:nvSpPr>
        <p:spPr>
          <a:xfrm>
            <a:off x="548244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Гострі курячі ребра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310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255–260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Pulsar · Gurmissimo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1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2" name="Picture 41" descr="s09_10.45_3.54.jpg"/>
          <p:cNvPicPr/>
          <p:nvPr/>
        </p:nvPicPr>
        <p:blipFill>
          <a:blip r:embed="rId6"/>
          <a:stretch/>
        </p:blipFill>
        <p:spPr>
          <a:xfrm>
            <a:off x="7381440" y="2011680"/>
            <a:ext cx="632880" cy="548640"/>
          </a:xfrm>
          <a:prstGeom prst="rect">
            <a:avLst/>
          </a:prstGeom>
          <a:ln w="0">
            <a:noFill/>
          </a:ln>
        </p:spPr>
      </p:pic>
      <p:sp>
        <p:nvSpPr>
          <p:cNvPr id="783" name="TextBox 42"/>
          <p:cNvSpPr/>
          <p:nvPr/>
        </p:nvSpPr>
        <p:spPr>
          <a:xfrm>
            <a:off x="70812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Гострий восьминіг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280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255–289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Pulsar · Апетіт. · Gurm.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8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9" name="Picture 48" descr="s09_0.79_5.82.jpg"/>
          <p:cNvPicPr/>
          <p:nvPr/>
        </p:nvPicPr>
        <p:blipFill>
          <a:blip r:embed="rId7"/>
          <a:stretch/>
        </p:blipFill>
        <p:spPr>
          <a:xfrm>
            <a:off x="8950320" y="2011680"/>
            <a:ext cx="693000" cy="548640"/>
          </a:xfrm>
          <a:prstGeom prst="rect">
            <a:avLst/>
          </a:prstGeom>
          <a:ln w="0">
            <a:noFill/>
          </a:ln>
        </p:spPr>
      </p:pic>
      <p:sp>
        <p:nvSpPr>
          <p:cNvPr id="790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Тунець і майонез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247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225–320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Тайякі · Gurmissimo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5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6" name="Picture 55" descr="s09_3.21_3.54.jpg"/>
          <p:cNvPicPr/>
          <p:nvPr/>
        </p:nvPicPr>
        <p:blipFill>
          <a:blip r:embed="rId8"/>
          <a:stretch/>
        </p:blipFill>
        <p:spPr>
          <a:xfrm>
            <a:off x="10586520" y="2011680"/>
            <a:ext cx="617760" cy="548640"/>
          </a:xfrm>
          <a:prstGeom prst="rect">
            <a:avLst/>
          </a:prstGeom>
          <a:ln w="0">
            <a:noFill/>
          </a:ln>
        </p:spPr>
      </p:pic>
      <p:sp>
        <p:nvSpPr>
          <p:cNvPr id="797" name="TextBox 56"/>
          <p:cNvSpPr/>
          <p:nvPr/>
        </p:nvSpPr>
        <p:spPr>
          <a:xfrm>
            <a:off x="102790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Пібімпаб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269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252–334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Тайякі · Апетітаріум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2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3" name="Picture 62" descr="s09_5.62_5.82.jpg"/>
          <p:cNvPicPr/>
          <p:nvPr/>
        </p:nvPicPr>
        <p:blipFill>
          <a:blip r:embed="rId9"/>
          <a:stretch/>
        </p:blipFill>
        <p:spPr>
          <a:xfrm>
            <a:off x="985680" y="3794760"/>
            <a:ext cx="632880" cy="548640"/>
          </a:xfrm>
          <a:prstGeom prst="rect">
            <a:avLst/>
          </a:prstGeom>
          <a:ln w="0">
            <a:noFill/>
          </a:ln>
        </p:spPr>
      </p:pic>
      <p:sp>
        <p:nvSpPr>
          <p:cNvPr id="804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Гостра свинина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269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334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Апетітаріум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ounded Rectangle 67"/>
          <p:cNvSpPr/>
          <p:nvPr/>
        </p:nvSpPr>
        <p:spPr>
          <a:xfrm>
            <a:off x="216576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9" name="Rounded Rectangle 68"/>
          <p:cNvSpPr/>
          <p:nvPr/>
        </p:nvSpPr>
        <p:spPr>
          <a:xfrm>
            <a:off x="222984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0" name="Picture 69" descr="s09_8.04_3.54.jpg"/>
          <p:cNvPicPr/>
          <p:nvPr/>
        </p:nvPicPr>
        <p:blipFill>
          <a:blip r:embed="rId10"/>
          <a:stretch/>
        </p:blipFill>
        <p:spPr>
          <a:xfrm>
            <a:off x="2626920" y="379476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811" name="TextBox 70"/>
          <p:cNvSpPr/>
          <p:nvPr/>
        </p:nvSpPr>
        <p:spPr>
          <a:xfrm>
            <a:off x="228456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Гостра яловичина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71"/>
          <p:cNvSpPr/>
          <p:nvPr/>
        </p:nvSpPr>
        <p:spPr>
          <a:xfrm>
            <a:off x="228456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320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TextBox 72"/>
          <p:cNvSpPr/>
          <p:nvPr/>
        </p:nvSpPr>
        <p:spPr>
          <a:xfrm>
            <a:off x="228456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73"/>
          <p:cNvSpPr/>
          <p:nvPr/>
        </p:nvSpPr>
        <p:spPr>
          <a:xfrm>
            <a:off x="228456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Апетітаріум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74"/>
          <p:cNvSpPr/>
          <p:nvPr/>
        </p:nvSpPr>
        <p:spPr>
          <a:xfrm>
            <a:off x="376488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6" name="Rounded Rectangle 75"/>
          <p:cNvSpPr/>
          <p:nvPr/>
        </p:nvSpPr>
        <p:spPr>
          <a:xfrm>
            <a:off x="382860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7" name="Picture 76" descr="s09_10.45_3.54.jpg"/>
          <p:cNvPicPr/>
          <p:nvPr/>
        </p:nvPicPr>
        <p:blipFill>
          <a:blip r:embed="rId11"/>
          <a:stretch/>
        </p:blipFill>
        <p:spPr>
          <a:xfrm>
            <a:off x="4183560" y="3794760"/>
            <a:ext cx="632880" cy="548640"/>
          </a:xfrm>
          <a:prstGeom prst="rect">
            <a:avLst/>
          </a:prstGeom>
          <a:ln w="0">
            <a:noFill/>
          </a:ln>
        </p:spPr>
      </p:pic>
      <p:sp>
        <p:nvSpPr>
          <p:cNvPr id="818" name="TextBox 77"/>
          <p:cNvSpPr/>
          <p:nvPr/>
        </p:nvSpPr>
        <p:spPr>
          <a:xfrm>
            <a:off x="388368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Jjampong: рис у супі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TextBox 78"/>
          <p:cNvSpPr/>
          <p:nvPr/>
        </p:nvSpPr>
        <p:spPr>
          <a:xfrm>
            <a:off x="388368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217,5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TextBox 79"/>
          <p:cNvSpPr/>
          <p:nvPr/>
        </p:nvSpPr>
        <p:spPr>
          <a:xfrm>
            <a:off x="388368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255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80"/>
          <p:cNvSpPr/>
          <p:nvPr/>
        </p:nvSpPr>
        <p:spPr>
          <a:xfrm>
            <a:off x="388368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Pulsar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Rounded Rectangle 81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3" name="Rectangle 82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83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1e9ea6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4"/>
          <p:cNvSpPr/>
          <p:nvPr/>
        </p:nvSpPr>
        <p:spPr>
          <a:xfrm>
            <a:off x="841320" y="5696640"/>
            <a:ext cx="105152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Найдорожча упаковка сегмента розігріву: 225–356 грн. Це прямий конкурент нашого стакана — і саме тут у нас найбільший ціновий запас.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extBox 85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Pulsar, Апетітаріум, Gurmissimo, Тайякі Март — 22.09.2026. Ціни роздрібні.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8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9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30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831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СЕГМЕНТ 2 · СУХИЙ РИС ПІД ОКРІП   ·   ЧАША   ·   HENAN · 8 ПОЗИЦІЙ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сухого продукту до заливання.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6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ФОРМАТ: ЧАША   ·   Окріп, 5–10 хв   ·   Маса — сухого продукту   ·   привід: Офіс і гуртожиток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8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39" name="Picture 13" descr="s10_0.79_3.54.jpg"/>
          <p:cNvPicPr/>
          <p:nvPr/>
        </p:nvPicPr>
        <p:blipFill>
          <a:blip r:embed="rId2"/>
          <a:stretch/>
        </p:blipFill>
        <p:spPr>
          <a:xfrm>
            <a:off x="1008720" y="2011680"/>
            <a:ext cx="587160" cy="548640"/>
          </a:xfrm>
          <a:prstGeom prst="rect">
            <a:avLst/>
          </a:prstGeom>
          <a:ln w="0">
            <a:noFill/>
          </a:ln>
        </p:spPr>
      </p:pic>
      <p:sp>
        <p:nvSpPr>
          <p:cNvPr id="840" name="TextBox 14"/>
          <p:cNvSpPr/>
          <p:nvPr/>
        </p:nvSpPr>
        <p:spPr>
          <a:xfrm>
            <a:off x="6858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Тушкована курка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174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129–156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СНЕКІС · DCM · Апетіт.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5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6" name="Picture 20" descr="s10_3.81_3.54.jpg"/>
          <p:cNvPicPr/>
          <p:nvPr/>
        </p:nvPicPr>
        <p:blipFill>
          <a:blip r:embed="rId3"/>
          <a:stretch/>
        </p:blipFill>
        <p:spPr>
          <a:xfrm>
            <a:off x="2612160" y="2011680"/>
            <a:ext cx="577800" cy="548640"/>
          </a:xfrm>
          <a:prstGeom prst="rect">
            <a:avLst/>
          </a:prstGeom>
          <a:ln w="0">
            <a:noFill/>
          </a:ln>
        </p:spPr>
      </p:pic>
      <p:sp>
        <p:nvSpPr>
          <p:cNvPr id="847" name="TextBox 21"/>
          <p:cNvSpPr/>
          <p:nvPr/>
        </p:nvSpPr>
        <p:spPr>
          <a:xfrm>
            <a:off x="228456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Гребінці та гриби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174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140–156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MAUDAU · Gurm. · DCM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53" name="Picture 27" descr="s10_6.83_3.54.jpg"/>
          <p:cNvPicPr/>
          <p:nvPr/>
        </p:nvPicPr>
        <p:blipFill>
          <a:blip r:embed="rId4"/>
          <a:stretch/>
        </p:blipFill>
        <p:spPr>
          <a:xfrm>
            <a:off x="4213440" y="2011680"/>
            <a:ext cx="573120" cy="548640"/>
          </a:xfrm>
          <a:prstGeom prst="rect">
            <a:avLst/>
          </a:prstGeom>
          <a:ln w="0">
            <a:noFill/>
          </a:ln>
        </p:spPr>
      </p:pic>
      <p:sp>
        <p:nvSpPr>
          <p:cNvPr id="854" name="TextBox 28"/>
          <p:cNvSpPr/>
          <p:nvPr/>
        </p:nvSpPr>
        <p:spPr>
          <a:xfrm>
            <a:off x="38836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Кантонська ковбаска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174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118–156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OMG! Asia · Gurm. · Апетіт.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9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0" name="Picture 34" descr="s10_9.85_3.54.jpg"/>
          <p:cNvPicPr/>
          <p:nvPr/>
        </p:nvPicPr>
        <p:blipFill>
          <a:blip r:embed="rId5"/>
          <a:stretch/>
        </p:blipFill>
        <p:spPr>
          <a:xfrm>
            <a:off x="5822280" y="2011680"/>
            <a:ext cx="552960" cy="548640"/>
          </a:xfrm>
          <a:prstGeom prst="rect">
            <a:avLst/>
          </a:prstGeom>
          <a:ln w="0">
            <a:noFill/>
          </a:ln>
        </p:spPr>
      </p:pic>
      <p:sp>
        <p:nvSpPr>
          <p:cNvPr id="861" name="TextBox 35"/>
          <p:cNvSpPr/>
          <p:nvPr/>
        </p:nvSpPr>
        <p:spPr>
          <a:xfrm>
            <a:off x="548244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Яловичина з перцем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174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118–156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OMG! Asia · Gurm. · Апетіт.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6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7" name="Picture 41" descr="s10_0.79_3.54.jpg"/>
          <p:cNvPicPr/>
          <p:nvPr/>
        </p:nvPicPr>
        <p:blipFill>
          <a:blip r:embed="rId6"/>
          <a:stretch/>
        </p:blipFill>
        <p:spPr>
          <a:xfrm>
            <a:off x="7404120" y="2011680"/>
            <a:ext cx="587160" cy="548640"/>
          </a:xfrm>
          <a:prstGeom prst="rect">
            <a:avLst/>
          </a:prstGeom>
          <a:ln w="0">
            <a:noFill/>
          </a:ln>
        </p:spPr>
      </p:pic>
      <p:sp>
        <p:nvSpPr>
          <p:cNvPr id="868" name="TextBox 42"/>
          <p:cNvSpPr/>
          <p:nvPr/>
        </p:nvSpPr>
        <p:spPr>
          <a:xfrm>
            <a:off x="70812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Курка з перцем чилі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174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112–150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OMG! · СНЕКІС · DCM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3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4" name="Picture 48" descr="s10_3.81_5.82.jpg"/>
          <p:cNvPicPr/>
          <p:nvPr/>
        </p:nvPicPr>
        <p:blipFill>
          <a:blip r:embed="rId7"/>
          <a:stretch/>
        </p:blipFill>
        <p:spPr>
          <a:xfrm>
            <a:off x="9009000" y="2011680"/>
            <a:ext cx="575280" cy="548640"/>
          </a:xfrm>
          <a:prstGeom prst="rect">
            <a:avLst/>
          </a:prstGeom>
          <a:ln w="0">
            <a:noFill/>
          </a:ln>
        </p:spPr>
      </p:pic>
      <p:sp>
        <p:nvSpPr>
          <p:cNvPr id="875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Гостра курка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144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83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OMG! Asia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0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1" name="Picture 55" descr="s10_6.83_3.54.jpg"/>
          <p:cNvPicPr/>
          <p:nvPr/>
        </p:nvPicPr>
        <p:blipFill>
          <a:blip r:embed="rId8"/>
          <a:stretch/>
        </p:blipFill>
        <p:spPr>
          <a:xfrm>
            <a:off x="10608840" y="2011680"/>
            <a:ext cx="573120" cy="548640"/>
          </a:xfrm>
          <a:prstGeom prst="rect">
            <a:avLst/>
          </a:prstGeom>
          <a:ln w="0">
            <a:noFill/>
          </a:ln>
        </p:spPr>
      </p:pic>
      <p:sp>
        <p:nvSpPr>
          <p:cNvPr id="882" name="TextBox 56"/>
          <p:cNvSpPr/>
          <p:nvPr/>
        </p:nvSpPr>
        <p:spPr>
          <a:xfrm>
            <a:off x="1027908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Кисло-солодка яловичина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144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135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DCM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7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8" name="Picture 62" descr="s10_9.85_5.82.jpg"/>
          <p:cNvPicPr/>
          <p:nvPr/>
        </p:nvPicPr>
        <p:blipFill>
          <a:blip r:embed="rId9"/>
          <a:stretch/>
        </p:blipFill>
        <p:spPr>
          <a:xfrm>
            <a:off x="927360" y="3794760"/>
            <a:ext cx="749520" cy="548640"/>
          </a:xfrm>
          <a:prstGeom prst="rect">
            <a:avLst/>
          </a:prstGeom>
          <a:ln w="0">
            <a:noFill/>
          </a:ln>
        </p:spPr>
      </p:pic>
      <p:sp>
        <p:nvSpPr>
          <p:cNvPr id="889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Курка з баклажанами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144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152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DCM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Rounded Rectangle 67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4" name="Rectangle 68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5" name="TextBox 69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1e9ea6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70"/>
          <p:cNvSpPr/>
          <p:nvPr/>
        </p:nvSpPr>
        <p:spPr>
          <a:xfrm>
            <a:off x="841320" y="5696640"/>
            <a:ext cx="105152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83–156 грн за упаковку. Дешевше за Ottogi вдвічі, але це не готова страва, а концентрат — покупець доплачує за зручність, не за вагу.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TextBox 71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MAUDAU, Апетітаріум, Gurmissimo, OMG! Asia, СНЕКІС, DCM —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9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0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1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902" name="TextBox 5"/>
          <p:cNvSpPr/>
          <p:nvPr/>
        </p:nvSpPr>
        <p:spPr>
          <a:xfrm>
            <a:off x="2304360" y="311040"/>
            <a:ext cx="8503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fc95c"/>
                </a:solidFill>
                <a:latin typeface="Segoe UI"/>
              </a:rPr>
              <a:t>СЕГМЕНТ 1 · ГОТОВИЙ РИС ДО РОЗІГРІВУ   ·   ЧАША + ПАУЧ   ·   ПООДИНОКІ БРЕНДИ · 4 БРЕНДИ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Bibigo — чаша, Clearspring, Portion і Маркел — пауч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Той самий сегмент розігріву в двох форматах, різні країни й канали.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7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ФОРМАТ: ЧАША + ПАУЧ   ·   Мікрохвильовка 60–90 с   ·   Маса — готової страви   ·   привід: Обід поза домом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11"/>
          <p:cNvSpPr/>
          <p:nvPr/>
        </p:nvSpPr>
        <p:spPr>
          <a:xfrm>
            <a:off x="56700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9" name="Rounded Rectangle 12"/>
          <p:cNvSpPr/>
          <p:nvPr/>
        </p:nvSpPr>
        <p:spPr>
          <a:xfrm>
            <a:off x="63108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0" name="Picture 13" descr="s11_0.79_4.14.jpg"/>
          <p:cNvPicPr/>
          <p:nvPr/>
        </p:nvPicPr>
        <p:blipFill>
          <a:blip r:embed="rId2"/>
          <a:stretch/>
        </p:blipFill>
        <p:spPr>
          <a:xfrm>
            <a:off x="981000" y="2011680"/>
            <a:ext cx="909000" cy="913320"/>
          </a:xfrm>
          <a:prstGeom prst="rect">
            <a:avLst/>
          </a:prstGeom>
          <a:ln w="0">
            <a:noFill/>
          </a:ln>
        </p:spPr>
      </p:pic>
      <p:sp>
        <p:nvSpPr>
          <p:cNvPr id="911" name="TextBox 14"/>
          <p:cNvSpPr/>
          <p:nvPr/>
        </p:nvSpPr>
        <p:spPr>
          <a:xfrm>
            <a:off x="68580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Білий рис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15"/>
          <p:cNvSpPr/>
          <p:nvPr/>
        </p:nvSpPr>
        <p:spPr>
          <a:xfrm>
            <a:off x="68580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BIBIGO  ·  210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16"/>
          <p:cNvSpPr/>
          <p:nvPr/>
        </p:nvSpPr>
        <p:spPr>
          <a:xfrm>
            <a:off x="68580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135–189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TextBox 17"/>
          <p:cNvSpPr/>
          <p:nvPr/>
        </p:nvSpPr>
        <p:spPr>
          <a:xfrm>
            <a:off x="68580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Смак Кореї · Rozetka · Prom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Rounded Rectangle 18"/>
          <p:cNvSpPr/>
          <p:nvPr/>
        </p:nvSpPr>
        <p:spPr>
          <a:xfrm>
            <a:off x="243216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6" name="Rounded Rectangle 19"/>
          <p:cNvSpPr/>
          <p:nvPr/>
        </p:nvSpPr>
        <p:spPr>
          <a:xfrm>
            <a:off x="249624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7" name="Picture 20" descr="s11_2.80_4.14.jpg"/>
          <p:cNvPicPr/>
          <p:nvPr/>
        </p:nvPicPr>
        <p:blipFill>
          <a:blip r:embed="rId3"/>
          <a:stretch/>
        </p:blipFill>
        <p:spPr>
          <a:xfrm>
            <a:off x="2918880" y="2011680"/>
            <a:ext cx="763560" cy="913320"/>
          </a:xfrm>
          <a:prstGeom prst="rect">
            <a:avLst/>
          </a:prstGeom>
          <a:ln w="0">
            <a:noFill/>
          </a:ln>
        </p:spPr>
      </p:pic>
      <p:sp>
        <p:nvSpPr>
          <p:cNvPr id="918" name="TextBox 21"/>
          <p:cNvSpPr/>
          <p:nvPr/>
        </p:nvSpPr>
        <p:spPr>
          <a:xfrm>
            <a:off x="255132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Brown &amp; Wild Rice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TextBox 22"/>
          <p:cNvSpPr/>
          <p:nvPr/>
        </p:nvSpPr>
        <p:spPr>
          <a:xfrm>
            <a:off x="255132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CLEARSPRING  ·  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23"/>
          <p:cNvSpPr/>
          <p:nvPr/>
        </p:nvSpPr>
        <p:spPr>
          <a:xfrm>
            <a:off x="255132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252–446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24"/>
          <p:cNvSpPr/>
          <p:nvPr/>
        </p:nvSpPr>
        <p:spPr>
          <a:xfrm>
            <a:off x="255132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MAUDAU · спец. магазини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Rounded Rectangle 25"/>
          <p:cNvSpPr/>
          <p:nvPr/>
        </p:nvSpPr>
        <p:spPr>
          <a:xfrm>
            <a:off x="429768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3" name="Rounded Rectangle 26"/>
          <p:cNvSpPr/>
          <p:nvPr/>
        </p:nvSpPr>
        <p:spPr>
          <a:xfrm>
            <a:off x="436176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4" name="TextBox 27"/>
          <p:cNvSpPr/>
          <p:nvPr/>
        </p:nvSpPr>
        <p:spPr>
          <a:xfrm>
            <a:off x="4361760" y="2340360"/>
            <a:ext cx="16088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0" lang="en-US" sz="630" spc="-1" strike="noStrike">
                <a:solidFill>
                  <a:srgbClr val="9fa9c4"/>
                </a:solidFill>
                <a:latin typeface="Segoe UI"/>
              </a:rPr>
              <a:t>фото немає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28"/>
          <p:cNvSpPr/>
          <p:nvPr/>
        </p:nvSpPr>
        <p:spPr>
          <a:xfrm>
            <a:off x="441648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Рис із куркою та овочами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29"/>
          <p:cNvSpPr/>
          <p:nvPr/>
        </p:nvSpPr>
        <p:spPr>
          <a:xfrm>
            <a:off x="441648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PORTION  ·  350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30"/>
          <p:cNvSpPr/>
          <p:nvPr/>
        </p:nvSpPr>
        <p:spPr>
          <a:xfrm>
            <a:off x="441648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109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31"/>
          <p:cNvSpPr/>
          <p:nvPr/>
        </p:nvSpPr>
        <p:spPr>
          <a:xfrm>
            <a:off x="441648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Rozetka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ounded Rectangle 32"/>
          <p:cNvSpPr/>
          <p:nvPr/>
        </p:nvSpPr>
        <p:spPr>
          <a:xfrm>
            <a:off x="616320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0" name="Rounded Rectangle 33"/>
          <p:cNvSpPr/>
          <p:nvPr/>
        </p:nvSpPr>
        <p:spPr>
          <a:xfrm>
            <a:off x="622692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1" name="Picture 34" descr="s11_6.83_4.14.jpg"/>
          <p:cNvPicPr/>
          <p:nvPr/>
        </p:nvPicPr>
        <p:blipFill>
          <a:blip r:embed="rId4"/>
          <a:stretch/>
        </p:blipFill>
        <p:spPr>
          <a:xfrm>
            <a:off x="6669360" y="2011680"/>
            <a:ext cx="724320" cy="913320"/>
          </a:xfrm>
          <a:prstGeom prst="rect">
            <a:avLst/>
          </a:prstGeom>
          <a:ln w="0">
            <a:noFill/>
          </a:ln>
        </p:spPr>
      </p:pic>
      <p:sp>
        <p:nvSpPr>
          <p:cNvPr id="932" name="TextBox 35"/>
          <p:cNvSpPr/>
          <p:nvPr/>
        </p:nvSpPr>
        <p:spPr>
          <a:xfrm>
            <a:off x="628200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Рис із соєвим м'ясом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Box 36"/>
          <p:cNvSpPr/>
          <p:nvPr/>
        </p:nvSpPr>
        <p:spPr>
          <a:xfrm>
            <a:off x="628200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МАРКЕЛ  ·  350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TextBox 37"/>
          <p:cNvSpPr/>
          <p:nvPr/>
        </p:nvSpPr>
        <p:spPr>
          <a:xfrm>
            <a:off x="628200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94–96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TextBox 38"/>
          <p:cNvSpPr/>
          <p:nvPr/>
        </p:nvSpPr>
        <p:spPr>
          <a:xfrm>
            <a:off x="628200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СУХПАЙ · UPcompany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Rounded Rectangle 39"/>
          <p:cNvSpPr/>
          <p:nvPr/>
        </p:nvSpPr>
        <p:spPr>
          <a:xfrm>
            <a:off x="802836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7" name="Rounded Rectangle 40"/>
          <p:cNvSpPr/>
          <p:nvPr/>
        </p:nvSpPr>
        <p:spPr>
          <a:xfrm>
            <a:off x="809244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8" name="Picture 41" descr="s11_8.84_4.14.jpg"/>
          <p:cNvPicPr/>
          <p:nvPr/>
        </p:nvPicPr>
        <p:blipFill>
          <a:blip r:embed="rId5"/>
          <a:stretch/>
        </p:blipFill>
        <p:spPr>
          <a:xfrm>
            <a:off x="844020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939" name="TextBox 42"/>
          <p:cNvSpPr/>
          <p:nvPr/>
        </p:nvSpPr>
        <p:spPr>
          <a:xfrm>
            <a:off x="814716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Yatekomo: яловичина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TextBox 43"/>
          <p:cNvSpPr/>
          <p:nvPr/>
        </p:nvSpPr>
        <p:spPr>
          <a:xfrm>
            <a:off x="814716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GALLINA BLANCA  ·  84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TextBox 44"/>
          <p:cNvSpPr/>
          <p:nvPr/>
        </p:nvSpPr>
        <p:spPr>
          <a:xfrm>
            <a:off x="814716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229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Box 45"/>
          <p:cNvSpPr/>
          <p:nvPr/>
        </p:nvSpPr>
        <p:spPr>
          <a:xfrm>
            <a:off x="814716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Товари з Іспанії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Rounded Rectangle 46"/>
          <p:cNvSpPr/>
          <p:nvPr/>
        </p:nvSpPr>
        <p:spPr>
          <a:xfrm>
            <a:off x="989388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4" name="Rounded Rectangle 47"/>
          <p:cNvSpPr/>
          <p:nvPr/>
        </p:nvSpPr>
        <p:spPr>
          <a:xfrm>
            <a:off x="995796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5" name="Picture 48" descr="s11_10.86_4.14.jpg"/>
          <p:cNvPicPr/>
          <p:nvPr/>
        </p:nvPicPr>
        <p:blipFill>
          <a:blip r:embed="rId6"/>
          <a:stretch/>
        </p:blipFill>
        <p:spPr>
          <a:xfrm>
            <a:off x="1030572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946" name="TextBox 49"/>
          <p:cNvSpPr/>
          <p:nvPr/>
        </p:nvSpPr>
        <p:spPr>
          <a:xfrm>
            <a:off x="1001268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Yatekomo: теріякі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50"/>
          <p:cNvSpPr/>
          <p:nvPr/>
        </p:nvSpPr>
        <p:spPr>
          <a:xfrm>
            <a:off x="1001268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1e9ea6"/>
                </a:solidFill>
                <a:latin typeface="Segoe UI"/>
              </a:rPr>
              <a:t>GALLINA BLANCA  ·  84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51"/>
          <p:cNvSpPr/>
          <p:nvPr/>
        </p:nvSpPr>
        <p:spPr>
          <a:xfrm>
            <a:off x="1001268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229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TextBox 52"/>
          <p:cNvSpPr/>
          <p:nvPr/>
        </p:nvSpPr>
        <p:spPr>
          <a:xfrm>
            <a:off x="1001268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Товари з Іспанії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Rounded Rectangle 53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1" name="Rectangle 54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2" name="TextBox 55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1e9ea6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56"/>
          <p:cNvSpPr/>
          <p:nvPr/>
        </p:nvSpPr>
        <p:spPr>
          <a:xfrm>
            <a:off x="841320" y="5696640"/>
            <a:ext cx="10515240" cy="3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грн, найдешевша упаковка сегмента. Bibigo — той самий товар у трьох каналах із розкидом 40 %. Gallina Blanca праворуч — інший сегмент: 84 г сухого рису в чаші під окріп.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TextBox 57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Смак Кореї, Rozetka, Prom, MAUDAU, СУХПАЙ, UPcompany — 22–23.09.2026. Фото Portion: Rozetka не віддає зображення картки.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6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7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58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959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СЕГМЕНТ 3 · САМОРОЗІГРІВ   ·   КОРОБКА   ·   HAIDILAO · 10 ПОЗИЦІЙ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4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94f7c"/>
                </a:solidFill>
                <a:latin typeface="Segoe UI"/>
              </a:rPr>
              <a:t>ФОРМАТ: КОРОБКА   ·   Хімічний нагрівач, 15 хв   ·   Без техніки й окропу   ·   привід: Дорога, подарунок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67" name="Picture 13" descr="s12_0.79_3.54.jpg"/>
          <p:cNvPicPr/>
          <p:nvPr/>
        </p:nvPicPr>
        <p:blipFill>
          <a:blip r:embed="rId2"/>
          <a:stretch/>
        </p:blipFill>
        <p:spPr>
          <a:xfrm>
            <a:off x="1032840" y="2011680"/>
            <a:ext cx="538560" cy="548640"/>
          </a:xfrm>
          <a:prstGeom prst="rect">
            <a:avLst/>
          </a:prstGeom>
          <a:ln w="0">
            <a:noFill/>
          </a:ln>
        </p:spPr>
      </p:pic>
      <p:sp>
        <p:nvSpPr>
          <p:cNvPr id="968" name="TextBox 14"/>
          <p:cNvSpPr/>
          <p:nvPr/>
        </p:nvSpPr>
        <p:spPr>
          <a:xfrm>
            <a:off x="6858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Stewed Chicken*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165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380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Sweet Svitt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3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4" name="Picture 20" descr="s12_3.21_3.54.jpg"/>
          <p:cNvPicPr/>
          <p:nvPr/>
        </p:nvPicPr>
        <p:blipFill>
          <a:blip r:embed="rId3"/>
          <a:stretch/>
        </p:blipFill>
        <p:spPr>
          <a:xfrm>
            <a:off x="2626920" y="201168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975" name="TextBox 21"/>
          <p:cNvSpPr/>
          <p:nvPr/>
        </p:nvSpPr>
        <p:spPr>
          <a:xfrm>
            <a:off x="228456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Яловичина з карі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272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770–799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1" name="Picture 27" descr="s12_5.62_3.54.jpg"/>
          <p:cNvPicPr/>
          <p:nvPr/>
        </p:nvPicPr>
        <p:blipFill>
          <a:blip r:embed="rId4"/>
          <a:stretch/>
        </p:blipFill>
        <p:spPr>
          <a:xfrm>
            <a:off x="4225680" y="201168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982" name="TextBox 28"/>
          <p:cNvSpPr/>
          <p:nvPr/>
        </p:nvSpPr>
        <p:spPr>
          <a:xfrm>
            <a:off x="38836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Тушкована яловичина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272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799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7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8" name="Picture 34" descr="s12_8.04_3.54.jpg"/>
          <p:cNvPicPr/>
          <p:nvPr/>
        </p:nvPicPr>
        <p:blipFill>
          <a:blip r:embed="rId5"/>
          <a:stretch/>
        </p:blipFill>
        <p:spPr>
          <a:xfrm>
            <a:off x="5821200" y="2011680"/>
            <a:ext cx="555480" cy="548640"/>
          </a:xfrm>
          <a:prstGeom prst="rect">
            <a:avLst/>
          </a:prstGeom>
          <a:ln w="0">
            <a:noFill/>
          </a:ln>
        </p:spPr>
      </p:pic>
      <p:sp>
        <p:nvSpPr>
          <p:cNvPr id="989" name="TextBox 35"/>
          <p:cNvSpPr/>
          <p:nvPr/>
        </p:nvSpPr>
        <p:spPr>
          <a:xfrm>
            <a:off x="548244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Томати й грудинка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272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799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4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5" name="Picture 41" descr="s12_10.45_3.54.jpg"/>
          <p:cNvPicPr/>
          <p:nvPr/>
        </p:nvPicPr>
        <p:blipFill>
          <a:blip r:embed="rId6"/>
          <a:stretch/>
        </p:blipFill>
        <p:spPr>
          <a:xfrm>
            <a:off x="7423560" y="201168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996" name="TextBox 42"/>
          <p:cNvSpPr/>
          <p:nvPr/>
        </p:nvSpPr>
        <p:spPr>
          <a:xfrm>
            <a:off x="70812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Кантонський стиль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187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680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1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2" name="Picture 48" descr="s12_0.79_3.54.jpg"/>
          <p:cNvPicPr/>
          <p:nvPr/>
        </p:nvPicPr>
        <p:blipFill>
          <a:blip r:embed="rId7"/>
          <a:stretch/>
        </p:blipFill>
        <p:spPr>
          <a:xfrm>
            <a:off x="9027360" y="2011680"/>
            <a:ext cx="538560" cy="548640"/>
          </a:xfrm>
          <a:prstGeom prst="rect">
            <a:avLst/>
          </a:prstGeom>
          <a:ln w="0">
            <a:noFill/>
          </a:ln>
        </p:spPr>
      </p:pic>
      <p:sp>
        <p:nvSpPr>
          <p:cNvPr id="1003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Тушкована курка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187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650–680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 · Desna · Tactico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8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9" name="Picture 55" descr="s12_3.21_3.54.jpg"/>
          <p:cNvPicPr/>
          <p:nvPr/>
        </p:nvPicPr>
        <p:blipFill>
          <a:blip r:embed="rId8"/>
          <a:stretch/>
        </p:blipFill>
        <p:spPr>
          <a:xfrm>
            <a:off x="10621440" y="201168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1010" name="TextBox 56"/>
          <p:cNvSpPr/>
          <p:nvPr/>
        </p:nvSpPr>
        <p:spPr>
          <a:xfrm>
            <a:off x="102790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Свинина, рибний смак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187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650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5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6" name="Picture 62" descr="s12_5.62_5.82.jpg"/>
          <p:cNvPicPr/>
          <p:nvPr/>
        </p:nvPicPr>
        <p:blipFill>
          <a:blip r:embed="rId9"/>
          <a:stretch/>
        </p:blipFill>
        <p:spPr>
          <a:xfrm>
            <a:off x="1015200" y="3794760"/>
            <a:ext cx="573840" cy="548640"/>
          </a:xfrm>
          <a:prstGeom prst="rect">
            <a:avLst/>
          </a:prstGeom>
          <a:ln w="0">
            <a:noFill/>
          </a:ln>
        </p:spPr>
      </p:pic>
      <p:sp>
        <p:nvSpPr>
          <p:cNvPr id="1017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Курка теріякі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181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650–660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 · Шериф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Rounded Rectangle 67"/>
          <p:cNvSpPr/>
          <p:nvPr/>
        </p:nvSpPr>
        <p:spPr>
          <a:xfrm>
            <a:off x="216576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2" name="Rounded Rectangle 68"/>
          <p:cNvSpPr/>
          <p:nvPr/>
        </p:nvSpPr>
        <p:spPr>
          <a:xfrm>
            <a:off x="222984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3" name="Picture 69" descr="s12_8.04_3.54.jpg"/>
          <p:cNvPicPr/>
          <p:nvPr/>
        </p:nvPicPr>
        <p:blipFill>
          <a:blip r:embed="rId10"/>
          <a:stretch/>
        </p:blipFill>
        <p:spPr>
          <a:xfrm>
            <a:off x="2623320" y="3794760"/>
            <a:ext cx="555480" cy="548640"/>
          </a:xfrm>
          <a:prstGeom prst="rect">
            <a:avLst/>
          </a:prstGeom>
          <a:ln w="0">
            <a:noFill/>
          </a:ln>
        </p:spPr>
      </p:pic>
      <p:sp>
        <p:nvSpPr>
          <p:cNvPr id="1024" name="TextBox 70"/>
          <p:cNvSpPr/>
          <p:nvPr/>
        </p:nvSpPr>
        <p:spPr>
          <a:xfrm>
            <a:off x="228456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Гострий курячий соус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Box 71"/>
          <p:cNvSpPr/>
          <p:nvPr/>
        </p:nvSpPr>
        <p:spPr>
          <a:xfrm>
            <a:off x="228456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175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72"/>
          <p:cNvSpPr/>
          <p:nvPr/>
        </p:nvSpPr>
        <p:spPr>
          <a:xfrm>
            <a:off x="228456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650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TextBox 73"/>
          <p:cNvSpPr/>
          <p:nvPr/>
        </p:nvSpPr>
        <p:spPr>
          <a:xfrm>
            <a:off x="228456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Rounded Rectangle 74"/>
          <p:cNvSpPr/>
          <p:nvPr/>
        </p:nvSpPr>
        <p:spPr>
          <a:xfrm>
            <a:off x="376488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9" name="Rounded Rectangle 75"/>
          <p:cNvSpPr/>
          <p:nvPr/>
        </p:nvSpPr>
        <p:spPr>
          <a:xfrm>
            <a:off x="382860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0" name="Picture 76" descr="s12_10.45_3.54.jpg"/>
          <p:cNvPicPr/>
          <p:nvPr/>
        </p:nvPicPr>
        <p:blipFill>
          <a:blip r:embed="rId11"/>
          <a:stretch/>
        </p:blipFill>
        <p:spPr>
          <a:xfrm>
            <a:off x="4225680" y="3794760"/>
            <a:ext cx="548640" cy="548640"/>
          </a:xfrm>
          <a:prstGeom prst="rect">
            <a:avLst/>
          </a:prstGeom>
          <a:ln w="0">
            <a:noFill/>
          </a:ln>
        </p:spPr>
      </p:pic>
      <p:sp>
        <p:nvSpPr>
          <p:cNvPr id="1031" name="TextBox 77"/>
          <p:cNvSpPr/>
          <p:nvPr/>
        </p:nvSpPr>
        <p:spPr>
          <a:xfrm>
            <a:off x="3883680" y="444420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Грудинка з гірчичною зеленню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TextBox 78"/>
          <p:cNvSpPr/>
          <p:nvPr/>
        </p:nvSpPr>
        <p:spPr>
          <a:xfrm>
            <a:off x="388368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360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79"/>
          <p:cNvSpPr/>
          <p:nvPr/>
        </p:nvSpPr>
        <p:spPr>
          <a:xfrm>
            <a:off x="388368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1 190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80"/>
          <p:cNvSpPr/>
          <p:nvPr/>
        </p:nvSpPr>
        <p:spPr>
          <a:xfrm>
            <a:off x="388368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Daruy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Rounded Rectangle 81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6" name="Rectangle 82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7" name="TextBox 83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c94f7c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TextBox 84"/>
          <p:cNvSpPr/>
          <p:nvPr/>
        </p:nvSpPr>
        <p:spPr>
          <a:xfrm>
            <a:off x="841320" y="5696640"/>
            <a:ext cx="105152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380–1 190 грн за упаковку — найдорожчий формат ринку. З нами не конкурує: інший привід споживання й інший канал.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TextBox 85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Daruy, Tactico, Desna, Sweet Svitt, «Шериф» —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1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2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3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044" name="TextBox 5"/>
          <p:cNvSpPr/>
          <p:nvPr/>
        </p:nvSpPr>
        <p:spPr>
          <a:xfrm>
            <a:off x="2304360" y="311040"/>
            <a:ext cx="8503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fc95c"/>
                </a:solidFill>
                <a:latin typeface="Segoe UI"/>
              </a:rPr>
              <a:t>СЕГМЕНТ 3 · САМОРОЗІГРІВ   ·   ЧАША + КОРОБКА   ·   КИТАЙСЬКИЙ САМОРОЗІГРІВ · 3 БРЕНДИ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Mo Xiao Xian — чаша, Zihaiguo і Rongcheng Haoji — коробка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17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Усі бренди в одному магазині. Qiaoshanmei праворуч — інший сегмент: рис у пакеті під окріп.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9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94f7c"/>
                </a:solidFill>
                <a:latin typeface="Segoe UI"/>
              </a:rPr>
              <a:t>ФОРМАТ: ЧАША + КОРОБКА   ·   Хімічний нагрівач, 15 хв   ·   Без техніки й окропу   ·   привід: Дорога, подарунок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Rounded Rectangle 11"/>
          <p:cNvSpPr/>
          <p:nvPr/>
        </p:nvSpPr>
        <p:spPr>
          <a:xfrm>
            <a:off x="56700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1" name="Rounded Rectangle 12"/>
          <p:cNvSpPr/>
          <p:nvPr/>
        </p:nvSpPr>
        <p:spPr>
          <a:xfrm>
            <a:off x="63108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2" name="Picture 13" descr="s13_0.79_4.14.jpg"/>
          <p:cNvPicPr/>
          <p:nvPr/>
        </p:nvPicPr>
        <p:blipFill>
          <a:blip r:embed="rId2"/>
          <a:stretch/>
        </p:blipFill>
        <p:spPr>
          <a:xfrm>
            <a:off x="97884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1053" name="TextBox 14"/>
          <p:cNvSpPr/>
          <p:nvPr/>
        </p:nvSpPr>
        <p:spPr>
          <a:xfrm>
            <a:off x="68580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Яловичина з бамбуком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TextBox 15"/>
          <p:cNvSpPr/>
          <p:nvPr/>
        </p:nvSpPr>
        <p:spPr>
          <a:xfrm>
            <a:off x="68580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MO XIAO XIAN  ·  275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Box 16"/>
          <p:cNvSpPr/>
          <p:nvPr/>
        </p:nvSpPr>
        <p:spPr>
          <a:xfrm>
            <a:off x="68580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931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17"/>
          <p:cNvSpPr/>
          <p:nvPr/>
        </p:nvSpPr>
        <p:spPr>
          <a:xfrm>
            <a:off x="68580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Скарби Азії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Rounded Rectangle 18"/>
          <p:cNvSpPr/>
          <p:nvPr/>
        </p:nvSpPr>
        <p:spPr>
          <a:xfrm>
            <a:off x="243216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8" name="Rounded Rectangle 19"/>
          <p:cNvSpPr/>
          <p:nvPr/>
        </p:nvSpPr>
        <p:spPr>
          <a:xfrm>
            <a:off x="249624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9" name="Picture 20" descr="s13_2.80_4.14.jpg"/>
          <p:cNvPicPr/>
          <p:nvPr/>
        </p:nvPicPr>
        <p:blipFill>
          <a:blip r:embed="rId3"/>
          <a:stretch/>
        </p:blipFill>
        <p:spPr>
          <a:xfrm>
            <a:off x="284400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1060" name="TextBox 21"/>
          <p:cNvSpPr/>
          <p:nvPr/>
        </p:nvSpPr>
        <p:spPr>
          <a:xfrm>
            <a:off x="255132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Бекон і горошок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22"/>
          <p:cNvSpPr/>
          <p:nvPr/>
        </p:nvSpPr>
        <p:spPr>
          <a:xfrm>
            <a:off x="255132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MO XIAO XIAN  ·  275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TextBox 23"/>
          <p:cNvSpPr/>
          <p:nvPr/>
        </p:nvSpPr>
        <p:spPr>
          <a:xfrm>
            <a:off x="255132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931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TextBox 24"/>
          <p:cNvSpPr/>
          <p:nvPr/>
        </p:nvSpPr>
        <p:spPr>
          <a:xfrm>
            <a:off x="255132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Скарби Азії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Rounded Rectangle 25"/>
          <p:cNvSpPr/>
          <p:nvPr/>
        </p:nvSpPr>
        <p:spPr>
          <a:xfrm>
            <a:off x="429768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5" name="Rounded Rectangle 26"/>
          <p:cNvSpPr/>
          <p:nvPr/>
        </p:nvSpPr>
        <p:spPr>
          <a:xfrm>
            <a:off x="436176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66" name="Picture 27" descr="s13_4.82_4.14.jpg"/>
          <p:cNvPicPr/>
          <p:nvPr/>
        </p:nvPicPr>
        <p:blipFill>
          <a:blip r:embed="rId4"/>
          <a:stretch/>
        </p:blipFill>
        <p:spPr>
          <a:xfrm>
            <a:off x="470952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1067" name="TextBox 28"/>
          <p:cNvSpPr/>
          <p:nvPr/>
        </p:nvSpPr>
        <p:spPr>
          <a:xfrm>
            <a:off x="4416480" y="3025800"/>
            <a:ext cx="14994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Яловичина з двома перцями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TextBox 29"/>
          <p:cNvSpPr/>
          <p:nvPr/>
        </p:nvSpPr>
        <p:spPr>
          <a:xfrm>
            <a:off x="441648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ZIHAIGUO  ·  440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TextBox 30"/>
          <p:cNvSpPr/>
          <p:nvPr/>
        </p:nvSpPr>
        <p:spPr>
          <a:xfrm>
            <a:off x="441648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735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TextBox 31"/>
          <p:cNvSpPr/>
          <p:nvPr/>
        </p:nvSpPr>
        <p:spPr>
          <a:xfrm>
            <a:off x="441648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Скарби Азії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Rounded Rectangle 32"/>
          <p:cNvSpPr/>
          <p:nvPr/>
        </p:nvSpPr>
        <p:spPr>
          <a:xfrm>
            <a:off x="616320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2" name="Rounded Rectangle 33"/>
          <p:cNvSpPr/>
          <p:nvPr/>
        </p:nvSpPr>
        <p:spPr>
          <a:xfrm>
            <a:off x="622692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73" name="Picture 34" descr="s13_6.83_4.14.jpg"/>
          <p:cNvPicPr/>
          <p:nvPr/>
        </p:nvPicPr>
        <p:blipFill>
          <a:blip r:embed="rId5"/>
          <a:stretch/>
        </p:blipFill>
        <p:spPr>
          <a:xfrm>
            <a:off x="657504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1074" name="TextBox 35"/>
          <p:cNvSpPr/>
          <p:nvPr/>
        </p:nvSpPr>
        <p:spPr>
          <a:xfrm>
            <a:off x="628200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Тушкована свинина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Box 36"/>
          <p:cNvSpPr/>
          <p:nvPr/>
        </p:nvSpPr>
        <p:spPr>
          <a:xfrm>
            <a:off x="628200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RONGCHENG HAOJI  ·  440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TextBox 37"/>
          <p:cNvSpPr/>
          <p:nvPr/>
        </p:nvSpPr>
        <p:spPr>
          <a:xfrm>
            <a:off x="628200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735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TextBox 38"/>
          <p:cNvSpPr/>
          <p:nvPr/>
        </p:nvSpPr>
        <p:spPr>
          <a:xfrm>
            <a:off x="628200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Скарби Азії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Rounded Rectangle 39"/>
          <p:cNvSpPr/>
          <p:nvPr/>
        </p:nvSpPr>
        <p:spPr>
          <a:xfrm>
            <a:off x="802836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9" name="Rounded Rectangle 40"/>
          <p:cNvSpPr/>
          <p:nvPr/>
        </p:nvSpPr>
        <p:spPr>
          <a:xfrm>
            <a:off x="809244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0" name="Picture 41" descr="s13_8.84_4.14.jpg"/>
          <p:cNvPicPr/>
          <p:nvPr/>
        </p:nvPicPr>
        <p:blipFill>
          <a:blip r:embed="rId6"/>
          <a:stretch/>
        </p:blipFill>
        <p:spPr>
          <a:xfrm>
            <a:off x="844020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1081" name="TextBox 42"/>
          <p:cNvSpPr/>
          <p:nvPr/>
        </p:nvSpPr>
        <p:spPr>
          <a:xfrm>
            <a:off x="814716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Гостра яловичина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TextBox 43"/>
          <p:cNvSpPr/>
          <p:nvPr/>
        </p:nvSpPr>
        <p:spPr>
          <a:xfrm>
            <a:off x="814716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QIAOSHANMEI  ·  146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Box 44"/>
          <p:cNvSpPr/>
          <p:nvPr/>
        </p:nvSpPr>
        <p:spPr>
          <a:xfrm>
            <a:off x="814716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501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TextBox 45"/>
          <p:cNvSpPr/>
          <p:nvPr/>
        </p:nvSpPr>
        <p:spPr>
          <a:xfrm>
            <a:off x="814716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Скарби Азії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Rounded Rectangle 46"/>
          <p:cNvSpPr/>
          <p:nvPr/>
        </p:nvSpPr>
        <p:spPr>
          <a:xfrm>
            <a:off x="989388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6" name="Rounded Rectangle 47"/>
          <p:cNvSpPr/>
          <p:nvPr/>
        </p:nvSpPr>
        <p:spPr>
          <a:xfrm>
            <a:off x="995796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7" name="Picture 48" descr="s13_10.86_4.14.jpg"/>
          <p:cNvPicPr/>
          <p:nvPr/>
        </p:nvPicPr>
        <p:blipFill>
          <a:blip r:embed="rId7"/>
          <a:stretch/>
        </p:blipFill>
        <p:spPr>
          <a:xfrm>
            <a:off x="10305720" y="2011680"/>
            <a:ext cx="913320" cy="913320"/>
          </a:xfrm>
          <a:prstGeom prst="rect">
            <a:avLst/>
          </a:prstGeom>
          <a:ln w="0">
            <a:noFill/>
          </a:ln>
        </p:spPr>
      </p:pic>
      <p:sp>
        <p:nvSpPr>
          <p:cNvPr id="1088" name="TextBox 49"/>
          <p:cNvSpPr/>
          <p:nvPr/>
        </p:nvSpPr>
        <p:spPr>
          <a:xfrm>
            <a:off x="1001268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Свинина по-тайванськи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TextBox 50"/>
          <p:cNvSpPr/>
          <p:nvPr/>
        </p:nvSpPr>
        <p:spPr>
          <a:xfrm>
            <a:off x="1001268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c94f7c"/>
                </a:solidFill>
                <a:latin typeface="Segoe UI"/>
              </a:rPr>
              <a:t>QIAOSHANMEI  ·  146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51"/>
          <p:cNvSpPr/>
          <p:nvPr/>
        </p:nvSpPr>
        <p:spPr>
          <a:xfrm>
            <a:off x="1001268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501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TextBox 52"/>
          <p:cNvSpPr/>
          <p:nvPr/>
        </p:nvSpPr>
        <p:spPr>
          <a:xfrm>
            <a:off x="1001268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Скарби Азії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Rounded Rectangle 53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3" name="Rectangle 54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4" name="TextBox 55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c94f7c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TextBox 56"/>
          <p:cNvSpPr/>
          <p:nvPr/>
        </p:nvSpPr>
        <p:spPr>
          <a:xfrm>
            <a:off x="841320" y="5696640"/>
            <a:ext cx="105152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Zihaiguo і Rongcheng Haoji дають удвічі більшу порцію за ті самі гроші, що Haidilao. Mo Xiao Xian — 931 грн за 275 г, найдорожча чаша ринку.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Box 57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Джерело: «Скарби Азії» (Prom), 23.09.2026. Бренди визначено за написами на упаковці.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8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9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0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101" name="TextBox 5"/>
          <p:cNvSpPr/>
          <p:nvPr/>
        </p:nvSpPr>
        <p:spPr>
          <a:xfrm>
            <a:off x="2304360" y="311040"/>
            <a:ext cx="8503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fc95c"/>
                </a:solidFill>
                <a:latin typeface="Segoe UI"/>
              </a:rPr>
              <a:t>СЕГМЕНТ 4 · СУБЛІМАЦІЯ   ·   ДОЙПАК   ·   ІМПОРТНИЙ СУБЛІМАТ · 4 БРЕНДИ, 12 ПОЗИЦІЙ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Дойпак 110–250 г — Німеччина, США, Нідерланди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18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6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8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9" name="Picture 13" descr="s14_0.79_3.04.jpg"/>
          <p:cNvPicPr/>
          <p:nvPr/>
        </p:nvPicPr>
        <p:blipFill>
          <a:blip r:embed="rId2"/>
          <a:stretch/>
        </p:blipFill>
        <p:spPr>
          <a:xfrm>
            <a:off x="1081080" y="2011680"/>
            <a:ext cx="442080" cy="548640"/>
          </a:xfrm>
          <a:prstGeom prst="rect">
            <a:avLst/>
          </a:prstGeom>
          <a:ln w="0">
            <a:noFill/>
          </a:ln>
        </p:spPr>
      </p:pic>
      <p:sp>
        <p:nvSpPr>
          <p:cNvPr id="1110" name="TextBox 14"/>
          <p:cNvSpPr/>
          <p:nvPr/>
        </p:nvSpPr>
        <p:spPr>
          <a:xfrm>
            <a:off x="6858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Бефстроганов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125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275–515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Гайдамака · ALANTUR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5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6" name="Picture 20" descr="s14_2.52_3.04.jpg"/>
          <p:cNvPicPr/>
          <p:nvPr/>
        </p:nvPicPr>
        <p:blipFill>
          <a:blip r:embed="rId3"/>
          <a:stretch/>
        </p:blipFill>
        <p:spPr>
          <a:xfrm>
            <a:off x="2680200" y="2011680"/>
            <a:ext cx="441720" cy="548640"/>
          </a:xfrm>
          <a:prstGeom prst="rect">
            <a:avLst/>
          </a:prstGeom>
          <a:ln w="0">
            <a:noFill/>
          </a:ln>
        </p:spPr>
      </p:pic>
      <p:sp>
        <p:nvSpPr>
          <p:cNvPr id="1117" name="TextBox 21"/>
          <p:cNvSpPr/>
          <p:nvPr/>
        </p:nvSpPr>
        <p:spPr>
          <a:xfrm>
            <a:off x="228456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Яловичина з перцем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125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295–515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Гайдамака · ALANTUR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2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3" name="Picture 27" descr="s14_4.24_3.04.jpg"/>
          <p:cNvPicPr/>
          <p:nvPr/>
        </p:nvPicPr>
        <p:blipFill>
          <a:blip r:embed="rId4"/>
          <a:stretch/>
        </p:blipFill>
        <p:spPr>
          <a:xfrm>
            <a:off x="4285800" y="2011680"/>
            <a:ext cx="428400" cy="548640"/>
          </a:xfrm>
          <a:prstGeom prst="rect">
            <a:avLst/>
          </a:prstGeom>
          <a:ln w="0">
            <a:noFill/>
          </a:ln>
        </p:spPr>
      </p:pic>
      <p:sp>
        <p:nvSpPr>
          <p:cNvPr id="1124" name="TextBox 28"/>
          <p:cNvSpPr/>
          <p:nvPr/>
        </p:nvSpPr>
        <p:spPr>
          <a:xfrm>
            <a:off x="38836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Nasi Goreng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125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567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ALANTUR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9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0" name="Picture 34" descr="s14_5.97_3.04.jpg"/>
          <p:cNvPicPr/>
          <p:nvPr/>
        </p:nvPicPr>
        <p:blipFill>
          <a:blip r:embed="rId5"/>
          <a:stretch/>
        </p:blipFill>
        <p:spPr>
          <a:xfrm>
            <a:off x="5872680" y="2011680"/>
            <a:ext cx="452520" cy="548640"/>
          </a:xfrm>
          <a:prstGeom prst="rect">
            <a:avLst/>
          </a:prstGeom>
          <a:ln w="0">
            <a:noFill/>
          </a:ln>
        </p:spPr>
      </p:pic>
      <p:sp>
        <p:nvSpPr>
          <p:cNvPr id="1131" name="TextBox 35"/>
          <p:cNvSpPr/>
          <p:nvPr/>
        </p:nvSpPr>
        <p:spPr>
          <a:xfrm>
            <a:off x="548244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Курка карі з рисом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125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515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ALANTUR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6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7" name="Picture 41" descr="s14_7.69_3.04.jpg"/>
          <p:cNvPicPr/>
          <p:nvPr/>
        </p:nvPicPr>
        <p:blipFill>
          <a:blip r:embed="rId6"/>
          <a:stretch/>
        </p:blipFill>
        <p:spPr>
          <a:xfrm>
            <a:off x="7476840" y="2011680"/>
            <a:ext cx="441720" cy="548640"/>
          </a:xfrm>
          <a:prstGeom prst="rect">
            <a:avLst/>
          </a:prstGeom>
          <a:ln w="0">
            <a:noFill/>
          </a:ln>
        </p:spPr>
      </p:pic>
      <p:sp>
        <p:nvSpPr>
          <p:cNvPr id="1138" name="TextBox 42"/>
          <p:cNvSpPr/>
          <p:nvPr/>
        </p:nvSpPr>
        <p:spPr>
          <a:xfrm>
            <a:off x="70812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Бефстроганов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702–811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ForCamp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3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4" name="Picture 48" descr="s14_9.42_3.04.jpg"/>
          <p:cNvPicPr/>
          <p:nvPr/>
        </p:nvPicPr>
        <p:blipFill>
          <a:blip r:embed="rId7"/>
          <a:stretch/>
        </p:blipFill>
        <p:spPr>
          <a:xfrm>
            <a:off x="9082440" y="2011680"/>
            <a:ext cx="428400" cy="548640"/>
          </a:xfrm>
          <a:prstGeom prst="rect">
            <a:avLst/>
          </a:prstGeom>
          <a:ln w="0">
            <a:noFill/>
          </a:ln>
        </p:spPr>
      </p:pic>
      <p:sp>
        <p:nvSpPr>
          <p:cNvPr id="1145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Яловичина з перцем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811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ALANTUR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0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1" name="Picture 55" descr="s14_11.14_3.04.jpg"/>
          <p:cNvPicPr/>
          <p:nvPr/>
        </p:nvPicPr>
        <p:blipFill>
          <a:blip r:embed="rId8"/>
          <a:stretch/>
        </p:blipFill>
        <p:spPr>
          <a:xfrm>
            <a:off x="10681200" y="2011680"/>
            <a:ext cx="428400" cy="548640"/>
          </a:xfrm>
          <a:prstGeom prst="rect">
            <a:avLst/>
          </a:prstGeom>
          <a:ln w="0">
            <a:noFill/>
          </a:ln>
        </p:spPr>
      </p:pic>
      <p:sp>
        <p:nvSpPr>
          <p:cNvPr id="1152" name="TextBox 56"/>
          <p:cNvSpPr/>
          <p:nvPr/>
        </p:nvSpPr>
        <p:spPr>
          <a:xfrm>
            <a:off x="102790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Nasi Goreng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TRAVELLUNCH  ·  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889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ALANTUR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7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8" name="Picture 62" descr="s14_0.79_3.04.jpg"/>
          <p:cNvPicPr/>
          <p:nvPr/>
        </p:nvPicPr>
        <p:blipFill>
          <a:blip r:embed="rId9"/>
          <a:stretch/>
        </p:blipFill>
        <p:spPr>
          <a:xfrm>
            <a:off x="1081080" y="3794760"/>
            <a:ext cx="442080" cy="548640"/>
          </a:xfrm>
          <a:prstGeom prst="rect">
            <a:avLst/>
          </a:prstGeom>
          <a:ln w="0">
            <a:noFill/>
          </a:ln>
        </p:spPr>
      </p:pic>
      <p:sp>
        <p:nvSpPr>
          <p:cNvPr id="1159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Риба з рисом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TREK'N EAT  ·  МАСА Н/Д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269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Freeride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Rounded Rectangle 67"/>
          <p:cNvSpPr/>
          <p:nvPr/>
        </p:nvSpPr>
        <p:spPr>
          <a:xfrm>
            <a:off x="216576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4" name="Rounded Rectangle 68"/>
          <p:cNvSpPr/>
          <p:nvPr/>
        </p:nvSpPr>
        <p:spPr>
          <a:xfrm>
            <a:off x="222984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5" name="Picture 69" descr="s14_2.52_3.04.jpg"/>
          <p:cNvPicPr/>
          <p:nvPr/>
        </p:nvPicPr>
        <p:blipFill>
          <a:blip r:embed="rId10"/>
          <a:stretch/>
        </p:blipFill>
        <p:spPr>
          <a:xfrm>
            <a:off x="2680200" y="3794760"/>
            <a:ext cx="441720" cy="548640"/>
          </a:xfrm>
          <a:prstGeom prst="rect">
            <a:avLst/>
          </a:prstGeom>
          <a:ln w="0">
            <a:noFill/>
          </a:ln>
        </p:spPr>
      </p:pic>
      <p:sp>
        <p:nvSpPr>
          <p:cNvPr id="1166" name="TextBox 70"/>
          <p:cNvSpPr/>
          <p:nvPr/>
        </p:nvSpPr>
        <p:spPr>
          <a:xfrm>
            <a:off x="228456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Бефстроганов з рисом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TextBox 71"/>
          <p:cNvSpPr/>
          <p:nvPr/>
        </p:nvSpPr>
        <p:spPr>
          <a:xfrm>
            <a:off x="228456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TREK'N EAT  ·  МАСА Н/Д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TextBox 72"/>
          <p:cNvSpPr/>
          <p:nvPr/>
        </p:nvSpPr>
        <p:spPr>
          <a:xfrm>
            <a:off x="228456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715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TextBox 73"/>
          <p:cNvSpPr/>
          <p:nvPr/>
        </p:nvSpPr>
        <p:spPr>
          <a:xfrm>
            <a:off x="228456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Kamanti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Rounded Rectangle 74"/>
          <p:cNvSpPr/>
          <p:nvPr/>
        </p:nvSpPr>
        <p:spPr>
          <a:xfrm>
            <a:off x="376488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1" name="Rounded Rectangle 75"/>
          <p:cNvSpPr/>
          <p:nvPr/>
        </p:nvSpPr>
        <p:spPr>
          <a:xfrm>
            <a:off x="382860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72" name="Picture 76" descr="s14_4.24_3.04.jpg"/>
          <p:cNvPicPr/>
          <p:nvPr/>
        </p:nvPicPr>
        <p:blipFill>
          <a:blip r:embed="rId11"/>
          <a:stretch/>
        </p:blipFill>
        <p:spPr>
          <a:xfrm>
            <a:off x="4285800" y="3794760"/>
            <a:ext cx="428400" cy="548640"/>
          </a:xfrm>
          <a:prstGeom prst="rect">
            <a:avLst/>
          </a:prstGeom>
          <a:ln w="0">
            <a:noFill/>
          </a:ln>
        </p:spPr>
      </p:pic>
      <p:sp>
        <p:nvSpPr>
          <p:cNvPr id="1173" name="TextBox 77"/>
          <p:cNvSpPr/>
          <p:nvPr/>
        </p:nvSpPr>
        <p:spPr>
          <a:xfrm>
            <a:off x="388368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Жовте карі з куркою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TextBox 78"/>
          <p:cNvSpPr/>
          <p:nvPr/>
        </p:nvSpPr>
        <p:spPr>
          <a:xfrm>
            <a:off x="388368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MOUNTAIN HOUSE  ·  110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79"/>
          <p:cNvSpPr/>
          <p:nvPr/>
        </p:nvSpPr>
        <p:spPr>
          <a:xfrm>
            <a:off x="388368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699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TextBox 80"/>
          <p:cNvSpPr/>
          <p:nvPr/>
        </p:nvSpPr>
        <p:spPr>
          <a:xfrm>
            <a:off x="388368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110вольт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Rounded Rectangle 81"/>
          <p:cNvSpPr/>
          <p:nvPr/>
        </p:nvSpPr>
        <p:spPr>
          <a:xfrm>
            <a:off x="536364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8" name="Rounded Rectangle 82"/>
          <p:cNvSpPr/>
          <p:nvPr/>
        </p:nvSpPr>
        <p:spPr>
          <a:xfrm>
            <a:off x="542772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79" name="Picture 83" descr="s14_5.97_5.48.jpg"/>
          <p:cNvPicPr/>
          <p:nvPr/>
        </p:nvPicPr>
        <p:blipFill>
          <a:blip r:embed="rId12"/>
          <a:stretch/>
        </p:blipFill>
        <p:spPr>
          <a:xfrm>
            <a:off x="5855040" y="3794760"/>
            <a:ext cx="487800" cy="548640"/>
          </a:xfrm>
          <a:prstGeom prst="rect">
            <a:avLst/>
          </a:prstGeom>
          <a:ln w="0">
            <a:noFill/>
          </a:ln>
        </p:spPr>
      </p:pic>
      <p:sp>
        <p:nvSpPr>
          <p:cNvPr id="1180" name="TextBox 84"/>
          <p:cNvSpPr/>
          <p:nvPr/>
        </p:nvSpPr>
        <p:spPr>
          <a:xfrm>
            <a:off x="548244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Chicken Fried Rice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TextBox 85"/>
          <p:cNvSpPr/>
          <p:nvPr/>
        </p:nvSpPr>
        <p:spPr>
          <a:xfrm>
            <a:off x="548244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MOUNTAIN HOUSE  ·  133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TextBox 86"/>
          <p:cNvSpPr/>
          <p:nvPr/>
        </p:nvSpPr>
        <p:spPr>
          <a:xfrm>
            <a:off x="548244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699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87"/>
          <p:cNvSpPr/>
          <p:nvPr/>
        </p:nvSpPr>
        <p:spPr>
          <a:xfrm>
            <a:off x="548244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110вольт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Rounded Rectangle 88"/>
          <p:cNvSpPr/>
          <p:nvPr/>
        </p:nvSpPr>
        <p:spPr>
          <a:xfrm>
            <a:off x="69624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5" name="Rounded Rectangle 89"/>
          <p:cNvSpPr/>
          <p:nvPr/>
        </p:nvSpPr>
        <p:spPr>
          <a:xfrm>
            <a:off x="70264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86" name="Picture 90" descr="s14_7.69_3.04.jpg"/>
          <p:cNvPicPr/>
          <p:nvPr/>
        </p:nvPicPr>
        <p:blipFill>
          <a:blip r:embed="rId13"/>
          <a:stretch/>
        </p:blipFill>
        <p:spPr>
          <a:xfrm>
            <a:off x="7476840" y="3794760"/>
            <a:ext cx="441720" cy="548640"/>
          </a:xfrm>
          <a:prstGeom prst="rect">
            <a:avLst/>
          </a:prstGeom>
          <a:ln w="0">
            <a:noFill/>
          </a:ln>
        </p:spPr>
      </p:pic>
      <p:sp>
        <p:nvSpPr>
          <p:cNvPr id="1187" name="TextBox 91"/>
          <p:cNvSpPr/>
          <p:nvPr/>
        </p:nvSpPr>
        <p:spPr>
          <a:xfrm>
            <a:off x="70812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карі з фруктами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TextBox 92"/>
          <p:cNvSpPr/>
          <p:nvPr/>
        </p:nvSpPr>
        <p:spPr>
          <a:xfrm>
            <a:off x="70812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ADVENTURE FOOD  ·  146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Box 93"/>
          <p:cNvSpPr/>
          <p:nvPr/>
        </p:nvSpPr>
        <p:spPr>
          <a:xfrm>
            <a:off x="70812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492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TextBox 94"/>
          <p:cNvSpPr/>
          <p:nvPr/>
        </p:nvSpPr>
        <p:spPr>
          <a:xfrm>
            <a:off x="70812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Клуб Мандрівник · ще 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Rounded Rectangle 95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2" name="Rectangle 96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3" name="TextBox 97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5d4b96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TextBox 98"/>
          <p:cNvSpPr/>
          <p:nvPr/>
        </p:nvSpPr>
        <p:spPr>
          <a:xfrm>
            <a:off x="841320" y="5696640"/>
            <a:ext cx="105152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Travellunch — найширша імпортна лінійка, 7 позицій у двох вагах. Канал — туристичні й військові магазини; у продуктовий роздріб ці бренди не йдуть.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TextBox 99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ALANTUR, Highlander, ForCamp, Гайдамака, Freeride, Kamanti, 110вольт —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7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9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200" name="TextBox 5"/>
          <p:cNvSpPr/>
          <p:nvPr/>
        </p:nvSpPr>
        <p:spPr>
          <a:xfrm>
            <a:off x="2304360" y="311040"/>
            <a:ext cx="8503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fc95c"/>
                </a:solidFill>
                <a:latin typeface="Segoe UI"/>
              </a:rPr>
              <a:t>СЕГМЕНТ 4 · СУБЛІМАЦІЯ   ·   ПАУЧ + ДОЙПАК   ·   ДВІ ТЕХНОЛОГІЇ В ОДНОМУ БРЕНДІ · 8 ПОЗИЦІЙ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Adventure Menu — пауч 400 г і дойпак 110 г, SubliMate — дойпак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19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Єдиний бренд категорії, що робить і готову страву, і сублімат.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5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ФОРМАТ: ПАУЧ + ДОЙПАК   ·   Сушіння виморожуванням   ·   Окріп, мінімальна вага   ·   привід: Похід і армія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7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08" name="Picture 13" descr="s15_0.79_3.04.jpg"/>
          <p:cNvPicPr/>
          <p:nvPr/>
        </p:nvPicPr>
        <p:blipFill>
          <a:blip r:embed="rId2"/>
          <a:stretch/>
        </p:blipFill>
        <p:spPr>
          <a:xfrm>
            <a:off x="1064520" y="2011680"/>
            <a:ext cx="475200" cy="548640"/>
          </a:xfrm>
          <a:prstGeom prst="rect">
            <a:avLst/>
          </a:prstGeom>
          <a:ln w="0">
            <a:noFill/>
          </a:ln>
        </p:spPr>
      </p:pic>
      <p:sp>
        <p:nvSpPr>
          <p:cNvPr id="1209" name="TextBox 14"/>
          <p:cNvSpPr/>
          <p:nvPr/>
        </p:nvSpPr>
        <p:spPr>
          <a:xfrm>
            <a:off x="6858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Chicken Korma з рисом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ADVENTURE MENU  ·  400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376–404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ALANTUR · ForCamp · MK-Sport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4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5" name="Picture 20" descr="s15_3.21_3.04.jpg"/>
          <p:cNvPicPr/>
          <p:nvPr/>
        </p:nvPicPr>
        <p:blipFill>
          <a:blip r:embed="rId3"/>
          <a:stretch/>
        </p:blipFill>
        <p:spPr>
          <a:xfrm>
            <a:off x="2665080" y="2011680"/>
            <a:ext cx="471960" cy="548640"/>
          </a:xfrm>
          <a:prstGeom prst="rect">
            <a:avLst/>
          </a:prstGeom>
          <a:ln w="0">
            <a:noFill/>
          </a:ln>
        </p:spPr>
      </p:pic>
      <p:sp>
        <p:nvSpPr>
          <p:cNvPr id="1216" name="TextBox 21"/>
          <p:cNvSpPr/>
          <p:nvPr/>
        </p:nvSpPr>
        <p:spPr>
          <a:xfrm>
            <a:off x="228456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Курка в томатному соусі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ADVENTURE MENU  ·  400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315–356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Freeride · MK-Sport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22" name="Picture 27" descr="s15_5.62_3.04.jpg"/>
          <p:cNvPicPr/>
          <p:nvPr/>
        </p:nvPicPr>
        <p:blipFill>
          <a:blip r:embed="rId4"/>
          <a:stretch/>
        </p:blipFill>
        <p:spPr>
          <a:xfrm>
            <a:off x="4272480" y="2011680"/>
            <a:ext cx="455400" cy="548640"/>
          </a:xfrm>
          <a:prstGeom prst="rect">
            <a:avLst/>
          </a:prstGeom>
          <a:ln w="0">
            <a:noFill/>
          </a:ln>
        </p:spPr>
      </p:pic>
      <p:sp>
        <p:nvSpPr>
          <p:cNvPr id="1223" name="TextBox 28"/>
          <p:cNvSpPr/>
          <p:nvPr/>
        </p:nvSpPr>
        <p:spPr>
          <a:xfrm>
            <a:off x="38836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Фрикадельки з басматі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ADVENTURE MENU  ·  400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336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Лєєр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8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29" name="Picture 34" descr="s15_8.04_3.04.jpg"/>
          <p:cNvPicPr/>
          <p:nvPr/>
        </p:nvPicPr>
        <p:blipFill>
          <a:blip r:embed="rId5"/>
          <a:stretch/>
        </p:blipFill>
        <p:spPr>
          <a:xfrm>
            <a:off x="5849280" y="2011680"/>
            <a:ext cx="499320" cy="548640"/>
          </a:xfrm>
          <a:prstGeom prst="rect">
            <a:avLst/>
          </a:prstGeom>
          <a:ln w="0">
            <a:noFill/>
          </a:ln>
        </p:spPr>
      </p:pic>
      <p:sp>
        <p:nvSpPr>
          <p:cNvPr id="1230" name="TextBox 35"/>
          <p:cNvSpPr/>
          <p:nvPr/>
        </p:nvSpPr>
        <p:spPr>
          <a:xfrm>
            <a:off x="548244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Korma з басматі · сублімат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ADVENTURE MENU  ·  110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378–483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Лєєр · OXO · MK · Freeride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5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6" name="Picture 41" descr="s15_10.45_3.04.jpg"/>
          <p:cNvPicPr/>
          <p:nvPr/>
        </p:nvPicPr>
        <p:blipFill>
          <a:blip r:embed="rId6"/>
          <a:stretch/>
        </p:blipFill>
        <p:spPr>
          <a:xfrm>
            <a:off x="7446960" y="2011680"/>
            <a:ext cx="501480" cy="548640"/>
          </a:xfrm>
          <a:prstGeom prst="rect">
            <a:avLst/>
          </a:prstGeom>
          <a:ln w="0">
            <a:noFill/>
          </a:ln>
        </p:spPr>
      </p:pic>
      <p:sp>
        <p:nvSpPr>
          <p:cNvPr id="1237" name="TextBox 42"/>
          <p:cNvSpPr/>
          <p:nvPr/>
        </p:nvSpPr>
        <p:spPr>
          <a:xfrm>
            <a:off x="708120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Tikka Masala · сублімат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ADVENTURE MENU  ·  110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390–483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Palmer · Лєєр · MK · Freeride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3" name="Picture 48" descr="s15_0.79_3.04.jpg"/>
          <p:cNvPicPr/>
          <p:nvPr/>
        </p:nvPicPr>
        <p:blipFill>
          <a:blip r:embed="rId7"/>
          <a:stretch/>
        </p:blipFill>
        <p:spPr>
          <a:xfrm>
            <a:off x="9059040" y="2011680"/>
            <a:ext cx="475200" cy="548640"/>
          </a:xfrm>
          <a:prstGeom prst="rect">
            <a:avLst/>
          </a:prstGeom>
          <a:ln w="0">
            <a:noFill/>
          </a:ln>
        </p:spPr>
      </p:pic>
      <p:sp>
        <p:nvSpPr>
          <p:cNvPr id="1244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Плов узбецький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SUBLIMATE  ·  140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309–310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ВсеОпт · Суренж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9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0" name="Picture 55" descr="s15_3.21_5.48.jpg"/>
          <p:cNvPicPr/>
          <p:nvPr/>
        </p:nvPicPr>
        <p:blipFill>
          <a:blip r:embed="rId8"/>
          <a:stretch/>
        </p:blipFill>
        <p:spPr>
          <a:xfrm>
            <a:off x="10560600" y="2011680"/>
            <a:ext cx="669600" cy="548640"/>
          </a:xfrm>
          <a:prstGeom prst="rect">
            <a:avLst/>
          </a:prstGeom>
          <a:ln w="0">
            <a:noFill/>
          </a:ln>
        </p:spPr>
      </p:pic>
      <p:sp>
        <p:nvSpPr>
          <p:cNvPr id="1251" name="TextBox 56"/>
          <p:cNvSpPr/>
          <p:nvPr/>
        </p:nvSpPr>
        <p:spPr>
          <a:xfrm>
            <a:off x="1027908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з куркою і фруктами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SUBLIMATE  ·  110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290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Суренж · ВсеОпт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6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7" name="Picture 62" descr="s15_5.62_3.04.jpg"/>
          <p:cNvPicPr/>
          <p:nvPr/>
        </p:nvPicPr>
        <p:blipFill>
          <a:blip r:embed="rId9"/>
          <a:stretch/>
        </p:blipFill>
        <p:spPr>
          <a:xfrm>
            <a:off x="1074600" y="3794760"/>
            <a:ext cx="455400" cy="548640"/>
          </a:xfrm>
          <a:prstGeom prst="rect">
            <a:avLst/>
          </a:prstGeom>
          <a:ln w="0">
            <a:noFill/>
          </a:ln>
        </p:spPr>
      </p:pic>
      <p:sp>
        <p:nvSpPr>
          <p:cNvPr id="1258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Тайське зелене карі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SUBLIMATE  ·  120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370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ВсеОпт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Rounded Rectangle 67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3" name="Rectangle 68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4" name="TextBox 69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5d4b96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TextBox 70"/>
          <p:cNvSpPr/>
          <p:nvPr/>
        </p:nvSpPr>
        <p:spPr>
          <a:xfrm>
            <a:off x="841320" y="5696640"/>
            <a:ext cx="105152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упаковку. Продається лише в туристичних магазинах, хоча технологічно це та сама полиця, що Ben's і Ottogi.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TextBox 71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ALANTUR, ForCamp, MK-Sport, Freeride, Лєєр, OXO, Palmer, Highlander —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8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9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0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271" name="TextBox 5"/>
          <p:cNvSpPr/>
          <p:nvPr/>
        </p:nvSpPr>
        <p:spPr>
          <a:xfrm>
            <a:off x="2304360" y="311040"/>
            <a:ext cx="8503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fc95c"/>
                </a:solidFill>
                <a:latin typeface="Segoe UI"/>
              </a:rPr>
              <a:t>СЕГМЕНТ 4 · СУБЛІМАЦІЯ   ·   ДОЙПАК   ·   УКРАЇНСЬКИЙ СУБЛІМАТ · 4 БРЕНДИ, 11 ПОЗИЦІЙ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Дойпак 80–100 г — усе вітчизняне виробництво категорії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Канал — туристичні та військові магазини.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6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Rounded Rectangle 11"/>
          <p:cNvSpPr/>
          <p:nvPr/>
        </p:nvSpPr>
        <p:spPr>
          <a:xfrm>
            <a:off x="5670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8" name="Rounded Rectangle 12"/>
          <p:cNvSpPr/>
          <p:nvPr/>
        </p:nvSpPr>
        <p:spPr>
          <a:xfrm>
            <a:off x="6310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9" name="Picture 13" descr="s16_0.79_3.04.jpg"/>
          <p:cNvPicPr/>
          <p:nvPr/>
        </p:nvPicPr>
        <p:blipFill>
          <a:blip r:embed="rId2"/>
          <a:stretch/>
        </p:blipFill>
        <p:spPr>
          <a:xfrm>
            <a:off x="979200" y="2011680"/>
            <a:ext cx="646200" cy="548640"/>
          </a:xfrm>
          <a:prstGeom prst="rect">
            <a:avLst/>
          </a:prstGeom>
          <a:ln w="0">
            <a:noFill/>
          </a:ln>
        </p:spPr>
      </p:pic>
      <p:sp>
        <p:nvSpPr>
          <p:cNvPr id="1280" name="TextBox 14"/>
          <p:cNvSpPr/>
          <p:nvPr/>
        </p:nvSpPr>
        <p:spPr>
          <a:xfrm>
            <a:off x="68580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з м'ясом та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TextBox 15"/>
          <p:cNvSpPr/>
          <p:nvPr/>
        </p:nvSpPr>
        <p:spPr>
          <a:xfrm>
            <a:off x="6858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JAMES COOK  ·  90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TextBox 16"/>
          <p:cNvSpPr/>
          <p:nvPr/>
        </p:nvSpPr>
        <p:spPr>
          <a:xfrm>
            <a:off x="6858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83–138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TextBox 17"/>
          <p:cNvSpPr/>
          <p:nvPr/>
        </p:nvSpPr>
        <p:spPr>
          <a:xfrm>
            <a:off x="6858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ВсеОпт · Klever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Rounded Rectangle 18"/>
          <p:cNvSpPr/>
          <p:nvPr/>
        </p:nvSpPr>
        <p:spPr>
          <a:xfrm>
            <a:off x="216576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5" name="Rounded Rectangle 19"/>
          <p:cNvSpPr/>
          <p:nvPr/>
        </p:nvSpPr>
        <p:spPr>
          <a:xfrm>
            <a:off x="22298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86" name="Picture 20" descr="s16_2.52_3.04.jpg"/>
          <p:cNvPicPr/>
          <p:nvPr/>
        </p:nvPicPr>
        <p:blipFill>
          <a:blip r:embed="rId3"/>
          <a:stretch/>
        </p:blipFill>
        <p:spPr>
          <a:xfrm>
            <a:off x="2577960" y="2011680"/>
            <a:ext cx="646200" cy="548640"/>
          </a:xfrm>
          <a:prstGeom prst="rect">
            <a:avLst/>
          </a:prstGeom>
          <a:ln w="0">
            <a:noFill/>
          </a:ln>
        </p:spPr>
      </p:pic>
      <p:sp>
        <p:nvSpPr>
          <p:cNvPr id="1287" name="TextBox 21"/>
          <p:cNvSpPr/>
          <p:nvPr/>
        </p:nvSpPr>
        <p:spPr>
          <a:xfrm>
            <a:off x="228456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Карі з рисом та куркою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22"/>
          <p:cNvSpPr/>
          <p:nvPr/>
        </p:nvSpPr>
        <p:spPr>
          <a:xfrm>
            <a:off x="228456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JAMES COOK  ·  90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Box 23"/>
          <p:cNvSpPr/>
          <p:nvPr/>
        </p:nvSpPr>
        <p:spPr>
          <a:xfrm>
            <a:off x="228456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133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24"/>
          <p:cNvSpPr/>
          <p:nvPr/>
        </p:nvSpPr>
        <p:spPr>
          <a:xfrm>
            <a:off x="228456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Activity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Rounded Rectangle 25"/>
          <p:cNvSpPr/>
          <p:nvPr/>
        </p:nvSpPr>
        <p:spPr>
          <a:xfrm>
            <a:off x="37648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2" name="Rounded Rectangle 26"/>
          <p:cNvSpPr/>
          <p:nvPr/>
        </p:nvSpPr>
        <p:spPr>
          <a:xfrm>
            <a:off x="382860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3" name="Picture 27" descr="s16_4.24_3.04.jpg"/>
          <p:cNvPicPr/>
          <p:nvPr/>
        </p:nvPicPr>
        <p:blipFill>
          <a:blip r:embed="rId4"/>
          <a:stretch/>
        </p:blipFill>
        <p:spPr>
          <a:xfrm>
            <a:off x="4173840" y="2011680"/>
            <a:ext cx="651960" cy="548640"/>
          </a:xfrm>
          <a:prstGeom prst="rect">
            <a:avLst/>
          </a:prstGeom>
          <a:ln w="0">
            <a:noFill/>
          </a:ln>
        </p:spPr>
      </p:pic>
      <p:sp>
        <p:nvSpPr>
          <p:cNvPr id="1294" name="TextBox 28"/>
          <p:cNvSpPr/>
          <p:nvPr/>
        </p:nvSpPr>
        <p:spPr>
          <a:xfrm>
            <a:off x="388368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Машкічірі: рис з бобами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TextBox 29"/>
          <p:cNvSpPr/>
          <p:nvPr/>
        </p:nvSpPr>
        <p:spPr>
          <a:xfrm>
            <a:off x="38836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JAMES COOK  ·  80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Box 30"/>
          <p:cNvSpPr/>
          <p:nvPr/>
        </p:nvSpPr>
        <p:spPr>
          <a:xfrm>
            <a:off x="38836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156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31"/>
          <p:cNvSpPr/>
          <p:nvPr/>
        </p:nvSpPr>
        <p:spPr>
          <a:xfrm>
            <a:off x="38836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Terra Incognita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Rounded Rectangle 32"/>
          <p:cNvSpPr/>
          <p:nvPr/>
        </p:nvSpPr>
        <p:spPr>
          <a:xfrm>
            <a:off x="536364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9" name="Rounded Rectangle 33"/>
          <p:cNvSpPr/>
          <p:nvPr/>
        </p:nvSpPr>
        <p:spPr>
          <a:xfrm>
            <a:off x="542772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0" name="Picture 34" descr="s16_5.97_3.04.jpg"/>
          <p:cNvPicPr/>
          <p:nvPr/>
        </p:nvPicPr>
        <p:blipFill>
          <a:blip r:embed="rId5"/>
          <a:stretch/>
        </p:blipFill>
        <p:spPr>
          <a:xfrm>
            <a:off x="5792760" y="2011680"/>
            <a:ext cx="612360" cy="548640"/>
          </a:xfrm>
          <a:prstGeom prst="rect">
            <a:avLst/>
          </a:prstGeom>
          <a:ln w="0">
            <a:noFill/>
          </a:ln>
        </p:spPr>
      </p:pic>
      <p:sp>
        <p:nvSpPr>
          <p:cNvPr id="1301" name="TextBox 35"/>
          <p:cNvSpPr/>
          <p:nvPr/>
        </p:nvSpPr>
        <p:spPr>
          <a:xfrm>
            <a:off x="548244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з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36"/>
          <p:cNvSpPr/>
          <p:nvPr/>
        </p:nvSpPr>
        <p:spPr>
          <a:xfrm>
            <a:off x="548244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JAMES COOK  ·  90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TextBox 37"/>
          <p:cNvSpPr/>
          <p:nvPr/>
        </p:nvSpPr>
        <p:spPr>
          <a:xfrm>
            <a:off x="548244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55–81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38"/>
          <p:cNvSpPr/>
          <p:nvPr/>
        </p:nvSpPr>
        <p:spPr>
          <a:xfrm>
            <a:off x="548244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 · ВсеОпт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Rounded Rectangle 39"/>
          <p:cNvSpPr/>
          <p:nvPr/>
        </p:nvSpPr>
        <p:spPr>
          <a:xfrm>
            <a:off x="696240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6" name="Rounded Rectangle 40"/>
          <p:cNvSpPr/>
          <p:nvPr/>
        </p:nvSpPr>
        <p:spPr>
          <a:xfrm>
            <a:off x="702648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7" name="Picture 41" descr="s16_7.69_3.04.jpg"/>
          <p:cNvPicPr/>
          <p:nvPr/>
        </p:nvPicPr>
        <p:blipFill>
          <a:blip r:embed="rId6"/>
          <a:stretch/>
        </p:blipFill>
        <p:spPr>
          <a:xfrm>
            <a:off x="7453080" y="2011680"/>
            <a:ext cx="488880" cy="548640"/>
          </a:xfrm>
          <a:prstGeom prst="rect">
            <a:avLst/>
          </a:prstGeom>
          <a:ln w="0">
            <a:noFill/>
          </a:ln>
        </p:spPr>
      </p:pic>
      <p:sp>
        <p:nvSpPr>
          <p:cNvPr id="1308" name="TextBox 42"/>
          <p:cNvSpPr/>
          <p:nvPr/>
        </p:nvSpPr>
        <p:spPr>
          <a:xfrm>
            <a:off x="7081200" y="2661120"/>
            <a:ext cx="1232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з куркою та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TextBox 43"/>
          <p:cNvSpPr/>
          <p:nvPr/>
        </p:nvSpPr>
        <p:spPr>
          <a:xfrm>
            <a:off x="708120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ЇЖА В ПОХІД  ·  85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TextBox 44"/>
          <p:cNvSpPr/>
          <p:nvPr/>
        </p:nvSpPr>
        <p:spPr>
          <a:xfrm>
            <a:off x="708120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145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TextBox 45"/>
          <p:cNvSpPr/>
          <p:nvPr/>
        </p:nvSpPr>
        <p:spPr>
          <a:xfrm>
            <a:off x="708120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власний магазин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Rounded Rectangle 46"/>
          <p:cNvSpPr/>
          <p:nvPr/>
        </p:nvSpPr>
        <p:spPr>
          <a:xfrm>
            <a:off x="856152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3" name="Rounded Rectangle 47"/>
          <p:cNvSpPr/>
          <p:nvPr/>
        </p:nvSpPr>
        <p:spPr>
          <a:xfrm>
            <a:off x="862524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4" name="Picture 48" descr="s16_9.42_3.04.jpg"/>
          <p:cNvPicPr/>
          <p:nvPr/>
        </p:nvPicPr>
        <p:blipFill>
          <a:blip r:embed="rId7"/>
          <a:stretch/>
        </p:blipFill>
        <p:spPr>
          <a:xfrm>
            <a:off x="9048960" y="2011680"/>
            <a:ext cx="495360" cy="548640"/>
          </a:xfrm>
          <a:prstGeom prst="rect">
            <a:avLst/>
          </a:prstGeom>
          <a:ln w="0">
            <a:noFill/>
          </a:ln>
        </p:spPr>
      </p:pic>
      <p:sp>
        <p:nvSpPr>
          <p:cNvPr id="1315" name="TextBox 49"/>
          <p:cNvSpPr/>
          <p:nvPr/>
        </p:nvSpPr>
        <p:spPr>
          <a:xfrm>
            <a:off x="868032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з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TextBox 50"/>
          <p:cNvSpPr/>
          <p:nvPr/>
        </p:nvSpPr>
        <p:spPr>
          <a:xfrm>
            <a:off x="868032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ЇЖА В ПОХІД  ·  85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51"/>
          <p:cNvSpPr/>
          <p:nvPr/>
        </p:nvSpPr>
        <p:spPr>
          <a:xfrm>
            <a:off x="868032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130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TextBox 52"/>
          <p:cNvSpPr/>
          <p:nvPr/>
        </p:nvSpPr>
        <p:spPr>
          <a:xfrm>
            <a:off x="868032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власний магазин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Rounded Rectangle 53"/>
          <p:cNvSpPr/>
          <p:nvPr/>
        </p:nvSpPr>
        <p:spPr>
          <a:xfrm>
            <a:off x="10160280" y="188352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0" name="Rounded Rectangle 54"/>
          <p:cNvSpPr/>
          <p:nvPr/>
        </p:nvSpPr>
        <p:spPr>
          <a:xfrm>
            <a:off x="10224360" y="194760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1" name="Picture 55" descr="s16_11.14_3.04.jpg"/>
          <p:cNvPicPr/>
          <p:nvPr/>
        </p:nvPicPr>
        <p:blipFill>
          <a:blip r:embed="rId8"/>
          <a:stretch/>
        </p:blipFill>
        <p:spPr>
          <a:xfrm>
            <a:off x="10665720" y="2011680"/>
            <a:ext cx="459720" cy="548640"/>
          </a:xfrm>
          <a:prstGeom prst="rect">
            <a:avLst/>
          </a:prstGeom>
          <a:ln w="0">
            <a:noFill/>
          </a:ln>
        </p:spPr>
      </p:pic>
      <p:sp>
        <p:nvSpPr>
          <p:cNvPr id="1322" name="TextBox 56"/>
          <p:cNvSpPr/>
          <p:nvPr/>
        </p:nvSpPr>
        <p:spPr>
          <a:xfrm>
            <a:off x="10279080" y="266112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 зі свининою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TextBox 57"/>
          <p:cNvSpPr/>
          <p:nvPr/>
        </p:nvSpPr>
        <p:spPr>
          <a:xfrm>
            <a:off x="10279080" y="295380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ХАРЧІ  ·  85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TextBox 58"/>
          <p:cNvSpPr/>
          <p:nvPr/>
        </p:nvSpPr>
        <p:spPr>
          <a:xfrm>
            <a:off x="10279080" y="309996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120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59"/>
          <p:cNvSpPr/>
          <p:nvPr/>
        </p:nvSpPr>
        <p:spPr>
          <a:xfrm>
            <a:off x="10279080" y="331956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Харчі ТМ · Висот-Нік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Rounded Rectangle 60"/>
          <p:cNvSpPr/>
          <p:nvPr/>
        </p:nvSpPr>
        <p:spPr>
          <a:xfrm>
            <a:off x="56700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7" name="Rounded Rectangle 61"/>
          <p:cNvSpPr/>
          <p:nvPr/>
        </p:nvSpPr>
        <p:spPr>
          <a:xfrm>
            <a:off x="63108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8" name="Picture 62" descr="s16_0.79_3.04.jpg"/>
          <p:cNvPicPr/>
          <p:nvPr/>
        </p:nvPicPr>
        <p:blipFill>
          <a:blip r:embed="rId9"/>
          <a:stretch/>
        </p:blipFill>
        <p:spPr>
          <a:xfrm>
            <a:off x="979200" y="3794760"/>
            <a:ext cx="646200" cy="548640"/>
          </a:xfrm>
          <a:prstGeom prst="rect">
            <a:avLst/>
          </a:prstGeom>
          <a:ln w="0">
            <a:noFill/>
          </a:ln>
        </p:spPr>
      </p:pic>
      <p:sp>
        <p:nvSpPr>
          <p:cNvPr id="1329" name="TextBox 63"/>
          <p:cNvSpPr/>
          <p:nvPr/>
        </p:nvSpPr>
        <p:spPr>
          <a:xfrm>
            <a:off x="68580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Рисова каша з м'ясом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64"/>
          <p:cNvSpPr/>
          <p:nvPr/>
        </p:nvSpPr>
        <p:spPr>
          <a:xfrm>
            <a:off x="68580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ХАРЧІ  ·  85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TextBox 65"/>
          <p:cNvSpPr/>
          <p:nvPr/>
        </p:nvSpPr>
        <p:spPr>
          <a:xfrm>
            <a:off x="68580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120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TextBox 66"/>
          <p:cNvSpPr/>
          <p:nvPr/>
        </p:nvSpPr>
        <p:spPr>
          <a:xfrm>
            <a:off x="68580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Highlander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Rounded Rectangle 67"/>
          <p:cNvSpPr/>
          <p:nvPr/>
        </p:nvSpPr>
        <p:spPr>
          <a:xfrm>
            <a:off x="216576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4" name="Rounded Rectangle 68"/>
          <p:cNvSpPr/>
          <p:nvPr/>
        </p:nvSpPr>
        <p:spPr>
          <a:xfrm>
            <a:off x="222984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5" name="Picture 69" descr="s16_2.52_3.04.jpg"/>
          <p:cNvPicPr/>
          <p:nvPr/>
        </p:nvPicPr>
        <p:blipFill>
          <a:blip r:embed="rId10"/>
          <a:stretch/>
        </p:blipFill>
        <p:spPr>
          <a:xfrm>
            <a:off x="2577960" y="3794760"/>
            <a:ext cx="646200" cy="548640"/>
          </a:xfrm>
          <a:prstGeom prst="rect">
            <a:avLst/>
          </a:prstGeom>
          <a:ln w="0">
            <a:noFill/>
          </a:ln>
        </p:spPr>
      </p:pic>
      <p:sp>
        <p:nvSpPr>
          <p:cNvPr id="1336" name="TextBox 70"/>
          <p:cNvSpPr/>
          <p:nvPr/>
        </p:nvSpPr>
        <p:spPr>
          <a:xfrm>
            <a:off x="228456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Кічрі: боби з рисом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TextBox 71"/>
          <p:cNvSpPr/>
          <p:nvPr/>
        </p:nvSpPr>
        <p:spPr>
          <a:xfrm>
            <a:off x="228456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ХАРЧІ  ·  85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72"/>
          <p:cNvSpPr/>
          <p:nvPr/>
        </p:nvSpPr>
        <p:spPr>
          <a:xfrm>
            <a:off x="228456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83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TextBox 73"/>
          <p:cNvSpPr/>
          <p:nvPr/>
        </p:nvSpPr>
        <p:spPr>
          <a:xfrm>
            <a:off x="228456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Висот-Нік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Rounded Rectangle 74"/>
          <p:cNvSpPr/>
          <p:nvPr/>
        </p:nvSpPr>
        <p:spPr>
          <a:xfrm>
            <a:off x="376488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1" name="Rounded Rectangle 75"/>
          <p:cNvSpPr/>
          <p:nvPr/>
        </p:nvSpPr>
        <p:spPr>
          <a:xfrm>
            <a:off x="382860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2" name="Picture 76" descr="s16_4.24_3.04.jpg"/>
          <p:cNvPicPr/>
          <p:nvPr/>
        </p:nvPicPr>
        <p:blipFill>
          <a:blip r:embed="rId11"/>
          <a:stretch/>
        </p:blipFill>
        <p:spPr>
          <a:xfrm>
            <a:off x="4173840" y="3794760"/>
            <a:ext cx="651960" cy="548640"/>
          </a:xfrm>
          <a:prstGeom prst="rect">
            <a:avLst/>
          </a:prstGeom>
          <a:ln w="0">
            <a:noFill/>
          </a:ln>
        </p:spPr>
      </p:pic>
      <p:sp>
        <p:nvSpPr>
          <p:cNvPr id="1343" name="TextBox 77"/>
          <p:cNvSpPr/>
          <p:nvPr/>
        </p:nvSpPr>
        <p:spPr>
          <a:xfrm>
            <a:off x="388368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Плов XL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TextBox 78"/>
          <p:cNvSpPr/>
          <p:nvPr/>
        </p:nvSpPr>
        <p:spPr>
          <a:xfrm>
            <a:off x="388368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ХАРЧІ  ·  100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TextBox 79"/>
          <p:cNvSpPr/>
          <p:nvPr/>
        </p:nvSpPr>
        <p:spPr>
          <a:xfrm>
            <a:off x="388368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321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TextBox 80"/>
          <p:cNvSpPr/>
          <p:nvPr/>
        </p:nvSpPr>
        <p:spPr>
          <a:xfrm>
            <a:off x="388368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8 продавців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Rounded Rectangle 81"/>
          <p:cNvSpPr/>
          <p:nvPr/>
        </p:nvSpPr>
        <p:spPr>
          <a:xfrm>
            <a:off x="5363640" y="3666600"/>
            <a:ext cx="1470600" cy="165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8" name="Rounded Rectangle 82"/>
          <p:cNvSpPr/>
          <p:nvPr/>
        </p:nvSpPr>
        <p:spPr>
          <a:xfrm>
            <a:off x="5427720" y="3730680"/>
            <a:ext cx="1342440" cy="6764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9" name="Picture 83" descr="s16_5.97_3.04.jpg"/>
          <p:cNvPicPr/>
          <p:nvPr/>
        </p:nvPicPr>
        <p:blipFill>
          <a:blip r:embed="rId12"/>
          <a:stretch/>
        </p:blipFill>
        <p:spPr>
          <a:xfrm>
            <a:off x="5792760" y="3794760"/>
            <a:ext cx="612360" cy="548640"/>
          </a:xfrm>
          <a:prstGeom prst="rect">
            <a:avLst/>
          </a:prstGeom>
          <a:ln w="0">
            <a:noFill/>
          </a:ln>
        </p:spPr>
      </p:pic>
      <p:sp>
        <p:nvSpPr>
          <p:cNvPr id="1350" name="TextBox 84"/>
          <p:cNvSpPr/>
          <p:nvPr/>
        </p:nvSpPr>
        <p:spPr>
          <a:xfrm>
            <a:off x="5482440" y="4444200"/>
            <a:ext cx="1232640" cy="1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Плов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85"/>
          <p:cNvSpPr/>
          <p:nvPr/>
        </p:nvSpPr>
        <p:spPr>
          <a:xfrm>
            <a:off x="5482440" y="473688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5d4b96"/>
                </a:solidFill>
                <a:latin typeface="Segoe UI"/>
              </a:rPr>
              <a:t>!FEST  ·  100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TextBox 86"/>
          <p:cNvSpPr/>
          <p:nvPr/>
        </p:nvSpPr>
        <p:spPr>
          <a:xfrm>
            <a:off x="5482440" y="4883040"/>
            <a:ext cx="123264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133–140 грн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Box 87"/>
          <p:cNvSpPr/>
          <p:nvPr/>
        </p:nvSpPr>
        <p:spPr>
          <a:xfrm>
            <a:off x="5482440" y="5102640"/>
            <a:ext cx="123264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SportStorm · Kalush-Craft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Rounded Rectangle 88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5" name="Rectangle 89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6" name="TextBox 90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5d4b96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TextBox 91"/>
          <p:cNvSpPr/>
          <p:nvPr/>
        </p:nvSpPr>
        <p:spPr>
          <a:xfrm>
            <a:off x="841320" y="5696640"/>
            <a:ext cx="10515240" cy="3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Українське виробництво в категорії є, але воно цілком у туристичному каналі: 55–321 грн за упаковку проти 269–889 грн в імпортних брендів. Готового рису в паучі під мікрохвильовку не робить ніхто.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TextBox 92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Highlander, Activity, ВсеОпт, Klever-Shop, Terra Incognita, Висот-Нік —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0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2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363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СЕГМЕНТ 5 · СУМІЖНА ПОЛИЦЯ   ·   БЛЯШАНКА   ·   СУМІЖНА ПОЛИЦЯ · 6 ПОЗИЦІЙ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Рис із м'ясом у мережах уже є — але в консервній бляшанці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Rectangle 9"/>
          <p:cNvSpPr/>
          <p:nvPr/>
        </p:nvSpPr>
        <p:spPr>
          <a:xfrm>
            <a:off x="567000" y="1554480"/>
            <a:ext cx="40680" cy="19620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8" name="TextBox 10"/>
          <p:cNvSpPr/>
          <p:nvPr/>
        </p:nvSpPr>
        <p:spPr>
          <a:xfrm>
            <a:off x="713160" y="1572840"/>
            <a:ext cx="1069812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37a169"/>
                </a:solidFill>
                <a:latin typeface="Segoe UI"/>
              </a:rPr>
              <a:t>ФОРМАТ: БЛЯШАНКА   ·   Консерва, готова до вживання   ·   Маса — готової страви   ·   привід: Обід поза домом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11"/>
          <p:cNvSpPr/>
          <p:nvPr/>
        </p:nvSpPr>
        <p:spPr>
          <a:xfrm>
            <a:off x="56700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ounded Rectangle 12"/>
          <p:cNvSpPr/>
          <p:nvPr/>
        </p:nvSpPr>
        <p:spPr>
          <a:xfrm>
            <a:off x="63108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1" name="Picture 13" descr="s17_0.79_3.58.jpg"/>
          <p:cNvPicPr/>
          <p:nvPr/>
        </p:nvPicPr>
        <p:blipFill>
          <a:blip r:embed="rId2"/>
          <a:stretch/>
        </p:blipFill>
        <p:spPr>
          <a:xfrm>
            <a:off x="1123200" y="2011680"/>
            <a:ext cx="624960" cy="913320"/>
          </a:xfrm>
          <a:prstGeom prst="rect">
            <a:avLst/>
          </a:prstGeom>
          <a:ln w="0">
            <a:noFill/>
          </a:ln>
        </p:spPr>
      </p:pic>
      <p:sp>
        <p:nvSpPr>
          <p:cNvPr id="1372" name="TextBox 14"/>
          <p:cNvSpPr/>
          <p:nvPr/>
        </p:nvSpPr>
        <p:spPr>
          <a:xfrm>
            <a:off x="68580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Каша рисова зі свининою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15"/>
          <p:cNvSpPr/>
          <p:nvPr/>
        </p:nvSpPr>
        <p:spPr>
          <a:xfrm>
            <a:off x="68580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37a169"/>
                </a:solidFill>
                <a:latin typeface="Segoe UI"/>
              </a:rPr>
              <a:t>HAPAY!  ·  340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TextBox 16"/>
          <p:cNvSpPr/>
          <p:nvPr/>
        </p:nvSpPr>
        <p:spPr>
          <a:xfrm>
            <a:off x="68580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63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TextBox 17"/>
          <p:cNvSpPr/>
          <p:nvPr/>
        </p:nvSpPr>
        <p:spPr>
          <a:xfrm>
            <a:off x="68580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Ашан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Rounded Rectangle 18"/>
          <p:cNvSpPr/>
          <p:nvPr/>
        </p:nvSpPr>
        <p:spPr>
          <a:xfrm>
            <a:off x="243216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7" name="Rounded Rectangle 19"/>
          <p:cNvSpPr/>
          <p:nvPr/>
        </p:nvSpPr>
        <p:spPr>
          <a:xfrm>
            <a:off x="249624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8" name="Picture 20" descr="s17_2.81_3.58.jpg"/>
          <p:cNvPicPr/>
          <p:nvPr/>
        </p:nvPicPr>
        <p:blipFill>
          <a:blip r:embed="rId3"/>
          <a:stretch/>
        </p:blipFill>
        <p:spPr>
          <a:xfrm>
            <a:off x="2976480" y="2011680"/>
            <a:ext cx="648720" cy="913320"/>
          </a:xfrm>
          <a:prstGeom prst="rect">
            <a:avLst/>
          </a:prstGeom>
          <a:ln w="0">
            <a:noFill/>
          </a:ln>
        </p:spPr>
      </p:pic>
      <p:sp>
        <p:nvSpPr>
          <p:cNvPr id="1379" name="TextBox 21"/>
          <p:cNvSpPr/>
          <p:nvPr/>
        </p:nvSpPr>
        <p:spPr>
          <a:xfrm>
            <a:off x="255132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Каша рисова зі свининою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TextBox 22"/>
          <p:cNvSpPr/>
          <p:nvPr/>
        </p:nvSpPr>
        <p:spPr>
          <a:xfrm>
            <a:off x="255132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37a169"/>
                </a:solidFill>
                <a:latin typeface="Segoe UI"/>
              </a:rPr>
              <a:t>L'APPETIT  ·  340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TextBox 23"/>
          <p:cNvSpPr/>
          <p:nvPr/>
        </p:nvSpPr>
        <p:spPr>
          <a:xfrm>
            <a:off x="255132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120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TextBox 24"/>
          <p:cNvSpPr/>
          <p:nvPr/>
        </p:nvSpPr>
        <p:spPr>
          <a:xfrm>
            <a:off x="255132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Ашан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Rounded Rectangle 25"/>
          <p:cNvSpPr/>
          <p:nvPr/>
        </p:nvSpPr>
        <p:spPr>
          <a:xfrm>
            <a:off x="429768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4" name="Rounded Rectangle 26"/>
          <p:cNvSpPr/>
          <p:nvPr/>
        </p:nvSpPr>
        <p:spPr>
          <a:xfrm>
            <a:off x="436176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5" name="Picture 27" descr="s17_4.83_3.58.jpg"/>
          <p:cNvPicPr/>
          <p:nvPr/>
        </p:nvPicPr>
        <p:blipFill>
          <a:blip r:embed="rId4"/>
          <a:stretch/>
        </p:blipFill>
        <p:spPr>
          <a:xfrm>
            <a:off x="4862880" y="2011680"/>
            <a:ext cx="606600" cy="913320"/>
          </a:xfrm>
          <a:prstGeom prst="rect">
            <a:avLst/>
          </a:prstGeom>
          <a:ln w="0">
            <a:noFill/>
          </a:ln>
        </p:spPr>
      </p:pic>
      <p:sp>
        <p:nvSpPr>
          <p:cNvPr id="1386" name="TextBox 28"/>
          <p:cNvSpPr/>
          <p:nvPr/>
        </p:nvSpPr>
        <p:spPr>
          <a:xfrm>
            <a:off x="4416480" y="3025800"/>
            <a:ext cx="14994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Каша рисова з яловичиною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TextBox 29"/>
          <p:cNvSpPr/>
          <p:nvPr/>
        </p:nvSpPr>
        <p:spPr>
          <a:xfrm>
            <a:off x="441648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37a169"/>
                </a:solidFill>
                <a:latin typeface="Segoe UI"/>
              </a:rPr>
              <a:t>L'APPETIT  ·  340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TextBox 30"/>
          <p:cNvSpPr/>
          <p:nvPr/>
        </p:nvSpPr>
        <p:spPr>
          <a:xfrm>
            <a:off x="441648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126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TextBox 31"/>
          <p:cNvSpPr/>
          <p:nvPr/>
        </p:nvSpPr>
        <p:spPr>
          <a:xfrm>
            <a:off x="441648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Ашан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Rounded Rectangle 32"/>
          <p:cNvSpPr/>
          <p:nvPr/>
        </p:nvSpPr>
        <p:spPr>
          <a:xfrm>
            <a:off x="616320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1" name="Rounded Rectangle 33"/>
          <p:cNvSpPr/>
          <p:nvPr/>
        </p:nvSpPr>
        <p:spPr>
          <a:xfrm>
            <a:off x="622692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2" name="Picture 34" descr="s17_6.85_3.58.jpg"/>
          <p:cNvPicPr/>
          <p:nvPr/>
        </p:nvPicPr>
        <p:blipFill>
          <a:blip r:embed="rId5"/>
          <a:stretch/>
        </p:blipFill>
        <p:spPr>
          <a:xfrm>
            <a:off x="6698160" y="2011680"/>
            <a:ext cx="666720" cy="913320"/>
          </a:xfrm>
          <a:prstGeom prst="rect">
            <a:avLst/>
          </a:prstGeom>
          <a:ln w="0">
            <a:noFill/>
          </a:ln>
        </p:spPr>
      </p:pic>
      <p:sp>
        <p:nvSpPr>
          <p:cNvPr id="1393" name="TextBox 35"/>
          <p:cNvSpPr/>
          <p:nvPr/>
        </p:nvSpPr>
        <p:spPr>
          <a:xfrm>
            <a:off x="628200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Плов з качки та булгуру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TextBox 36"/>
          <p:cNvSpPr/>
          <p:nvPr/>
        </p:nvSpPr>
        <p:spPr>
          <a:xfrm>
            <a:off x="628200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37a169"/>
                </a:solidFill>
                <a:latin typeface="Segoe UI"/>
              </a:rPr>
              <a:t>HAPAY!  ·  340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TextBox 37"/>
          <p:cNvSpPr/>
          <p:nvPr/>
        </p:nvSpPr>
        <p:spPr>
          <a:xfrm>
            <a:off x="628200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117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TextBox 38"/>
          <p:cNvSpPr/>
          <p:nvPr/>
        </p:nvSpPr>
        <p:spPr>
          <a:xfrm>
            <a:off x="628200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Ашан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Rounded Rectangle 39"/>
          <p:cNvSpPr/>
          <p:nvPr/>
        </p:nvSpPr>
        <p:spPr>
          <a:xfrm>
            <a:off x="802836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8" name="Rounded Rectangle 40"/>
          <p:cNvSpPr/>
          <p:nvPr/>
        </p:nvSpPr>
        <p:spPr>
          <a:xfrm>
            <a:off x="809244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9" name="Picture 41" descr="s17_8.87_3.58.jpg"/>
          <p:cNvPicPr/>
          <p:nvPr/>
        </p:nvPicPr>
        <p:blipFill>
          <a:blip r:embed="rId6"/>
          <a:stretch/>
        </p:blipFill>
        <p:spPr>
          <a:xfrm>
            <a:off x="8165520" y="2072520"/>
            <a:ext cx="1462680" cy="792000"/>
          </a:xfrm>
          <a:prstGeom prst="rect">
            <a:avLst/>
          </a:prstGeom>
          <a:ln w="0">
            <a:noFill/>
          </a:ln>
        </p:spPr>
      </p:pic>
      <p:sp>
        <p:nvSpPr>
          <p:cNvPr id="1400" name="TextBox 42"/>
          <p:cNvSpPr/>
          <p:nvPr/>
        </p:nvSpPr>
        <p:spPr>
          <a:xfrm>
            <a:off x="8147160" y="3025800"/>
            <a:ext cx="149940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Плов з куркою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TextBox 43"/>
          <p:cNvSpPr/>
          <p:nvPr/>
        </p:nvSpPr>
        <p:spPr>
          <a:xfrm>
            <a:off x="814716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37a169"/>
                </a:solidFill>
                <a:latin typeface="Segoe UI"/>
              </a:rPr>
              <a:t>FOOD FABRIKA  ·  250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Box 44"/>
          <p:cNvSpPr/>
          <p:nvPr/>
        </p:nvSpPr>
        <p:spPr>
          <a:xfrm>
            <a:off x="814716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119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TextBox 45"/>
          <p:cNvSpPr/>
          <p:nvPr/>
        </p:nvSpPr>
        <p:spPr>
          <a:xfrm>
            <a:off x="814716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Восторг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ounded Rectangle 46"/>
          <p:cNvSpPr/>
          <p:nvPr/>
        </p:nvSpPr>
        <p:spPr>
          <a:xfrm>
            <a:off x="9893880" y="1883520"/>
            <a:ext cx="1737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5dbe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Rounded Rectangle 47"/>
          <p:cNvSpPr/>
          <p:nvPr/>
        </p:nvSpPr>
        <p:spPr>
          <a:xfrm>
            <a:off x="9957960" y="1947600"/>
            <a:ext cx="1608840" cy="104148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6" name="Picture 48" descr="s17_10.89_3.58.jpg"/>
          <p:cNvPicPr/>
          <p:nvPr/>
        </p:nvPicPr>
        <p:blipFill>
          <a:blip r:embed="rId7"/>
          <a:stretch/>
        </p:blipFill>
        <p:spPr>
          <a:xfrm>
            <a:off x="10143720" y="2011680"/>
            <a:ext cx="1236960" cy="913320"/>
          </a:xfrm>
          <a:prstGeom prst="rect">
            <a:avLst/>
          </a:prstGeom>
          <a:ln w="0">
            <a:noFill/>
          </a:ln>
        </p:spPr>
      </p:pic>
      <p:sp>
        <p:nvSpPr>
          <p:cNvPr id="1407" name="TextBox 49"/>
          <p:cNvSpPr/>
          <p:nvPr/>
        </p:nvSpPr>
        <p:spPr>
          <a:xfrm>
            <a:off x="10012680" y="3025800"/>
            <a:ext cx="14994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b="1" lang="en-US" sz="740" spc="-1" strike="noStrike">
                <a:solidFill>
                  <a:srgbClr val="1c2235"/>
                </a:solidFill>
                <a:latin typeface="Segoe UI"/>
              </a:rPr>
              <a:t>Плов з куркою та родзинками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50"/>
          <p:cNvSpPr/>
          <p:nvPr/>
        </p:nvSpPr>
        <p:spPr>
          <a:xfrm>
            <a:off x="10012680" y="335520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00" spc="-1" strike="noStrike">
                <a:solidFill>
                  <a:srgbClr val="37a169"/>
                </a:solidFill>
                <a:latin typeface="Segoe UI"/>
              </a:rPr>
              <a:t>М'ЯСТОРІЯ  ·  350 Г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TextBox 51"/>
          <p:cNvSpPr/>
          <p:nvPr/>
        </p:nvSpPr>
        <p:spPr>
          <a:xfrm>
            <a:off x="10012680" y="3501360"/>
            <a:ext cx="14994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147–160 грн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52"/>
          <p:cNvSpPr/>
          <p:nvPr/>
        </p:nvSpPr>
        <p:spPr>
          <a:xfrm>
            <a:off x="10012680" y="3720960"/>
            <a:ext cx="149940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00" spc="-1" strike="noStrike">
                <a:solidFill>
                  <a:srgbClr val="717890"/>
                </a:solidFill>
                <a:latin typeface="Segoe UI"/>
              </a:rPr>
              <a:t>Novus · МегаМаркет · Космос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Rounded Rectangle 53"/>
          <p:cNvSpPr/>
          <p:nvPr/>
        </p:nvSpPr>
        <p:spPr>
          <a:xfrm>
            <a:off x="567000" y="5413320"/>
            <a:ext cx="11063880" cy="71280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2" name="Rectangle 54"/>
          <p:cNvSpPr/>
          <p:nvPr/>
        </p:nvSpPr>
        <p:spPr>
          <a:xfrm>
            <a:off x="567000" y="5413320"/>
            <a:ext cx="45360" cy="71280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3" name="TextBox 55"/>
          <p:cNvSpPr/>
          <p:nvPr/>
        </p:nvSpPr>
        <p:spPr>
          <a:xfrm>
            <a:off x="841320" y="5513760"/>
            <a:ext cx="10515240" cy="1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30" spc="-1" strike="noStrike">
                <a:solidFill>
                  <a:srgbClr val="37a169"/>
                </a:solidFill>
                <a:latin typeface="Segoe UI"/>
              </a:rPr>
              <a:t>ЩО ЦЕ ОЗНАЧАЄ</a:t>
            </a:r>
            <a:endParaRPr b="0" lang="en-US" sz="7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TextBox 56"/>
          <p:cNvSpPr/>
          <p:nvPr/>
        </p:nvSpPr>
        <p:spPr>
          <a:xfrm>
            <a:off x="841320" y="5696640"/>
            <a:ext cx="10515240" cy="3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800" spc="-1" strike="noStrike">
                <a:solidFill>
                  <a:srgbClr val="d5dbea"/>
                </a:solidFill>
                <a:latin typeface="Segoe UI"/>
              </a:rPr>
              <a:t>Ця полиця вже стоїть у мережах, коштує 63–160 грн і має українського виробника. Пауч із готовим рисом заходить у той самий гаманець, тож орієнтир ціни — не Ottogi за 255 грн, а саме вона.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TextBox 57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Джерело: API 17 мереж zakaz.ua, 23.09.2026. Охолоджену кулінарію мереж не показано.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7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9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420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РИТЕЙЛ-АУДИТ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Rectangle 9"/>
          <p:cNvSpPr/>
          <p:nvPr/>
        </p:nvSpPr>
        <p:spPr>
          <a:xfrm>
            <a:off x="567000" y="1517760"/>
            <a:ext cx="40680" cy="17352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5" name="TextBox 10"/>
          <p:cNvSpPr/>
          <p:nvPr/>
        </p:nvSpPr>
        <p:spPr>
          <a:xfrm>
            <a:off x="713160" y="153144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TextBox 11"/>
          <p:cNvSpPr/>
          <p:nvPr/>
        </p:nvSpPr>
        <p:spPr>
          <a:xfrm>
            <a:off x="7315200" y="153144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c4820a"/>
                </a:solidFill>
                <a:latin typeface="Segoe UI"/>
              </a:rPr>
              <a:t>12 SKU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2"/>
          <p:cNvSpPr/>
          <p:nvPr/>
        </p:nvSpPr>
        <p:spPr>
          <a:xfrm>
            <a:off x="567000" y="1755720"/>
            <a:ext cx="2614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10" spc="-1" strike="noStrike">
                <a:solidFill>
                  <a:srgbClr val="717890"/>
                </a:solidFill>
                <a:latin typeface="Segoe UI"/>
              </a:rPr>
              <a:t>МЕРЕЖА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TextBox 13"/>
          <p:cNvSpPr/>
          <p:nvPr/>
        </p:nvSpPr>
        <p:spPr>
          <a:xfrm>
            <a:off x="3182040" y="1755720"/>
            <a:ext cx="3931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10" spc="-1" strike="noStrike">
                <a:solidFill>
                  <a:srgbClr val="717890"/>
                </a:solidFill>
                <a:latin typeface="Segoe UI"/>
              </a:rPr>
              <a:t>ЩО САМЕ СТОЇТЬ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14"/>
          <p:cNvSpPr/>
          <p:nvPr/>
        </p:nvSpPr>
        <p:spPr>
          <a:xfrm>
            <a:off x="7113960" y="1755720"/>
            <a:ext cx="13896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10" spc="-1" strike="noStrike">
                <a:solidFill>
                  <a:srgbClr val="717890"/>
                </a:solidFill>
                <a:latin typeface="Segoe UI"/>
              </a:rPr>
              <a:t>ФОРМАТ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Box 15"/>
          <p:cNvSpPr/>
          <p:nvPr/>
        </p:nvSpPr>
        <p:spPr>
          <a:xfrm>
            <a:off x="8503920" y="1755720"/>
            <a:ext cx="45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10" spc="-1" strike="noStrike">
                <a:solidFill>
                  <a:srgbClr val="717890"/>
                </a:solidFill>
                <a:latin typeface="Segoe UI"/>
              </a:rPr>
              <a:t>SKU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TextBox 16"/>
          <p:cNvSpPr/>
          <p:nvPr/>
        </p:nvSpPr>
        <p:spPr>
          <a:xfrm>
            <a:off x="8961120" y="1755720"/>
            <a:ext cx="1334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10" spc="-1" strike="noStrike">
                <a:solidFill>
                  <a:srgbClr val="717890"/>
                </a:solidFill>
                <a:latin typeface="Segoe UI"/>
              </a:rPr>
              <a:t>ЦІНА ЗА УПАКОВКУ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TextBox 17"/>
          <p:cNvSpPr/>
          <p:nvPr/>
        </p:nvSpPr>
        <p:spPr>
          <a:xfrm>
            <a:off x="10296000" y="1755720"/>
            <a:ext cx="15174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10" spc="-1" strike="noStrike">
                <a:solidFill>
                  <a:srgbClr val="717890"/>
                </a:solidFill>
                <a:latin typeface="Segoe UI"/>
              </a:rPr>
              <a:t>ПОХОДЖЕННЯ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TextBox 18"/>
          <p:cNvSpPr/>
          <p:nvPr/>
        </p:nvSpPr>
        <p:spPr>
          <a:xfrm>
            <a:off x="567000" y="193860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Сільпо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Box 19"/>
          <p:cNvSpPr/>
          <p:nvPr/>
        </p:nvSpPr>
        <p:spPr>
          <a:xfrm>
            <a:off x="3182040" y="193860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Ben's Original / Uncle Ben's Express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20"/>
          <p:cNvSpPr/>
          <p:nvPr/>
        </p:nvSpPr>
        <p:spPr>
          <a:xfrm>
            <a:off x="7113960" y="193860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c4820a"/>
                </a:solidFill>
                <a:latin typeface="Segoe UI"/>
              </a:rPr>
              <a:t>пауч 220–250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TextBox 21"/>
          <p:cNvSpPr/>
          <p:nvPr/>
        </p:nvSpPr>
        <p:spPr>
          <a:xfrm>
            <a:off x="8503920" y="193860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TextBox 22"/>
          <p:cNvSpPr/>
          <p:nvPr/>
        </p:nvSpPr>
        <p:spPr>
          <a:xfrm>
            <a:off x="8961120" y="193860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90–179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TextBox 23"/>
          <p:cNvSpPr/>
          <p:nvPr/>
        </p:nvSpPr>
        <p:spPr>
          <a:xfrm>
            <a:off x="10296000" y="193860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Mars · ЄС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Rounded Rectangle 24"/>
          <p:cNvSpPr/>
          <p:nvPr/>
        </p:nvSpPr>
        <p:spPr>
          <a:xfrm>
            <a:off x="493920" y="212148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0" name="TextBox 25"/>
          <p:cNvSpPr/>
          <p:nvPr/>
        </p:nvSpPr>
        <p:spPr>
          <a:xfrm>
            <a:off x="567000" y="215352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МегаМаркет · Ultramarket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TextBox 26"/>
          <p:cNvSpPr/>
          <p:nvPr/>
        </p:nvSpPr>
        <p:spPr>
          <a:xfrm>
            <a:off x="3182040" y="215352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TextBox 27"/>
          <p:cNvSpPr/>
          <p:nvPr/>
        </p:nvSpPr>
        <p:spPr>
          <a:xfrm>
            <a:off x="7113960" y="215352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c4820a"/>
                </a:solidFill>
                <a:latin typeface="Segoe UI"/>
              </a:rPr>
              <a:t>лоток 350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TextBox 28"/>
          <p:cNvSpPr/>
          <p:nvPr/>
        </p:nvSpPr>
        <p:spPr>
          <a:xfrm>
            <a:off x="8503920" y="215352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TextBox 29"/>
          <p:cNvSpPr/>
          <p:nvPr/>
        </p:nvSpPr>
        <p:spPr>
          <a:xfrm>
            <a:off x="8961120" y="215352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207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TextBox 30"/>
          <p:cNvSpPr/>
          <p:nvPr/>
        </p:nvSpPr>
        <p:spPr>
          <a:xfrm>
            <a:off x="10296000" y="215352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Rectangle 31"/>
          <p:cNvSpPr/>
          <p:nvPr/>
        </p:nvSpPr>
        <p:spPr>
          <a:xfrm>
            <a:off x="567000" y="2487240"/>
            <a:ext cx="40680" cy="17352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TextBox 32"/>
          <p:cNvSpPr/>
          <p:nvPr/>
        </p:nvSpPr>
        <p:spPr>
          <a:xfrm>
            <a:off x="713160" y="250092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33"/>
          <p:cNvSpPr/>
          <p:nvPr/>
        </p:nvSpPr>
        <p:spPr>
          <a:xfrm>
            <a:off x="7315200" y="250092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11 SKU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TextBox 34"/>
          <p:cNvSpPr/>
          <p:nvPr/>
        </p:nvSpPr>
        <p:spPr>
          <a:xfrm>
            <a:off x="567000" y="272484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Ашан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TextBox 35"/>
          <p:cNvSpPr/>
          <p:nvPr/>
        </p:nvSpPr>
        <p:spPr>
          <a:xfrm>
            <a:off x="3182040" y="272484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TextBox 36"/>
          <p:cNvSpPr/>
          <p:nvPr/>
        </p:nvSpPr>
        <p:spPr>
          <a:xfrm>
            <a:off x="7113960" y="272484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e9ea6"/>
                </a:solidFill>
                <a:latin typeface="Segoe UI"/>
              </a:rPr>
              <a:t>лоток 280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TextBox 37"/>
          <p:cNvSpPr/>
          <p:nvPr/>
        </p:nvSpPr>
        <p:spPr>
          <a:xfrm>
            <a:off x="8503920" y="272484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Box 38"/>
          <p:cNvSpPr/>
          <p:nvPr/>
        </p:nvSpPr>
        <p:spPr>
          <a:xfrm>
            <a:off x="8961120" y="272484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112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TextBox 39"/>
          <p:cNvSpPr/>
          <p:nvPr/>
        </p:nvSpPr>
        <p:spPr>
          <a:xfrm>
            <a:off x="10296000" y="272484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Rounded Rectangle 40"/>
          <p:cNvSpPr/>
          <p:nvPr/>
        </p:nvSpPr>
        <p:spPr>
          <a:xfrm>
            <a:off x="493920" y="290772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TextBox 41"/>
          <p:cNvSpPr/>
          <p:nvPr/>
        </p:nvSpPr>
        <p:spPr>
          <a:xfrm>
            <a:off x="567000" y="293976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Сільпо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TextBox 42"/>
          <p:cNvSpPr/>
          <p:nvPr/>
        </p:nvSpPr>
        <p:spPr>
          <a:xfrm>
            <a:off x="3182040" y="293976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43"/>
          <p:cNvSpPr/>
          <p:nvPr/>
        </p:nvSpPr>
        <p:spPr>
          <a:xfrm>
            <a:off x="7113960" y="293976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e9ea6"/>
                </a:solidFill>
                <a:latin typeface="Segoe UI"/>
              </a:rPr>
              <a:t>лоток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TextBox 44"/>
          <p:cNvSpPr/>
          <p:nvPr/>
        </p:nvSpPr>
        <p:spPr>
          <a:xfrm>
            <a:off x="8503920" y="293976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2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TextBox 45"/>
          <p:cNvSpPr/>
          <p:nvPr/>
        </p:nvSpPr>
        <p:spPr>
          <a:xfrm>
            <a:off x="8961120" y="293976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75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Box 46"/>
          <p:cNvSpPr/>
          <p:nvPr/>
        </p:nvSpPr>
        <p:spPr>
          <a:xfrm>
            <a:off x="10296000" y="293976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TextBox 47"/>
          <p:cNvSpPr/>
          <p:nvPr/>
        </p:nvSpPr>
        <p:spPr>
          <a:xfrm>
            <a:off x="567000" y="315468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Сільпо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TextBox 48"/>
          <p:cNvSpPr/>
          <p:nvPr/>
        </p:nvSpPr>
        <p:spPr>
          <a:xfrm>
            <a:off x="3182040" y="315468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49"/>
          <p:cNvSpPr/>
          <p:nvPr/>
        </p:nvSpPr>
        <p:spPr>
          <a:xfrm>
            <a:off x="7113960" y="315468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e9ea6"/>
                </a:solidFill>
                <a:latin typeface="Segoe UI"/>
              </a:rPr>
              <a:t>кулінарія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50"/>
          <p:cNvSpPr/>
          <p:nvPr/>
        </p:nvSpPr>
        <p:spPr>
          <a:xfrm>
            <a:off x="8503920" y="315468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6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TextBox 51"/>
          <p:cNvSpPr/>
          <p:nvPr/>
        </p:nvSpPr>
        <p:spPr>
          <a:xfrm>
            <a:off x="8961120" y="315468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139–439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Box 52"/>
          <p:cNvSpPr/>
          <p:nvPr/>
        </p:nvSpPr>
        <p:spPr>
          <a:xfrm>
            <a:off x="10296000" y="315468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Rounded Rectangle 53"/>
          <p:cNvSpPr/>
          <p:nvPr/>
        </p:nvSpPr>
        <p:spPr>
          <a:xfrm>
            <a:off x="493920" y="333756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9" name="TextBox 54"/>
          <p:cNvSpPr/>
          <p:nvPr/>
        </p:nvSpPr>
        <p:spPr>
          <a:xfrm>
            <a:off x="567000" y="336960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NOVUS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TextBox 55"/>
          <p:cNvSpPr/>
          <p:nvPr/>
        </p:nvSpPr>
        <p:spPr>
          <a:xfrm>
            <a:off x="3182040" y="336960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TextBox 56"/>
          <p:cNvSpPr/>
          <p:nvPr/>
        </p:nvSpPr>
        <p:spPr>
          <a:xfrm>
            <a:off x="7113960" y="336960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e9ea6"/>
                </a:solidFill>
                <a:latin typeface="Segoe UI"/>
              </a:rPr>
              <a:t>кулінарія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57"/>
          <p:cNvSpPr/>
          <p:nvPr/>
        </p:nvSpPr>
        <p:spPr>
          <a:xfrm>
            <a:off x="8503920" y="336960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TextBox 58"/>
          <p:cNvSpPr/>
          <p:nvPr/>
        </p:nvSpPr>
        <p:spPr>
          <a:xfrm>
            <a:off x="8961120" y="336960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299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TextBox 59"/>
          <p:cNvSpPr/>
          <p:nvPr/>
        </p:nvSpPr>
        <p:spPr>
          <a:xfrm>
            <a:off x="10296000" y="336960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TextBox 60"/>
          <p:cNvSpPr/>
          <p:nvPr/>
        </p:nvSpPr>
        <p:spPr>
          <a:xfrm>
            <a:off x="567000" y="358452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МегаМаркет · Ultramarket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Box 61"/>
          <p:cNvSpPr/>
          <p:nvPr/>
        </p:nvSpPr>
        <p:spPr>
          <a:xfrm>
            <a:off x="3182040" y="358452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Рис японський з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TextBox 62"/>
          <p:cNvSpPr/>
          <p:nvPr/>
        </p:nvSpPr>
        <p:spPr>
          <a:xfrm>
            <a:off x="7113960" y="358452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e9ea6"/>
                </a:solidFill>
                <a:latin typeface="Segoe UI"/>
              </a:rPr>
              <a:t>кулінарія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TextBox 63"/>
          <p:cNvSpPr/>
          <p:nvPr/>
        </p:nvSpPr>
        <p:spPr>
          <a:xfrm>
            <a:off x="8503920" y="358452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TextBox 64"/>
          <p:cNvSpPr/>
          <p:nvPr/>
        </p:nvSpPr>
        <p:spPr>
          <a:xfrm>
            <a:off x="8961120" y="358452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366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TextBox 65"/>
          <p:cNvSpPr/>
          <p:nvPr/>
        </p:nvSpPr>
        <p:spPr>
          <a:xfrm>
            <a:off x="10296000" y="358452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Rectangle 66"/>
          <p:cNvSpPr/>
          <p:nvPr/>
        </p:nvSpPr>
        <p:spPr>
          <a:xfrm>
            <a:off x="567000" y="3918240"/>
            <a:ext cx="40680" cy="17352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2" name="TextBox 67"/>
          <p:cNvSpPr/>
          <p:nvPr/>
        </p:nvSpPr>
        <p:spPr>
          <a:xfrm>
            <a:off x="713160" y="393192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TextBox 68"/>
          <p:cNvSpPr/>
          <p:nvPr/>
        </p:nvSpPr>
        <p:spPr>
          <a:xfrm>
            <a:off x="7315200" y="393192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5d4b96"/>
                </a:solidFill>
                <a:latin typeface="Segoe UI"/>
              </a:rPr>
              <a:t>3 SKU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TextBox 69"/>
          <p:cNvSpPr/>
          <p:nvPr/>
        </p:nvSpPr>
        <p:spPr>
          <a:xfrm>
            <a:off x="567000" y="415584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TextBox 70"/>
          <p:cNvSpPr/>
          <p:nvPr/>
        </p:nvSpPr>
        <p:spPr>
          <a:xfrm>
            <a:off x="3182040" y="415584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71"/>
          <p:cNvSpPr/>
          <p:nvPr/>
        </p:nvSpPr>
        <p:spPr>
          <a:xfrm>
            <a:off x="7113960" y="415584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5d4b96"/>
                </a:solidFill>
                <a:latin typeface="Segoe UI"/>
              </a:rPr>
              <a:t>пакет 200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72"/>
          <p:cNvSpPr/>
          <p:nvPr/>
        </p:nvSpPr>
        <p:spPr>
          <a:xfrm>
            <a:off x="8503920" y="415584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TextBox 73"/>
          <p:cNvSpPr/>
          <p:nvPr/>
        </p:nvSpPr>
        <p:spPr>
          <a:xfrm>
            <a:off x="8961120" y="415584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89–92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TextBox 74"/>
          <p:cNvSpPr/>
          <p:nvPr/>
        </p:nvSpPr>
        <p:spPr>
          <a:xfrm>
            <a:off x="10296000" y="415584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Rounded Rectangle 75"/>
          <p:cNvSpPr/>
          <p:nvPr/>
        </p:nvSpPr>
        <p:spPr>
          <a:xfrm>
            <a:off x="493920" y="433872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1" name="TextBox 76"/>
          <p:cNvSpPr/>
          <p:nvPr/>
        </p:nvSpPr>
        <p:spPr>
          <a:xfrm>
            <a:off x="567000" y="437076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NOVUS · Сільпо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77"/>
          <p:cNvSpPr/>
          <p:nvPr/>
        </p:nvSpPr>
        <p:spPr>
          <a:xfrm>
            <a:off x="3182040" y="437076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TextBox 78"/>
          <p:cNvSpPr/>
          <p:nvPr/>
        </p:nvSpPr>
        <p:spPr>
          <a:xfrm>
            <a:off x="7113960" y="437076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5d4b96"/>
                </a:solidFill>
                <a:latin typeface="Segoe UI"/>
              </a:rPr>
              <a:t>пакет 250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TextBox 79"/>
          <p:cNvSpPr/>
          <p:nvPr/>
        </p:nvSpPr>
        <p:spPr>
          <a:xfrm>
            <a:off x="8503920" y="437076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80"/>
          <p:cNvSpPr/>
          <p:nvPr/>
        </p:nvSpPr>
        <p:spPr>
          <a:xfrm>
            <a:off x="8961120" y="437076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59–85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81"/>
          <p:cNvSpPr/>
          <p:nvPr/>
        </p:nvSpPr>
        <p:spPr>
          <a:xfrm>
            <a:off x="10296000" y="437076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TextBox 82"/>
          <p:cNvSpPr/>
          <p:nvPr/>
        </p:nvSpPr>
        <p:spPr>
          <a:xfrm>
            <a:off x="567000" y="458568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МегаМаркет · Ultramarket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TextBox 83"/>
          <p:cNvSpPr/>
          <p:nvPr/>
        </p:nvSpPr>
        <p:spPr>
          <a:xfrm>
            <a:off x="3182040" y="458568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84"/>
          <p:cNvSpPr/>
          <p:nvPr/>
        </p:nvSpPr>
        <p:spPr>
          <a:xfrm>
            <a:off x="7113960" y="458568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5d4b96"/>
                </a:solidFill>
                <a:latin typeface="Segoe UI"/>
              </a:rPr>
              <a:t>пакет 500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TextBox 85"/>
          <p:cNvSpPr/>
          <p:nvPr/>
        </p:nvSpPr>
        <p:spPr>
          <a:xfrm>
            <a:off x="8503920" y="458568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1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86"/>
          <p:cNvSpPr/>
          <p:nvPr/>
        </p:nvSpPr>
        <p:spPr>
          <a:xfrm>
            <a:off x="8961120" y="458568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78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87"/>
          <p:cNvSpPr/>
          <p:nvPr/>
        </p:nvSpPr>
        <p:spPr>
          <a:xfrm>
            <a:off x="10296000" y="458568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Україна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Rectangle 88"/>
          <p:cNvSpPr/>
          <p:nvPr/>
        </p:nvSpPr>
        <p:spPr>
          <a:xfrm>
            <a:off x="567000" y="4919400"/>
            <a:ext cx="40680" cy="17352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4" name="TextBox 89"/>
          <p:cNvSpPr/>
          <p:nvPr/>
        </p:nvSpPr>
        <p:spPr>
          <a:xfrm>
            <a:off x="713160" y="493308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9fa9c4"/>
                </a:solidFill>
                <a:latin typeface="Segoe UI"/>
              </a:rPr>
              <a:t>КАТЕГОРІЇ НЕМАЄ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TextBox 90"/>
          <p:cNvSpPr/>
          <p:nvPr/>
        </p:nvSpPr>
        <p:spPr>
          <a:xfrm>
            <a:off x="7315200" y="493308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9fa9c4"/>
                </a:solidFill>
                <a:latin typeface="Segoe UI"/>
              </a:rPr>
              <a:t>0 SKU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TextBox 91"/>
          <p:cNvSpPr/>
          <p:nvPr/>
        </p:nvSpPr>
        <p:spPr>
          <a:xfrm>
            <a:off x="567000" y="515736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METRO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92"/>
          <p:cNvSpPr/>
          <p:nvPr/>
        </p:nvSpPr>
        <p:spPr>
          <a:xfrm>
            <a:off x="3182040" y="515736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готового рису немає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TextBox 93"/>
          <p:cNvSpPr/>
          <p:nvPr/>
        </p:nvSpPr>
        <p:spPr>
          <a:xfrm>
            <a:off x="7113960" y="515736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9fa9c4"/>
                </a:solidFill>
                <a:latin typeface="Segoe UI"/>
              </a:rPr>
              <a:t>—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TextBox 94"/>
          <p:cNvSpPr/>
          <p:nvPr/>
        </p:nvSpPr>
        <p:spPr>
          <a:xfrm>
            <a:off x="8503920" y="515736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303a5d"/>
                </a:solidFill>
                <a:latin typeface="Segoe UI"/>
              </a:rPr>
              <a:t>—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TextBox 95"/>
          <p:cNvSpPr/>
          <p:nvPr/>
        </p:nvSpPr>
        <p:spPr>
          <a:xfrm>
            <a:off x="8961120" y="515736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—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96"/>
          <p:cNvSpPr/>
          <p:nvPr/>
        </p:nvSpPr>
        <p:spPr>
          <a:xfrm>
            <a:off x="10296000" y="515736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лише крупа 1–10 кг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Rounded Rectangle 97"/>
          <p:cNvSpPr/>
          <p:nvPr/>
        </p:nvSpPr>
        <p:spPr>
          <a:xfrm>
            <a:off x="567000" y="5139000"/>
            <a:ext cx="5412960" cy="10054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3" name="Rectangle 98"/>
          <p:cNvSpPr/>
          <p:nvPr/>
        </p:nvSpPr>
        <p:spPr>
          <a:xfrm>
            <a:off x="567000" y="5139000"/>
            <a:ext cx="40680" cy="100548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4" name="TextBox 99"/>
          <p:cNvSpPr/>
          <p:nvPr/>
        </p:nvSpPr>
        <p:spPr>
          <a:xfrm>
            <a:off x="804600" y="5294520"/>
            <a:ext cx="49557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Box 100"/>
          <p:cNvSpPr/>
          <p:nvPr/>
        </p:nvSpPr>
        <p:spPr>
          <a:xfrm>
            <a:off x="804600" y="5559480"/>
            <a:ext cx="49557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Rounded Rectangle 101"/>
          <p:cNvSpPr/>
          <p:nvPr/>
        </p:nvSpPr>
        <p:spPr>
          <a:xfrm>
            <a:off x="6217920" y="5139000"/>
            <a:ext cx="5412960" cy="10054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7" name="Rectangle 102"/>
          <p:cNvSpPr/>
          <p:nvPr/>
        </p:nvSpPr>
        <p:spPr>
          <a:xfrm>
            <a:off x="6217920" y="5139000"/>
            <a:ext cx="40680" cy="100548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8" name="TextBox 103"/>
          <p:cNvSpPr/>
          <p:nvPr/>
        </p:nvSpPr>
        <p:spPr>
          <a:xfrm>
            <a:off x="6455520" y="5294520"/>
            <a:ext cx="49557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9fa9c4"/>
                </a:solidFill>
                <a:latin typeface="Segoe UI"/>
              </a:rPr>
              <a:t>METRO — НУЛЬ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TextBox 104"/>
          <p:cNvSpPr/>
          <p:nvPr/>
        </p:nvSpPr>
        <p:spPr>
          <a:xfrm>
            <a:off x="6455520" y="5559480"/>
            <a:ext cx="49557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0" name="TextBox 105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2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3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4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525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АЗІЙСЬКІ БРЕНДИ В МЕРЕЖАХ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Ottogi і Bibigo вже на полиці — але тільки з локшиною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Ці бренди продають рис у чашах по 225–356 грн, але завозять у мережі лише локшину й рамен. Полиця під них уже відкрита — рису на ній немає.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9" name="Picture 9" descr="c8_asian_shelf.png"/>
          <p:cNvPicPr/>
          <p:nvPr/>
        </p:nvPicPr>
        <p:blipFill>
          <a:blip r:embed="rId2"/>
          <a:stretch/>
        </p:blipFill>
        <p:spPr>
          <a:xfrm>
            <a:off x="567000" y="1517760"/>
            <a:ext cx="11063880" cy="4061880"/>
          </a:xfrm>
          <a:prstGeom prst="rect">
            <a:avLst/>
          </a:prstGeom>
          <a:ln w="0">
            <a:noFill/>
          </a:ln>
        </p:spPr>
      </p:pic>
      <p:sp>
        <p:nvSpPr>
          <p:cNvPr id="1530" name="Rounded Rectangle 10"/>
          <p:cNvSpPr/>
          <p:nvPr/>
        </p:nvSpPr>
        <p:spPr>
          <a:xfrm>
            <a:off x="567000" y="4773240"/>
            <a:ext cx="3547440" cy="13712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1" name="Rectangle 11"/>
          <p:cNvSpPr/>
          <p:nvPr/>
        </p:nvSpPr>
        <p:spPr>
          <a:xfrm>
            <a:off x="567000" y="4773240"/>
            <a:ext cx="40680" cy="137124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TextBox 12"/>
          <p:cNvSpPr/>
          <p:nvPr/>
        </p:nvSpPr>
        <p:spPr>
          <a:xfrm>
            <a:off x="804600" y="4928760"/>
            <a:ext cx="3090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e9ea6"/>
                </a:solidFill>
                <a:latin typeface="Segoe UI"/>
              </a:rPr>
              <a:t>ВХІД У МЕРЕЖУ ВЖЕ ПРОБИТИЙ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TextBox 13"/>
          <p:cNvSpPr/>
          <p:nvPr/>
        </p:nvSpPr>
        <p:spPr>
          <a:xfrm>
            <a:off x="804600" y="5193720"/>
            <a:ext cx="30902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договір із мережею і місце на полиці під ці бренди вже 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Rounded Rectangle 14"/>
          <p:cNvSpPr/>
          <p:nvPr/>
        </p:nvSpPr>
        <p:spPr>
          <a:xfrm>
            <a:off x="4325040" y="4773240"/>
            <a:ext cx="3547440" cy="13712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5" name="Rectangle 15"/>
          <p:cNvSpPr/>
          <p:nvPr/>
        </p:nvSpPr>
        <p:spPr>
          <a:xfrm>
            <a:off x="4325040" y="4773240"/>
            <a:ext cx="40680" cy="137124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6" name="TextBox 16"/>
          <p:cNvSpPr/>
          <p:nvPr/>
        </p:nvSpPr>
        <p:spPr>
          <a:xfrm>
            <a:off x="4563000" y="4928760"/>
            <a:ext cx="3090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c4820a"/>
                </a:solidFill>
                <a:latin typeface="Segoe UI"/>
              </a:rPr>
              <a:t>НІХТО ПРОСТО НЕ ЗАВІЗ РИС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17"/>
          <p:cNvSpPr/>
          <p:nvPr/>
        </p:nvSpPr>
        <p:spPr>
          <a:xfrm>
            <a:off x="4563000" y="5193720"/>
            <a:ext cx="30902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Rounded Rectangle 18"/>
          <p:cNvSpPr/>
          <p:nvPr/>
        </p:nvSpPr>
        <p:spPr>
          <a:xfrm>
            <a:off x="8083440" y="4773240"/>
            <a:ext cx="3547440" cy="13712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9" name="Rectangle 19"/>
          <p:cNvSpPr/>
          <p:nvPr/>
        </p:nvSpPr>
        <p:spPr>
          <a:xfrm>
            <a:off x="8083440" y="4773240"/>
            <a:ext cx="40680" cy="137124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0" name="TextBox 20"/>
          <p:cNvSpPr/>
          <p:nvPr/>
        </p:nvSpPr>
        <p:spPr>
          <a:xfrm>
            <a:off x="8321040" y="4928760"/>
            <a:ext cx="30902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c94f7c"/>
                </a:solidFill>
                <a:latin typeface="Segoe UI"/>
              </a:rPr>
              <a:t>ВІКНО МОЖЕ БУТИ КОРОТКИМ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TextBox 21"/>
          <p:cNvSpPr/>
          <p:nvPr/>
        </p:nvSpPr>
        <p:spPr>
          <a:xfrm>
            <a:off x="8321040" y="5193720"/>
            <a:ext cx="30902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TextBox 22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6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54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КАНАЛИ ПРОДАЖУ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1" name="Picture 9" descr="c5_channels.png"/>
          <p:cNvPicPr/>
          <p:nvPr/>
        </p:nvPicPr>
        <p:blipFill>
          <a:blip r:embed="rId2"/>
          <a:stretch/>
        </p:blipFill>
        <p:spPr>
          <a:xfrm>
            <a:off x="567000" y="1517760"/>
            <a:ext cx="5028840" cy="1896120"/>
          </a:xfrm>
          <a:prstGeom prst="rect">
            <a:avLst/>
          </a:prstGeom>
          <a:ln w="0">
            <a:noFill/>
          </a:ln>
        </p:spPr>
      </p:pic>
      <p:sp>
        <p:nvSpPr>
          <p:cNvPr id="1552" name="Rounded Rectangle 10"/>
          <p:cNvSpPr/>
          <p:nvPr/>
        </p:nvSpPr>
        <p:spPr>
          <a:xfrm>
            <a:off x="5870520" y="1554480"/>
            <a:ext cx="5760360" cy="9324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3" name="Rectangle 11"/>
          <p:cNvSpPr/>
          <p:nvPr/>
        </p:nvSpPr>
        <p:spPr>
          <a:xfrm>
            <a:off x="5870520" y="1554480"/>
            <a:ext cx="40680" cy="93240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4" name="TextBox 12"/>
          <p:cNvSpPr/>
          <p:nvPr/>
        </p:nvSpPr>
        <p:spPr>
          <a:xfrm>
            <a:off x="6089760" y="166428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Продуктовий роздріб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Rounded Rectangle 13"/>
          <p:cNvSpPr/>
          <p:nvPr/>
        </p:nvSpPr>
        <p:spPr>
          <a:xfrm>
            <a:off x="10012680" y="1682640"/>
            <a:ext cx="923040" cy="18252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TextBox 14"/>
          <p:cNvSpPr/>
          <p:nvPr/>
        </p:nvSpPr>
        <p:spPr>
          <a:xfrm>
            <a:off x="10012680" y="1693440"/>
            <a:ext cx="923040" cy="1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580" spc="-1" strike="noStrike">
                <a:solidFill>
                  <a:srgbClr val="ffffff"/>
                </a:solidFill>
                <a:latin typeface="Segoe UI"/>
              </a:rPr>
              <a:t>ЦІЛЬОВИЙ КАНАЛ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TextBox 15"/>
          <p:cNvSpPr/>
          <p:nvPr/>
        </p:nvSpPr>
        <p:spPr>
          <a:xfrm>
            <a:off x="6089760" y="187452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16"/>
          <p:cNvSpPr/>
          <p:nvPr/>
        </p:nvSpPr>
        <p:spPr>
          <a:xfrm>
            <a:off x="6089760" y="2057400"/>
            <a:ext cx="53946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690" spc="-1" strike="noStrike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TextBox 17"/>
          <p:cNvSpPr/>
          <p:nvPr/>
        </p:nvSpPr>
        <p:spPr>
          <a:xfrm>
            <a:off x="6089760" y="231336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Rounded Rectangle 18"/>
          <p:cNvSpPr/>
          <p:nvPr/>
        </p:nvSpPr>
        <p:spPr>
          <a:xfrm>
            <a:off x="5870520" y="2569320"/>
            <a:ext cx="5760360" cy="9324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Rectangle 19"/>
          <p:cNvSpPr/>
          <p:nvPr/>
        </p:nvSpPr>
        <p:spPr>
          <a:xfrm>
            <a:off x="5870520" y="2569320"/>
            <a:ext cx="40680" cy="93240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2" name="TextBox 20"/>
          <p:cNvSpPr/>
          <p:nvPr/>
        </p:nvSpPr>
        <p:spPr>
          <a:xfrm>
            <a:off x="6089760" y="267912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Онлайн-маркетплейси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Rounded Rectangle 21"/>
          <p:cNvSpPr/>
          <p:nvPr/>
        </p:nvSpPr>
        <p:spPr>
          <a:xfrm>
            <a:off x="10012680" y="2697480"/>
            <a:ext cx="923040" cy="18252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4" name="TextBox 22"/>
          <p:cNvSpPr/>
          <p:nvPr/>
        </p:nvSpPr>
        <p:spPr>
          <a:xfrm>
            <a:off x="10012680" y="2708280"/>
            <a:ext cx="923040" cy="1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580" spc="-1" strike="noStrike">
                <a:solidFill>
                  <a:srgbClr val="ffffff"/>
                </a:solidFill>
                <a:latin typeface="Segoe UI"/>
              </a:rPr>
              <a:t>ЦІЛЬОВИЙ КАНАЛ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TextBox 23"/>
          <p:cNvSpPr/>
          <p:nvPr/>
        </p:nvSpPr>
        <p:spPr>
          <a:xfrm>
            <a:off x="6089760" y="288936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TextBox 24"/>
          <p:cNvSpPr/>
          <p:nvPr/>
        </p:nvSpPr>
        <p:spPr>
          <a:xfrm>
            <a:off x="6089760" y="3072240"/>
            <a:ext cx="53946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690" spc="-1" strike="noStrike">
                <a:solidFill>
                  <a:srgbClr val="303a5d"/>
                </a:solidFill>
                <a:latin typeface="Segoe UI"/>
              </a:rPr>
              <a:t>MAUDAU · Rozetka · Prom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Box 25"/>
          <p:cNvSpPr/>
          <p:nvPr/>
        </p:nvSpPr>
        <p:spPr>
          <a:xfrm>
            <a:off x="6089760" y="332856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Rounded Rectangle 26"/>
          <p:cNvSpPr/>
          <p:nvPr/>
        </p:nvSpPr>
        <p:spPr>
          <a:xfrm>
            <a:off x="5870520" y="3584520"/>
            <a:ext cx="5760360" cy="12798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Rectangle 27"/>
          <p:cNvSpPr/>
          <p:nvPr/>
        </p:nvSpPr>
        <p:spPr>
          <a:xfrm>
            <a:off x="5870520" y="3584520"/>
            <a:ext cx="40680" cy="12798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TextBox 28"/>
          <p:cNvSpPr/>
          <p:nvPr/>
        </p:nvSpPr>
        <p:spPr>
          <a:xfrm>
            <a:off x="6089760" y="369432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Rounded Rectangle 29"/>
          <p:cNvSpPr/>
          <p:nvPr/>
        </p:nvSpPr>
        <p:spPr>
          <a:xfrm>
            <a:off x="10012680" y="3712320"/>
            <a:ext cx="1275120" cy="18252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2" name="TextBox 30"/>
          <p:cNvSpPr/>
          <p:nvPr/>
        </p:nvSpPr>
        <p:spPr>
          <a:xfrm>
            <a:off x="10012680" y="3723480"/>
            <a:ext cx="1275120" cy="1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580" spc="-1" strike="noStrike">
                <a:solidFill>
                  <a:srgbClr val="ffffff"/>
                </a:solidFill>
                <a:latin typeface="Segoe UI"/>
              </a:rPr>
              <a:t>ЦІЛЬОВИЙ КАНАЛ · ВХІД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TextBox 31"/>
          <p:cNvSpPr/>
          <p:nvPr/>
        </p:nvSpPr>
        <p:spPr>
          <a:xfrm>
            <a:off x="6089760" y="390456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TextBox 32"/>
          <p:cNvSpPr/>
          <p:nvPr/>
        </p:nvSpPr>
        <p:spPr>
          <a:xfrm>
            <a:off x="6089760" y="4087440"/>
            <a:ext cx="539460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690" spc="-1" strike="noStrike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TextBox 33"/>
          <p:cNvSpPr/>
          <p:nvPr/>
        </p:nvSpPr>
        <p:spPr>
          <a:xfrm>
            <a:off x="6089760" y="469080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Rounded Rectangle 34"/>
          <p:cNvSpPr/>
          <p:nvPr/>
        </p:nvSpPr>
        <p:spPr>
          <a:xfrm>
            <a:off x="5870520" y="4946760"/>
            <a:ext cx="5760360" cy="11336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7" name="Rectangle 35"/>
          <p:cNvSpPr/>
          <p:nvPr/>
        </p:nvSpPr>
        <p:spPr>
          <a:xfrm>
            <a:off x="5870520" y="4946760"/>
            <a:ext cx="40680" cy="113364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8" name="TextBox 36"/>
          <p:cNvSpPr/>
          <p:nvPr/>
        </p:nvSpPr>
        <p:spPr>
          <a:xfrm>
            <a:off x="6089760" y="505656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1c2235"/>
                </a:solidFill>
                <a:latin typeface="Segoe UI"/>
              </a:rPr>
              <a:t>Outdoor- і мілітарі-рітейл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Rounded Rectangle 37"/>
          <p:cNvSpPr/>
          <p:nvPr/>
        </p:nvSpPr>
        <p:spPr>
          <a:xfrm>
            <a:off x="10012680" y="5074920"/>
            <a:ext cx="973440" cy="18252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TextBox 38"/>
          <p:cNvSpPr/>
          <p:nvPr/>
        </p:nvSpPr>
        <p:spPr>
          <a:xfrm>
            <a:off x="10012680" y="5085720"/>
            <a:ext cx="973440" cy="1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580" spc="-1" strike="noStrike">
                <a:solidFill>
                  <a:srgbClr val="ffffff"/>
                </a:solidFill>
                <a:latin typeface="Segoe UI"/>
              </a:rPr>
              <a:t>НЕ НАШ ПОКУПЕЦЬ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TextBox 39"/>
          <p:cNvSpPr/>
          <p:nvPr/>
        </p:nvSpPr>
        <p:spPr>
          <a:xfrm>
            <a:off x="6089760" y="526680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TextBox 40"/>
          <p:cNvSpPr/>
          <p:nvPr/>
        </p:nvSpPr>
        <p:spPr>
          <a:xfrm>
            <a:off x="6089760" y="5449680"/>
            <a:ext cx="53946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690" spc="-1" strike="noStrike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TextBox 41"/>
          <p:cNvSpPr/>
          <p:nvPr/>
        </p:nvSpPr>
        <p:spPr>
          <a:xfrm>
            <a:off x="6089760" y="590688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40" spc="-1" strike="noStrike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Rounded Rectangle 42"/>
          <p:cNvSpPr/>
          <p:nvPr/>
        </p:nvSpPr>
        <p:spPr>
          <a:xfrm>
            <a:off x="567000" y="3931920"/>
            <a:ext cx="5028840" cy="21484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5" name="Rectangle 43"/>
          <p:cNvSpPr/>
          <p:nvPr/>
        </p:nvSpPr>
        <p:spPr>
          <a:xfrm>
            <a:off x="567000" y="3931920"/>
            <a:ext cx="40680" cy="214848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6" name="TextBox 44"/>
          <p:cNvSpPr/>
          <p:nvPr/>
        </p:nvSpPr>
        <p:spPr>
          <a:xfrm>
            <a:off x="804600" y="4087440"/>
            <a:ext cx="45716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TextBox 45"/>
          <p:cNvSpPr/>
          <p:nvPr/>
        </p:nvSpPr>
        <p:spPr>
          <a:xfrm>
            <a:off x="804600" y="4352400"/>
            <a:ext cx="4571640" cy="105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Саме тому 30 із 84 позицій категорії — сублімат у дойпаку. Він домінує за кількістю SKU й не конкурує з нами за привід споживання.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Наш вхід — 20 азійських фудшопів: там уже стоять Ottogi і Henan, прямі конкуренти нашого стакана, і там покупець знає категорію.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TextBox 46"/>
          <p:cNvSpPr/>
          <p:nvPr/>
        </p:nvSpPr>
        <p:spPr>
          <a:xfrm>
            <a:off x="567000" y="6181200"/>
            <a:ext cx="110638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f9a50b"/>
                </a:solidFill>
                <a:latin typeface="Segoe UI"/>
              </a:rPr>
              <a:t>ЯК РАХУВАЛИ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TextBox 47"/>
          <p:cNvSpPr/>
          <p:nvPr/>
        </p:nvSpPr>
        <p:spPr>
          <a:xfrm>
            <a:off x="567000" y="6364080"/>
            <a:ext cx="1106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640" spc="-1" strike="noStrike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1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3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594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ГОЛОВНЕ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Rounded Rectangle 9"/>
          <p:cNvSpPr/>
          <p:nvPr/>
        </p:nvSpPr>
        <p:spPr>
          <a:xfrm>
            <a:off x="567000" y="157284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9" name="TextBox 10"/>
          <p:cNvSpPr/>
          <p:nvPr/>
        </p:nvSpPr>
        <p:spPr>
          <a:xfrm>
            <a:off x="768240" y="172836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НАША НАЙДЕШЕВША ПОЛИЦЯ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TextBox 11"/>
          <p:cNvSpPr/>
          <p:nvPr/>
        </p:nvSpPr>
        <p:spPr>
          <a:xfrm>
            <a:off x="768240" y="193860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c4820a"/>
                </a:solidFill>
                <a:latin typeface="Segoe UI"/>
              </a:rPr>
              <a:t>133 грн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12"/>
          <p:cNvSpPr/>
          <p:nvPr/>
        </p:nvSpPr>
        <p:spPr>
          <a:xfrm>
            <a:off x="768240" y="241416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BSCM пауч 150 г.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Медіана пауча — 109 грн.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Rounded Rectangle 13"/>
          <p:cNvSpPr/>
          <p:nvPr/>
        </p:nvSpPr>
        <p:spPr>
          <a:xfrm>
            <a:off x="4251960" y="157284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3" name="TextBox 14"/>
          <p:cNvSpPr/>
          <p:nvPr/>
        </p:nvSpPr>
        <p:spPr>
          <a:xfrm>
            <a:off x="4453200" y="172836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РОЗРИВ ДО МЕДІАНИ ПАУЧА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TextBox 15"/>
          <p:cNvSpPr/>
          <p:nvPr/>
        </p:nvSpPr>
        <p:spPr>
          <a:xfrm>
            <a:off x="4453200" y="193860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c94f7c"/>
                </a:solidFill>
                <a:latin typeface="Segoe UI"/>
              </a:rPr>
              <a:t>+22 %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16"/>
          <p:cNvSpPr/>
          <p:nvPr/>
        </p:nvSpPr>
        <p:spPr>
          <a:xfrm>
            <a:off x="4453200" y="241416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Дешевше за нас у мережі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не буде без зміни FOB.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Rounded Rectangle 17"/>
          <p:cNvSpPr/>
          <p:nvPr/>
        </p:nvSpPr>
        <p:spPr>
          <a:xfrm>
            <a:off x="7936920" y="157284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7" name="TextBox 18"/>
          <p:cNvSpPr/>
          <p:nvPr/>
        </p:nvSpPr>
        <p:spPr>
          <a:xfrm>
            <a:off x="8138160" y="172836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НАШ НАЙКРАЩИЙ ФОРМАТ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19"/>
          <p:cNvSpPr/>
          <p:nvPr/>
        </p:nvSpPr>
        <p:spPr>
          <a:xfrm>
            <a:off x="8138160" y="193860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1e9ea6"/>
                </a:solidFill>
                <a:latin typeface="Segoe UI"/>
              </a:rPr>
              <a:t>стакан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TextBox 20"/>
          <p:cNvSpPr/>
          <p:nvPr/>
        </p:nvSpPr>
        <p:spPr>
          <a:xfrm>
            <a:off x="8138160" y="241416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BSCM 150 г — 139 грн проти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Ottogi 225–356 грн.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Rounded Rectangle 21"/>
          <p:cNvSpPr/>
          <p:nvPr/>
        </p:nvSpPr>
        <p:spPr>
          <a:xfrm>
            <a:off x="567000" y="290772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1" name="TextBox 22"/>
          <p:cNvSpPr/>
          <p:nvPr/>
        </p:nvSpPr>
        <p:spPr>
          <a:xfrm>
            <a:off x="768240" y="306324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ПОТЕНЦІАЛ 40′ FCL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TextBox 23"/>
          <p:cNvSpPr/>
          <p:nvPr/>
        </p:nvSpPr>
        <p:spPr>
          <a:xfrm>
            <a:off x="768240" y="327348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37a169"/>
                </a:solidFill>
                <a:latin typeface="Segoe UI"/>
              </a:rPr>
              <a:t>−</a:t>
            </a:r>
            <a:r>
              <a:rPr b="1" lang="en-US" sz="2100" spc="-1" strike="noStrike">
                <a:solidFill>
                  <a:srgbClr val="37a169"/>
                </a:solidFill>
                <a:latin typeface="Segoe UI"/>
              </a:rPr>
              <a:t>12 %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TextBox 24"/>
          <p:cNvSpPr/>
          <p:nvPr/>
        </p:nvSpPr>
        <p:spPr>
          <a:xfrm>
            <a:off x="768240" y="374904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Собівартість і полиця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падають лише від логістики.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Rounded Rectangle 25"/>
          <p:cNvSpPr/>
          <p:nvPr/>
        </p:nvSpPr>
        <p:spPr>
          <a:xfrm>
            <a:off x="4251960" y="290772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5" name="TextBox 26"/>
          <p:cNvSpPr/>
          <p:nvPr/>
        </p:nvSpPr>
        <p:spPr>
          <a:xfrm>
            <a:off x="4453200" y="306324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SKU ПОЗА РИНКОМ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Box 27"/>
          <p:cNvSpPr/>
          <p:nvPr/>
        </p:nvSpPr>
        <p:spPr>
          <a:xfrm>
            <a:off x="4453200" y="327348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5d4b96"/>
                </a:solidFill>
                <a:latin typeface="Segoe UI"/>
              </a:rPr>
              <a:t>2 з 7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Box 28"/>
          <p:cNvSpPr/>
          <p:nvPr/>
        </p:nvSpPr>
        <p:spPr>
          <a:xfrm>
            <a:off x="4453200" y="374904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ONE'S Fried Rice 332 грн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і подвійний стакан 219 грн.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Rounded Rectangle 29"/>
          <p:cNvSpPr/>
          <p:nvPr/>
        </p:nvSpPr>
        <p:spPr>
          <a:xfrm>
            <a:off x="7936920" y="2907720"/>
            <a:ext cx="3456000" cy="11516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9" name="TextBox 30"/>
          <p:cNvSpPr/>
          <p:nvPr/>
        </p:nvSpPr>
        <p:spPr>
          <a:xfrm>
            <a:off x="8138160" y="3063240"/>
            <a:ext cx="30902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717890"/>
                </a:solidFill>
                <a:latin typeface="Segoe UI"/>
              </a:rPr>
              <a:t>ЦІЛЬОВА ПОЛИЦЯ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TextBox 31"/>
          <p:cNvSpPr/>
          <p:nvPr/>
        </p:nvSpPr>
        <p:spPr>
          <a:xfrm>
            <a:off x="8138160" y="3273480"/>
            <a:ext cx="30902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100" spc="-1" strike="noStrike">
                <a:solidFill>
                  <a:srgbClr val="f9a50b"/>
                </a:solidFill>
                <a:latin typeface="Segoe UI"/>
              </a:rPr>
              <a:t>129 грн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TextBox 32"/>
          <p:cNvSpPr/>
          <p:nvPr/>
        </p:nvSpPr>
        <p:spPr>
          <a:xfrm>
            <a:off x="8138160" y="3749040"/>
            <a:ext cx="309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Стакан BSCM 150 г.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Потрібен FOB $0,480.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Rounded Rectangle 33"/>
          <p:cNvSpPr/>
          <p:nvPr/>
        </p:nvSpPr>
        <p:spPr>
          <a:xfrm>
            <a:off x="567000" y="4389120"/>
            <a:ext cx="5412960" cy="17827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3" name="Rectangle 34"/>
          <p:cNvSpPr/>
          <p:nvPr/>
        </p:nvSpPr>
        <p:spPr>
          <a:xfrm>
            <a:off x="567000" y="4389120"/>
            <a:ext cx="40680" cy="178272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4" name="TextBox 35"/>
          <p:cNvSpPr/>
          <p:nvPr/>
        </p:nvSpPr>
        <p:spPr>
          <a:xfrm>
            <a:off x="804600" y="4544640"/>
            <a:ext cx="49557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9a50b"/>
                </a:solidFill>
                <a:latin typeface="Segoe UI"/>
              </a:rPr>
              <a:t>ЩО РОБИТИ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TextBox 36"/>
          <p:cNvSpPr/>
          <p:nvPr/>
        </p:nvSpPr>
        <p:spPr>
          <a:xfrm>
            <a:off x="804600" y="4809600"/>
            <a:ext cx="49557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2. Пауч 240 г у мережу не заходить проти Ben's Original без FOB ≤ $0,405.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3. ONE'S Fried Rice 200 г — перерахувати або зняти: 332 грн проти Ottogi 255 грн.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Rounded Rectangle 37"/>
          <p:cNvSpPr/>
          <p:nvPr/>
        </p:nvSpPr>
        <p:spPr>
          <a:xfrm>
            <a:off x="6217920" y="4389120"/>
            <a:ext cx="5412960" cy="178272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7" name="Rectangle 38"/>
          <p:cNvSpPr/>
          <p:nvPr/>
        </p:nvSpPr>
        <p:spPr>
          <a:xfrm>
            <a:off x="6217920" y="4389120"/>
            <a:ext cx="40680" cy="178272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8" name="TextBox 39"/>
          <p:cNvSpPr/>
          <p:nvPr/>
        </p:nvSpPr>
        <p:spPr>
          <a:xfrm>
            <a:off x="6455520" y="4544640"/>
            <a:ext cx="49557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TextBox 40"/>
          <p:cNvSpPr/>
          <p:nvPr/>
        </p:nvSpPr>
        <p:spPr>
          <a:xfrm>
            <a:off x="6455520" y="4809600"/>
            <a:ext cx="4955760" cy="52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2. Ринкові ціни — роздріб за одну упаковку в 64 точках продажу, зріз 22–23.09.2026.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3. Азійський стакан — єдиний наш формат, що входить дешевше за діючого лідера ніші.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41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2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3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4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635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ЦІНА ЗА УПАКОВКУ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39" name="Picture 9" descr="c3_pack.png"/>
          <p:cNvPicPr/>
          <p:nvPr/>
        </p:nvPicPr>
        <p:blipFill>
          <a:blip r:embed="rId2"/>
          <a:stretch/>
        </p:blipFill>
        <p:spPr>
          <a:xfrm>
            <a:off x="1417320" y="1463040"/>
            <a:ext cx="9372240" cy="4415040"/>
          </a:xfrm>
          <a:prstGeom prst="rect">
            <a:avLst/>
          </a:prstGeom>
          <a:ln w="0">
            <a:noFill/>
          </a:ln>
        </p:spPr>
      </p:pic>
      <p:sp>
        <p:nvSpPr>
          <p:cNvPr id="1640" name="Rounded Rectangle 10"/>
          <p:cNvSpPr/>
          <p:nvPr/>
        </p:nvSpPr>
        <p:spPr>
          <a:xfrm>
            <a:off x="567000" y="5669280"/>
            <a:ext cx="3538440" cy="4568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1" name="Rectangle 11"/>
          <p:cNvSpPr/>
          <p:nvPr/>
        </p:nvSpPr>
        <p:spPr>
          <a:xfrm>
            <a:off x="567000" y="5669280"/>
            <a:ext cx="40680" cy="45684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86240" y="5751720"/>
            <a:ext cx="32000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37a169"/>
                </a:solidFill>
                <a:latin typeface="Segoe UI"/>
              </a:rPr>
              <a:t>МИ В ВІКНІ ПОЛИЦІ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86240" y="5916240"/>
            <a:ext cx="32000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6 із 7 наших груп потрапляють у 45–180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Rounded Rectangle 14"/>
          <p:cNvSpPr/>
          <p:nvPr/>
        </p:nvSpPr>
        <p:spPr>
          <a:xfrm>
            <a:off x="4334400" y="5669280"/>
            <a:ext cx="3538440" cy="4568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5" name="Rectangle 15"/>
          <p:cNvSpPr/>
          <p:nvPr/>
        </p:nvSpPr>
        <p:spPr>
          <a:xfrm>
            <a:off x="4334400" y="5669280"/>
            <a:ext cx="40680" cy="45684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4553640" y="5751720"/>
            <a:ext cx="32000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c94f7c"/>
                </a:solidFill>
                <a:latin typeface="Segoe UI"/>
              </a:rPr>
              <a:t>АЛЕ НЕ В ЙОГО НИЗУ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4553640" y="5916240"/>
            <a:ext cx="32000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наш мінімум 133 грн проти медіани пауча 109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Rounded Rectangle 18"/>
          <p:cNvSpPr/>
          <p:nvPr/>
        </p:nvSpPr>
        <p:spPr>
          <a:xfrm>
            <a:off x="8101440" y="5669280"/>
            <a:ext cx="3538440" cy="4568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9" name="Rectangle 19"/>
          <p:cNvSpPr/>
          <p:nvPr/>
        </p:nvSpPr>
        <p:spPr>
          <a:xfrm>
            <a:off x="8101440" y="5669280"/>
            <a:ext cx="40680" cy="45684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0" name="TextBox 20"/>
          <p:cNvSpPr/>
          <p:nvPr/>
        </p:nvSpPr>
        <p:spPr>
          <a:xfrm>
            <a:off x="8321040" y="5751720"/>
            <a:ext cx="320004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5d4b96"/>
                </a:solidFill>
                <a:latin typeface="Segoe UI"/>
              </a:rPr>
              <a:t>ДВІ ГРУПИ ВИПАЛИ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TextBox 21"/>
          <p:cNvSpPr/>
          <p:nvPr/>
        </p:nvSpPr>
        <p:spPr>
          <a:xfrm>
            <a:off x="8321040" y="5916240"/>
            <a:ext cx="32000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подвійний стакан 219 грн і ONE'S 332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6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65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ФІНМОДЕЛЬ ПРОТИ РИНКУ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27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1" name="Picture 9" descr="c4_fob.png"/>
          <p:cNvPicPr/>
          <p:nvPr/>
        </p:nvPicPr>
        <p:blipFill>
          <a:blip r:embed="rId2"/>
          <a:stretch/>
        </p:blipFill>
        <p:spPr>
          <a:xfrm>
            <a:off x="1188720" y="1463040"/>
            <a:ext cx="9783720" cy="3429360"/>
          </a:xfrm>
          <a:prstGeom prst="rect">
            <a:avLst/>
          </a:prstGeom>
          <a:ln w="0">
            <a:noFill/>
          </a:ln>
        </p:spPr>
      </p:pic>
      <p:sp>
        <p:nvSpPr>
          <p:cNvPr id="1662" name="TextBox 10"/>
          <p:cNvSpPr/>
          <p:nvPr/>
        </p:nvSpPr>
        <p:spPr>
          <a:xfrm>
            <a:off x="567000" y="5541120"/>
            <a:ext cx="49374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9a50b"/>
                </a:solidFill>
                <a:latin typeface="Segoe UI"/>
              </a:rPr>
              <a:t>ЯКИЙ FOB ПОТРІБЕН ПІД ЦІЛЬОВУ ПОЛИЦЮ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Rounded Rectangle 11"/>
          <p:cNvSpPr/>
          <p:nvPr/>
        </p:nvSpPr>
        <p:spPr>
          <a:xfrm>
            <a:off x="567000" y="5742360"/>
            <a:ext cx="2102760" cy="4021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4" name="TextBox 12"/>
          <p:cNvSpPr/>
          <p:nvPr/>
        </p:nvSpPr>
        <p:spPr>
          <a:xfrm>
            <a:off x="713160" y="5797440"/>
            <a:ext cx="1828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МЕДІАНА ПАУЧА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TextBox 13"/>
          <p:cNvSpPr/>
          <p:nvPr/>
        </p:nvSpPr>
        <p:spPr>
          <a:xfrm>
            <a:off x="713160" y="594360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109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Box 14"/>
          <p:cNvSpPr/>
          <p:nvPr/>
        </p:nvSpPr>
        <p:spPr>
          <a:xfrm>
            <a:off x="1700640" y="5934600"/>
            <a:ext cx="8226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1c2235"/>
                </a:solidFill>
                <a:latin typeface="Segoe UI"/>
              </a:rPr>
              <a:t>$0,405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Rounded Rectangle 15"/>
          <p:cNvSpPr/>
          <p:nvPr/>
        </p:nvSpPr>
        <p:spPr>
          <a:xfrm>
            <a:off x="2779920" y="5742360"/>
            <a:ext cx="2102760" cy="4021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8" name="TextBox 16"/>
          <p:cNvSpPr/>
          <p:nvPr/>
        </p:nvSpPr>
        <p:spPr>
          <a:xfrm>
            <a:off x="2926080" y="5797440"/>
            <a:ext cx="1828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BEN'S МЕДІАНА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TextBox 17"/>
          <p:cNvSpPr/>
          <p:nvPr/>
        </p:nvSpPr>
        <p:spPr>
          <a:xfrm>
            <a:off x="2926080" y="594360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98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TextBox 18"/>
          <p:cNvSpPr/>
          <p:nvPr/>
        </p:nvSpPr>
        <p:spPr>
          <a:xfrm>
            <a:off x="3913560" y="5934600"/>
            <a:ext cx="8226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1c2235"/>
                </a:solidFill>
                <a:latin typeface="Segoe UI"/>
              </a:rPr>
              <a:t>$0,366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Rounded Rectangle 19"/>
          <p:cNvSpPr/>
          <p:nvPr/>
        </p:nvSpPr>
        <p:spPr>
          <a:xfrm>
            <a:off x="4992480" y="5742360"/>
            <a:ext cx="2102760" cy="4021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2" name="TextBox 20"/>
          <p:cNvSpPr/>
          <p:nvPr/>
        </p:nvSpPr>
        <p:spPr>
          <a:xfrm>
            <a:off x="5139000" y="5797440"/>
            <a:ext cx="1828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ПОЛИЦЯ 129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TextBox 21"/>
          <p:cNvSpPr/>
          <p:nvPr/>
        </p:nvSpPr>
        <p:spPr>
          <a:xfrm>
            <a:off x="5139000" y="594360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129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Box 22"/>
          <p:cNvSpPr/>
          <p:nvPr/>
        </p:nvSpPr>
        <p:spPr>
          <a:xfrm>
            <a:off x="6126480" y="5934600"/>
            <a:ext cx="8226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1c2235"/>
                </a:solidFill>
                <a:latin typeface="Segoe UI"/>
              </a:rPr>
              <a:t>$0,480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Rounded Rectangle 23"/>
          <p:cNvSpPr/>
          <p:nvPr/>
        </p:nvSpPr>
        <p:spPr>
          <a:xfrm>
            <a:off x="7205400" y="5742360"/>
            <a:ext cx="2102760" cy="4021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6" name="TextBox 24"/>
          <p:cNvSpPr/>
          <p:nvPr/>
        </p:nvSpPr>
        <p:spPr>
          <a:xfrm>
            <a:off x="7351920" y="5797440"/>
            <a:ext cx="1828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ПАРИТЕТ BIBIGO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7" name="TextBox 25"/>
          <p:cNvSpPr/>
          <p:nvPr/>
        </p:nvSpPr>
        <p:spPr>
          <a:xfrm>
            <a:off x="7351920" y="594360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162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8" name="TextBox 26"/>
          <p:cNvSpPr/>
          <p:nvPr/>
        </p:nvSpPr>
        <p:spPr>
          <a:xfrm>
            <a:off x="8339400" y="5934600"/>
            <a:ext cx="8226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1c2235"/>
                </a:solidFill>
                <a:latin typeface="Segoe UI"/>
              </a:rPr>
              <a:t>$0,602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Rounded Rectangle 27"/>
          <p:cNvSpPr/>
          <p:nvPr/>
        </p:nvSpPr>
        <p:spPr>
          <a:xfrm>
            <a:off x="9418320" y="5742360"/>
            <a:ext cx="2102760" cy="4021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0" name="TextBox 28"/>
          <p:cNvSpPr/>
          <p:nvPr/>
        </p:nvSpPr>
        <p:spPr>
          <a:xfrm>
            <a:off x="9564480" y="5797440"/>
            <a:ext cx="1828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OTTOGI −22 %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TextBox 29"/>
          <p:cNvSpPr/>
          <p:nvPr/>
        </p:nvSpPr>
        <p:spPr>
          <a:xfrm>
            <a:off x="9564480" y="5943600"/>
            <a:ext cx="91404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199 грн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TextBox 30"/>
          <p:cNvSpPr/>
          <p:nvPr/>
        </p:nvSpPr>
        <p:spPr>
          <a:xfrm>
            <a:off x="10552320" y="5934600"/>
            <a:ext cx="822600" cy="15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00" spc="-1" strike="noStrike">
                <a:solidFill>
                  <a:srgbClr val="1c2235"/>
                </a:solidFill>
                <a:latin typeface="Segoe UI"/>
              </a:rPr>
              <a:t>$0,740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TextBox 31"/>
          <p:cNvSpPr/>
          <p:nvPr/>
        </p:nvSpPr>
        <p:spPr>
          <a:xfrm>
            <a:off x="567000" y="6236280"/>
            <a:ext cx="110638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9a50b"/>
                </a:solidFill>
                <a:latin typeface="Segoe UI"/>
              </a:rPr>
              <a:t>полиця = FOB × 268,9 (20′ FCL)   ·   × 241,1 (40′ FCL)   ·   кожні $0,10 зниження FOB знімають 27 грн з полиці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TextBox 32"/>
          <p:cNvSpPr/>
          <p:nvPr/>
        </p:nvSpPr>
        <p:spPr>
          <a:xfrm>
            <a:off x="567000" y="6355080"/>
            <a:ext cx="110638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6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7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88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689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РЕКОМЕНДАЦІЯ · ФОРМАТ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28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Rounded Rectangle 9"/>
          <p:cNvSpPr/>
          <p:nvPr/>
        </p:nvSpPr>
        <p:spPr>
          <a:xfrm>
            <a:off x="567000" y="1517760"/>
            <a:ext cx="3538440" cy="461736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4" name="Rectangle 10"/>
          <p:cNvSpPr/>
          <p:nvPr/>
        </p:nvSpPr>
        <p:spPr>
          <a:xfrm>
            <a:off x="567000" y="1517760"/>
            <a:ext cx="3538440" cy="2739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5" name="TextBox 11"/>
          <p:cNvSpPr/>
          <p:nvPr/>
        </p:nvSpPr>
        <p:spPr>
          <a:xfrm>
            <a:off x="567000" y="1568160"/>
            <a:ext cx="35384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РЕКОМЕНДУЄМО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TextBox 12"/>
          <p:cNvSpPr/>
          <p:nvPr/>
        </p:nvSpPr>
        <p:spPr>
          <a:xfrm>
            <a:off x="786240" y="1938600"/>
            <a:ext cx="309960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100" spc="-1" strike="noStrike">
                <a:solidFill>
                  <a:srgbClr val="1c2235"/>
                </a:solidFill>
                <a:latin typeface="Segoe UI"/>
              </a:rPr>
              <a:t>BSCM · СТАКАН 150 Г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TextBox 13"/>
          <p:cNvSpPr/>
          <p:nvPr/>
        </p:nvSpPr>
        <p:spPr>
          <a:xfrm>
            <a:off x="786240" y="2249280"/>
            <a:ext cx="146268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1e9ea6"/>
                </a:solidFill>
                <a:latin typeface="Segoe UI"/>
              </a:rPr>
              <a:t>139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TextBox 14"/>
          <p:cNvSpPr/>
          <p:nvPr/>
        </p:nvSpPr>
        <p:spPr>
          <a:xfrm>
            <a:off x="786240" y="2578680"/>
            <a:ext cx="309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полиця за фінмоделлю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15"/>
          <p:cNvSpPr/>
          <p:nvPr/>
        </p:nvSpPr>
        <p:spPr>
          <a:xfrm>
            <a:off x="786240" y="288936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1e9ea6"/>
                </a:solidFill>
                <a:latin typeface="Segoe UI"/>
              </a:rPr>
              <a:t>ПРЯМИЙ КОНКУРЕНТ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TextBox 16"/>
          <p:cNvSpPr/>
          <p:nvPr/>
        </p:nvSpPr>
        <p:spPr>
          <a:xfrm>
            <a:off x="786240" y="304488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TextBox 17"/>
          <p:cNvSpPr/>
          <p:nvPr/>
        </p:nvSpPr>
        <p:spPr>
          <a:xfrm>
            <a:off x="786240" y="354780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1e9ea6"/>
                </a:solidFill>
                <a:latin typeface="Segoe UI"/>
              </a:rPr>
              <a:t>НАША ПЕРЕВАГА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TextBox 18"/>
          <p:cNvSpPr/>
          <p:nvPr/>
        </p:nvSpPr>
        <p:spPr>
          <a:xfrm>
            <a:off x="786240" y="370332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−</a:t>
            </a: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45 % до медіани Ottogi (255 грн)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TextBox 19"/>
          <p:cNvSpPr/>
          <p:nvPr/>
        </p:nvSpPr>
        <p:spPr>
          <a:xfrm>
            <a:off x="786240" y="420624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1e9ea6"/>
                </a:solidFill>
                <a:latin typeface="Segoe UI"/>
              </a:rPr>
              <a:t>КАНАЛ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TextBox 20"/>
          <p:cNvSpPr/>
          <p:nvPr/>
        </p:nvSpPr>
        <p:spPr>
          <a:xfrm>
            <a:off x="786240" y="436176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TextBox 21"/>
          <p:cNvSpPr/>
          <p:nvPr/>
        </p:nvSpPr>
        <p:spPr>
          <a:xfrm>
            <a:off x="786240" y="486468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1e9ea6"/>
                </a:solidFill>
                <a:latin typeface="Segoe UI"/>
              </a:rPr>
              <a:t>РИЗИК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TextBox 22"/>
          <p:cNvSpPr/>
          <p:nvPr/>
        </p:nvSpPr>
        <p:spPr>
          <a:xfrm>
            <a:off x="786240" y="5020200"/>
            <a:ext cx="3099600" cy="2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Rectangle 23"/>
          <p:cNvSpPr/>
          <p:nvPr/>
        </p:nvSpPr>
        <p:spPr>
          <a:xfrm>
            <a:off x="786240" y="5541120"/>
            <a:ext cx="309960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8" name="TextBox 24"/>
          <p:cNvSpPr/>
          <p:nvPr/>
        </p:nvSpPr>
        <p:spPr>
          <a:xfrm>
            <a:off x="786240" y="5641920"/>
            <a:ext cx="3099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Rounded Rectangle 25"/>
          <p:cNvSpPr/>
          <p:nvPr/>
        </p:nvSpPr>
        <p:spPr>
          <a:xfrm>
            <a:off x="4334400" y="1517760"/>
            <a:ext cx="3538440" cy="46173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0" name="Rectangle 26"/>
          <p:cNvSpPr/>
          <p:nvPr/>
        </p:nvSpPr>
        <p:spPr>
          <a:xfrm>
            <a:off x="4334400" y="1517760"/>
            <a:ext cx="3538440" cy="27396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1" name="TextBox 27"/>
          <p:cNvSpPr/>
          <p:nvPr/>
        </p:nvSpPr>
        <p:spPr>
          <a:xfrm>
            <a:off x="4334400" y="1568160"/>
            <a:ext cx="35384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ДРУГИЙ ПРІОРИТЕТ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TextBox 28"/>
          <p:cNvSpPr/>
          <p:nvPr/>
        </p:nvSpPr>
        <p:spPr>
          <a:xfrm>
            <a:off x="4553640" y="1938600"/>
            <a:ext cx="309960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100" spc="-1" strike="noStrike">
                <a:solidFill>
                  <a:srgbClr val="1c2235"/>
                </a:solidFill>
                <a:latin typeface="Segoe UI"/>
              </a:rPr>
              <a:t>ONE'S · ЛОТОК 210 Г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29"/>
          <p:cNvSpPr/>
          <p:nvPr/>
        </p:nvSpPr>
        <p:spPr>
          <a:xfrm>
            <a:off x="4553640" y="2249280"/>
            <a:ext cx="146268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5d4b96"/>
                </a:solidFill>
                <a:latin typeface="Segoe UI"/>
              </a:rPr>
              <a:t>153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TextBox 30"/>
          <p:cNvSpPr/>
          <p:nvPr/>
        </p:nvSpPr>
        <p:spPr>
          <a:xfrm>
            <a:off x="4553640" y="2578680"/>
            <a:ext cx="309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полиця за фінмоделлю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TextBox 31"/>
          <p:cNvSpPr/>
          <p:nvPr/>
        </p:nvSpPr>
        <p:spPr>
          <a:xfrm>
            <a:off x="4553640" y="288936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5d4b96"/>
                </a:solidFill>
                <a:latin typeface="Segoe UI"/>
              </a:rPr>
              <a:t>ПРЯМИЙ КОНКУРЕНТ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TextBox 32"/>
          <p:cNvSpPr/>
          <p:nvPr/>
        </p:nvSpPr>
        <p:spPr>
          <a:xfrm>
            <a:off x="4553640" y="304488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Bibigo 210 г · 135–189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TextBox 33"/>
          <p:cNvSpPr/>
          <p:nvPr/>
        </p:nvSpPr>
        <p:spPr>
          <a:xfrm>
            <a:off x="4553640" y="354780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5d4b96"/>
                </a:solidFill>
                <a:latin typeface="Segoe UI"/>
              </a:rPr>
              <a:t>НАША ПЕРЕВАГА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TextBox 34"/>
          <p:cNvSpPr/>
          <p:nvPr/>
        </p:nvSpPr>
        <p:spPr>
          <a:xfrm>
            <a:off x="4553640" y="370332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TextBox 35"/>
          <p:cNvSpPr/>
          <p:nvPr/>
        </p:nvSpPr>
        <p:spPr>
          <a:xfrm>
            <a:off x="4553640" y="420624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5d4b96"/>
                </a:solidFill>
                <a:latin typeface="Segoe UI"/>
              </a:rPr>
              <a:t>КАНАЛ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TextBox 36"/>
          <p:cNvSpPr/>
          <p:nvPr/>
        </p:nvSpPr>
        <p:spPr>
          <a:xfrm>
            <a:off x="4553640" y="436176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TextBox 37"/>
          <p:cNvSpPr/>
          <p:nvPr/>
        </p:nvSpPr>
        <p:spPr>
          <a:xfrm>
            <a:off x="4553640" y="486468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5d4b96"/>
                </a:solidFill>
                <a:latin typeface="Segoe UI"/>
              </a:rPr>
              <a:t>РИЗИК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Box 38"/>
          <p:cNvSpPr/>
          <p:nvPr/>
        </p:nvSpPr>
        <p:spPr>
          <a:xfrm>
            <a:off x="4553640" y="502020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Rectangle 39"/>
          <p:cNvSpPr/>
          <p:nvPr/>
        </p:nvSpPr>
        <p:spPr>
          <a:xfrm>
            <a:off x="4553640" y="5541120"/>
            <a:ext cx="309960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4" name="TextBox 40"/>
          <p:cNvSpPr/>
          <p:nvPr/>
        </p:nvSpPr>
        <p:spPr>
          <a:xfrm>
            <a:off x="4553640" y="5641920"/>
            <a:ext cx="3099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Rounded Rectangle 41"/>
          <p:cNvSpPr/>
          <p:nvPr/>
        </p:nvSpPr>
        <p:spPr>
          <a:xfrm>
            <a:off x="8101440" y="1517760"/>
            <a:ext cx="3538440" cy="46173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6" name="Rectangle 42"/>
          <p:cNvSpPr/>
          <p:nvPr/>
        </p:nvSpPr>
        <p:spPr>
          <a:xfrm>
            <a:off x="8101440" y="1517760"/>
            <a:ext cx="3538440" cy="27396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7" name="TextBox 43"/>
          <p:cNvSpPr/>
          <p:nvPr/>
        </p:nvSpPr>
        <p:spPr>
          <a:xfrm>
            <a:off x="8101440" y="1568160"/>
            <a:ext cx="35384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НЕ ЗАВОДИТИ ЗАРАЗ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44"/>
          <p:cNvSpPr/>
          <p:nvPr/>
        </p:nvSpPr>
        <p:spPr>
          <a:xfrm>
            <a:off x="8321040" y="1938600"/>
            <a:ext cx="3099600" cy="1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100" spc="-1" strike="noStrike">
                <a:solidFill>
                  <a:srgbClr val="1c2235"/>
                </a:solidFill>
                <a:latin typeface="Segoe UI"/>
              </a:rPr>
              <a:t>BSCM · ПАУЧ 240 Г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TextBox 45"/>
          <p:cNvSpPr/>
          <p:nvPr/>
        </p:nvSpPr>
        <p:spPr>
          <a:xfrm>
            <a:off x="8321040" y="2249280"/>
            <a:ext cx="146268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c94f7c"/>
                </a:solidFill>
                <a:latin typeface="Segoe UI"/>
              </a:rPr>
              <a:t>157 грн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46"/>
          <p:cNvSpPr/>
          <p:nvPr/>
        </p:nvSpPr>
        <p:spPr>
          <a:xfrm>
            <a:off x="8321040" y="2578680"/>
            <a:ext cx="309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80" spc="-1" strike="noStrike">
                <a:solidFill>
                  <a:srgbClr val="717890"/>
                </a:solidFill>
                <a:latin typeface="Segoe UI"/>
              </a:rPr>
              <a:t>полиця за фінмоделлю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TextBox 47"/>
          <p:cNvSpPr/>
          <p:nvPr/>
        </p:nvSpPr>
        <p:spPr>
          <a:xfrm>
            <a:off x="8321040" y="288936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c94f7c"/>
                </a:solidFill>
                <a:latin typeface="Segoe UI"/>
              </a:rPr>
              <a:t>ПРЯМИЙ КОНКУРЕНТ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TextBox 48"/>
          <p:cNvSpPr/>
          <p:nvPr/>
        </p:nvSpPr>
        <p:spPr>
          <a:xfrm>
            <a:off x="8321040" y="304488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TextBox 49"/>
          <p:cNvSpPr/>
          <p:nvPr/>
        </p:nvSpPr>
        <p:spPr>
          <a:xfrm>
            <a:off x="8321040" y="354780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c94f7c"/>
                </a:solidFill>
                <a:latin typeface="Segoe UI"/>
              </a:rPr>
              <a:t>НАША ПОЗИЦІЯ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TextBox 50"/>
          <p:cNvSpPr/>
          <p:nvPr/>
        </p:nvSpPr>
        <p:spPr>
          <a:xfrm>
            <a:off x="8321040" y="370332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TextBox 51"/>
          <p:cNvSpPr/>
          <p:nvPr/>
        </p:nvSpPr>
        <p:spPr>
          <a:xfrm>
            <a:off x="8321040" y="420624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c94f7c"/>
                </a:solidFill>
                <a:latin typeface="Segoe UI"/>
              </a:rPr>
              <a:t>ПРОБЛЕМА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TextBox 52"/>
          <p:cNvSpPr/>
          <p:nvPr/>
        </p:nvSpPr>
        <p:spPr>
          <a:xfrm>
            <a:off x="8321040" y="436176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TextBox 53"/>
          <p:cNvSpPr/>
          <p:nvPr/>
        </p:nvSpPr>
        <p:spPr>
          <a:xfrm>
            <a:off x="8321040" y="486468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c94f7c"/>
                </a:solidFill>
                <a:latin typeface="Segoe UI"/>
              </a:rPr>
              <a:t>УМОВА ВХОДУ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TextBox 54"/>
          <p:cNvSpPr/>
          <p:nvPr/>
        </p:nvSpPr>
        <p:spPr>
          <a:xfrm>
            <a:off x="8321040" y="5020200"/>
            <a:ext cx="309960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8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Rectangle 55"/>
          <p:cNvSpPr/>
          <p:nvPr/>
        </p:nvSpPr>
        <p:spPr>
          <a:xfrm>
            <a:off x="8321040" y="5541120"/>
            <a:ext cx="309960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0" name="TextBox 56"/>
          <p:cNvSpPr/>
          <p:nvPr/>
        </p:nvSpPr>
        <p:spPr>
          <a:xfrm>
            <a:off x="8321040" y="5641920"/>
            <a:ext cx="3099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TextBox 57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3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4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5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746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РЕКОМЕНДАЦІЯ · ЦІНА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6"/>
          <p:cNvSpPr/>
          <p:nvPr/>
        </p:nvSpPr>
        <p:spPr>
          <a:xfrm>
            <a:off x="2304360" y="548640"/>
            <a:ext cx="8503560" cy="2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29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Rounded Rectangle 9"/>
          <p:cNvSpPr/>
          <p:nvPr/>
        </p:nvSpPr>
        <p:spPr>
          <a:xfrm>
            <a:off x="567000" y="1517760"/>
            <a:ext cx="3538440" cy="24868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1" name="TextBox 10"/>
          <p:cNvSpPr/>
          <p:nvPr/>
        </p:nvSpPr>
        <p:spPr>
          <a:xfrm>
            <a:off x="786240" y="1700640"/>
            <a:ext cx="30996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9fa9c4"/>
                </a:solidFill>
                <a:latin typeface="Segoe UI"/>
              </a:rPr>
              <a:t>АГРЕСИВНИЙ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TextBox 11"/>
          <p:cNvSpPr/>
          <p:nvPr/>
        </p:nvSpPr>
        <p:spPr>
          <a:xfrm>
            <a:off x="786240" y="1920240"/>
            <a:ext cx="309960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700" spc="-1" strike="noStrike">
                <a:solidFill>
                  <a:srgbClr val="1c2235"/>
                </a:solidFill>
                <a:latin typeface="Segoe UI"/>
              </a:rPr>
              <a:t>119 грн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TextBox 12"/>
          <p:cNvSpPr/>
          <p:nvPr/>
        </p:nvSpPr>
        <p:spPr>
          <a:xfrm>
            <a:off x="786240" y="2450520"/>
            <a:ext cx="309960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TextBox 13"/>
          <p:cNvSpPr/>
          <p:nvPr/>
        </p:nvSpPr>
        <p:spPr>
          <a:xfrm>
            <a:off x="786240" y="2697480"/>
            <a:ext cx="1554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ПОТРІБЕН FOB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14"/>
          <p:cNvSpPr/>
          <p:nvPr/>
        </p:nvSpPr>
        <p:spPr>
          <a:xfrm>
            <a:off x="786240" y="2862000"/>
            <a:ext cx="15541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$0,443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TextBox 15"/>
          <p:cNvSpPr/>
          <p:nvPr/>
        </p:nvSpPr>
        <p:spPr>
          <a:xfrm>
            <a:off x="2395800" y="2697480"/>
            <a:ext cx="14626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ДО ПОТОЧНОГО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TextBox 16"/>
          <p:cNvSpPr/>
          <p:nvPr/>
        </p:nvSpPr>
        <p:spPr>
          <a:xfrm>
            <a:off x="2395800" y="2862000"/>
            <a:ext cx="146268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−</a:t>
            </a: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11 %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TextBox 17"/>
          <p:cNvSpPr/>
          <p:nvPr/>
        </p:nvSpPr>
        <p:spPr>
          <a:xfrm>
            <a:off x="786240" y="3200400"/>
            <a:ext cx="3099600" cy="4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Box 18"/>
          <p:cNvSpPr/>
          <p:nvPr/>
        </p:nvSpPr>
        <p:spPr>
          <a:xfrm>
            <a:off x="786240" y="3785760"/>
            <a:ext cx="309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Rounded Rectangle 19"/>
          <p:cNvSpPr/>
          <p:nvPr/>
        </p:nvSpPr>
        <p:spPr>
          <a:xfrm>
            <a:off x="4334400" y="1517760"/>
            <a:ext cx="3538440" cy="2486880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1" name="TextBox 20"/>
          <p:cNvSpPr/>
          <p:nvPr/>
        </p:nvSpPr>
        <p:spPr>
          <a:xfrm>
            <a:off x="4553640" y="1700640"/>
            <a:ext cx="30996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1e9ea6"/>
                </a:solidFill>
                <a:latin typeface="Segoe UI"/>
              </a:rPr>
              <a:t>РЕКОМЕНДОВАНО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TextBox 21"/>
          <p:cNvSpPr/>
          <p:nvPr/>
        </p:nvSpPr>
        <p:spPr>
          <a:xfrm>
            <a:off x="4553640" y="1920240"/>
            <a:ext cx="309960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700" spc="-1" strike="noStrike">
                <a:solidFill>
                  <a:srgbClr val="1e9ea6"/>
                </a:solidFill>
                <a:latin typeface="Segoe UI"/>
              </a:rPr>
              <a:t>129 грн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TextBox 22"/>
          <p:cNvSpPr/>
          <p:nvPr/>
        </p:nvSpPr>
        <p:spPr>
          <a:xfrm>
            <a:off x="4553640" y="2450520"/>
            <a:ext cx="309960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TextBox 23"/>
          <p:cNvSpPr/>
          <p:nvPr/>
        </p:nvSpPr>
        <p:spPr>
          <a:xfrm>
            <a:off x="4553640" y="2697480"/>
            <a:ext cx="1554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ПОТРІБЕН FOB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TextBox 24"/>
          <p:cNvSpPr/>
          <p:nvPr/>
        </p:nvSpPr>
        <p:spPr>
          <a:xfrm>
            <a:off x="4553640" y="2862000"/>
            <a:ext cx="15541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$0,480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25"/>
          <p:cNvSpPr/>
          <p:nvPr/>
        </p:nvSpPr>
        <p:spPr>
          <a:xfrm>
            <a:off x="6163200" y="2697480"/>
            <a:ext cx="14626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ДО ПОТОЧНОГО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TextBox 26"/>
          <p:cNvSpPr/>
          <p:nvPr/>
        </p:nvSpPr>
        <p:spPr>
          <a:xfrm>
            <a:off x="6163200" y="2862000"/>
            <a:ext cx="146268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−</a:t>
            </a: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4 %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TextBox 27"/>
          <p:cNvSpPr/>
          <p:nvPr/>
        </p:nvSpPr>
        <p:spPr>
          <a:xfrm>
            <a:off x="4553640" y="3200400"/>
            <a:ext cx="3099600" cy="43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−</a:t>
            </a: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49 % до медіани Ottogi, −8 % до медіани Henan, у верхній частині вікна мережевої полиці. Зберігає цільову маржу 35 % і залишає простір на промо.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TextBox 28"/>
          <p:cNvSpPr/>
          <p:nvPr/>
        </p:nvSpPr>
        <p:spPr>
          <a:xfrm>
            <a:off x="4553640" y="3785760"/>
            <a:ext cx="309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Rounded Rectangle 29"/>
          <p:cNvSpPr/>
          <p:nvPr/>
        </p:nvSpPr>
        <p:spPr>
          <a:xfrm>
            <a:off x="8101440" y="1517760"/>
            <a:ext cx="3538440" cy="24868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1" name="TextBox 30"/>
          <p:cNvSpPr/>
          <p:nvPr/>
        </p:nvSpPr>
        <p:spPr>
          <a:xfrm>
            <a:off x="8321040" y="1700640"/>
            <a:ext cx="30996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9fa9c4"/>
                </a:solidFill>
                <a:latin typeface="Segoe UI"/>
              </a:rPr>
              <a:t>КОМФОРТНИЙ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TextBox 31"/>
          <p:cNvSpPr/>
          <p:nvPr/>
        </p:nvSpPr>
        <p:spPr>
          <a:xfrm>
            <a:off x="8321040" y="1920240"/>
            <a:ext cx="309960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2700" spc="-1" strike="noStrike">
                <a:solidFill>
                  <a:srgbClr val="1c2235"/>
                </a:solidFill>
                <a:latin typeface="Segoe UI"/>
              </a:rPr>
              <a:t>139 грн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TextBox 32"/>
          <p:cNvSpPr/>
          <p:nvPr/>
        </p:nvSpPr>
        <p:spPr>
          <a:xfrm>
            <a:off x="8321040" y="2450520"/>
            <a:ext cx="309960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TextBox 33"/>
          <p:cNvSpPr/>
          <p:nvPr/>
        </p:nvSpPr>
        <p:spPr>
          <a:xfrm>
            <a:off x="8321040" y="2697480"/>
            <a:ext cx="1554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ПОТРІБЕН FOB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TextBox 34"/>
          <p:cNvSpPr/>
          <p:nvPr/>
        </p:nvSpPr>
        <p:spPr>
          <a:xfrm>
            <a:off x="8321040" y="2862000"/>
            <a:ext cx="15541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$0,500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TextBox 35"/>
          <p:cNvSpPr/>
          <p:nvPr/>
        </p:nvSpPr>
        <p:spPr>
          <a:xfrm>
            <a:off x="9930240" y="2697480"/>
            <a:ext cx="14626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717890"/>
                </a:solidFill>
                <a:latin typeface="Segoe UI"/>
              </a:rPr>
              <a:t>ДО ПОТОЧНОГО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TextBox 36"/>
          <p:cNvSpPr/>
          <p:nvPr/>
        </p:nvSpPr>
        <p:spPr>
          <a:xfrm>
            <a:off x="9930240" y="2862000"/>
            <a:ext cx="146268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0 %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TextBox 37"/>
          <p:cNvSpPr/>
          <p:nvPr/>
        </p:nvSpPr>
        <p:spPr>
          <a:xfrm>
            <a:off x="8321040" y="3200400"/>
            <a:ext cx="3099600" cy="29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740" spc="-1" strike="noStrike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TextBox 38"/>
          <p:cNvSpPr/>
          <p:nvPr/>
        </p:nvSpPr>
        <p:spPr>
          <a:xfrm>
            <a:off x="8321040" y="3785760"/>
            <a:ext cx="309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39"/>
          <p:cNvSpPr/>
          <p:nvPr/>
        </p:nvSpPr>
        <p:spPr>
          <a:xfrm>
            <a:off x="567000" y="4242960"/>
            <a:ext cx="10789560" cy="1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800" spc="-1" strike="noStrike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TextBox 40"/>
          <p:cNvSpPr/>
          <p:nvPr/>
        </p:nvSpPr>
        <p:spPr>
          <a:xfrm>
            <a:off x="567000" y="4535280"/>
            <a:ext cx="10789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TextBox 41"/>
          <p:cNvSpPr/>
          <p:nvPr/>
        </p:nvSpPr>
        <p:spPr>
          <a:xfrm>
            <a:off x="567000" y="4535280"/>
            <a:ext cx="278856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717890"/>
                </a:solidFill>
                <a:latin typeface="Segoe UI"/>
              </a:rPr>
              <a:t>ТОВАРНА ГРУПА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TextBox 42"/>
          <p:cNvSpPr/>
          <p:nvPr/>
        </p:nvSpPr>
        <p:spPr>
          <a:xfrm>
            <a:off x="3355920" y="4535280"/>
            <a:ext cx="214848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717890"/>
                </a:solidFill>
                <a:latin typeface="Segoe UI"/>
              </a:rPr>
              <a:t>РОЛЬ У ЛІНІЙЦІ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Box 43"/>
          <p:cNvSpPr/>
          <p:nvPr/>
        </p:nvSpPr>
        <p:spPr>
          <a:xfrm>
            <a:off x="5504760" y="4535280"/>
            <a:ext cx="129816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717890"/>
                </a:solidFill>
                <a:latin typeface="Segoe UI"/>
              </a:rPr>
              <a:t>ПОЛИЦЯ ЗАРАЗ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TextBox 44"/>
          <p:cNvSpPr/>
          <p:nvPr/>
        </p:nvSpPr>
        <p:spPr>
          <a:xfrm>
            <a:off x="6803280" y="4535280"/>
            <a:ext cx="13896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717890"/>
                </a:solidFill>
                <a:latin typeface="Segoe UI"/>
              </a:rPr>
              <a:t>ЦІЛЬОВА ПОЛИЦЯ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TextBox 45"/>
          <p:cNvSpPr/>
          <p:nvPr/>
        </p:nvSpPr>
        <p:spPr>
          <a:xfrm>
            <a:off x="8192880" y="4535280"/>
            <a:ext cx="117000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717890"/>
                </a:solidFill>
                <a:latin typeface="Segoe UI"/>
              </a:rPr>
              <a:t>ПОТРІБЕН FOB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TextBox 46"/>
          <p:cNvSpPr/>
          <p:nvPr/>
        </p:nvSpPr>
        <p:spPr>
          <a:xfrm>
            <a:off x="9363600" y="4535280"/>
            <a:ext cx="1992960" cy="1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80" spc="-1" strike="noStrike">
                <a:solidFill>
                  <a:srgbClr val="717890"/>
                </a:solidFill>
                <a:latin typeface="Segoe UI"/>
              </a:rPr>
              <a:t>ОРІЄНТИР НА ПОЛИЦІ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Rectangle 47"/>
          <p:cNvSpPr/>
          <p:nvPr/>
        </p:nvSpPr>
        <p:spPr>
          <a:xfrm>
            <a:off x="567000" y="4773240"/>
            <a:ext cx="1078956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9" name="TextBox 48"/>
          <p:cNvSpPr/>
          <p:nvPr/>
        </p:nvSpPr>
        <p:spPr>
          <a:xfrm>
            <a:off x="567000" y="484632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BSCM стакан 150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TextBox 49"/>
          <p:cNvSpPr/>
          <p:nvPr/>
        </p:nvSpPr>
        <p:spPr>
          <a:xfrm>
            <a:off x="3355920" y="484632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1e9ea6"/>
                </a:solidFill>
                <a:latin typeface="Segoe UI"/>
              </a:rPr>
              <a:t>Герой · азійський формат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TextBox 50"/>
          <p:cNvSpPr/>
          <p:nvPr/>
        </p:nvSpPr>
        <p:spPr>
          <a:xfrm>
            <a:off x="5504760" y="484632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139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TextBox 51"/>
          <p:cNvSpPr/>
          <p:nvPr/>
        </p:nvSpPr>
        <p:spPr>
          <a:xfrm>
            <a:off x="6803280" y="484632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129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TextBox 52"/>
          <p:cNvSpPr/>
          <p:nvPr/>
        </p:nvSpPr>
        <p:spPr>
          <a:xfrm>
            <a:off x="8192880" y="484632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$0,480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TextBox 53"/>
          <p:cNvSpPr/>
          <p:nvPr/>
        </p:nvSpPr>
        <p:spPr>
          <a:xfrm>
            <a:off x="9363600" y="484632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Ottogi 255 · Henan 140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Rounded Rectangle 54"/>
          <p:cNvSpPr/>
          <p:nvPr/>
        </p:nvSpPr>
        <p:spPr>
          <a:xfrm>
            <a:off x="493920" y="4998960"/>
            <a:ext cx="10935720" cy="19332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6" name="TextBox 55"/>
          <p:cNvSpPr/>
          <p:nvPr/>
        </p:nvSpPr>
        <p:spPr>
          <a:xfrm>
            <a:off x="567000" y="504000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ONE'S лоток 210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TextBox 56"/>
          <p:cNvSpPr/>
          <p:nvPr/>
        </p:nvSpPr>
        <p:spPr>
          <a:xfrm>
            <a:off x="3355920" y="504000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5d4b96"/>
                </a:solidFill>
                <a:latin typeface="Segoe UI"/>
              </a:rPr>
              <a:t>Другий герой · Корея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57"/>
          <p:cNvSpPr/>
          <p:nvPr/>
        </p:nvSpPr>
        <p:spPr>
          <a:xfrm>
            <a:off x="5504760" y="504000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153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TextBox 58"/>
          <p:cNvSpPr/>
          <p:nvPr/>
        </p:nvSpPr>
        <p:spPr>
          <a:xfrm>
            <a:off x="6803280" y="504000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155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TextBox 59"/>
          <p:cNvSpPr/>
          <p:nvPr/>
        </p:nvSpPr>
        <p:spPr>
          <a:xfrm>
            <a:off x="8192880" y="504000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~$0,577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TextBox 60"/>
          <p:cNvSpPr/>
          <p:nvPr/>
        </p:nvSpPr>
        <p:spPr>
          <a:xfrm>
            <a:off x="9363600" y="504000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Bibigo 135–189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61"/>
          <p:cNvSpPr/>
          <p:nvPr/>
        </p:nvSpPr>
        <p:spPr>
          <a:xfrm>
            <a:off x="567000" y="523404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BSCM пауч 200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TextBox 62"/>
          <p:cNvSpPr/>
          <p:nvPr/>
        </p:nvSpPr>
        <p:spPr>
          <a:xfrm>
            <a:off x="3355920" y="523404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c4820a"/>
                </a:solidFill>
                <a:latin typeface="Segoe UI"/>
              </a:rPr>
              <a:t>Об'єм · вхід у ціну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TextBox 63"/>
          <p:cNvSpPr/>
          <p:nvPr/>
        </p:nvSpPr>
        <p:spPr>
          <a:xfrm>
            <a:off x="5504760" y="523404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150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TextBox 64"/>
          <p:cNvSpPr/>
          <p:nvPr/>
        </p:nvSpPr>
        <p:spPr>
          <a:xfrm>
            <a:off x="6803280" y="523404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129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TextBox 65"/>
          <p:cNvSpPr/>
          <p:nvPr/>
        </p:nvSpPr>
        <p:spPr>
          <a:xfrm>
            <a:off x="8192880" y="523404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$0,480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TextBox 66"/>
          <p:cNvSpPr/>
          <p:nvPr/>
        </p:nvSpPr>
        <p:spPr>
          <a:xfrm>
            <a:off x="9363600" y="523404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пауч-медіана 109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Rounded Rectangle 67"/>
          <p:cNvSpPr/>
          <p:nvPr/>
        </p:nvSpPr>
        <p:spPr>
          <a:xfrm>
            <a:off x="493920" y="5386680"/>
            <a:ext cx="10935720" cy="19332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9" name="TextBox 68"/>
          <p:cNvSpPr/>
          <p:nvPr/>
        </p:nvSpPr>
        <p:spPr>
          <a:xfrm>
            <a:off x="567000" y="542772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BSCM пауч 240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TextBox 69"/>
          <p:cNvSpPr/>
          <p:nvPr/>
        </p:nvSpPr>
        <p:spPr>
          <a:xfrm>
            <a:off x="3355920" y="542772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c4820a"/>
                </a:solidFill>
                <a:latin typeface="Segoe UI"/>
              </a:rPr>
              <a:t>Мережа · 2-га хвиля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TextBox 70"/>
          <p:cNvSpPr/>
          <p:nvPr/>
        </p:nvSpPr>
        <p:spPr>
          <a:xfrm>
            <a:off x="5504760" y="542772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157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TextBox 71"/>
          <p:cNvSpPr/>
          <p:nvPr/>
        </p:nvSpPr>
        <p:spPr>
          <a:xfrm>
            <a:off x="6803280" y="542772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109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TextBox 72"/>
          <p:cNvSpPr/>
          <p:nvPr/>
        </p:nvSpPr>
        <p:spPr>
          <a:xfrm>
            <a:off x="8192880" y="542772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$0,405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Box 73"/>
          <p:cNvSpPr/>
          <p:nvPr/>
        </p:nvSpPr>
        <p:spPr>
          <a:xfrm>
            <a:off x="9363600" y="542772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Ben's медіана 90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TextBox 74"/>
          <p:cNvSpPr/>
          <p:nvPr/>
        </p:nvSpPr>
        <p:spPr>
          <a:xfrm>
            <a:off x="567000" y="562176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CM Premium 250 г органік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TextBox 75"/>
          <p:cNvSpPr/>
          <p:nvPr/>
        </p:nvSpPr>
        <p:spPr>
          <a:xfrm>
            <a:off x="3355920" y="562176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37a169"/>
                </a:solidFill>
                <a:latin typeface="Segoe UI"/>
              </a:rPr>
              <a:t>Преміум · нішa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TextBox 76"/>
          <p:cNvSpPr/>
          <p:nvPr/>
        </p:nvSpPr>
        <p:spPr>
          <a:xfrm>
            <a:off x="5504760" y="562176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178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Box 77"/>
          <p:cNvSpPr/>
          <p:nvPr/>
        </p:nvSpPr>
        <p:spPr>
          <a:xfrm>
            <a:off x="6803280" y="562176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178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TextBox 78"/>
          <p:cNvSpPr/>
          <p:nvPr/>
        </p:nvSpPr>
        <p:spPr>
          <a:xfrm>
            <a:off x="8192880" y="562176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$0,667 — без змін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TextBox 79"/>
          <p:cNvSpPr/>
          <p:nvPr/>
        </p:nvSpPr>
        <p:spPr>
          <a:xfrm>
            <a:off x="9363600" y="562176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Clearspring 252–446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Rounded Rectangle 80"/>
          <p:cNvSpPr/>
          <p:nvPr/>
        </p:nvSpPr>
        <p:spPr>
          <a:xfrm>
            <a:off x="493920" y="5774400"/>
            <a:ext cx="10935720" cy="19332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2" name="TextBox 81"/>
          <p:cNvSpPr/>
          <p:nvPr/>
        </p:nvSpPr>
        <p:spPr>
          <a:xfrm>
            <a:off x="567000" y="581544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ONE'S Fried Rice 200 г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TextBox 82"/>
          <p:cNvSpPr/>
          <p:nvPr/>
        </p:nvSpPr>
        <p:spPr>
          <a:xfrm>
            <a:off x="3355920" y="581544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c94f7c"/>
                </a:solidFill>
                <a:latin typeface="Segoe UI"/>
              </a:rPr>
              <a:t>Переглянути або зняти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TextBox 83"/>
          <p:cNvSpPr/>
          <p:nvPr/>
        </p:nvSpPr>
        <p:spPr>
          <a:xfrm>
            <a:off x="5504760" y="581544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332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" name="TextBox 84"/>
          <p:cNvSpPr/>
          <p:nvPr/>
        </p:nvSpPr>
        <p:spPr>
          <a:xfrm>
            <a:off x="6803280" y="581544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199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Box 85"/>
          <p:cNvSpPr/>
          <p:nvPr/>
        </p:nvSpPr>
        <p:spPr>
          <a:xfrm>
            <a:off x="8192880" y="581544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c94f7c"/>
                </a:solidFill>
                <a:latin typeface="Segoe UI"/>
              </a:rPr>
              <a:t>~$0,740 (−40 %)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TextBox 86"/>
          <p:cNvSpPr/>
          <p:nvPr/>
        </p:nvSpPr>
        <p:spPr>
          <a:xfrm>
            <a:off x="9363600" y="581544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Ottogi 225–356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Box 87"/>
          <p:cNvSpPr/>
          <p:nvPr/>
        </p:nvSpPr>
        <p:spPr>
          <a:xfrm>
            <a:off x="567000" y="6009480"/>
            <a:ext cx="27885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BSCM подвійний стакан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TextBox 88"/>
          <p:cNvSpPr/>
          <p:nvPr/>
        </p:nvSpPr>
        <p:spPr>
          <a:xfrm>
            <a:off x="3355920" y="6009480"/>
            <a:ext cx="214848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Private label · пізніше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" name="TextBox 89"/>
          <p:cNvSpPr/>
          <p:nvPr/>
        </p:nvSpPr>
        <p:spPr>
          <a:xfrm>
            <a:off x="5504760" y="6009480"/>
            <a:ext cx="12981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219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TextBox 90"/>
          <p:cNvSpPr/>
          <p:nvPr/>
        </p:nvSpPr>
        <p:spPr>
          <a:xfrm>
            <a:off x="6803280" y="600948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179 грн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TextBox 91"/>
          <p:cNvSpPr/>
          <p:nvPr/>
        </p:nvSpPr>
        <p:spPr>
          <a:xfrm>
            <a:off x="8192880" y="6009480"/>
            <a:ext cx="117000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10" spc="-1" strike="noStrike">
                <a:solidFill>
                  <a:srgbClr val="1c2235"/>
                </a:solidFill>
                <a:latin typeface="Segoe UI"/>
              </a:rPr>
              <a:t>$0,666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Box 92"/>
          <p:cNvSpPr/>
          <p:nvPr/>
        </p:nvSpPr>
        <p:spPr>
          <a:xfrm>
            <a:off x="9363600" y="6009480"/>
            <a:ext cx="1992960" cy="12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10" spc="-1" strike="noStrike">
                <a:solidFill>
                  <a:srgbClr val="717890"/>
                </a:solidFill>
                <a:latin typeface="Segoe UI"/>
              </a:rPr>
              <a:t>верх вікна полиці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TextBox 93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6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7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8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839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30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Rounded Rectangle 9"/>
          <p:cNvSpPr/>
          <p:nvPr/>
        </p:nvSpPr>
        <p:spPr>
          <a:xfrm>
            <a:off x="567000" y="1517760"/>
            <a:ext cx="3538440" cy="46173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4" name="Rectangle 10"/>
          <p:cNvSpPr/>
          <p:nvPr/>
        </p:nvSpPr>
        <p:spPr>
          <a:xfrm>
            <a:off x="567000" y="1517760"/>
            <a:ext cx="3538440" cy="27396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5" name="TextBox 11"/>
          <p:cNvSpPr/>
          <p:nvPr/>
        </p:nvSpPr>
        <p:spPr>
          <a:xfrm>
            <a:off x="567000" y="1568160"/>
            <a:ext cx="35384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ffffff"/>
                </a:solidFill>
                <a:latin typeface="Segoe UI"/>
              </a:rPr>
              <a:t>ОСНОВНИЙ ПОСТАЧАЛЬНИК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TextBox 12"/>
          <p:cNvSpPr/>
          <p:nvPr/>
        </p:nvSpPr>
        <p:spPr>
          <a:xfrm>
            <a:off x="786240" y="1938600"/>
            <a:ext cx="30996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BSCM FOODS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7" name="TextBox 13"/>
          <p:cNvSpPr/>
          <p:nvPr/>
        </p:nvSpPr>
        <p:spPr>
          <a:xfrm>
            <a:off x="786240" y="2212920"/>
            <a:ext cx="30996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Таїланд · Бангкок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TextBox 14"/>
          <p:cNvSpPr/>
          <p:nvPr/>
        </p:nvSpPr>
        <p:spPr>
          <a:xfrm>
            <a:off x="786240" y="248724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ФОРМАТИ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Box 15"/>
          <p:cNvSpPr/>
          <p:nvPr/>
        </p:nvSpPr>
        <p:spPr>
          <a:xfrm>
            <a:off x="786240" y="2633400"/>
            <a:ext cx="3099600" cy="2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TextBox 16"/>
          <p:cNvSpPr/>
          <p:nvPr/>
        </p:nvSpPr>
        <p:spPr>
          <a:xfrm>
            <a:off x="786240" y="298548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УНІКАЛЬНА ПЕРЕВАГА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TextBox 17"/>
          <p:cNvSpPr/>
          <p:nvPr/>
        </p:nvSpPr>
        <p:spPr>
          <a:xfrm>
            <a:off x="786240" y="313200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TextBox 18"/>
          <p:cNvSpPr/>
          <p:nvPr/>
        </p:nvSpPr>
        <p:spPr>
          <a:xfrm>
            <a:off x="786240" y="348372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ТЕРМІН ПРИДАТНОСТІ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TextBox 19"/>
          <p:cNvSpPr/>
          <p:nvPr/>
        </p:nvSpPr>
        <p:spPr>
          <a:xfrm>
            <a:off x="786240" y="363024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TextBox 20"/>
          <p:cNvSpPr/>
          <p:nvPr/>
        </p:nvSpPr>
        <p:spPr>
          <a:xfrm>
            <a:off x="786240" y="398232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СЕРТИФІКАЦІЯ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TextBox 21"/>
          <p:cNvSpPr/>
          <p:nvPr/>
        </p:nvSpPr>
        <p:spPr>
          <a:xfrm>
            <a:off x="786240" y="412848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BRC · HACCP · ISO 22000 · GMP · Organic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TextBox 22"/>
          <p:cNvSpPr/>
          <p:nvPr/>
        </p:nvSpPr>
        <p:spPr>
          <a:xfrm>
            <a:off x="786240" y="448056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FOB-ДІАПАЗОН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TextBox 23"/>
          <p:cNvSpPr/>
          <p:nvPr/>
        </p:nvSpPr>
        <p:spPr>
          <a:xfrm>
            <a:off x="786240" y="462672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TextBox 24"/>
          <p:cNvSpPr/>
          <p:nvPr/>
        </p:nvSpPr>
        <p:spPr>
          <a:xfrm>
            <a:off x="786240" y="497880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1e9ea6"/>
                </a:solidFill>
                <a:latin typeface="Segoe UI"/>
              </a:rPr>
              <a:t>PRIVATE LABEL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TextBox 25"/>
          <p:cNvSpPr/>
          <p:nvPr/>
        </p:nvSpPr>
        <p:spPr>
          <a:xfrm>
            <a:off x="786240" y="512532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Rectangle 26"/>
          <p:cNvSpPr/>
          <p:nvPr/>
        </p:nvSpPr>
        <p:spPr>
          <a:xfrm>
            <a:off x="786240" y="5486400"/>
            <a:ext cx="309960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1" name="TextBox 27"/>
          <p:cNvSpPr/>
          <p:nvPr/>
        </p:nvSpPr>
        <p:spPr>
          <a:xfrm>
            <a:off x="786240" y="557784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1e9ea6"/>
                </a:solidFill>
                <a:latin typeface="Segoe UI"/>
              </a:rPr>
              <a:t>ЦІЛЬОВИЙ FOB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2" name="TextBox 28"/>
          <p:cNvSpPr/>
          <p:nvPr/>
        </p:nvSpPr>
        <p:spPr>
          <a:xfrm>
            <a:off x="786240" y="5742360"/>
            <a:ext cx="3099600" cy="4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Стакан 150 г: $0,480 замість $0,500 (−4 %).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Пауч 240 г: $0,405 замість $0,583 (−31 %) — якщо йдемо в мережу.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6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Обов'язково: перехід на 40′ FCL дає ще −12 % до собівартості.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Rounded Rectangle 29"/>
          <p:cNvSpPr/>
          <p:nvPr/>
        </p:nvSpPr>
        <p:spPr>
          <a:xfrm>
            <a:off x="4334400" y="1517760"/>
            <a:ext cx="3538440" cy="46173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4" name="Rectangle 30"/>
          <p:cNvSpPr/>
          <p:nvPr/>
        </p:nvSpPr>
        <p:spPr>
          <a:xfrm>
            <a:off x="4334400" y="1517760"/>
            <a:ext cx="3538440" cy="27396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5" name="TextBox 31"/>
          <p:cNvSpPr/>
          <p:nvPr/>
        </p:nvSpPr>
        <p:spPr>
          <a:xfrm>
            <a:off x="4334400" y="1568160"/>
            <a:ext cx="35384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ffffff"/>
                </a:solidFill>
                <a:latin typeface="Segoe UI"/>
              </a:rPr>
              <a:t>ТОЧКОВО, ПІД BIBIGO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TextBox 32"/>
          <p:cNvSpPr/>
          <p:nvPr/>
        </p:nvSpPr>
        <p:spPr>
          <a:xfrm>
            <a:off x="4553640" y="1938600"/>
            <a:ext cx="30996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ONE'S INTERNATIONAL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TextBox 33"/>
          <p:cNvSpPr/>
          <p:nvPr/>
        </p:nvSpPr>
        <p:spPr>
          <a:xfrm>
            <a:off x="4553640" y="2212920"/>
            <a:ext cx="30996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Корея · Гурі-сі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TextBox 34"/>
          <p:cNvSpPr/>
          <p:nvPr/>
        </p:nvSpPr>
        <p:spPr>
          <a:xfrm>
            <a:off x="4553640" y="248724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5d4b96"/>
                </a:solidFill>
                <a:latin typeface="Segoe UI"/>
              </a:rPr>
              <a:t>ФОРМАТИ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TextBox 35"/>
          <p:cNvSpPr/>
          <p:nvPr/>
        </p:nvSpPr>
        <p:spPr>
          <a:xfrm>
            <a:off x="4553640" y="263340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TextBox 36"/>
          <p:cNvSpPr/>
          <p:nvPr/>
        </p:nvSpPr>
        <p:spPr>
          <a:xfrm>
            <a:off x="4553640" y="298548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5d4b96"/>
                </a:solidFill>
                <a:latin typeface="Segoe UI"/>
              </a:rPr>
              <a:t>УНІКАЛЬНА ПЕРЕВАГА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" name="TextBox 37"/>
          <p:cNvSpPr/>
          <p:nvPr/>
        </p:nvSpPr>
        <p:spPr>
          <a:xfrm>
            <a:off x="4553640" y="313200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TextBox 38"/>
          <p:cNvSpPr/>
          <p:nvPr/>
        </p:nvSpPr>
        <p:spPr>
          <a:xfrm>
            <a:off x="4553640" y="348372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5d4b96"/>
                </a:solidFill>
                <a:latin typeface="Segoe UI"/>
              </a:rPr>
              <a:t>ТЕРМІН ПРИДАТНОСТІ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TextBox 39"/>
          <p:cNvSpPr/>
          <p:nvPr/>
        </p:nvSpPr>
        <p:spPr>
          <a:xfrm>
            <a:off x="4553640" y="363024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TextBox 40"/>
          <p:cNvSpPr/>
          <p:nvPr/>
        </p:nvSpPr>
        <p:spPr>
          <a:xfrm>
            <a:off x="4553640" y="398232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5d4b96"/>
                </a:solidFill>
                <a:latin typeface="Segoe UI"/>
              </a:rPr>
              <a:t>СЕРТИФІКАЦІЯ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TextBox 41"/>
          <p:cNvSpPr/>
          <p:nvPr/>
        </p:nvSpPr>
        <p:spPr>
          <a:xfrm>
            <a:off x="4553640" y="412848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HACCP · FSSC 22000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TextBox 42"/>
          <p:cNvSpPr/>
          <p:nvPr/>
        </p:nvSpPr>
        <p:spPr>
          <a:xfrm>
            <a:off x="4553640" y="448056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5d4b96"/>
                </a:solidFill>
                <a:latin typeface="Segoe UI"/>
              </a:rPr>
              <a:t>FOB-ДІАПАЗОН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7" name="TextBox 43"/>
          <p:cNvSpPr/>
          <p:nvPr/>
        </p:nvSpPr>
        <p:spPr>
          <a:xfrm>
            <a:off x="4553640" y="462672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TextBox 44"/>
          <p:cNvSpPr/>
          <p:nvPr/>
        </p:nvSpPr>
        <p:spPr>
          <a:xfrm>
            <a:off x="4553640" y="497880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5d4b96"/>
                </a:solidFill>
                <a:latin typeface="Segoe UI"/>
              </a:rPr>
              <a:t>УМОВИ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9" name="TextBox 45"/>
          <p:cNvSpPr/>
          <p:nvPr/>
        </p:nvSpPr>
        <p:spPr>
          <a:xfrm>
            <a:off x="4553640" y="512532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Rectangle 46"/>
          <p:cNvSpPr/>
          <p:nvPr/>
        </p:nvSpPr>
        <p:spPr>
          <a:xfrm>
            <a:off x="4553640" y="5486400"/>
            <a:ext cx="309960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1" name="TextBox 47"/>
          <p:cNvSpPr/>
          <p:nvPr/>
        </p:nvSpPr>
        <p:spPr>
          <a:xfrm>
            <a:off x="4553640" y="557784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5d4b96"/>
                </a:solidFill>
                <a:latin typeface="Segoe UI"/>
              </a:rPr>
              <a:t>ЦІЛЬОВИЙ FOB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TextBox 48"/>
          <p:cNvSpPr/>
          <p:nvPr/>
        </p:nvSpPr>
        <p:spPr>
          <a:xfrm>
            <a:off x="4553640" y="5742360"/>
            <a:ext cx="3099600" cy="3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Cooked White Rice 210 г: брати як є — б'є Bibigo.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Fried Rice 200 г: потрібен FOB ≈ $0,740 (−40 % до оцінки).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6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Першим кроком — вимагати розкриття FOB по кожному SKU.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Rounded Rectangle 49"/>
          <p:cNvSpPr/>
          <p:nvPr/>
        </p:nvSpPr>
        <p:spPr>
          <a:xfrm>
            <a:off x="8101440" y="1517760"/>
            <a:ext cx="3538440" cy="461736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Rectangle 50"/>
          <p:cNvSpPr/>
          <p:nvPr/>
        </p:nvSpPr>
        <p:spPr>
          <a:xfrm>
            <a:off x="8101440" y="1517760"/>
            <a:ext cx="3538440" cy="27396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5" name="TextBox 51"/>
          <p:cNvSpPr/>
          <p:nvPr/>
        </p:nvSpPr>
        <p:spPr>
          <a:xfrm>
            <a:off x="8101440" y="1568160"/>
            <a:ext cx="353844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15000"/>
              </a:lnSpc>
            </a:pPr>
            <a:r>
              <a:rPr b="1" lang="en-US" sz="660" spc="-1" strike="noStrike">
                <a:solidFill>
                  <a:srgbClr val="ffffff"/>
                </a:solidFill>
                <a:latin typeface="Segoe UI"/>
              </a:rPr>
              <a:t>НІШЕВИЙ ПРЕМІУМ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TextBox 52"/>
          <p:cNvSpPr/>
          <p:nvPr/>
        </p:nvSpPr>
        <p:spPr>
          <a:xfrm>
            <a:off x="8321040" y="1938600"/>
            <a:ext cx="309960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200" spc="-1" strike="noStrike">
                <a:solidFill>
                  <a:srgbClr val="1c2235"/>
                </a:solidFill>
                <a:latin typeface="Segoe UI"/>
              </a:rPr>
              <a:t>CM PREMIUM RICE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TextBox 53"/>
          <p:cNvSpPr/>
          <p:nvPr/>
        </p:nvSpPr>
        <p:spPr>
          <a:xfrm>
            <a:off x="8321040" y="2212920"/>
            <a:ext cx="30996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700" spc="-1" strike="noStrike">
                <a:solidFill>
                  <a:srgbClr val="717890"/>
                </a:solidFill>
                <a:latin typeface="Segoe UI"/>
              </a:rPr>
              <a:t>Таїланд · Nakhon Ratchasima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TextBox 54"/>
          <p:cNvSpPr/>
          <p:nvPr/>
        </p:nvSpPr>
        <p:spPr>
          <a:xfrm>
            <a:off x="8321040" y="248724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ФОРМАТИ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55"/>
          <p:cNvSpPr/>
          <p:nvPr/>
        </p:nvSpPr>
        <p:spPr>
          <a:xfrm>
            <a:off x="8321040" y="263340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TextBox 56"/>
          <p:cNvSpPr/>
          <p:nvPr/>
        </p:nvSpPr>
        <p:spPr>
          <a:xfrm>
            <a:off x="8321040" y="298548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УНІКАЛЬНА ПЕРЕВАГА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TextBox 57"/>
          <p:cNvSpPr/>
          <p:nvPr/>
        </p:nvSpPr>
        <p:spPr>
          <a:xfrm>
            <a:off x="8321040" y="313200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2" name="TextBox 58"/>
          <p:cNvSpPr/>
          <p:nvPr/>
        </p:nvSpPr>
        <p:spPr>
          <a:xfrm>
            <a:off x="8321040" y="348372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ПОТУЖНІСТЬ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TextBox 59"/>
          <p:cNvSpPr/>
          <p:nvPr/>
        </p:nvSpPr>
        <p:spPr>
          <a:xfrm>
            <a:off x="8321040" y="363024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4" name="TextBox 60"/>
          <p:cNvSpPr/>
          <p:nvPr/>
        </p:nvSpPr>
        <p:spPr>
          <a:xfrm>
            <a:off x="8321040" y="398232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СЕРТИФІКАЦІЯ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TextBox 61"/>
          <p:cNvSpPr/>
          <p:nvPr/>
        </p:nvSpPr>
        <p:spPr>
          <a:xfrm>
            <a:off x="8321040" y="412848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BRC · HACCP · ISO 9001 · Halal · Organic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TextBox 62"/>
          <p:cNvSpPr/>
          <p:nvPr/>
        </p:nvSpPr>
        <p:spPr>
          <a:xfrm>
            <a:off x="8321040" y="448056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FOB-ДІАПАЗОН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TextBox 63"/>
          <p:cNvSpPr/>
          <p:nvPr/>
        </p:nvSpPr>
        <p:spPr>
          <a:xfrm>
            <a:off x="8321040" y="462672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TextBox 64"/>
          <p:cNvSpPr/>
          <p:nvPr/>
        </p:nvSpPr>
        <p:spPr>
          <a:xfrm>
            <a:off x="8321040" y="4978800"/>
            <a:ext cx="309960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20" spc="-1" strike="noStrike">
                <a:solidFill>
                  <a:srgbClr val="37a169"/>
                </a:solidFill>
                <a:latin typeface="Segoe UI"/>
              </a:rPr>
              <a:t>ОБМЕЖЕННЯ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TextBox 65"/>
          <p:cNvSpPr/>
          <p:nvPr/>
        </p:nvSpPr>
        <p:spPr>
          <a:xfrm>
            <a:off x="8321040" y="5125320"/>
            <a:ext cx="3099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6000"/>
              </a:lnSpc>
            </a:pPr>
            <a:r>
              <a:rPr b="0" lang="en-US" sz="720" spc="-1" strike="noStrike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Rectangle 66"/>
          <p:cNvSpPr/>
          <p:nvPr/>
        </p:nvSpPr>
        <p:spPr>
          <a:xfrm>
            <a:off x="8321040" y="5486400"/>
            <a:ext cx="3099600" cy="10440"/>
          </a:xfrm>
          <a:prstGeom prst="rect">
            <a:avLst/>
          </a:prstGeom>
          <a:solidFill>
            <a:srgbClr val="d5dbe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1" name="TextBox 67"/>
          <p:cNvSpPr/>
          <p:nvPr/>
        </p:nvSpPr>
        <p:spPr>
          <a:xfrm>
            <a:off x="8321040" y="5577840"/>
            <a:ext cx="30996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30" spc="-1" strike="noStrike">
                <a:solidFill>
                  <a:srgbClr val="37a169"/>
                </a:solidFill>
                <a:latin typeface="Segoe UI"/>
              </a:rPr>
              <a:t>ЦІЛЬОВИЙ FOB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TextBox 68"/>
          <p:cNvSpPr/>
          <p:nvPr/>
        </p:nvSpPr>
        <p:spPr>
          <a:xfrm>
            <a:off x="8321040" y="5742360"/>
            <a:ext cx="3099600" cy="3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6000"/>
              </a:lnSpc>
            </a:pPr>
            <a:r>
              <a:rPr b="0" lang="en-US" sz="710" spc="-1" strike="noStrike">
                <a:solidFill>
                  <a:srgbClr val="303a5d"/>
                </a:solidFill>
                <a:latin typeface="Segoe UI"/>
              </a:rPr>
              <a:t>Ризик — не ціна, а обсяг: органіка в Україні це мала полиця.</a:t>
            </a:r>
            <a:endParaRPr b="0" lang="en-US" sz="7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3" name="TextBox 69"/>
          <p:cNvSpPr/>
          <p:nvPr/>
        </p:nvSpPr>
        <p:spPr>
          <a:xfrm>
            <a:off x="567000" y="63550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5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6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7" name="Picture 4" descr="logo.png"/>
          <p:cNvPicPr/>
          <p:nvPr/>
        </p:nvPicPr>
        <p:blipFill>
          <a:blip r:embed="rId1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908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950" spc="-1" strike="noStrike">
                <a:solidFill>
                  <a:srgbClr val="ffc95c"/>
                </a:solidFill>
                <a:latin typeface="Segoe UI"/>
              </a:rPr>
              <a:t>ПЛАН ДІЙ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9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900" spc="-1" strike="noStrike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0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15000"/>
              </a:lnSpc>
            </a:pPr>
            <a:r>
              <a:rPr b="1" lang="en-US" sz="1700" spc="-1" strike="noStrike">
                <a:solidFill>
                  <a:srgbClr val="465382"/>
                </a:solidFill>
                <a:latin typeface="Segoe UI"/>
              </a:rPr>
              <a:t>31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950" spc="-1" strike="noStrike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Rounded Rectangle 9"/>
          <p:cNvSpPr/>
          <p:nvPr/>
        </p:nvSpPr>
        <p:spPr>
          <a:xfrm>
            <a:off x="567000" y="1572840"/>
            <a:ext cx="3538440" cy="20113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3" name="Rectangle 10"/>
          <p:cNvSpPr/>
          <p:nvPr/>
        </p:nvSpPr>
        <p:spPr>
          <a:xfrm>
            <a:off x="567000" y="1572840"/>
            <a:ext cx="40680" cy="201132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4" name="TextBox 11"/>
          <p:cNvSpPr/>
          <p:nvPr/>
        </p:nvSpPr>
        <p:spPr>
          <a:xfrm>
            <a:off x="804600" y="1737360"/>
            <a:ext cx="456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500" spc="-1" strike="noStrike">
                <a:solidFill>
                  <a:srgbClr val="1e9ea6"/>
                </a:solidFill>
                <a:latin typeface="Segoe UI"/>
              </a:rPr>
              <a:t>01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TextBox 12"/>
          <p:cNvSpPr/>
          <p:nvPr/>
        </p:nvSpPr>
        <p:spPr>
          <a:xfrm>
            <a:off x="804600" y="2084760"/>
            <a:ext cx="3062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Запит FOB у ONE'S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TextBox 13"/>
          <p:cNvSpPr/>
          <p:nvPr/>
        </p:nvSpPr>
        <p:spPr>
          <a:xfrm>
            <a:off x="804600" y="2359080"/>
            <a:ext cx="3062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1e9ea6"/>
                </a:solidFill>
                <a:latin typeface="Segoe UI"/>
              </a:rPr>
              <a:t>1 ТИЖДЕНЬ · ЗАКУПІВЛЯ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TextBox 14"/>
          <p:cNvSpPr/>
          <p:nvPr/>
        </p:nvSpPr>
        <p:spPr>
          <a:xfrm>
            <a:off x="804600" y="2578680"/>
            <a:ext cx="306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50" spc="-1" strike="noStrike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" name="Rounded Rectangle 15"/>
          <p:cNvSpPr/>
          <p:nvPr/>
        </p:nvSpPr>
        <p:spPr>
          <a:xfrm>
            <a:off x="4334400" y="1572840"/>
            <a:ext cx="3538440" cy="20113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9" name="Rectangle 16"/>
          <p:cNvSpPr/>
          <p:nvPr/>
        </p:nvSpPr>
        <p:spPr>
          <a:xfrm>
            <a:off x="4334400" y="1572840"/>
            <a:ext cx="40680" cy="201132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0" name="TextBox 17"/>
          <p:cNvSpPr/>
          <p:nvPr/>
        </p:nvSpPr>
        <p:spPr>
          <a:xfrm>
            <a:off x="4572000" y="1737360"/>
            <a:ext cx="456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500" spc="-1" strike="noStrike">
                <a:solidFill>
                  <a:srgbClr val="f9a50b"/>
                </a:solidFill>
                <a:latin typeface="Segoe UI"/>
              </a:rPr>
              <a:t>02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TextBox 18"/>
          <p:cNvSpPr/>
          <p:nvPr/>
        </p:nvSpPr>
        <p:spPr>
          <a:xfrm>
            <a:off x="4572000" y="2084760"/>
            <a:ext cx="3062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Переговори з BSCM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TextBox 19"/>
          <p:cNvSpPr/>
          <p:nvPr/>
        </p:nvSpPr>
        <p:spPr>
          <a:xfrm>
            <a:off x="4572000" y="2359080"/>
            <a:ext cx="3062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f9a50b"/>
                </a:solidFill>
                <a:latin typeface="Segoe UI"/>
              </a:rPr>
              <a:t>2–3 ТИЖНІ · ЗАКУПІВЛЯ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TextBox 20"/>
          <p:cNvSpPr/>
          <p:nvPr/>
        </p:nvSpPr>
        <p:spPr>
          <a:xfrm>
            <a:off x="4572000" y="2578680"/>
            <a:ext cx="306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50" spc="-1" strike="noStrike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Rounded Rectangle 21"/>
          <p:cNvSpPr/>
          <p:nvPr/>
        </p:nvSpPr>
        <p:spPr>
          <a:xfrm>
            <a:off x="8101440" y="1572840"/>
            <a:ext cx="3538440" cy="20113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5" name="Rectangle 22"/>
          <p:cNvSpPr/>
          <p:nvPr/>
        </p:nvSpPr>
        <p:spPr>
          <a:xfrm>
            <a:off x="8101440" y="1572840"/>
            <a:ext cx="40680" cy="201132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6" name="TextBox 23"/>
          <p:cNvSpPr/>
          <p:nvPr/>
        </p:nvSpPr>
        <p:spPr>
          <a:xfrm>
            <a:off x="8339400" y="1737360"/>
            <a:ext cx="456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500" spc="-1" strike="noStrike">
                <a:solidFill>
                  <a:srgbClr val="5d4b96"/>
                </a:solidFill>
                <a:latin typeface="Segoe UI"/>
              </a:rPr>
              <a:t>03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" name="TextBox 24"/>
          <p:cNvSpPr/>
          <p:nvPr/>
        </p:nvSpPr>
        <p:spPr>
          <a:xfrm>
            <a:off x="8339400" y="2084760"/>
            <a:ext cx="3062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Дизайн і локалізація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TextBox 25"/>
          <p:cNvSpPr/>
          <p:nvPr/>
        </p:nvSpPr>
        <p:spPr>
          <a:xfrm>
            <a:off x="8339400" y="2359080"/>
            <a:ext cx="3062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5d4b96"/>
                </a:solidFill>
                <a:latin typeface="Segoe UI"/>
              </a:rPr>
              <a:t>3–4 ТИЖНІ · МАРКЕТИНГ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TextBox 26"/>
          <p:cNvSpPr/>
          <p:nvPr/>
        </p:nvSpPr>
        <p:spPr>
          <a:xfrm>
            <a:off x="8339400" y="2578680"/>
            <a:ext cx="306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50" spc="-1" strike="noStrike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Rounded Rectangle 27"/>
          <p:cNvSpPr/>
          <p:nvPr/>
        </p:nvSpPr>
        <p:spPr>
          <a:xfrm>
            <a:off x="567000" y="3785760"/>
            <a:ext cx="3538440" cy="20113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1" name="Rectangle 28"/>
          <p:cNvSpPr/>
          <p:nvPr/>
        </p:nvSpPr>
        <p:spPr>
          <a:xfrm>
            <a:off x="567000" y="3785760"/>
            <a:ext cx="40680" cy="2011320"/>
          </a:xfrm>
          <a:prstGeom prst="rect">
            <a:avLst/>
          </a:prstGeom>
          <a:solidFill>
            <a:srgbClr val="37a1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2" name="TextBox 29"/>
          <p:cNvSpPr/>
          <p:nvPr/>
        </p:nvSpPr>
        <p:spPr>
          <a:xfrm>
            <a:off x="804600" y="3950280"/>
            <a:ext cx="456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500" spc="-1" strike="noStrike">
                <a:solidFill>
                  <a:srgbClr val="37a169"/>
                </a:solidFill>
                <a:latin typeface="Segoe UI"/>
              </a:rPr>
              <a:t>04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" name="TextBox 30"/>
          <p:cNvSpPr/>
          <p:nvPr/>
        </p:nvSpPr>
        <p:spPr>
          <a:xfrm>
            <a:off x="804600" y="4297680"/>
            <a:ext cx="3062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Тест в азійському каналі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TextBox 31"/>
          <p:cNvSpPr/>
          <p:nvPr/>
        </p:nvSpPr>
        <p:spPr>
          <a:xfrm>
            <a:off x="804600" y="4572000"/>
            <a:ext cx="3062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37a169"/>
                </a:solidFill>
                <a:latin typeface="Segoe UI"/>
              </a:rPr>
              <a:t>1–2 МІСЯЦІ · ПРОДАЖІ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TextBox 32"/>
          <p:cNvSpPr/>
          <p:nvPr/>
        </p:nvSpPr>
        <p:spPr>
          <a:xfrm>
            <a:off x="804600" y="4791600"/>
            <a:ext cx="306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50" spc="-1" strike="noStrike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Rounded Rectangle 33"/>
          <p:cNvSpPr/>
          <p:nvPr/>
        </p:nvSpPr>
        <p:spPr>
          <a:xfrm>
            <a:off x="4334400" y="3785760"/>
            <a:ext cx="3538440" cy="20113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7" name="Rectangle 34"/>
          <p:cNvSpPr/>
          <p:nvPr/>
        </p:nvSpPr>
        <p:spPr>
          <a:xfrm>
            <a:off x="4334400" y="3785760"/>
            <a:ext cx="40680" cy="201132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8" name="TextBox 35"/>
          <p:cNvSpPr/>
          <p:nvPr/>
        </p:nvSpPr>
        <p:spPr>
          <a:xfrm>
            <a:off x="4572000" y="3950280"/>
            <a:ext cx="456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500" spc="-1" strike="noStrike">
                <a:solidFill>
                  <a:srgbClr val="1e9ea6"/>
                </a:solidFill>
                <a:latin typeface="Segoe UI"/>
              </a:rPr>
              <a:t>05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TextBox 36"/>
          <p:cNvSpPr/>
          <p:nvPr/>
        </p:nvSpPr>
        <p:spPr>
          <a:xfrm>
            <a:off x="4572000" y="4297680"/>
            <a:ext cx="3062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Зібрати оборотність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TextBox 37"/>
          <p:cNvSpPr/>
          <p:nvPr/>
        </p:nvSpPr>
        <p:spPr>
          <a:xfrm>
            <a:off x="4572000" y="4572000"/>
            <a:ext cx="3062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1e9ea6"/>
                </a:solidFill>
                <a:latin typeface="Segoe UI"/>
              </a:rPr>
              <a:t>ПАРАЛЕЛЬНО З КРОКОМ 04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TextBox 38"/>
          <p:cNvSpPr/>
          <p:nvPr/>
        </p:nvSpPr>
        <p:spPr>
          <a:xfrm>
            <a:off x="4572000" y="4791600"/>
            <a:ext cx="306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50" spc="-1" strike="noStrike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Rounded Rectangle 39"/>
          <p:cNvSpPr/>
          <p:nvPr/>
        </p:nvSpPr>
        <p:spPr>
          <a:xfrm>
            <a:off x="8101440" y="3785760"/>
            <a:ext cx="3538440" cy="20113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3" name="Rectangle 40"/>
          <p:cNvSpPr/>
          <p:nvPr/>
        </p:nvSpPr>
        <p:spPr>
          <a:xfrm>
            <a:off x="8101440" y="3785760"/>
            <a:ext cx="40680" cy="201132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4" name="TextBox 41"/>
          <p:cNvSpPr/>
          <p:nvPr/>
        </p:nvSpPr>
        <p:spPr>
          <a:xfrm>
            <a:off x="8339400" y="3950280"/>
            <a:ext cx="4568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500" spc="-1" strike="noStrike">
                <a:solidFill>
                  <a:srgbClr val="c94f7c"/>
                </a:solidFill>
                <a:latin typeface="Segoe UI"/>
              </a:rPr>
              <a:t>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TextBox 42"/>
          <p:cNvSpPr/>
          <p:nvPr/>
        </p:nvSpPr>
        <p:spPr>
          <a:xfrm>
            <a:off x="8339400" y="4297680"/>
            <a:ext cx="306288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1050" spc="-1" strike="noStrike">
                <a:solidFill>
                  <a:srgbClr val="1c2235"/>
                </a:solidFill>
                <a:latin typeface="Segoe UI"/>
              </a:rPr>
              <a:t>Розмова з «Сільпо»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TextBox 43"/>
          <p:cNvSpPr/>
          <p:nvPr/>
        </p:nvSpPr>
        <p:spPr>
          <a:xfrm>
            <a:off x="8339400" y="4572000"/>
            <a:ext cx="3062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650" spc="-1" strike="noStrike">
                <a:solidFill>
                  <a:srgbClr val="c94f7c"/>
                </a:solidFill>
                <a:latin typeface="Segoe UI"/>
              </a:rPr>
              <a:t>ПІСЛЯ КРОКУ 05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" name="TextBox 44"/>
          <p:cNvSpPr/>
          <p:nvPr/>
        </p:nvSpPr>
        <p:spPr>
          <a:xfrm>
            <a:off x="8339400" y="4791600"/>
            <a:ext cx="306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50" spc="-1" strike="noStrike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Rounded Rectangle 45"/>
          <p:cNvSpPr/>
          <p:nvPr/>
        </p:nvSpPr>
        <p:spPr>
          <a:xfrm>
            <a:off x="567000" y="5943600"/>
            <a:ext cx="10789560" cy="54828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9" name="Rectangle 46"/>
          <p:cNvSpPr/>
          <p:nvPr/>
        </p:nvSpPr>
        <p:spPr>
          <a:xfrm>
            <a:off x="567000" y="5943600"/>
            <a:ext cx="40680" cy="54828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0" name="TextBox 47"/>
          <p:cNvSpPr/>
          <p:nvPr/>
        </p:nvSpPr>
        <p:spPr>
          <a:xfrm>
            <a:off x="804600" y="6053400"/>
            <a:ext cx="95976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1" lang="en-US" sz="700" spc="-1" strike="noStrike">
                <a:solidFill>
                  <a:srgbClr val="f9a50b"/>
                </a:solidFill>
                <a:latin typeface="Segoe UI"/>
              </a:rPr>
              <a:t>ГОЛОВНЕ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TextBox 48"/>
          <p:cNvSpPr/>
          <p:nvPr/>
        </p:nvSpPr>
        <p:spPr>
          <a:xfrm>
            <a:off x="1874520" y="6035040"/>
            <a:ext cx="93265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b="0" lang="en-US" sz="800" spc="-1" strike="noStrike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TextBox 49"/>
          <p:cNvSpPr/>
          <p:nvPr/>
        </p:nvSpPr>
        <p:spPr>
          <a:xfrm>
            <a:off x="567000" y="6583680"/>
            <a:ext cx="110638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650" spc="-1" strike="noStrike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