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Relationship Id="rId4" Type="http://schemas.openxmlformats.org/officeDocument/2006/relationships/image" Target="../media/image3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15.jpg"/><Relationship Id="rId9" Type="http://schemas.openxmlformats.org/officeDocument/2006/relationships/image" Target="../media/image16.jpg"/><Relationship Id="rId10" Type="http://schemas.openxmlformats.org/officeDocument/2006/relationships/image" Target="../media/image17.jpg"/><Relationship Id="rId11" Type="http://schemas.openxmlformats.org/officeDocument/2006/relationships/image" Target="../media/image18.jpg"/><Relationship Id="rId12" Type="http://schemas.openxmlformats.org/officeDocument/2006/relationships/image" Target="../media/image19.jpg"/><Relationship Id="rId13" Type="http://schemas.openxmlformats.org/officeDocument/2006/relationships/image" Target="../media/image20.jpg"/><Relationship Id="rId14" Type="http://schemas.openxmlformats.org/officeDocument/2006/relationships/image" Target="../media/image21.jpg"/><Relationship Id="rId15" Type="http://schemas.openxmlformats.org/officeDocument/2006/relationships/image" Target="../media/image2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6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2.jpg"/><Relationship Id="rId4" Type="http://schemas.openxmlformats.org/officeDocument/2006/relationships/image" Target="../media/image4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Relationship Id="rId10" Type="http://schemas.openxmlformats.org/officeDocument/2006/relationships/image" Target="../media/image3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9.jpg"/><Relationship Id="rId4" Type="http://schemas.openxmlformats.org/officeDocument/2006/relationships/image" Target="../media/image40.jpg"/><Relationship Id="rId5" Type="http://schemas.openxmlformats.org/officeDocument/2006/relationships/image" Target="../media/image41.jpg"/><Relationship Id="rId6" Type="http://schemas.openxmlformats.org/officeDocument/2006/relationships/image" Target="../media/image42.jpg"/><Relationship Id="rId7" Type="http://schemas.openxmlformats.org/officeDocument/2006/relationships/image" Target="../media/image4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image" Target="../media/image48.jpg"/><Relationship Id="rId9" Type="http://schemas.openxmlformats.org/officeDocument/2006/relationships/image" Target="../media/image49.jpg"/><Relationship Id="rId10" Type="http://schemas.openxmlformats.org/officeDocument/2006/relationships/image" Target="../media/image50.jpg"/><Relationship Id="rId11" Type="http://schemas.openxmlformats.org/officeDocument/2006/relationships/image" Target="../media/image51.jpg"/><Relationship Id="rId12" Type="http://schemas.openxmlformats.org/officeDocument/2006/relationships/image" Target="../media/image5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3.jpg"/><Relationship Id="rId4" Type="http://schemas.openxmlformats.org/officeDocument/2006/relationships/image" Target="../media/image54.jpg"/><Relationship Id="rId5" Type="http://schemas.openxmlformats.org/officeDocument/2006/relationships/image" Target="../media/image55.jpg"/><Relationship Id="rId6" Type="http://schemas.openxmlformats.org/officeDocument/2006/relationships/image" Target="../media/image56.jpg"/><Relationship Id="rId7" Type="http://schemas.openxmlformats.org/officeDocument/2006/relationships/image" Target="../media/image57.jpg"/><Relationship Id="rId8" Type="http://schemas.openxmlformats.org/officeDocument/2006/relationships/image" Target="../media/image5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9.jpg"/><Relationship Id="rId5" Type="http://schemas.openxmlformats.org/officeDocument/2006/relationships/image" Target="../media/image60.jpg"/><Relationship Id="rId6" Type="http://schemas.openxmlformats.org/officeDocument/2006/relationships/image" Target="../media/image61.jp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Relationship Id="rId10" Type="http://schemas.openxmlformats.org/officeDocument/2006/relationships/image" Target="../media/image65.jpg"/><Relationship Id="rId11" Type="http://schemas.openxmlformats.org/officeDocument/2006/relationships/image" Target="../media/image66.jpg"/><Relationship Id="rId12" Type="http://schemas.openxmlformats.org/officeDocument/2006/relationships/image" Target="../media/image67.jpg"/><Relationship Id="rId13" Type="http://schemas.openxmlformats.org/officeDocument/2006/relationships/image" Target="../media/image68.jpg"/><Relationship Id="rId14" Type="http://schemas.openxmlformats.org/officeDocument/2006/relationships/image" Target="../media/image6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0.jpg"/><Relationship Id="rId4" Type="http://schemas.openxmlformats.org/officeDocument/2006/relationships/image" Target="../media/image71.jpg"/><Relationship Id="rId5" Type="http://schemas.openxmlformats.org/officeDocument/2006/relationships/image" Target="../media/image72.jpg"/><Relationship Id="rId6" Type="http://schemas.openxmlformats.org/officeDocument/2006/relationships/image" Target="../media/image73.jpg"/><Relationship Id="rId7" Type="http://schemas.openxmlformats.org/officeDocument/2006/relationships/image" Target="../media/image74.jpg"/><Relationship Id="rId8" Type="http://schemas.openxmlformats.org/officeDocument/2006/relationships/image" Target="../media/image75.jpg"/><Relationship Id="rId9" Type="http://schemas.openxmlformats.org/officeDocument/2006/relationships/image" Target="../media/image76.jpg"/><Relationship Id="rId10" Type="http://schemas.openxmlformats.org/officeDocument/2006/relationships/image" Target="../media/image7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8.jpg"/><Relationship Id="rId4" Type="http://schemas.openxmlformats.org/officeDocument/2006/relationships/image" Target="../media/image79.jpg"/><Relationship Id="rId5" Type="http://schemas.openxmlformats.org/officeDocument/2006/relationships/image" Target="../media/image80.jpg"/><Relationship Id="rId6" Type="http://schemas.openxmlformats.org/officeDocument/2006/relationships/image" Target="../media/image81.jpg"/><Relationship Id="rId7" Type="http://schemas.openxmlformats.org/officeDocument/2006/relationships/image" Target="../media/image82.jpg"/><Relationship Id="rId8" Type="http://schemas.openxmlformats.org/officeDocument/2006/relationships/image" Target="../media/image83.jpg"/><Relationship Id="rId9" Type="http://schemas.openxmlformats.org/officeDocument/2006/relationships/image" Target="../media/image84.jpg"/><Relationship Id="rId10" Type="http://schemas.openxmlformats.org/officeDocument/2006/relationships/image" Target="../media/image85.jpg"/><Relationship Id="rId11" Type="http://schemas.openxmlformats.org/officeDocument/2006/relationships/image" Target="../media/image86.jpg"/><Relationship Id="rId12" Type="http://schemas.openxmlformats.org/officeDocument/2006/relationships/image" Target="../media/image87.jpg"/><Relationship Id="rId13" Type="http://schemas.openxmlformats.org/officeDocument/2006/relationships/image" Target="../media/image8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9.jpg"/><Relationship Id="rId4" Type="http://schemas.openxmlformats.org/officeDocument/2006/relationships/image" Target="../media/image90.jpg"/><Relationship Id="rId5" Type="http://schemas.openxmlformats.org/officeDocument/2006/relationships/image" Target="../media/image91.jpg"/><Relationship Id="rId6" Type="http://schemas.openxmlformats.org/officeDocument/2006/relationships/image" Target="../media/image92.jpg"/><Relationship Id="rId7" Type="http://schemas.openxmlformats.org/officeDocument/2006/relationships/image" Target="../media/image93.jpg"/><Relationship Id="rId8" Type="http://schemas.openxmlformats.org/officeDocument/2006/relationships/image" Target="../media/image9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для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розігріву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(30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) — 73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100 г.
У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продається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84.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Решта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73 —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лише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онлайн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маркетплейси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азійські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фудшопи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туристичні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й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військові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магазини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.
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Країни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ЄС — 31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Китай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24,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Україна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16,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Корея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4436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294436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294436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3631" y="294436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5" y="294436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59" y="294436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94436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13639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16839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6272" y="316839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316839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3631" y="316839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34255" y="316839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59" y="316839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16839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39242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76272" y="339242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4368" y="339242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13631" y="339242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34255" y="339242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315–483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59" y="339242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339242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762756"/>
            <a:ext cx="10789920" cy="2148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794760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3799332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4247388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380–1190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3090672"/>
            <a:ext cx="10789920" cy="2148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122676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3127248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38328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76272" y="338328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4368" y="338328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13631" y="338328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338328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83–321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59" y="338328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38328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575304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60730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6272" y="360730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0730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1" y="360730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34255" y="360730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55–156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2159" y="360730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360730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3133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6272" y="383133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44368" y="383133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13631" y="383133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34255" y="383133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59" y="383133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0" y="383133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23360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130–145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290–370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93776" y="447141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269–715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72744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76272" y="472744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44368" y="472744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13631" y="472744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34255" y="472744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59" y="472744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Нідерландський сублімат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472744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91947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95147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76272" y="495147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495147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13631" y="495147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4255" y="495147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275–889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59" y="495147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495147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517550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76272" y="517550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44368" y="517550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13631" y="517550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4255" y="517550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59" y="517550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17550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3411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ЧАША ПРАЦЮЄ СКРІЗЬ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84–320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Єдиний формат, присутній у шести
вагових смугах із семи.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Медіана 129 грн.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медіана 90 грн —
найнижчий цінник категорії.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1 · BEN'S 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13 позицій: пауч 220, 240 і 250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категорії і єдиний бренд, що дійшов до мережевої полиці.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0369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8362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6355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34348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2341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90334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45–65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376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50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0369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65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78362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56355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34348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12341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 грн/100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2 · OTTOGI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10 позицій: чаша 217–320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із наповнювачем для мікрохвильовки. Продається у чотирьох продавців.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82–84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91–103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91–130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94–124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124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117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3 · HENAN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8 позицій: чаша 144 і 174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Найдешевша чаша на ринку.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74–90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80–90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64–86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83864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5352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840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106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4–8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Маркел, Gallina Blanca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По одній-дві позиції в кожного: різні країни, різні формати, різні канали.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64–90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101–178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31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найдешевший грам категорії, 27–31 грн за 100 г.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9 · HAIDILAO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10 позицій: коробка 165–360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 —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283–294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364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348–364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359–365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331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10–13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Haoji, Qiaoshanmei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Китайський саморозігрів і рис під окріп. Усі чотири бренди — в одному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грн: 167 грн за 100 г, дешевше за грам, ніж Haidilao (230–371).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14–17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Рис-страви у дойпаку: залити окропом на 8–10 хвилин. Німеччина, США, Нідерланди.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220–412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236–412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412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281–324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324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356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635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526 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34348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337 грн/100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18–19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готова страва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94–101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79–89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75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994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344–439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913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355–439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221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156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264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075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308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79–101 грн за 100 г: у тому ж коридорі, що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20–23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Українські виробники рисових страв у дойпаку. Канал — туристичні й військові магазини.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92–153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195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61–90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171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153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00369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98 грн/100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321 грн/100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133–140 грн/100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є на полиці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пауча з готовим рисом, зате мають суміжну категорію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9464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48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5781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42–46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18,5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47,6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41,0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45,7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88,0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1755648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7556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755648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6143" y="1755648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938528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1938528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193852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19385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9385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6143" y="1938528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215341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1" y="2153412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1534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2153412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3" y="215341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72491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2112" y="272491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272491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27249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272491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6143" y="272491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39795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2112" y="2939795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1" y="2939795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293979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2939795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6143" y="2939795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54679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3154679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1" y="3154679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19" y="315467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154679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3" y="3154679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3369563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1" y="3369563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19" y="336956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19" y="3369563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96143" y="3369563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844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844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35844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35844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19" y="35844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96143" y="35844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1559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559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4031" y="41559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1559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19" y="41559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3" y="41559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37083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2112" y="437083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37083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19" y="43708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61119" y="437083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3" y="437083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5857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2112" y="45857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5857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19" y="45857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61119" y="45857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96143" y="45857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1572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82112" y="51572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4031" y="51572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19" y="51572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19" y="51572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96143" y="51572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АЗІЙСЬКИЙ ФОРМАТ У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Дистрибуція вже є — рису в ній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Скільки позицій кожного азійського бренду вже стоїть у національних мережах.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06229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БАР'ЄР — НЕ ДИСТРИБУЦІЯ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лістинг, полиця й логістика під ці бренди вже існують.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181344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F9A50B"/>
                </a:solidFill>
                <a:latin typeface="Segoe UI"/>
              </a:rPr>
              <a:t>ЯК РАХУВАЛИ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64224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" b="0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332 грн проти Ottogi 255 грн.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63040"/>
            <a:ext cx="7635240" cy="26764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АУДИТ ФІНМОДЕЛІ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Чотири припущення, які треба закрити до переговорів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Модель арифметично коректна. Ризики — у вхідних даних і в трактуванні податків.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1396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ПДВ, ймовірно, задвоєно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Собівартість містить імпортний ПДВ 20 % (RTE_Rice_Suppliers), а ціна партнера в моделі «вже з ПДВ». Для платника ПДВ імпортний податок — податковий кредит, а не витрата.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ЯКЩО ПІДТВЕРДИТЬСЯ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СС падає на 16,7 %, полиця BSCM пауч 240 г: 157 → 131 грн, стакан 150 г: 139 → 116 грн. Це змінює весь висновок щодо пауча.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572768"/>
            <a:ext cx="41148" cy="21396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9A50B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«Маржа 35 %» — не прибуток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моделі маржа = (ціна партнера − СС − бонус) / ціна партнера. У ній немає нашого ФОП, маркетингу, вхідних бонусів мережі, внутрішньої логістики, списань і прострочення.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5664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ЩО ЗРОБИТИ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Додати рядок операційних витрат. Поки його немає, 35 % не можна називати рентабельністю — це валова націнка.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904487"/>
            <a:ext cx="41148" cy="21396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Ставка мита не підтверджена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СС закладено мито 10 %. Дослідження ринку вказує 0 % для CN 1904 90 10 з ЄС. Для Таїланду й Кореї діє інша ставка, джерело в моделі не зазначено.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ЩО ЗРОБИТИ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Отримати письмову тарифну класифікацію за УКТЗЕД 1904 90 10 до підписання контракту. Похибка в 10 % — це 27 грн на полиці.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904487"/>
            <a:ext cx="41148" cy="21396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Бонус мережі 25 % — гіпотеза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Ставка 25 % взята з прикладу по локшині. Реальні умови «Сільпо» для нової імпортної категорії без історії продажів можуть бути вищими, плюс вхідний бонус і плата за лістинг.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55664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ЩО ЗРОБИТИ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Запросити комерційні умови до розрахунку цін. За бонусу 30 % полиця зростає на 17 % при тій самій маржі.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Пункт 1 — ГІПОТЕЗА, що потребує підтвердження бухгалтером: залежить від статусу платника ПДВ і від того, як ПДВ ураховано в аркушах Self_Cost. Пункти 2–4 — прямі спостереження за вмістом моделі й супровідних файлів.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