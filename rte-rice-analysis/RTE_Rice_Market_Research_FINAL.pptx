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jpg"/><Relationship Id="rId4" Type="http://schemas.openxmlformats.org/officeDocument/2006/relationships/image" Target="../media/image8.jpg"/><Relationship Id="rId5" Type="http://schemas.openxmlformats.org/officeDocument/2006/relationships/image" Target="../media/image9.jpg"/><Relationship Id="rId6" Type="http://schemas.openxmlformats.org/officeDocument/2006/relationships/image" Target="../media/image10.jpg"/><Relationship Id="rId7" Type="http://schemas.openxmlformats.org/officeDocument/2006/relationships/image" Target="../media/image11.jpg"/><Relationship Id="rId8" Type="http://schemas.openxmlformats.org/officeDocument/2006/relationships/image" Target="../media/image12.jpg"/><Relationship Id="rId9" Type="http://schemas.openxmlformats.org/officeDocument/2006/relationships/image" Target="../media/image13.jpg"/><Relationship Id="rId10" Type="http://schemas.openxmlformats.org/officeDocument/2006/relationships/image" Target="../media/image14.jpg"/><Relationship Id="rId11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jpg"/><Relationship Id="rId4" Type="http://schemas.openxmlformats.org/officeDocument/2006/relationships/image" Target="../media/image17.jpg"/><Relationship Id="rId5" Type="http://schemas.openxmlformats.org/officeDocument/2006/relationships/image" Target="../media/image18.jpg"/><Relationship Id="rId6" Type="http://schemas.openxmlformats.org/officeDocument/2006/relationships/image" Target="../media/image19.jpg"/><Relationship Id="rId7" Type="http://schemas.openxmlformats.org/officeDocument/2006/relationships/image" Target="../media/image20.jpg"/><Relationship Id="rId8" Type="http://schemas.openxmlformats.org/officeDocument/2006/relationships/image" Target="../media/image2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jpg"/><Relationship Id="rId4" Type="http://schemas.openxmlformats.org/officeDocument/2006/relationships/image" Target="../media/image22.jpg"/><Relationship Id="rId5" Type="http://schemas.openxmlformats.org/officeDocument/2006/relationships/image" Target="../media/image23.jpg"/><Relationship Id="rId6" Type="http://schemas.openxmlformats.org/officeDocument/2006/relationships/image" Target="../media/image24.jpg"/><Relationship Id="rId7" Type="http://schemas.openxmlformats.org/officeDocument/2006/relationships/image" Target="../media/image25.jpg"/><Relationship Id="rId8" Type="http://schemas.openxmlformats.org/officeDocument/2006/relationships/image" Target="../media/image26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jpg"/><Relationship Id="rId4" Type="http://schemas.openxmlformats.org/officeDocument/2006/relationships/image" Target="../media/image27.jpg"/><Relationship Id="rId5" Type="http://schemas.openxmlformats.org/officeDocument/2006/relationships/image" Target="../media/image28.jpg"/><Relationship Id="rId6" Type="http://schemas.openxmlformats.org/officeDocument/2006/relationships/image" Target="../media/image29.jpg"/><Relationship Id="rId7" Type="http://schemas.openxmlformats.org/officeDocument/2006/relationships/image" Target="../media/image3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jpg"/><Relationship Id="rId4" Type="http://schemas.openxmlformats.org/officeDocument/2006/relationships/image" Target="../media/image31.jpg"/><Relationship Id="rId5" Type="http://schemas.openxmlformats.org/officeDocument/2006/relationships/image" Target="../media/image32.jpg"/><Relationship Id="rId6" Type="http://schemas.openxmlformats.org/officeDocument/2006/relationships/image" Target="../media/image33.jpg"/><Relationship Id="rId7" Type="http://schemas.openxmlformats.org/officeDocument/2006/relationships/image" Target="../media/image34.jpg"/><Relationship Id="rId8" Type="http://schemas.openxmlformats.org/officeDocument/2006/relationships/image" Target="../media/image35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jpg"/><Relationship Id="rId4" Type="http://schemas.openxmlformats.org/officeDocument/2006/relationships/image" Target="../media/image36.jpg"/><Relationship Id="rId5" Type="http://schemas.openxmlformats.org/officeDocument/2006/relationships/image" Target="../media/image37.jpg"/><Relationship Id="rId6" Type="http://schemas.openxmlformats.org/officeDocument/2006/relationships/image" Target="../media/image38.jpg"/><Relationship Id="rId7" Type="http://schemas.openxmlformats.org/officeDocument/2006/relationships/image" Target="../media/image39.jpg"/><Relationship Id="rId8" Type="http://schemas.openxmlformats.org/officeDocument/2006/relationships/image" Target="../media/image40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1.jpg"/><Relationship Id="rId4" Type="http://schemas.openxmlformats.org/officeDocument/2006/relationships/image" Target="../media/image42.jpg"/><Relationship Id="rId5" Type="http://schemas.openxmlformats.org/officeDocument/2006/relationships/image" Target="../media/image43.jpg"/><Relationship Id="rId6" Type="http://schemas.openxmlformats.org/officeDocument/2006/relationships/image" Target="../media/image44.jpg"/><Relationship Id="rId7" Type="http://schemas.openxmlformats.org/officeDocument/2006/relationships/image" Target="../media/image45.jpg"/><Relationship Id="rId8" Type="http://schemas.openxmlformats.org/officeDocument/2006/relationships/image" Target="../media/image46.jpg"/><Relationship Id="rId9" Type="http://schemas.openxmlformats.org/officeDocument/2006/relationships/image" Target="../media/image47.jpg"/><Relationship Id="rId10" Type="http://schemas.openxmlformats.org/officeDocument/2006/relationships/image" Target="../media/image4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jpg"/><Relationship Id="rId4" Type="http://schemas.openxmlformats.org/officeDocument/2006/relationships/image" Target="../media/image49.jpg"/><Relationship Id="rId5" Type="http://schemas.openxmlformats.org/officeDocument/2006/relationships/image" Target="../media/image50.jpg"/><Relationship Id="rId6" Type="http://schemas.openxmlformats.org/officeDocument/2006/relationships/image" Target="../media/image51.jpg"/><Relationship Id="rId7" Type="http://schemas.openxmlformats.org/officeDocument/2006/relationships/image" Target="../media/image52.jpg"/><Relationship Id="rId8" Type="http://schemas.openxmlformats.org/officeDocument/2006/relationships/image" Target="../media/image53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4.jpg"/><Relationship Id="rId4" Type="http://schemas.openxmlformats.org/officeDocument/2006/relationships/image" Target="../media/image55.jpg"/><Relationship Id="rId5" Type="http://schemas.openxmlformats.org/officeDocument/2006/relationships/image" Target="../media/image56.jpg"/><Relationship Id="rId6" Type="http://schemas.openxmlformats.org/officeDocument/2006/relationships/image" Target="../media/image57.jpg"/><Relationship Id="rId7" Type="http://schemas.openxmlformats.org/officeDocument/2006/relationships/image" Target="../media/image58.jpg"/><Relationship Id="rId8" Type="http://schemas.openxmlformats.org/officeDocument/2006/relationships/image" Target="../media/image59.jpg"/><Relationship Id="rId9" Type="http://schemas.openxmlformats.org/officeDocument/2006/relationships/image" Target="../media/image6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jpg"/><Relationship Id="rId4" Type="http://schemas.openxmlformats.org/officeDocument/2006/relationships/image" Target="../media/image61.jpg"/><Relationship Id="rId5" Type="http://schemas.openxmlformats.org/officeDocument/2006/relationships/image" Target="../media/image62.jpg"/><Relationship Id="rId6" Type="http://schemas.openxmlformats.org/officeDocument/2006/relationships/image" Target="../media/image63.jpg"/><Relationship Id="rId7" Type="http://schemas.openxmlformats.org/officeDocument/2006/relationships/image" Target="../media/image64.jpg"/><Relationship Id="rId8" Type="http://schemas.openxmlformats.org/officeDocument/2006/relationships/image" Target="../media/image65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640080"/>
            <a:ext cx="1828800" cy="7905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2402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9A50B"/>
                </a:solidFill>
                <a:latin typeface="Segoe UI"/>
              </a:rPr>
              <a:t>ДОСЛІДЖЕННЯ РИНКУ ТА ПОЗИЦІОНУВАННЯ · ВЕРЕСЕНЬ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51760"/>
            <a:ext cx="9692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Segoe UI"/>
              </a:rPr>
              <a:t>Готовий рис
в Україні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43984"/>
            <a:ext cx="8961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B9C2DA"/>
                </a:solidFill>
                <a:latin typeface="Segoe UI"/>
              </a:rPr>
              <a:t>Карта ринку, сегментація категорії, аналітика форматів упаковки та зіставлення нашої фінансової моделі з полицею.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2180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522976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9A50B"/>
                </a:solidFill>
                <a:latin typeface="Segoe UI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532180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717890"/>
                </a:solidFill>
                <a:latin typeface="Segoe UI"/>
              </a:rPr>
              <a:t>ПОЗИЦІЙ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5522976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9A50B"/>
                </a:solidFill>
                <a:latin typeface="Segoe UI"/>
              </a:rPr>
              <a:t>84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532180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717890"/>
                </a:solidFill>
                <a:latin typeface="Segoe UI"/>
              </a:rPr>
              <a:t>ПРОДАВЦІВ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5522976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9A50B"/>
                </a:solidFill>
                <a:latin typeface="Segoe UI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5321808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717890"/>
                </a:solidFill>
                <a:latin typeface="Segoe UI"/>
              </a:rPr>
              <a:t>НАШИХ SKU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5522976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9A50B"/>
                </a:solidFill>
                <a:latin typeface="Segoe UI"/>
              </a:rPr>
              <a:t>32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Шість цифр, які описують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Усі ціни в колоді — за одну упаковку. Опт і ящики до розрахунку не входять.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609344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64792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ОБСЯГ ІМПОРТУ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75104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C4820A"/>
                </a:solidFill>
                <a:latin typeface="Segoe UI"/>
              </a:rPr>
              <a:t>182 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450592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Готовий рис, CN 1904 90 10.
+59 % до 2024 року.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1609344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1764792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ЄМНІСТЬ РОЗДРІБУ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1975104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E9EA6"/>
                </a:solidFill>
                <a:latin typeface="Segoe UI"/>
              </a:rPr>
              <a:t>87–110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2450592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млн грн на рік — оцінка
за імпортом × 2,2–2,8.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36992" y="1609344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1764792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ПОЗИЦІЙ У ПРОДАЖУ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1975104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5D4B96"/>
                </a:solidFill>
                <a:latin typeface="Segoe UI"/>
              </a:rPr>
              <a:t>84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450592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23 бренди, 64 продавці.
У мережі — 12 позицій.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99232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154680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НАЙПОШИРЕНІШИЙ ФОРМАТ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364992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C94F7C"/>
                </a:solidFill>
                <a:latin typeface="Segoe UI"/>
              </a:rPr>
              <a:t>дойпак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3840480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30 позицій (36 %),
але це туризм, не полиця.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1960" y="2999232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53128" y="3154680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МАСОВА ВАГА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8" y="3364992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37A169"/>
                </a:solidFill>
                <a:latin typeface="Segoe UI"/>
              </a:rPr>
              <a:t>250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128" y="3840480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9 позицій. Далі 220 г — 7,
174 г — 5, 85 г — 5.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36992" y="2999232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3154680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ФОРМАТ ПОЛИЦІ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3364992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F9A50B"/>
                </a:solidFill>
                <a:latin typeface="Segoe UI"/>
              </a:rPr>
              <a:t>пауч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840480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19 позицій, медіана 109 грн —
найдешевший вхід у категорію.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517136"/>
            <a:ext cx="5413248" cy="164592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517136"/>
            <a:ext cx="41148" cy="16459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4672584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ЩО ЦЕ ОЗНАЧАЄ ДЛЯ ПОЛИЦІ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" y="4937760"/>
            <a:ext cx="495604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1. Категорія імпортується, але майже не потрапляє в мережі: 12 позицій із 84.
2. Зростання 2025 року дає Болгарія: 44,8 → 78,3 т за рік, +75 %.
3. Формат, який працює на полиці, — пауч 220–250 г: медіана 109 грн.
4. Готового рису в Україні не виробляють: 100 % обсягу — імпорт.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0" y="4517136"/>
            <a:ext cx="5413248" cy="1645920"/>
          </a:xfrm>
          <a:prstGeom prst="roundRect">
            <a:avLst>
              <a:gd name="adj" fmla="val 6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17920" y="4517136"/>
            <a:ext cx="41148" cy="1645920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55664" y="4672584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9FA9C4"/>
                </a:solidFill>
                <a:latin typeface="Segoe UI"/>
              </a:rPr>
              <a:t>ЧОГО НА РИНКУ НЕМАЄ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55664" y="4937760"/>
            <a:ext cx="495604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1. Немає чаші за 100–150 грн у мережі: Ottogi 225–356, Henan 83–156 — обидва лише онлайн.
2. Немає українського готового рису в паучі для мікрохвильовки.
3. Немає жодного бренду одночасно в мережі та на маркетплейсі, крім Ben's.
4. Немає локалізації: жодної україномовної упаковки серед 84 позицій.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Джерела: Eurostat Comext (CN 1904 90 10, експорт ЄС→Україна), UN Comtrade, 17 мереж zakaz.ua, «Сільпо», Prom, Rozetka, MAUDAU — 22–23.09.2026 та каталожні API мереж 28.09.2026.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ОБСЯГ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182 тонни імпорту, 87–110 млн грн роздрібу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Готовий рис в Україні не виробляють у паучах — увесь обсяг категорії це імпорт.</a:t>
            </a:r>
          </a:p>
        </p:txBody>
      </p:sp>
      <p:pic>
        <p:nvPicPr>
          <p:cNvPr id="10" name="Picture 9" descr="c9_impo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91056"/>
            <a:ext cx="6309360" cy="29927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23760" y="1645920"/>
            <a:ext cx="4389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717890"/>
                </a:solidFill>
                <a:latin typeface="Segoe UI"/>
              </a:rPr>
              <a:t>ЗВІДКИ ЇДЕ, 2025 РІК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1883664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Польща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13648" y="1924812"/>
            <a:ext cx="2011680" cy="9601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98480" y="1883664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C2235"/>
                </a:solidFill>
                <a:latin typeface="Segoe UI"/>
              </a:rPr>
              <a:t>94,4 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157984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Болгарія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13648" y="2199132"/>
            <a:ext cx="1668586" cy="9601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98480" y="2157984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C2235"/>
                </a:solidFill>
                <a:latin typeface="Segoe UI"/>
              </a:rPr>
              <a:t>78,3 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2432303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Італія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13648" y="2473451"/>
            <a:ext cx="119336" cy="9601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98480" y="2432303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C2235"/>
                </a:solidFill>
                <a:latin typeface="Segoe UI"/>
              </a:rPr>
              <a:t>5,6 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2706623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Корея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13648" y="2747771"/>
            <a:ext cx="42620" cy="9601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98480" y="2706623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C2235"/>
                </a:solidFill>
                <a:latin typeface="Segoe UI"/>
              </a:rPr>
              <a:t>2,0 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2980943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Китай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13648" y="3022091"/>
            <a:ext cx="36576" cy="96012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98480" y="2980943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C2235"/>
                </a:solidFill>
                <a:latin typeface="Segoe UI"/>
              </a:rPr>
              <a:t>1,0 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3255263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Іспанія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13648" y="3296411"/>
            <a:ext cx="36576" cy="96012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98480" y="3255263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C2235"/>
                </a:solidFill>
                <a:latin typeface="Segoe UI"/>
              </a:rPr>
              <a:t>0,4 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3760" y="3529583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Франція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613648" y="3570731"/>
            <a:ext cx="36576" cy="96012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698480" y="3529583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C2235"/>
                </a:solidFill>
                <a:latin typeface="Segoe UI"/>
              </a:rPr>
              <a:t>0,4 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895343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>
                <a:solidFill>
                  <a:srgbClr val="717890"/>
                </a:solidFill>
                <a:latin typeface="Segoe UI"/>
              </a:rPr>
              <a:t>Польща і Болгарія — 95 % тонажу: це заводи ЄС, що пакують рис у пауч. Корея і Китай разом дають 3,1 т — це чаші Ottogi, Bibigo та Henan.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4498848"/>
            <a:ext cx="11064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>
                <a:solidFill>
                  <a:srgbClr val="F9A50B"/>
                </a:solidFill>
                <a:latin typeface="Segoe UI"/>
              </a:rPr>
              <a:t>ЯК РАХУВАЛИ ЄМНІСТЬ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8" y="4718304"/>
            <a:ext cx="2048256" cy="78638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4828032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182 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512064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імпорт 2025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33472" y="4974336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816352" y="4718304"/>
            <a:ext cx="2048256" cy="78638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980944" y="4828032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39 млн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80944" y="512064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CIF за курсом НБУ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82896" y="4974336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65776" y="4718304"/>
            <a:ext cx="2048256" cy="78638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30368" y="4828032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× 2,2–2,8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30368" y="512064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мито, ПДВ, маржа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32320" y="4974336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0" y="4718304"/>
            <a:ext cx="2048256" cy="78638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79792" y="4828032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87–110 млн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79792" y="512064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роздріб на рік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81744" y="4974336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564624" y="4718304"/>
            <a:ext cx="2048256" cy="78638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29215" y="4828032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≈ 830 тис.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729215" y="512064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упаковок на рік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66928" y="5650992"/>
            <a:ext cx="11064240" cy="457200"/>
          </a:xfrm>
          <a:prstGeom prst="roundRect">
            <a:avLst>
              <a:gd name="adj" fmla="val 5000"/>
            </a:avLst>
          </a:prstGeom>
          <a:solidFill>
            <a:srgbClr val="FFF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66928" y="5650992"/>
            <a:ext cx="41148" cy="45720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22960" y="5733288"/>
            <a:ext cx="2743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F9A50B"/>
                </a:solidFill>
                <a:latin typeface="Segoe UI"/>
              </a:rPr>
              <a:t>ПЕРЕВІРКА З ІНШОГО БОКУ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11880" y="572414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>
                <a:solidFill>
                  <a:srgbClr val="303A5D"/>
                </a:solidFill>
                <a:latin typeface="Segoe UI"/>
              </a:rPr>
              <a:t>830 тис. упаковок × 110 грн медіани = 91 млн грн. Два методи сходяться.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Джерела: Eurostat Comext DS-045409, CN 1904 90 10, експорт ЄС→Україна 2019–2025; UN Comtrade; курс НБУ. Ємність роздрібу — ОЦІНКА, не заміряні продажі.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КАРТА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23 бренди, чотири технології приготування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Групування за тим, як продукт готується: від цього залежить і ціна, і канал.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609344"/>
            <a:ext cx="2615184" cy="393192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609344"/>
            <a:ext cx="2615184" cy="27432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659636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ГОТОВИЙ РИС · РОЗІГРІВ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011680"/>
            <a:ext cx="22128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>
                <a:solidFill>
                  <a:srgbClr val="C4820A"/>
                </a:solidFill>
                <a:latin typeface="Segoe UI"/>
              </a:rPr>
              <a:t>30 позицій · 7 брендів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267712"/>
            <a:ext cx="221284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Ben's Original · Ottogi · Bibigo · Clearspring · Portion · Маркел · Adventure Menu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3218688"/>
            <a:ext cx="22128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Мікрохвильовка 60–90 с або реторт. Маса — готової страви.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8096" y="3749039"/>
            <a:ext cx="2212848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3858768"/>
            <a:ext cx="22128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717890"/>
                </a:solidFill>
                <a:latin typeface="Segoe UI"/>
              </a:rPr>
              <a:t>МЕДІАНА ЗА УПАКОВКУ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4041648"/>
            <a:ext cx="22128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C4820A"/>
                </a:solidFill>
                <a:latin typeface="Segoe UI"/>
              </a:rPr>
              <a:t>164 грн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4443984"/>
            <a:ext cx="22128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608576"/>
            <a:ext cx="22128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>
                <a:solidFill>
                  <a:srgbClr val="303A5D"/>
                </a:solidFill>
                <a:latin typeface="Segoe UI"/>
              </a:rPr>
              <a:t>45 – 446 грн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55848" y="1609344"/>
            <a:ext cx="2615184" cy="393192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55848" y="1609344"/>
            <a:ext cx="2615184" cy="2743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55848" y="1659636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ЗАЛИТИ ОКРОПОМ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57016" y="2011680"/>
            <a:ext cx="22128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>
                <a:solidFill>
                  <a:srgbClr val="1E9EA6"/>
                </a:solidFill>
                <a:latin typeface="Segoe UI"/>
              </a:rPr>
              <a:t>12 позицій · 3 брендів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57016" y="2267712"/>
            <a:ext cx="221284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Henan · Gallina Blanca · Qiaoshanmei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57016" y="3218688"/>
            <a:ext cx="22128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Сухий рис із соусом у чаші чи пакеті, 5–10 хв.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57016" y="3749039"/>
            <a:ext cx="2212848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7016" y="3858768"/>
            <a:ext cx="22128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717890"/>
                </a:solidFill>
                <a:latin typeface="Segoe UI"/>
              </a:rPr>
              <a:t>МЕДІАНА ЗА УПАКОВКУ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7016" y="4041648"/>
            <a:ext cx="22128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9EA6"/>
                </a:solidFill>
                <a:latin typeface="Segoe UI"/>
              </a:rPr>
              <a:t>138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57016" y="4443984"/>
            <a:ext cx="22128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57016" y="4608576"/>
            <a:ext cx="22128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>
                <a:solidFill>
                  <a:srgbClr val="303A5D"/>
                </a:solidFill>
                <a:latin typeface="Segoe UI"/>
              </a:rPr>
              <a:t>83 – 501 грн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44768" y="1609344"/>
            <a:ext cx="2615184" cy="393192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44768" y="1609344"/>
            <a:ext cx="2615184" cy="27432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1659636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САМОРОЗІГРІВ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45936" y="2011680"/>
            <a:ext cx="22128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>
                <a:solidFill>
                  <a:srgbClr val="C94F7C"/>
                </a:solidFill>
                <a:latin typeface="Segoe UI"/>
              </a:rPr>
              <a:t>14 позицій · 4 брендів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2267712"/>
            <a:ext cx="221284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Haidilao · Mo Xiao Xian · Zihaiguo · Rongcheng Haoji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45936" y="3218688"/>
            <a:ext cx="22128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Хімічний нагрівач у коробці, без техніки, 15 хв.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45936" y="3749039"/>
            <a:ext cx="2212848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45936" y="3858768"/>
            <a:ext cx="22128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717890"/>
                </a:solidFill>
                <a:latin typeface="Segoe UI"/>
              </a:rPr>
              <a:t>МЕДІАНА ЗА УПАКОВКУ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5936" y="4041648"/>
            <a:ext cx="22128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C94F7C"/>
                </a:solidFill>
                <a:latin typeface="Segoe UI"/>
              </a:rPr>
              <a:t>735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45936" y="4443984"/>
            <a:ext cx="22128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45936" y="4608576"/>
            <a:ext cx="22128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>
                <a:solidFill>
                  <a:srgbClr val="303A5D"/>
                </a:solidFill>
                <a:latin typeface="Segoe UI"/>
              </a:rPr>
              <a:t>380 – 1 190 грн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933687" y="1609344"/>
            <a:ext cx="2615184" cy="393192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933687" y="1609344"/>
            <a:ext cx="2615184" cy="2743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33687" y="1659636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СУБЛІМАЦІЯ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34855" y="2011680"/>
            <a:ext cx="22128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>
                <a:solidFill>
                  <a:srgbClr val="5D4B96"/>
                </a:solidFill>
                <a:latin typeface="Segoe UI"/>
              </a:rPr>
              <a:t>28 позицій · 10 брендів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34855" y="2267712"/>
            <a:ext cx="221284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Travellunch · Trek'n Eat · Adventure Food · Mountain House · Adventure Menu · SubliMate · James Cook · Їжа в Похід · Харчі · !FEST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34855" y="3218688"/>
            <a:ext cx="22128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Сушіння виморожуванням, окріп. Туризм і армія.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34855" y="3749039"/>
            <a:ext cx="2212848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34855" y="3858768"/>
            <a:ext cx="22128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717890"/>
                </a:solidFill>
                <a:latin typeface="Segoe UI"/>
              </a:rPr>
              <a:t>МЕДІАНА ЗА УПАКОВКУ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34855" y="4041648"/>
            <a:ext cx="22128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D4B96"/>
                </a:solidFill>
                <a:latin typeface="Segoe UI"/>
              </a:rPr>
              <a:t>302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34855" y="4443984"/>
            <a:ext cx="22128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34855" y="4608576"/>
            <a:ext cx="22128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>
                <a:solidFill>
                  <a:srgbClr val="303A5D"/>
                </a:solidFill>
                <a:latin typeface="Segoe UI"/>
              </a:rPr>
              <a:t>55 – 889 грн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66928" y="5650992"/>
            <a:ext cx="11064240" cy="45720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66928" y="5650992"/>
            <a:ext cx="41148" cy="45720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22960" y="5733288"/>
            <a:ext cx="2194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ЩО ПОКАЗУЄ РОЗБІР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063240" y="5724144"/>
            <a:ext cx="8321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>
                <a:solidFill>
                  <a:srgbClr val="303A5D"/>
                </a:solidFill>
                <a:latin typeface="Segoe UI"/>
              </a:rPr>
              <a:t>Ben's Original — 13 позицій, єдиний бренд у мережі. Ottogi і Henan — 18 азійських чаш. Українських позицій 16, але жодної в паучі.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Джерела: 17 мереж на zakaz.ua, «Сільпо», Prom, MAUDAU, Rozetka, спеціалізовані магазини — 22–23.09.2026.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МАТРИЦЯ БРЕНДІВ · 1 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Сегменти 1 і 2: готовий рис і рис під окріп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Це два сегменти, які конкурують із нами напряму. Усередині сегмента бренди відсортовані від найдешевшого до найдорожчого.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093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1554480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КРАЇНА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4368" y="1554480"/>
            <a:ext cx="9692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13631" y="1554480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4255" y="1554480"/>
            <a:ext cx="15179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59" y="1554480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 ТАКЕ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1554480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1755648"/>
            <a:ext cx="10789920" cy="21488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1787651"/>
            <a:ext cx="5852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СЕГМЕНТ 1 · ГОТОВИЙ РИС ДО РОЗІГРІВУ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1792224"/>
            <a:ext cx="45720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>
                <a:solidFill>
                  <a:srgbClr val="FFFFFF"/>
                </a:solidFill>
                <a:latin typeface="Segoe UI"/>
              </a:rPr>
              <a:t>Мікрохвильовка 60–90 с. Маса — готової страви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048255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Ben's Original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76272" y="2048255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44368" y="2048255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13631" y="2048255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34255" y="2048255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45–179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59" y="2048255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Пауч від Mars. Мікрохвильовка 90 с. Єдиний у мережевому роздрібі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048255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Мережа + маркетплейс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3776" y="2240279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227228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Маркел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76272" y="227228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44368" y="227228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13631" y="227228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34255" y="227228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94–96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59" y="227228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реторт для військторгу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227228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Військторг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496312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Portion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76272" y="2496312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44368" y="2496312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13631" y="2496312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34255" y="2496312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109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159" y="2496312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реторт 350 г. Найдешевший грам категорії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2496312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Маркетплейс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2688336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2720340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Bibigo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76272" y="2720340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44368" y="2720340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13631" y="272034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4255" y="2720340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135–189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52159" y="2720340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Корейський лоток білого рису. Розігрів 90 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0" y="2720340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Фудшопи + маркетплейс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2944368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Ottogi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76272" y="2944368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Корея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44368" y="2944368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13631" y="2944368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34255" y="2944368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225–356 грн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52159" y="2944368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Корейська чаша з м'ясом і соусом. Розігрів 2 хв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01200" y="2944368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Азійські фудшопи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93776" y="3136392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3168396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Clearspring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176272" y="3168396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44368" y="3168396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4820A"/>
                </a:solidFill>
                <a:latin typeface="Segoe UI"/>
              </a:rPr>
              <a:t>Пауч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913631" y="3168396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34255" y="3168396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252–446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852159" y="3168396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Органічний пауч з ЄС. Найдорожчий пауч ринку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01200" y="3168396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Маркетплейс + спец.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6928" y="339242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Adventure Menu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76272" y="339242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944368" y="339242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4820A"/>
                </a:solidFill>
                <a:latin typeface="Segoe UI"/>
              </a:rPr>
              <a:t>Пауч/Дойпак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913631" y="339242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34255" y="339242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315–483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852159" y="339242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Реторт 400 г + сублімат 110 г. Два формати в одному бренді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01200" y="339242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66928" y="3762756"/>
            <a:ext cx="10789920" cy="21488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3232" y="3794760"/>
            <a:ext cx="5852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СЕГМЕНТ 2 · СУХИЙ РИС ПІД ОКРІП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675120" y="3799332"/>
            <a:ext cx="45720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>
                <a:solidFill>
                  <a:srgbClr val="FFFFFF"/>
                </a:solidFill>
                <a:latin typeface="Segoe UI"/>
              </a:rPr>
              <a:t>Окріп 5–10 хв. Маса — сухого продукту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" y="405536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Henan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76272" y="405536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44368" y="405536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913631" y="405536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334255" y="405536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83–156 грн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852159" y="405536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Китайська чаша сухого рису. Залити окропом на 8 хв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601200" y="405536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Азійські фудшопи + МП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93776" y="4247388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66928" y="4279392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Gallina Blanca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76272" y="4279392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944368" y="4279392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913631" y="4279392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334255" y="4279392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229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852159" y="4279392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Іспанський інстант-рис у чаші 84 г. Окріп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601200" y="4279392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Спец. магазин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6928" y="4503420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Qiaoshanmei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176272" y="4503420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944368" y="4503420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Пакет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913631" y="450342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334255" y="4503420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501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852159" y="4503420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Китайський рис у пакеті під окріп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601200" y="4503420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Ціна — роздріб за одну упаковку, без оптових порогів. Зріз 22–23.09.2026. Adventure Menu має дві технології: реторт 400 г (сегмент 1) і сублімат 110 г (сегмент 4).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МАТРИЦЯ БРЕНДІВ · 2 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Сегменти 3 і 4: саморозігрів і сублімація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Ці два сегменти з нами не конкурують: інший привід споживання і інший канал. Показані, щоб було видно всю категорію.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093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1554480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КРАЇНА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4368" y="1554480"/>
            <a:ext cx="9692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13631" y="1554480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4255" y="1554480"/>
            <a:ext cx="15179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59" y="1554480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 ТАКЕ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1554480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1755648"/>
            <a:ext cx="10789920" cy="21488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1787651"/>
            <a:ext cx="5852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СЕГМЕНТ 3 · САМОРОЗІГРІВ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1792224"/>
            <a:ext cx="45720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>
                <a:solidFill>
                  <a:srgbClr val="FFFFFF"/>
                </a:solidFill>
                <a:latin typeface="Segoe UI"/>
              </a:rPr>
              <a:t>Хімічний нагрівач 15 хв. Без техніки й окропу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048255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Haidilao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76272" y="2048255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44368" y="2048255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13631" y="2048255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34255" y="2048255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380–1190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59" y="2048255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Коробка з хімічним нагрівачем. Готується без техніки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048255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 + фудшопи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3776" y="2240279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227228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Zihaiguo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76272" y="227228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44368" y="227228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13631" y="227228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34255" y="227228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735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59" y="227228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Коробка-саморозігрів 440 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227228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496312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Rongcheng Haoji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76272" y="2496312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44368" y="2496312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C94F7C"/>
                </a:solidFill>
                <a:latin typeface="Segoe UI"/>
              </a:rPr>
              <a:t>Коробка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13631" y="2496312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34255" y="2496312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735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159" y="2496312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Коробка-саморозігрів 440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2496312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2688336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2720340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Mo Xiao Xian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76272" y="2720340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Китай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44368" y="2720340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E9EA6"/>
                </a:solidFill>
                <a:latin typeface="Segoe UI"/>
              </a:rPr>
              <a:t>Чаша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13631" y="272034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4255" y="2720340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931 грн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52159" y="2720340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Китайська чаша-саморозігрів. Найдорожча чаша ринку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0" y="2720340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Азійський фудшоп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28" y="3090672"/>
            <a:ext cx="10789920" cy="21488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3232" y="3122676"/>
            <a:ext cx="58521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СЕГМЕНТ 4 · СУБЛІМАЦІЯ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75120" y="3127248"/>
            <a:ext cx="45720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>
                <a:solidFill>
                  <a:srgbClr val="FFFFFF"/>
                </a:solidFill>
                <a:latin typeface="Segoe UI"/>
              </a:rPr>
              <a:t>Сушіння виморожуванням. Похід і армія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3383280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Харчі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176272" y="3383280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44368" y="3383280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13631" y="338328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34255" y="3383280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83–321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852159" y="3383280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сублімат для туризму й армії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01200" y="3383280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93776" y="3575304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6928" y="3607308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James Cook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176272" y="3607308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44368" y="3607308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913631" y="3607308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34255" y="3607308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55–156 грн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852159" y="3607308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сублімат. Найширша вітчизняна лінійка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01200" y="3607308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6928" y="3831336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!FEST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176272" y="3831336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44368" y="3831336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913631" y="3831336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334255" y="3831336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133–140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852159" y="3831336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сублімат, львівський бренд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01200" y="3831336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93776" y="4023360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05536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Їжа в Похід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76272" y="405536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944368" y="405536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913631" y="405536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334255" y="405536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130–145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852159" y="405536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сублімат, власний магазин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601200" y="405536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66928" y="4279392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SubliMate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76272" y="4279392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944368" y="4279392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913631" y="4279392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334255" y="4279392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290–370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852159" y="4279392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Український сублімат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601200" y="4279392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93776" y="4471416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66928" y="4503420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Trek'n Eat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176272" y="4503420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944368" y="4503420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913631" y="4503420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334255" y="4503420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269–715 грн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852159" y="4503420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Німецький сублімат для туризму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601200" y="4503420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66928" y="4727448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Adventure Food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176272" y="4727448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944368" y="4727448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913631" y="4727448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334255" y="4727448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492 грн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852159" y="4727448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Нідерландський сублімат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601200" y="4727448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493776" y="4919472"/>
            <a:ext cx="10936224" cy="224028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66928" y="4951476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Travellunch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176272" y="4951476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ЄС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944368" y="4951476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913631" y="4951476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334255" y="4951476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275–889 грн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852159" y="4951476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Німецький сублімат. Найширша імпортна лінійка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601200" y="4951476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66928" y="5175504"/>
            <a:ext cx="16093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Mountain House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176272" y="5175504"/>
            <a:ext cx="768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США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44368" y="5175504"/>
            <a:ext cx="969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5D4B96"/>
                </a:solidFill>
                <a:latin typeface="Segoe UI"/>
              </a:rPr>
              <a:t>Дойпак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13631" y="5175504"/>
            <a:ext cx="4206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334255" y="5175504"/>
            <a:ext cx="1517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>
                <a:solidFill>
                  <a:srgbClr val="1C2235"/>
                </a:solidFill>
                <a:latin typeface="Segoe UI"/>
              </a:rPr>
              <a:t>699 грн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852159" y="5175504"/>
            <a:ext cx="3749039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Американський сублімат. Найдорожчий грам категорії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601200" y="5175504"/>
            <a:ext cx="1755648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0">
                <a:solidFill>
                  <a:srgbClr val="717890"/>
                </a:solidFill>
                <a:latin typeface="Segoe UI"/>
              </a:rPr>
              <a:t>Туризм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Ціна — роздріб за одну упаковку. Trek'n Eat: маса на картках продавців не вказана. Зріз 22–23.09.2026.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ФОРМАТИ УПАКОВКИ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Який формат насправді найпопулярніший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Кількість позицій і ціна дають протилежні відповіді. Розбираємо, яка з них релевантна.</a:t>
            </a:r>
          </a:p>
        </p:txBody>
      </p:sp>
      <p:pic>
        <p:nvPicPr>
          <p:cNvPr id="10" name="Picture 9" descr="c1_forma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81328"/>
            <a:ext cx="11064240" cy="335731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023360"/>
            <a:ext cx="3547872" cy="20116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023360"/>
            <a:ext cx="41148" cy="201168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178808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5D4B96"/>
                </a:solidFill>
                <a:latin typeface="Segoe UI"/>
              </a:rPr>
              <a:t>ПОПУЛЯРНІСТЬ ≠ ПОЛИЦЯ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443984"/>
            <a:ext cx="30906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Дойпак лідирує за кількістю позицій (30 із 84), але це артефакт каналу: туристичні магазини заводять по 1–2 SKU від десятка дрібних брендів.
За доступністю для покупця виграє пауч: 109 грн проти 315 грн у дойпака.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5112" y="4023360"/>
            <a:ext cx="3547872" cy="20116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25112" y="4023360"/>
            <a:ext cx="41148" cy="20116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2856" y="4178808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ВІКНО ПОРЦІЇ 210–250 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2856" y="4443984"/>
            <a:ext cx="30906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Чаша й пауч конкурують у тому самому ваговому вікні — це порція «обід на одну людину».
16 позицій із 84 лежать у 220–250 г. Саме під цю вагу вже привчений покупець Ben's Original і Bibigo.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4023360"/>
            <a:ext cx="3547872" cy="20116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83296" y="4023360"/>
            <a:ext cx="41148" cy="20116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4178808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РЕКОМЕНДАЦІЯ ФОРМАТУ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443984"/>
            <a:ext cx="30906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ПАУЧ 240–250 Г — для мережевої полиці: найнижча ціна входу, вага збігається з лідером категорії.
СТАКАН 150 Г — для азійського каналу: прямий конкурент Ottogi та Henan за вдвічі нижчою ціною.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Розподіл 84 позицій за типом паковання з карток продавців, 22–23.09.2026.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МОДЕЛЬ ФОРМАТУ І ВАГИ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Яке поєднання упаковки й грамажу тримає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Кожна клітинка — скільки позицій категорії має цей формат у цій ваговій смузі.</a:t>
            </a:r>
          </a:p>
        </p:txBody>
      </p:sp>
      <p:pic>
        <p:nvPicPr>
          <p:cNvPr id="10" name="Picture 9" descr="c6_fmtwe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26464"/>
            <a:ext cx="11064240" cy="34117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681728"/>
            <a:ext cx="41148" cy="144475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F9A50B"/>
                </a:solidFill>
                <a:latin typeface="Segoe UI"/>
              </a:rPr>
              <a:t>ПОРЦІЙНЕ ВІКНО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200–299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22 позиції: пауч 14, чаша 8.
Одна порція на одну людину.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5848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55848" y="4681728"/>
            <a:ext cx="41148" cy="144475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75304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НАЙЩІЛЬНІША КЛІТИНКА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75304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дойпак 100–149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75304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16 позицій — але це сухий
сублімат, інший привід.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4768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4768" y="4681728"/>
            <a:ext cx="41148" cy="144475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4820A"/>
                </a:solidFill>
                <a:latin typeface="Segoe UI"/>
              </a:rPr>
              <a:t>ПАУЧ ЖИВЕ ТІЛЬКИ ТУТ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220–250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14 із 19 паучів. Поза вікном —
лише укр. реторт 350 г.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33687" y="4681728"/>
            <a:ext cx="2615184" cy="1444752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33687" y="4681728"/>
            <a:ext cx="41148" cy="1444752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53143" y="4809744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37A169"/>
                </a:solidFill>
                <a:latin typeface="Segoe UI"/>
              </a:rPr>
              <a:t>ЧАША ПРАЦЮЄ СКРІЗЬ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53143" y="4992624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84–320 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3143" y="5504688"/>
            <a:ext cx="22860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Єдиний формат, присутній у шести
вагових смугах із семи.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84 позиції; 2 без указаної маси (Trek'n Eat) до крос-табу не входять. Вага — за картками продавців; для сухих продуктів це маса до заливання.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НАЙПОПУЛЯРНІШІ ФОРМАТИ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Які упаковки ринок обирає найчастіше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Ліворуч — конкретні поєднання формату й ваги. Праворуч — частка формату в усій категорії та окремо в каналах, куди ходить масовий покупець.</a:t>
            </a:r>
          </a:p>
        </p:txBody>
      </p:sp>
      <p:pic>
        <p:nvPicPr>
          <p:cNvPr id="10" name="Picture 9" descr="c7_comb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72768"/>
            <a:ext cx="11064240" cy="429191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828032"/>
            <a:ext cx="2615184" cy="12984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828032"/>
            <a:ext cx="41148" cy="129844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4937760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C4820A"/>
                </a:solidFill>
                <a:latin typeface="Segoe UI"/>
              </a:rPr>
              <a:t>#1 НА РИНКУ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51206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Пауч 220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543153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7 позицій, усі Ben's Original.
Медіана 129 грн.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5848" y="4828032"/>
            <a:ext cx="2615184" cy="12984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55848" y="4828032"/>
            <a:ext cx="41148" cy="129844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75304" y="4937760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C4820A"/>
                </a:solidFill>
                <a:latin typeface="Segoe UI"/>
              </a:rPr>
              <a:t>НАЙДЕШЕВШИЙ ВХІД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75304" y="51206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Пауч 250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75304" y="543153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6 позицій, медіана 90 грн —
найнижчий цінник категорії.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4768" y="4828032"/>
            <a:ext cx="2615184" cy="12984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4768" y="4828032"/>
            <a:ext cx="41148" cy="129844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4937760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#1 В АЗІЙСЬКІЙ НІШІ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51206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Чаша 174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543153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5 позицій Henan, 148 грн.
Прямий конкурент нашого стакана.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33687" y="4828032"/>
            <a:ext cx="2615184" cy="129844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33687" y="4828032"/>
            <a:ext cx="41148" cy="1298448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53143" y="4937760"/>
            <a:ext cx="22860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БЕЗ OUTDOOR-КАНАЛУ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53143" y="5120640"/>
            <a:ext cx="2286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C2235"/>
                </a:solidFill>
                <a:latin typeface="Segoe UI"/>
              </a:rPr>
              <a:t>чаша + пауч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3143" y="5431536"/>
            <a:ext cx="22860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>
                <a:solidFill>
                  <a:srgbClr val="303A5D"/>
                </a:solidFill>
                <a:latin typeface="Segoe UI"/>
              </a:rPr>
              <a:t>91 % позицій, доступних масовому
покупцю. Дойпак падає з 36 % до 4 %.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Поєднання з двома й більше позиціями; 13 поєднань покривають 52 із 84 позицій. Медіана ціни — за позиціями цього поєднання. «Масовий канал» — мережа, маркетплейси та спеціалізовані фудшопи (46 позицій); outdoor- і мілітарі-рітейл виключено.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ЦІНА ЗА ОДНУ УПАКОВКУ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Від 45 до 1 190 грн: сходи всіх 23 брендів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Крапка — медіана бренду, смуга — від найдешевшої до найдорожчої його позиції.</a:t>
            </a:r>
          </a:p>
        </p:txBody>
      </p:sp>
      <p:pic>
        <p:nvPicPr>
          <p:cNvPr id="10" name="Picture 9" descr="c10_bran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17904"/>
            <a:ext cx="11064240" cy="47161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Ціна за одну упаковку в роздріб, без оптових порогів: у 6 продавців діє нижча ціна від 3–20 шт, вона в розрахунок не бралася. Зріз 22–23.09.2026.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КАРТА СЕГМЕНТІВ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До якого сегмента належить кожен слайд з брендами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Наступні слайди дослідження — картки брендів. Ось що на них, за сегментом і форматом.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38039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ЩО НА СЛАЙДІ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70832" y="1572768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СЕГМЕНТ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42048" y="1572768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9408" y="1572768"/>
            <a:ext cx="1188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8128" y="1572768"/>
            <a:ext cx="1463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1828800"/>
            <a:ext cx="38039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1">
                <a:solidFill>
                  <a:srgbClr val="1C2235"/>
                </a:solidFill>
                <a:latin typeface="Segoe UI"/>
              </a:rPr>
              <a:t>Ben's Original · 13 позицій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0832" y="1810512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СЕГМЕНТ 1 · ГОТОВИЙ РИС ДО РОЗІГРІВУ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70832" y="1965960"/>
            <a:ext cx="28712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0">
                <a:solidFill>
                  <a:srgbClr val="717890"/>
                </a:solidFill>
                <a:latin typeface="Segoe UI"/>
              </a:rPr>
              <a:t>Мікрохвильовка 60–90 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42048" y="1856231"/>
            <a:ext cx="420623" cy="182880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42048" y="1867204"/>
            <a:ext cx="42062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1">
                <a:solidFill>
                  <a:srgbClr val="FFFFFF"/>
                </a:solidFill>
                <a:latin typeface="Segoe UI"/>
              </a:rPr>
              <a:t>ПАУЧ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79408" y="1847088"/>
            <a:ext cx="1188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220–250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68128" y="184708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C2235"/>
                </a:solidFill>
                <a:latin typeface="Segoe UI"/>
              </a:rPr>
              <a:t>45–179 грн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3776" y="2121408"/>
            <a:ext cx="10936224" cy="365760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2194560"/>
            <a:ext cx="38039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1">
                <a:solidFill>
                  <a:srgbClr val="1C2235"/>
                </a:solidFill>
                <a:latin typeface="Segoe UI"/>
              </a:rPr>
              <a:t>Ottogi · 10 позицій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0832" y="2176272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СЕГМЕНТ 1 · ГОТОВИЙ РИС ДО РОЗІГРІВУ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70832" y="2331720"/>
            <a:ext cx="28712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0">
                <a:solidFill>
                  <a:srgbClr val="717890"/>
                </a:solidFill>
                <a:latin typeface="Segoe UI"/>
              </a:rPr>
              <a:t>Мікрохвильовка 60–90 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42048" y="2221991"/>
            <a:ext cx="420623" cy="18288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42048" y="2232964"/>
            <a:ext cx="42062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79408" y="2212848"/>
            <a:ext cx="1188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217–320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68128" y="221284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C2235"/>
                </a:solidFill>
                <a:latin typeface="Segoe UI"/>
              </a:rPr>
              <a:t>225–356 грн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2560320"/>
            <a:ext cx="38039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1">
                <a:solidFill>
                  <a:srgbClr val="1C2235"/>
                </a:solidFill>
                <a:latin typeface="Segoe UI"/>
              </a:rPr>
              <a:t>Henan · 8 позицій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70832" y="2542032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СЕГМЕНТ 2 · СУХИЙ РИС ПІД ОКРІП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70832" y="2697479"/>
            <a:ext cx="28712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0">
                <a:solidFill>
                  <a:srgbClr val="717890"/>
                </a:solidFill>
                <a:latin typeface="Segoe UI"/>
              </a:rPr>
              <a:t>Окріп, 5–10 хв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242048" y="2587751"/>
            <a:ext cx="420623" cy="18288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42048" y="2598724"/>
            <a:ext cx="42062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1">
                <a:solidFill>
                  <a:srgbClr val="FFFFFF"/>
                </a:solidFill>
                <a:latin typeface="Segoe UI"/>
              </a:rPr>
              <a:t>ЧАША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79408" y="2578608"/>
            <a:ext cx="1188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144 і 174 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68128" y="257860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C2235"/>
                </a:solidFill>
                <a:latin typeface="Segoe UI"/>
              </a:rPr>
              <a:t>83–156 грн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3776" y="2852927"/>
            <a:ext cx="10936224" cy="365760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2926079"/>
            <a:ext cx="38039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1">
                <a:solidFill>
                  <a:srgbClr val="1C2235"/>
                </a:solidFill>
                <a:latin typeface="Segoe UI"/>
              </a:rPr>
              <a:t>Bibigo, Clearspring, Portion, Маркел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70832" y="2907791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СЕГМЕНТ 1 · ГОТОВИЙ РИС ДО РОЗІГРІВУ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70832" y="3063239"/>
            <a:ext cx="28712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0">
                <a:solidFill>
                  <a:srgbClr val="717890"/>
                </a:solidFill>
                <a:latin typeface="Segoe UI"/>
              </a:rPr>
              <a:t>Мікрохвильовка 60–90 с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242048" y="2953511"/>
            <a:ext cx="772668" cy="18288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242048" y="2964484"/>
            <a:ext cx="7726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1">
                <a:solidFill>
                  <a:srgbClr val="FFFFFF"/>
                </a:solidFill>
                <a:latin typeface="Segoe UI"/>
              </a:rPr>
              <a:t>ЧАША + ПАУЧ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79408" y="2944368"/>
            <a:ext cx="1188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210–350 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68128" y="294436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C2235"/>
                </a:solidFill>
                <a:latin typeface="Segoe UI"/>
              </a:rPr>
              <a:t>94–446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3291839"/>
            <a:ext cx="38039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1">
                <a:solidFill>
                  <a:srgbClr val="1C2235"/>
                </a:solidFill>
                <a:latin typeface="Segoe UI"/>
              </a:rPr>
              <a:t>Haidilao · 10 позицій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70832" y="3273551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94F7C"/>
                </a:solidFill>
                <a:latin typeface="Segoe UI"/>
              </a:rPr>
              <a:t>СЕГМЕНТ 3 · САМОРОЗІГРІВ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70832" y="3428999"/>
            <a:ext cx="28712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0">
                <a:solidFill>
                  <a:srgbClr val="717890"/>
                </a:solidFill>
                <a:latin typeface="Segoe UI"/>
              </a:rPr>
              <a:t>Хімічний нагрівач, 15 хв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242048" y="3319271"/>
            <a:ext cx="571500" cy="18288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42048" y="3330244"/>
            <a:ext cx="5715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1">
                <a:solidFill>
                  <a:srgbClr val="FFFFFF"/>
                </a:solidFill>
                <a:latin typeface="Segoe UI"/>
              </a:rPr>
              <a:t>КОРОБКА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979408" y="3310127"/>
            <a:ext cx="1188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165–360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68128" y="3310127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C2235"/>
                </a:solidFill>
                <a:latin typeface="Segoe UI"/>
              </a:rPr>
              <a:t>380–1 190 грн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93776" y="3584447"/>
            <a:ext cx="10936224" cy="365760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66928" y="3657599"/>
            <a:ext cx="38039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1">
                <a:solidFill>
                  <a:srgbClr val="1C2235"/>
                </a:solidFill>
                <a:latin typeface="Segoe UI"/>
              </a:rPr>
              <a:t>Mo Xiao Xian, Zihaiguo, Rongcheng Haoji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70832" y="3639311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94F7C"/>
                </a:solidFill>
                <a:latin typeface="Segoe UI"/>
              </a:rPr>
              <a:t>СЕГМЕНТ 3 · САМОРОЗІГРІВ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70832" y="3794759"/>
            <a:ext cx="28712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0">
                <a:solidFill>
                  <a:srgbClr val="717890"/>
                </a:solidFill>
                <a:latin typeface="Segoe UI"/>
              </a:rPr>
              <a:t>Хімічний нагрівач, 15 хв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242048" y="3685031"/>
            <a:ext cx="923544" cy="18288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242048" y="3696004"/>
            <a:ext cx="9235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1">
                <a:solidFill>
                  <a:srgbClr val="FFFFFF"/>
                </a:solidFill>
                <a:latin typeface="Segoe UI"/>
              </a:rPr>
              <a:t>ЧАША + КОРОБКА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979408" y="3675887"/>
            <a:ext cx="1188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275–440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168128" y="3675887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C2235"/>
                </a:solidFill>
                <a:latin typeface="Segoe UI"/>
              </a:rPr>
              <a:t>735–931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928" y="4023359"/>
            <a:ext cx="38039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1">
                <a:solidFill>
                  <a:srgbClr val="1C2235"/>
                </a:solidFill>
                <a:latin typeface="Segoe UI"/>
              </a:rPr>
              <a:t>Travellunch, Trek'n Eat, Mountain House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70832" y="4005071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СЕГМЕНТ 4 · СУБЛІМАЦІЯ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70832" y="4160520"/>
            <a:ext cx="28712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0">
                <a:solidFill>
                  <a:srgbClr val="717890"/>
                </a:solidFill>
                <a:latin typeface="Segoe UI"/>
              </a:rPr>
              <a:t>Сушіння виморожуванням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242048" y="4050791"/>
            <a:ext cx="521208" cy="182880"/>
          </a:xfrm>
          <a:prstGeom prst="roundRect">
            <a:avLst>
              <a:gd name="adj" fmla="val 50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242048" y="4061764"/>
            <a:ext cx="5212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979408" y="4041647"/>
            <a:ext cx="1188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110–250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68128" y="4041647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C2235"/>
                </a:solidFill>
                <a:latin typeface="Segoe UI"/>
              </a:rPr>
              <a:t>269–889 грн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93776" y="4315968"/>
            <a:ext cx="10936224" cy="365760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66928" y="4389120"/>
            <a:ext cx="38039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1">
                <a:solidFill>
                  <a:srgbClr val="1C2235"/>
                </a:solidFill>
                <a:latin typeface="Segoe UI"/>
              </a:rPr>
              <a:t>Adventure Menu, SubliMate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70832" y="4370831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СЕГМЕНТ 4 · СУБЛІМАЦІЯ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370832" y="4526280"/>
            <a:ext cx="28712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0">
                <a:solidFill>
                  <a:srgbClr val="717890"/>
                </a:solidFill>
                <a:latin typeface="Segoe UI"/>
              </a:rPr>
              <a:t>Сушіння виморожуванням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242048" y="4416552"/>
            <a:ext cx="873252" cy="182880"/>
          </a:xfrm>
          <a:prstGeom prst="roundRect">
            <a:avLst>
              <a:gd name="adj" fmla="val 50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242048" y="4427524"/>
            <a:ext cx="87325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1">
                <a:solidFill>
                  <a:srgbClr val="FFFFFF"/>
                </a:solidFill>
                <a:latin typeface="Segoe UI"/>
              </a:rPr>
              <a:t>ПАУЧ + ДОЙПАК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979408" y="4407407"/>
            <a:ext cx="1188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110–400 г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168128" y="4407407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C2235"/>
                </a:solidFill>
                <a:latin typeface="Segoe UI"/>
              </a:rPr>
              <a:t>290–483 грн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" y="4754880"/>
            <a:ext cx="38039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1">
                <a:solidFill>
                  <a:srgbClr val="1C2235"/>
                </a:solidFill>
                <a:latin typeface="Segoe UI"/>
              </a:rPr>
              <a:t>James Cook, Їжа в Похід, Харчі, !FEST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370832" y="4736592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СЕГМЕНТ 4 · СУБЛІМАЦІЯ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370832" y="4892040"/>
            <a:ext cx="28712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0">
                <a:solidFill>
                  <a:srgbClr val="717890"/>
                </a:solidFill>
                <a:latin typeface="Segoe UI"/>
              </a:rPr>
              <a:t>Сушіння виморожуванням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242048" y="4782312"/>
            <a:ext cx="521208" cy="182880"/>
          </a:xfrm>
          <a:prstGeom prst="roundRect">
            <a:avLst>
              <a:gd name="adj" fmla="val 50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242048" y="4793284"/>
            <a:ext cx="52120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1">
                <a:solidFill>
                  <a:srgbClr val="FFFFFF"/>
                </a:solidFill>
                <a:latin typeface="Segoe UI"/>
              </a:rPr>
              <a:t>ДОЙПАК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979408" y="4773168"/>
            <a:ext cx="1188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80–100 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168128" y="477316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C2235"/>
                </a:solidFill>
                <a:latin typeface="Segoe UI"/>
              </a:rPr>
              <a:t>55–321 грн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93776" y="5047488"/>
            <a:ext cx="10936224" cy="365760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66928" y="5120640"/>
            <a:ext cx="38039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40" b="1">
                <a:solidFill>
                  <a:srgbClr val="1C2235"/>
                </a:solidFill>
                <a:latin typeface="Segoe UI"/>
              </a:rPr>
              <a:t>Суміжна полиця · консерва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70832" y="5102352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37A169"/>
                </a:solidFill>
                <a:latin typeface="Segoe UI"/>
              </a:rPr>
              <a:t>СЕГМЕНТ 5 · СУМІЖНА ПОЛИЦЯ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370832" y="5257800"/>
            <a:ext cx="28712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0">
                <a:solidFill>
                  <a:srgbClr val="717890"/>
                </a:solidFill>
                <a:latin typeface="Segoe UI"/>
              </a:rPr>
              <a:t>Консерва, готова до вживання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242048" y="5148072"/>
            <a:ext cx="621792" cy="182880"/>
          </a:xfrm>
          <a:prstGeom prst="roundRect">
            <a:avLst>
              <a:gd name="adj" fmla="val 50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242048" y="5159044"/>
            <a:ext cx="62179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1">
                <a:solidFill>
                  <a:srgbClr val="FFFFFF"/>
                </a:solidFill>
                <a:latin typeface="Segoe UI"/>
              </a:rPr>
              <a:t>БЛЯШАНКА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979408" y="5138928"/>
            <a:ext cx="1188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250–350 г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168128" y="513892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C2235"/>
                </a:solidFill>
                <a:latin typeface="Segoe UI"/>
              </a:rPr>
              <a:t>63–160 грн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66928" y="5614416"/>
            <a:ext cx="11064240" cy="5486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66928" y="5614416"/>
            <a:ext cx="41148" cy="5486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04672" y="5769864"/>
            <a:ext cx="10607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ЯК ЧИТАТИ ДАЛІ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" y="6035040"/>
            <a:ext cx="10607040" cy="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Сегменти 1 і 2 — наш конкурентний сет: той самий привід споживання і той самий канал. Сегменти 3 і 4 з нами не конкурують. Сегмент 5 — консерва, що вже стоїть у мережі.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Сегментація за технологією приготування: вона визначає і ціну, і канал продажу. Зріз 22–23.09.2026.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1 · ГОТОВИЙ РИС ДО РОЗІГРІВУ   ·   ПАУЧ   ·   BEN'S ORIGINAL · 13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Пауч 220–250 г — єдиний бренд на мережевій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Найглибша лінійка сегмента і єдина, що дійшла до продуктового роздрібу.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41148" cy="1965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72768"/>
            <a:ext cx="1069848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ФОРМАТ: ПАУЧ   ·   Мікрохвильовка 60–90 с   ·   Маса — готової страви   ·   привід: Обід поза домом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6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08_0.79_3.5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012" y="2011679"/>
            <a:ext cx="390709" cy="54882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Long Grain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4820A"/>
                </a:solidFill>
                <a:latin typeface="Segoe UI"/>
              </a:rPr>
              <a:t>250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45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65821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229829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08_2.52_3.5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5252" y="2011679"/>
            <a:ext cx="392016" cy="54882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4693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Basmati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4693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4820A"/>
                </a:solidFill>
                <a:latin typeface="Segoe UI"/>
              </a:rPr>
              <a:t>250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4693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90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4693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64715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828723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08_4.24_3.5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5452" y="2011679"/>
            <a:ext cx="389402" cy="54882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3587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Mediterran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3587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4820A"/>
                </a:solidFill>
                <a:latin typeface="Segoe UI"/>
              </a:rPr>
              <a:t>250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3587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90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3587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63609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427617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s08_5.97_3.5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03693" y="2011679"/>
            <a:ext cx="390709" cy="54882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2481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Risi Bisi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2481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4820A"/>
                </a:solidFill>
                <a:latin typeface="Segoe UI"/>
              </a:rPr>
              <a:t>250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2481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90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2481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962502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026510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s08_7.69_3.5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993" y="2011679"/>
            <a:ext cx="397896" cy="54882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81374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Indian Curry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81374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4820A"/>
                </a:solidFill>
                <a:latin typeface="Segoe UI"/>
              </a:rPr>
              <a:t>250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81374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90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81374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561396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625404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s08_9.42_3.5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07034" y="2011679"/>
            <a:ext cx="379602" cy="548822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80268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Curry з сочевицею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0268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4820A"/>
                </a:solidFill>
                <a:latin typeface="Segoe UI"/>
              </a:rPr>
              <a:t>220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0268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90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0268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160290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0224298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s08_11.14_3.54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97760" y="2011679"/>
            <a:ext cx="395936" cy="54882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9162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Basmati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9162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4820A"/>
                </a:solidFill>
                <a:latin typeface="Segoe UI"/>
              </a:rPr>
              <a:t>220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9162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100–144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9162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MAUDAU · Сільпо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66928" y="366674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30936" y="373075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s08_0.79_5.82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06358" y="3794760"/>
            <a:ext cx="392016" cy="548822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416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Mexikanisch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77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4820A"/>
                </a:solidFill>
                <a:latin typeface="Segoe UI"/>
              </a:rPr>
              <a:t>220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307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109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53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165821" y="366674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2229829" y="373075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08_2.52_3.5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5252" y="3794760"/>
            <a:ext cx="392016" cy="54882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4693" y="444416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Curryreis Indien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4693" y="473677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4820A"/>
                </a:solidFill>
                <a:latin typeface="Segoe UI"/>
              </a:rPr>
              <a:t>220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4693" y="488307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144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4693" y="510253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764715" y="366674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3828723" y="373075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s08_4.24_5.82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6559" y="3794760"/>
            <a:ext cx="367188" cy="548822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3587" y="444416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Для боулів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3587" y="473677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4820A"/>
                </a:solidFill>
                <a:latin typeface="Segoe UI"/>
              </a:rPr>
              <a:t>220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3587" y="488307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149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3587" y="510253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363609" y="366674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5427617" y="373075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s08_5.97_3.5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03693" y="3794760"/>
            <a:ext cx="390709" cy="548822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2481" y="444416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Sweet Chili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2481" y="473677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4820A"/>
                </a:solidFill>
                <a:latin typeface="Segoe UI"/>
              </a:rPr>
              <a:t>220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2481" y="488307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179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2481" y="510253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Сільпо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962502" y="366674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7026510" y="373075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s08_7.69_3.5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993" y="3794760"/>
            <a:ext cx="397896" cy="548822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81374" y="444416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Bio Basmati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81374" y="473677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4820A"/>
                </a:solidFill>
                <a:latin typeface="Segoe UI"/>
              </a:rPr>
              <a:t>240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81374" y="488307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139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81374" y="510253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Edison Lee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8561396" y="366674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8625404" y="373075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s08_9.42_3.5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07034" y="3794760"/>
            <a:ext cx="379602" cy="548822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8680268" y="444416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Long Grain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80268" y="473677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4820A"/>
                </a:solidFill>
                <a:latin typeface="Segoe UI"/>
              </a:rPr>
              <a:t>220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80268" y="488307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139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80268" y="510253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Edison Lee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566928" y="5413248"/>
            <a:ext cx="11064240" cy="713232"/>
          </a:xfrm>
          <a:prstGeom prst="roundRect">
            <a:avLst>
              <a:gd name="adj" fmla="val 5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66928" y="5413248"/>
            <a:ext cx="45720" cy="71323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41248" y="5513832"/>
            <a:ext cx="10515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30" b="1">
                <a:solidFill>
                  <a:srgbClr val="C4820A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41248" y="5696712"/>
            <a:ext cx="10515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800" b="0">
                <a:solidFill>
                  <a:srgbClr val="D5DBEA"/>
                </a:solidFill>
                <a:latin typeface="Segoe UI"/>
              </a:rPr>
              <a:t>Ben's Original тримає всю мережеву полицю категорії: 11 позицій у «Сільпо» плюс 2 в Edison Lee. Ціновий діапазон 45–179 грн за упаковку — це і є вікно, у яке має вписатися будь-який новий пауч.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Джерела: каталог «Сільпо» (11 позицій), MAUDAU, Edison Lee — 22.09.2026.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1 · ГОТОВИЙ РИС ДО РОЗІГРІВУ   ·   ЧАША   ·   OTTOGI · 10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Чаша 217–320 г — корейський лідер азійського каналу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Готова страва з наповнювачем, розігрів у мікрохвильовці. Продається у чотирьох продавців.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41148" cy="1965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72768"/>
            <a:ext cx="1069848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ФОРМАТ: ЧАША   ·   Мікрохвильовка 60–90 с   ·   Маса — готової страви   ·   привід: Обід поза домом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6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09_0.79_3.5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2026312"/>
            <a:ext cx="1196557" cy="51955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Бульгогі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1E9EA6"/>
                </a:solidFill>
                <a:latin typeface="Segoe UI"/>
              </a:rPr>
              <a:t>320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252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Тайякі Март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65821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229829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09_3.21_3.5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2221" y="2011679"/>
            <a:ext cx="618079" cy="54882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4693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Гамбурзький стейк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4693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1E9EA6"/>
                </a:solidFill>
                <a:latin typeface="Segoe UI"/>
              </a:rPr>
              <a:t>315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4693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255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4693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Pulsar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64715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828723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09_5.62_3.5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5887" y="2011679"/>
            <a:ext cx="628532" cy="54882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3587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Свинина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3587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1E9EA6"/>
                </a:solidFill>
                <a:latin typeface="Segoe UI"/>
              </a:rPr>
              <a:t>310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3587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252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3587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Тайякі Март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63609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427617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s09_8.04_3.5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4636" y="2011679"/>
            <a:ext cx="548822" cy="54882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2481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Гострі курячі ребра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2481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1E9EA6"/>
                </a:solidFill>
                <a:latin typeface="Segoe UI"/>
              </a:rPr>
              <a:t>310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2481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255–260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2481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Pulsar · Gurmissimo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962502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026510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s09_10.45_3.5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81388" y="2011679"/>
            <a:ext cx="633106" cy="54882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81374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Гострий восьминіг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81374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1E9EA6"/>
                </a:solidFill>
                <a:latin typeface="Segoe UI"/>
              </a:rPr>
              <a:t>280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81374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255–289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81374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Pulsar · Апетіт. · Gurm.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561396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625404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s09_0.79_3.5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8556" y="2026312"/>
            <a:ext cx="1196557" cy="519557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80268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Тунець і майонез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0268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1E9EA6"/>
                </a:solidFill>
                <a:latin typeface="Segoe UI"/>
              </a:rPr>
              <a:t>247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0268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225–320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0268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Тайякі · Gurmissimo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160290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0224298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s09_3.21_3.5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6689" y="2011679"/>
            <a:ext cx="618079" cy="54882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9162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Пібімпаб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9162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1E9EA6"/>
                </a:solidFill>
                <a:latin typeface="Segoe UI"/>
              </a:rPr>
              <a:t>269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9162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252–334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9162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Тайякі · Апетітаріум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66928" y="366674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30936" y="373075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s09_5.62_5.82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813" y="3794760"/>
            <a:ext cx="633106" cy="548822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416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Гостра свинина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77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1E9EA6"/>
                </a:solidFill>
                <a:latin typeface="Segoe UI"/>
              </a:rPr>
              <a:t>269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307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334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53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Апетітаріум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165821" y="366674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2229829" y="373075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09_8.04_3.5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26849" y="3794760"/>
            <a:ext cx="548822" cy="54882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4693" y="444416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Гостра яловичина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4693" y="473677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1E9EA6"/>
                </a:solidFill>
                <a:latin typeface="Segoe UI"/>
              </a:rPr>
              <a:t>320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4693" y="488307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356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4693" y="510253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Апетітаріум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764715" y="366674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3828723" y="373075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s09_10.45_3.5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83601" y="3794760"/>
            <a:ext cx="633106" cy="548822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3587" y="444416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Jjampong: рис у супі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3587" y="473677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1E9EA6"/>
                </a:solidFill>
                <a:latin typeface="Segoe UI"/>
              </a:rPr>
              <a:t>217,5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3587" y="488307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255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3587" y="510253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Pulsar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66928" y="5413248"/>
            <a:ext cx="11064240" cy="713232"/>
          </a:xfrm>
          <a:prstGeom prst="roundRect">
            <a:avLst>
              <a:gd name="adj" fmla="val 5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66928" y="5413248"/>
            <a:ext cx="45720" cy="71323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41248" y="5513832"/>
            <a:ext cx="10515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30" b="1">
                <a:solidFill>
                  <a:srgbClr val="1E9EA6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1248" y="5696712"/>
            <a:ext cx="10515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800" b="0">
                <a:solidFill>
                  <a:srgbClr val="D5DBEA"/>
                </a:solidFill>
                <a:latin typeface="Segoe UI"/>
              </a:rPr>
              <a:t>Найдорожча упаковка сегмента розігріву: 225–356 грн. Це прямий конкурент нашого стакана — і саме тут у нас найбільший ціновий запас.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Джерела: Pulsar, Апетітаріум, Gurmissimo, Тайякі Март — 22.09.2026. Ціни роздрібні.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2 · СУХИЙ РИС ПІД ОКРІП   ·   ЧАША   ·   HENAN · 8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Чаша 144 і 174 г — найдешевша чаша ринку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Сухий рис у чаші, заливається окропом на 8 хвилин. Маса — сухого продукту до заливання.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41148" cy="1965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72768"/>
            <a:ext cx="1069848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ФОРМАТ: ЧАША   ·   Окріп, 5–10 хв   ·   Маса — сухого продукту   ·   привід: Офіс і гуртожиток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6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09_0.79_3.5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2026312"/>
            <a:ext cx="1196557" cy="51955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Тушкована курка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1E9EA6"/>
                </a:solidFill>
                <a:latin typeface="Segoe UI"/>
              </a:rPr>
              <a:t>174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129–156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СНЕКІС · DCM · Апетіт.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65821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229829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10_3.81_3.5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2148" y="2011679"/>
            <a:ext cx="578224" cy="54882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4693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Гребінці та гриби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4693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1E9EA6"/>
                </a:solidFill>
                <a:latin typeface="Segoe UI"/>
              </a:rPr>
              <a:t>174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4693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140–156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4693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MAUDAU · Gurm. · DCM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64715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828723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10_6.83_3.5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3328" y="2011679"/>
            <a:ext cx="573650" cy="54882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3587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Кантонська ковбаска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3587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1E9EA6"/>
                </a:solidFill>
                <a:latin typeface="Segoe UI"/>
              </a:rPr>
              <a:t>174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3587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118–156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3587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OMG! Asia · Gurm. · Апетіт.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63609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427617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s10_9.85_3.5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2349" y="2011679"/>
            <a:ext cx="553396" cy="54882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2481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2481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1E9EA6"/>
                </a:solidFill>
                <a:latin typeface="Segoe UI"/>
              </a:rPr>
              <a:t>174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2481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118–156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2481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OMG! Asia · Gurm. · Апетіт.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962502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026510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s09_0.79_3.5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9662" y="2026312"/>
            <a:ext cx="1196557" cy="519557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81374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Курка з перцем чилі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81374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1E9EA6"/>
                </a:solidFill>
                <a:latin typeface="Segoe UI"/>
              </a:rPr>
              <a:t>174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81374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112–150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81374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OMG! · СНЕКІС · DCM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561396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625404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s10_3.81_5.82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09030" y="2011679"/>
            <a:ext cx="575610" cy="548822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80268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Гостра курка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0268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1E9EA6"/>
                </a:solidFill>
                <a:latin typeface="Segoe UI"/>
              </a:rPr>
              <a:t>144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0268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83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0268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OMG! Asia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160290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0224298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s10_6.83_3.5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08903" y="2011679"/>
            <a:ext cx="573650" cy="54882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9162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Кисло-солодка яловичина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9162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1E9EA6"/>
                </a:solidFill>
                <a:latin typeface="Segoe UI"/>
              </a:rPr>
              <a:t>144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9162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135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9162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DCM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66928" y="366674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30936" y="373075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s10_9.85_5.82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7337" y="3794760"/>
            <a:ext cx="750057" cy="548822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416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Курка з баклажанами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77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1E9EA6"/>
                </a:solidFill>
                <a:latin typeface="Segoe UI"/>
              </a:rPr>
              <a:t>144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307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152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53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DCM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66928" y="5413248"/>
            <a:ext cx="11064240" cy="713232"/>
          </a:xfrm>
          <a:prstGeom prst="roundRect">
            <a:avLst>
              <a:gd name="adj" fmla="val 5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66928" y="5413248"/>
            <a:ext cx="45720" cy="71323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41248" y="5513832"/>
            <a:ext cx="10515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30" b="1">
                <a:solidFill>
                  <a:srgbClr val="1E9EA6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1248" y="5696712"/>
            <a:ext cx="10515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800" b="0">
                <a:solidFill>
                  <a:srgbClr val="D5DBEA"/>
                </a:solidFill>
                <a:latin typeface="Segoe UI"/>
              </a:rPr>
              <a:t>83–156 грн за упаковку. Дешевше за Ottogi вдвічі, але це не готова страва, а концентрат — покупець доплачує за зручність, не за вагу.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Джерела: MAUDAU, Апетітаріум, Gurmissimo, OMG! Asia, СНЕКІС, DCM — 22–23.09.2026.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1 · ГОТОВИЙ РИС ДО РОЗІГРІВУ   ·   ЧАША + ПАУЧ   ·   ПООДИНОКІ БРЕНДИ · 4 БРЕНДИ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Bibigo — чаша, Clearspring, Portion і Маркел — пауч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Той самий сегмент розігріву в двох форматах, різні країни й канали.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41148" cy="1965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72768"/>
            <a:ext cx="1069848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ФОРМАТ: ЧАША + ПАУЧ   ·   Мікрохвильовка 60–90 с   ·   Маса — готової страви   ·   привід: Обід поза домом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1883664"/>
            <a:ext cx="1737360" cy="23042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6" y="1947672"/>
            <a:ext cx="1609344" cy="104168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09_0.79_3.5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2150880"/>
            <a:ext cx="1463039" cy="63526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3025932"/>
            <a:ext cx="14996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Білий рис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355116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1E9EA6"/>
                </a:solidFill>
                <a:latin typeface="Segoe UI"/>
              </a:rPr>
              <a:t>BIBIGO  ·  210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501420"/>
            <a:ext cx="1499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135–189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720876"/>
            <a:ext cx="14996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Смак Кореї · Rozetka · Prom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32304" y="1883664"/>
            <a:ext cx="1737360" cy="23042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496312" y="1947672"/>
            <a:ext cx="1609344" cy="104168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11_2.80_4.1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19002" y="2011680"/>
            <a:ext cx="763963" cy="9136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551176" y="3025932"/>
            <a:ext cx="14996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Brown &amp; Wild Rice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51176" y="3355116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1E9EA6"/>
                </a:solidFill>
                <a:latin typeface="Segoe UI"/>
              </a:rPr>
              <a:t>CLEARSPRING  ·  250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51176" y="3501420"/>
            <a:ext cx="1499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252–446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51176" y="3720876"/>
            <a:ext cx="14996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MAUDAU · спец. магазини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1883664"/>
            <a:ext cx="1737360" cy="23042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361688" y="1947672"/>
            <a:ext cx="1609344" cy="104168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61688" y="2340498"/>
            <a:ext cx="16093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30" b="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6552" y="3025932"/>
            <a:ext cx="14996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Рис із куркою та овочами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16552" y="3355116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1E9EA6"/>
                </a:solidFill>
                <a:latin typeface="Segoe UI"/>
              </a:rPr>
              <a:t>PORTION  ·  350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6552" y="3501420"/>
            <a:ext cx="1499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109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16552" y="3720876"/>
            <a:ext cx="14996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Rozetka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63056" y="1883664"/>
            <a:ext cx="1737360" cy="23042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227064" y="1947672"/>
            <a:ext cx="1609344" cy="104168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s11_6.83_4.1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9419" y="2011679"/>
            <a:ext cx="724633" cy="91366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281928" y="3025932"/>
            <a:ext cx="14996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Рис із соєвим м'ясом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81928" y="3355116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1E9EA6"/>
                </a:solidFill>
                <a:latin typeface="Segoe UI"/>
              </a:rPr>
              <a:t>МАРКЕЛ  ·  350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81928" y="3501420"/>
            <a:ext cx="1499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94–96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81928" y="3720876"/>
            <a:ext cx="14996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СУХПАЙ · UPcompany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28431" y="1883664"/>
            <a:ext cx="1737360" cy="23042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092440" y="1947672"/>
            <a:ext cx="1609344" cy="104168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s11_8.84_4.1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0277" y="2011679"/>
            <a:ext cx="913668" cy="91366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147304" y="3025932"/>
            <a:ext cx="14996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Yatekomo: яловичина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47304" y="3355116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1E9EA6"/>
                </a:solidFill>
                <a:latin typeface="Segoe UI"/>
              </a:rPr>
              <a:t>GALLINA BLANCA  ·  84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47304" y="3501420"/>
            <a:ext cx="1499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229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47304" y="3720876"/>
            <a:ext cx="14996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893807" y="1883664"/>
            <a:ext cx="1737360" cy="23042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9957815" y="1947672"/>
            <a:ext cx="1609344" cy="104168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s11_10.86_4.1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5653" y="2011679"/>
            <a:ext cx="913668" cy="913668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012680" y="3025932"/>
            <a:ext cx="14996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Yatekomo: теріякі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12680" y="3355116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1E9EA6"/>
                </a:solidFill>
                <a:latin typeface="Segoe UI"/>
              </a:rPr>
              <a:t>GALLINA BLANCA  ·  84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12680" y="3501420"/>
            <a:ext cx="1499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229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12680" y="3720876"/>
            <a:ext cx="14996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Товари з Іспанії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66928" y="5413248"/>
            <a:ext cx="11064240" cy="713232"/>
          </a:xfrm>
          <a:prstGeom prst="roundRect">
            <a:avLst>
              <a:gd name="adj" fmla="val 5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66928" y="5413248"/>
            <a:ext cx="45720" cy="71323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1248" y="5513832"/>
            <a:ext cx="10515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30" b="1">
                <a:solidFill>
                  <a:srgbClr val="1E9EA6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1248" y="5696712"/>
            <a:ext cx="10515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800" b="0">
                <a:solidFill>
                  <a:srgbClr val="D5DBEA"/>
                </a:solidFill>
                <a:latin typeface="Segoe UI"/>
              </a:rPr>
              <a:t>Portion і Маркел — український реторт 350 г за 94–109 грн, найдешевша упаковка сегмента. Bibigo — той самий товар у трьох каналах із розкидом 40 %. Gallina Blanca праворуч — інший сегмент: 84 г сухого рису в чаші під окріп.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Джерела: Смак Кореї, Rozetka, Prom, MAUDAU, СУХПАЙ, UPcompany — 22–23.09.2026. Фото Portion: Rozetka не віддає зображення картки.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3 · САМОРОЗІГРІВ   ·   КОРОБКА   ·   HAIDILAO · 10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Коробка 165–360 г — лідер саморозігріву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Хімічний нагрівач у коробці: готується без мікрохвильовки й окропу.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41148" cy="1965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72768"/>
            <a:ext cx="1069848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94F7C"/>
                </a:solidFill>
                <a:latin typeface="Segoe UI"/>
              </a:rPr>
              <a:t>ФОРМАТ: КОРОБКА   ·   Хімічний нагрівач, 15 хв   ·   Без техніки й окропу   ·   привід: Дорога, подарунок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6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09_0.79_3.5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2026312"/>
            <a:ext cx="1196557" cy="51955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Stewed Chicken*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94F7C"/>
                </a:solidFill>
                <a:latin typeface="Segoe UI"/>
              </a:rPr>
              <a:t>165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380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Sweet Svitt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65821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229829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12_3.21_3.5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6849" y="2011679"/>
            <a:ext cx="548822" cy="54882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4693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Яловичина з карі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4693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94F7C"/>
                </a:solidFill>
                <a:latin typeface="Segoe UI"/>
              </a:rPr>
              <a:t>272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4693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770–799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4693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64715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828723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12_5.62_3.5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5742" y="2011679"/>
            <a:ext cx="548822" cy="54882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3587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Тушкована яловичина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3587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94F7C"/>
                </a:solidFill>
                <a:latin typeface="Segoe UI"/>
              </a:rPr>
              <a:t>272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3587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799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3587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63609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427617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s12_8.04_3.5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1043" y="2011679"/>
            <a:ext cx="556009" cy="54882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2481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Томати й грудинка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2481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94F7C"/>
                </a:solidFill>
                <a:latin typeface="Segoe UI"/>
              </a:rPr>
              <a:t>272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2481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799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2481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962502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026510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s12_10.45_3.5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3530" y="2011679"/>
            <a:ext cx="548822" cy="54882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81374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Кантонський стиль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81374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94F7C"/>
                </a:solidFill>
                <a:latin typeface="Segoe UI"/>
              </a:rPr>
              <a:t>187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81374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680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81374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561396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625404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s09_0.79_3.5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8556" y="2026312"/>
            <a:ext cx="1196557" cy="519557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80268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Тушкована курка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0268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94F7C"/>
                </a:solidFill>
                <a:latin typeface="Segoe UI"/>
              </a:rPr>
              <a:t>187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0268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650–680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0268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Daruy · Desna · Tactico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160290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0224298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s12_3.21_3.5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21317" y="2011679"/>
            <a:ext cx="548822" cy="54882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9162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Свинина, рибний смак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9162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94F7C"/>
                </a:solidFill>
                <a:latin typeface="Segoe UI"/>
              </a:rPr>
              <a:t>187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9162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650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9162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66928" y="366674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30936" y="373075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s12_5.62_5.82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5214" y="3794760"/>
            <a:ext cx="574303" cy="548822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416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Курка теріякі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77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94F7C"/>
                </a:solidFill>
                <a:latin typeface="Segoe UI"/>
              </a:rPr>
              <a:t>181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307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650–660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53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Daruy · Шериф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165821" y="366674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2229829" y="373075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12_8.04_3.5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23255" y="3794760"/>
            <a:ext cx="556009" cy="54882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4693" y="444416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Гострий курячий соус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4693" y="473677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94F7C"/>
                </a:solidFill>
                <a:latin typeface="Segoe UI"/>
              </a:rPr>
              <a:t>175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4693" y="488307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650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4693" y="510253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764715" y="366674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3828723" y="373075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s12_10.45_3.5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25742" y="3794760"/>
            <a:ext cx="548822" cy="548822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3587" y="444416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Грудинка з гірчичною зеленню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3587" y="473677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94F7C"/>
                </a:solidFill>
                <a:latin typeface="Segoe UI"/>
              </a:rPr>
              <a:t>360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3587" y="488307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1 190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3587" y="510253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Daruy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66928" y="5413248"/>
            <a:ext cx="11064240" cy="713232"/>
          </a:xfrm>
          <a:prstGeom prst="roundRect">
            <a:avLst>
              <a:gd name="adj" fmla="val 5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66928" y="5413248"/>
            <a:ext cx="45720" cy="713232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41248" y="5513832"/>
            <a:ext cx="10515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30" b="1">
                <a:solidFill>
                  <a:srgbClr val="C94F7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1248" y="5696712"/>
            <a:ext cx="10515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800" b="0">
                <a:solidFill>
                  <a:srgbClr val="D5DBEA"/>
                </a:solidFill>
                <a:latin typeface="Segoe UI"/>
              </a:rPr>
              <a:t>380–1 190 грн за упаковку — найдорожчий формат ринку. З нами не конкурує: інший привід споживання й інший канал.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Джерела: Daruy, Tactico, Desna, Sweet Svitt, «Шериф» — 22–23.09.2026.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3 · САМОРОЗІГРІВ   ·   ЧАША + КОРОБКА   ·   КИТАЙСЬКИЙ САМОРОЗІГРІВ · 3 БРЕНДИ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Mo Xiao Xian — чаша, Zihaiguo і Rongcheng Haoji — коробка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Усі бренди в одному магазині. Qiaoshanmei праворуч — інший сегмент: рис у пакеті під окріп.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41148" cy="1965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72768"/>
            <a:ext cx="1069848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94F7C"/>
                </a:solidFill>
                <a:latin typeface="Segoe UI"/>
              </a:rPr>
              <a:t>ФОРМАТ: ЧАША + КОРОБКА   ·   Хімічний нагрівач, 15 хв   ·   Без техніки й окропу   ·   привід: Дорога, подарунок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1883664"/>
            <a:ext cx="1737360" cy="23042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6" y="1947672"/>
            <a:ext cx="1609344" cy="104168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09_0.79_3.5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2150880"/>
            <a:ext cx="1463039" cy="63526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3025932"/>
            <a:ext cx="14996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Яловичина з бамбуком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355116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94F7C"/>
                </a:solidFill>
                <a:latin typeface="Segoe UI"/>
              </a:rPr>
              <a:t>MO XIAO XIAN  ·  275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501420"/>
            <a:ext cx="1499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931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720876"/>
            <a:ext cx="14996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32304" y="1883664"/>
            <a:ext cx="1737360" cy="23042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496312" y="1947672"/>
            <a:ext cx="1609344" cy="104168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13_2.80_4.1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4149" y="2011679"/>
            <a:ext cx="913668" cy="9136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551176" y="3025932"/>
            <a:ext cx="14996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Бекон і горошок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51176" y="3355116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94F7C"/>
                </a:solidFill>
                <a:latin typeface="Segoe UI"/>
              </a:rPr>
              <a:t>MO XIAO XIAN  ·  275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51176" y="3501420"/>
            <a:ext cx="1499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931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51176" y="3720876"/>
            <a:ext cx="14996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1883664"/>
            <a:ext cx="1737360" cy="23042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361688" y="1947672"/>
            <a:ext cx="1609344" cy="104168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13_4.82_4.1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525" y="2011679"/>
            <a:ext cx="913668" cy="91366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416552" y="3025932"/>
            <a:ext cx="14996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Яловичина з двома перцями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16552" y="3355116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94F7C"/>
                </a:solidFill>
                <a:latin typeface="Segoe UI"/>
              </a:rPr>
              <a:t>ZIHAIGUO  ·  440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6552" y="3501420"/>
            <a:ext cx="1499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735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16552" y="3720876"/>
            <a:ext cx="14996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63056" y="1883664"/>
            <a:ext cx="1737360" cy="23042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227064" y="1947672"/>
            <a:ext cx="1609344" cy="104168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s13_6.83_4.1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4901" y="2011679"/>
            <a:ext cx="913668" cy="91366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281928" y="3025932"/>
            <a:ext cx="14996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Тушкована свинина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81928" y="3355116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94F7C"/>
                </a:solidFill>
                <a:latin typeface="Segoe UI"/>
              </a:rPr>
              <a:t>RONGCHENG HAOJI  ·  440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81928" y="3501420"/>
            <a:ext cx="1499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735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81928" y="3720876"/>
            <a:ext cx="14996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28431" y="1883664"/>
            <a:ext cx="1737360" cy="23042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092440" y="1947672"/>
            <a:ext cx="1609344" cy="104168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s13_8.84_4.1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40277" y="2011679"/>
            <a:ext cx="913668" cy="91366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147304" y="3025932"/>
            <a:ext cx="14996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Гостра яловичина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47304" y="3355116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94F7C"/>
                </a:solidFill>
                <a:latin typeface="Segoe UI"/>
              </a:rPr>
              <a:t>QIAOSHANMEI  ·  146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47304" y="3501420"/>
            <a:ext cx="1499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501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47304" y="3720876"/>
            <a:ext cx="14996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893807" y="1883664"/>
            <a:ext cx="1737360" cy="23042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9957815" y="1947672"/>
            <a:ext cx="1609344" cy="104168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s13_10.86_4.1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5653" y="2011679"/>
            <a:ext cx="913668" cy="913668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012680" y="3025932"/>
            <a:ext cx="14996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Свинина по-тайванськи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12680" y="3355116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C94F7C"/>
                </a:solidFill>
                <a:latin typeface="Segoe UI"/>
              </a:rPr>
              <a:t>QIAOSHANMEI  ·  146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12680" y="3501420"/>
            <a:ext cx="1499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501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12680" y="3720876"/>
            <a:ext cx="14996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Скарби Азії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66928" y="5413248"/>
            <a:ext cx="11064240" cy="713232"/>
          </a:xfrm>
          <a:prstGeom prst="roundRect">
            <a:avLst>
              <a:gd name="adj" fmla="val 5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66928" y="5413248"/>
            <a:ext cx="45720" cy="713232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1248" y="5513832"/>
            <a:ext cx="10515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30" b="1">
                <a:solidFill>
                  <a:srgbClr val="C94F7C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1248" y="5696712"/>
            <a:ext cx="10515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800" b="0">
                <a:solidFill>
                  <a:srgbClr val="D5DBEA"/>
                </a:solidFill>
                <a:latin typeface="Segoe UI"/>
              </a:rPr>
              <a:t>Zihaiguo і Rongcheng Haoji дають удвічі більшу порцію за ті самі гроші, що Haidilao. Mo Xiao Xian — 931 грн за 275 г, найдорожча чаша ринку.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Джерело: «Скарби Азії» (Prom), 23.09.2026. Бренди визначено за написами на упаковці.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4 · СУБЛІМАЦІЯ   ·   ДОЙПАК   ·   ІМПОРТНИЙ СУБЛІМАТ · 4 БРЕНДИ, 12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Дойпак 110–250 г — Німеччина, США, Нідерланди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Рис-страви у дойпаку: залити окропом на 8–10 хвилин.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41148" cy="1965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72768"/>
            <a:ext cx="1069848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ФОРМАТ: ДОЙПАК   ·   Сушіння виморожуванням   ·   Окріп, мінімальна вага   ·   привід: Похід і армія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6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14_0.79_3.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1122" y="2011679"/>
            <a:ext cx="442488" cy="54882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Бефстроганов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TRAVELLUNCH  ·  125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275–515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Гайдамака · ALANTUR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65821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229829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14_2.52_3.0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0302" y="2011679"/>
            <a:ext cx="441916" cy="54882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4693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4693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TRAVELLUNCH  ·  125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4693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295–515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4693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Гайдамака · ALANTUR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64715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828723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14_4.24_3.0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5770" y="2011679"/>
            <a:ext cx="428767" cy="54882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3587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Nasi Goreng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3587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TRAVELLUNCH  ·  125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3587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567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3587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63609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427617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s14_5.97_3.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72658" y="2011679"/>
            <a:ext cx="452778" cy="54882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2481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Курка карі з рисом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2481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TRAVELLUNCH  ·  125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2481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515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2481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962502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026510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s14_7.69_3.0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76983" y="2011679"/>
            <a:ext cx="441916" cy="54882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81374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Бефстроганов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81374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TRAVELLUNCH  ·  250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81374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702–811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81374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Highlander · ForCamp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561396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625404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s14_9.42_3.0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82451" y="2011679"/>
            <a:ext cx="428767" cy="548822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80268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Яловичина з перцем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0268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TRAVELLUNCH  ·  250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0268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811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0268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160290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0224298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s14_11.14_3.04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81345" y="2011679"/>
            <a:ext cx="428767" cy="54882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9162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Nasi Goreng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9162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TRAVELLUNCH  ·  250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9162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889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9162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ALANTUR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66928" y="366674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30936" y="373075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s14_0.79_3.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1122" y="3794760"/>
            <a:ext cx="442488" cy="548822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416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Риба з рисом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77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TREK'N EAT  ·  МАСА Н/Д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307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269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53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Freeride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165821" y="366674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2229829" y="373075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14_2.52_3.0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0302" y="3794760"/>
            <a:ext cx="441916" cy="54882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4693" y="444416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Бефстроганов з рисом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4693" y="473677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TREK'N EAT  ·  МАСА Н/Д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4693" y="488307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715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4693" y="510253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Kamanti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764715" y="366674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3828723" y="373075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s14_4.24_3.0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5770" y="3794760"/>
            <a:ext cx="428767" cy="548822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3587" y="444416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Жовте карі з куркою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3587" y="473677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MOUNTAIN HOUSE  ·  110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3587" y="488307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699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3587" y="510253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110вольт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363609" y="366674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5427617" y="373075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s14_5.97_5.48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54936" y="3794760"/>
            <a:ext cx="488223" cy="548822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2481" y="444416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Chicken Fried Rice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2481" y="473677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MOUNTAIN HOUSE  ·  133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2481" y="488307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699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2481" y="510253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110вольт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962502" y="366674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7026510" y="373075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s14_7.69_3.0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76983" y="3794760"/>
            <a:ext cx="441916" cy="548822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81374" y="444416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Рис карі з фруктами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81374" y="473677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ADVENTURE FOOD  ·  146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81374" y="488307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492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81374" y="510253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Клуб Мандрівник · ще 3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566928" y="5413248"/>
            <a:ext cx="11064240" cy="713232"/>
          </a:xfrm>
          <a:prstGeom prst="roundRect">
            <a:avLst>
              <a:gd name="adj" fmla="val 5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66928" y="5413248"/>
            <a:ext cx="45720" cy="71323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41248" y="5513832"/>
            <a:ext cx="10515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30" b="1">
                <a:solidFill>
                  <a:srgbClr val="5D4B96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41248" y="5696712"/>
            <a:ext cx="10515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800" b="0">
                <a:solidFill>
                  <a:srgbClr val="D5DBEA"/>
                </a:solidFill>
                <a:latin typeface="Segoe UI"/>
              </a:rPr>
              <a:t>Travellunch — найширша імпортна лінійка, 7 позицій у двох вагах. Канал — туристичні й військові магазини; у продуктовий роздріб ці бренди не йдуть.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Джерела: ALANTUR, Highlander, ForCamp, Гайдамака, Freeride, Kamanti, 110вольт — 22–23.09.2026.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4 · СУБЛІМАЦІЯ   ·   ПАУЧ + ДОЙПАК   ·   ДВІ ТЕХНОЛОГІЇ В ОДНОМУ БРЕНДІ · 8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Adventure Menu — пауч 400 г і дойпак 110 г, SubliMate — дойпак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Єдиний бренд категорії, що робить і готову страву, і сублімат.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41148" cy="1965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72768"/>
            <a:ext cx="1069848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ФОРМАТ: ПАУЧ + ДОЙПАК   ·   Сушіння виморожуванням   ·   Окріп, мінімальна вага   ·   привід: Похід і армія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6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09_0.79_3.5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2026312"/>
            <a:ext cx="1196557" cy="51955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Chicken Korma з рисом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ADVENTURE MENU  ·  400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376–404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ALANTUR · ForCamp · MK-Sport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65821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229829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15_3.21_3.0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5152" y="2011679"/>
            <a:ext cx="472216" cy="54882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4693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Курка в томатному соусі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4693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ADVENTURE MENU  ·  400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4693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315–356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4693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Freeride · MK-Sport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64715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828723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15_5.62_3.0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2335" y="2011679"/>
            <a:ext cx="455637" cy="54882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3587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Фрикадельки з басматі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3587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ADVENTURE MENU  ·  400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3587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336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3587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Лєєр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63609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427617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s15_8.04_3.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49219" y="2011679"/>
            <a:ext cx="499657" cy="54882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2481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Korma з басматі · сублімат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2481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ADVENTURE MENU  ·  110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2481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378–483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2481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Лєєр · OXO · MK · Freeride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962502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026510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s15_10.45_3.0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46969" y="2011679"/>
            <a:ext cx="501944" cy="54882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81374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Tikka Masala · сублімат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81374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ADVENTURE MENU  ·  110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81374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390–483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81374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Palmer · Лєєр · MK · Freeride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561396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625404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s09_0.79_3.5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8556" y="2026312"/>
            <a:ext cx="1196557" cy="519557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80268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Плов узбецький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0268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SUBLIMATE  ·  140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0268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309–310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0268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Highlander · ВсеОпт · Суренж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160290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0224298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s15_3.21_5.48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60718" y="2011679"/>
            <a:ext cx="670021" cy="54882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9162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Рис з куркою і фруктами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9162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SUBLIMATE  ·  110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9162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290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9162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Highlander · Суренж · ВсеОпт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66928" y="366674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30936" y="373075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s15_5.62_3.0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548" y="3794760"/>
            <a:ext cx="455637" cy="548822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416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Тайське зелене карі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77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SUBLIMATE  ·  120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307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370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53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Highlander · ВсеОпт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66928" y="5413248"/>
            <a:ext cx="11064240" cy="713232"/>
          </a:xfrm>
          <a:prstGeom prst="roundRect">
            <a:avLst>
              <a:gd name="adj" fmla="val 5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66928" y="5413248"/>
            <a:ext cx="45720" cy="71323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41248" y="5513832"/>
            <a:ext cx="10515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30" b="1">
                <a:solidFill>
                  <a:srgbClr val="5D4B96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1248" y="5696712"/>
            <a:ext cx="10515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800" b="0">
                <a:solidFill>
                  <a:srgbClr val="D5DBEA"/>
                </a:solidFill>
                <a:latin typeface="Segoe UI"/>
              </a:rPr>
              <a:t>Лінія Adventure Menu 400 г READY TO EAT — реторт без води, 315–404 грн за упаковку. Продається лише в туристичних магазинах, хоча технологічно це та сама полиця, що Ben's і Ottogi.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Джерела: ALANTUR, ForCamp, MK-Sport, Freeride, Лєєр, OXO, Palmer, Highlander — 22–23.09.2026.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4 · СУБЛІМАЦІЯ   ·   ДОЙПАК   ·   УКРАЇНСЬКИЙ СУБЛІМАТ · 4 БРЕНДИ, 11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Дойпак 80–100 г — усе вітчизняне виробництво категорії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Канал — туристичні та військові магазини.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41148" cy="1965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72768"/>
            <a:ext cx="1069848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ФОРМАТ: ДОЙПАК   ·   Сушіння виморожуванням   ·   Окріп, мінімальна вага   ·   привід: Похід і армія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6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16_0.79_3.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075" y="2011679"/>
            <a:ext cx="646581" cy="54882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Рис з м'ясом та овочами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JAMES COOK  ·  90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83–138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Highlander · ВсеОпт · Klever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65821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229829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16_2.52_3.0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7969" y="2011679"/>
            <a:ext cx="646581" cy="54882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4693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Карі з рисом та куркою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4693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JAMES COOK  ·  90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4693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133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4693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Highlander · Activity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64715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828723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16_4.24_3.0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74004" y="2011679"/>
            <a:ext cx="652298" cy="54882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3587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Машкічірі: рис з бобами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3587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JAMES COOK  ·  80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3587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156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3587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Highlander · Terra Incognita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63609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427617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s16_5.97_3.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92621" y="2011679"/>
            <a:ext cx="612852" cy="54882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2481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Рис з овочами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2481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JAMES COOK  ·  90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2481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55–81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2481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Highlander · ВсеОпт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962502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026510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s16_7.69_3.0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53258" y="2011679"/>
            <a:ext cx="489367" cy="54882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81374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Рис з куркою та овочами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81374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ЇЖА В ПОХІД  ·  85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81374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145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81374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561396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8625404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s16_9.42_3.0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49007" y="2011679"/>
            <a:ext cx="495655" cy="548822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80268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Рис з овочами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0268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ЇЖА В ПОХІД  ·  85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0268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130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0268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власний магазин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160290" y="188366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0224298" y="194767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s16_11.14_3.04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65623" y="2011679"/>
            <a:ext cx="460210" cy="54882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9162" y="266108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Рис зі свининою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9162" y="295369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ХАРЧІ  ·  85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9162" y="309999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120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9162" y="331945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Харчі ТМ · Висот-Нік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66928" y="366674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30936" y="373075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s16_0.79_3.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075" y="3794760"/>
            <a:ext cx="646581" cy="548822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416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Рисова каша з м'ясом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77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ХАРЧІ  ·  85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307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120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53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Highlander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165821" y="366674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2229829" y="373075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16_2.52_3.0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7969" y="3794760"/>
            <a:ext cx="646581" cy="54882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4693" y="444416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Кічрі: боби з рисом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4693" y="473677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ХАРЧІ  ·  85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4693" y="488307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83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4693" y="510253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Висот-Нік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764715" y="366674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3828723" y="373075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s16_4.24_3.0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74004" y="3794760"/>
            <a:ext cx="652298" cy="548822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3587" y="444416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Плов XL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3587" y="473677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ХАРЧІ  ·  100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3587" y="488307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321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3587" y="510253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8 продавців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363609" y="3666744"/>
            <a:ext cx="1470877" cy="1655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5427617" y="3730752"/>
            <a:ext cx="1342861" cy="67683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s16_5.97_3.04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92621" y="3794760"/>
            <a:ext cx="612852" cy="548822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2481" y="4444166"/>
            <a:ext cx="123313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Плов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2481" y="4736774"/>
            <a:ext cx="123313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5D4B96"/>
                </a:solidFill>
                <a:latin typeface="Segoe UI"/>
              </a:rPr>
              <a:t>!FEST  ·  100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2481" y="4883078"/>
            <a:ext cx="123313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133–140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2481" y="5102534"/>
            <a:ext cx="123313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SportStorm · Kalush-Craft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66928" y="5413248"/>
            <a:ext cx="11064240" cy="713232"/>
          </a:xfrm>
          <a:prstGeom prst="roundRect">
            <a:avLst>
              <a:gd name="adj" fmla="val 5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566928" y="5413248"/>
            <a:ext cx="45720" cy="71323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41248" y="5513832"/>
            <a:ext cx="10515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30" b="1">
                <a:solidFill>
                  <a:srgbClr val="5D4B96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41248" y="5696712"/>
            <a:ext cx="10515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800" b="0">
                <a:solidFill>
                  <a:srgbClr val="D5DBEA"/>
                </a:solidFill>
                <a:latin typeface="Segoe UI"/>
              </a:rPr>
              <a:t>Українське виробництво в категорії є, але воно цілком у туристичному каналі: 55–321 грн за упаковку проти 269–889 грн в імпортних брендів. Готового рису в паучі під мікрохвильовку не робить ніхто.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Джерела: Highlander, Activity, ВсеОпт, Klever-Shop, Terra Incognita, Висот-Нік — 22–23.09.2026.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5 · СУМІЖНА ПОЛИЦЯ   ·   БЛЯШАНКА   ·   СУМІЖНА ПОЛИЦЯ · 6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Рис із м'ясом у мережах уже є — але в консервній бляшанці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Прямий конкурент за той самий привід: гаряча страва з рисом і м'ясом без готування.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41148" cy="196596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72768"/>
            <a:ext cx="1069848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37A169"/>
                </a:solidFill>
                <a:latin typeface="Segoe UI"/>
              </a:rPr>
              <a:t>ФОРМАТ: БЛЯШАНКА   ·   Консерва, готова до вживання   ·   Маса — готової страви   ·   привід: Обід поза домом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1883664"/>
            <a:ext cx="1737360" cy="23042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6" y="1947672"/>
            <a:ext cx="1609344" cy="104168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09_0.79_3.5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2150880"/>
            <a:ext cx="1463039" cy="63526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3025932"/>
            <a:ext cx="14996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Каша рисова зі свининою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355116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37A169"/>
                </a:solidFill>
                <a:latin typeface="Segoe UI"/>
              </a:rPr>
              <a:t>HAPAY!  ·  340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501420"/>
            <a:ext cx="1499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63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720876"/>
            <a:ext cx="14996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32304" y="1883664"/>
            <a:ext cx="1737360" cy="23042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496312" y="1947672"/>
            <a:ext cx="1609344" cy="104168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17_2.81_3.5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6391" y="2011679"/>
            <a:ext cx="649185" cy="9136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551176" y="3025932"/>
            <a:ext cx="14996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Каша рисова зі свининою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51176" y="3355116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37A169"/>
                </a:solidFill>
                <a:latin typeface="Segoe UI"/>
              </a:rPr>
              <a:t>L'APPETIT  ·  340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51176" y="3501420"/>
            <a:ext cx="1499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120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51176" y="3720876"/>
            <a:ext cx="14996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1883664"/>
            <a:ext cx="1737360" cy="23042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361688" y="1947672"/>
            <a:ext cx="1609344" cy="104168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17_4.83_3.5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2805" y="2011679"/>
            <a:ext cx="607108" cy="91366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416552" y="3025932"/>
            <a:ext cx="14996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Каша рисова з яловичиною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16552" y="3355116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37A169"/>
                </a:solidFill>
                <a:latin typeface="Segoe UI"/>
              </a:rPr>
              <a:t>L'APPETIT  ·  340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6552" y="3501420"/>
            <a:ext cx="1499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126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16552" y="3720876"/>
            <a:ext cx="14996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63056" y="1883664"/>
            <a:ext cx="1737360" cy="23042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227064" y="1947672"/>
            <a:ext cx="1609344" cy="104168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s17_6.85_3.58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8126" y="2011679"/>
            <a:ext cx="667218" cy="91366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281928" y="3025932"/>
            <a:ext cx="14996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Плов з качки та булгуру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81928" y="3355116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37A169"/>
                </a:solidFill>
                <a:latin typeface="Segoe UI"/>
              </a:rPr>
              <a:t>HAPAY!  ·  340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81928" y="3501420"/>
            <a:ext cx="1499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117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81928" y="3720876"/>
            <a:ext cx="14996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28431" y="1883664"/>
            <a:ext cx="1737360" cy="23042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092440" y="1947672"/>
            <a:ext cx="1609344" cy="104168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s17_8.87_3.58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65592" y="2072422"/>
            <a:ext cx="1463040" cy="79218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147304" y="3025932"/>
            <a:ext cx="14996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Плов з куркою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47304" y="3355116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37A169"/>
                </a:solidFill>
                <a:latin typeface="Segoe UI"/>
              </a:rPr>
              <a:t>FOOD FABRIKA  ·  250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47304" y="3501420"/>
            <a:ext cx="1499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119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47304" y="3720876"/>
            <a:ext cx="14996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Восторг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893807" y="1883664"/>
            <a:ext cx="1737360" cy="23042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B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9957815" y="1947672"/>
            <a:ext cx="1609344" cy="1041684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s17_10.89_3.58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3819" y="2011679"/>
            <a:ext cx="1237337" cy="913668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012680" y="3025932"/>
            <a:ext cx="14996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40" b="1">
                <a:solidFill>
                  <a:srgbClr val="1C2235"/>
                </a:solidFill>
                <a:latin typeface="Segoe UI"/>
              </a:rPr>
              <a:t>Плов з куркою та родзинками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12680" y="3355116"/>
            <a:ext cx="149961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>
                <a:solidFill>
                  <a:srgbClr val="37A169"/>
                </a:solidFill>
                <a:latin typeface="Segoe UI"/>
              </a:rPr>
              <a:t>М'ЯСТОРІЯ  ·  350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12680" y="3501420"/>
            <a:ext cx="149961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147–160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12680" y="3720876"/>
            <a:ext cx="14996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717890"/>
                </a:solidFill>
                <a:latin typeface="Segoe UI"/>
              </a:rPr>
              <a:t>Novus · МегаМаркет · Космос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66928" y="5413248"/>
            <a:ext cx="11064240" cy="713232"/>
          </a:xfrm>
          <a:prstGeom prst="roundRect">
            <a:avLst>
              <a:gd name="adj" fmla="val 5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66928" y="5413248"/>
            <a:ext cx="45720" cy="713232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1248" y="5513832"/>
            <a:ext cx="10515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30" b="1">
                <a:solidFill>
                  <a:srgbClr val="37A169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1248" y="5696712"/>
            <a:ext cx="10515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800" b="0">
                <a:solidFill>
                  <a:srgbClr val="D5DBEA"/>
                </a:solidFill>
                <a:latin typeface="Segoe UI"/>
              </a:rPr>
              <a:t>Ця полиця вже стоїть у мережах, коштує 63–160 грн і має українського виробника. Пауч із готовим рисом заходить у той самий гаманець, тож орієнтир ціни — не Ottogi за 255 грн, а саме вона.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Джерело: API 17 мереж zakaz.ua, 23.09.2026. Охолоджену кулінарію мереж не показано.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РИТЕЙЛ-АУДИТ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Що з готового рису реально стоїть у мережах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Суцільна перевірка каталогів Ашан, Сільпо, METRO, NOVUS, МегаМаркет, Ultramarket, ЕКО маркет, Epicentr, Космос — 28.09.2026.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17904"/>
            <a:ext cx="41148" cy="17373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31619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ЗБЕРІГАННЯ ПРИ КІМНАТНІЙ · НАШ СЕТ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531619"/>
            <a:ext cx="40233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C4820A"/>
                </a:solidFill>
                <a:latin typeface="Segoe UI"/>
              </a:rPr>
              <a:t>12 SKU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755648"/>
            <a:ext cx="26151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МЕРЕЖА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82112" y="1755648"/>
            <a:ext cx="3931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ЩО САМЕ СТОЇТЬ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4031" y="1755648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19" y="175564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19" y="1755648"/>
            <a:ext cx="13350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96143" y="1755648"/>
            <a:ext cx="15179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10" b="1">
                <a:solidFill>
                  <a:srgbClr val="717890"/>
                </a:solidFill>
                <a:latin typeface="Segoe UI"/>
              </a:rPr>
              <a:t>ПОХОДЖЕННЯ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1938528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Сільпо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2112" y="1938528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Ben's Original / Uncle Ben's Express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14031" y="1938528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C4820A"/>
                </a:solidFill>
                <a:latin typeface="Segoe UI"/>
              </a:rPr>
              <a:t>пауч 220–250 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9" y="193852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19" y="1938528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90–179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96143" y="1938528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Mars · ЄС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3776" y="2121408"/>
            <a:ext cx="10936224" cy="21488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2153412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МегаМаркет · Ultramarket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82112" y="2153412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The Local Food по-тайськи з куркою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14031" y="2153412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C4820A"/>
                </a:solidFill>
                <a:latin typeface="Segoe UI"/>
              </a:rPr>
              <a:t>лоток 350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19" y="215341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19" y="2153412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207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96143" y="2153412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2487168"/>
            <a:ext cx="41148" cy="17373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" y="2500884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ОХОЛОДЖЕНА КУЛІНАРІЯ · 2–5 ДІБ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2500884"/>
            <a:ext cx="40233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11 SKU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724911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Ашан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82112" y="2724911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«Легко!» рис з овочами та курячим фрікасе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14031" y="2724911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лоток 280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19" y="2724911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61119" y="2724911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96143" y="2724911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3776" y="2907791"/>
            <a:ext cx="10936224" cy="21488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2939795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Сільпо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82112" y="2939795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«Чіл Міл» рис паровий · рис з яйцем і овочами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14031" y="2939795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лоток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03919" y="2939795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61119" y="2939795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75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96143" y="2939795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3154679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Сільпо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82112" y="3154679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Боули з рисом · теріякі · рис по-китайськи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4031" y="3154679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кулінарія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03919" y="3154679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19" y="3154679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139–439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296143" y="3154679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93776" y="3337559"/>
            <a:ext cx="10936224" cy="21488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3369563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NOVUS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82112" y="3369563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«Майстри Смаку» рис з овочами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14031" y="3369563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кулінарія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19" y="3369563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961119" y="3369563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299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96143" y="3369563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3584447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МегаМаркет · Ultramarket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182112" y="3584447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Рис японський з овочами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14031" y="3584447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E9EA6"/>
                </a:solidFill>
                <a:latin typeface="Segoe UI"/>
              </a:rPr>
              <a:t>кулінарія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03919" y="3584447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961119" y="3584447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366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296143" y="3584447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3918203"/>
            <a:ext cx="41148" cy="17373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13232" y="3931919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СУМІШ ПІД ВАРІННЯ · НЕ ГОТОВИЙ ПРОДУКТ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5200" y="3931919"/>
            <a:ext cx="40233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5D4B96"/>
                </a:solidFill>
                <a:latin typeface="Segoe UI"/>
              </a:rPr>
              <a:t>3 SKU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6928" y="4155947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Ашан · NOVUS · МегаМаркет · Сільпо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82112" y="4155947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«Жменька» Tasty Mix басматі з овочами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14031" y="4155947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5D4B96"/>
                </a:solidFill>
                <a:latin typeface="Segoe UI"/>
              </a:rPr>
              <a:t>пакет 200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503919" y="4155947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961119" y="4155947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89–92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296143" y="4155947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93776" y="4338827"/>
            <a:ext cx="10936224" cy="214884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66928" y="4370831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NOVUS · Сільпо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182112" y="4370831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Trapeza басматі з карі по-індійськи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14031" y="4370831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5D4B96"/>
                </a:solidFill>
                <a:latin typeface="Segoe UI"/>
              </a:rPr>
              <a:t>пакет 250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03919" y="4370831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961119" y="4370831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59–85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96143" y="4370831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66928" y="4585716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МегаМаркет · Ultramarket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182112" y="4585716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«Зерновита» рис з овочами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114031" y="4585716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5D4B96"/>
                </a:solidFill>
                <a:latin typeface="Segoe UI"/>
              </a:rPr>
              <a:t>пакет 500 г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503919" y="4585716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961119" y="4585716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78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296143" y="4585716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6928" y="4919472"/>
            <a:ext cx="41148" cy="17373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13232" y="4933188"/>
            <a:ext cx="64008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КАТЕГОРІЇ НЕМАЄ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15200" y="4933188"/>
            <a:ext cx="40233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0 SKU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" y="5157216"/>
            <a:ext cx="26151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METRO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182112" y="5157216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готового рису немає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114031" y="5157216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503919" y="5157216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961119" y="5157216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—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296143" y="5157216"/>
            <a:ext cx="151790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лише крупа 1–10 кг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566928" y="5138928"/>
            <a:ext cx="5413248" cy="1005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566928" y="5138928"/>
            <a:ext cx="41148" cy="100584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04672" y="5294376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4820A"/>
                </a:solidFill>
                <a:latin typeface="Segoe UI"/>
              </a:rPr>
              <a:t>AMBIENT-ПОЛИЦЯ — ЦЕ 12 SKU НА ВСЮ КРАЇНУ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04672" y="5559552"/>
            <a:ext cx="49560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11 із них — Ben's Original у «Сільпо». Єдина інша позиція: український лоток The Local Food по-тайськи 350 г за 207 грн у МегаМаркеті.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217920" y="5138928"/>
            <a:ext cx="5413248" cy="1005840"/>
          </a:xfrm>
          <a:prstGeom prst="roundRect">
            <a:avLst>
              <a:gd name="adj" fmla="val 6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217920" y="5138928"/>
            <a:ext cx="41148" cy="1005840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455664" y="5294376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9FA9C4"/>
                </a:solidFill>
                <a:latin typeface="Segoe UI"/>
              </a:rPr>
              <a:t>METRO — НУЛЬ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455664" y="5559552"/>
            <a:ext cx="49560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Cash&amp;Carry тримає лише крупу 1–10 кг під власними марками Metro Chef і Aro. Формат обслуговує HoReCa, не кінцевого покупця.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Джерело: відкритий каталожний API zakaz.ua (Ашан, METRO, NOVUS, МегаМаркет, Ultramarket, ЕКО маркет, Epicentr, Космос) та sf-ecom-api.silpo.ua — 28.09.2026. Фоззі Cash&amp;Carry перевірити не вдалося: каталог закритий ботозахистом.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АЗІЙСЬКІ БРЕНДИ В МЕРЕЖАХ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Ottogi і Bibigo вже на полиці — але тільки з локшиною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Ці бренди продають рис у чашах по 225–356 грн, але завозять у мережі лише локшину й рамен. Полиця під них уже відкрита — рису на ній немає.</a:t>
            </a:r>
          </a:p>
        </p:txBody>
      </p:sp>
      <p:pic>
        <p:nvPicPr>
          <p:cNvPr id="10" name="Picture 9" descr="c8_asian_shel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17904"/>
            <a:ext cx="11064240" cy="4062293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773168"/>
            <a:ext cx="3547872" cy="137160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773168"/>
            <a:ext cx="41148" cy="137160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928616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ВХІД У МЕРЕЖУ ВЖЕ ПРОБИТИЙ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5193792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Ottogi має 14 позицій у трьох мережах, Bibigo — 6 в «Ашані». Імпортер, договір із мережею і місце на полиці під ці бренди вже 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5112" y="4773168"/>
            <a:ext cx="3547872" cy="137160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25112" y="4773168"/>
            <a:ext cx="41148" cy="137160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2856" y="4928616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4820A"/>
                </a:solidFill>
                <a:latin typeface="Segoe UI"/>
              </a:rPr>
              <a:t>НІХТО ПРОСТО НЕ ЗАВІЗ РИС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2856" y="5193792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Ті самі Ottogi і Bibigo продають чаші з рисом по 225–356 грн — але лише в азійських фудшопах. У мережу зайшла тільки локшина.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4773168"/>
            <a:ext cx="3547872" cy="137160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83296" y="4773168"/>
            <a:ext cx="41148" cy="137160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4928616"/>
            <a:ext cx="3090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C94F7C"/>
                </a:solidFill>
                <a:latin typeface="Segoe UI"/>
              </a:rPr>
              <a:t>ВІКНО МОЖЕ БУТИ КОРОТКИМ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5193792"/>
            <a:ext cx="3090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Імпортер Ottogi додасть рисові SKU до наявного лістингу швидше, ніж ми збудуємо свій з нуля. Це аргумент заходити зараз.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Підрахунок позицій за відкритими каталогами мереж, 28.09.2026. Ураховано позиції, де назва бренду є в назві товару. «З них рис» — жодної позиції готового чи сирого рису під цими брендами в жодній із перевірених мереж.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КАНАЛИ ПРОДАЖУ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Де продається категорія і кому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Дві осі: точка продажу і покупець, який у неї приходить. Вони не збігаються.</a:t>
            </a:r>
          </a:p>
        </p:txBody>
      </p:sp>
      <p:pic>
        <p:nvPicPr>
          <p:cNvPr id="10" name="Picture 9" descr="c5_channe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517904"/>
            <a:ext cx="5029200" cy="189652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870448" y="1554480"/>
            <a:ext cx="5760720" cy="93268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70448" y="1554480"/>
            <a:ext cx="41148" cy="932688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9904" y="1664207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Продуктовий роздріб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12680" y="1682495"/>
            <a:ext cx="923544" cy="182880"/>
          </a:xfrm>
          <a:prstGeom prst="roundRect">
            <a:avLst>
              <a:gd name="adj" fmla="val 50000"/>
            </a:avLst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12680" y="1693468"/>
            <a:ext cx="9235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9904" y="1874519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C94F7C"/>
                </a:solidFill>
                <a:latin typeface="Segoe UI"/>
              </a:rPr>
              <a:t>МЕРЕЖІ НАЦІОНАЛЬНОГО ПОКРИТТЯ  ·  3 МЕРЕЖІ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9904" y="2057400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Сільпо · МегаМаркет · Ultramarket. Решта 14 перевірених мереж категорії не мають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9904" y="2313432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Масовий покупець · щоденне харчування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70448" y="2569464"/>
            <a:ext cx="5760720" cy="932688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870448" y="2569464"/>
            <a:ext cx="41148" cy="93268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9904" y="267919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Онлайн-маркетплейси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12680" y="2697480"/>
            <a:ext cx="923544" cy="182880"/>
          </a:xfrm>
          <a:prstGeom prst="roundRect">
            <a:avLst>
              <a:gd name="adj" fmla="val 50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12680" y="2708452"/>
            <a:ext cx="9235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9904" y="2889504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C4820A"/>
                </a:solidFill>
                <a:latin typeface="Segoe UI"/>
              </a:rPr>
              <a:t>УНІВЕРСАЛЬНІ МАЙДАНЧИКИ  ·  3 МАЙДАНЧИКИ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9904" y="3072384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MAUDAU · Rozetka · Prom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9904" y="3328416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Масовий покупець · плановане замовлення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70448" y="3584448"/>
            <a:ext cx="5760720" cy="128016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870448" y="3584448"/>
            <a:ext cx="41148" cy="128016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9904" y="369417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Спеціалізований фудрітейл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12680" y="3712463"/>
            <a:ext cx="1275588" cy="182880"/>
          </a:xfrm>
          <a:prstGeom prst="roundRect">
            <a:avLst>
              <a:gd name="adj" fmla="val 50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12680" y="3723436"/>
            <a:ext cx="12755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ЦІЛЬОВИЙ КАНАЛ · ВХІД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9904" y="3904487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1E9EA6"/>
                </a:solidFill>
                <a:latin typeface="Segoe UI"/>
              </a:rPr>
              <a:t>АЗІЙСЬКІ ТА ЕТНІЧНІ МАГАЗИНИ  ·  20 МАГАЗИНІВ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9904" y="4087368"/>
            <a:ext cx="5394960" cy="603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Смак Кореї · Тайякі Март · Pulsar · Апетітаріум · Gurmissimo · Edison Lee · OMG! Asia · СНЕКІС · DCM · Скарби Азії · AsiaStyle · ASIA FOODS · Wèi Māo · AsianFoods · Asia Goods Store · SushiPovar · KladezGroup · Sweet Svitt · Товари з Іспанії · Asia Foods Trade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9904" y="4690872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Покупець азійської кухні · знає категорію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870448" y="4946904"/>
            <a:ext cx="5760720" cy="113385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870448" y="4946904"/>
            <a:ext cx="41148" cy="113385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89904" y="505663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1C2235"/>
                </a:solidFill>
                <a:latin typeface="Segoe UI"/>
              </a:rPr>
              <a:t>Outdoor- і мілітарі-рітейл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12680" y="5074920"/>
            <a:ext cx="973836" cy="182880"/>
          </a:xfrm>
          <a:prstGeom prst="roundRect">
            <a:avLst>
              <a:gd name="adj" fmla="val 50000"/>
            </a:avLst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12680" y="5085892"/>
            <a:ext cx="97383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80" b="1">
                <a:solidFill>
                  <a:srgbClr val="FFFFFF"/>
                </a:solidFill>
                <a:latin typeface="Segoe UI"/>
              </a:rPr>
              <a:t>НЕ НАШ ПОКУПЕЦЬ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89904" y="5266944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9FA9C4"/>
                </a:solidFill>
                <a:latin typeface="Segoe UI"/>
              </a:rPr>
              <a:t>ТУРИСТИЧНІ ТА ВІЙСЬКОВІ МАГАЗИНИ  ·  40 МАГАЗИНІВ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9904" y="5449824"/>
            <a:ext cx="5394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690" b="0">
                <a:solidFill>
                  <a:srgbClr val="303A5D"/>
                </a:solidFill>
                <a:latin typeface="Segoe UI"/>
              </a:rPr>
              <a:t>ALANTUR · Highlander · ForCamp · Гайдамака · Freeride · MK-Sport · Daruy · Tactico · Лєєр · Activity та ще ~30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89904" y="5907024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>
                <a:solidFill>
                  <a:srgbClr val="717890"/>
                </a:solidFill>
                <a:latin typeface="Segoe UI"/>
              </a:rPr>
              <a:t>ПОКУПЕЦЬ:  Турист і військовий · автономне харчування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3931920"/>
            <a:ext cx="5029200" cy="214884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3931920"/>
            <a:ext cx="41148" cy="214884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4672" y="4087368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1E9EA6"/>
                </a:solidFill>
                <a:latin typeface="Segoe UI"/>
              </a:rPr>
              <a:t>КАНАЛ І ПОКУПЕЦЬ — РІЗНІ ОСІ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4672" y="4352544"/>
            <a:ext cx="457200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Outdoor- і мілітарі-рітейл дає 40 із 66 точок продажу, але це не наш канал: туди приходять по автономне харчування в дорогу, а не по обід.
Саме тому 30 із 84 позицій категорії — сублімат у дойпаку. Він домінує за кількістю SKU й не конкурує з нами за привід споживання.
Наш вхід — 20 азійських фудшопів: там уже стоять Ottogi і Henan, прямі конкуренти нашого стакана, і там покупець знає категорію.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6181344"/>
            <a:ext cx="11064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>
                <a:solidFill>
                  <a:srgbClr val="F9A50B"/>
                </a:solidFill>
                <a:latin typeface="Segoe UI"/>
              </a:rPr>
              <a:t>ЯК РАХУВАЛИ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364224"/>
            <a:ext cx="11064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40" b="0">
                <a:solidFill>
                  <a:srgbClr val="9FA9C4"/>
                </a:solidFill>
                <a:latin typeface="Segoe UI"/>
              </a:rPr>
              <a:t>Точка продажу = окремий продавець, у якого в каталозі є хоча б одна з 84 позицій категорії. Рахували поіменно за картками товару: у кожній картці вказано продавця. Продуктовий роздріб (3): Сільпо, МегаМаркет, Ultramarket — перевірено суцільно через каталожні API 9 мереж 28.09.2026. Маркетплейси (3): MAUDAU, Rozetka, Prom. Фудшопи (20) і outdoor (40) — за зрізом 22–23.09.2026; в outdoor поіменно ідентифіковано 28 із 40, решта продають ті самі сублімати. Агрегатори zakaz.ua і GoToShop не рахуються як точки продажу: вони віддають товар чужих мереж.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Шість висновків, які визначають рішення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Що дає зіставлення ринкового зрізу з нашою фінансовою моделлю.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72768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28216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НАША НАЙДЕШЕВША ПОЛИЦЯ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38528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C4820A"/>
                </a:solidFill>
                <a:latin typeface="Segoe UI"/>
              </a:rPr>
              <a:t>133 грн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414016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BSCM пауч 150 г.
Медіана пауча — 109 грн.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1572768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1728216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РОЗРИВ ДО МЕДІАНИ ПАУЧА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1938528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C94F7C"/>
                </a:solidFill>
                <a:latin typeface="Segoe UI"/>
              </a:rPr>
              <a:t>+22 %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2414016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Дешевше за нас у мережі
не буде без зміни FOB.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36992" y="1572768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1728216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НАШ НАЙКРАЩИЙ ФОРМАТ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1938528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E9EA6"/>
                </a:solidFill>
                <a:latin typeface="Segoe UI"/>
              </a:rPr>
              <a:t>стакан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414016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BSCM 150 г — 139 грн проти
Ottogi 225–356 грн.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907791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63239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ПОТЕНЦІАЛ 40′ FCL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273551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37A169"/>
                </a:solidFill>
                <a:latin typeface="Segoe UI"/>
              </a:rPr>
              <a:t>−12 %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3749039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Собівартість і полиця
падають лише від логістики.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1960" y="2907791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53128" y="3063239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SKU ПОЗА РИНКОМ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8" y="3273551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5D4B96"/>
                </a:solidFill>
                <a:latin typeface="Segoe UI"/>
              </a:rPr>
              <a:t>2 з 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128" y="3749039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ONE'S Fried Rice 332 грн
і подвійний стакан 219 грн.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36992" y="2907791"/>
            <a:ext cx="3456432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3063239"/>
            <a:ext cx="3090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717890"/>
                </a:solidFill>
                <a:latin typeface="Segoe UI"/>
              </a:rPr>
              <a:t>ЦІЛЬОВА ПОЛИЦЯ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3273551"/>
            <a:ext cx="30906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F9A50B"/>
                </a:solidFill>
                <a:latin typeface="Segoe UI"/>
              </a:rPr>
              <a:t>129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749039"/>
            <a:ext cx="3090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Стакан BSCM 150 г.
Потрібен FOB $0,480.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389120"/>
            <a:ext cx="5413248" cy="1783080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389120"/>
            <a:ext cx="41148" cy="17830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4544568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ЩО РОБИТИ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" y="4809744"/>
            <a:ext cx="4956048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1. Заводити азійський формат — стакан BSCM 150 г. Це єдина наша позиція, що б'є прямого конкурента ціною: −38 % до медіани Ottogi.
2. Пауч 240 г у мережу не заходить проти Ben's Original без FOB ≤ $0,405.
3. ONE'S Fried Rice 200 г — перерахувати або зняти: 332 грн проти Ottogi 255 грн.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0" y="4389120"/>
            <a:ext cx="5413248" cy="1783080"/>
          </a:xfrm>
          <a:prstGeom prst="roundRect">
            <a:avLst>
              <a:gd name="adj" fmla="val 6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17920" y="4389120"/>
            <a:ext cx="41148" cy="1783080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55664" y="4544568"/>
            <a:ext cx="49560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9FA9C4"/>
                </a:solidFill>
                <a:latin typeface="Segoe UI"/>
              </a:rPr>
              <a:t>НА ЧОМУ ТРИМАЄТЬСЯ ВИСНОВОК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55664" y="4809744"/>
            <a:ext cx="4956048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1. Полиця рахується як собівартість × 3,5 за поточних умов: бонус мережі 25 %, цільова маржа 35 %, націнка мережі 1,40.
2. Ринкові ціни — роздріб за одну упаковку в 64 точках продажу, зріз 22–23.09.2026.
3. Азійський стакан — єдиний наш формат, що входить дешевше за діючого лідера ніші.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Джерела: Eurostat Comext (CN 1904 90 10), 17 мереж zakaz.ua, «Сільпо», Prom, Rozetka, MAUDAU, спеціалізовані фудшопи — 22–23.09.2026 · RICE_PRICING_Slelf_.xlsx · RTE_Rice_Suppliers.pptx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Де ми стоїмо: від найдешевшої до найдорожчої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Усі ринкові якорі й усі сім наших товарних груп на одній шкалі. Помаранчеве — ми.</a:t>
            </a:r>
          </a:p>
        </p:txBody>
      </p:sp>
      <p:pic>
        <p:nvPicPr>
          <p:cNvPr id="10" name="Picture 9" descr="c3_p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320" y="1463040"/>
            <a:ext cx="9372600" cy="441553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5669280"/>
            <a:ext cx="3538728" cy="45720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5669280"/>
            <a:ext cx="41148" cy="45720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5751576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37A169"/>
                </a:solidFill>
                <a:latin typeface="Segoe UI"/>
              </a:rPr>
              <a:t>МИ В ВІКНІ ПОЛИЦІ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591616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6 із 7 наших груп потрапляють у 45–180 грн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4256" y="5669280"/>
            <a:ext cx="3538728" cy="45720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34256" y="5669280"/>
            <a:ext cx="41148" cy="45720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3712" y="5751576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C94F7C"/>
                </a:solidFill>
                <a:latin typeface="Segoe UI"/>
              </a:rPr>
              <a:t>АЛЕ НЕ В ЙОГО НИЗУ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3712" y="591616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наш мінімум 133 грн проти медіани пауча 109 грн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3" y="5669280"/>
            <a:ext cx="3538728" cy="457200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3" y="5669280"/>
            <a:ext cx="41148" cy="45720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5751576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5D4B96"/>
                </a:solidFill>
                <a:latin typeface="Segoe UI"/>
              </a:rPr>
              <a:t>ДВІ ГРУПИ ВИПАЛИ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591616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подвійний стакан 219 грн і ONE'S 332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Наша полиця розрахована за фінмоделлю: 20′ FCL навалом, курс 45 грн/$, бонус мережі 25 %, цільова маржа 35 %, націнка мережі 1,40. Для кожної групи показано найдешевший SKU.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ФІНМОДЕЛЬ ПРОТИ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Скільки коштує кожен наш формат на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Полиця = собівартість × 3,5 за поточних умов. Вертикальні лінії — ринкові цілі.</a:t>
            </a:r>
          </a:p>
        </p:txBody>
      </p:sp>
      <p:pic>
        <p:nvPicPr>
          <p:cNvPr id="10" name="Picture 9" descr="c4_fo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463040"/>
            <a:ext cx="9784080" cy="34297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5541264"/>
            <a:ext cx="4937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9A50B"/>
                </a:solidFill>
                <a:latin typeface="Segoe UI"/>
              </a:rPr>
              <a:t>ЯКИЙ FOB ПОТРІБЕН ПІД ЦІЛЬОВУ ПОЛИЦЮ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742432"/>
            <a:ext cx="2103120" cy="40233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5797296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МЕДІАНА ПАУЧА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5943600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109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00784" y="5934456"/>
            <a:ext cx="8229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1C2235"/>
                </a:solidFill>
                <a:latin typeface="Segoe UI"/>
              </a:rPr>
              <a:t>$0,405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79776" y="5742432"/>
            <a:ext cx="2103120" cy="40233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0" y="5797296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BEN'S МЕДІАНА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5943600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98 грн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13632" y="5934456"/>
            <a:ext cx="8229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1C2235"/>
                </a:solidFill>
                <a:latin typeface="Segoe UI"/>
              </a:rPr>
              <a:t>$0,366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92624" y="5742432"/>
            <a:ext cx="2103120" cy="40233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38928" y="5797296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ПОЛИЦЯ 129 ГРН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8928" y="5943600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129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5934456"/>
            <a:ext cx="8229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05472" y="5742432"/>
            <a:ext cx="2103120" cy="40233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51775" y="5797296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ПАРИТЕТ BIBIGO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51775" y="5943600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162 грн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5934456"/>
            <a:ext cx="8229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1C2235"/>
                </a:solidFill>
                <a:latin typeface="Segoe UI"/>
              </a:rPr>
              <a:t>$0,602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418320" y="5742432"/>
            <a:ext cx="2103120" cy="402336"/>
          </a:xfrm>
          <a:prstGeom prst="roundRect">
            <a:avLst>
              <a:gd name="adj" fmla="val 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64624" y="5797296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OTTOGI −22 %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64624" y="5943600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199 грн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52176" y="5934456"/>
            <a:ext cx="8229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1C2235"/>
                </a:solidFill>
                <a:latin typeface="Segoe UI"/>
              </a:rPr>
              <a:t>$0,740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236208"/>
            <a:ext cx="11064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9A50B"/>
                </a:solidFill>
                <a:latin typeface="Segoe UI"/>
              </a:rPr>
              <a:t>полиця = FOB × 268,9 (20′ FCL)   ·   × 241,1 (40′ FCL)   ·   кожні $0,10 зниження FOB знімають 27 грн з полиці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Перехідний коефіцієнт FOB → собівартість (1,7074 для 20′ FCL і 1,5306 для 40′ FCL) виведено з даних RTE_Rice_Suppliers для BSCM Jasmine 240 г і перевірено на решті BSCM і CM Premium. FOB ONE'S у пропозиції не вказаний — $1,238 і $0,571 це ОЦІНКА за тим самим коефіцієнтом.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РЕКОМЕНДАЦІЯ · ФОРМАТ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Що заводити: азійський стакан як герой лінійки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Три кандидати, оцінені за конкурентною позицією, а не за собівартістю.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FF8EC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17904"/>
            <a:ext cx="3538728" cy="2743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РЕКОМЕНДУЄМО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1938528"/>
            <a:ext cx="309981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C2235"/>
                </a:solidFill>
                <a:latin typeface="Segoe UI"/>
              </a:rPr>
              <a:t>BSCM · СТАКАН 150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2494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9EA6"/>
                </a:solidFill>
                <a:latin typeface="Segoe UI"/>
              </a:rPr>
              <a:t>139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57860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полиця за фінмоделлю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889504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04495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Ottogi 225–356 грн · Henan 83–156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3547872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НАША ПЕРЕВАГА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703320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−45 % до медіани Ottogi (255 грн)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42062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КАНАЛ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4361688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20 азійських фудшопів уже продають цю полицю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864607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РИЗИК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5020055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Henan дешевший: 83 грн за 144 г. Але це сухий рис під окріп, не готова страва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6384" y="5541264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" y="5641848"/>
            <a:ext cx="30998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Єдина наша позиція, що входить у нішу дешевше за діючого лідера. Азійський формат, азійський канал, зрозуміле порівняння для покупця.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34256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34256" y="1517904"/>
            <a:ext cx="3538728" cy="2743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34256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ДРУГИЙ ПРІОРИТЕТ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53712" y="1938528"/>
            <a:ext cx="309981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C2235"/>
                </a:solidFill>
                <a:latin typeface="Segoe UI"/>
              </a:rPr>
              <a:t>ONE'S · ЛОТОК 210 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3712" y="22494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D4B96"/>
                </a:solidFill>
                <a:latin typeface="Segoe UI"/>
              </a:rPr>
              <a:t>153 грн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257860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полиця за фінмоделлю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53712" y="2889504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3712" y="304495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Bibigo 210 г · 135–189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3547872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НАША ПЕРЕВАГА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3703320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Той самий грамаж, ціна в середині діапазону конкурента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3712" y="42062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КАНАЛ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4361688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Смак Кореї · Rozetka · Prom — де вже стоїть Bibigo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53712" y="4864607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РИЗИК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53712" y="5020055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MOQ 200 коробів на SKU · передоплата 100 % T/T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53712" y="5541264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53712" y="5641848"/>
            <a:ext cx="30998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Найточніше зіставлення в усій лінійці: та сама вага, та сама країна, той самий канал. Заходимо рівно по центру ціни конкурента.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101583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01583" y="1517904"/>
            <a:ext cx="3538728" cy="27432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01583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1">
                <a:solidFill>
                  <a:srgbClr val="FFFFFF"/>
                </a:solidFill>
                <a:latin typeface="Segoe UI"/>
              </a:rPr>
              <a:t>НЕ ЗАВОДИТИ ЗАРАЗ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1938528"/>
            <a:ext cx="309981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C2235"/>
                </a:solidFill>
                <a:latin typeface="Segoe UI"/>
              </a:rPr>
              <a:t>BSCM · ПАУЧ 240 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224942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C94F7C"/>
                </a:solidFill>
                <a:latin typeface="Segoe UI"/>
              </a:rPr>
              <a:t>157 грн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21040" y="257860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>
                <a:solidFill>
                  <a:srgbClr val="717890"/>
                </a:solidFill>
                <a:latin typeface="Segoe UI"/>
              </a:rPr>
              <a:t>полиця за фінмоделлю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2889504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304495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Ben's Original 45–179 грн, медіана 90 грн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21040" y="3547872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НАША ПОЗИЦІЯ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3703320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+74 % до медіани Ben's, 88-й перцентиль його діапазону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40" y="42062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ПРОБЛЕМА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21040" y="4361688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Mars має заводи в ЄС, нульове мито і 13 SKU в «Сільпо»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1040" y="4864607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C94F7C"/>
                </a:solidFill>
                <a:latin typeface="Segoe UI"/>
              </a:rPr>
              <a:t>УМОВА ВХОДУ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5020055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FOB ≤ $0,405 або підтвердження гіпотези щодо ПДВ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321040" y="5541264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21040" y="5641848"/>
            <a:ext cx="30998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Формат правильний — вага збігається з лідером. Але ціновий розрив проти Mars не закривається за поточного FOB.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Ціни — полиця за поточною фінмоделлю (20′ FCL навалом, курс 45, бонус 25 %, маржа 35 %, націнка 1,40). Ринкові ціни конкурентів — роздріб за одну упаковку, 22–23.09.2026.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РЕКОМЕНДАЦІЯ · ЦІНА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Цільова полиця і що для неї потрібно від постачальника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Три цінові сценарії на герой-SKU. Рекомендований — середній.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3538728" cy="2487168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1700784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9FA9C4"/>
                </a:solidFill>
                <a:latin typeface="Segoe UI"/>
              </a:rPr>
              <a:t>АГРЕСИВНИЙ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1920240"/>
            <a:ext cx="30998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C2235"/>
                </a:solidFill>
                <a:latin typeface="Segoe UI"/>
              </a:rPr>
              <a:t>119 грн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450592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полиця з ПДВ · стакан BSCM 150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69748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86207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$0,443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95728" y="269748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ДО ПОТОЧНОГО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95728" y="286207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−11 %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3200400"/>
            <a:ext cx="30998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Нижче Henan-медіани (140 грн), −53 % до Ottogi. Бере полицю ціною, але вбиває маржу при будь-якому зростанні курсу.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785615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Ризик: немає запасу на бонус вище 25 %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34256" y="1517904"/>
            <a:ext cx="3538728" cy="2487168"/>
          </a:xfrm>
          <a:prstGeom prst="roundRect">
            <a:avLst>
              <a:gd name="adj" fmla="val 4000"/>
            </a:avLst>
          </a:prstGeom>
          <a:solidFill>
            <a:srgbClr val="F0F9FA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1700784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1E9EA6"/>
                </a:solidFill>
                <a:latin typeface="Segoe UI"/>
              </a:rPr>
              <a:t>РЕКОМЕНДОВАНО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1920240"/>
            <a:ext cx="30998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E9EA6"/>
                </a:solidFill>
                <a:latin typeface="Segoe UI"/>
              </a:rPr>
              <a:t>129 грн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2450592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полиця з ПДВ · стакан BSCM 150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269748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53712" y="286207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63056" y="269748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ДО ПОТОЧНОГО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63056" y="286207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−4 %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53712" y="3200400"/>
            <a:ext cx="30998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−49 % до медіани Ottogi, −8 % до медіани Henan, у верхній частині вікна мережевої полиці. Зберігає цільову маржу 35 % і залишає простір на промо.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53712" y="3785615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1E9EA6"/>
                </a:solidFill>
                <a:latin typeface="Segoe UI"/>
              </a:rPr>
              <a:t>Потрібно від BSCM: FOB $0,480 замість $0,500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01583" y="1517904"/>
            <a:ext cx="3538728" cy="2487168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40" y="1700784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9FA9C4"/>
                </a:solidFill>
                <a:latin typeface="Segoe UI"/>
              </a:rPr>
              <a:t>КОМФОРТНИЙ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1920240"/>
            <a:ext cx="309981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C2235"/>
                </a:solidFill>
                <a:latin typeface="Segoe UI"/>
              </a:rPr>
              <a:t>139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2450592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717890"/>
                </a:solidFill>
                <a:latin typeface="Segoe UI"/>
              </a:rPr>
              <a:t>полиця з ПДВ · стакан BSCM 150 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269748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286207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$0,500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30384" y="2697480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717890"/>
                </a:solidFill>
                <a:latin typeface="Segoe UI"/>
              </a:rPr>
              <a:t>ДО ПОТОЧНОГО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30384" y="2862072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0 %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3200400"/>
            <a:ext cx="30998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>
                <a:solidFill>
                  <a:srgbClr val="303A5D"/>
                </a:solidFill>
                <a:latin typeface="Segoe UI"/>
              </a:rPr>
              <a:t>Поточний FOB без переговорів. Усе ще −45 % до Ottogi, але дорожче за медіану Henan і на рівні її верхньої межі.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3785615"/>
            <a:ext cx="30998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9FA9C4"/>
                </a:solidFill>
                <a:latin typeface="Segoe UI"/>
              </a:rPr>
              <a:t>Працює лише в азійському каналі, не в мережі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4242816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F9A50B"/>
                </a:solidFill>
                <a:latin typeface="Segoe UI"/>
              </a:rPr>
              <a:t>АРХІТЕКТУРА ЦІН ПО ВСІЙ ЛІНІЙЦІ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4535424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0">
                <a:solidFill>
                  <a:srgbClr val="1C2235"/>
                </a:solidFill>
                <a:latin typeface="Segoe UI"/>
              </a:rPr>
              <a:t/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4535424"/>
            <a:ext cx="2788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ТОВАРНА ГРУПА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4535424"/>
            <a:ext cx="2148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РОЛЬ У ЛІНІЙЦІ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04688" y="4535424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ПОЛИЦЯ ЗАРАЗ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03136" y="4535424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ЦІЛЬОВА ПОЛИЦЯ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93023" y="4535424"/>
            <a:ext cx="11704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ПОТРІБЕН FOB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63455" y="4535424"/>
            <a:ext cx="19933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>
                <a:solidFill>
                  <a:srgbClr val="717890"/>
                </a:solidFill>
                <a:latin typeface="Segoe UI"/>
              </a:rPr>
              <a:t>ОРІЄНТИР НА ПОЛИЦІ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66928" y="4773168"/>
            <a:ext cx="10789920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4846320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стакан 150 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4846320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1E9EA6"/>
                </a:solidFill>
                <a:latin typeface="Segoe UI"/>
              </a:rPr>
              <a:t>Герой · азійський формат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04688" y="4846320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139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03136" y="4846320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129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93023" y="4846320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63455" y="4846320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Ottogi 255 · Henan 140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93776" y="4999024"/>
            <a:ext cx="10936224" cy="193852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5040172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ONE'S лоток 210 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5040172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5D4B96"/>
                </a:solidFill>
                <a:latin typeface="Segoe UI"/>
              </a:rPr>
              <a:t>Другий герой · Корея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04688" y="5040172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153 грн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03136" y="5040172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155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93023" y="5040172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~$0,577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363455" y="5040172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Bibigo 135–189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5234025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пауч 200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355848" y="5234025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C4820A"/>
                </a:solidFill>
                <a:latin typeface="Segoe UI"/>
              </a:rPr>
              <a:t>Об'єм · вхід у ціну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04688" y="5234025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150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03136" y="5234025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129 грн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93023" y="5234025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$0,480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363455" y="5234025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пауч-медіана 109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93776" y="5386730"/>
            <a:ext cx="10936224" cy="193852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66928" y="5427878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пауч 240 г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355848" y="5427878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C4820A"/>
                </a:solidFill>
                <a:latin typeface="Segoe UI"/>
              </a:rPr>
              <a:t>Мережа · 2-га хвиля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504688" y="5427878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157 грн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03136" y="5427878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109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93023" y="5427878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$0,405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363455" y="5427878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Ben's медіана 90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" y="5621731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CM Premium 250 г органік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355848" y="5621731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37A169"/>
                </a:solidFill>
                <a:latin typeface="Segoe UI"/>
              </a:rPr>
              <a:t>Преміум · нішa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504688" y="5621731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178 грн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803136" y="5621731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178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93023" y="5621731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$0,667 — без змін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363455" y="5621731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Clearspring 252–446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93776" y="5774435"/>
            <a:ext cx="10936224" cy="193852"/>
          </a:xfrm>
          <a:prstGeom prst="roundRect">
            <a:avLst>
              <a:gd name="adj" fmla="val 1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66928" y="5815583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ONE'S Fried Rice 200 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355848" y="5815583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C94F7C"/>
                </a:solidFill>
                <a:latin typeface="Segoe UI"/>
              </a:rPr>
              <a:t>Переглянути або зняти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504688" y="5815583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332 грн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03136" y="5815583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199 грн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193023" y="5815583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C94F7C"/>
                </a:solidFill>
                <a:latin typeface="Segoe UI"/>
              </a:rPr>
              <a:t>~$0,740 (−40 %)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363455" y="5815583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Ottogi 225–356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66928" y="6009436"/>
            <a:ext cx="278892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BSCM подвійний стакан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355848" y="6009436"/>
            <a:ext cx="2148840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Private label · пізніше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504688" y="6009436"/>
            <a:ext cx="129844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219 грн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803136" y="6009436"/>
            <a:ext cx="1389888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179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193023" y="6009436"/>
            <a:ext cx="117043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1">
                <a:solidFill>
                  <a:srgbClr val="1C2235"/>
                </a:solidFill>
                <a:latin typeface="Segoe UI"/>
              </a:rPr>
              <a:t>$0,666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363455" y="6009436"/>
            <a:ext cx="1993392" cy="1938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10" b="0">
                <a:solidFill>
                  <a:srgbClr val="717890"/>
                </a:solidFill>
                <a:latin typeface="Segoe UI"/>
              </a:rPr>
              <a:t>верх вікна полиці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Цільова полиця — наша рекомендація. Потрібний FOB розрахований за формулою полиця = FOB × 268,9 (20′ FCL). FOB для ONE'S — оцінка, постачальник його не розкрив. Перехід на 40′ FCL знижує потрібний FOB на ~10 %.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РЕКОМЕНДАЦІЯ · ПОСТАЧАЛЬНИК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Хто дає найкращий формат і на яку ціну тиснути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Три постачальники в обоймі, оцінені за форматом, гнучкістю та ціновою ефективністю.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 w="17780">
            <a:solidFill>
              <a:srgbClr val="1E9E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17904"/>
            <a:ext cx="3538728" cy="2743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>
                <a:solidFill>
                  <a:srgbClr val="FFFFFF"/>
                </a:solidFill>
                <a:latin typeface="Segoe UI"/>
              </a:rPr>
              <a:t>ОСНОВНИЙ ПОСТАЧАЛЬНИК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1938528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BSCM FOODS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21284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Таїланд · Бангкок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48716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ФОРМАТИ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63347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Пауч 240 · спецвиробництво 150/200 · стакан 150 · подвійний стакан 2×125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2985516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УНІКАЛЬНА ПЕРЕВАГА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3131820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Єдиний, хто робить стакан — формат, яким ми б'ємо Ottogi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483864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ТЕРМІН ПРИДАТНОСТІ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3630168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18 місяців за кімнатної температури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3982212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СЕРТИФІКАЦІЯ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128516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BRC · HACCP · ISO 22000 · GMP · Organic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4480560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FOB-ДІАПАЗОН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4626864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$0,472 – $0,750 залежно від SKU і ваги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" y="497890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1E9EA6"/>
                </a:solidFill>
                <a:latin typeface="Segoe UI"/>
              </a:rPr>
              <a:t>PRIVATE LABEL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512521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Так — подвійний стакан, кейс мережі SPAR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" y="5486400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" y="55778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1E9EA6"/>
                </a:solidFill>
                <a:latin typeface="Segoe UI"/>
              </a:rPr>
              <a:t>ЦІЛЬОВИЙ FOB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" y="574243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Стакан 150 г: $0,480 замість $0,500 (−4 %).
Пауч 240 г: $0,405 замість $0,583 (−31 %) — якщо йдемо в мережу.
Обов'язково: перехід на 40′ FCL дає ще −12 % до собівартості.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34256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34256" y="1517904"/>
            <a:ext cx="3538728" cy="2743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34256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>
                <a:solidFill>
                  <a:srgbClr val="FFFFFF"/>
                </a:solidFill>
                <a:latin typeface="Segoe UI"/>
              </a:rPr>
              <a:t>ТОЧКОВО, ПІД BIBIGO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3712" y="1938528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ONE'S INTERNATIONAL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221284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Корея · Гурі-сі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248716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ФОРМАТИ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3712" y="263347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Лоток 200 г (fried rice) · лоток 210 г (білий рис)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2985516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УНІКАЛЬНА ПЕРЕВАГА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53712" y="3131820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Корейське походження — премія в азійському каналі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53712" y="3483864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ТЕРМІН ПРИДАТНОСТІ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53712" y="3630168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12 місяців — найкоротший з трьох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53712" y="3982212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СЕРТИФІКАЦІЯ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53712" y="4128516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HACCP · FSSC 22000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53712" y="4480560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FOB-ДІАПАЗОН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4626864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Не розкрито. Оцінка з СС: ~$0,571 і ~$1,238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497890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5D4B96"/>
                </a:solidFill>
                <a:latin typeface="Segoe UI"/>
              </a:rPr>
              <a:t>УМОВИ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53712" y="512521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MOQ 200 коробів на SKU · передоплата 100 % T/T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53712" y="5486400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53712" y="55778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5D4B96"/>
                </a:solidFill>
                <a:latin typeface="Segoe UI"/>
              </a:rPr>
              <a:t>ЦІЛЬОВИЙ FOB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53712" y="574243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Cooked White Rice 210 г: брати як є — б'є Bibigo.
Fried Rice 200 г: потрібен FOB ≈ $0,740 (−40 % до оцінки).
Першим кроком — вимагати розкриття FOB по кожному SKU.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101583" y="1517904"/>
            <a:ext cx="3538728" cy="461772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101583" y="1517904"/>
            <a:ext cx="3538728" cy="27432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01583" y="1568196"/>
            <a:ext cx="35387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60" b="1">
                <a:solidFill>
                  <a:srgbClr val="FFFFFF"/>
                </a:solidFill>
                <a:latin typeface="Segoe UI"/>
              </a:rPr>
              <a:t>НІШЕВИЙ ПРЕМІУМ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21040" y="1938528"/>
            <a:ext cx="30998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C2235"/>
                </a:solidFill>
                <a:latin typeface="Segoe UI"/>
              </a:rPr>
              <a:t>CM PREMIUM RICE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1040" y="2212848"/>
            <a:ext cx="309981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>
                <a:solidFill>
                  <a:srgbClr val="717890"/>
                </a:solidFill>
                <a:latin typeface="Segoe UI"/>
              </a:rPr>
              <a:t>Таїланд · Nakhon Ratchasima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248716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ФОРМАТИ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263347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Пауч 250 г органік · 24 шт у коробі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21040" y="2985516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УНІКАЛЬНА ПЕРЕВАГА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21040" y="3131820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Сертифікована органіка — інша полиця, інший покупець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21040" y="3483864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ПОТУЖНІСТЬ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21040" y="3630168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120 000 т/рік · 30+ партнерських рисозаводів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982212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СЕРТИФІКАЦІЯ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21040" y="4128516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BRC · HACCP · ISO 9001 · Halal · Organic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21040" y="4480560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FOB-ДІАПАЗОН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1040" y="4626864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$0,667 — однаковий на всі 4 SKU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21040" y="4978908"/>
            <a:ext cx="309981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1">
                <a:solidFill>
                  <a:srgbClr val="37A169"/>
                </a:solidFill>
                <a:latin typeface="Segoe UI"/>
              </a:rPr>
              <a:t>ОБМЕЖЕННЯ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21040" y="5125212"/>
            <a:ext cx="309981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20" b="0">
                <a:solidFill>
                  <a:srgbClr val="303A5D"/>
                </a:solidFill>
                <a:latin typeface="Segoe UI"/>
              </a:rPr>
              <a:t>Один формат. Гнучкості за вагою немає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21040" y="5486400"/>
            <a:ext cx="3099816" cy="1097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321040" y="5577840"/>
            <a:ext cx="3099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>
                <a:solidFill>
                  <a:srgbClr val="37A169"/>
                </a:solidFill>
                <a:latin typeface="Segoe UI"/>
              </a:rPr>
              <a:t>ЦІЛЬОВИЙ FOB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21040" y="5742432"/>
            <a:ext cx="30998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710" b="0">
                <a:solidFill>
                  <a:srgbClr val="303A5D"/>
                </a:solidFill>
                <a:latin typeface="Segoe UI"/>
              </a:rPr>
              <a:t>Тиснути не треба: 178 грн проти Clearspring 252–446 грн — ми вже вдвічі дешевші за єдиного органічного конкурента.
Ризик — не ціна, а обсяг: органіка в Україні це мала полиця.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Профілі — за RTE_Rice_Suppliers.pptx. FOB BSCM і CM Premium — з комерційних пропозицій. FOB ONE'S у пропозиції відсутній: значення виведено з собівартості за коефіцієнтом 1,7074 і є ОЦІНКОЮ, не фактом.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FFC95C"/>
                </a:solidFill>
                <a:latin typeface="Segoe UI"/>
              </a:rPr>
              <a:t>ПЛАН ДІЙ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Що робити далі — і в якому порядку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5368" y="402336"/>
            <a:ext cx="640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>
                <a:solidFill>
                  <a:srgbClr val="465382"/>
                </a:solidFill>
                <a:latin typeface="Segoe UI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717890"/>
                </a:solidFill>
                <a:latin typeface="Segoe UI"/>
              </a:rPr>
              <a:t>Послідовність від найдешевшого кроку до найдорожчого рішення.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72768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72768"/>
            <a:ext cx="41148" cy="20116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7373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E9EA6"/>
                </a:solidFill>
                <a:latin typeface="Segoe U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08483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Запит FOB у ONE'S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359152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1E9EA6"/>
                </a:solidFill>
                <a:latin typeface="Segoe UI"/>
              </a:rPr>
              <a:t>1 ТИЖДЕНЬ · ЗАКУПІВЛЯ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578608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Вимагати FOB по кожному SKU окремо. Cooked White Rice 210 г беремо як є — він б'є Bibigo. Fried Rice 200 г без цієї цифри оцінити неможливо.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4256" y="1572768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34256" y="1572768"/>
            <a:ext cx="41148" cy="20116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17373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9A50B"/>
                </a:solidFill>
                <a:latin typeface="Segoe U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08483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Переговори з BSCM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359152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F9A50B"/>
                </a:solidFill>
                <a:latin typeface="Segoe UI"/>
              </a:rPr>
              <a:t>2–3 ТИЖНІ · ЗАКУПІВЛЯ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578608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Ціль: стакан 150 г за FOB $0,480 і розрахунок під 40′ FCL. Аргумент — обсяг одразу по двох форматах: стакан 150 г і пауч 200 г.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01583" y="1572768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01583" y="1572768"/>
            <a:ext cx="41148" cy="201168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9327" y="1737360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D4B96"/>
                </a:solidFill>
                <a:latin typeface="Segoe U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7" y="2084832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Дизайн і локалізація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9327" y="2359152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5D4B96"/>
                </a:solidFill>
                <a:latin typeface="Segoe UI"/>
              </a:rPr>
              <a:t>3–4 ТИЖНІ · МАРКЕТИНГ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2578608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Серед 84 позицій ринку немає жодної україномовної упаковки. Локалізація — безкоштовна відмінність, яку не має жоден конкурент.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3785615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3785615"/>
            <a:ext cx="41148" cy="201168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395020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7A169"/>
                </a:solidFill>
                <a:latin typeface="Segoe U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" y="4297679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Тест в азійському каналі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" y="4572000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37A169"/>
                </a:solidFill>
                <a:latin typeface="Segoe UI"/>
              </a:rPr>
              <a:t>1–2 МІСЯЦІ · ПРОДАЖІ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" y="4791456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Завести стакан 150 г у 5 фудшопів: Смак Кореї, Апетітаріум, Gurmissimo, OMG! Asia, Скарби Азії. Там уже стоять Ottogi і Henan.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34256" y="3785615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34256" y="3785615"/>
            <a:ext cx="41148" cy="20116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0" y="395020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E9EA6"/>
                </a:solidFill>
                <a:latin typeface="Segoe UI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297679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Зібрати оборотність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4572000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1E9EA6"/>
                </a:solidFill>
                <a:latin typeface="Segoe UI"/>
              </a:rPr>
              <a:t>ПАРАЛЕЛЬНО З КРОКОМ 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4791456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Продажі поштучно за SKU і тижнями. Без цих даних мережа не заводить нову імпортну категорію — це єдиний аргумент, який працює.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01583" y="3785615"/>
            <a:ext cx="3538728" cy="2011680"/>
          </a:xfrm>
          <a:prstGeom prst="roundRect">
            <a:avLst>
              <a:gd name="adj" fmla="val 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101583" y="3785615"/>
            <a:ext cx="41148" cy="201168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39327" y="3950207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C94F7C"/>
                </a:solidFill>
                <a:latin typeface="Segoe UI"/>
              </a:rPr>
              <a:t>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39327" y="4297679"/>
            <a:ext cx="3063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C2235"/>
                </a:solidFill>
                <a:latin typeface="Segoe UI"/>
              </a:rPr>
              <a:t>Розмова з «Сільпо»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39327" y="4572000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>
                <a:solidFill>
                  <a:srgbClr val="C94F7C"/>
                </a:solidFill>
                <a:latin typeface="Segoe UI"/>
              </a:rPr>
              <a:t>ПІСЛЯ КРОКУ 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39327" y="4791456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750" b="0">
                <a:solidFill>
                  <a:srgbClr val="303A5D"/>
                </a:solidFill>
                <a:latin typeface="Segoe UI"/>
              </a:rPr>
              <a:t>Заходити зі стаканом і паучем 200 г за 129 грн, а не з паучем 240 г за 157 грн. Ben's Original за 90 грн виграє прямий ціновий бій.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5943600"/>
            <a:ext cx="10789920" cy="548640"/>
          </a:xfrm>
          <a:prstGeom prst="roundRect">
            <a:avLst>
              <a:gd name="adj" fmla="val 5000"/>
            </a:avLst>
          </a:prstGeom>
          <a:solidFill>
            <a:srgbClr val="FFF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6928" y="5943600"/>
            <a:ext cx="41148" cy="5486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4672" y="6053328"/>
            <a:ext cx="960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>
                <a:solidFill>
                  <a:srgbClr val="F9A50B"/>
                </a:solidFill>
                <a:latin typeface="Segoe UI"/>
              </a:rPr>
              <a:t>ГОЛОВНЕ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874519" y="6035040"/>
            <a:ext cx="9326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303A5D"/>
                </a:solidFill>
                <a:latin typeface="Segoe UI"/>
              </a:rPr>
              <a:t>Вхід у мережу — не перший крок, а п'ятий. Спочатку азійський канал і цифри оборотності, і тільки потім розмова про полицю «Сільпо».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6583680"/>
            <a:ext cx="11064240" cy="2468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>
                <a:solidFill>
                  <a:srgbClr val="9FA9C4"/>
                </a:solidFill>
                <a:latin typeface="Segoe UI"/>
              </a:rPr>
              <a:t>Джерела: Eurostat Comext (CN 1904 90 10), 17 мереж zakaz.ua, «Сільпо», Prom, Rozetka, MAUDAU, спеціалізовані фудшопи — 22–23.09.2026 · RICE_PRICING_Slelf_.xlsx · RTE_Rice_Suppliers.pptx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