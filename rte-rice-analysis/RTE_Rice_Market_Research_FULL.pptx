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7" r:id="rId27"/>
    <p:sldId id="278" r:id="rId28"/>
    <p:sldId id="260" r:id="rId6"/>
    <p:sldId id="279" r:id="rId29"/>
    <p:sldId id="261" r:id="rId7"/>
    <p:sldId id="287" r:id="rId37"/>
    <p:sldId id="288" r:id="rId38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89" r:id="rId39"/>
    <p:sldId id="290" r:id="rId40"/>
    <p:sldId id="276" r:id="rId26"/>
    <p:sldId id="274" r:id="rId20"/>
    <p:sldId id="291" r:id="rId41"/>
    <p:sldId id="275" r:id="rId25"/>
    <p:sldId id="280" r:id="rId30"/>
    <p:sldId id="281" r:id="rId31"/>
    <p:sldId id="282" r:id="rId32"/>
    <p:sldId id="306" r:id="rId56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283" r:id="rId33"/>
    <p:sldId id="284" r:id="rId34"/>
    <p:sldId id="285" r:id="rId35"/>
    <p:sldId id="286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7.xml"/><Relationship Id="rId7" Type="http://schemas.openxmlformats.org/officeDocument/2006/relationships/slide" Target="slides/slide9.xml"/><Relationship Id="rId8" Type="http://schemas.openxmlformats.org/officeDocument/2006/relationships/slide" Target="slides/slide12.xml"/><Relationship Id="rId9" Type="http://schemas.openxmlformats.org/officeDocument/2006/relationships/slide" Target="slides/slide13.xml"/><Relationship Id="rId10" Type="http://schemas.openxmlformats.org/officeDocument/2006/relationships/slide" Target="slides/slide14.xml"/><Relationship Id="rId11" Type="http://schemas.openxmlformats.org/officeDocument/2006/relationships/slide" Target="slides/slide15.xml"/><Relationship Id="rId12" Type="http://schemas.openxmlformats.org/officeDocument/2006/relationships/slide" Target="slides/slide16.xml"/><Relationship Id="rId13" Type="http://schemas.openxmlformats.org/officeDocument/2006/relationships/slide" Target="slides/slide17.xml"/><Relationship Id="rId14" Type="http://schemas.openxmlformats.org/officeDocument/2006/relationships/slide" Target="slides/slide18.xml"/><Relationship Id="rId15" Type="http://schemas.openxmlformats.org/officeDocument/2006/relationships/slide" Target="slides/slide19.xml"/><Relationship Id="rId16" Type="http://schemas.openxmlformats.org/officeDocument/2006/relationships/slide" Target="slides/slide20.xml"/><Relationship Id="rId17" Type="http://schemas.openxmlformats.org/officeDocument/2006/relationships/slide" Target="slides/slide21.xml"/><Relationship Id="rId18" Type="http://schemas.openxmlformats.org/officeDocument/2006/relationships/slide" Target="slides/slide22.xml"/><Relationship Id="rId20" Type="http://schemas.openxmlformats.org/officeDocument/2006/relationships/slide" Target="slides/slide26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28.xml"/><Relationship Id="rId26" Type="http://schemas.openxmlformats.org/officeDocument/2006/relationships/slide" Target="slides/slide25.xml"/><Relationship Id="rId27" Type="http://schemas.openxmlformats.org/officeDocument/2006/relationships/slide" Target="slides/slide5.xml"/><Relationship Id="rId28" Type="http://schemas.openxmlformats.org/officeDocument/2006/relationships/slide" Target="slides/slide6.xml"/><Relationship Id="rId29" Type="http://schemas.openxmlformats.org/officeDocument/2006/relationships/slide" Target="slides/slide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47.xml"/><Relationship Id="rId34" Type="http://schemas.openxmlformats.org/officeDocument/2006/relationships/slide" Target="slides/slide48.xml"/><Relationship Id="rId35" Type="http://schemas.openxmlformats.org/officeDocument/2006/relationships/slide" Target="slides/slide49.xml"/><Relationship Id="rId36" Type="http://schemas.openxmlformats.org/officeDocument/2006/relationships/slide" Target="slides/slide50.xml"/><Relationship Id="rId37" Type="http://schemas.openxmlformats.org/officeDocument/2006/relationships/slide" Target="slides/slide10.xml"/><Relationship Id="rId38" Type="http://schemas.openxmlformats.org/officeDocument/2006/relationships/slide" Target="slides/slide11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7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image" Target="../media/image4.jpg"/><Relationship Id="rId5" Type="http://schemas.openxmlformats.org/officeDocument/2006/relationships/image" Target="../media/image3.jpg"/><Relationship Id="rId6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jpg"/><Relationship Id="rId4" Type="http://schemas.openxmlformats.org/officeDocument/2006/relationships/image" Target="../media/image3.jpg"/><Relationship Id="rId5" Type="http://schemas.openxmlformats.org/officeDocument/2006/relationships/image" Target="../media/image9.jpg"/><Relationship Id="rId6" Type="http://schemas.openxmlformats.org/officeDocument/2006/relationships/image" Target="../media/image10.jpg"/><Relationship Id="rId7" Type="http://schemas.openxmlformats.org/officeDocument/2006/relationships/image" Target="../media/image11.jpg"/><Relationship Id="rId8" Type="http://schemas.openxmlformats.org/officeDocument/2006/relationships/image" Target="../media/image12.jpg"/><Relationship Id="rId9" Type="http://schemas.openxmlformats.org/officeDocument/2006/relationships/image" Target="../media/image13.jpg"/><Relationship Id="rId10" Type="http://schemas.openxmlformats.org/officeDocument/2006/relationships/image" Target="../media/image14.jpg"/><Relationship Id="rId11" Type="http://schemas.openxmlformats.org/officeDocument/2006/relationships/image" Target="../media/image15.jpg"/><Relationship Id="rId12" Type="http://schemas.openxmlformats.org/officeDocument/2006/relationships/image" Target="../media/image16.jpg"/><Relationship Id="rId13" Type="http://schemas.openxmlformats.org/officeDocument/2006/relationships/image" Target="../media/image17.jpg"/><Relationship Id="rId14" Type="http://schemas.openxmlformats.org/officeDocument/2006/relationships/image" Target="../media/image18.jpg"/><Relationship Id="rId15" Type="http://schemas.openxmlformats.org/officeDocument/2006/relationships/image" Target="../media/image19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0.jpg"/><Relationship Id="rId4" Type="http://schemas.openxmlformats.org/officeDocument/2006/relationships/image" Target="../media/image21.jpg"/><Relationship Id="rId5" Type="http://schemas.openxmlformats.org/officeDocument/2006/relationships/image" Target="../media/image22.jpg"/><Relationship Id="rId6" Type="http://schemas.openxmlformats.org/officeDocument/2006/relationships/image" Target="../media/image23.jpg"/><Relationship Id="rId7" Type="http://schemas.openxmlformats.org/officeDocument/2006/relationships/image" Target="../media/image24.jpg"/><Relationship Id="rId8" Type="http://schemas.openxmlformats.org/officeDocument/2006/relationships/image" Target="../media/image25.jpg"/><Relationship Id="rId9" Type="http://schemas.openxmlformats.org/officeDocument/2006/relationships/image" Target="../media/image6.jpg"/><Relationship Id="rId10" Type="http://schemas.openxmlformats.org/officeDocument/2006/relationships/image" Target="../media/image26.jpg"/><Relationship Id="rId11" Type="http://schemas.openxmlformats.org/officeDocument/2006/relationships/image" Target="../media/image27.jpg"/><Relationship Id="rId12" Type="http://schemas.openxmlformats.org/officeDocument/2006/relationships/image" Target="../media/image2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9.jpg"/><Relationship Id="rId4" Type="http://schemas.openxmlformats.org/officeDocument/2006/relationships/image" Target="../media/image4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Relationship Id="rId7" Type="http://schemas.openxmlformats.org/officeDocument/2006/relationships/image" Target="../media/image32.jpg"/><Relationship Id="rId8" Type="http://schemas.openxmlformats.org/officeDocument/2006/relationships/image" Target="../media/image33.jpg"/><Relationship Id="rId9" Type="http://schemas.openxmlformats.org/officeDocument/2006/relationships/image" Target="../media/image34.jpg"/><Relationship Id="rId10" Type="http://schemas.openxmlformats.org/officeDocument/2006/relationships/image" Target="../media/image3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6.jpg"/><Relationship Id="rId4" Type="http://schemas.openxmlformats.org/officeDocument/2006/relationships/image" Target="../media/image37.jpg"/><Relationship Id="rId5" Type="http://schemas.openxmlformats.org/officeDocument/2006/relationships/image" Target="../media/image38.jpg"/><Relationship Id="rId6" Type="http://schemas.openxmlformats.org/officeDocument/2006/relationships/image" Target="../media/image39.jpg"/><Relationship Id="rId7" Type="http://schemas.openxmlformats.org/officeDocument/2006/relationships/image" Target="../media/image40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1.jpg"/><Relationship Id="rId4" Type="http://schemas.openxmlformats.org/officeDocument/2006/relationships/image" Target="../media/image42.jpg"/><Relationship Id="rId5" Type="http://schemas.openxmlformats.org/officeDocument/2006/relationships/image" Target="../media/image5.jpg"/><Relationship Id="rId6" Type="http://schemas.openxmlformats.org/officeDocument/2006/relationships/image" Target="../media/image43.jpg"/><Relationship Id="rId7" Type="http://schemas.openxmlformats.org/officeDocument/2006/relationships/image" Target="../media/image44.jpg"/><Relationship Id="rId8" Type="http://schemas.openxmlformats.org/officeDocument/2006/relationships/image" Target="../media/image45.jpg"/><Relationship Id="rId9" Type="http://schemas.openxmlformats.org/officeDocument/2006/relationships/image" Target="../media/image46.jpg"/><Relationship Id="rId10" Type="http://schemas.openxmlformats.org/officeDocument/2006/relationships/image" Target="../media/image47.jpg"/><Relationship Id="rId11" Type="http://schemas.openxmlformats.org/officeDocument/2006/relationships/image" Target="../media/image48.jpg"/><Relationship Id="rId12" Type="http://schemas.openxmlformats.org/officeDocument/2006/relationships/image" Target="../media/image4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0.jpg"/><Relationship Id="rId4" Type="http://schemas.openxmlformats.org/officeDocument/2006/relationships/image" Target="../media/image51.jpg"/><Relationship Id="rId5" Type="http://schemas.openxmlformats.org/officeDocument/2006/relationships/image" Target="../media/image52.jpg"/><Relationship Id="rId6" Type="http://schemas.openxmlformats.org/officeDocument/2006/relationships/image" Target="../media/image53.jpg"/><Relationship Id="rId7" Type="http://schemas.openxmlformats.org/officeDocument/2006/relationships/image" Target="../media/image54.jpg"/><Relationship Id="rId8" Type="http://schemas.openxmlformats.org/officeDocument/2006/relationships/image" Target="../media/image5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image" Target="../media/image56.jpg"/><Relationship Id="rId5" Type="http://schemas.openxmlformats.org/officeDocument/2006/relationships/image" Target="../media/image57.jpg"/><Relationship Id="rId6" Type="http://schemas.openxmlformats.org/officeDocument/2006/relationships/image" Target="../media/image58.jpg"/><Relationship Id="rId7" Type="http://schemas.openxmlformats.org/officeDocument/2006/relationships/image" Target="../media/image59.jpg"/><Relationship Id="rId8" Type="http://schemas.openxmlformats.org/officeDocument/2006/relationships/image" Target="../media/image60.jpg"/><Relationship Id="rId9" Type="http://schemas.openxmlformats.org/officeDocument/2006/relationships/image" Target="../media/image61.jpg"/><Relationship Id="rId10" Type="http://schemas.openxmlformats.org/officeDocument/2006/relationships/image" Target="../media/image62.jpg"/><Relationship Id="rId11" Type="http://schemas.openxmlformats.org/officeDocument/2006/relationships/image" Target="../media/image63.jpg"/><Relationship Id="rId12" Type="http://schemas.openxmlformats.org/officeDocument/2006/relationships/image" Target="../media/image64.jpg"/><Relationship Id="rId13" Type="http://schemas.openxmlformats.org/officeDocument/2006/relationships/image" Target="../media/image65.jpg"/><Relationship Id="rId14" Type="http://schemas.openxmlformats.org/officeDocument/2006/relationships/image" Target="../media/image6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7.jpg"/><Relationship Id="rId4" Type="http://schemas.openxmlformats.org/officeDocument/2006/relationships/image" Target="../media/image68.jpg"/><Relationship Id="rId5" Type="http://schemas.openxmlformats.org/officeDocument/2006/relationships/image" Target="../media/image69.jpg"/><Relationship Id="rId6" Type="http://schemas.openxmlformats.org/officeDocument/2006/relationships/image" Target="../media/image70.jpg"/><Relationship Id="rId7" Type="http://schemas.openxmlformats.org/officeDocument/2006/relationships/image" Target="../media/image71.jpg"/><Relationship Id="rId8" Type="http://schemas.openxmlformats.org/officeDocument/2006/relationships/image" Target="../media/image72.jpg"/><Relationship Id="rId9" Type="http://schemas.openxmlformats.org/officeDocument/2006/relationships/image" Target="../media/image73.jpg"/><Relationship Id="rId10" Type="http://schemas.openxmlformats.org/officeDocument/2006/relationships/image" Target="../media/image7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5.jpg"/><Relationship Id="rId4" Type="http://schemas.openxmlformats.org/officeDocument/2006/relationships/image" Target="../media/image76.jpg"/><Relationship Id="rId5" Type="http://schemas.openxmlformats.org/officeDocument/2006/relationships/image" Target="../media/image77.jpg"/><Relationship Id="rId6" Type="http://schemas.openxmlformats.org/officeDocument/2006/relationships/image" Target="../media/image78.jpg"/><Relationship Id="rId7" Type="http://schemas.openxmlformats.org/officeDocument/2006/relationships/image" Target="../media/image79.jpg"/><Relationship Id="rId8" Type="http://schemas.openxmlformats.org/officeDocument/2006/relationships/image" Target="../media/image80.jpg"/><Relationship Id="rId9" Type="http://schemas.openxmlformats.org/officeDocument/2006/relationships/image" Target="../media/image81.jpg"/><Relationship Id="rId10" Type="http://schemas.openxmlformats.org/officeDocument/2006/relationships/image" Target="../media/image82.jpg"/><Relationship Id="rId11" Type="http://schemas.openxmlformats.org/officeDocument/2006/relationships/image" Target="../media/image83.jpg"/><Relationship Id="rId12" Type="http://schemas.openxmlformats.org/officeDocument/2006/relationships/image" Target="../media/image84.jpg"/><Relationship Id="rId13" Type="http://schemas.openxmlformats.org/officeDocument/2006/relationships/image" Target="../media/image85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6.jpg"/><Relationship Id="rId4" Type="http://schemas.openxmlformats.org/officeDocument/2006/relationships/image" Target="../media/image87.jpg"/><Relationship Id="rId5" Type="http://schemas.openxmlformats.org/officeDocument/2006/relationships/image" Target="../media/image88.jpg"/><Relationship Id="rId6" Type="http://schemas.openxmlformats.org/officeDocument/2006/relationships/image" Target="../media/image89.jpg"/><Relationship Id="rId7" Type="http://schemas.openxmlformats.org/officeDocument/2006/relationships/image" Target="../media/image90.jpg"/><Relationship Id="rId8" Type="http://schemas.openxmlformats.org/officeDocument/2006/relationships/image" Target="../media/image9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jpg"/><Relationship Id="rId3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jpg"/><Relationship Id="rId3" Type="http://schemas.openxmlformats.org/officeDocument/2006/relationships/image" Target="../media/image102.jpg"/><Relationship Id="rId4" Type="http://schemas.openxmlformats.org/officeDocument/2006/relationships/image" Target="../media/image103.jpg"/><Relationship Id="rId5" Type="http://schemas.openxmlformats.org/officeDocument/2006/relationships/image" Target="../media/image104.jpg"/><Relationship Id="rId6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jpg"/><Relationship Id="rId3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jpg"/><Relationship Id="rId3" Type="http://schemas.openxmlformats.org/officeDocument/2006/relationships/image" Target="../media/image107.jpg"/><Relationship Id="rId4" Type="http://schemas.openxmlformats.org/officeDocument/2006/relationships/image" Target="../media/image108.jpg"/><Relationship Id="rId5" Type="http://schemas.openxmlformats.org/officeDocument/2006/relationships/image" Target="../media/image109.jpg"/><Relationship Id="rId6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jpg"/><Relationship Id="rId3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jpg"/><Relationship Id="rId3" Type="http://schemas.openxmlformats.org/officeDocument/2006/relationships/image" Target="../media/image107.jpg"/><Relationship Id="rId4" Type="http://schemas.openxmlformats.org/officeDocument/2006/relationships/image" Target="../media/image108.jpg"/><Relationship Id="rId5" Type="http://schemas.openxmlformats.org/officeDocument/2006/relationships/image" Target="../media/image109.jpg"/><Relationship Id="rId6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jpg"/><Relationship Id="rId3" Type="http://schemas.openxmlformats.org/officeDocument/2006/relationships/image" Target="../media/image107.jpg"/><Relationship Id="rId4" Type="http://schemas.openxmlformats.org/officeDocument/2006/relationships/image" Target="../media/image108.jpg"/><Relationship Id="rId5" Type="http://schemas.openxmlformats.org/officeDocument/2006/relationships/image" Target="../media/image109.jpg"/><Relationship Id="rId6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jpg"/><Relationship Id="rId3" Type="http://schemas.openxmlformats.org/officeDocument/2006/relationships/image" Target="../media/image111.png"/><Relationship Id="rId4" Type="http://schemas.openxmlformats.org/officeDocument/2006/relationships/image" Target="../media/image112.png"/><Relationship Id="rId5" Type="http://schemas.openxmlformats.org/officeDocument/2006/relationships/image" Target="../media/image113.png"/><Relationship Id="rId6" Type="http://schemas.openxmlformats.org/officeDocument/2006/relationships/image" Target="../media/image114.png"/><Relationship Id="rId7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jpg"/><Relationship Id="rId3" Type="http://schemas.openxmlformats.org/officeDocument/2006/relationships/image" Target="../media/image116.jpg"/><Relationship Id="rId4" Type="http://schemas.openxmlformats.org/officeDocument/2006/relationships/image" Target="../media/image117.jpg"/><Relationship Id="rId5" Type="http://schemas.openxmlformats.org/officeDocument/2006/relationships/image" Target="../media/image118.jpg"/><Relationship Id="rId6" Type="http://schemas.openxmlformats.org/officeDocument/2006/relationships/image" Target="../media/image119.jpg"/><Relationship Id="rId7" Type="http://schemas.openxmlformats.org/officeDocument/2006/relationships/image" Target="../media/image120.jpg"/><Relationship Id="rId8" Type="http://schemas.openxmlformats.org/officeDocument/2006/relationships/image" Target="../media/image121.jpg"/><Relationship Id="rId9" Type="http://schemas.openxmlformats.org/officeDocument/2006/relationships/image" Target="../media/image122.jpg"/><Relationship Id="rId10" Type="http://schemas.openxmlformats.org/officeDocument/2006/relationships/image" Target="../media/image123.jpg"/><Relationship Id="rId11" Type="http://schemas.openxmlformats.org/officeDocument/2006/relationships/image" Target="../media/image124.jpg"/><Relationship Id="rId12" Type="http://schemas.openxmlformats.org/officeDocument/2006/relationships/image" Target="../media/image125.jpg"/><Relationship Id="rId13" Type="http://schemas.openxmlformats.org/officeDocument/2006/relationships/image" Target="../media/image126.jpg"/><Relationship Id="rId14" Type="http://schemas.openxmlformats.org/officeDocument/2006/relationships/image" Target="../media/image127.jpg"/><Relationship Id="rId15" Type="http://schemas.openxmlformats.org/officeDocument/2006/relationships/image" Target="../media/image128.jpg"/><Relationship Id="rId16" Type="http://schemas.openxmlformats.org/officeDocument/2006/relationships/image" Target="../media/image129.jpg"/><Relationship Id="rId17" Type="http://schemas.openxmlformats.org/officeDocument/2006/relationships/image" Target="../media/image130.jpg"/><Relationship Id="rId18" Type="http://schemas.openxmlformats.org/officeDocument/2006/relationships/image" Target="../media/image131.jpg"/><Relationship Id="rId19" Type="http://schemas.openxmlformats.org/officeDocument/2006/relationships/image" Target="../media/image132.jpg"/><Relationship Id="rId20" Type="http://schemas.openxmlformats.org/officeDocument/2006/relationships/image" Target="../media/image133.jpg"/><Relationship Id="rId21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Relationship Id="rId3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5.jpg"/><Relationship Id="rId3" Type="http://schemas.openxmlformats.org/officeDocument/2006/relationships/image" Target="../media/image136.jpg"/><Relationship Id="rId4" Type="http://schemas.openxmlformats.org/officeDocument/2006/relationships/image" Target="../media/image137.jpg"/><Relationship Id="rId5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jpg"/><Relationship Id="rId3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9.jpg"/><Relationship Id="rId3" Type="http://schemas.openxmlformats.org/officeDocument/2006/relationships/image" Target="../media/image140.jpg"/><Relationship Id="rId4" Type="http://schemas.openxmlformats.org/officeDocument/2006/relationships/image" Target="../media/image141.jpg"/><Relationship Id="rId5" Type="http://schemas.openxmlformats.org/officeDocument/2006/relationships/image" Target="../media/image142.jpg"/><Relationship Id="rId6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d_bg_titl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md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475488"/>
            <a:ext cx="1773936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3504" y="1847088"/>
            <a:ext cx="493776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3504" y="2139696"/>
            <a:ext cx="6400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FC95C"/>
                </a:solidFill>
                <a:latin typeface="Segoe UI"/>
              </a:rPr>
              <a:t>ДОСЛІДЖЕННЯ РИНКУ ТА ПОЗИЦІОНУВАННЯ · ВЕРЕСЕНЬ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2542032"/>
            <a:ext cx="658368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4600" b="1" i="0">
                <a:solidFill>
                  <a:srgbClr val="FFFFFF"/>
                </a:solidFill>
                <a:latin typeface="Segoe UI"/>
              </a:rPr>
              <a:t>Готовий рис
в Україні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681728"/>
            <a:ext cx="5394960" cy="50292"/>
          </a:xfrm>
          <a:prstGeom prst="rect">
            <a:avLst/>
          </a:prstGeom>
          <a:solidFill>
            <a:srgbClr val="556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552944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bens_basmati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4560" y="1005840"/>
            <a:ext cx="1385606" cy="19385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9857232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hn_scallop17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3536" y="1094494"/>
            <a:ext cx="1856232" cy="176121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52944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hd_beef_stew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95260" y="3328416"/>
            <a:ext cx="1664208" cy="166420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9857232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ot_bibimbap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03536" y="3345065"/>
            <a:ext cx="1856232" cy="163090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Шість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Усі ціни в колоді — за одну упаковку. Опт і ящики до розрахунку не входять.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ОБСЯГ ІМПОРТУ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F9A50B"/>
                </a:solidFill>
                <a:latin typeface="Segoe UI"/>
              </a:rPr>
              <a:t>182 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Готовий рис, CN 1904 90 10.
+59 % до 2024 року.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68880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468880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88336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ЄМНІСТЬ РОЗДРІБУ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88336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37A169"/>
                </a:solidFill>
                <a:latin typeface="Segoe UI"/>
              </a:rPr>
              <a:t>87–110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88336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млн грн на рік — оцінка
за імпортом × 2,2–2,8.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199632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19088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ПОЗИЦІЙ У ПРОДАЖУ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7B5EA7"/>
                </a:solidFill>
                <a:latin typeface="Segoe UI"/>
              </a:rPr>
              <a:t>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9088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23 брендів, 56 продавців.
У мережі — 11 позицій.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5008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065008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84464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НАЙПОШИРЕНІШИЙ ФОРМАТ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4464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9EA6"/>
                </a:solidFill>
                <a:latin typeface="Segoe UI"/>
              </a:rPr>
              <a:t>дойпак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4464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30 позицій (36 %),
але це туризм, не полиця.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30384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9930384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149840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МАСОВА ВАГА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5B6B8C"/>
                </a:solidFill>
                <a:latin typeface="Segoe UI"/>
              </a:rPr>
              <a:t>250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9 позицій. Далі 220 г — 7,
174 г — 5, 85 г — 5.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3504" y="3712463"/>
            <a:ext cx="5358384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603504" y="3712463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14400" y="3895344"/>
            <a:ext cx="48097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 для полиці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4224527"/>
            <a:ext cx="4809744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 dirty="0">
                <a:solidFill>
                  <a:srgbClr val="D5DBEA"/>
                </a:solidFill>
                <a:latin typeface="Segoe UI"/>
              </a:rPr>
              <a:t>1.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Категорія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імпортується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але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не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потрапляє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в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мережі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: 11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із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84 — і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всі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це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Ben's Original у «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Сільпо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».
2.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Зростання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2025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року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дає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Болгарія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: 44,8 → 78,3 т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за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рік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+75 %.
3.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Формат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який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реально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працює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на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полиці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—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пауч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220–250 г: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медіана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109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грн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за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упаковку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найнижча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в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категорії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.
4.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Готового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рису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в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Україні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не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виробляють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: 100 %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обсягу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—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імпорт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99632" y="3712463"/>
            <a:ext cx="5358384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6199632" y="3712463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510528" y="3895344"/>
            <a:ext cx="48097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Чого на ринку немає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0528" y="4224527"/>
            <a:ext cx="4809744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1. Немає чаші за 100–150 грн у мережі: Ottogi коштує 225–356 грн, Henan 83–156, але обидва лише онлайн.
2. Немає українського виробника готового рису в паучі для мікрохвильовки — українські 16 позицій це або консерва, або сублімат для туризму.
3. Немає жодного бренду одночасно в мережі та на маркетплейсі, крім Ben's.
4. Немає локалізації: жодної україномовної упаковки серед 84 позицій.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Eurostat Comext (CN 1904 90 10, експорт ЄС→Україна), UN Comtrade, 17 мереж zakaz.ua, «Сільпо», Prom, Rozetka, MAUDAU — 22–23.09.2026. Ємність роздрібу — оцінка, метод на слайді 03.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ОБСЯГ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182 тонн імпорту, 87–110 млн грн роздрібу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Готовий рис в Україні не виробляють у паучах — увесь обсяг категорії це імпорт.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6675120" cy="30540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188366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ІМПОРТ ГОТОВОГО РИСУ З ЄС, ТОНН НА РІК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74133"/>
            <a:ext cx="786384" cy="895530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9536" y="305467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€294k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2322575"/>
            <a:ext cx="786384" cy="1847088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773936" y="2103120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739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39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€553k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2326190"/>
            <a:ext cx="786384" cy="1843473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688336" y="2106734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883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883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€567k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016589"/>
            <a:ext cx="786384" cy="1153074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02736" y="2797133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027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027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€434k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3032855"/>
            <a:ext cx="786384" cy="1136808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17136" y="2813399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1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€428k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0" y="3166597"/>
            <a:ext cx="786384" cy="1003066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31536" y="2947141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315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315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€475k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2548491"/>
            <a:ext cx="786384" cy="1621172"/>
          </a:xfrm>
          <a:prstGeom prst="roundRect">
            <a:avLst>
              <a:gd name="adj" fmla="val 1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45936" y="2329035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F9A50B"/>
                </a:solidFill>
                <a:latin typeface="Segoe UI"/>
              </a:rPr>
              <a:t>179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59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2025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459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€823k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4553712"/>
            <a:ext cx="6400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2025 рік — рекорд за вартістю: 823 тис. € проти 475 тис. € у 2024-му.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98079" y="1719072"/>
            <a:ext cx="4059936" cy="30540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735823" y="1883664"/>
            <a:ext cx="35844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ЗВІДКИ ЇДЕ, 2025 РІК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35823" y="210312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Болгарія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86800" y="2148839"/>
            <a:ext cx="1218179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978131" y="209397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78,3 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35823" y="237743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Польща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86800" y="2423159"/>
            <a:ext cx="1468660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228612" y="236829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94,4 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35823" y="265175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Італія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686800" y="2697479"/>
            <a:ext cx="87123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847075" y="264261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5,6 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35823" y="292607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Іспанія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686800" y="297179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796528" y="291693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0,4 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35823" y="320039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Франція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686800" y="324611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796528" y="319125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0,4 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35823" y="347471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Корея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686800" y="352043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796528" y="346557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2,0 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35823" y="374903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Китай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686800" y="379475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796528" y="373989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1,0 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35823" y="4059935"/>
            <a:ext cx="3584448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Болгарія і Польща — 95 % тонажу. Це заводи ЄС, що пакують рис у пауч.
Корея і Китай разом дають 3,1 т — це чаші Ottogi, Bibigo та Henan.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03504" y="4809744"/>
            <a:ext cx="10954512" cy="1316736"/>
          </a:xfrm>
          <a:prstGeom prst="roundRect">
            <a:avLst>
              <a:gd name="adj" fmla="val 7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603504" y="4809744"/>
            <a:ext cx="82296" cy="131673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14400" y="4956048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Як рахували ємність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35424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182 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35424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імпорт 2025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724144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43600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39 млн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3600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CIF за курсом НБУ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32320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51775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× 2,2–2,8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351775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мито 0 %, ПДВ, маржа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540496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59952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87–110 млн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59952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роздріб на рік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48672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168128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≈ 830 тис.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168128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упаковок на рік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5303520"/>
            <a:ext cx="347472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B9C2DA"/>
                </a:solidFill>
                <a:latin typeface="Segoe UI"/>
              </a:rPr>
              <a:t>Перевірка з іншого боку: 830 тис. упаковок × 110 грн медіани = 91 млн грн. Два методи сходяться.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Eurostat Comext DS-045409, CN 1904 90 10 «рис приготовлений», експорт ЄС→Україна, 2019–2025; UN Comtrade (Корея, Китай, Таїланд, 2025); курс НБУ (середній 2025: 47,15 грн/€, 41,71 грн/$). Ємність роздрібу — ОЦІНКА, не заміряні продажі.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КАРТА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23 бренди, чотири технології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Групування за тим, як продукт готується: від цього залежить і ціна, і канал.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F9A50B"/>
                </a:solidFill>
                <a:latin typeface="Segoe UI"/>
              </a:rPr>
              <a:t>ГОТОВИЙ РИС · РОЗІГРІВ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30 позицій · 7 брендів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Ben's Original · Ottogi · Bibigo · Clearspring · Portion · Маркел · Adventure Menu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Мікрохвильовка 60–90 с або реторт. Маса — готової страви.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9A50B"/>
                </a:solidFill>
                <a:latin typeface="Segoe UI"/>
              </a:rPr>
              <a:t>164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45 – 446 грн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10712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3410712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30168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C94F7C"/>
                </a:solidFill>
                <a:latin typeface="Segoe UI"/>
              </a:rPr>
              <a:t>ЗАЛИТИ ОКРОПОМ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0168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12 позицій · 3 бренди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0168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Henan · Gallina Blanca · Qiaoshanmei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30168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Сухий рис із соусом у чаші чи пакеті, 5–10 хв.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30168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30168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94F7C"/>
                </a:solidFill>
                <a:latin typeface="Segoe UI"/>
              </a:rPr>
              <a:t>138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30168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83 – 501 грн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6217920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37376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B5EA7"/>
                </a:solidFill>
                <a:latin typeface="Segoe UI"/>
              </a:rPr>
              <a:t>САМОРОЗІГРІВ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7376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14 позицій · 4 бренди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7376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Haidilao · Mo Xiao Xian · Zihaiguo · Rongcheng Haoji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7376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Хімічний нагрівач у коробці, без техніки, 15 хв.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37376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37376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37376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7B5EA7"/>
                </a:solidFill>
                <a:latin typeface="Segoe UI"/>
              </a:rPr>
              <a:t>735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37376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380 – 1 190 грн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25128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9025128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244584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1E9EA6"/>
                </a:solidFill>
                <a:latin typeface="Segoe UI"/>
              </a:rPr>
              <a:t>СУБЛІМАЦІЯ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44584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28 позицій · 10 брендів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44584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Travellunch · Trek'n Eat · Adventure Food · Mountain House · Adventure Menu · SubliMate · James Cook · Їжа в Похід · Харчі · !FEST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44584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Сушіння виморожуванням, окріп. Туризм і армія.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44584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244584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44584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E9EA6"/>
                </a:solidFill>
                <a:latin typeface="Segoe UI"/>
              </a:rPr>
              <a:t>302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44584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55 – 889 грн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3504" y="4572000"/>
            <a:ext cx="10954512" cy="1719072"/>
          </a:xfrm>
          <a:prstGeom prst="roundRect">
            <a:avLst>
              <a:gd name="adj" fmla="val 7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603504" y="4572000"/>
            <a:ext cx="91440" cy="17190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87552" y="4736592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FC95C"/>
                </a:solidFill>
                <a:latin typeface="Segoe UI"/>
              </a:rPr>
              <a:t>Що показує розбір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6696" y="513892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225296" y="5084064"/>
            <a:ext cx="51389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FFFFFF"/>
                </a:solidFill>
                <a:latin typeface="Segoe UI"/>
              </a:rPr>
              <a:t>Ben's Original — 13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єдиний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бренд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 у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мережі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 («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Сільпо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»).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6696" y="54132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225296" y="5358383"/>
            <a:ext cx="51389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Ottogi і Henan — 18 азійських чаш; Henan удвічі дешевший за упаковку.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96696" y="56875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1225296" y="5632703"/>
            <a:ext cx="51389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Українських позицій — 16, але жодної в паучі для мікрохвильовки.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309360" y="4791456"/>
            <a:ext cx="36576" cy="1280160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620256" y="4736592"/>
            <a:ext cx="4663440" cy="1389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 dirty="0" err="1">
                <a:solidFill>
                  <a:srgbClr val="B9C2DA"/>
                </a:solidFill>
                <a:latin typeface="Segoe UI"/>
              </a:rPr>
              <a:t>Медіана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готового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рису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для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розігріву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(30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) — 73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грн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за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100 г.
У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мережі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продається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11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із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84.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Решта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73 —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лише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онлайн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: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маркетплейси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азійські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фудшопи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туристичні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й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військові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магазини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.
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Країни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: ЄС — 31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позиція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Китай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— 24,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Україна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— 16,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Корея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— 11, США — 2.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 dirty="0" err="1">
                <a:solidFill>
                  <a:srgbClr val="717890"/>
                </a:solidFill>
                <a:latin typeface="Segoe UI"/>
              </a:rPr>
              <a:t>Джерела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: 17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мереж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на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zakaz.ua, «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Сільпо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», Prom, MAUDAU,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Rozetka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,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спеціалізовані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магазини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— 22–23.09.2026.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1/2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23 бренди у структурі: формат, технологія, ціна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Замість карток — одна таблиця. Сортування за медіанною ціною упаковки.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1C2235"/>
                </a:solidFill>
                <a:latin typeface="Segoe U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572768"/>
            <a:ext cx="17556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2576" y="1572768"/>
            <a:ext cx="7863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1572768"/>
            <a:ext cx="11704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ТЕХНОЛОГІЯ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9392" y="1572768"/>
            <a:ext cx="10424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21807" y="1572768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24144" y="1572768"/>
            <a:ext cx="14813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ЦІНА ЗА УПАКОВКУ,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5472" y="1572768"/>
            <a:ext cx="10607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5" y="1572768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1810512"/>
            <a:ext cx="10789920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1883664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Ben's Original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2576" y="1883664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1883664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Розігрів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9392" y="1883664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21807" y="1883664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24144" y="1883664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45–179   ·   мед. 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05472" y="1883664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18–81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6175" y="1883664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Мережа + маркетплейс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3776" y="2148840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189988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Маркел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22576" y="2189988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2189988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Розігрів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79392" y="2189988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21807" y="2189988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24144" y="2189988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94–96   ·   мед. 95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05472" y="2189988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6175" y="2189988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Військторг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2496312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Portion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22576" y="2496312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08960" y="2496312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Розігрів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79392" y="2496312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21807" y="2496312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24144" y="2496312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109   ·   мед. 109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05472" y="2496312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31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66175" y="2496312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Маркетплейс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3776" y="2761488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2802636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Харчі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22576" y="2802636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08960" y="2802636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79392" y="2802636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21807" y="2802636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24144" y="2802636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83–321   ·   мед. 120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05472" y="2802636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98–321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66175" y="2802636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3108960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James Cook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22576" y="3108960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08960" y="3108960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79392" y="3108960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21807" y="3108960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724144" y="3108960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55–156   ·   мед. 133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05472" y="3108960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61–195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66175" y="3108960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93776" y="3374136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66928" y="3415284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!FEST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22576" y="3415284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08960" y="3415284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79392" y="3415284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21807" y="3415284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724144" y="3415284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133–140   ·   мед. 137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05472" y="3415284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133–140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66175" y="3415284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928" y="3721608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Їжа в Похід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322576" y="3721608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108960" y="3721608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279392" y="3721608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21807" y="3721608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724144" y="3721608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130–145   ·   мед. 138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05472" y="3721608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153–171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66175" y="3721608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93776" y="3986784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66928" y="4027932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Henan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22576" y="4027932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08960" y="4027932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Окріп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279392" y="4027932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321807" y="4027932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724144" y="4027932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83–156   ·   мед. 140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05472" y="4027932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58–106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66175" y="4027932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Азійські фудшопи + МП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6928" y="4334256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Bibigo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322576" y="4334256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108960" y="4334256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Розігрів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79392" y="4334256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21807" y="4334256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724144" y="4334256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135–189   ·   мед. 162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205472" y="4334256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64–90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266175" y="4334256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Фудшопи + маркетплейс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93776" y="4599432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66928" y="4640580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Gallina Blanca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322576" y="4640580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108960" y="4640580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Окріп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279392" y="4640580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321807" y="4640580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724144" y="4640580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229   ·   мед. 229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205472" y="4640580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273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66175" y="4640580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Спец. магазин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66928" y="4946904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Ottogi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322576" y="4946904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08960" y="4946904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Розігрів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279392" y="4946904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321807" y="4946904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724144" y="4946904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225–356   ·   мед. 255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205472" y="4946904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79–130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266175" y="4946904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Азійські фудшопи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93776" y="5212080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66928" y="5253228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SubliMate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322576" y="5253228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108960" y="5253228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279392" y="5253228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321807" y="5253228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724144" y="5253228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290–370   ·   мед. 310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05472" y="5253228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221–308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266175" y="5253228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566928" y="5504688"/>
            <a:ext cx="10789920" cy="6583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566928" y="5504688"/>
            <a:ext cx="41148" cy="65836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04672" y="5660136"/>
            <a:ext cx="10332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4820A"/>
                </a:solidFill>
                <a:latin typeface="Segoe UI"/>
              </a:rPr>
              <a:t>ПЕРШІ 12 БРЕНДІВ — ДЕШЕВША ПОЛОВИНА РИНКУ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04672" y="5925312"/>
            <a:ext cx="10332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Усі бренди дешевше 400 грн за упаковку. Пауч і чаша займають увесь діапазон 45–356 грн; дойпак і коробка починаються там, де мережева полиця вже закінчилась.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Ціни роздрібні за одну упаковку, без оптових порогів. Медіана — за позиціями бренду. Adventure Menu має дві технології (реторт 400 г і сублімат 110 г).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2/2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Дорога половина: туризм і саморозігрів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Ці бренди формують «стелю» категорії, але в продуктову мережу не йдуть.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1C2235"/>
                </a:solidFill>
                <a:latin typeface="Segoe U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572768"/>
            <a:ext cx="17556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2576" y="1572768"/>
            <a:ext cx="7863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1572768"/>
            <a:ext cx="11704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ТЕХНОЛОГІЯ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9392" y="1572768"/>
            <a:ext cx="10424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21807" y="1572768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24144" y="1572768"/>
            <a:ext cx="14813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ЦІНА ЗА УПАКОВКУ,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5472" y="1572768"/>
            <a:ext cx="10607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5" y="1572768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1810512"/>
            <a:ext cx="10789920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1883664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Clearspring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2576" y="1883664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1883664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Розігрів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9392" y="1883664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21807" y="1883664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24144" y="1883664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252–446   ·   мед. 349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05472" y="1883664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101–178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6175" y="1883664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Маркетплейс + спец.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3776" y="2148840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189988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Adventure Menu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22576" y="2189988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2189988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Розігрів+Субл.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79392" y="2189988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4820A"/>
                </a:solidFill>
                <a:latin typeface="Segoe UI"/>
              </a:rPr>
              <a:t>Пауч/Дойпак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21807" y="2189988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24144" y="2189988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315–483   ·   мед. 378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05472" y="2189988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79–439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6175" y="2189988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2496312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Trek'n Eat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22576" y="2496312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08960" y="2496312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79392" y="2496312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21807" y="2496312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24144" y="2496312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269–715   ·   мед. 492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05472" y="2496312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66175" y="2496312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3776" y="2761488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2802636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Adventure Food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22576" y="2802636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08960" y="2802636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79392" y="2802636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21807" y="2802636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24144" y="2802636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492   ·   мед. 492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05472" y="2802636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337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66175" y="2802636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3108960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Qiaoshanmei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22576" y="3108960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08960" y="3108960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Окріп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79392" y="3108960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E9EA6"/>
                </a:solidFill>
                <a:latin typeface="Segoe UI"/>
              </a:rPr>
              <a:t>Пакет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21807" y="3108960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724144" y="3108960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501   ·   мед. 501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05472" y="3108960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343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66175" y="3108960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93776" y="3374136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66928" y="3415284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Travellunch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22576" y="3415284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08960" y="3415284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79392" y="3415284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21807" y="3415284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724144" y="3415284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275–889   ·   мед. 515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05472" y="3415284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220–454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66175" y="3415284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928" y="3721608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Haidilao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322576" y="3721608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108960" y="3721608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Саморозігрів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279392" y="3721608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21807" y="3721608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724144" y="3721608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380–1190   ·   мед. 680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05472" y="3721608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230–371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66175" y="3721608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 + фудшопи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93776" y="3986784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66928" y="4027932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Mountain House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22576" y="4027932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США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08960" y="4027932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279392" y="4027932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321807" y="4027932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724144" y="4027932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699   ·   мед. 699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05472" y="4027932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526–635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66175" y="4027932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6928" y="4334256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Zihaiguo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322576" y="4334256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108960" y="4334256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Саморозігрів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79392" y="4334256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21807" y="4334256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724144" y="4334256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735   ·   мед. 735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205472" y="4334256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167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266175" y="4334256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93776" y="4599432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66928" y="4640580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Rongcheng Haoji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322576" y="4640580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108960" y="4640580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Саморозігрів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279392" y="4640580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321807" y="4640580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724144" y="4640580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735   ·   мед. 735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205472" y="4640580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167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66175" y="4640580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66928" y="4946904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Mo Xiao Xian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322576" y="4946904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08960" y="4946904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Саморозігрів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279392" y="4946904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321807" y="4946904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724144" y="4946904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931   ·   мед. 931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205472" y="4946904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339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266175" y="4946904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566928" y="5349240"/>
            <a:ext cx="5285232" cy="84124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66928" y="5349240"/>
            <a:ext cx="41148" cy="841248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04672" y="5504688"/>
            <a:ext cx="4828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5D4B96"/>
                </a:solidFill>
                <a:latin typeface="Segoe UI"/>
              </a:rPr>
              <a:t>ТЕХНОЛОГІЯ ВИЗНАЧАЄ КАНАЛ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4672" y="5769864"/>
            <a:ext cx="48280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Сублімація й саморозігрів не конкурують з нами за привід споживання: це похід і відрядження, а не обід у місті.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6071616" y="5349240"/>
            <a:ext cx="5285232" cy="84124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6071616" y="5349240"/>
            <a:ext cx="41148" cy="84124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59" y="5504688"/>
            <a:ext cx="4828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НАШ КОНКУРЕНТНИЙ СЕТ — ВУЗЬКИЙ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309359" y="5769864"/>
            <a:ext cx="48280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Реальних конкурентів у нас п'ять: Ben's Original, Ottogi, Henan, Bibigo і суміжна консерва на полиці мережі.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Trek'n Eat: маса на картках продавців не вказана, грн/100 г не рахується. Qiaoshanmei — рис у пакеті під окріп, не саморозігрів.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ФОРМАТИ УПАКОВКИ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Дойпак і чаша — 63 % позицій, але полицю тримає пауч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49808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tl_strog12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1415" y="1938528"/>
            <a:ext cx="722785" cy="8961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E9EA6"/>
                </a:solidFill>
                <a:latin typeface="Segoe UI"/>
              </a:rPr>
              <a:t>ДОЙПАК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Дойпак із сублімату. Легкий, але потребує окропу. Туризм і армія.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22960" y="3694176"/>
            <a:ext cx="764177" cy="16459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30 позицій · 36 % · 11 брендів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E9EA6"/>
                </a:solidFill>
                <a:latin typeface="Segoe UI"/>
              </a:rPr>
              <a:t>315 грн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E9EA6"/>
                </a:solidFill>
                <a:latin typeface="Segoe UI"/>
              </a:rPr>
              <a:t>55 – 889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110 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10712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410712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3557016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hn_scallop17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7788" y="1938528"/>
            <a:ext cx="944454" cy="8961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630168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C94F7C"/>
                </a:solidFill>
                <a:latin typeface="Segoe UI"/>
              </a:rPr>
              <a:t>ЧАША · СТАКАН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0168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Жорстка чаша чи стакан. Готова страва або сухий рис під окріп. Формат для офісу.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30168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630168" y="3694176"/>
            <a:ext cx="585869" cy="16459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630168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23 позиції · 27 % · 5 брендів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30168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630168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30168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C94F7C"/>
                </a:solidFill>
                <a:latin typeface="Segoe UI"/>
              </a:rPr>
              <a:t>229 грн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30168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30168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C94F7C"/>
                </a:solidFill>
                <a:latin typeface="Segoe UI"/>
              </a:rPr>
              <a:t>83 – 931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30168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218 г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17920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217920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6364224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5" name="Picture 44" descr="bens_basmati25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6965" y="1938528"/>
            <a:ext cx="640516" cy="896111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437376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ПАУЧ · РЕТОРТ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37376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Плаский реторт-пауч. Мікрохвильовка 90 с або окріп. Формат мережевої полиці.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37376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6437376" y="3694176"/>
            <a:ext cx="483978" cy="16459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37376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19 позицій · 23 % · 5 брендів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37376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37376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37376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109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37376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37376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45 – 376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37376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37376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025128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9025128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9171432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1" name="Picture 60" descr="hd_beef_stew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66376" y="1938528"/>
            <a:ext cx="896112" cy="896112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9244584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КОРОБКА З НАГРІВАЧЕМ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44584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Картон із хімічним нагрівачем. Без техніки. Дорогий і об'ємний.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244584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9244584" y="3694176"/>
            <a:ext cx="305670" cy="16459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244584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12 позицій · 14 % · 3 бренди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244584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9244584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44584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708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244584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44584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380 – 1 190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44584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244584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230 г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03504" y="5449824"/>
            <a:ext cx="10954512" cy="85953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603504" y="5449824"/>
            <a:ext cx="82296" cy="85953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914400" y="5632704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914400" y="5961888"/>
            <a:ext cx="10405872" cy="2011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Дойпак виграє за кількістю позицій лише тому, що туристичні магазини заводять десятки дрібних брендів. За доступністю для покупця виграє пауч: 109 грн медіана проти 315 грн у дойпака й 708 грн у коробки з нагрівачем.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Розподіл 84 позицій за типом паковання з карток продавців, 22–23.09.2026.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ФОРМАТИ УПАКОВКИ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Який формат насправді найпопулярніший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Кількість позицій і ціна дають протилежні відповіді. Розбираємо, яка з них релевантна.</a:t>
            </a:r>
          </a:p>
        </p:txBody>
      </p:sp>
      <p:pic>
        <p:nvPicPr>
          <p:cNvPr id="10" name="Picture 9" descr="c1_forma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81328"/>
            <a:ext cx="11064240" cy="335731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023360"/>
            <a:ext cx="41148" cy="201168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5D4B96"/>
                </a:solidFill>
                <a:latin typeface="Segoe UI"/>
              </a:rPr>
              <a:t>ПОПУЛЯРНІСТЬ ≠ ПОЛИЦЯ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Дойпак лідирує за кількістю позицій (30 із 84), але це артефакт каналу: туристичні магазини заводять по 1–2 SKU від десятка дрібних брендів.
За доступністю для покупця виграє пауч: 109 грн проти 315 грн у дойпака.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25112" y="4023360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6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ВІКНО ПОРЦІЇ 210–250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Чаша й пауч конкурують у тому самому ваговому вікні — це порція «обід на одну людину».
16 позицій із 84 лежать у 220–250 г. Саме під цю вагу вже привчений покупець Ben's Original і Bibigo.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3296" y="4023360"/>
            <a:ext cx="41148" cy="2011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РЕКОМЕНДАЦІЯ ФОРМАТУ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ПАУЧ 240–250 Г — для мережевої полиці: найнижча ціна входу, вага збігається з лідером категорії.
СТАКАН 150 Г — для азійського каналу: прямий конкурент Ottogi та Henan за вдвічі нижчою ціною.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Розподіл 84 позицій за типом паковання з карток продавців, 22–23.09.2026. 2 позиції без указаної маси до розрахунку грн/100 г не входять.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ГРАМАЖ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250 і 220 грамів — половина всієї полиці паучів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Скільки позицій припадає на кожну вагу і як ваги розподілені між форматами.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1700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НАЙЧАСТІШІ ВАГИ, ПОЗИЦІЙ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" y="2901695"/>
            <a:ext cx="859536" cy="106680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3504" y="268223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85 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72768" y="3328415"/>
            <a:ext cx="859536" cy="64008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72768" y="31089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90 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42032" y="3115055"/>
            <a:ext cx="859536" cy="85344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542032" y="289559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110 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11296" y="3115055"/>
            <a:ext cx="859536" cy="85344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11296" y="289559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11296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125 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80560" y="3328415"/>
            <a:ext cx="859536" cy="640080"/>
          </a:xfrm>
          <a:prstGeom prst="roundRect">
            <a:avLst>
              <a:gd name="adj" fmla="val 12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80560" y="31089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C94F7C"/>
                </a:solidFill>
                <a:latin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144 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9824" y="2901695"/>
            <a:ext cx="859536" cy="1066800"/>
          </a:xfrm>
          <a:prstGeom prst="roundRect">
            <a:avLst>
              <a:gd name="adj" fmla="val 12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49824" y="268223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C94F7C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49824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174 г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19088" y="2474975"/>
            <a:ext cx="859536" cy="1493520"/>
          </a:xfrm>
          <a:prstGeom prst="roundRect">
            <a:avLst>
              <a:gd name="adj" fmla="val 12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19088" y="225551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9A50B"/>
                </a:solidFill>
                <a:latin typeface="Segoe U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9088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220 г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88352" y="2048255"/>
            <a:ext cx="859536" cy="1920240"/>
          </a:xfrm>
          <a:prstGeom prst="roundRect">
            <a:avLst>
              <a:gd name="adj" fmla="val 12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88352" y="182879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9A50B"/>
                </a:solidFill>
                <a:latin typeface="Segoe UI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88352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" y="4261104"/>
            <a:ext cx="77724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Колір стовпця — формат, у якому ця вага трапляється найчастіше: помаранчевий — пауч, рожевий — чаша, бірюзовий — дойпак.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21040" y="1700784"/>
            <a:ext cx="3255264" cy="316382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540496" y="1865376"/>
            <a:ext cx="2834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ВАГОВЕ ВІКНО ФОРМАТУ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0496" y="2176272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1E9EA6"/>
                </a:solidFill>
                <a:latin typeface="Segoe UI"/>
              </a:rPr>
              <a:t>Дойпак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0496" y="2359152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80–250 г · медіана 110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0496" y="2743200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C94F7C"/>
                </a:solidFill>
                <a:latin typeface="Segoe UI"/>
              </a:rPr>
              <a:t>Чаша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0496" y="2926080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84–320 г · медіана 218 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0496" y="331012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Пауч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40496" y="3493008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220–400 г · медіана 250 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0496" y="3877056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B5EA7"/>
                </a:solidFill>
                <a:latin typeface="Segoe UI"/>
              </a:rPr>
              <a:t>Коробка з нагрівачем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40496" y="4059936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165–440 г · медіана 230 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40496" y="4462272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Чаша й пауч конкурують у вікні 210–250 г — це порція на одну людину.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3504" y="5010912"/>
            <a:ext cx="10954512" cy="131673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603504" y="5010912"/>
            <a:ext cx="82296" cy="131673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14400" y="5193792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обирати під полицю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5522976"/>
            <a:ext cx="1040587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Вагове ядро категорії — 220–250 г: 16 позицій із 84, усі пауч або чаша, усі в корені порції «обід для однієї людини». Це та вага, під яку вже налаштований покупець Ben's Original і Bibigo.
Легкі ваги 80–146 г — це не менша порція, а сухий продукт: сублімат і інстант-рис, які треба залити окропом. Порівнювати їх із паучем за грам не можна.
Важкі 310–440 г — корейські чаші Ottogi та китайські коробки з нагрівачем: порція «на голодного», але й ціна за упаковку 250–735 грн.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Маса з карток продавців; 2 позицій без указаної маси до розрахунку не входять.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МОДЕЛЬ ФОРМАТУ І ВАГИ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Яке поєднання упаковки й грамажу тримає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Кожна клітинка — скільки позицій категорії має цей формат у цій ваговій смузі.</a:t>
            </a:r>
          </a:p>
        </p:txBody>
      </p:sp>
      <p:pic>
        <p:nvPicPr>
          <p:cNvPr id="10" name="Picture 9" descr="c6_fmtwe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26464"/>
            <a:ext cx="11064240" cy="418496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681728"/>
            <a:ext cx="41148" cy="144475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F9A50B"/>
                </a:solidFill>
                <a:latin typeface="Segoe UI"/>
              </a:rPr>
              <a:t>ПОРЦІЙНЕ ВІКНО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200–299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22 позиції: пауч 14, чаша 8.
Одна порція на одну людину.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55848" y="4681728"/>
            <a:ext cx="41148" cy="144475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7530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НАЙЩІЛЬНІША КЛІТИНКА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530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дойпак 100–149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7530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16 позицій — але це сухий
сублімат, інший привід.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4681728"/>
            <a:ext cx="41148" cy="144475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4820A"/>
                </a:solidFill>
                <a:latin typeface="Segoe UI"/>
              </a:rPr>
              <a:t>ПАУЧ ЖИВЕ ТІЛЬКИ ТУТ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220–250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14 із 19 паучів. Поза вікном —
лише укр. реторт 350 г.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33687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33687" y="4681728"/>
            <a:ext cx="41148" cy="1444752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3143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37A169"/>
                </a:solidFill>
                <a:latin typeface="Segoe UI"/>
              </a:rPr>
              <a:t>НАЙДЕШЕВШИЙ ГРАМ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3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200–249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3143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50 грн за 100 г — мінімум
по всіх вагових смугах.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84 позиції; 2 без указаної маси (Trek'n Eat) до крос-табу не входять. Медіана грн/100 г — за всіма позиціями, що потрапили у вагову смугу, незалежно від формату.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НАЙПОПУЛЯРНІШІ ФОРМАТИ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Які упаковки ринок обирає найчастіше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Ліворуч — конкретні поєднання формату й ваги. Праворуч — частка формату в усій категорії та окремо в каналах, куди ходить масовий покупець.</a:t>
            </a:r>
          </a:p>
        </p:txBody>
      </p:sp>
      <p:pic>
        <p:nvPicPr>
          <p:cNvPr id="10" name="Picture 9" descr="c7_comb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72768"/>
            <a:ext cx="11064240" cy="429191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828032"/>
            <a:ext cx="41148" cy="129844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C4820A"/>
                </a:solidFill>
                <a:latin typeface="Segoe UI"/>
              </a:rPr>
              <a:t>#1 НА РИНКУ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Пауч 220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7 позицій, усі Ben's Original.
129 грн · 59 грн/100 г.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55848" y="4828032"/>
            <a:ext cx="41148" cy="129844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75304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C4820A"/>
                </a:solidFill>
                <a:latin typeface="Segoe UI"/>
              </a:rPr>
              <a:t>НАЙДЕШЕВШИЙ ГРАМ У ТОПІ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5304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Пауч 250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75304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6 позицій, 36 грн/100 г —
втричі дешевше за чашу 174 г.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4828032"/>
            <a:ext cx="41148" cy="129844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#1 В АЗІЙСЬКІЙ НІШІ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Чаша 174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5 позицій Henan, 148 грн.
Прямий конкурент нашого стакана.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33687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33687" y="4828032"/>
            <a:ext cx="41148" cy="129844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3143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БЕЗ OUTDOOR-КАНАЛУ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3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чаша + пауч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3143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91 % позицій, доступних масовому
покупцю. Дойпак падає з 36 % до 4 %.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Поєднання з двома й більше позиціями; 13 поєднань покривають 52 із 84 позицій. Медіана ціни — за позиціями цього поєднання. «Масовий канал» — мережа, маркетплейси та спеціалізовані фудшопи (46 позицій); outdoor- і мілітарі-рітейл виключено.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ЦІНА ЗА ОДНУ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Від 45 до 1 190 грн: сходи всіх 23 брендів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Крапка — медіана бренду, смуга — від найдешевшої до найдорожчої його позиції.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64208"/>
            <a:ext cx="10954512" cy="4608576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197449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31689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250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90995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25235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500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84540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18780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750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78086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12326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1 000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771632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405872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1 250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5907024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ГРН ЗА ОДНУ УПАКОВКУ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1828800"/>
            <a:ext cx="20116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1" i="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6352" y="182880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1" i="0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182880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650" b="1" i="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198424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Маркел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16352" y="200253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93008" y="200253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7877" y="2034539"/>
            <a:ext cx="18288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259297" y="1997963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30465" y="1975103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94 – 96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214884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Ben's Original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16352" y="2167128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3008" y="2167128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54742" y="2199132"/>
            <a:ext cx="746940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4292742" y="216255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893122" y="213969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45 – 179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" y="231343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James Cook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16352" y="233172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93008" y="233172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10484" y="2363724"/>
            <a:ext cx="562992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4337335" y="232714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764916" y="230428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55 – 156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" y="2478024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Portion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16352" y="249631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93008" y="2496312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11489" y="2528316"/>
            <a:ext cx="18288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4342909" y="249174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02929" y="246888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109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2642616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Харчі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16352" y="266090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93008" y="2660904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266561" y="2692908"/>
            <a:ext cx="1326655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4404225" y="265633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684656" y="263347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83 – 321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1248" y="280720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Henan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16352" y="282549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93008" y="282549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66561" y="2857500"/>
            <a:ext cx="406915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4423735" y="282092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764916" y="2798064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83 – 156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1248" y="297180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!FEST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16352" y="2990088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93008" y="2990088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45270" y="3022092"/>
            <a:ext cx="39019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4476690" y="298551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75729" y="296265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133 – 140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1248" y="313639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816352" y="315468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93008" y="315468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556418" y="3186684"/>
            <a:ext cx="301005" cy="6400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4487838" y="315010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4948864" y="312724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135 – 189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1248" y="3300984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Їжа в Похід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16352" y="331927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493008" y="3319272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28547" y="3351276"/>
            <a:ext cx="83612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4501774" y="331470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703600" y="329184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130 – 145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3465576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Gallina Blanca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816352" y="348386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493008" y="3483864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080391" y="3515868"/>
            <a:ext cx="18288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5011811" y="347929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5171831" y="345643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229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1248" y="363016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Clearspring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816352" y="364845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93008" y="364845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208597" y="3680460"/>
            <a:ext cx="1081391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5140017" y="364388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6381429" y="3621024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252 – 446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1248" y="379476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816352" y="3813048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93008" y="3813048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058095" y="3845052"/>
            <a:ext cx="730217" cy="6400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5156740" y="380847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5879752" y="378561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225 – 356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41248" y="395935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SubliMate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16352" y="397764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93008" y="397764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5420416" y="4009644"/>
            <a:ext cx="445934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ounded Rectangle 100"/>
          <p:cNvSpPr/>
          <p:nvPr/>
        </p:nvSpPr>
        <p:spPr>
          <a:xfrm>
            <a:off x="5457746" y="397306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5957791" y="395020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290 – 370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41248" y="4123944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Adventure Menu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816352" y="414223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493008" y="4142232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559771" y="4174236"/>
            <a:ext cx="936462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ounded Rectangle 106"/>
          <p:cNvSpPr/>
          <p:nvPr/>
        </p:nvSpPr>
        <p:spPr>
          <a:xfrm>
            <a:off x="5831216" y="413766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6587674" y="411480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315 – 483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1248" y="4288536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Trek'n Eat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816352" y="430682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493008" y="4306824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303359" y="4338828"/>
            <a:ext cx="2486085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ounded Rectangle 112"/>
          <p:cNvSpPr/>
          <p:nvPr/>
        </p:nvSpPr>
        <p:spPr>
          <a:xfrm>
            <a:off x="6477821" y="430225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7880884" y="427939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269 – 715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41248" y="445312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Adventure Food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816352" y="447141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493008" y="447141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546401" y="4503420"/>
            <a:ext cx="18288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unded Rectangle 118"/>
          <p:cNvSpPr/>
          <p:nvPr/>
        </p:nvSpPr>
        <p:spPr>
          <a:xfrm>
            <a:off x="6477821" y="446684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6637841" y="4443984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492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41248" y="461772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Qiaoshanmei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816352" y="4636007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493008" y="4636007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6596569" y="4668012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6527989" y="463143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6688009" y="460857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501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41248" y="478231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Travellunch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816352" y="4800599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493008" y="4800599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336804" y="4832603"/>
            <a:ext cx="3422547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ounded Rectangle 130"/>
          <p:cNvSpPr/>
          <p:nvPr/>
        </p:nvSpPr>
        <p:spPr>
          <a:xfrm>
            <a:off x="6895885" y="4796027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8850792" y="47731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275 – 889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41248" y="4946903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Haidilao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816352" y="4965191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493008" y="4965191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922093" y="4997195"/>
            <a:ext cx="4515087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ounded Rectangle 136"/>
          <p:cNvSpPr/>
          <p:nvPr/>
        </p:nvSpPr>
        <p:spPr>
          <a:xfrm>
            <a:off x="7442155" y="4960619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10528621" y="4937759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380 – 1 190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41248" y="5111495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Mountain House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816352" y="5129783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США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93008" y="5129783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7700257" y="5161787"/>
            <a:ext cx="18288" cy="64008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ounded Rectangle 142"/>
          <p:cNvSpPr/>
          <p:nvPr/>
        </p:nvSpPr>
        <p:spPr>
          <a:xfrm>
            <a:off x="7631677" y="5125211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7791697" y="5102351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699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41248" y="5276087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Zihaiguo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816352" y="5294375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493008" y="5294375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7900928" y="5326379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Rounded Rectangle 148"/>
          <p:cNvSpPr/>
          <p:nvPr/>
        </p:nvSpPr>
        <p:spPr>
          <a:xfrm>
            <a:off x="7832348" y="5289803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7992368" y="5266943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735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41248" y="5440679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Rongcheng Haoji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16352" y="5458967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493008" y="5458967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7900928" y="5490971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ounded Rectangle 154"/>
          <p:cNvSpPr/>
          <p:nvPr/>
        </p:nvSpPr>
        <p:spPr>
          <a:xfrm>
            <a:off x="7832348" y="5454395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7992368" y="5431535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735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1248" y="5605271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Mo Xiao Xian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816352" y="5623559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493008" y="5623559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993467" y="5655563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8924887" y="5618987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9084907" y="5596127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931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4054742" y="6126480"/>
            <a:ext cx="752514" cy="45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TextBox 163"/>
          <p:cNvSpPr txBox="1"/>
          <p:nvPr/>
        </p:nvSpPr>
        <p:spPr>
          <a:xfrm>
            <a:off x="4054742" y="6181344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F9A50B"/>
                </a:solidFill>
                <a:latin typeface="Segoe UI"/>
              </a:rPr>
              <a:t>вікно мережевої полиці: 45–180 грн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41248" y="6181344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Колір — країна: Україна · Китай · Корея · ЄС · США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Ціна за одну упаковку в роздріб, без оптових порогів: у 6 продавців діє нижча ціна від 3–20 шт, вона в розрахунок не бралася. 22–23.09.2026.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BEN'S ORIGINAL · 13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Пауч 220–250 г — єдиний бренд на мережевій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Найглибша лінійка сегмента і єдина, що дійшла до продуктового роздрібу.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Ben's Original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Mars · ЄС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пауч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45–179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100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18–81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bens_longgra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582" y="2395728"/>
            <a:ext cx="546395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45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18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81497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254649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bens_basmati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0266" y="2395728"/>
            <a:ext cx="549014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300369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00369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00369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00369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 грн/100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00369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759490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3832642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bens_mediterra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0441" y="2395728"/>
            <a:ext cx="544649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3878362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Mediterran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78362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78362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78362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 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78362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37483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5410635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bens_risibis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7562" y="2395728"/>
            <a:ext cx="546395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5456355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Risi Bisi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56355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56355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56355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 грн/100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56355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915476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6988628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bens_curry_indien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0318" y="2395728"/>
            <a:ext cx="556869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034348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Indian Curry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34348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34348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34348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 грн/100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34348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493469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8566621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bens_curry_linsen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70967" y="2395728"/>
            <a:ext cx="531557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8612341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Curry з сочевицею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12341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12341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12341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41 грн/100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612341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071462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10144614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bens_basmati22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37613" y="2395728"/>
            <a:ext cx="554251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190334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90334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90334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100–144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190334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45–65 грн/100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90334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MAUDAU · Сільпо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03504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676656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bens_mexikanisch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72273" y="4480560"/>
            <a:ext cx="549014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722376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Mexikanisch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22376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22376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109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22376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50 грн/100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181497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2254649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8" name="Picture 87" descr="bens_curryreis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39792" y="4480560"/>
            <a:ext cx="569962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2300369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Curryreis Indien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300369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300369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144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300369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65 грн/100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00369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759490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3832642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6" name="Picture 95" descr="bens_stickybowl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45716" y="4480560"/>
            <a:ext cx="514100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3878362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Для боулів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78362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878362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149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878362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68 грн/100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878362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337483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ounded Rectangle 102"/>
          <p:cNvSpPr/>
          <p:nvPr/>
        </p:nvSpPr>
        <p:spPr>
          <a:xfrm>
            <a:off x="5410635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4" name="Picture 103" descr="bens_sweetchili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99706" y="4480560"/>
            <a:ext cx="562106" cy="768096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5456355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Sweet Chili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456355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456355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179 грн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456355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81 грн/100 г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56355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915476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unded Rectangle 110"/>
          <p:cNvSpPr/>
          <p:nvPr/>
        </p:nvSpPr>
        <p:spPr>
          <a:xfrm>
            <a:off x="6988628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2" name="Picture 111" descr="bens_bio240_singl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17712" y="4480560"/>
            <a:ext cx="482081" cy="768096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034348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Bio Basmati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034348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240 г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034348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139 грн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034348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58 грн/100 г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034348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493469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unded Rectangle 118"/>
          <p:cNvSpPr/>
          <p:nvPr/>
        </p:nvSpPr>
        <p:spPr>
          <a:xfrm>
            <a:off x="8566621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0" name="Picture 119" descr="bens_lang220_single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67912" y="4480560"/>
            <a:ext cx="537667" cy="768096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8612341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612341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612341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139 грн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612341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63 грн/100 г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612341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каталог «Сільпо» (11 позицій), MAUDAU, Edison Lee — 22.09.2026. Basmati 220 г: 100 грн у MAUDAU і 144 грн у «Сільпо». Дві позиції Edison Lee продаються поштучно, ціна за один пауч.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49808" y="1156716"/>
            <a:ext cx="6675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СЕГМЕНТ 1 · ГОТОВИЙ РИС ДО РОЗІГРІВУ   ·   Мікрохвильовка 60–90 с   ·   Маса — готової страви   ·   привід: Обід поза домом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589520" y="1156716"/>
            <a:ext cx="395020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МЕДІАНА СЕГМЕНТА: 164 ГРН МЕДІАНА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7665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7665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2258568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2258568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383133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383133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413248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413248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98601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8601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8567928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567928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1014069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14069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76656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76656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2258568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2258568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3831336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3831336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5413248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413248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986016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6986016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8567928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567928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OTTOGI · 10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Чаша 217–320 г — корейський лідер азійського каналу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Готова страва з наповнювачем. Найдорожча упаковка сегмента розігріву.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Республіка Корея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чаша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225–356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100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79–130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ot_bulgog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2745" y="2395728"/>
            <a:ext cx="879267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Бульгогі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79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1269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88584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ottogi_hambur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9079" y="2395728"/>
            <a:ext cx="864980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93156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Гамбурзький стейк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3156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315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3156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3156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81 грн/100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3156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188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509503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ot_pork31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1126" y="2395728"/>
            <a:ext cx="879267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14075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4075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4075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4075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81 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4075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3107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730422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ot_chicken_rib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5902" y="2395728"/>
            <a:ext cx="768096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4994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Гострі курячі ребра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4994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4994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255–260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49947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82–84 грн/100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4994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 · Gurmissimo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44026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951341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ot_octopus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5969" y="2395728"/>
            <a:ext cx="886342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55913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Гострий восьминіг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5913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280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5913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255–289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559137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91–103 грн/100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913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 · Апетіт. · Gurm.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0350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67665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ot_tuna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7265" y="4480560"/>
            <a:ext cx="970226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72237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Тунець і майонез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237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247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237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225–320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2237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91–130 грн/100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237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· Gurmissimo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1269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288584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ot_bibimbap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34462" y="4480560"/>
            <a:ext cx="874214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293156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Пібімпаб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3156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3156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252–334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3156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94–124 грн/100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3156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· Апетітаріум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02188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509503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ot_pork_spicy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37588" y="4480560"/>
            <a:ext cx="886342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514075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свинина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4075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4075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334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4075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124 грн/100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075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23107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730422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8" name="Picture 87" descr="ot_beef32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05902" y="4480560"/>
            <a:ext cx="768096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734994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4994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4994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356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349947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111 грн/100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4994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44026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951341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6" name="Picture 95" descr="ottogi_jjampong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61413" y="4480560"/>
            <a:ext cx="875454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955913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Jjampong: рис у супі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5913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217,5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55913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559137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117 грн/100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55913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Pulsar, Апетітаріум, Gurmissimo, Тайякі Март — 22.09.2026. Ціни роздрібні: у «Тайякі Март» від 15–20 шт діє нижча ціна, вона не бралася.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49808" y="1156716"/>
            <a:ext cx="6675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СЕГМЕНТ 1 · ГОТОВИЙ РИС ДО РОЗІГРІВУ   ·   Мікрохвильовка 60–90 с   ·   Маса — готової страви   ·   привід: Обід поза домом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589520" y="1156716"/>
            <a:ext cx="395020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МЕДІАНА СЕГМЕНТА: 164 ГРН МЕДІАНА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7665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7665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889504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889504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5093208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093208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7306055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7306055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9509759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509759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76656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76656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889504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889504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93208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93208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7306055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306055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9509759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509759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HENAN · 8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Чаша 144 і 174 г — найдешевша чаша ринку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Сухий рис у чаші, заливається окропом на 8 хвилин. Маса — до заливання.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Henan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Китай · Xiao Guo Zao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чаша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83–156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100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58–106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hn_braised17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697" y="2395728"/>
            <a:ext cx="821660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курка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129–156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" y="399592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74–90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СНЕКІС · DCM · Апетіт.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64992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3438144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hn_scallop17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5249" y="2395728"/>
            <a:ext cx="809532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483864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Гребінці та гриби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83864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83864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140–156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83864" y="399592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80–90 грн/100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83864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MAUDAU · Gurm. · DCM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26480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6199632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hn_sausage17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0274" y="2395728"/>
            <a:ext cx="802458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245352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Кантонська ковбаска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45352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45352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118–156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5352" y="399592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68–90 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45352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Asia · Gurm. · Апетіт.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87968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8961120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hn_pepperbeef17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5912" y="2395728"/>
            <a:ext cx="774159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006840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06840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06840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118–156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06840" y="399592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68–90 грн/100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06840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Asia · Gurm. · Апетіт.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03504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676656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hn_pepperchicken17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54479" y="4480560"/>
            <a:ext cx="768096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22376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з перцем чилі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2376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112–150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2376" y="608076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64–86 грн/100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2376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· СНЕКІС · DCM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364992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3438144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hn_spicychicken14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97270" y="4480560"/>
            <a:ext cx="805490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3483864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курка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83864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83864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83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483864" y="608076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58 грн/100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83864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Asia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126480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6199632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hn_sweetsourbeef144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68250" y="4480560"/>
            <a:ext cx="1186506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6245352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Кисло-солодка яловичина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45352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45352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135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45352" y="608076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94 грн/100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45352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DCM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887968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8961120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hn_eggplant144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97957" y="4480560"/>
            <a:ext cx="1050068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9006840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з баклажанами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06840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006840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152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006840" y="608076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106 грн/100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06840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DCM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MAUDAU, Апетітаріум, Gurmissimo, OMG! Asia, СНЕКІС, DCM — 22–23.09.2026. Маса — сухого продукту до заливання.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49808" y="1156716"/>
            <a:ext cx="6675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СЕГМЕНТ 2 · СУХИЙ РИС ПІД ОКРІП   ·   Окріп, 5–10 хв   ·   Маса — сухого продукту   ·   привід: Офіс і гуртожиток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589520" y="1156716"/>
            <a:ext cx="395020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МЕДІАНА СЕГМЕНТА: 138 ГРН МЕДІАНА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7665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7665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438144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438144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199632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99632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961119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961119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76656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76656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438144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438144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199632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99632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961119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961119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ПООДИНОКІ БРЕНДИ · 4 БРЕНДИ, 4 ПОЗИЦІЇ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Bibigo, Clearspring, Portion, Маркел — по одній позиції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Той самий сегмент розігріву, але різні країни, ваги й канали. Gallina Blanca у правій частині — інший сегмент, рис під окріп.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bibigo_bow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20462"/>
            <a:ext cx="1493520" cy="15003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Білий рис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BIBIGO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210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135–189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64–90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Смак Кореї · Rozetka · Prom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44496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517648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clearspr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2512" y="1877766"/>
            <a:ext cx="1493520" cy="178573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3368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Brown &amp; Wild Rice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3368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CLEARSPRING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3368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252–446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3368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101–178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3368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MAUDAU · спец. магазини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5488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358640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58640" y="2660903"/>
            <a:ext cx="16032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фото немає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4360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із куркою та овочами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4360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PORTION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4360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109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4360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31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4360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Rozetka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79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199631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mk_rice35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495" y="1829441"/>
            <a:ext cx="1493520" cy="188238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45351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із соєвим м'ясом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5351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МАРКЕЛ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5351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94–96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5351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27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5351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СУХПАЙ · UPcompany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67472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040624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yt_beef8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5488" y="2023871"/>
            <a:ext cx="1493520" cy="14935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086344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Yatekomo: яловичина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86344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GALLINA BLANCA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84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86344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229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86344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273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86344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0846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88161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yt_teriyaki8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36480" y="2023871"/>
            <a:ext cx="1493520" cy="149352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2733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Yatekomo: теріякі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2733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GALLINA BLANCA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84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2733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229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27336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273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2733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5010912"/>
            <a:ext cx="10954512" cy="12984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603504" y="5010912"/>
            <a:ext cx="82296" cy="129844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4400" y="5193792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522976"/>
            <a:ext cx="1040587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Portion і Маркел — український реторт 350 г за 94–109 грн: найдешевший грам категорії, 27–31 грн за 100 г. Bibigo — той самий товар у трьох каналах, розкид 40 %. Clearspring — органіка, найдорожчий грам серед паучів. Gallina Blanca Yatekomo — 84 г сухого рису в чаші, заливається окропом.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Смак Кореї, Rozetka, Prom, MAUDAU, СУХПАЙ, UPcompany, «Товари з Іспанії» — 22–23.09.2026. Фото Portion: Rozetka не віддає зображення картки.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808" y="1156716"/>
            <a:ext cx="6675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СЕГМЕНТ 1 · ГОТОВИЙ РИС ДО РОЗІГРІВУ   ·   Мікрохвильовка 60–90 с   ·   Маса — готової страви   ·   привід: Обід поза домом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589520" y="1156716"/>
            <a:ext cx="395020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МЕДІАНА СЕГМЕНТА: 164 ГРН МЕДІАНА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76656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76656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514600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514600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361688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361688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99632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99632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037575" y="3589019"/>
            <a:ext cx="1134091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037575" y="3607307"/>
            <a:ext cx="113409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 · СЕГ. 2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884663" y="3589019"/>
            <a:ext cx="1134091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884663" y="3607307"/>
            <a:ext cx="113409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 · СЕГ.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HAIDILAO · 10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Коробка 165–360 г — лідер саморозігріву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Хімічний нагрівач у коробці: готується без мікрохвильовки й окропу.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303A5D"/>
                </a:solidFill>
                <a:latin typeface="Segoe UI"/>
              </a:rPr>
              <a:t>Haidilao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Китай · саморозігрів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коробка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380–1 190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100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230–371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hd_stewed_chicken16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5405" y="2395728"/>
            <a:ext cx="753946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Stewed Chicken*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165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380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230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Sweet Svitt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1269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88584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hd_beef_curry27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7521" y="2395728"/>
            <a:ext cx="768096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93156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карі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3156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3156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770–799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3156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283–294 грн/100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3156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188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509503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hd_beef_stew27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6712" y="2395728"/>
            <a:ext cx="768096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14075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яловичина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4075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4075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799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4075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294 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4075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3107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730422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hd_tomato_beef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0849" y="2395728"/>
            <a:ext cx="778202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4994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Томати й грудинка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4994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4994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799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49947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294 грн/100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4994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44026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951341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hd_canton187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5092" y="2395728"/>
            <a:ext cx="768096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55913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Кантонський стиль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5913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5913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680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559137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364 грн/100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913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0350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67665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hd_stew_chicken18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8331" y="4480560"/>
            <a:ext cx="768096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72237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курка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237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237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650–680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2237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348–364 грн/100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237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 · Desna · Tactico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1269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288584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hd_pork_fish18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87521" y="4480560"/>
            <a:ext cx="768096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293156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Свинина, рибний смак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3156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3156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3156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348 грн/100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3156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02188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509503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hd_teriyaki18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79025" y="4480560"/>
            <a:ext cx="803468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514075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теріякі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4075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181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4075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650–660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4075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359–365 грн/100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075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 · Шериф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23107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730422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8" name="Picture 87" descr="hd_spicy_chicken175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88721" y="4480560"/>
            <a:ext cx="802458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734994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Гострий курячий соус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4994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175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4994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349947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371 грн/100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4994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44026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951341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6" name="Picture 95" descr="hd_porkbelly360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15092" y="4480560"/>
            <a:ext cx="768096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955913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Грудинка з гірчичною зеленню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5913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360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55913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1 190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559137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331 грн/100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55913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Daruy, Tactico, Desna, Sweet Svitt, «Шериф» — 22–23.09.2026. Найдорожча упаковка категорії — 1 190 грн за 360 г. * Sweet Svitt: назва картки Stewed Chicken, на фото — рис з яловичиною та грибами.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49808" y="1156716"/>
            <a:ext cx="6675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94F7C"/>
                </a:solidFill>
                <a:latin typeface="Segoe UI"/>
              </a:rPr>
              <a:t>СЕГМЕНТ 3 · САМОРОЗІГРІВ   ·   Хімічний нагрівач, 15 хв   ·   Без техніки й окропу   ·   привід: Дорога, подарунок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589520" y="1156716"/>
            <a:ext cx="395020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МЕДІАНА СЕГМЕНТА: 735 ГРН МЕДІАНА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76656" y="3040380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76656" y="3058668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889504" y="3040380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889504" y="3058668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5093208" y="3040380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093208" y="3058668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7306055" y="3040380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7306055" y="3058668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9509759" y="3040380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509759" y="3058668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76656" y="5125212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76656" y="5143500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889504" y="5125212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889504" y="5143500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93208" y="5125212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93208" y="5143500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7306055" y="5125212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306055" y="5143500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9509759" y="5125212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509759" y="5143500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КИТАЙСЬКИЙ САМОРОЗІГРІВ · РЕШТА БРЕНДІВ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Mo Xiao Xian, Zihaiguo, Rongcheng Haoji — 4 позиції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Усі три бренди в одному магазині. Qiaoshanmei у правій частині — інший сегмент: рис у пакеті під окріп, не саморозігрів.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mx_beef_bambo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23871"/>
            <a:ext cx="1493520" cy="1493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бамбуком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MO XIAO XIAN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275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931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339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44496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517648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mx_bacon_pea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2512" y="2023871"/>
            <a:ext cx="1493520" cy="14935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3368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Бекон і горошок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3368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MO XIAO XIAN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275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3368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931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3368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339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3368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5488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358640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qs_sh_pepperbeef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3504" y="2023871"/>
            <a:ext cx="1493520" cy="14935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404360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двома перцями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4360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ZIHAIGUO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440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4360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735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4360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167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4360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79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199631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qs_sh_braisedpor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4495" y="2023871"/>
            <a:ext cx="1493520" cy="14935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45351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свинина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5351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RONGCHENG HAOJI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440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5351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735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5351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167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5351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67472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040624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qs_spicybeef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5488" y="2023871"/>
            <a:ext cx="1493520" cy="14935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086344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86344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QIAOSHANMEI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86344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501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86344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343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86344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0846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88161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qs_braisedpork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6480" y="2023871"/>
            <a:ext cx="1493520" cy="149352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2733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 по-тайванськи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2733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QIAOSHANMEI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2733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501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27336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343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2733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5010912"/>
            <a:ext cx="10954512" cy="12984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603504" y="5010912"/>
            <a:ext cx="82296" cy="129844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4400" y="5193792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522976"/>
            <a:ext cx="1040587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Zihaiguo і Rongcheng Haoji — коробка 440 г за 735 грн: 167 грн за 100 г, дешевше за грам, ніж Haidilao (230–371). Mo Xiao Xian — 931 грн за 275 г, найдорожча чаша ринку. Qiaoshanmei — не саморозігрів, а рис у пакеті під окріп, 501 грн.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Джерело: «Скарби Азії» (Prom), 23.09.2026. Бренди Zihaiguo і Rongcheng Haoji визначено за написами на упаковці, Qiaoshanmei — за карткою продавця.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808" y="1156716"/>
            <a:ext cx="6675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94F7C"/>
                </a:solidFill>
                <a:latin typeface="Segoe UI"/>
              </a:rPr>
              <a:t>СЕГМЕНТ 3 · САМОРОЗІГРІВ   ·   Хімічний нагрівач, 15 хв   ·   Без техніки й окропу   ·   привід: Дорога, подарунок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589520" y="1156716"/>
            <a:ext cx="395020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МЕДІАНА СЕГМЕНТА: 735 ГРН МЕДІАНА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76656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76656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514600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514600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361688" y="3589019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361688" y="3607307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99632" y="3589019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99632" y="3607307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037575" y="3589019"/>
            <a:ext cx="1200040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037575" y="3607307"/>
            <a:ext cx="1200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ПАКЕТ · СЕГ. 2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884663" y="3589019"/>
            <a:ext cx="1200040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884663" y="3607307"/>
            <a:ext cx="1200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ПАКЕТ · СЕГ. 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ІМПОРТНИЙ СУБЛІМАТ · 4 БРЕНДИ, 12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Travellunch, Trek'n Eat, Mountain House, Adventure Food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Німеччина, США, Нідерланди. Залити окропом на 8–10 хвилин.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tl_strog12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763" y="1828800"/>
            <a:ext cx="708034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Бефстроганов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275–515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220–412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Гайдамака · ALANTUR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81497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254649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tl_beef_pepper12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1334" y="1828800"/>
            <a:ext cx="706879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00369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0369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00369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295–515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00369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236–412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0369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Гайдамака · ALANTUR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59490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832642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tl_nasi12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9722" y="1828800"/>
            <a:ext cx="686088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78362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Nasi Goreng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78362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78362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567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78362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454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78362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37483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5410635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tl_curry12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8657" y="1828800"/>
            <a:ext cx="724204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456355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карі з рисом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56355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56355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515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56355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412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56355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15476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988628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tl_strog25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5313" y="1828800"/>
            <a:ext cx="706879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034348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Бефстроганов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34348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34348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702–811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34348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281–324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34348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ForCamp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93469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8566621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tl_beef_pepper25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3701" y="1828800"/>
            <a:ext cx="686088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612341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12341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12341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811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12341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324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12341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071462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10144614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0" name="Picture 59" descr="tl_nasi25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71695" y="1828800"/>
            <a:ext cx="686088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190334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Nasi Goreng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90334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90334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889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90334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356 грн/100 г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90334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3504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676656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te_fish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887" y="4059936"/>
            <a:ext cx="765785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22376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Риба з рисом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2376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TREK'N EAT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маса н/д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269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2376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Freeride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181497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ounded Rectangle 73"/>
          <p:cNvSpPr/>
          <p:nvPr/>
        </p:nvSpPr>
        <p:spPr>
          <a:xfrm>
            <a:off x="2254649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5" name="Picture 74" descr="te_strog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19537" y="4059936"/>
            <a:ext cx="1210473" cy="877823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2300369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Бефстроганов з рисом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300369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TREK'N EAT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маса н/д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300369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715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00369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Kamanti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759490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3832642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2" name="Picture 81" descr="mh_curry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22273" y="4059936"/>
            <a:ext cx="960986" cy="877823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3878362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Жовте карі з куркою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878362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MOUNTAIN HOUSE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878362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699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78362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635 грн/100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78362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110вольт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337483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5410635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0" name="Picture 89" descr="mh_friedrice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90359" y="4059936"/>
            <a:ext cx="780801" cy="877823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5456355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Chicken Fried Rice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456355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MOUNTAIN HOUSE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133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456355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699 грн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56355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526 грн/100 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56355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110вольт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915476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6988628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8" name="Picture 97" descr="af_curry146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292030" y="4059936"/>
            <a:ext cx="733445" cy="877823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7034348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карі з фруктами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034348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FOOD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034348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492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034348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337 грн/100 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034348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Клуб Мандрівник · ще 3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493469" y="3950208"/>
            <a:ext cx="3064546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ounded Rectangle 104"/>
          <p:cNvSpPr/>
          <p:nvPr/>
        </p:nvSpPr>
        <p:spPr>
          <a:xfrm>
            <a:off x="8493469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8804365" y="4133088"/>
            <a:ext cx="251590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804365" y="4462272"/>
            <a:ext cx="2515906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Travellunch — 7 позицій у двох вагах, 125 і 250 г, найширша імпортна лінійка. Mountain House — 699 грн за 110–133 г сухої маси, найдорожчий грам категорії. Канал — туристичні й військові магазини, у продуктовий роздріб ці бренди не йдуть.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ALANTUR, Highlander, ForCamp, Військторг Гайдамака, Freeride, Kamanti, 110вольт, Клуб Мандрівник — 22–23.09.2026.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49808" y="1156716"/>
            <a:ext cx="6675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СЕГМЕНТ 4 · СУБЛІМАЦІЯ   ·   Сушіння виморожуванням   ·   Окріп, мінімальна вага   ·   привід: Похід і армія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589520" y="1156716"/>
            <a:ext cx="395020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МЕДІАНА СЕГМЕНТА: 302 ГРН МЕДІАНА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7665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7665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225856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225856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83133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83133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41324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41324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98601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98601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856792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56792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1014069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14069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7665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7665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258568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2258568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383133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83133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413248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413248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98601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98601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ГОТОВА СТРАВА І СУБЛІМАТ · 2 БРЕНДИ, 8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Adventure Menu і SubliMate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Adventure Menu — єдиний бренд із двома технологіями: реторт 400 г і сублімат 110 г.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am_korma4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796" y="1828800"/>
            <a:ext cx="761165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Chicken Korma з рисом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376–404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35387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94–101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 · ForCamp · MK-Sport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1269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88584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am_wil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3874" y="1828800"/>
            <a:ext cx="755390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931566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в томатному соусі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31566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31566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315–356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31566" y="35387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79–89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31566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Freeride · MK-Sport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188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09503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am_meatball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6347" y="1828800"/>
            <a:ext cx="728824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140756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Фрикадельки з басматі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40756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40756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336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756" y="35387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84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40756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Лєєр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31075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7304227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am_korma11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90309" y="1828800"/>
            <a:ext cx="799281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7349947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Korma з басматі · сублімат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49947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49947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378–483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49947" y="35387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344–439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49947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Лєєр · OXO · MK · Freeride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40265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9513417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am_tikka11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97767" y="1828800"/>
            <a:ext cx="802746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9559137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Tikka Masala · сублімат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59137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59137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390–483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59137" y="35387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355–439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59137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Palmer · Лєєр · MK · Freeride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350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67665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sm_plov14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9119" y="4059936"/>
            <a:ext cx="1106520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722376" y="5010912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узбецький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2376" y="535838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SUBLIMATE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2376" y="5522976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309–310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2376" y="576986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221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2376" y="5925312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 · Суренж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81269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288584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0" name="Picture 59" descr="sm_chicken_fruit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35634" y="4059936"/>
            <a:ext cx="1071869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2931566" y="5010912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куркою і фруктами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31566" y="535838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SUBLIMATE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31566" y="5522976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290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31566" y="576986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264 грн/100 г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31566" y="5925312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Суренж · ВсеОпт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2188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509503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sm_green_curry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22879" y="4059936"/>
            <a:ext cx="1115760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140756" y="5010912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Тайське зелене карі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40756" y="535838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SUBLIMATE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120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40756" y="5522976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370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140756" y="576986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308 грн/100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140756" y="5925312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231075" y="3950208"/>
            <a:ext cx="4326940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7231075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7541971" y="4133088"/>
            <a:ext cx="37783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541971" y="4462272"/>
            <a:ext cx="3778300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Лінія Adventure Menu 400 г READY TO EAT — реторт без води, 79–101 грн за 100 г: у тому ж коридорі, що Ben's Original і Ottogi, але продається лише в туристичних магазинах. SubliMate — український сублімат, 290–370 грн за дойпак.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ALANTUR, ForCamp, MK-Sport, Freeride, Лєєр, OXO, Palmer, Highlander, ВсеОпт, Суренж — 22–23.09.2026.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49808" y="1156716"/>
            <a:ext cx="6675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СЕГМЕНТ 4 · СУБЛІМАЦІЯ   ·   Сушіння виморожуванням   ·   Окріп, мінімальна вага   ·   привід: Похід і армія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589520" y="1156716"/>
            <a:ext cx="395020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МЕДІАНА СЕГМЕНТА: 302 ГРН МЕДІАНА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76656" y="2583180"/>
            <a:ext cx="1134091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76656" y="2601468"/>
            <a:ext cx="113409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 · СЕГ. 1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2889504" y="2583180"/>
            <a:ext cx="1134091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889504" y="2601468"/>
            <a:ext cx="113409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 · СЕГ. 1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5093208" y="2583180"/>
            <a:ext cx="1134091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093208" y="2601468"/>
            <a:ext cx="113409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 · СЕГ. 1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306055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306055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9509759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509759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7665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7665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889504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889504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5093208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093208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УКРАЇНСЬКИЙ СУБЛІМАТ · 4 БРЕНДИ, 11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James Cook, Їжа в Похід, Харчі, !FEST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Усе українське виробництво категорії. Канал — outdoor- і мілітарі-рітейл.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jc_meatve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903" y="1828800"/>
            <a:ext cx="1033753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м'ясом та овочами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83–138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92–153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 · Klever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81497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254649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jc_curr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7897" y="1828800"/>
            <a:ext cx="1033753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00369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Карі з рисом та куркою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0369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00369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133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00369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148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0369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Activity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59490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832642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jc_mashkichir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1270" y="1828800"/>
            <a:ext cx="1042993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78362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Машкічірі: рис з бобами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78362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78362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156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78362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195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78362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Terra Incognita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37483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5410635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jc_veg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90449" y="1828800"/>
            <a:ext cx="980621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456355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овочами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56355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56355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55–81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56355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61–90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56355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15476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988628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yp_chicken8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7197" y="1828800"/>
            <a:ext cx="783111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034348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куркою та овочами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34348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ЇЖА В ПОХІД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34348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145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34348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171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34348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93469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8566621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yp_veg8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40570" y="1828800"/>
            <a:ext cx="792351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612341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овочами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12341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ЇЖА В ПОХІД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12341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130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12341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153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12341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071462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10144614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0" name="Picture 59" descr="kh_pork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46861" y="1828800"/>
            <a:ext cx="735755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190334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зі свининою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90334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90334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120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90334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141 грн/100 г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90334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Харчі ТМ · Висот-Нік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3504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676656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kh_ricemeat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5437" y="4059936"/>
            <a:ext cx="742685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22376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Рисова каша з м'ясом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2376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120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2376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141 грн/100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2376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181497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2254649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6" name="Picture 75" descr="kh_kichri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56896" y="4059936"/>
            <a:ext cx="735755" cy="877823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2300369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Кічрі: боби з рисом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300369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00369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83 грн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300369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98 грн/100 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00369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Висот-Нік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759490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3832642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4" name="Picture 83" descr="kh_plovxl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914855" y="4059936"/>
            <a:ext cx="1175822" cy="877823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3878362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XL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78362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100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78362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321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878362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321 грн/100 г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78362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8 продавців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337483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ounded Rectangle 90"/>
          <p:cNvSpPr/>
          <p:nvPr/>
        </p:nvSpPr>
        <p:spPr>
          <a:xfrm>
            <a:off x="5410635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2" name="Picture 91" descr="fest_plov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55708" y="4059936"/>
            <a:ext cx="850103" cy="877823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5456355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56355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!FEST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100 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56355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133–140 грн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56355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133–140 грн/100 г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456355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SportStorm · Kalush-Craft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915476" y="3950208"/>
            <a:ext cx="4642539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6915476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7226372" y="4133088"/>
            <a:ext cx="409389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226372" y="4462272"/>
            <a:ext cx="4093899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Українські сублімати — 55–321 грн за упаковку, імпортні — 269–889 грн. James Cook — 4 рисові позиції, найширша українська лінійка. Українське виробництво в категорії є, але воно цілком у туристичному каналі.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Highlander, Activity, ВсеОпт, Klever-Shop, Terra Incognita, «Їжа в Похід», Харчі ТМ, Висот-Нік, SportStorm, Kalush-Craft — 22–23.09.2026.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49808" y="1156716"/>
            <a:ext cx="6675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СЕГМЕНТ 4 · СУБЛІМАЦІЯ   ·   Сушіння виморожуванням   ·   Окріп, мінімальна вага   ·   привід: Похід і армія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589520" y="1156716"/>
            <a:ext cx="395020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МЕДІАНА СЕГМЕНТА: 302 ГРН МЕДІАНА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7665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7665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25856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25856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83133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83133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41324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41324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98601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98601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856792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56792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014069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14069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7665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7665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2258568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2258568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383133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383133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413248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413248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ЩО СТОЇТЬ У МЕРЕЖІ ЗАМІСТЬ НАС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Рис із м'ясом є на полиці — але в бляшанці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Мережі не мають пауча з готовим рисом, зате мають суміжну категорію за 63–160 грн.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ch_hapay_r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810512"/>
            <a:ext cx="950975" cy="138988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зі свининою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HAPAY!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63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18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50592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523744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ch_lappetit_por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1810512"/>
            <a:ext cx="987551" cy="138988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9464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зі свининою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9464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L'APPETIT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9464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120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9464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35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9464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370832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ch_lappetit_beef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3732" y="1810512"/>
            <a:ext cx="923543" cy="1389887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416552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 яловичиною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6552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L'APPETIT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6552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126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6552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37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6552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44768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217920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ch_hapay_plov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5100" y="1810512"/>
            <a:ext cx="1014983" cy="1389887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63640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качки та булгуру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HAPAY!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117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91856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065008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ch_foodfabrika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2099287"/>
            <a:ext cx="1499616" cy="81233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110728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куркою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0728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FOOD FABRIKA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0728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119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10728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48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10728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Восторг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38944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912096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ch_myastoria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66960" y="1951661"/>
            <a:ext cx="1499616" cy="110758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57816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куркою та родзинками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57816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М'ЯСТОРІЯ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57816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147–160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57816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42–46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57816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Novus · МегаМаркет · Космос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4535424"/>
            <a:ext cx="5358384" cy="17556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603504" y="4535424"/>
            <a:ext cx="82296" cy="175564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4400" y="4718304"/>
            <a:ext cx="48097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Чому це важливо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047488"/>
            <a:ext cx="480974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Це прямий конкурент за той самий привід: гаряча страва з рисом і м'ясом без готування. Він уже стоїть на полиці, коштує 63–160 грн за 250–350 г і має українського виробника.
Пауч із готовим рисом заходить у той самий гаманець, тож орієнтир ціни — не Ottogi за 255 грн, а ця полиця.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199632" y="4535424"/>
            <a:ext cx="5358384" cy="175564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455664" y="4700016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Порівняння за 100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55664" y="4992624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Каша рисова hapay! 340 г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650224" y="5038344"/>
            <a:ext cx="461356" cy="118872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184732" y="4983480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37A169"/>
                </a:solidFill>
                <a:latin typeface="Segoe UI"/>
              </a:rPr>
              <a:t>18,5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55664" y="5230368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Плов Food Fabrika 250 г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650224" y="5276088"/>
            <a:ext cx="1187057" cy="11887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9910433" y="5221224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7B5EA7"/>
                </a:solidFill>
                <a:latin typeface="Segoe UI"/>
              </a:rPr>
              <a:t>47,6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55664" y="5468112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Ben's Original, медіана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650224" y="5513831"/>
            <a:ext cx="1022465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9745841" y="5458968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F9A50B"/>
                </a:solidFill>
                <a:latin typeface="Segoe UI"/>
              </a:rPr>
              <a:t>41,0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55664" y="5705855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Плов М'ясторія 350 г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650224" y="5751575"/>
            <a:ext cx="1139674" cy="11887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9863050" y="5696712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45,7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55664" y="5943599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Ottogi, медіана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650224" y="5989319"/>
            <a:ext cx="2194560" cy="118872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0917936" y="5934455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5B6B8C"/>
                </a:solidFill>
                <a:latin typeface="Segoe UI"/>
              </a:rPr>
              <a:t>88,0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Джерело: API 17 мереж zakaz.ua, 23.09.2026. Ці 6 позицій — суміжна категорія, у 84 позицій дослідження вони не входять. Охолоджені страви й кулінарію мереж не показано: у них термін 2–5 діб.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РИТЕЙЛ-АУДИТ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Що з готового рису реально стоїть у мережах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Суцільна перевірка каталогів Ашан, Сільпо, METRO, NOVUS, МегаМаркет, Ultramarket, ЕКО маркет, Epicentr, Космос — 28.09.2026.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17904"/>
            <a:ext cx="41148" cy="17373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31619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ЗБЕРІГАННЯ ПРИ КІМНАТНІЙ · НАШ СЕТ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531619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12 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755648"/>
            <a:ext cx="24871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1755648"/>
            <a:ext cx="3383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ЩО САМЕ СТОЇТЬ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1755648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35824" y="1755648"/>
            <a:ext cx="4389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4736" y="1755648"/>
            <a:ext cx="10241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ГРН/УП.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8864" y="1755648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04704" y="1755648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1938528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54096" y="1938528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Ben's Original / Uncle Ben's Express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7376" y="1938528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4820A"/>
                </a:solidFill>
                <a:latin typeface="Segoe UI"/>
              </a:rPr>
              <a:t>пауч 220–250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35824" y="1938528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74736" y="1938528"/>
            <a:ext cx="1024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90–179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4" y="193852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36–81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04704" y="1938528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Mars · ЄС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" y="2121408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153412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54096" y="2153412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The Local Food по-тайськи з куркою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37376" y="2153412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4820A"/>
                </a:solidFill>
                <a:latin typeface="Segoe UI"/>
              </a:rPr>
              <a:t>лоток 350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35824" y="2153412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74736" y="2153412"/>
            <a:ext cx="1024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207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98864" y="215341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59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04704" y="2153412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2487168"/>
            <a:ext cx="41148" cy="17373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2500884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ОХОЛОДЖЕНА КУЛІНАРІЯ · 2–5 ДІБ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2500884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11 SKU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2724911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Ашан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54096" y="2724911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«Легко!» рис з овочами та курячим фрікасе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37376" y="2724911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лоток 280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35824" y="2724911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74736" y="2724911"/>
            <a:ext cx="1024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98864" y="2724911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40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04704" y="2724911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3776" y="2907791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2939795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54096" y="2939795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«Чіл Міл» рис паровий · рис з яйцем і овочами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37376" y="2939795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лоток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35824" y="2939795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74736" y="2939795"/>
            <a:ext cx="1024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98864" y="2939795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04704" y="2939795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154679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54096" y="3154679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Боули з рисом · теріякі · рис по-китайськи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37376" y="3154679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кулінарія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35824" y="3154679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74736" y="3154679"/>
            <a:ext cx="1024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139–439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98864" y="3154679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04704" y="3154679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3776" y="3337559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3369563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NOVUS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054096" y="3369563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«Майстри Смаку» рис з овочами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37376" y="3369563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кулінарія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35824" y="3369563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74736" y="3369563"/>
            <a:ext cx="1024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299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98864" y="3369563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204704" y="3369563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3584447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054096" y="3584447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Рис японський з овочами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37376" y="3584447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кулінарія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735824" y="3584447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74736" y="3584447"/>
            <a:ext cx="1024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366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98864" y="3584447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204704" y="3584447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3918203"/>
            <a:ext cx="41148" cy="17373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13232" y="3931919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СУМІШ ПІД ВАРІННЯ · НЕ ГОТОВИЙ ПРОДУКТ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15200" y="3931919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3 SKU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6928" y="4155947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Ашан · NOVUS · МегаМаркет · Сільпо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054096" y="4155947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«Жменька» Tasty Mix басматі з овочами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37376" y="4155947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5D4B96"/>
                </a:solidFill>
                <a:latin typeface="Segoe UI"/>
              </a:rPr>
              <a:t>пакет 200 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735824" y="4155947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74736" y="4155947"/>
            <a:ext cx="1024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89–92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198864" y="4155947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45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204704" y="4155947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93776" y="4338827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66928" y="4370831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NOVUS · Сільпо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54096" y="4370831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Trapeza басматі з карі по-індійськи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437376" y="4370831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5D4B96"/>
                </a:solidFill>
                <a:latin typeface="Segoe UI"/>
              </a:rPr>
              <a:t>пакет 250 г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735824" y="4370831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174736" y="4370831"/>
            <a:ext cx="1024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59–85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198864" y="4370831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24–34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204704" y="4370831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66928" y="4585716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054096" y="4585716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«Зерновита» рис з овочами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437376" y="4585716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5D4B96"/>
                </a:solidFill>
                <a:latin typeface="Segoe UI"/>
              </a:rPr>
              <a:t>пакет 500 г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735824" y="4585716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174736" y="4585716"/>
            <a:ext cx="1024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78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198864" y="458571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204704" y="4585716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6928" y="4919472"/>
            <a:ext cx="41148" cy="17373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13232" y="4933188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315200" y="4933188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0 SKU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66928" y="5157216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METRO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054096" y="5157216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готового рису немає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437376" y="5157216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735824" y="5157216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174736" y="5157216"/>
            <a:ext cx="1024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198864" y="515721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04704" y="5157216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лише крупа 1–10 кг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566928" y="5138928"/>
            <a:ext cx="5413248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138928"/>
            <a:ext cx="41148" cy="100584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294376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4820A"/>
                </a:solidFill>
                <a:latin typeface="Segoe UI"/>
              </a:rPr>
              <a:t>AMBIENT-ПОЛИЦЯ — ЦЕ 12 SKU НА ВСЮ КРАЇНУ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559552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11 із них — Ben's Original у «Сільпо». Єдина інша позиція: український лоток The Local Food по-тайськи 350 г за 207 грн у МегаМаркеті.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217920" y="5138928"/>
            <a:ext cx="5413248" cy="1005840"/>
          </a:xfrm>
          <a:prstGeom prst="roundRect">
            <a:avLst>
              <a:gd name="adj" fmla="val 6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217920" y="5138928"/>
            <a:ext cx="41148" cy="100584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455664" y="5294376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9FA9C4"/>
                </a:solidFill>
                <a:latin typeface="Segoe UI"/>
              </a:rPr>
              <a:t>METRO — НУЛЬ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455664" y="5559552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Cash&amp;Carry тримає лише крупу 1–10 кг під власними марками Metro Chef і Aro. Формат обслуговує HoReCa, не кінцевого покупця.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Джерело: відкритий каталожний API zakaz.ua (Ашан, METRO, NOVUS, МегаМаркет, Ultramarket, ЕКО маркет, Epicentr, Космос) та sf-ecom-api.silpo.ua — 28.09.2026. Фоззі Cash&amp;Carry перевірити не вдалося: каталог закритий ботозахистом.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АЗІЙСЬКИЙ ФОРМАТ У МЕРЕЖАХ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Дистрибуція вже є — рису в ній немає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Скільки позицій кожного азійського бренду вже стоїть у національних мережах.</a:t>
            </a:r>
          </a:p>
        </p:txBody>
      </p:sp>
      <p:pic>
        <p:nvPicPr>
          <p:cNvPr id="10" name="Picture 9" descr="c8_asian_shel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17904"/>
            <a:ext cx="11064240" cy="399992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773168"/>
            <a:ext cx="3547872" cy="137160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773168"/>
            <a:ext cx="41148" cy="137160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928616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БАР'ЄР — НЕ ДИСТРИБУЦІЯ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5193792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Ottogi має 14 позицій у трьох мережах, Bibigo — 6 в «Ашані». Імпортер, лістинг, полиця й логістика під ці бренди вже існують.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4773168"/>
            <a:ext cx="3547872" cy="137160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25112" y="4773168"/>
            <a:ext cx="41148" cy="137160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6" y="4928616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4820A"/>
                </a:solidFill>
                <a:latin typeface="Segoe UI"/>
              </a:rPr>
              <a:t>НІХТО ПРОСТО НЕ ЗАВІЗ РИС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5193792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Ті самі Ottogi і Bibigo продають чаші з рисом по 225–356 грн — але лише в азійських фудшопах. У мережу зайшла тільки локшина.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4773168"/>
            <a:ext cx="3547872" cy="137160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3296" y="4773168"/>
            <a:ext cx="41148" cy="137160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928616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94F7C"/>
                </a:solidFill>
                <a:latin typeface="Segoe UI"/>
              </a:rPr>
              <a:t>ВІКНО МОЖЕ БУТИ КОРОТКИМ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5193792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Імпортер Ottogi додасть рисові SKU до наявного лістингу швидше, ніж ми збудуємо свій з нуля. Це аргумент заходити зараз.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Підрахунок позицій за відкритими каталогами мереж, 28.09.2026. Ураховано позиції, де назва бренду є в назві товару. «З них рис» — жодної позиції готового чи сирого рису під цими брендами в жодній із перевірених мереж.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КАНАЛИ ПРОДАЖУ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Де продається категорія і кому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Дві осі: точка продажу і покупець, який у неї приходить. Вони не збігаються.</a:t>
            </a:r>
          </a:p>
        </p:txBody>
      </p:sp>
      <p:pic>
        <p:nvPicPr>
          <p:cNvPr id="10" name="Picture 9" descr="c5_chann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17904"/>
            <a:ext cx="5029200" cy="189652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870448" y="1554480"/>
            <a:ext cx="5760720" cy="93268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70448" y="1554480"/>
            <a:ext cx="41148" cy="932688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9904" y="1664207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Продуктовий роздріб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12680" y="1682495"/>
            <a:ext cx="923544" cy="18288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12680" y="1693468"/>
            <a:ext cx="9235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9904" y="1874519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C94F7C"/>
                </a:solidFill>
                <a:latin typeface="Segoe UI"/>
              </a:rPr>
              <a:t>МЕРЕЖІ НАЦІОНАЛЬНОГО ПОКРИТТЯ  ·  3 МЕРЕЖІ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9904" y="2057400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Сільпо · МегаМаркет · Ultramarket. Решта 14 перевірених мереж категорії не мають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9904" y="2313432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Масовий покупець · щоденне харчування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70448" y="2569464"/>
            <a:ext cx="5760720" cy="93268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70448" y="2569464"/>
            <a:ext cx="41148" cy="93268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9904" y="267919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Онлайн-маркетплейси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12680" y="2697480"/>
            <a:ext cx="923544" cy="182880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12680" y="2708452"/>
            <a:ext cx="9235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9904" y="2889504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C4820A"/>
                </a:solidFill>
                <a:latin typeface="Segoe UI"/>
              </a:rPr>
              <a:t>УНІВЕРСАЛЬНІ МАЙДАНЧИКИ  ·  3 МАЙДАНЧИКИ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9904" y="3072384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MAUDAU · Rozetka · Prom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9904" y="3328416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Масовий покупець · плановане замовлення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70448" y="3584448"/>
            <a:ext cx="5760720" cy="128016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870448" y="3584448"/>
            <a:ext cx="41148" cy="12801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9904" y="369417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Спеціалізований фудрітейл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12680" y="3712463"/>
            <a:ext cx="1275588" cy="18288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12680" y="3723436"/>
            <a:ext cx="12755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 · ВХІД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9904" y="3904487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1E9EA6"/>
                </a:solidFill>
                <a:latin typeface="Segoe UI"/>
              </a:rPr>
              <a:t>АЗІЙСЬКІ ТА ЕТНІЧНІ МАГАЗИНИ  ·  20 МАГАЗИНІВ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9904" y="4087368"/>
            <a:ext cx="5394960" cy="603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Смак Кореї · Тайякі Март · Pulsar · Апетітаріум · Gurmissimo · Edison Lee · OMG! Asia · СНЕКІС · DCM · Скарби Азії · AsiaStyle · ASIA FOODS · Wèi Māo · AsianFoods · Asia Goods Store · SushiPovar · KladezGroup · Sweet Svitt · Товари з Іспанії · Asia Foods Trade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9904" y="4690872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Покупець азійської кухні · знає категорію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870448" y="4946904"/>
            <a:ext cx="5760720" cy="113385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870448" y="4946904"/>
            <a:ext cx="41148" cy="113385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9904" y="505663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Outdoor- і мілітарі-рітейл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12680" y="5074920"/>
            <a:ext cx="973836" cy="182880"/>
          </a:xfrm>
          <a:prstGeom prst="roundRect">
            <a:avLst>
              <a:gd name="adj" fmla="val 50000"/>
            </a:avLst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12680" y="5085892"/>
            <a:ext cx="97383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НЕ НАШ ПОКУПЕЦЬ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9904" y="5266944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9FA9C4"/>
                </a:solidFill>
                <a:latin typeface="Segoe UI"/>
              </a:rPr>
              <a:t>ТУРИСТИЧНІ ТА ВІЙСЬКОВІ МАГАЗИНИ  ·  40 МАГАЗИНІВ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9904" y="5449824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ALANTUR · Highlander · ForCamp · Гайдамака · Freeride · MK-Sport · Daruy · Tactico · Лєєр · Activity та ще ~30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89904" y="5907024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Турист і військовий · автономне харчування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3931920"/>
            <a:ext cx="5029200" cy="2148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3931920"/>
            <a:ext cx="41148" cy="214884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4672" y="408736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КАНАЛ І ПОКУПЕЦЬ — РІЗНІ ОСІ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672" y="4352544"/>
            <a:ext cx="457200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Outdoor- і мілітарі-рітейл дає 40 із 66 точок продажу, але це не наш канал: туди приходять по автономне харчування в дорогу, а не по обід.
Саме тому 30 із 84 позицій категорії — сублімат у дойпаку. Він домінує за кількістю SKU й не конкурує з нами за привід споживання.
Наш вхід — 20 азійських фудшопів: там уже стоять Ottogi і Henan, прямі конкуренти нашого стакана, і там покупець знає категорію.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Точки продажу за картками продавців і каталогами магазинів, 22–23.09.2026. Outdoor- і мілітарі-рітейл: 40 точок, поіменно наведено 10 найбільших. Агрегатори zakaz.ua і GoToShop у підрахунок точок продажу не входять.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ВИСНОВКИ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Що показало дослідження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Чотири факти про ринок і три питання, на які дані відповіді не дають.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00784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84708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1. Ринок є, полиці немає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139696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182 т імпорту і 84 позицій у продажу — але 73 із них живуть лише онлайн. Мережеву дистрибуцію має один бренд.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00784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199632" y="1700784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73952" y="184708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2. Вікно ціни — 45–180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139696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Стільки коштує упаковка, яку покупець бере в мережі. Усе, що дорожче 250 грн, продається поштучно в нішевих магазинах.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" y="2962656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03504" y="2962656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77824" y="3108960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3. Формат — пауч 220–250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3401568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16 позицій у цьому вікні, медіана 109 грн. Чаша дорожча вдвічі, коробка з нагрівачем — усемеро.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962656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199632" y="2962656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73952" y="3108960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4. Українського пауча немає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3401568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16 українських позицій — це консерви й сублімати для туризму. Готового рису в паучі під мікрохвильовку не робить ніхто.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" y="4334256"/>
            <a:ext cx="10954512" cy="159105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03504" y="4334256"/>
            <a:ext cx="82296" cy="15910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" y="4517136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Чого дані не показують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846320"/>
            <a:ext cx="10405872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1. Продажів. Ні мережі, ні маркетплейси не віддають обсяги. Ємність роздрібу на слайді 03 — оцінка за імпортом, а не заміряний продаж.
2. Хто імпортер. У картках продавців імпортера не вказано; Prom показує лише продавця. Точний перелік дасть лише вивантаження Держмитслужби за УКТЗЕД 1904 90 10.
3. Оборотності на полиці «Сільпо». Скільки Ben's Original реально продає за місяць — без даних мережі не порахувати.
Наступний крок, який закриє 1 і 2: замовити митну базу за 1904 90 10 за 2024–2025 рр. і запитати в «Сільпо» дані про категорію.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Дослідження: 84 позиції, 23 бренди, 56 продавців, 17 мереж. Зріз 22–23 вересня 2026 р.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F9A50B"/>
                </a:solidFill>
                <a:latin typeface="Segoe UI"/>
              </a:rPr>
              <a:t>ПОЗИЦІОНУВАННЯ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42032"/>
            <a:ext cx="96926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Де ми стоїмо
і що заводити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41648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B9C2DA"/>
                </a:solidFill>
                <a:latin typeface="Segoe UI"/>
              </a:rPr>
              <a:t>Зіставлення фінансової моделі з полицею, рекомендація формату й ціни, цільовий FOB.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НАШИХ SKU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ТОВАРНИХ ГРУП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ПОСТАЧАЛЬНИКІВ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СЦЕНАРІЇВ ЦІНИ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Шість висновків, які визначають рішення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Що дає зіставлення ринкового зрізу з нашою фінансовою моделлю.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НАША НАЙДЕШЕВША ПОЛИЦЯ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C4820A"/>
                </a:solidFill>
                <a:latin typeface="Segoe UI"/>
              </a:rPr>
              <a:t>133 грн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BSCM пауч 150 г.
Медіана пауча — 109 грн.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РОЗРИВ ДО МЕДІАНИ ПАУЧА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C94F7C"/>
                </a:solidFill>
                <a:latin typeface="Segoe UI"/>
              </a:rPr>
              <a:t>+22 %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Дешевше за нас у мережі
не буде без зміни FOB.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36992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НАШ НАЙКРАЩИЙ ФОРМАТ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E9EA6"/>
                </a:solidFill>
                <a:latin typeface="Segoe UI"/>
              </a:rPr>
              <a:t>стакан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BSCM 150 г — 139 грн проти
Ottogi 225–356 грн.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ПОТЕНЦІАЛ 40′ FCL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37A169"/>
                </a:solidFill>
                <a:latin typeface="Segoe UI"/>
              </a:rPr>
              <a:t>−12 %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Собівартість і полиця
падають лише від логістики.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SKU ПОЗА РИНКОМ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5D4B96"/>
                </a:solidFill>
                <a:latin typeface="Segoe UI"/>
              </a:rPr>
              <a:t>2 з 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ONE'S Fried Rice 332 грн
і подвійний стакан 219 грн.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36992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ЦІЛЬОВА ПОЛИЦЯ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F9A50B"/>
                </a:solidFill>
                <a:latin typeface="Segoe UI"/>
              </a:rPr>
              <a:t>129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Стакан BSCM 150 г.
Потрібен FOB $0,480.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389120"/>
            <a:ext cx="5413248" cy="17830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389120"/>
            <a:ext cx="41148" cy="17830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54456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ЩО РОБИТИ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4809744"/>
            <a:ext cx="4956048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1. Заводити азійський формат — стакан BSCM 150 г. Це єдина наша позиція, що б'є прямого конкурента ціною: −38 % до медіани Ottogi.
2. Пауч 240 г у мережу не заходить проти Ben's Original без FOB ≤ $0,405.
3. ONE'S Fried Rice 200 г — перерахувати або зняти: 166 грн за 100 г.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4389120"/>
            <a:ext cx="5413248" cy="1783080"/>
          </a:xfrm>
          <a:prstGeom prst="roundRect">
            <a:avLst>
              <a:gd name="adj" fmla="val 6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920" y="4389120"/>
            <a:ext cx="41148" cy="178308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454456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9FA9C4"/>
                </a:solidFill>
                <a:latin typeface="Segoe UI"/>
              </a:rPr>
              <a:t>НА ЧОМУ ТРИМАЄТЬСЯ ВИСНОВОК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4809744"/>
            <a:ext cx="4956048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1. Полиця рахується як собівартість × 3,5 за поточних умов: бонус мережі 25 %, цільова маржа 35 %, націнка мережі 1,40.
2. Ринкові ціни — роздріб за одну упаковку в 64 точках продажу, зріз 22–23.09.2026.
3. Азійський стакан — єдиний наш формат, що входить дешевше за діючого лідера ніші.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Eurostat Comext (CN 1904 90 10), 17 мереж zakaz.ua, «Сільпо», Prom, Rozetka, MAUDAU, спеціалізовані фудшопи — 22–23.09.2026 · RICE_PRICING_Slelf_.xlsx · RTE_Rice_Suppliers.pptx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Де ми стоїмо: від найдешевшої до найдорожчої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Усі ринкові якорі й усі сім наших товарних груп на одній шкалі. Помаранчеве — ми.</a:t>
            </a:r>
          </a:p>
        </p:txBody>
      </p:sp>
      <p:pic>
        <p:nvPicPr>
          <p:cNvPr id="10" name="Picture 9" descr="c3_p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44752"/>
            <a:ext cx="7635240" cy="359704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430768" y="1481328"/>
            <a:ext cx="3200400" cy="148132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30768" y="1481328"/>
            <a:ext cx="41148" cy="148132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1636776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37A169"/>
                </a:solidFill>
                <a:latin typeface="Segoe UI"/>
              </a:rPr>
              <a:t>МИ В ВІКНІ ПОЛИЦІ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68512" y="1901952"/>
            <a:ext cx="274320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Шість із семи наших груп потрапляють у вікно 45–180 грн, у якому покупець реально бере товар у мережі.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30768" y="3090672"/>
            <a:ext cx="3200400" cy="15727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30768" y="3090672"/>
            <a:ext cx="41148" cy="1572768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8512" y="3246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94F7C"/>
                </a:solidFill>
                <a:latin typeface="Segoe UI"/>
              </a:rPr>
              <a:t>АЛЕ НЕ В ЙОГО НИЗУ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68512" y="3511296"/>
            <a:ext cx="27432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Наш найдешевший SKU — 133 грн. Медіана пауча — 109 грн, Ben's Original — 90 грн. За ціною входу ми в верхній третині вікна.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4791456"/>
            <a:ext cx="3200400" cy="1353312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30768" y="4791456"/>
            <a:ext cx="41148" cy="135331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68512" y="4946904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5D4B96"/>
                </a:solidFill>
                <a:latin typeface="Segoe UI"/>
              </a:rPr>
              <a:t>ДВІ ГРУПИ ВИПАЛИ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68512" y="5212080"/>
            <a:ext cx="27432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Подвійний стакан 219 грн і ONE'S Fried Rice 332 грн — вище стелі мережевої полиці.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Наша полиця розрахована за фінмоделлю: 20′ FCL навалом, курс 45 грн/$, бонус мережі 25 %, цільова маржа 35 %, націнка мережі 1,40. Для кожної групи показано найдешевший SKU.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ЦІНА ЗА 100 ГРАМІВ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Головна перевірка: скільки коштує грам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Ціна за упаковку приховує вагу. За грам картина інша — і вона для нас гірша.</a:t>
            </a:r>
          </a:p>
        </p:txBody>
      </p:sp>
      <p:pic>
        <p:nvPicPr>
          <p:cNvPr id="10" name="Picture 9" descr="c2_lad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11064240" cy="425749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892040"/>
            <a:ext cx="5413248" cy="129844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892040"/>
            <a:ext cx="41148" cy="1298448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504748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94F7C"/>
                </a:solidFill>
                <a:latin typeface="Segoe UI"/>
              </a:rPr>
              <a:t>ЖОДНОГО НАШОГО SKU У ВІКНІ ПОЛИЦІ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5312664"/>
            <a:ext cx="4956048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Вікно 18–50 грн за 100 г тримають Ben's Original (41), суміжна консерва (40) і медіана пауча (44). Наш найкращий показник — 65 грн у BSCM пауч 240 г. Це +59 % до медіани категорії.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892040"/>
            <a:ext cx="5413248" cy="129844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4892040"/>
            <a:ext cx="41148" cy="129844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504748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ЧОМУ ЦЕ НЕ ВИРОК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5312664"/>
            <a:ext cx="4956048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За грам ми програємо, за упаковку — ні. Покупець у мережі порівнює цінник, а не грн/100 г. Але категорійний менеджер дивиться саме на грн/100 г — і це буде головне заперечення на переговорах.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Медіани за 100 г розраховані як медіана ціни формату / медіану ваги формату; для брендів — із карток продавців. Наші значення — за поточною фінмоделлю, 20′ FCL навалом.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ФІНМОДЕЛЬ ПРОТИ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Скільки коштує кожен наш формат на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Полиця = собівартість × 3,5 за поточних умов. Вертикальні лінії — ринкові цілі.</a:t>
            </a:r>
          </a:p>
        </p:txBody>
      </p:sp>
      <p:pic>
        <p:nvPicPr>
          <p:cNvPr id="10" name="Picture 9" descr="c4_fo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63040"/>
            <a:ext cx="7635240" cy="259353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430768" y="1481328"/>
            <a:ext cx="3200400" cy="278892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13648" y="1627632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9A50B"/>
                </a:solidFill>
                <a:latin typeface="Segoe UI"/>
              </a:rPr>
              <a:t>ЯКИЙ FOB ПОТРІБЕН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13648" y="1819656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717890"/>
                </a:solidFill>
                <a:latin typeface="Segoe UI"/>
              </a:rPr>
              <a:t>ЦІЛЬ / 20′ FCL / 40′ FCL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3648" y="2066543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Медіана пауча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3648" y="2208275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109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2084831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$0,405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63072" y="2084831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$0,452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3648" y="2487168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Ben's медіана @240 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13648" y="2628899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98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2505456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$0,366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63072" y="2505456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$0,408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13648" y="2907791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Полиця 129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13648" y="3049523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129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2926079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63072" y="2926079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$0,535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13648" y="3328415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Паритет Bibigo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13648" y="3470147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162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3346703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$0,602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63072" y="3346703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$0,672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13648" y="3749039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Ottogi −22 %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13648" y="3890772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199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49840" y="3767327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$0,740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63072" y="3767327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$0,826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30768" y="4434840"/>
            <a:ext cx="3200400" cy="1719072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430768" y="4434840"/>
            <a:ext cx="41148" cy="171907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59028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ФОРМУЛА ПЕРЕГОВОРІВ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68512" y="4855464"/>
            <a:ext cx="2743200" cy="1170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полиця = FOB × 268,9  (20′ FCL)
полиця = FOB × 241,1  (40′ FCL)
Кожні $0,10 зниження FOB знімають 27 грн з полиці.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Перехідний коефіцієнт FOB → собівартість (1,7074 для 20′ FCL і 1,5306 для 40′ FCL) виведено з даних RTE_Rice_Suppliers для BSCM Jasmine 240 г і перевірено на решті BSCM і CM Premium. FOB ONE'S у пропозиції не вказаний — $1,238 і $0,571 це ОЦІНКА за тим самим коефіцієнтом.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F9A50B"/>
                </a:solidFill>
                <a:latin typeface="Segoe UI"/>
              </a:rPr>
              <a:t>ПОСТАЧАЛЬНИКИ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42032"/>
            <a:ext cx="96926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Хто виробляє
і скільки це коштує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41648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B9C2DA"/>
                </a:solidFill>
                <a:latin typeface="Segoe UI"/>
              </a:rPr>
              <a:t>Профілі трьох постачальників в обоймі та собівартість кожного SKU за чотирма схемами поставки.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ПОСТАЧАЛЬНИКІВ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ФОРМАТІВ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SKU З ЦІНОЮ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32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СХЕМ ПОСТАВКИ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62" name="Rectangle 6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CCD19144-9505-47D6-9275-6089C661FC3E}"/>
              </a:ext>
            </a:extLst>
          </p:cNvPr>
          <p:cNvSpPr>
            <a:spLocks noGrp="1"/>
          </p:cNvSpPr>
          <p:nvPr/>
        </p:nvSpPr>
        <p:spPr>
          <a:xfrm>
            <a:off x="2304288" y="310896"/>
            <a:ext cx="676656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b="1" spc="260" dirty="0">
                <a:solidFill>
                  <a:srgbClr val="FFC95C"/>
                </a:solidFill>
                <a:latin typeface="Calibri"/>
                <a:ea typeface="Calibri"/>
                <a:cs typeface="Calibri"/>
              </a:rPr>
              <a:t>ПОСТАЧАЛЬНИК 1</a:t>
            </a:r>
            <a:endParaRPr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A44E652-7531-4B42-A2E4-24C4B8731333}"/>
              </a:ext>
            </a:extLst>
          </p:cNvPr>
          <p:cNvSpPr>
            <a:spLocks noGrp="1"/>
          </p:cNvSpPr>
          <p:nvPr/>
        </p:nvSpPr>
        <p:spPr>
          <a:xfrm>
            <a:off x="2304288" y="548640"/>
            <a:ext cx="804672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CM Premium Rice — профіль компанії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23ADB82-A208-4FF8-8484-E70CE2076607}"/>
              </a:ext>
            </a:extLst>
          </p:cNvPr>
          <p:cNvSpPr>
            <a:spLocks noGrp="1"/>
          </p:cNvSpPr>
          <p:nvPr/>
        </p:nvSpPr>
        <p:spPr>
          <a:xfrm>
            <a:off x="603504" y="125272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i="1">
                <a:solidFill>
                  <a:srgbClr val="717890"/>
                </a:solidFill>
                <a:latin typeface="Calibri"/>
                <a:ea typeface="Calibri"/>
                <a:cs typeface="Calibri"/>
              </a:rPr>
              <a:t>Виробник органічного рису та готових страв, бренди Q Rice · Golden Phoenix · Chefrey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901CC53-360D-4866-8073-8A9412E5D929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FC212FD-4906-4748-A36F-7D4284B1BC29}"/>
              </a:ext>
            </a:extLst>
          </p:cNvPr>
          <p:cNvSpPr>
            <a:spLocks noGrp="1"/>
          </p:cNvSpPr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3820750-8730-426F-96FA-819EACDEEADD}"/>
              </a:ext>
            </a:extLst>
          </p:cNvPr>
          <p:cNvSpPr>
            <a:spLocks noGrp="1"/>
          </p:cNvSpPr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CM Premium Rice Co., Ltd. — тайський переробник рису з власними елеваторами та лінією фасування у Nakhon Ratchasima. Працює під брендами Q Rice, Golden Phoenix і Chefrey; 99% сировини — тайського походження.</a:t>
            </a:r>
            <a:endParaRPr sz="12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737FF36-89C7-40BF-8029-7E30F7FC5E72}"/>
              </a:ext>
            </a:extLst>
          </p:cNvPr>
          <p:cNvSpPr>
            <a:spLocks noGrp="1"/>
          </p:cNvSpPr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10913A5-A195-4C35-8BEC-22AF2B15B7E7}"/>
              </a:ext>
            </a:extLst>
          </p:cNvPr>
          <p:cNvSpPr>
            <a:spLocks noGrp="1"/>
          </p:cNvSpPr>
          <p:nvPr/>
        </p:nvSpPr>
        <p:spPr>
          <a:xfrm>
            <a:off x="841248" y="338328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6A606B1-78BD-42D4-97F2-25019B04EA50}"/>
              </a:ext>
            </a:extLst>
          </p:cNvPr>
          <p:cNvSpPr>
            <a:spLocks noGrp="1"/>
          </p:cNvSpPr>
          <p:nvPr/>
        </p:nvSpPr>
        <p:spPr>
          <a:xfrm>
            <a:off x="2971800" y="338328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офіс Nonthaburi · завод Nakhon Ratchasima</a:t>
            </a:r>
            <a:endParaRPr sz="115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578BF7FC-C005-4DB0-828C-5DE23D336C1C}"/>
              </a:ext>
            </a:extLst>
          </p:cNvPr>
          <p:cNvSpPr>
            <a:spLocks noGrp="1"/>
          </p:cNvSpPr>
          <p:nvPr/>
        </p:nvSpPr>
        <p:spPr>
          <a:xfrm>
            <a:off x="841248" y="371703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Заснована</a:t>
            </a:r>
            <a:endParaRPr sz="10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42A9028-10DB-4B72-B30E-FB49E15FA6C9}"/>
              </a:ext>
            </a:extLst>
          </p:cNvPr>
          <p:cNvSpPr>
            <a:spLocks noGrp="1"/>
          </p:cNvSpPr>
          <p:nvPr/>
        </p:nvSpPr>
        <p:spPr>
          <a:xfrm>
            <a:off x="2971800" y="371703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6 липня 2016 · капітал 50 млн THB</a:t>
            </a:r>
            <a:endParaRPr sz="11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E95C3E2-EA1E-42D7-A32D-5FC6276536E0}"/>
              </a:ext>
            </a:extLst>
          </p:cNvPr>
          <p:cNvSpPr>
            <a:spLocks noGrp="1"/>
          </p:cNvSpPr>
          <p:nvPr/>
        </p:nvSpPr>
        <p:spPr>
          <a:xfrm>
            <a:off x="841248" y="405079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Досвід групи</a:t>
            </a:r>
            <a:endParaRPr sz="10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D427EAD-08DF-4E7A-9C4C-835EFAE70855}"/>
              </a:ext>
            </a:extLst>
          </p:cNvPr>
          <p:cNvSpPr>
            <a:spLocks noGrp="1"/>
          </p:cNvSpPr>
          <p:nvPr/>
        </p:nvSpPr>
        <p:spPr>
          <a:xfrm>
            <a:off x="2971800" y="405079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понад 30 років у рисовому виробництві</a:t>
            </a:r>
            <a:endParaRPr sz="11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D34AC2F-EE39-497C-8F1A-55D934AC95C0}"/>
              </a:ext>
            </a:extLst>
          </p:cNvPr>
          <p:cNvSpPr>
            <a:spLocks noGrp="1"/>
          </p:cNvSpPr>
          <p:nvPr/>
        </p:nvSpPr>
        <p:spPr>
          <a:xfrm>
            <a:off x="841248" y="4384548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Потужність</a:t>
            </a:r>
            <a:endParaRPr sz="10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2B1EB85-2BAF-45AA-8C18-39BD7B6AE924}"/>
              </a:ext>
            </a:extLst>
          </p:cNvPr>
          <p:cNvSpPr>
            <a:spLocks noGrp="1"/>
          </p:cNvSpPr>
          <p:nvPr/>
        </p:nvSpPr>
        <p:spPr>
          <a:xfrm>
            <a:off x="2971800" y="4384548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120 000 тонн на рік · 10 000 т/міс</a:t>
            </a:r>
            <a:endParaRPr sz="11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C1BCD09-C026-44CF-8F8B-173FAD36743F}"/>
              </a:ext>
            </a:extLst>
          </p:cNvPr>
          <p:cNvSpPr>
            <a:spLocks noGrp="1"/>
          </p:cNvSpPr>
          <p:nvPr/>
        </p:nvSpPr>
        <p:spPr>
          <a:xfrm>
            <a:off x="841248" y="4718304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Сировина</a:t>
            </a:r>
            <a:endParaRPr sz="10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2D27C77E-48F9-4FBD-A728-1F2B80DFD2D6}"/>
              </a:ext>
            </a:extLst>
          </p:cNvPr>
          <p:cNvSpPr>
            <a:spLocks noGrp="1"/>
          </p:cNvSpPr>
          <p:nvPr/>
        </p:nvSpPr>
        <p:spPr>
          <a:xfrm>
            <a:off x="2971800" y="4718304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99% Таїланд · 30+ партнерських рисозаводів</a:t>
            </a:r>
            <a:endParaRPr sz="11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54E2C5A1-D625-4BFD-AE8C-D9C86960782D}"/>
              </a:ext>
            </a:extLst>
          </p:cNvPr>
          <p:cNvSpPr>
            <a:spLocks noGrp="1"/>
          </p:cNvSpPr>
          <p:nvPr/>
        </p:nvSpPr>
        <p:spPr>
          <a:xfrm>
            <a:off x="841248" y="505206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Експорт</a:t>
            </a:r>
            <a:endParaRPr sz="10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FC81496A-087D-4BDF-97C0-9C0AD33F324A}"/>
              </a:ext>
            </a:extLst>
          </p:cNvPr>
          <p:cNvSpPr>
            <a:spLocks noGrp="1"/>
          </p:cNvSpPr>
          <p:nvPr/>
        </p:nvSpPr>
        <p:spPr>
          <a:xfrm>
            <a:off x="2971800" y="505206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понад 20 країн світу</a:t>
            </a:r>
            <a:endParaRPr sz="11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29F56F1-072F-45B9-B669-E6DB5952B5DC}"/>
              </a:ext>
            </a:extLst>
          </p:cNvPr>
          <p:cNvSpPr>
            <a:spLocks noGrp="1"/>
          </p:cNvSpPr>
          <p:nvPr/>
        </p:nvSpPr>
        <p:spPr>
          <a:xfrm>
            <a:off x="841248" y="538581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 в офері</a:t>
            </a:r>
            <a:endParaRPr sz="105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422D9B28-342C-4F6C-855A-E29107EE1B2A}"/>
              </a:ext>
            </a:extLst>
          </p:cNvPr>
          <p:cNvSpPr>
            <a:spLocks noGrp="1"/>
          </p:cNvSpPr>
          <p:nvPr/>
        </p:nvSpPr>
        <p:spPr>
          <a:xfrm>
            <a:off x="2971800" y="538581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пауч 250 г · 24 шт у коробі</a:t>
            </a:r>
            <a:endParaRPr sz="1150"/>
          </a:p>
        </p:txBody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FE1BA39C-F91D-4286-BEF8-67FC2D0BD2F1}"/>
              </a:ext>
            </a:extLst>
          </p:cNvPr>
          <p:cNvSpPr>
            <a:spLocks noGrp="1"/>
          </p:cNvSpPr>
          <p:nvPr/>
        </p:nvSpPr>
        <p:spPr>
          <a:xfrm>
            <a:off x="841248" y="571957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>
              <a:ext uri="{FF2B5EF4-FFF2-40B4-BE49-F238E27FC236}">
                <a16:creationId xmlns:a16="http://schemas.microsoft.com/office/drawing/2014/main" id="{FD7FBD8F-742F-466D-99D3-4E9D925A8522}"/>
              </a:ext>
            </a:extLst>
          </p:cNvPr>
          <p:cNvSpPr>
            <a:spLocks noGrp="1"/>
          </p:cNvSpPr>
          <p:nvPr/>
        </p:nvSpPr>
        <p:spPr>
          <a:xfrm>
            <a:off x="2971800" y="571957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BRC · HACCP · ISO 9001 · Halal · Organic</a:t>
            </a:r>
            <a:endParaRPr sz="1150"/>
          </a:p>
        </p:txBody>
      </p:sp>
      <p:pic>
        <p:nvPicPr>
          <p:cNvPr id="61" name="Image 0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534656" y="1536192"/>
            <a:ext cx="4096512" cy="2834640"/>
          </a:xfrm>
          <a:prstGeom prst="roundRect">
            <a:avLst/>
          </a:prstGeom>
        </p:spPr>
      </p:pic>
      <p:sp>
        <p:nvSpPr>
          <p:cNvPr id="24" name="Shape 21">
            <a:extLst>
              <a:ext uri="{FF2B5EF4-FFF2-40B4-BE49-F238E27FC236}">
                <a16:creationId xmlns:a16="http://schemas.microsoft.com/office/drawing/2014/main" id="{0A6243D7-99BD-4671-9140-C29A8D2841F5}"/>
              </a:ext>
            </a:extLst>
          </p:cNvPr>
          <p:cNvSpPr>
            <a:spLocks noGrp="1"/>
          </p:cNvSpPr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FAD82CE1-305C-4565-A1FE-D051AE2156E0}"/>
              </a:ext>
            </a:extLst>
          </p:cNvPr>
          <p:cNvSpPr>
            <a:spLocks noGrp="1"/>
          </p:cNvSpPr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58CC28A-4F81-47DF-8E77-5628B5CD7532}"/>
              </a:ext>
            </a:extLst>
          </p:cNvPr>
          <p:cNvSpPr>
            <a:spLocks noGrp="1"/>
          </p:cNvSpPr>
          <p:nvPr/>
        </p:nvSpPr>
        <p:spPr>
          <a:xfrm>
            <a:off x="7717536" y="4581144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2016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3FCE24DD-1F3F-42BD-8089-4BCD25EBA58A}"/>
              </a:ext>
            </a:extLst>
          </p:cNvPr>
          <p:cNvSpPr>
            <a:spLocks noGrp="1"/>
          </p:cNvSpPr>
          <p:nvPr/>
        </p:nvSpPr>
        <p:spPr>
          <a:xfrm>
            <a:off x="9418320" y="4581144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рік початку роботи</a:t>
            </a:r>
            <a:endParaRPr sz="105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89975636-2973-43EB-8284-82876E89595D}"/>
              </a:ext>
            </a:extLst>
          </p:cNvPr>
          <p:cNvSpPr>
            <a:spLocks noGrp="1"/>
          </p:cNvSpPr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A645AB62-8A4D-4512-8F74-DE418179E43B}"/>
              </a:ext>
            </a:extLst>
          </p:cNvPr>
          <p:cNvSpPr>
            <a:spLocks noGrp="1"/>
          </p:cNvSpPr>
          <p:nvPr/>
        </p:nvSpPr>
        <p:spPr>
          <a:xfrm>
            <a:off x="7717536" y="5148072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120 000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т/рік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4117B712-25E2-4520-9FD2-EBDF52F2E339}"/>
              </a:ext>
            </a:extLst>
          </p:cNvPr>
          <p:cNvSpPr>
            <a:spLocks noGrp="1"/>
          </p:cNvSpPr>
          <p:nvPr/>
        </p:nvSpPr>
        <p:spPr>
          <a:xfrm>
            <a:off x="9418320" y="5148072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виробнича потужність</a:t>
            </a:r>
            <a:endParaRPr sz="105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E9455139-65F1-448B-8A7C-86FFA827F351}"/>
              </a:ext>
            </a:extLst>
          </p:cNvPr>
          <p:cNvSpPr>
            <a:spLocks noGrp="1"/>
          </p:cNvSpPr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D40C00FA-3D9E-4C88-BA29-ECBF4916B185}"/>
              </a:ext>
            </a:extLst>
          </p:cNvPr>
          <p:cNvSpPr>
            <a:spLocks noGrp="1"/>
          </p:cNvSpPr>
          <p:nvPr/>
        </p:nvSpPr>
        <p:spPr>
          <a:xfrm>
            <a:off x="7717536" y="571500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99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%</a:t>
            </a:r>
            <a:endParaRPr sz="19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5324D476-C6D4-42C7-BAFD-4CF0E84F17CB}"/>
              </a:ext>
            </a:extLst>
          </p:cNvPr>
          <p:cNvSpPr>
            <a:spLocks noGrp="1"/>
          </p:cNvSpPr>
          <p:nvPr/>
        </p:nvSpPr>
        <p:spPr>
          <a:xfrm>
            <a:off x="9418320" y="5715000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сировини з Таїланду</a:t>
            </a:r>
            <a:endParaRPr sz="105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E7A215B1-AD40-45DA-BB18-23E7B159186F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корпоративна презентація CM Premium Rice Co., Ltd., сайт cmp-rice.com та прайс-лист Chefrey.</a:t>
            </a:r>
            <a:endParaRPr sz="900"/>
          </a:p>
        </p:txBody>
      </p:sp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33" name="Rectangle 13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C9A6D18B-A944-45D2-8E87-358191F7E4AF}"/>
              </a:ext>
            </a:extLst>
          </p:cNvPr>
          <p:cNvSpPr>
            <a:spLocks noGrp="1"/>
          </p:cNvSpPr>
          <p:nvPr/>
        </p:nvSpPr>
        <p:spPr>
          <a:xfrm>
            <a:off x="2304288" y="310896"/>
            <a:ext cx="676656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b="1" spc="260" dirty="0">
                <a:solidFill>
                  <a:srgbClr val="FFC95C"/>
                </a:solidFill>
                <a:latin typeface="Calibri"/>
                <a:ea typeface="Calibri"/>
                <a:cs typeface="Calibri"/>
              </a:rPr>
              <a:t>ПОСТАЧАЛЬНИК 1  ·  CHEFREY / CM PREMIUM</a:t>
            </a:r>
            <a:endParaRPr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B4F6B36-12AD-4E80-B246-044D6B11275B}"/>
              </a:ext>
            </a:extLst>
          </p:cNvPr>
          <p:cNvSpPr>
            <a:spLocks noGrp="1"/>
          </p:cNvSpPr>
          <p:nvPr/>
        </p:nvSpPr>
        <p:spPr>
          <a:xfrm>
            <a:off x="2304288" y="548640"/>
            <a:ext cx="804672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 dirty="0" err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Chefrey</a:t>
            </a:r>
            <a:r>
              <a:rPr sz="19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 Organic RTE 6 × 250 г — </a:t>
            </a:r>
            <a:r>
              <a:rPr sz="1900" b="1" dirty="0" err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собівартість</a:t>
            </a:r>
            <a:r>
              <a:rPr sz="19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.</a:t>
            </a:r>
            <a:endParaRPr sz="3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B3E3610-3F77-4808-A291-CC88332A673B}"/>
              </a:ext>
            </a:extLst>
          </p:cNvPr>
          <p:cNvSpPr>
            <a:spLocks noGrp="1"/>
          </p:cNvSpPr>
          <p:nvPr/>
        </p:nvSpPr>
        <p:spPr>
          <a:xfrm>
            <a:off x="603504" y="125272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i="1">
                <a:solidFill>
                  <a:srgbClr val="717890"/>
                </a:solidFill>
                <a:latin typeface="Calibri"/>
                <a:ea typeface="Calibri"/>
                <a:cs typeface="Calibri"/>
              </a:rPr>
              <a:t>Завантаження навалом, FOB Bangkok ·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777A169-A18D-4352-B969-19E1FAD489B5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1" name="Image 0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87232188-1DCC-4781-85AB-61CF6976C5DA}"/>
              </a:ext>
            </a:extLst>
          </p:cNvPr>
          <p:cNvSpPr>
            <a:spLocks noGrp="1"/>
          </p:cNvSpPr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EAA2BFF8-08EA-4127-88A8-7020E461BE87}"/>
              </a:ext>
            </a:extLst>
          </p:cNvPr>
          <p:cNvSpPr>
            <a:spLocks noGrp="1"/>
          </p:cNvSpPr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E9C00E7C-A4B5-4F70-BF95-2F612003EAA9}"/>
              </a:ext>
            </a:extLst>
          </p:cNvPr>
          <p:cNvSpPr>
            <a:spLocks noGrp="1"/>
          </p:cNvSpPr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955875F5-C8AA-4604-BC2B-C7F2B6B61192}"/>
              </a:ext>
            </a:extLst>
          </p:cNvPr>
          <p:cNvSpPr>
            <a:spLocks noGrp="1"/>
          </p:cNvSpPr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Turmeric Basmati</a:t>
            </a:r>
            <a:endParaRPr sz="1450"/>
          </a:p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with Cumin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CC304521-7003-41C9-A3DF-B606C354369E}"/>
              </a:ext>
            </a:extLst>
          </p:cNvPr>
          <p:cNvSpPr>
            <a:spLocks noGrp="1"/>
          </p:cNvSpPr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4A033679-0F16-416E-9BC4-280F6974334A}"/>
              </a:ext>
            </a:extLst>
          </p:cNvPr>
          <p:cNvSpPr>
            <a:spLocks noGrp="1"/>
          </p:cNvSpPr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C2BA45D7-6F03-4868-BDD2-44FC1BFF8AEA}"/>
              </a:ext>
            </a:extLst>
          </p:cNvPr>
          <p:cNvSpPr>
            <a:spLocks noGrp="1"/>
          </p:cNvSpPr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ED9F963D-2EFD-42F1-A3D8-955B0A886C4D}"/>
              </a:ext>
            </a:extLst>
          </p:cNvPr>
          <p:cNvSpPr>
            <a:spLocks noGrp="1"/>
          </p:cNvSpPr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6844CDDA-23FC-437B-9119-7C16195CDFA0}"/>
              </a:ext>
            </a:extLst>
          </p:cNvPr>
          <p:cNvSpPr>
            <a:spLocks noGrp="1"/>
          </p:cNvSpPr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27DB5FDD-4BCF-480F-AC44-12CE6BC0A357}"/>
              </a:ext>
            </a:extLst>
          </p:cNvPr>
          <p:cNvSpPr>
            <a:spLocks noGrp="1"/>
          </p:cNvSpPr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82BA0A6-D97E-4819-8CA9-388C425BB098}"/>
              </a:ext>
            </a:extLst>
          </p:cNvPr>
          <p:cNvSpPr>
            <a:spLocks noGrp="1"/>
          </p:cNvSpPr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$1,017 / 45,78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744B828A-FAD0-48B0-A84B-5C4651E029AF}"/>
              </a:ext>
            </a:extLst>
          </p:cNvPr>
          <p:cNvSpPr>
            <a:spLocks noGrp="1"/>
          </p:cNvSpPr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13BF0E51-D744-4257-9C8D-7D20E2A440E5}"/>
              </a:ext>
            </a:extLst>
          </p:cNvPr>
          <p:cNvSpPr>
            <a:spLocks noGrp="1"/>
          </p:cNvSpPr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422ECCC3-BFAF-4EDE-935D-88BA8CB5F5D0}"/>
              </a:ext>
            </a:extLst>
          </p:cNvPr>
          <p:cNvSpPr>
            <a:spLocks noGrp="1"/>
          </p:cNvSpPr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F5EED41A-EC4F-42AA-8D1B-5807CC449D8D}"/>
              </a:ext>
            </a:extLst>
          </p:cNvPr>
          <p:cNvSpPr>
            <a:spLocks noGrp="1"/>
          </p:cNvSpPr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21615AB-3FD4-4403-AFF6-D6A56343CBC2}"/>
              </a:ext>
            </a:extLst>
          </p:cNvPr>
          <p:cNvSpPr>
            <a:spLocks noGrp="1"/>
          </p:cNvSpPr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8" name="Image 1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>
            <a:extLst>
              <a:ext uri="{FF2B5EF4-FFF2-40B4-BE49-F238E27FC236}">
                <a16:creationId xmlns:a16="http://schemas.microsoft.com/office/drawing/2014/main" id="{04C442D0-2F30-4863-8F74-AF51825B409B}"/>
              </a:ext>
            </a:extLst>
          </p:cNvPr>
          <p:cNvSpPr>
            <a:spLocks noGrp="1"/>
          </p:cNvSpPr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8FDFA6F-6582-4237-9B22-00A082830131}"/>
              </a:ext>
            </a:extLst>
          </p:cNvPr>
          <p:cNvSpPr>
            <a:spLocks noGrp="1"/>
          </p:cNvSpPr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3BF42D84-D0AF-4217-B04F-C90FB592237C}"/>
              </a:ext>
            </a:extLst>
          </p:cNvPr>
          <p:cNvSpPr>
            <a:spLocks noGrp="1"/>
          </p:cNvSpPr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ACDE96DD-6C77-424C-B5EB-F3F2EA231669}"/>
              </a:ext>
            </a:extLst>
          </p:cNvPr>
          <p:cNvSpPr>
            <a:spLocks noGrp="1"/>
          </p:cNvSpPr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Garlic Fried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68A85A44-B6CB-4D71-8000-A653E3694AD7}"/>
              </a:ext>
            </a:extLst>
          </p:cNvPr>
          <p:cNvSpPr>
            <a:spLocks noGrp="1"/>
          </p:cNvSpPr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BB6ACCF8-0216-4C21-8A34-38A25C9E2A95}"/>
              </a:ext>
            </a:extLst>
          </p:cNvPr>
          <p:cNvSpPr>
            <a:spLocks noGrp="1"/>
          </p:cNvSpPr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AE847F71-A762-450C-A559-36DCDA518904}"/>
              </a:ext>
            </a:extLst>
          </p:cNvPr>
          <p:cNvSpPr>
            <a:spLocks noGrp="1"/>
          </p:cNvSpPr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16B44C2-FF59-4FA7-AB65-3092D174973A}"/>
              </a:ext>
            </a:extLst>
          </p:cNvPr>
          <p:cNvSpPr>
            <a:spLocks noGrp="1"/>
          </p:cNvSpPr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4BFD8799-39A3-483C-B443-61D7961487B8}"/>
              </a:ext>
            </a:extLst>
          </p:cNvPr>
          <p:cNvSpPr>
            <a:spLocks noGrp="1"/>
          </p:cNvSpPr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6236FB47-8D66-49B9-890D-86AFDDAD03E0}"/>
              </a:ext>
            </a:extLst>
          </p:cNvPr>
          <p:cNvSpPr>
            <a:spLocks noGrp="1"/>
          </p:cNvSpPr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1C5B3AD2-2E31-4934-829B-92559C96C96C}"/>
              </a:ext>
            </a:extLst>
          </p:cNvPr>
          <p:cNvSpPr>
            <a:spLocks noGrp="1"/>
          </p:cNvSpPr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$1,017 / 45,78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AB5675A7-525E-4791-993A-B3BFA05842FE}"/>
              </a:ext>
            </a:extLst>
          </p:cNvPr>
          <p:cNvSpPr>
            <a:spLocks noGrp="1"/>
          </p:cNvSpPr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1497E892-700F-4999-8614-DBAADE2E6A5A}"/>
              </a:ext>
            </a:extLst>
          </p:cNvPr>
          <p:cNvSpPr>
            <a:spLocks noGrp="1"/>
          </p:cNvSpPr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ED93CC81-7EA2-49D9-8437-79938779A8F5}"/>
              </a:ext>
            </a:extLst>
          </p:cNvPr>
          <p:cNvSpPr>
            <a:spLocks noGrp="1"/>
          </p:cNvSpPr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0427E166-8510-4CA7-8830-926E6C60FAE7}"/>
              </a:ext>
            </a:extLst>
          </p:cNvPr>
          <p:cNvSpPr>
            <a:spLocks noGrp="1"/>
          </p:cNvSpPr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E9A5A22F-E04B-4856-A6EE-5DB1869CB5A4}"/>
              </a:ext>
            </a:extLst>
          </p:cNvPr>
          <p:cNvSpPr>
            <a:spLocks noGrp="1"/>
          </p:cNvSpPr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5" name="Image 2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>
            <a:extLst>
              <a:ext uri="{FF2B5EF4-FFF2-40B4-BE49-F238E27FC236}">
                <a16:creationId xmlns:a16="http://schemas.microsoft.com/office/drawing/2014/main" id="{F9B242CE-9FC3-4F31-9E90-E76F07CC34D9}"/>
              </a:ext>
            </a:extLst>
          </p:cNvPr>
          <p:cNvSpPr>
            <a:spLocks noGrp="1"/>
          </p:cNvSpPr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A50AE707-BF33-4DC0-8761-DC73CA95E9E3}"/>
              </a:ext>
            </a:extLst>
          </p:cNvPr>
          <p:cNvSpPr>
            <a:spLocks noGrp="1"/>
          </p:cNvSpPr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83B499CA-E5CA-4A54-A2B7-6FC3B8C2A8E6}"/>
              </a:ext>
            </a:extLst>
          </p:cNvPr>
          <p:cNvSpPr>
            <a:spLocks noGrp="1"/>
          </p:cNvSpPr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44658F7D-867D-4A61-B46E-876DD11E5E0F}"/>
              </a:ext>
            </a:extLst>
          </p:cNvPr>
          <p:cNvSpPr>
            <a:spLocks noGrp="1"/>
          </p:cNvSpPr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Cilantro Lime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9C8F21B4-2ED4-4F90-8A4E-B929F37C5243}"/>
              </a:ext>
            </a:extLst>
          </p:cNvPr>
          <p:cNvSpPr>
            <a:spLocks noGrp="1"/>
          </p:cNvSpPr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CB4E5E2B-AB82-4890-B02A-60C7FFBEFA40}"/>
              </a:ext>
            </a:extLst>
          </p:cNvPr>
          <p:cNvSpPr>
            <a:spLocks noGrp="1"/>
          </p:cNvSpPr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64AB014A-05C3-45B0-AEEE-0D5F7B45FEB4}"/>
              </a:ext>
            </a:extLst>
          </p:cNvPr>
          <p:cNvSpPr>
            <a:spLocks noGrp="1"/>
          </p:cNvSpPr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9FE6818-4F14-4862-A822-5259E90FC4D8}"/>
              </a:ext>
            </a:extLst>
          </p:cNvPr>
          <p:cNvSpPr>
            <a:spLocks noGrp="1"/>
          </p:cNvSpPr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5C9DFA8C-DC12-493F-89E1-05F82142934A}"/>
              </a:ext>
            </a:extLst>
          </p:cNvPr>
          <p:cNvSpPr>
            <a:spLocks noGrp="1"/>
          </p:cNvSpPr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351C6F62-3582-446E-9329-137053C4895C}"/>
              </a:ext>
            </a:extLst>
          </p:cNvPr>
          <p:cNvSpPr>
            <a:spLocks noGrp="1"/>
          </p:cNvSpPr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1CB0E785-438F-46B1-9B4D-45FFA085CF82}"/>
              </a:ext>
            </a:extLst>
          </p:cNvPr>
          <p:cNvSpPr>
            <a:spLocks noGrp="1"/>
          </p:cNvSpPr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$1,017 / 45,78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843D82C3-467A-4031-AA4E-8835A62B789E}"/>
              </a:ext>
            </a:extLst>
          </p:cNvPr>
          <p:cNvSpPr>
            <a:spLocks noGrp="1"/>
          </p:cNvSpPr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219E8FB0-85D4-446F-8CAB-519B563DBBC5}"/>
              </a:ext>
            </a:extLst>
          </p:cNvPr>
          <p:cNvSpPr>
            <a:spLocks noGrp="1"/>
          </p:cNvSpPr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54" name="Text 49">
            <a:extLst>
              <a:ext uri="{FF2B5EF4-FFF2-40B4-BE49-F238E27FC236}">
                <a16:creationId xmlns:a16="http://schemas.microsoft.com/office/drawing/2014/main" id="{C10E996F-4409-4306-8C47-C3DBDB53C35F}"/>
              </a:ext>
            </a:extLst>
          </p:cNvPr>
          <p:cNvSpPr>
            <a:spLocks noGrp="1"/>
          </p:cNvSpPr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>
              <a:ext uri="{FF2B5EF4-FFF2-40B4-BE49-F238E27FC236}">
                <a16:creationId xmlns:a16="http://schemas.microsoft.com/office/drawing/2014/main" id="{E05EE4B9-A859-4792-9E6A-A9A645DFA502}"/>
              </a:ext>
            </a:extLst>
          </p:cNvPr>
          <p:cNvSpPr>
            <a:spLocks noGrp="1"/>
          </p:cNvSpPr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251A2DC7-D0DC-4DDD-94FC-121AF67D8149}"/>
              </a:ext>
            </a:extLst>
          </p:cNvPr>
          <p:cNvSpPr>
            <a:spLocks noGrp="1"/>
          </p:cNvSpPr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2" name="Image 3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>
            <a:extLst>
              <a:ext uri="{FF2B5EF4-FFF2-40B4-BE49-F238E27FC236}">
                <a16:creationId xmlns:a16="http://schemas.microsoft.com/office/drawing/2014/main" id="{F2C3BE02-E820-4936-861D-46D3D3E589BF}"/>
              </a:ext>
            </a:extLst>
          </p:cNvPr>
          <p:cNvSpPr>
            <a:spLocks noGrp="1"/>
          </p:cNvSpPr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490DA2D-D85E-4489-896A-3376EF0EC2F2}"/>
              </a:ext>
            </a:extLst>
          </p:cNvPr>
          <p:cNvSpPr>
            <a:spLocks noGrp="1"/>
          </p:cNvSpPr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1BAD208D-D6B2-4DF7-AE5B-808AFC5016F0}"/>
              </a:ext>
            </a:extLst>
          </p:cNvPr>
          <p:cNvSpPr>
            <a:spLocks noGrp="1"/>
          </p:cNvSpPr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D32F869F-1422-4380-8509-FD4EC7795CA7}"/>
              </a:ext>
            </a:extLst>
          </p:cNvPr>
          <p:cNvSpPr>
            <a:spLocks noGrp="1"/>
          </p:cNvSpPr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C56AF3DF-CE25-4AEE-B9EA-65DA2178D6C8}"/>
              </a:ext>
            </a:extLst>
          </p:cNvPr>
          <p:cNvSpPr>
            <a:spLocks noGrp="1"/>
          </p:cNvSpPr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B87B54C9-A9BC-4125-8EB8-417D870F885A}"/>
              </a:ext>
            </a:extLst>
          </p:cNvPr>
          <p:cNvSpPr>
            <a:spLocks noGrp="1"/>
          </p:cNvSpPr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5CDDC64B-111E-4034-BB84-739716A535C5}"/>
              </a:ext>
            </a:extLst>
          </p:cNvPr>
          <p:cNvSpPr>
            <a:spLocks noGrp="1"/>
          </p:cNvSpPr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6A939BB-1670-4E52-9CBF-2148FF618BE5}"/>
              </a:ext>
            </a:extLst>
          </p:cNvPr>
          <p:cNvSpPr>
            <a:spLocks noGrp="1"/>
          </p:cNvSpPr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89315069-AA8B-4FB9-B0D8-4EEFAFCC5D68}"/>
              </a:ext>
            </a:extLst>
          </p:cNvPr>
          <p:cNvSpPr>
            <a:spLocks noGrp="1"/>
          </p:cNvSpPr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EF2C8EF4-AF40-4A42-B5F5-CD3A89AECD13}"/>
              </a:ext>
            </a:extLst>
          </p:cNvPr>
          <p:cNvSpPr>
            <a:spLocks noGrp="1"/>
          </p:cNvSpPr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4A437B21-276B-4A8E-B4FA-E55E4C8EB3D4}"/>
              </a:ext>
            </a:extLst>
          </p:cNvPr>
          <p:cNvSpPr>
            <a:spLocks noGrp="1"/>
          </p:cNvSpPr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$1,017 / 45,78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D3FCC8C4-076B-4094-B816-197B2B0E688C}"/>
              </a:ext>
            </a:extLst>
          </p:cNvPr>
          <p:cNvSpPr>
            <a:spLocks noGrp="1"/>
          </p:cNvSpPr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AC58F4C-4853-4DE5-929B-AF4822760C15}"/>
              </a:ext>
            </a:extLst>
          </p:cNvPr>
          <p:cNvSpPr>
            <a:spLocks noGrp="1"/>
          </p:cNvSpPr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838F0CEE-4FBA-4656-B576-A01896E53768}"/>
              </a:ext>
            </a:extLst>
          </p:cNvPr>
          <p:cNvSpPr>
            <a:spLocks noGrp="1"/>
          </p:cNvSpPr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C7424DE8-2857-46C2-8E15-BFDE963490BE}"/>
              </a:ext>
            </a:extLst>
          </p:cNvPr>
          <p:cNvSpPr>
            <a:spLocks noGrp="1"/>
          </p:cNvSpPr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pic>
        <p:nvPicPr>
          <p:cNvPr id="135" name="Picture 13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73" name="Rectangle 7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2304288" y="310896"/>
            <a:ext cx="676656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b="1" spc="260" dirty="0">
                <a:solidFill>
                  <a:srgbClr val="FFC95C"/>
                </a:solidFill>
                <a:latin typeface="Calibri"/>
                <a:ea typeface="Calibri"/>
                <a:cs typeface="Calibri"/>
              </a:rPr>
              <a:t>ПОСТАЧАЛЬНИК 2</a:t>
            </a:r>
            <a:endParaRPr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2304288" y="548640"/>
            <a:ext cx="804672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BSCM Foods — профіль компанії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603504" y="125272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i="1">
                <a:solidFill>
                  <a:srgbClr val="717890"/>
                </a:solidFill>
                <a:latin typeface="Calibri"/>
                <a:ea typeface="Calibri"/>
                <a:cs typeface="Calibri"/>
              </a:rPr>
              <a:t>Тайський виробник готових страв за ретортною технологією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BB6272E-A3D6-4F20-AF34-CF17DAB68835}"/>
              </a:ext>
            </a:extLst>
          </p:cNvPr>
          <p:cNvSpPr>
            <a:spLocks noGrp="1"/>
          </p:cNvSpPr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27C41B4-C39E-4BB3-87E3-96451AFDB1CC}"/>
              </a:ext>
            </a:extLst>
          </p:cNvPr>
          <p:cNvSpPr>
            <a:spLocks noGrp="1"/>
          </p:cNvSpPr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BSCM Foods Co., Ltd. — виробник готової до споживання їжі з Бангкока. Портфель поділений на чотири напрями: Ready Rice, Ready Meal, Ready Dessert та Ready Drink. Рис випускається у трьох форматах — пауч, стакан і лоток.</a:t>
            </a:r>
            <a:endParaRPr sz="12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noGrp="1"/>
          </p:cNvSpPr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A91FA7F-CF81-4499-8A50-A7DEE4346D83}"/>
              </a:ext>
            </a:extLst>
          </p:cNvPr>
          <p:cNvSpPr>
            <a:spLocks noGrp="1"/>
          </p:cNvSpPr>
          <p:nvPr/>
        </p:nvSpPr>
        <p:spPr>
          <a:xfrm>
            <a:off x="841248" y="338328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E8A5288-4469-45DA-BAD0-F665517C1E65}"/>
              </a:ext>
            </a:extLst>
          </p:cNvPr>
          <p:cNvSpPr>
            <a:spLocks noGrp="1"/>
          </p:cNvSpPr>
          <p:nvPr/>
        </p:nvSpPr>
        <p:spPr>
          <a:xfrm>
            <a:off x="2971800" y="338328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Бангкок (Bangsue), Таїланд</a:t>
            </a:r>
            <a:endParaRPr sz="115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noGrp="1"/>
          </p:cNvSpPr>
          <p:nvPr/>
        </p:nvSpPr>
        <p:spPr>
          <a:xfrm>
            <a:off x="841248" y="371703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Група</a:t>
            </a:r>
            <a:endParaRPr sz="10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818D73A6-5619-40CD-864C-164E337887CE}"/>
              </a:ext>
            </a:extLst>
          </p:cNvPr>
          <p:cNvSpPr>
            <a:spLocks noGrp="1"/>
          </p:cNvSpPr>
          <p:nvPr/>
        </p:nvSpPr>
        <p:spPr>
          <a:xfrm>
            <a:off x="2971800" y="371703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Bangsue Chia Meng Rice Mill, з 1937</a:t>
            </a:r>
            <a:endParaRPr sz="11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noGrp="1"/>
          </p:cNvSpPr>
          <p:nvPr/>
        </p:nvSpPr>
        <p:spPr>
          <a:xfrm>
            <a:off x="841248" y="405079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RTE-виробництво</a:t>
            </a:r>
            <a:endParaRPr sz="10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ACB90C5-BF37-41D9-8DC3-D21E41BC119E}"/>
              </a:ext>
            </a:extLst>
          </p:cNvPr>
          <p:cNvSpPr>
            <a:spLocks noGrp="1"/>
          </p:cNvSpPr>
          <p:nvPr/>
        </p:nvSpPr>
        <p:spPr>
          <a:xfrm>
            <a:off x="2971800" y="405079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власний завод BSCM Foods, з 2009</a:t>
            </a:r>
            <a:endParaRPr sz="11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noGrp="1"/>
          </p:cNvSpPr>
          <p:nvPr/>
        </p:nvSpPr>
        <p:spPr>
          <a:xfrm>
            <a:off x="841248" y="4384548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Технологія</a:t>
            </a:r>
            <a:endParaRPr sz="10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F159060-DCDF-44CC-8B6D-02E8ED33BA8F}"/>
              </a:ext>
            </a:extLst>
          </p:cNvPr>
          <p:cNvSpPr>
            <a:spLocks noGrp="1"/>
          </p:cNvSpPr>
          <p:nvPr/>
        </p:nvSpPr>
        <p:spPr>
          <a:xfrm>
            <a:off x="2971800" y="4384548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ретортна стерилізація, без консервантів</a:t>
            </a:r>
            <a:endParaRPr sz="11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387B55C1-5453-4641-8FEE-2A2600E80415}"/>
              </a:ext>
            </a:extLst>
          </p:cNvPr>
          <p:cNvSpPr>
            <a:spLocks noGrp="1"/>
          </p:cNvSpPr>
          <p:nvPr/>
        </p:nvSpPr>
        <p:spPr>
          <a:xfrm>
            <a:off x="841248" y="4718304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E5BCD84D-F4E9-40F7-AA7D-85E5A9A7C865}"/>
              </a:ext>
            </a:extLst>
          </p:cNvPr>
          <p:cNvSpPr>
            <a:spLocks noGrp="1"/>
          </p:cNvSpPr>
          <p:nvPr/>
        </p:nvSpPr>
        <p:spPr>
          <a:xfrm>
            <a:off x="2971800" y="4718304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18 місяців за кімнатної температури</a:t>
            </a:r>
            <a:endParaRPr sz="11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9CD79870-7EED-40F1-B03F-865D47193057}"/>
              </a:ext>
            </a:extLst>
          </p:cNvPr>
          <p:cNvSpPr>
            <a:spLocks noGrp="1"/>
          </p:cNvSpPr>
          <p:nvPr/>
        </p:nvSpPr>
        <p:spPr>
          <a:xfrm>
            <a:off x="841248" y="505206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Розігрів</a:t>
            </a:r>
            <a:endParaRPr sz="10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9696F0F8-6388-458A-9A6E-BD09F3ACBA30}"/>
              </a:ext>
            </a:extLst>
          </p:cNvPr>
          <p:cNvSpPr>
            <a:spLocks noGrp="1"/>
          </p:cNvSpPr>
          <p:nvPr/>
        </p:nvSpPr>
        <p:spPr>
          <a:xfrm>
            <a:off x="2971800" y="505206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мікрохвильова піч, 60–90 сек</a:t>
            </a:r>
            <a:endParaRPr sz="11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13A8E69A-5D22-455F-8007-BE2ECE9342F0}"/>
              </a:ext>
            </a:extLst>
          </p:cNvPr>
          <p:cNvSpPr>
            <a:spLocks noGrp="1"/>
          </p:cNvSpPr>
          <p:nvPr/>
        </p:nvSpPr>
        <p:spPr>
          <a:xfrm>
            <a:off x="841248" y="538581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</a:t>
            </a:r>
            <a:endParaRPr sz="105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0F71CE83-5380-4313-A831-A097BEC1C816}"/>
              </a:ext>
            </a:extLst>
          </p:cNvPr>
          <p:cNvSpPr>
            <a:spLocks noGrp="1"/>
          </p:cNvSpPr>
          <p:nvPr/>
        </p:nvSpPr>
        <p:spPr>
          <a:xfrm>
            <a:off x="2971800" y="538581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пауч 240 г · cup 150 г / 2×125 г</a:t>
            </a:r>
            <a:endParaRPr sz="115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9E3FDCDD-AB84-4655-AE3A-27E63EDCF931}"/>
              </a:ext>
            </a:extLst>
          </p:cNvPr>
          <p:cNvSpPr>
            <a:spLocks noGrp="1"/>
          </p:cNvSpPr>
          <p:nvPr/>
        </p:nvSpPr>
        <p:spPr>
          <a:xfrm>
            <a:off x="841248" y="571957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>
              <a:ext uri="{FF2B5EF4-FFF2-40B4-BE49-F238E27FC236}">
                <a16:creationId xmlns:a16="http://schemas.microsoft.com/office/drawing/2014/main" id="{CE1C1DBA-4385-4A90-B461-BD4A3B7B3F15}"/>
              </a:ext>
            </a:extLst>
          </p:cNvPr>
          <p:cNvSpPr>
            <a:spLocks noGrp="1"/>
          </p:cNvSpPr>
          <p:nvPr/>
        </p:nvSpPr>
        <p:spPr>
          <a:xfrm>
            <a:off x="2971800" y="571957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BRC · HACCP · ISO 22000 · GMP · Organic</a:t>
            </a:r>
            <a:endParaRPr sz="1150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7366CF28-1B6D-49C3-946A-65C3FD0C8631}"/>
              </a:ext>
            </a:extLst>
          </p:cNvPr>
          <p:cNvSpPr>
            <a:spLocks noGrp="1"/>
          </p:cNvSpPr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831A629E-B7E5-4A9F-8D0C-CEFC366EAB2E}"/>
              </a:ext>
            </a:extLst>
          </p:cNvPr>
          <p:cNvSpPr>
            <a:spLocks noGrp="1"/>
          </p:cNvSpPr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noGrp="1"/>
          </p:cNvSpPr>
          <p:nvPr/>
        </p:nvSpPr>
        <p:spPr>
          <a:xfrm>
            <a:off x="7717536" y="4581144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18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міс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noGrp="1"/>
          </p:cNvSpPr>
          <p:nvPr/>
        </p:nvSpPr>
        <p:spPr>
          <a:xfrm>
            <a:off x="9098280" y="4581144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B6DB6DF8-9EDE-4700-B934-B2C5D27FD37C}"/>
              </a:ext>
            </a:extLst>
          </p:cNvPr>
          <p:cNvSpPr>
            <a:spLocks noGrp="1"/>
          </p:cNvSpPr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noGrp="1"/>
          </p:cNvSpPr>
          <p:nvPr/>
        </p:nvSpPr>
        <p:spPr>
          <a:xfrm>
            <a:off x="7717536" y="5148072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сек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noGrp="1"/>
          </p:cNvSpPr>
          <p:nvPr/>
        </p:nvSpPr>
        <p:spPr>
          <a:xfrm>
            <a:off x="9098280" y="5148072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розігрів у мікрохвильовці</a:t>
            </a:r>
            <a:endParaRPr sz="105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5F74166D-A4F2-4F13-9CD5-9980A3D4D94F}"/>
              </a:ext>
            </a:extLst>
          </p:cNvPr>
          <p:cNvSpPr>
            <a:spLocks noGrp="1"/>
          </p:cNvSpPr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noGrp="1"/>
          </p:cNvSpPr>
          <p:nvPr/>
        </p:nvSpPr>
        <p:spPr>
          <a:xfrm>
            <a:off x="7717536" y="571500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60+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країн</a:t>
            </a:r>
            <a:endParaRPr sz="19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noGrp="1"/>
          </p:cNvSpPr>
          <p:nvPr/>
        </p:nvSpPr>
        <p:spPr>
          <a:xfrm>
            <a:off x="9098280" y="57150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країн експорту групи</a:t>
            </a:r>
            <a:endParaRPr sz="105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536F47F1-10DF-4B38-8365-3317E620F8C6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каталог продукції BSCM Foods, комерційна пропозиція постачальника та корпоративний сайт групи BSCM (bscm.co.th); сертифікати — за каталогом.</a:t>
            </a:r>
            <a:endParaRPr sz="900"/>
          </a:p>
        </p:txBody>
      </p:sp>
      <p:pic>
        <p:nvPicPr>
          <p:cNvPr id="72" name="Picture 3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6553" y="1554480"/>
            <a:ext cx="4096512" cy="2834640"/>
          </a:xfrm>
          <a:prstGeom prst="roundRect">
            <a:avLst/>
          </a:prstGeom>
        </p:spPr>
      </p:pic>
      <p:pic>
        <p:nvPicPr>
          <p:cNvPr id="75" name="Picture 7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34" name="Rectangle 133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noGrp="1"/>
          </p:cNvSpPr>
          <p:nvPr/>
        </p:nvSpPr>
        <p:spPr>
          <a:xfrm>
            <a:off x="2304288" y="310896"/>
            <a:ext cx="676656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b="1" spc="260" dirty="0">
                <a:solidFill>
                  <a:srgbClr val="FFC95C"/>
                </a:solidFill>
                <a:latin typeface="Calibri"/>
                <a:ea typeface="Calibri"/>
                <a:cs typeface="Calibri"/>
              </a:rPr>
              <a:t>ПОСТАЧАЛЬНИК 2  ·  BSCM FOODS</a:t>
            </a:r>
            <a:endParaRPr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noGrp="1"/>
          </p:cNvSpPr>
          <p:nvPr/>
        </p:nvSpPr>
        <p:spPr>
          <a:xfrm>
            <a:off x="2304288" y="548640"/>
            <a:ext cx="804672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sz="19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6 × 240 г </a:t>
            </a:r>
            <a:r>
              <a:rPr lang="uk-UA" sz="19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— собівартість</a:t>
            </a:r>
            <a:r>
              <a:rPr lang="ru-UA" sz="19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.</a:t>
            </a:r>
            <a:endParaRPr sz="3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noGrp="1"/>
          </p:cNvSpPr>
          <p:nvPr/>
        </p:nvSpPr>
        <p:spPr>
          <a:xfrm>
            <a:off x="603504" y="125272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i="1">
                <a:solidFill>
                  <a:srgbClr val="717890"/>
                </a:solidFill>
                <a:latin typeface="Calibri"/>
                <a:ea typeface="Calibri"/>
                <a:cs typeface="Calibri"/>
              </a:rPr>
              <a:t>Завантаження навалом, FOB Bangkok ·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2" name="Picture 7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noGrp="1"/>
          </p:cNvSpPr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noGrp="1"/>
          </p:cNvSpPr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noGrp="1"/>
          </p:cNvSpPr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noGrp="1"/>
          </p:cNvSpPr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noGrp="1"/>
          </p:cNvSpPr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$0,583 · 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noGrp="1"/>
          </p:cNvSpPr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noGrp="1"/>
          </p:cNvSpPr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noGrp="1"/>
          </p:cNvSpPr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noGrp="1"/>
          </p:cNvSpPr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$0,995 / 44,79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noGrp="1"/>
          </p:cNvSpPr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noGrp="1"/>
          </p:cNvSpPr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$0,892 / 40,15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noGrp="1"/>
          </p:cNvSpPr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noGrp="1"/>
          </p:cNvSpPr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$1,001 / 45,03 ₴</a:t>
            </a:r>
            <a:endParaRPr sz="95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noGrp="1"/>
          </p:cNvSpPr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noGrp="1"/>
          </p:cNvSpPr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$0,928 / 41,77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noGrp="1"/>
          </p:cNvSpPr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9" name="Picture 7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>
            <a:extLst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noGrp="1"/>
          </p:cNvSpPr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noGrp="1"/>
          </p:cNvSpPr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noGrp="1"/>
          </p:cNvSpPr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noGrp="1"/>
          </p:cNvSpPr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Mexican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noGrp="1"/>
          </p:cNvSpPr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noGrp="1"/>
          </p:cNvSpPr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noGrp="1"/>
          </p:cNvSpPr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noGrp="1"/>
          </p:cNvSpPr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noGrp="1"/>
          </p:cNvSpPr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$1,138 / 51,19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noGrp="1"/>
          </p:cNvSpPr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noGrp="1"/>
          </p:cNvSpPr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$1,020 / 45,89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noGrp="1"/>
          </p:cNvSpPr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noGrp="1"/>
          </p:cNvSpPr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$1,144 / 51,46 ₴</a:t>
            </a:r>
            <a:endParaRPr sz="95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noGrp="1"/>
          </p:cNvSpPr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noGrp="1"/>
          </p:cNvSpPr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$1,061 / 47,74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noGrp="1"/>
          </p:cNvSpPr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6" name="Picture 7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>
            <a:extLst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noGrp="1"/>
          </p:cNvSpPr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noGrp="1"/>
          </p:cNvSpPr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noGrp="1"/>
          </p:cNvSpPr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noGrp="1"/>
          </p:cNvSpPr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Japanese Style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noGrp="1"/>
          </p:cNvSpPr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noGrp="1"/>
          </p:cNvSpPr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noGrp="1"/>
          </p:cNvSpPr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noGrp="1"/>
          </p:cNvSpPr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noGrp="1"/>
          </p:cNvSpPr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$1,138 / 51,19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noGrp="1"/>
          </p:cNvSpPr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noGrp="1"/>
          </p:cNvSpPr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$1,020 / 45,89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noGrp="1"/>
          </p:cNvSpPr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noGrp="1"/>
          </p:cNvSpPr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$1,144 / 51,46 ₴</a:t>
            </a:r>
            <a:endParaRPr sz="950"/>
          </a:p>
        </p:txBody>
      </p:sp>
      <p:sp>
        <p:nvSpPr>
          <p:cNvPr id="54" name="Text 49">
            <a:extLst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noGrp="1"/>
          </p:cNvSpPr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noGrp="1"/>
          </p:cNvSpPr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$1,061 / 47,74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noGrp="1"/>
          </p:cNvSpPr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3" name="Picture 7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>
            <a:extLst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noGrp="1"/>
          </p:cNvSpPr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noGrp="1"/>
          </p:cNvSpPr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noGrp="1"/>
          </p:cNvSpPr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noGrp="1"/>
          </p:cNvSpPr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Hot and Spicy Rice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noGrp="1"/>
          </p:cNvSpPr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$0,750 · 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noGrp="1"/>
          </p:cNvSpPr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noGrp="1"/>
          </p:cNvSpPr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noGrp="1"/>
          </p:cNvSpPr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noGrp="1"/>
          </p:cNvSpPr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$1,280 / 57,59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noGrp="1"/>
          </p:cNvSpPr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noGrp="1"/>
          </p:cNvSpPr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$1,147 / 51,63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noGrp="1"/>
          </p:cNvSpPr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noGrp="1"/>
          </p:cNvSpPr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$1,287 / 57,89 ₴</a:t>
            </a:r>
            <a:endParaRPr sz="95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noGrp="1"/>
          </p:cNvSpPr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noGrp="1"/>
          </p:cNvSpPr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$1,193 / 53,70 ₴</a:t>
            </a:r>
            <a:endParaRPr sz="950"/>
          </a:p>
        </p:txBody>
      </p:sp>
      <p:sp>
        <p:nvSpPr>
          <p:cNvPr id="73" name="Text 67">
            <a:extLst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Фото упаковки — з каталогу BSCM Foods; для Japanese Style Rice постачальник фото не надав. Собівартість: мито 10%, ПДВ 20%, транспорт, кредитні гроші 2,5%.</a:t>
            </a:r>
            <a:endParaRPr sz="900"/>
          </a:p>
        </p:txBody>
      </p:sp>
      <p:pic>
        <p:nvPicPr>
          <p:cNvPr id="136" name="Picture 13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137" name="TextBox 136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6" name="Rectangle 15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2304288" y="310896"/>
            <a:ext cx="6766560" cy="2381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950" b="1" i="0" spc="260">
                <a:solidFill>
                  <a:srgbClr val="FFC95C"/>
                </a:solidFill>
                <a:latin typeface="Calibri"/>
                <a:ea typeface="Calibri"/>
                <a:cs typeface="Calibri"/>
              </a:rPr>
              <a:t>BSCM FOODS  ·  SPECIAL PRODUCTION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2304288" y="548640"/>
            <a:ext cx="8046720" cy="552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9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Фасування під потреби нашого ринку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603504" y="1252728"/>
            <a:ext cx="1088136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950" b="0" i="0">
                <a:solidFill>
                  <a:srgbClr val="717890"/>
                </a:solidFill>
                <a:latin typeface="Calibri"/>
                <a:ea typeface="Calibri"/>
                <a:cs typeface="Calibri"/>
              </a:rPr>
              <a:t>Поряд зі стандартними 240 г — спеціальне виробництво потрібної нам ваги.</a:t>
            </a:r>
            <a:endParaRPr sz="125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noGrp="1"/>
          </p:cNvSpPr>
          <p:nvPr/>
        </p:nvSpPr>
        <p:spPr>
          <a:xfrm>
            <a:off x="5905500" y="1809750"/>
            <a:ext cx="571500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СПЕЦІАЛЬНЕ ВИРОБНИЦТВО</a:t>
            </a:r>
            <a:endParaRPr sz="17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noGrp="1"/>
          </p:cNvSpPr>
          <p:nvPr/>
        </p:nvSpPr>
        <p:spPr>
          <a:xfrm>
            <a:off x="5857875" y="2286000"/>
            <a:ext cx="5762625" cy="90487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201168" indent="-201168" algn="l">
              <a:buClr>
                <a:srgbClr val="F5CE76"/>
              </a:buClr>
              <a:buFont typeface="Arial"/>
              <a:buNone/>
              <a:defRPr sz="52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52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150 г  /  200 г</a:t>
            </a:r>
            <a:endParaRPr sz="10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noGrp="1"/>
          </p:cNvSpPr>
          <p:nvPr/>
        </p:nvSpPr>
        <p:spPr>
          <a:xfrm>
            <a:off x="5905500" y="3333750"/>
            <a:ext cx="5715000" cy="5429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201168" indent="-201168" algn="l">
              <a:buClr>
                <a:srgbClr val="F5CE76"/>
              </a:buClr>
              <a:buFont typeface="Arial"/>
              <a:buNone/>
              <a:defRPr sz="30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та інші розміри</a:t>
            </a:r>
            <a:endParaRPr sz="10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noGrp="1"/>
          </p:cNvSpPr>
          <p:nvPr/>
        </p:nvSpPr>
        <p:spPr>
          <a:xfrm>
            <a:off x="5924550" y="3886200"/>
            <a:ext cx="5695950" cy="33337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201168" indent="-201168" algn="l">
              <a:buClr>
                <a:srgbClr val="F5CE76"/>
              </a:buClr>
              <a:buFont typeface="Arial"/>
              <a:buNone/>
              <a:defRPr sz="1650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650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 погодженням із виробником</a:t>
            </a:r>
            <a:endParaRPr sz="1050"/>
          </a:p>
        </p:txBody>
      </p:sp>
      <p:pic>
        <p:nvPicPr>
          <p:cNvPr id="9" name="Picture 76">
            <a:extLst>
              <a:ext uri="{FF2B5EF4-FFF2-40B4-BE49-F238E27FC236}">
                <a16:creationId xmlns:a16="http://schemas.microsoft.com/office/drawing/2014/main" id="{56818BA5-2DCA-2A8F-62CF-8E43949830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30" y="2095500"/>
            <a:ext cx="3711223" cy="2870399"/>
          </a:xfrm>
          <a:prstGeom prst="round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34" name="Rectangle 133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noGrp="1"/>
          </p:cNvSpPr>
          <p:nvPr/>
        </p:nvSpPr>
        <p:spPr>
          <a:xfrm>
            <a:off x="2304288" y="310896"/>
            <a:ext cx="676656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b="1" spc="260">
                <a:solidFill>
                  <a:srgbClr val="FFC95C"/>
                </a:solidFill>
                <a:latin typeface="Calibri"/>
                <a:ea typeface="Calibri"/>
                <a:cs typeface="Calibri"/>
              </a:rPr>
              <a:t>BSCM FOODS  ·  SPECIAL PRODUCTION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noGrp="1"/>
          </p:cNvSpPr>
          <p:nvPr/>
        </p:nvSpPr>
        <p:spPr>
          <a:xfrm>
            <a:off x="2304288" y="548640"/>
            <a:ext cx="804672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6 × 150 г — собівартість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noGrp="1"/>
          </p:cNvSpPr>
          <p:nvPr/>
        </p:nvSpPr>
        <p:spPr>
          <a:xfrm>
            <a:off x="603504" y="125272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i="1">
                <a:solidFill>
                  <a:srgbClr val="717890"/>
                </a:solidFill>
                <a:latin typeface="Calibri"/>
                <a:ea typeface="Calibri"/>
                <a:cs typeface="Calibri"/>
              </a:rPr>
              <a:t>Спеціальне виробництво · завантаження навалом, FOB Bangkok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2" name="Picture 7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noGrp="1"/>
          </p:cNvSpPr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noGrp="1"/>
          </p:cNvSpPr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noGrp="1"/>
          </p:cNvSpPr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noGrp="1"/>
          </p:cNvSpPr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noGrp="1"/>
          </p:cNvSpPr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$0,472 · 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noGrp="1"/>
          </p:cNvSpPr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noGrp="1"/>
          </p:cNvSpPr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noGrp="1"/>
          </p:cNvSpPr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noGrp="1"/>
          </p:cNvSpPr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$0,843 / 37,93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noGrp="1"/>
          </p:cNvSpPr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noGrp="1"/>
          </p:cNvSpPr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$0,739 / 33,25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noGrp="1"/>
          </p:cNvSpPr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noGrp="1"/>
          </p:cNvSpPr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$0,850 / 38,24 ₴</a:t>
            </a:r>
            <a:endParaRPr sz="95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noGrp="1"/>
          </p:cNvSpPr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noGrp="1"/>
          </p:cNvSpPr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$0,778 / 34,99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noGrp="1"/>
          </p:cNvSpPr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9" name="Picture 7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>
            <a:extLst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noGrp="1"/>
          </p:cNvSpPr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noGrp="1"/>
          </p:cNvSpPr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noGrp="1"/>
          </p:cNvSpPr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noGrp="1"/>
          </p:cNvSpPr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Mexican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noGrp="1"/>
          </p:cNvSpPr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$0,550 · 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noGrp="1"/>
          </p:cNvSpPr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noGrp="1"/>
          </p:cNvSpPr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noGrp="1"/>
          </p:cNvSpPr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noGrp="1"/>
          </p:cNvSpPr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$0,981 / 44,15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noGrp="1"/>
          </p:cNvSpPr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noGrp="1"/>
          </p:cNvSpPr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$0,860 / 38,70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noGrp="1"/>
          </p:cNvSpPr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noGrp="1"/>
          </p:cNvSpPr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$0,989 / 44,51 ₴</a:t>
            </a:r>
            <a:endParaRPr sz="95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noGrp="1"/>
          </p:cNvSpPr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noGrp="1"/>
          </p:cNvSpPr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$0,905 / 40,73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noGrp="1"/>
          </p:cNvSpPr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6" name="Picture 7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>
            <a:extLst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noGrp="1"/>
          </p:cNvSpPr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noGrp="1"/>
          </p:cNvSpPr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noGrp="1"/>
          </p:cNvSpPr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noGrp="1"/>
          </p:cNvSpPr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Japanese Style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noGrp="1"/>
          </p:cNvSpPr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$0,550 · 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noGrp="1"/>
          </p:cNvSpPr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noGrp="1"/>
          </p:cNvSpPr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noGrp="1"/>
          </p:cNvSpPr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noGrp="1"/>
          </p:cNvSpPr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$0,981 / 44,15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noGrp="1"/>
          </p:cNvSpPr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noGrp="1"/>
          </p:cNvSpPr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$0,860 / 38,70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noGrp="1"/>
          </p:cNvSpPr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noGrp="1"/>
          </p:cNvSpPr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$0,989 / 44,51 ₴</a:t>
            </a:r>
            <a:endParaRPr sz="950"/>
          </a:p>
        </p:txBody>
      </p:sp>
      <p:sp>
        <p:nvSpPr>
          <p:cNvPr id="54" name="Text 49">
            <a:extLst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noGrp="1"/>
          </p:cNvSpPr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noGrp="1"/>
          </p:cNvSpPr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$0,905 / 40,73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noGrp="1"/>
          </p:cNvSpPr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3" name="Picture 7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>
            <a:extLst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noGrp="1"/>
          </p:cNvSpPr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noGrp="1"/>
          </p:cNvSpPr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noGrp="1"/>
          </p:cNvSpPr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noGrp="1"/>
          </p:cNvSpPr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Hot and Spicy Rice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noGrp="1"/>
          </p:cNvSpPr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$0,600 · 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noGrp="1"/>
          </p:cNvSpPr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noGrp="1"/>
          </p:cNvSpPr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noGrp="1"/>
          </p:cNvSpPr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noGrp="1"/>
          </p:cNvSpPr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$1,070 / 48,16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noGrp="1"/>
          </p:cNvSpPr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noGrp="1"/>
          </p:cNvSpPr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$0,938 / 42,22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noGrp="1"/>
          </p:cNvSpPr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noGrp="1"/>
          </p:cNvSpPr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$1,079 / 48,55 ₴</a:t>
            </a:r>
            <a:endParaRPr sz="95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noGrp="1"/>
          </p:cNvSpPr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noGrp="1"/>
          </p:cNvSpPr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$0,987 / 44,43 ₴</a:t>
            </a:r>
            <a:endParaRPr sz="950"/>
          </a:p>
        </p:txBody>
      </p:sp>
      <p:sp>
        <p:nvSpPr>
          <p:cNvPr id="73" name="Text 67">
            <a:extLst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Self_Cost_Rice_Brand..xlsx, аркуш «BSCMFoods - Навалом (150г)Pouch». Собівартість: мито 10%, ПДВ 20%, транспорт, кредитні гроші 2,5%.</a:t>
            </a:r>
            <a:endParaRPr sz="900"/>
          </a:p>
        </p:txBody>
      </p:sp>
      <p:pic>
        <p:nvPicPr>
          <p:cNvPr id="136" name="Picture 13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137" name="TextBox 136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34" name="Rectangle 133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noGrp="1"/>
          </p:cNvSpPr>
          <p:nvPr/>
        </p:nvSpPr>
        <p:spPr>
          <a:xfrm>
            <a:off x="2304288" y="310896"/>
            <a:ext cx="676656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b="1" spc="260">
                <a:solidFill>
                  <a:srgbClr val="FFC95C"/>
                </a:solidFill>
                <a:latin typeface="Calibri"/>
                <a:ea typeface="Calibri"/>
                <a:cs typeface="Calibri"/>
              </a:rPr>
              <a:t>BSCM FOODS  ·  SPECIAL PRODUCTION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noGrp="1"/>
          </p:cNvSpPr>
          <p:nvPr/>
        </p:nvSpPr>
        <p:spPr>
          <a:xfrm>
            <a:off x="2304288" y="548640"/>
            <a:ext cx="804672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6 × 200 г — собівартість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noGrp="1"/>
          </p:cNvSpPr>
          <p:nvPr/>
        </p:nvSpPr>
        <p:spPr>
          <a:xfrm>
            <a:off x="603504" y="125272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i="1">
                <a:solidFill>
                  <a:srgbClr val="717890"/>
                </a:solidFill>
                <a:latin typeface="Calibri"/>
                <a:ea typeface="Calibri"/>
                <a:cs typeface="Calibri"/>
              </a:rPr>
              <a:t>Спеціальне виробництво · завантаження навалом, FOB Bangkok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2" name="Picture 7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noGrp="1"/>
          </p:cNvSpPr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noGrp="1"/>
          </p:cNvSpPr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noGrp="1"/>
          </p:cNvSpPr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noGrp="1"/>
          </p:cNvSpPr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noGrp="1"/>
          </p:cNvSpPr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$0,550 · 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noGrp="1"/>
          </p:cNvSpPr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noGrp="1"/>
          </p:cNvSpPr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noGrp="1"/>
          </p:cNvSpPr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noGrp="1"/>
          </p:cNvSpPr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$0,953 / 42,87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noGrp="1"/>
          </p:cNvSpPr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noGrp="1"/>
          </p:cNvSpPr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$0,846 / 38,07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noGrp="1"/>
          </p:cNvSpPr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noGrp="1"/>
          </p:cNvSpPr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$0,960 / 43,18 ₴</a:t>
            </a:r>
            <a:endParaRPr sz="95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noGrp="1"/>
          </p:cNvSpPr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noGrp="1"/>
          </p:cNvSpPr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$0,886 / 39,86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noGrp="1"/>
          </p:cNvSpPr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9" name="Picture 7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>
            <a:extLst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noGrp="1"/>
          </p:cNvSpPr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noGrp="1"/>
          </p:cNvSpPr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noGrp="1"/>
          </p:cNvSpPr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noGrp="1"/>
          </p:cNvSpPr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Mexican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noGrp="1"/>
          </p:cNvSpPr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$0,620 · 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noGrp="1"/>
          </p:cNvSpPr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noGrp="1"/>
          </p:cNvSpPr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noGrp="1"/>
          </p:cNvSpPr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noGrp="1"/>
          </p:cNvSpPr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$1,074 / 48,32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noGrp="1"/>
          </p:cNvSpPr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noGrp="1"/>
          </p:cNvSpPr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$0,954 / 42,92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noGrp="1"/>
          </p:cNvSpPr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noGrp="1"/>
          </p:cNvSpPr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$1,082 / 48,68 ₴</a:t>
            </a:r>
            <a:endParaRPr sz="95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noGrp="1"/>
          </p:cNvSpPr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noGrp="1"/>
          </p:cNvSpPr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$0,998 / 44,93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noGrp="1"/>
          </p:cNvSpPr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6" name="Picture 7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>
            <a:extLst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noGrp="1"/>
          </p:cNvSpPr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noGrp="1"/>
          </p:cNvSpPr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noGrp="1"/>
          </p:cNvSpPr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noGrp="1"/>
          </p:cNvSpPr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Japanese Style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noGrp="1"/>
          </p:cNvSpPr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$0,620 · 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noGrp="1"/>
          </p:cNvSpPr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noGrp="1"/>
          </p:cNvSpPr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noGrp="1"/>
          </p:cNvSpPr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noGrp="1"/>
          </p:cNvSpPr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$1,074 / 48,32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noGrp="1"/>
          </p:cNvSpPr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noGrp="1"/>
          </p:cNvSpPr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$0,954 / 42,92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noGrp="1"/>
          </p:cNvSpPr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noGrp="1"/>
          </p:cNvSpPr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$1,082 / 48,68 ₴</a:t>
            </a:r>
            <a:endParaRPr sz="950"/>
          </a:p>
        </p:txBody>
      </p:sp>
      <p:sp>
        <p:nvSpPr>
          <p:cNvPr id="54" name="Text 49">
            <a:extLst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noGrp="1"/>
          </p:cNvSpPr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noGrp="1"/>
          </p:cNvSpPr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$0,998 / 44,93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noGrp="1"/>
          </p:cNvSpPr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3" name="Picture 7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>
            <a:extLst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noGrp="1"/>
          </p:cNvSpPr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noGrp="1"/>
          </p:cNvSpPr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noGrp="1"/>
          </p:cNvSpPr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noGrp="1"/>
          </p:cNvSpPr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Hot and Spicy Rice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noGrp="1"/>
          </p:cNvSpPr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$0,680 · 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noGrp="1"/>
          </p:cNvSpPr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noGrp="1"/>
          </p:cNvSpPr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noGrp="1"/>
          </p:cNvSpPr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noGrp="1"/>
          </p:cNvSpPr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$1,178 / 53,00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noGrp="1"/>
          </p:cNvSpPr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noGrp="1"/>
          </p:cNvSpPr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$1,046 / 47,07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noGrp="1"/>
          </p:cNvSpPr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noGrp="1"/>
          </p:cNvSpPr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$1,186 / 53,39 ₴</a:t>
            </a:r>
            <a:endParaRPr sz="95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noGrp="1"/>
          </p:cNvSpPr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noGrp="1"/>
          </p:cNvSpPr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$1,095 / 49,28 ₴</a:t>
            </a:r>
            <a:endParaRPr sz="950"/>
          </a:p>
        </p:txBody>
      </p:sp>
      <p:sp>
        <p:nvSpPr>
          <p:cNvPr id="73" name="Text 67">
            <a:extLst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Self_Cost_Rice_Brand..xlsx, аркуш «BSCMFoods - Навалом (200г)Pouch». Собівартість: мито 10%, ПДВ 20%, транспорт, кредитні гроші 2,5%.</a:t>
            </a:r>
            <a:endParaRPr sz="900"/>
          </a:p>
        </p:txBody>
      </p:sp>
      <p:pic>
        <p:nvPicPr>
          <p:cNvPr id="136" name="Picture 13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137" name="TextBox 136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85" name="Rectangle 184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noGrp="1"/>
          </p:cNvSpPr>
          <p:nvPr/>
        </p:nvSpPr>
        <p:spPr>
          <a:xfrm>
            <a:off x="2304288" y="310896"/>
            <a:ext cx="676656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b="1" spc="260">
                <a:solidFill>
                  <a:srgbClr val="FFC95C"/>
                </a:solidFill>
                <a:latin typeface="Calibri"/>
                <a:ea typeface="Calibri"/>
                <a:cs typeface="Calibri"/>
              </a:rPr>
              <a:t>НОВЕ ВИРОБНИЦТВО · BSCM FOODS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noGrp="1"/>
          </p:cNvSpPr>
          <p:nvPr/>
        </p:nvSpPr>
        <p:spPr>
          <a:xfrm>
            <a:off x="2304288" y="548640"/>
            <a:ext cx="804672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sz="19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in Plastic Cup 12 × 150 г </a:t>
            </a:r>
            <a:r>
              <a:rPr lang="uk-UA" sz="19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— собівартість</a:t>
            </a:r>
            <a:r>
              <a:rPr lang="ru-UA" sz="19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.</a:t>
            </a:r>
            <a:endParaRPr sz="3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noGrp="1"/>
          </p:cNvSpPr>
          <p:nvPr/>
        </p:nvSpPr>
        <p:spPr>
          <a:xfrm>
            <a:off x="603504" y="125272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i="1">
                <a:solidFill>
                  <a:srgbClr val="717890"/>
                </a:solidFill>
                <a:latin typeface="Calibri"/>
                <a:ea typeface="Calibri"/>
                <a:cs typeface="Calibri"/>
              </a:rPr>
              <a:t>Single Cup with Sleeve Box · W/O Oil · 12 шт. у коробі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noGrp="1"/>
          </p:cNvSpPr>
          <p:nvPr/>
        </p:nvSpPr>
        <p:spPr>
          <a:xfrm>
            <a:off x="711749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noGrp="1"/>
          </p:cNvSpPr>
          <p:nvPr/>
        </p:nvSpPr>
        <p:spPr>
          <a:xfrm>
            <a:off x="711749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noGrp="1"/>
          </p:cNvSpPr>
          <p:nvPr/>
        </p:nvSpPr>
        <p:spPr>
          <a:xfrm>
            <a:off x="711749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noGrp="1"/>
          </p:cNvSpPr>
          <p:nvPr/>
        </p:nvSpPr>
        <p:spPr>
          <a:xfrm>
            <a:off x="711749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Jasmine Rice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noGrp="1"/>
          </p:cNvSpPr>
          <p:nvPr/>
        </p:nvSpPr>
        <p:spPr>
          <a:xfrm>
            <a:off x="711749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$0,500 · базовий SKU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noGrp="1"/>
          </p:cNvSpPr>
          <p:nvPr/>
        </p:nvSpPr>
        <p:spPr>
          <a:xfrm>
            <a:off x="711749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noGrp="1"/>
          </p:cNvSpPr>
          <p:nvPr/>
        </p:nvSpPr>
        <p:spPr>
          <a:xfrm>
            <a:off x="798642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noGrp="1"/>
          </p:cNvSpPr>
          <p:nvPr/>
        </p:nvSpPr>
        <p:spPr>
          <a:xfrm>
            <a:off x="798642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noGrp="1"/>
          </p:cNvSpPr>
          <p:nvPr/>
        </p:nvSpPr>
        <p:spPr>
          <a:xfrm>
            <a:off x="1305516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$0,881 / 39,66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noGrp="1"/>
          </p:cNvSpPr>
          <p:nvPr/>
        </p:nvSpPr>
        <p:spPr>
          <a:xfrm>
            <a:off x="798642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noGrp="1"/>
          </p:cNvSpPr>
          <p:nvPr/>
        </p:nvSpPr>
        <p:spPr>
          <a:xfrm>
            <a:off x="1305516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$0,777 / 34,95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noGrp="1"/>
          </p:cNvSpPr>
          <p:nvPr/>
        </p:nvSpPr>
        <p:spPr>
          <a:xfrm>
            <a:off x="798642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noGrp="1"/>
          </p:cNvSpPr>
          <p:nvPr/>
        </p:nvSpPr>
        <p:spPr>
          <a:xfrm>
            <a:off x="1305516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$0,889 / 39,99 ₴</a:t>
            </a:r>
            <a:endParaRPr sz="95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noGrp="1"/>
          </p:cNvSpPr>
          <p:nvPr/>
        </p:nvSpPr>
        <p:spPr>
          <a:xfrm>
            <a:off x="798642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noGrp="1"/>
          </p:cNvSpPr>
          <p:nvPr/>
        </p:nvSpPr>
        <p:spPr>
          <a:xfrm>
            <a:off x="1305516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$0,816 / 36,70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noGrp="1"/>
          </p:cNvSpPr>
          <p:nvPr/>
        </p:nvSpPr>
        <p:spPr>
          <a:xfrm>
            <a:off x="2820010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noGrp="1"/>
          </p:cNvSpPr>
          <p:nvPr/>
        </p:nvSpPr>
        <p:spPr>
          <a:xfrm>
            <a:off x="2964831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noGrp="1"/>
          </p:cNvSpPr>
          <p:nvPr/>
        </p:nvSpPr>
        <p:spPr>
          <a:xfrm>
            <a:off x="2964831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noGrp="1"/>
          </p:cNvSpPr>
          <p:nvPr/>
        </p:nvSpPr>
        <p:spPr>
          <a:xfrm>
            <a:off x="2964831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noGrp="1"/>
          </p:cNvSpPr>
          <p:nvPr/>
        </p:nvSpPr>
        <p:spPr>
          <a:xfrm>
            <a:off x="2964831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Brown Jasmine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noGrp="1"/>
          </p:cNvSpPr>
          <p:nvPr/>
        </p:nvSpPr>
        <p:spPr>
          <a:xfrm>
            <a:off x="2964831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$0,500 · базовий SKU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noGrp="1"/>
          </p:cNvSpPr>
          <p:nvPr/>
        </p:nvSpPr>
        <p:spPr>
          <a:xfrm>
            <a:off x="2964831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noGrp="1"/>
          </p:cNvSpPr>
          <p:nvPr/>
        </p:nvSpPr>
        <p:spPr>
          <a:xfrm>
            <a:off x="3051724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noGrp="1"/>
          </p:cNvSpPr>
          <p:nvPr/>
        </p:nvSpPr>
        <p:spPr>
          <a:xfrm>
            <a:off x="3051724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noGrp="1"/>
          </p:cNvSpPr>
          <p:nvPr/>
        </p:nvSpPr>
        <p:spPr>
          <a:xfrm>
            <a:off x="3558598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$0,881 / 39,66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noGrp="1"/>
          </p:cNvSpPr>
          <p:nvPr/>
        </p:nvSpPr>
        <p:spPr>
          <a:xfrm>
            <a:off x="3051724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noGrp="1"/>
          </p:cNvSpPr>
          <p:nvPr/>
        </p:nvSpPr>
        <p:spPr>
          <a:xfrm>
            <a:off x="3558598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$0,777 / 34,95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noGrp="1"/>
          </p:cNvSpPr>
          <p:nvPr/>
        </p:nvSpPr>
        <p:spPr>
          <a:xfrm>
            <a:off x="3051724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noGrp="1"/>
          </p:cNvSpPr>
          <p:nvPr/>
        </p:nvSpPr>
        <p:spPr>
          <a:xfrm>
            <a:off x="3558598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$0,889 / 39,99 ₴</a:t>
            </a:r>
            <a:endParaRPr sz="95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noGrp="1"/>
          </p:cNvSpPr>
          <p:nvPr/>
        </p:nvSpPr>
        <p:spPr>
          <a:xfrm>
            <a:off x="3051724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noGrp="1"/>
          </p:cNvSpPr>
          <p:nvPr/>
        </p:nvSpPr>
        <p:spPr>
          <a:xfrm>
            <a:off x="3558598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$0,816 / 36,70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noGrp="1"/>
          </p:cNvSpPr>
          <p:nvPr/>
        </p:nvSpPr>
        <p:spPr>
          <a:xfrm>
            <a:off x="5073091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1" name="Shape 36">
            <a:extLst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noGrp="1"/>
          </p:cNvSpPr>
          <p:nvPr/>
        </p:nvSpPr>
        <p:spPr>
          <a:xfrm>
            <a:off x="5217912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noGrp="1"/>
          </p:cNvSpPr>
          <p:nvPr/>
        </p:nvSpPr>
        <p:spPr>
          <a:xfrm>
            <a:off x="5217912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noGrp="1"/>
          </p:cNvSpPr>
          <p:nvPr/>
        </p:nvSpPr>
        <p:spPr>
          <a:xfrm>
            <a:off x="5217912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noGrp="1"/>
          </p:cNvSpPr>
          <p:nvPr/>
        </p:nvSpPr>
        <p:spPr>
          <a:xfrm>
            <a:off x="5217912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Red Jasmine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noGrp="1"/>
          </p:cNvSpPr>
          <p:nvPr/>
        </p:nvSpPr>
        <p:spPr>
          <a:xfrm>
            <a:off x="5217912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noGrp="1"/>
          </p:cNvSpPr>
          <p:nvPr/>
        </p:nvSpPr>
        <p:spPr>
          <a:xfrm>
            <a:off x="5217912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noGrp="1"/>
          </p:cNvSpPr>
          <p:nvPr/>
        </p:nvSpPr>
        <p:spPr>
          <a:xfrm>
            <a:off x="5304805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noGrp="1"/>
          </p:cNvSpPr>
          <p:nvPr/>
        </p:nvSpPr>
        <p:spPr>
          <a:xfrm>
            <a:off x="5304805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noGrp="1"/>
          </p:cNvSpPr>
          <p:nvPr/>
        </p:nvSpPr>
        <p:spPr>
          <a:xfrm>
            <a:off x="5811679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noGrp="1"/>
          </p:cNvSpPr>
          <p:nvPr/>
        </p:nvSpPr>
        <p:spPr>
          <a:xfrm>
            <a:off x="5304805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noGrp="1"/>
          </p:cNvSpPr>
          <p:nvPr/>
        </p:nvSpPr>
        <p:spPr>
          <a:xfrm>
            <a:off x="5811679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$0,841 / 37,86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noGrp="1"/>
          </p:cNvSpPr>
          <p:nvPr/>
        </p:nvSpPr>
        <p:spPr>
          <a:xfrm>
            <a:off x="5304805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noGrp="1"/>
          </p:cNvSpPr>
          <p:nvPr/>
        </p:nvSpPr>
        <p:spPr>
          <a:xfrm>
            <a:off x="5811679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54" name="Text 49">
            <a:extLst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noGrp="1"/>
          </p:cNvSpPr>
          <p:nvPr/>
        </p:nvSpPr>
        <p:spPr>
          <a:xfrm>
            <a:off x="5304805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noGrp="1"/>
          </p:cNvSpPr>
          <p:nvPr/>
        </p:nvSpPr>
        <p:spPr>
          <a:xfrm>
            <a:off x="5811679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noGrp="1"/>
          </p:cNvSpPr>
          <p:nvPr/>
        </p:nvSpPr>
        <p:spPr>
          <a:xfrm>
            <a:off x="7326173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4" name="Shape 51">
            <a:extLst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noGrp="1"/>
          </p:cNvSpPr>
          <p:nvPr/>
        </p:nvSpPr>
        <p:spPr>
          <a:xfrm>
            <a:off x="9579254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8" name="Shape 52">
            <a:extLst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noGrp="1"/>
          </p:cNvSpPr>
          <p:nvPr/>
        </p:nvSpPr>
        <p:spPr>
          <a:xfrm>
            <a:off x="7470994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50" name="Picture 15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4076" y="1700784"/>
            <a:ext cx="1853711" cy="1810512"/>
          </a:xfrm>
          <a:prstGeom prst="roundRect">
            <a:avLst/>
          </a:prstGeom>
        </p:spPr>
      </p:pic>
      <p:sp>
        <p:nvSpPr>
          <p:cNvPr id="76" name="Shape 52">
            <a:extLst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noGrp="1"/>
          </p:cNvSpPr>
          <p:nvPr/>
        </p:nvSpPr>
        <p:spPr>
          <a:xfrm>
            <a:off x="9724076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noGrp="1"/>
          </p:cNvSpPr>
          <p:nvPr/>
        </p:nvSpPr>
        <p:spPr>
          <a:xfrm>
            <a:off x="7470994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7" name="Shape 53">
            <a:extLst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noGrp="1"/>
          </p:cNvSpPr>
          <p:nvPr/>
        </p:nvSpPr>
        <p:spPr>
          <a:xfrm>
            <a:off x="9724076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noGrp="1"/>
          </p:cNvSpPr>
          <p:nvPr/>
        </p:nvSpPr>
        <p:spPr>
          <a:xfrm>
            <a:off x="7470994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78" name="Text 54">
            <a:extLst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noGrp="1"/>
          </p:cNvSpPr>
          <p:nvPr/>
        </p:nvSpPr>
        <p:spPr>
          <a:xfrm>
            <a:off x="9724076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noGrp="1"/>
          </p:cNvSpPr>
          <p:nvPr/>
        </p:nvSpPr>
        <p:spPr>
          <a:xfrm>
            <a:off x="7470994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Rice Berry</a:t>
            </a:r>
            <a:endParaRPr sz="1450"/>
          </a:p>
        </p:txBody>
      </p:sp>
      <p:sp>
        <p:nvSpPr>
          <p:cNvPr id="79" name="Text 55">
            <a:extLst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noGrp="1"/>
          </p:cNvSpPr>
          <p:nvPr/>
        </p:nvSpPr>
        <p:spPr>
          <a:xfrm>
            <a:off x="9724076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Brown Jasmine Rice with Red Quinoa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noGrp="1"/>
          </p:cNvSpPr>
          <p:nvPr/>
        </p:nvSpPr>
        <p:spPr>
          <a:xfrm>
            <a:off x="7470994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80" name="Text 56">
            <a:extLst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noGrp="1"/>
          </p:cNvSpPr>
          <p:nvPr/>
        </p:nvSpPr>
        <p:spPr>
          <a:xfrm>
            <a:off x="9724076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noGrp="1"/>
          </p:cNvSpPr>
          <p:nvPr/>
        </p:nvSpPr>
        <p:spPr>
          <a:xfrm>
            <a:off x="7470994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Shape 57">
            <a:extLst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noGrp="1"/>
          </p:cNvSpPr>
          <p:nvPr/>
        </p:nvSpPr>
        <p:spPr>
          <a:xfrm>
            <a:off x="9724076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noGrp="1"/>
          </p:cNvSpPr>
          <p:nvPr/>
        </p:nvSpPr>
        <p:spPr>
          <a:xfrm>
            <a:off x="7557887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82" name="Text 58">
            <a:extLst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noGrp="1"/>
          </p:cNvSpPr>
          <p:nvPr/>
        </p:nvSpPr>
        <p:spPr>
          <a:xfrm>
            <a:off x="9810968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noGrp="1"/>
          </p:cNvSpPr>
          <p:nvPr/>
        </p:nvSpPr>
        <p:spPr>
          <a:xfrm>
            <a:off x="7557887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83" name="Text 59">
            <a:extLst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noGrp="1"/>
          </p:cNvSpPr>
          <p:nvPr/>
        </p:nvSpPr>
        <p:spPr>
          <a:xfrm>
            <a:off x="9810968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noGrp="1"/>
          </p:cNvSpPr>
          <p:nvPr/>
        </p:nvSpPr>
        <p:spPr>
          <a:xfrm>
            <a:off x="8064761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84" name="Text 60">
            <a:extLst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noGrp="1"/>
          </p:cNvSpPr>
          <p:nvPr/>
        </p:nvSpPr>
        <p:spPr>
          <a:xfrm>
            <a:off x="10317842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noGrp="1"/>
          </p:cNvSpPr>
          <p:nvPr/>
        </p:nvSpPr>
        <p:spPr>
          <a:xfrm>
            <a:off x="7557887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85" name="Text 61">
            <a:extLst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noGrp="1"/>
          </p:cNvSpPr>
          <p:nvPr/>
        </p:nvSpPr>
        <p:spPr>
          <a:xfrm>
            <a:off x="9810968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noGrp="1"/>
          </p:cNvSpPr>
          <p:nvPr/>
        </p:nvSpPr>
        <p:spPr>
          <a:xfrm>
            <a:off x="8064761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$0,841 / 37,86 ₴</a:t>
            </a:r>
            <a:endParaRPr sz="950"/>
          </a:p>
        </p:txBody>
      </p:sp>
      <p:sp>
        <p:nvSpPr>
          <p:cNvPr id="86" name="Text 62">
            <a:extLst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noGrp="1"/>
          </p:cNvSpPr>
          <p:nvPr/>
        </p:nvSpPr>
        <p:spPr>
          <a:xfrm>
            <a:off x="10317842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$0,841 / 37,86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noGrp="1"/>
          </p:cNvSpPr>
          <p:nvPr/>
        </p:nvSpPr>
        <p:spPr>
          <a:xfrm>
            <a:off x="7557887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87" name="Text 63">
            <a:extLst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noGrp="1"/>
          </p:cNvSpPr>
          <p:nvPr/>
        </p:nvSpPr>
        <p:spPr>
          <a:xfrm>
            <a:off x="9810968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noGrp="1"/>
          </p:cNvSpPr>
          <p:nvPr/>
        </p:nvSpPr>
        <p:spPr>
          <a:xfrm>
            <a:off x="8064761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88" name="Text 64">
            <a:extLst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noGrp="1"/>
          </p:cNvSpPr>
          <p:nvPr/>
        </p:nvSpPr>
        <p:spPr>
          <a:xfrm>
            <a:off x="10317842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noGrp="1"/>
          </p:cNvSpPr>
          <p:nvPr/>
        </p:nvSpPr>
        <p:spPr>
          <a:xfrm>
            <a:off x="7557887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89" name="Text 65">
            <a:extLst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noGrp="1"/>
          </p:cNvSpPr>
          <p:nvPr/>
        </p:nvSpPr>
        <p:spPr>
          <a:xfrm>
            <a:off x="9810968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noGrp="1"/>
          </p:cNvSpPr>
          <p:nvPr/>
        </p:nvSpPr>
        <p:spPr>
          <a:xfrm>
            <a:off x="8064761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90" name="Text 66">
            <a:extLst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noGrp="1"/>
          </p:cNvSpPr>
          <p:nvPr/>
        </p:nvSpPr>
        <p:spPr>
          <a:xfrm>
            <a:off x="10317842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73" name="Text 67">
            <a:extLst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876168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Cup-Photo of Products.pdf, Self Cost Rice Brand.xlsx (BSCM(Bags+Cups) - Навалом, 2026-09 revision) · курс 45,00 UAH/USD.</a:t>
            </a:r>
            <a:endParaRPr sz="900"/>
          </a:p>
        </p:txBody>
      </p:sp>
      <p:pic>
        <p:nvPicPr>
          <p:cNvPr id="181" name="Рисунок 14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11749" y="1700784"/>
            <a:ext cx="1853711" cy="1810512"/>
          </a:xfrm>
          <a:prstGeom prst="roundRect">
            <a:avLst/>
          </a:prstGeom>
        </p:spPr>
      </p:pic>
      <p:pic>
        <p:nvPicPr>
          <p:cNvPr id="182" name="Рисунок 15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964831" y="1700784"/>
            <a:ext cx="1853711" cy="1810512"/>
          </a:xfrm>
          <a:prstGeom prst="roundRect">
            <a:avLst/>
          </a:prstGeom>
        </p:spPr>
      </p:pic>
      <p:pic>
        <p:nvPicPr>
          <p:cNvPr id="183" name="Рисунок 151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217912" y="1700784"/>
            <a:ext cx="1853711" cy="1810512"/>
          </a:xfrm>
          <a:prstGeom prst="roundRect">
            <a:avLst/>
          </a:prstGeom>
        </p:spPr>
      </p:pic>
      <p:pic>
        <p:nvPicPr>
          <p:cNvPr id="184" name="Рисунок 15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7470994" y="1700784"/>
            <a:ext cx="1853711" cy="1810512"/>
          </a:xfrm>
          <a:prstGeom prst="roundRect">
            <a:avLst/>
          </a:prstGeom>
        </p:spPr>
      </p:pic>
      <p:pic>
        <p:nvPicPr>
          <p:cNvPr id="187" name="Picture 18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13" name="Rectangle 11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2304288" y="310896"/>
            <a:ext cx="676656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b="1" spc="260">
                <a:solidFill>
                  <a:srgbClr val="FFC95C"/>
                </a:solidFill>
                <a:latin typeface="Calibri"/>
                <a:ea typeface="Calibri"/>
                <a:cs typeface="Calibri"/>
              </a:rPr>
              <a:t>BSCM FOODS  ·  SINGLE CUP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2304288" y="548640"/>
            <a:ext cx="804672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in Plastic Cup — вигляд упаковки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603504" y="125272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i="1">
                <a:solidFill>
                  <a:srgbClr val="717890"/>
                </a:solidFill>
                <a:latin typeface="Calibri"/>
                <a:ea typeface="Calibri"/>
                <a:cs typeface="Calibri"/>
              </a:rPr>
              <a:t>5 позицій · 150 г · sleeve-бокс · фото з каталогу постачальника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7366CF28-1B6D-49C3-946A-65C3FD0C8631}"/>
              </a:ext>
            </a:extLst>
          </p:cNvPr>
          <p:cNvSpPr>
            <a:spLocks noGrp="1"/>
          </p:cNvSpPr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831A629E-B7E5-4A9F-8D0C-CEFC366EAB2E}"/>
              </a:ext>
            </a:extLst>
          </p:cNvPr>
          <p:cNvSpPr>
            <a:spLocks noGrp="1"/>
          </p:cNvSpPr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noGrp="1"/>
          </p:cNvSpPr>
          <p:nvPr/>
        </p:nvSpPr>
        <p:spPr>
          <a:xfrm>
            <a:off x="7717536" y="4581144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5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SKU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noGrp="1"/>
          </p:cNvSpPr>
          <p:nvPr/>
        </p:nvSpPr>
        <p:spPr>
          <a:xfrm>
            <a:off x="9098280" y="4581144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позицій у лінійці</a:t>
            </a:r>
            <a:endParaRPr sz="105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B6DB6DF8-9EDE-4700-B934-B2C5D27FD37C}"/>
              </a:ext>
            </a:extLst>
          </p:cNvPr>
          <p:cNvSpPr>
            <a:spLocks noGrp="1"/>
          </p:cNvSpPr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noGrp="1"/>
          </p:cNvSpPr>
          <p:nvPr/>
        </p:nvSpPr>
        <p:spPr>
          <a:xfrm>
            <a:off x="7717536" y="5148072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150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г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noGrp="1"/>
          </p:cNvSpPr>
          <p:nvPr/>
        </p:nvSpPr>
        <p:spPr>
          <a:xfrm>
            <a:off x="9098280" y="5148072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нетто в чашці</a:t>
            </a:r>
            <a:endParaRPr sz="105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5F74166D-A4F2-4F13-9CD5-9980A3D4D94F}"/>
              </a:ext>
            </a:extLst>
          </p:cNvPr>
          <p:cNvSpPr>
            <a:spLocks noGrp="1"/>
          </p:cNvSpPr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noGrp="1"/>
          </p:cNvSpPr>
          <p:nvPr/>
        </p:nvSpPr>
        <p:spPr>
          <a:xfrm>
            <a:off x="7717536" y="571500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12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шт.</a:t>
            </a:r>
            <a:endParaRPr sz="19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noGrp="1"/>
          </p:cNvSpPr>
          <p:nvPr/>
        </p:nvSpPr>
        <p:spPr>
          <a:xfrm>
            <a:off x="9098280" y="57150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у коробі, sleeve-бокс</a:t>
            </a:r>
            <a:endParaRPr sz="105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536F47F1-10DF-4B38-8365-3317E620F8C6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Cup-Photo of Products.pdf. Фото — офіційні знімки упаковки від BSCM Foods; ракурси відповідають оригінальному прайс-каталогу.</a:t>
            </a:r>
            <a:endParaRPr sz="9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47E2050-9F89-4CF2-8200-057440EE0702}"/>
              </a:ext>
            </a:extLst>
          </p:cNvPr>
          <p:cNvSpPr>
            <a:spLocks noGrp="1"/>
          </p:cNvSpPr>
          <p:nvPr/>
        </p:nvSpPr>
        <p:spPr>
          <a:xfrm>
            <a:off x="841248" y="1783080"/>
            <a:ext cx="2011680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Thai Jasmine Rice</a:t>
            </a:r>
          </a:p>
        </p:txBody>
      </p:sp>
      <p:pic>
        <p:nvPicPr>
          <p:cNvPr id="90" name="Picture 3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0088" y="1783080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91" name="Picture 3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5112" y="1783080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92" name="Picture 4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0136" y="1783080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9CFE6B9E-0FB3-4922-AF3D-A4F8DDC7D1F2}"/>
              </a:ext>
            </a:extLst>
          </p:cNvPr>
          <p:cNvSpPr>
            <a:spLocks noGrp="1"/>
          </p:cNvSpPr>
          <p:nvPr/>
        </p:nvSpPr>
        <p:spPr>
          <a:xfrm>
            <a:off x="841248" y="2642616"/>
            <a:ext cx="2011680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Thai Brown Jasmine Rice</a:t>
            </a:r>
          </a:p>
        </p:txBody>
      </p:sp>
      <p:pic>
        <p:nvPicPr>
          <p:cNvPr id="94" name="Picture 4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0088" y="2642616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95" name="Picture 4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5112" y="2642616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96" name="Picture 4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0136" y="2642616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0F62E096-7B61-4D3A-B947-80BCA2AABE84}"/>
              </a:ext>
            </a:extLst>
          </p:cNvPr>
          <p:cNvSpPr>
            <a:spLocks noGrp="1"/>
          </p:cNvSpPr>
          <p:nvPr/>
        </p:nvSpPr>
        <p:spPr>
          <a:xfrm>
            <a:off x="841248" y="3502152"/>
            <a:ext cx="2011680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Thai Red Jasmine Rice</a:t>
            </a:r>
          </a:p>
        </p:txBody>
      </p:sp>
      <p:pic>
        <p:nvPicPr>
          <p:cNvPr id="98" name="Picture 4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90088" y="3502152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99" name="Picture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25112" y="3502152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00" name="Picture 4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60136" y="3502152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6AC89C67-252F-4CAD-904D-59AF8AF19A13}"/>
              </a:ext>
            </a:extLst>
          </p:cNvPr>
          <p:cNvSpPr>
            <a:spLocks noGrp="1"/>
          </p:cNvSpPr>
          <p:nvPr/>
        </p:nvSpPr>
        <p:spPr>
          <a:xfrm>
            <a:off x="841248" y="4361688"/>
            <a:ext cx="2011680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Rice Berry</a:t>
            </a:r>
          </a:p>
        </p:txBody>
      </p:sp>
      <p:pic>
        <p:nvPicPr>
          <p:cNvPr id="102" name="Picture 5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90088" y="4361688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03" name="Picture 51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25112" y="4361688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04" name="Picture 52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60136" y="4361688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9FD0070C-BC6F-4CA1-A9D3-3184325616D1}"/>
              </a:ext>
            </a:extLst>
          </p:cNvPr>
          <p:cNvSpPr>
            <a:spLocks noGrp="1"/>
          </p:cNvSpPr>
          <p:nvPr/>
        </p:nvSpPr>
        <p:spPr>
          <a:xfrm>
            <a:off x="841248" y="5221224"/>
            <a:ext cx="2011680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Brown Jasmine Rice with Red Quinoa</a:t>
            </a:r>
          </a:p>
        </p:txBody>
      </p:sp>
      <p:pic>
        <p:nvPicPr>
          <p:cNvPr id="106" name="Picture 54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990088" y="5221224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07" name="Picture 55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325112" y="5221224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08" name="Picture 56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660136" y="5221224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09" name="Picture 57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534656" y="1686581"/>
            <a:ext cx="1979676" cy="1198351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10" name="Picture 58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651492" y="1686581"/>
            <a:ext cx="1979676" cy="1198351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11" name="Picture 59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34656" y="3022092"/>
            <a:ext cx="1979676" cy="1198351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12" name="Picture 60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651492" y="3022092"/>
            <a:ext cx="1979676" cy="1198351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15" name="Picture 114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81" name="Rectangle 80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2304288" y="310896"/>
            <a:ext cx="6766560" cy="2381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950" b="1" i="0" spc="260">
                <a:solidFill>
                  <a:srgbClr val="FFC95C"/>
                </a:solidFill>
                <a:latin typeface="Calibri"/>
                <a:ea typeface="Calibri"/>
                <a:cs typeface="Calibri"/>
              </a:rPr>
              <a:t>BSCM FOODS  ·  DOUBLE CUP  ·  PRIVATE LABEL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2304288" y="548640"/>
            <a:ext cx="8046720" cy="552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9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Double Cup — формат під нашу марку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603504" y="1252728"/>
            <a:ext cx="1088136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950" b="0" i="0">
                <a:solidFill>
                  <a:srgbClr val="717890"/>
                </a:solidFill>
                <a:latin typeface="Calibri"/>
                <a:ea typeface="Calibri"/>
                <a:cs typeface="Calibri"/>
              </a:rPr>
              <a:t>Готовий рис у пластикових стаканчиках · Private Label · приклад — мережа супермаркетів SPAR</a:t>
            </a:r>
            <a:endParaRPr sz="125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noGrp="1"/>
          </p:cNvSpPr>
          <p:nvPr/>
        </p:nvSpPr>
        <p:spPr>
          <a:xfrm>
            <a:off x="6191250" y="1743075"/>
            <a:ext cx="542925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СПОЖИВЧА УПАКОВКА</a:t>
            </a:r>
            <a:endParaRPr sz="17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noGrp="1"/>
          </p:cNvSpPr>
          <p:nvPr/>
        </p:nvSpPr>
        <p:spPr>
          <a:xfrm>
            <a:off x="6143625" y="2238375"/>
            <a:ext cx="5476875" cy="8096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201168" indent="-201168" algn="l">
              <a:buClr>
                <a:srgbClr val="F5CE76"/>
              </a:buClr>
              <a:buFont typeface="Arial"/>
              <a:buNone/>
              <a:defRPr sz="480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480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2 × 125 г</a:t>
            </a:r>
            <a:endParaRPr sz="10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noGrp="1"/>
          </p:cNvSpPr>
          <p:nvPr/>
        </p:nvSpPr>
        <p:spPr>
          <a:xfrm>
            <a:off x="6191250" y="3105150"/>
            <a:ext cx="5429250" cy="36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201168" indent="-201168" algn="l">
              <a:buClr>
                <a:srgbClr val="F5CE76"/>
              </a:buClr>
              <a:buFont typeface="Arial"/>
              <a:buNone/>
              <a:defRPr sz="18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Два стаканчики у sleeve-боксі</a:t>
            </a:r>
            <a:endParaRPr sz="10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noGrp="1"/>
          </p:cNvSpPr>
          <p:nvPr/>
        </p:nvSpPr>
        <p:spPr>
          <a:xfrm>
            <a:off x="6191250" y="3524250"/>
            <a:ext cx="5429250" cy="3143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201168" indent="-201168" algn="l">
              <a:buClr>
                <a:srgbClr val="F5CE76"/>
              </a:buClr>
              <a:buFont typeface="Arial"/>
              <a:buNone/>
              <a:defRPr sz="17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250 г готового рису</a:t>
            </a:r>
            <a:endParaRPr sz="105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196FC4C-6289-4874-9259-944555FAC5FA}"/>
              </a:ext>
            </a:extLst>
          </p:cNvPr>
          <p:cNvSpPr>
            <a:spLocks noGrp="1"/>
          </p:cNvSpPr>
          <p:nvPr/>
        </p:nvSpPr>
        <p:spPr>
          <a:xfrm>
            <a:off x="6364082" y="4364601"/>
            <a:ext cx="5429250" cy="914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buNone/>
              <a:defRPr sz="1800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800" b="1" i="0" dirty="0" err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Тільки</a:t>
            </a:r>
            <a:r>
              <a:rPr sz="1800" b="1" i="0" dirty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 Private Label</a:t>
            </a:r>
          </a:p>
          <a:p>
            <a:pPr algn="l">
              <a:buNone/>
              <a:defRPr sz="1800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500" b="0" i="0" dirty="0" err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Власного</a:t>
            </a:r>
            <a:r>
              <a:rPr sz="1500" b="0" i="0" dirty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бренду</a:t>
            </a:r>
            <a:r>
              <a:rPr sz="1500" b="0" i="0" dirty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 в </a:t>
            </a:r>
            <a:r>
              <a:rPr sz="1500" b="0" i="0" dirty="0" err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цьому</a:t>
            </a:r>
            <a:r>
              <a:rPr sz="1500" b="0" i="0" dirty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форматі</a:t>
            </a:r>
            <a:r>
              <a:rPr sz="1500" b="0" i="0" dirty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немає</a:t>
            </a:r>
            <a:r>
              <a:rPr sz="1500" b="0" i="0" dirty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buNone/>
            </a:pPr>
            <a:r>
              <a:rPr sz="1500" b="0" dirty="0" err="1">
                <a:solidFill>
                  <a:srgbClr val="FCF9F0"/>
                </a:solidFill>
                <a:latin typeface="Calibri"/>
              </a:rPr>
              <a:t>Тільки</a:t>
            </a:r>
            <a:r>
              <a:rPr sz="1500" b="0" dirty="0">
                <a:solidFill>
                  <a:srgbClr val="FCF9F0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FCF9F0"/>
                </a:solidFill>
                <a:latin typeface="Calibri"/>
              </a:rPr>
              <a:t>під</a:t>
            </a:r>
            <a:r>
              <a:rPr sz="1500" b="0" dirty="0">
                <a:solidFill>
                  <a:srgbClr val="FCF9F0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FCF9F0"/>
                </a:solidFill>
                <a:latin typeface="Calibri"/>
              </a:rPr>
              <a:t>торговою</a:t>
            </a:r>
            <a:r>
              <a:rPr sz="1500" b="0" dirty="0">
                <a:solidFill>
                  <a:srgbClr val="FCF9F0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FCF9F0"/>
                </a:solidFill>
                <a:latin typeface="Calibri"/>
              </a:rPr>
              <a:t>маркою</a:t>
            </a:r>
            <a:r>
              <a:rPr sz="1500" b="0" dirty="0">
                <a:solidFill>
                  <a:srgbClr val="FCF9F0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FCF9F0"/>
                </a:solidFill>
                <a:latin typeface="Calibri"/>
              </a:rPr>
              <a:t>замовника</a:t>
            </a:r>
            <a:r>
              <a:rPr sz="1500" b="0" dirty="0">
                <a:solidFill>
                  <a:srgbClr val="FCF9F0"/>
                </a:solidFill>
                <a:latin typeface="Calibri"/>
              </a:rPr>
              <a:t>.</a:t>
            </a:r>
          </a:p>
        </p:txBody>
      </p:sp>
      <p:pic>
        <p:nvPicPr>
          <p:cNvPr id="76" name="Рисунок 75"/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571500" y="2105025"/>
            <a:ext cx="4953000" cy="3714750"/>
          </a:xfrm>
          <a:prstGeom prst="roundRect">
            <a:avLst>
              <a:gd name="adj" fmla="val 3590"/>
            </a:avLst>
          </a:prstGeom>
          <a:ln w="9525">
            <a:solidFill>
              <a:srgbClr val="C89C40"/>
            </a:solidFill>
          </a:ln>
        </p:spPr>
      </p:pic>
      <p:sp>
        <p:nvSpPr>
          <p:cNvPr id="77" name="Rounded Rectangle 76"/>
          <p:cNvSpPr/>
          <p:nvPr/>
        </p:nvSpPr>
        <p:spPr>
          <a:xfrm>
            <a:off x="571500" y="5934456"/>
            <a:ext cx="4953305" cy="722376"/>
          </a:xfrm>
          <a:prstGeom prst="roundRect">
            <a:avLst>
              <a:gd name="adj" fmla="val 8000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929030" y="5905353"/>
            <a:ext cx="1188720" cy="72237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600" b="1" spc="100" dirty="0">
                <a:solidFill>
                  <a:srgbClr val="F5CE76"/>
                </a:solidFill>
                <a:latin typeface="Calibri"/>
              </a:rPr>
              <a:t>SPAR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103120" y="6071616"/>
            <a:ext cx="14630" cy="448056"/>
          </a:xfrm>
          <a:prstGeom prst="rect">
            <a:avLst/>
          </a:prstGeom>
          <a:solidFill>
            <a:srgbClr val="C89C40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2304288" y="6099436"/>
            <a:ext cx="2107821" cy="3924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250" b="1" dirty="0" err="1">
                <a:solidFill>
                  <a:srgbClr val="FCF9F0"/>
                </a:solidFill>
                <a:latin typeface="Calibri"/>
              </a:rPr>
              <a:t>Виготовлено</a:t>
            </a:r>
            <a:r>
              <a:rPr sz="1250" b="1" dirty="0">
                <a:solidFill>
                  <a:srgbClr val="FCF9F0"/>
                </a:solidFill>
                <a:latin typeface="Calibri"/>
              </a:rPr>
              <a:t> </a:t>
            </a:r>
            <a:r>
              <a:rPr sz="1250" b="1" dirty="0" err="1">
                <a:solidFill>
                  <a:srgbClr val="FCF9F0"/>
                </a:solidFill>
                <a:latin typeface="Calibri"/>
              </a:rPr>
              <a:t>для</a:t>
            </a:r>
            <a:r>
              <a:rPr sz="1250" b="1" dirty="0">
                <a:solidFill>
                  <a:srgbClr val="FCF9F0"/>
                </a:solidFill>
                <a:latin typeface="Calibri"/>
              </a:rPr>
              <a:t> </a:t>
            </a:r>
            <a:r>
              <a:rPr sz="1250" b="1" dirty="0" err="1">
                <a:solidFill>
                  <a:srgbClr val="FCF9F0"/>
                </a:solidFill>
                <a:latin typeface="Calibri"/>
              </a:rPr>
              <a:t>мережі</a:t>
            </a:r>
            <a:r>
              <a:rPr sz="1250" b="1" dirty="0">
                <a:solidFill>
                  <a:srgbClr val="FCF9F0"/>
                </a:solidFill>
                <a:latin typeface="Calibri"/>
              </a:rPr>
              <a:t> SPAR</a:t>
            </a:r>
            <a:endParaRPr lang="uk-UA" sz="1250" b="1" dirty="0">
              <a:solidFill>
                <a:srgbClr val="FCF9F0"/>
              </a:solidFill>
              <a:latin typeface="Calibri"/>
            </a:endParaRPr>
          </a:p>
          <a:p>
            <a:pPr algn="l">
              <a:spcBef>
                <a:spcPts val="300"/>
              </a:spcBef>
            </a:pPr>
            <a:r>
              <a:rPr lang="ru-UA" sz="1050" dirty="0">
                <a:solidFill>
                  <a:srgbClr val="D2E4CE"/>
                </a:solidFill>
                <a:latin typeface="Calibri"/>
              </a:rPr>
              <a:t>Р</a:t>
            </a:r>
            <a:r>
              <a:rPr lang="uk-UA" sz="1050" b="0" dirty="0" err="1">
                <a:solidFill>
                  <a:srgbClr val="D2E4CE"/>
                </a:solidFill>
                <a:latin typeface="Calibri"/>
              </a:rPr>
              <a:t>еальний</a:t>
            </a:r>
            <a:r>
              <a:rPr lang="uk-UA" sz="1050" b="0" dirty="0">
                <a:solidFill>
                  <a:srgbClr val="D2E4CE"/>
                </a:solidFill>
                <a:latin typeface="Calibri"/>
              </a:rPr>
              <a:t> кейс </a:t>
            </a:r>
            <a:r>
              <a:rPr lang="en-US" sz="1050" b="0" dirty="0">
                <a:solidFill>
                  <a:srgbClr val="D2E4CE"/>
                </a:solidFill>
                <a:latin typeface="Calibri"/>
              </a:rPr>
              <a:t>Private Label</a:t>
            </a:r>
          </a:p>
        </p:txBody>
      </p:sp>
      <p:pic>
        <p:nvPicPr>
          <p:cNvPr id="83" name="Picture 8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11" name="Rectangle 110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2304288" y="310896"/>
            <a:ext cx="6766560" cy="2381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950" b="1" i="0" spc="260">
                <a:solidFill>
                  <a:srgbClr val="FFC95C"/>
                </a:solidFill>
                <a:latin typeface="Calibri"/>
                <a:ea typeface="Calibri"/>
                <a:cs typeface="Calibri"/>
              </a:rPr>
              <a:t>BSCM FOODS  ·  DOUBLE CUP  ·  7 SKU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2304288" y="548640"/>
            <a:ext cx="8046720" cy="552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900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Double Cup — </a:t>
            </a:r>
            <a:r>
              <a:rPr sz="1900" b="1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асортимент</a:t>
            </a:r>
            <a:r>
              <a:rPr sz="1900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і </a:t>
            </a:r>
            <a:r>
              <a:rPr sz="1900" b="1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собівартість</a:t>
            </a:r>
            <a:r>
              <a:rPr sz="1900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.</a:t>
            </a:r>
            <a:endParaRPr sz="3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603504" y="1252728"/>
            <a:ext cx="1088136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950" b="0" i="0" dirty="0" err="1">
                <a:solidFill>
                  <a:srgbClr val="717890"/>
                </a:solidFill>
                <a:latin typeface="Calibri"/>
                <a:ea typeface="Calibri"/>
                <a:cs typeface="Calibri"/>
              </a:rPr>
              <a:t>За</a:t>
            </a:r>
            <a:r>
              <a:rPr sz="950" b="0" i="0" dirty="0">
                <a:solidFill>
                  <a:srgbClr val="71789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950" b="0" i="0" dirty="0" err="1">
                <a:solidFill>
                  <a:srgbClr val="717890"/>
                </a:solidFill>
                <a:latin typeface="Calibri"/>
                <a:ea typeface="Calibri"/>
                <a:cs typeface="Calibri"/>
              </a:rPr>
              <a:t>споживчу</a:t>
            </a:r>
            <a:r>
              <a:rPr sz="950" b="0" i="0" dirty="0">
                <a:solidFill>
                  <a:srgbClr val="71789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950" b="0" i="0" dirty="0" err="1">
                <a:solidFill>
                  <a:srgbClr val="717890"/>
                </a:solidFill>
                <a:latin typeface="Calibri"/>
                <a:ea typeface="Calibri"/>
                <a:cs typeface="Calibri"/>
              </a:rPr>
              <a:t>упаковку</a:t>
            </a:r>
            <a:r>
              <a:rPr sz="950" b="0" i="0" dirty="0">
                <a:solidFill>
                  <a:srgbClr val="717890"/>
                </a:solidFill>
                <a:latin typeface="Calibri"/>
                <a:ea typeface="Calibri"/>
                <a:cs typeface="Calibri"/>
              </a:rPr>
              <a:t> 2 × 125 г ·</a:t>
            </a:r>
            <a:endParaRPr sz="1250" dirty="0"/>
          </a:p>
        </p:txBody>
      </p:sp>
      <p:sp>
        <p:nvSpPr>
          <p:cNvPr id="63" name="Rounded Rectangle 62"/>
          <p:cNvSpPr/>
          <p:nvPr/>
        </p:nvSpPr>
        <p:spPr>
          <a:xfrm>
            <a:off x="571500" y="1885950"/>
            <a:ext cx="11048970" cy="3676620"/>
          </a:xfrm>
          <a:prstGeom prst="roundRect">
            <a:avLst>
              <a:gd name="adj" fmla="val 2000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891540" y="2123694"/>
            <a:ext cx="3794760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000" b="1" spc="75">
                <a:solidFill>
                  <a:srgbClr val="F5CE76"/>
                </a:solidFill>
                <a:latin typeface="Calibri"/>
              </a:rPr>
              <a:t>READY RICE / SKU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686300" y="2123694"/>
            <a:ext cx="1653532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20′ FCL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39832" y="2123694"/>
            <a:ext cx="1653532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40′ FCL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93365" y="2123694"/>
            <a:ext cx="1653532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LCL 17 М³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646897" y="2123694"/>
            <a:ext cx="1653532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LCL 34 М³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91540" y="2452878"/>
            <a:ext cx="10408890" cy="12802"/>
          </a:xfrm>
          <a:prstGeom prst="rect">
            <a:avLst/>
          </a:prstGeom>
          <a:solidFill>
            <a:srgbClr val="C89C4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891540" y="2580894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Jasmine Rice · без олії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686300" y="2580894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$1,628 / 73,24 ₴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39832" y="2580894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$1,434 / 64,51 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993365" y="2580894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$1,633 / 73,51 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46897" y="2580894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$1,499 / 67,44 ₴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91540" y="2978109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891540" y="2978109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Jasmine Rice · з олією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686300" y="2978109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$1,628 / 73,24 ₴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39832" y="2978109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$1,434 / 64,51 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993365" y="2978109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$1,633 / 73,51 ₴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46897" y="2978109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$1,499 / 67,44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91540" y="3375325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891540" y="3375325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Jasmine Rice (Pathum) · з олією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686300" y="337532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$1,480 / 66,58 ₴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39832" y="337532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$1,303 / 58,65 ₴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93365" y="337532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$1,485 / 66,82 ₴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646897" y="337532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$1,362 / 61,31 ₴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91540" y="3772540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891540" y="3772540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Brown Jasmine Rice · з олією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686300" y="3772540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$1,628 / 73,24 ₴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39832" y="3772540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$1,434 / 64,51 ₴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993365" y="3772540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$1,633 / 73,51 ₴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646897" y="3772540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$1,499 / 67,44 ₴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91540" y="4169755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891540" y="4169755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Brown Rice · з олією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686300" y="416975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$1,628 / 73,24 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339832" y="416975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$1,434 / 64,51 ₴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993365" y="416975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$1,633 / 73,51 ₴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646897" y="416975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$1,499 / 67,44 ₴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91540" y="4566971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891540" y="4566971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Basmati Rice* · з олією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686300" y="4566971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$1,776 / 79,90 ₴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339832" y="4566971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$1,564 / 70,38 ₴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993365" y="4566971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$1,782 / 80,19 ₴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646897" y="4566971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$1,635 / 73,57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91540" y="4964186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891540" y="4964186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Long Grain Rice · з олією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686300" y="4964186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$1,391 / 62,59 ₴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339832" y="4964186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$1,225 / 55,13 ₴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993365" y="4964186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$1,396 / 62,82 ₴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646897" y="4964186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$1,281 / 57,63 ₴</a:t>
            </a:r>
          </a:p>
        </p:txBody>
      </p:sp>
      <p:pic>
        <p:nvPicPr>
          <p:cNvPr id="113" name="Picture 1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54" name="Rectangle 53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2304288" y="310896"/>
            <a:ext cx="6766560" cy="2381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950" b="1" i="0" spc="260">
                <a:solidFill>
                  <a:srgbClr val="FFC95C"/>
                </a:solidFill>
                <a:latin typeface="Calibri"/>
                <a:ea typeface="Calibri"/>
                <a:cs typeface="Calibri"/>
              </a:rPr>
              <a:t>BSCM FOODS  ·  DOUBLE CUP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2304288" y="548640"/>
            <a:ext cx="8046720" cy="552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31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9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Double Cup — як виглядає упаковка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603504" y="1252728"/>
            <a:ext cx="1088136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350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950" b="0" i="0">
                <a:solidFill>
                  <a:srgbClr val="717890"/>
                </a:solidFill>
                <a:latin typeface="Calibri"/>
                <a:ea typeface="Calibri"/>
                <a:cs typeface="Calibri"/>
              </a:rPr>
              <a:t>Два стаканчики по 125 г у картонній обгортці · виробництво під Private Label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noGrp="1"/>
          </p:cNvSpPr>
          <p:nvPr/>
        </p:nvSpPr>
        <p:spPr>
          <a:xfrm>
            <a:off x="571500" y="1695450"/>
            <a:ext cx="11049000" cy="3400425"/>
          </a:xfrm>
          <a:prstGeom prst="roundRect">
            <a:avLst>
              <a:gd name="adj" fmla="val 2372"/>
            </a:avLst>
          </a:prstGeom>
          <a:solidFill>
            <a:srgbClr val="FFFFFF"/>
          </a:solidFill>
          <a:ln w="14288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noGrp="1"/>
          </p:cNvSpPr>
          <p:nvPr/>
        </p:nvSpPr>
        <p:spPr>
          <a:xfrm>
            <a:off x="571500" y="5334000"/>
            <a:ext cx="3238500" cy="4381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2 × 125 г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noGrp="1"/>
          </p:cNvSpPr>
          <p:nvPr/>
        </p:nvSpPr>
        <p:spPr>
          <a:xfrm>
            <a:off x="571500" y="5829300"/>
            <a:ext cx="333375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250 г у споживчій упаковці</a:t>
            </a:r>
            <a:endParaRPr sz="1050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noGrp="1"/>
          </p:cNvSpPr>
          <p:nvPr/>
        </p:nvSpPr>
        <p:spPr>
          <a:xfrm>
            <a:off x="4429125" y="5334000"/>
            <a:ext cx="3238500" cy="4381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Sleeve box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noGrp="1"/>
          </p:cNvSpPr>
          <p:nvPr/>
        </p:nvSpPr>
        <p:spPr>
          <a:xfrm>
            <a:off x="4429125" y="5829300"/>
            <a:ext cx="333375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Картонна обгортка</a:t>
            </a:r>
            <a:endParaRPr sz="1050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noGrp="1"/>
          </p:cNvSpPr>
          <p:nvPr/>
        </p:nvSpPr>
        <p:spPr>
          <a:xfrm>
            <a:off x="8096250" y="5334000"/>
            <a:ext cx="3524250" cy="4381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Private Label</a:t>
            </a:r>
            <a:endParaRPr sz="19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noGrp="1"/>
          </p:cNvSpPr>
          <p:nvPr/>
        </p:nvSpPr>
        <p:spPr>
          <a:xfrm>
            <a:off x="8096250" y="5829300"/>
            <a:ext cx="352425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Друк дизайну замовника</a:t>
            </a:r>
            <a:endParaRPr sz="1050"/>
          </a:p>
        </p:txBody>
      </p:sp>
      <p:pic>
        <p:nvPicPr>
          <p:cNvPr id="51" name="Picture 33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857250" y="1905000"/>
            <a:ext cx="3238500" cy="2952750"/>
          </a:xfrm>
          <a:prstGeom prst="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52" name="Picture 34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429125" y="1971675"/>
            <a:ext cx="3143250" cy="2809875"/>
          </a:xfrm>
          <a:prstGeom prst="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53" name="Picture 3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096250" y="2038350"/>
            <a:ext cx="3190875" cy="2667000"/>
          </a:xfrm>
          <a:prstGeom prst="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38" name="Rectangle 37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CCD19144-9505-47D6-9275-6089C661FC3E}"/>
              </a:ext>
            </a:extLst>
          </p:cNvPr>
          <p:cNvSpPr>
            <a:spLocks noGrp="1"/>
          </p:cNvSpPr>
          <p:nvPr/>
        </p:nvSpPr>
        <p:spPr>
          <a:xfrm>
            <a:off x="2304288" y="310896"/>
            <a:ext cx="676656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b="1" spc="260">
                <a:solidFill>
                  <a:srgbClr val="FFC95C"/>
                </a:solidFill>
                <a:latin typeface="Calibri"/>
                <a:ea typeface="Calibri"/>
                <a:cs typeface="Calibri"/>
              </a:rPr>
              <a:t>ПОСТАЧАЛЬНИК 3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A44E652-7531-4B42-A2E4-24C4B8731333}"/>
              </a:ext>
            </a:extLst>
          </p:cNvPr>
          <p:cNvSpPr>
            <a:spLocks noGrp="1"/>
          </p:cNvSpPr>
          <p:nvPr/>
        </p:nvSpPr>
        <p:spPr>
          <a:xfrm>
            <a:off x="2304288" y="548640"/>
            <a:ext cx="804672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One's International — профіль компанії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23ADB82-A208-4FF8-8484-E70CE2076607}"/>
              </a:ext>
            </a:extLst>
          </p:cNvPr>
          <p:cNvSpPr>
            <a:spLocks noGrp="1"/>
          </p:cNvSpPr>
          <p:nvPr/>
        </p:nvSpPr>
        <p:spPr>
          <a:xfrm>
            <a:off x="603504" y="125272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i="1">
                <a:solidFill>
                  <a:srgbClr val="717890"/>
                </a:solidFill>
                <a:latin typeface="Calibri"/>
                <a:ea typeface="Calibri"/>
                <a:cs typeface="Calibri"/>
              </a:rPr>
              <a:t>Корейський виробник готових страв, бренд KBROS · Ready-to-eat Fried Rice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901CC53-360D-4866-8073-8A9412E5D929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FC212FD-4906-4748-A36F-7D4284B1BC29}"/>
              </a:ext>
            </a:extLst>
          </p:cNvPr>
          <p:cNvSpPr>
            <a:spLocks noGrp="1"/>
          </p:cNvSpPr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3820750-8730-426F-96FA-819EACDEEADD}"/>
              </a:ext>
            </a:extLst>
          </p:cNvPr>
          <p:cNvSpPr>
            <a:spLocks noGrp="1"/>
          </p:cNvSpPr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One's International Co., Ltd. — постачальник готових страв із Республіки Корея. Смажений рис у лотках під брендом KBROS: зберігання за кімнатної температури, розігрів у мікрохвильовці за 90 секунд.</a:t>
            </a:r>
            <a:endParaRPr sz="12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737FF36-89C7-40BF-8029-7E30F7FC5E72}"/>
              </a:ext>
            </a:extLst>
          </p:cNvPr>
          <p:cNvSpPr>
            <a:spLocks noGrp="1"/>
          </p:cNvSpPr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10913A5-A195-4C35-8BEC-22AF2B15B7E7}"/>
              </a:ext>
            </a:extLst>
          </p:cNvPr>
          <p:cNvSpPr>
            <a:spLocks noGrp="1"/>
          </p:cNvSpPr>
          <p:nvPr/>
        </p:nvSpPr>
        <p:spPr>
          <a:xfrm>
            <a:off x="841248" y="338328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6A606B1-78BD-42D4-97F2-25019B04EA50}"/>
              </a:ext>
            </a:extLst>
          </p:cNvPr>
          <p:cNvSpPr>
            <a:spLocks noGrp="1"/>
          </p:cNvSpPr>
          <p:nvPr/>
        </p:nvSpPr>
        <p:spPr>
          <a:xfrm>
            <a:off x="2971800" y="338328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Гурі-сі, Кьонгідо, Республіка Корея</a:t>
            </a:r>
            <a:endParaRPr sz="115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578BF7FC-C005-4DB0-828C-5DE23D336C1C}"/>
              </a:ext>
            </a:extLst>
          </p:cNvPr>
          <p:cNvSpPr>
            <a:spLocks noGrp="1"/>
          </p:cNvSpPr>
          <p:nvPr/>
        </p:nvSpPr>
        <p:spPr>
          <a:xfrm>
            <a:off x="841248" y="371703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Бренд</a:t>
            </a:r>
            <a:endParaRPr sz="10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42A9028-10DB-4B72-B30E-FB49E15FA6C9}"/>
              </a:ext>
            </a:extLst>
          </p:cNvPr>
          <p:cNvSpPr>
            <a:spLocks noGrp="1"/>
          </p:cNvSpPr>
          <p:nvPr/>
        </p:nvSpPr>
        <p:spPr>
          <a:xfrm>
            <a:off x="2971800" y="371703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KBROS · власна ТМ виробника</a:t>
            </a:r>
            <a:endParaRPr sz="11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E95C3E2-EA1E-42D7-A32D-5FC6276536E0}"/>
              </a:ext>
            </a:extLst>
          </p:cNvPr>
          <p:cNvSpPr>
            <a:spLocks noGrp="1"/>
          </p:cNvSpPr>
          <p:nvPr/>
        </p:nvSpPr>
        <p:spPr>
          <a:xfrm>
            <a:off x="841248" y="405079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Умови поставки</a:t>
            </a:r>
            <a:endParaRPr sz="10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D427EAD-08DF-4E7A-9C4C-835EFAE70855}"/>
              </a:ext>
            </a:extLst>
          </p:cNvPr>
          <p:cNvSpPr>
            <a:spLocks noGrp="1"/>
          </p:cNvSpPr>
          <p:nvPr/>
        </p:nvSpPr>
        <p:spPr>
          <a:xfrm>
            <a:off x="2971800" y="405079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FOB Busan · передоплата 100% (T/T)</a:t>
            </a:r>
            <a:endParaRPr sz="11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D34AC2F-EE39-497C-8F1A-55D934AC95C0}"/>
              </a:ext>
            </a:extLst>
          </p:cNvPr>
          <p:cNvSpPr>
            <a:spLocks noGrp="1"/>
          </p:cNvSpPr>
          <p:nvPr/>
        </p:nvSpPr>
        <p:spPr>
          <a:xfrm>
            <a:off x="841248" y="4384548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MOQ</a:t>
            </a:r>
            <a:endParaRPr sz="10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2B1EB85-2BAF-45AA-8C18-39BD7B6AE924}"/>
              </a:ext>
            </a:extLst>
          </p:cNvPr>
          <p:cNvSpPr>
            <a:spLocks noGrp="1"/>
          </p:cNvSpPr>
          <p:nvPr/>
        </p:nvSpPr>
        <p:spPr>
          <a:xfrm>
            <a:off x="2971800" y="4384548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200 коробів на кожне SKU</a:t>
            </a:r>
            <a:endParaRPr sz="11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C1BCD09-C026-44CF-8F8B-173FAD36743F}"/>
              </a:ext>
            </a:extLst>
          </p:cNvPr>
          <p:cNvSpPr>
            <a:spLocks noGrp="1"/>
          </p:cNvSpPr>
          <p:nvPr/>
        </p:nvSpPr>
        <p:spPr>
          <a:xfrm>
            <a:off x="841248" y="4718304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2D27C77E-48F9-4FBD-A728-1F2B80DFD2D6}"/>
              </a:ext>
            </a:extLst>
          </p:cNvPr>
          <p:cNvSpPr>
            <a:spLocks noGrp="1"/>
          </p:cNvSpPr>
          <p:nvPr/>
        </p:nvSpPr>
        <p:spPr>
          <a:xfrm>
            <a:off x="2971800" y="4718304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12 місяців від дати виробництва</a:t>
            </a:r>
            <a:endParaRPr sz="11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54E2C5A1-D625-4BFD-AE8C-D9C86960782D}"/>
              </a:ext>
            </a:extLst>
          </p:cNvPr>
          <p:cNvSpPr>
            <a:spLocks noGrp="1"/>
          </p:cNvSpPr>
          <p:nvPr/>
        </p:nvSpPr>
        <p:spPr>
          <a:xfrm>
            <a:off x="841248" y="505206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Розігрів</a:t>
            </a:r>
            <a:endParaRPr sz="10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FC81496A-087D-4BDF-97C0-9C0AD33F324A}"/>
              </a:ext>
            </a:extLst>
          </p:cNvPr>
          <p:cNvSpPr>
            <a:spLocks noGrp="1"/>
          </p:cNvSpPr>
          <p:nvPr/>
        </p:nvSpPr>
        <p:spPr>
          <a:xfrm>
            <a:off x="2971800" y="505206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мікрохвильова піч, 90 сек</a:t>
            </a:r>
            <a:endParaRPr sz="11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29F56F1-072F-45B9-B669-E6DB5952B5DC}"/>
              </a:ext>
            </a:extLst>
          </p:cNvPr>
          <p:cNvSpPr>
            <a:spLocks noGrp="1"/>
          </p:cNvSpPr>
          <p:nvPr/>
        </p:nvSpPr>
        <p:spPr>
          <a:xfrm>
            <a:off x="841248" y="538581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</a:t>
            </a:r>
            <a:endParaRPr sz="105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422D9B28-342C-4F6C-855A-E29107EE1B2A}"/>
              </a:ext>
            </a:extLst>
          </p:cNvPr>
          <p:cNvSpPr>
            <a:spLocks noGrp="1"/>
          </p:cNvSpPr>
          <p:nvPr/>
        </p:nvSpPr>
        <p:spPr>
          <a:xfrm>
            <a:off x="2971800" y="538581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лоток 200 г / 210 г · 12 шт у коробі</a:t>
            </a:r>
            <a:endParaRPr sz="1150"/>
          </a:p>
        </p:txBody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FE1BA39C-F91D-4286-BEF8-67FC2D0BD2F1}"/>
              </a:ext>
            </a:extLst>
          </p:cNvPr>
          <p:cNvSpPr>
            <a:spLocks noGrp="1"/>
          </p:cNvSpPr>
          <p:nvPr/>
        </p:nvSpPr>
        <p:spPr>
          <a:xfrm>
            <a:off x="841248" y="571957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>
              <a:ext uri="{FF2B5EF4-FFF2-40B4-BE49-F238E27FC236}">
                <a16:creationId xmlns:a16="http://schemas.microsoft.com/office/drawing/2014/main" id="{FD7FBD8F-742F-466D-99D3-4E9D925A8522}"/>
              </a:ext>
            </a:extLst>
          </p:cNvPr>
          <p:cNvSpPr>
            <a:spLocks noGrp="1"/>
          </p:cNvSpPr>
          <p:nvPr/>
        </p:nvSpPr>
        <p:spPr>
          <a:xfrm>
            <a:off x="2971800" y="571957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HACCP · FSSC 22000</a:t>
            </a:r>
            <a:endParaRPr sz="1150"/>
          </a:p>
        </p:txBody>
      </p:sp>
      <p:pic>
        <p:nvPicPr>
          <p:cNvPr id="37" name="Picture 36" descr="hero_collage_t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4656" y="1536192"/>
            <a:ext cx="4096512" cy="3401568"/>
          </a:xfrm>
          <a:prstGeom prst="roundRect">
            <a:avLst/>
          </a:prstGeom>
        </p:spPr>
      </p:pic>
      <p:sp>
        <p:nvSpPr>
          <p:cNvPr id="24" name="Shape 21">
            <a:extLst>
              <a:ext uri="{FF2B5EF4-FFF2-40B4-BE49-F238E27FC236}">
                <a16:creationId xmlns:a16="http://schemas.microsoft.com/office/drawing/2014/main" id="{0A6243D7-99BD-4671-9140-C29A8D2841F5}"/>
              </a:ext>
            </a:extLst>
          </p:cNvPr>
          <p:cNvSpPr>
            <a:spLocks noGrp="1"/>
          </p:cNvSpPr>
          <p:nvPr/>
        </p:nvSpPr>
        <p:spPr>
          <a:xfrm>
            <a:off x="7534656" y="1536192"/>
            <a:ext cx="4096512" cy="3401568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FAD82CE1-305C-4565-A1FE-D051AE2156E0}"/>
              </a:ext>
            </a:extLst>
          </p:cNvPr>
          <p:cNvSpPr>
            <a:spLocks noGrp="1"/>
          </p:cNvSpPr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58CC28A-4F81-47DF-8E77-5628B5CD7532}"/>
              </a:ext>
            </a:extLst>
          </p:cNvPr>
          <p:cNvSpPr>
            <a:spLocks noGrp="1"/>
          </p:cNvSpPr>
          <p:nvPr/>
        </p:nvSpPr>
        <p:spPr>
          <a:xfrm>
            <a:off x="7717536" y="5148072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12</a:t>
            </a:r>
            <a:r>
              <a:rPr sz="1100" b="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міс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3FCE24DD-1F3F-42BD-8089-4BCD25EBA58A}"/>
              </a:ext>
            </a:extLst>
          </p:cNvPr>
          <p:cNvSpPr>
            <a:spLocks noGrp="1"/>
          </p:cNvSpPr>
          <p:nvPr/>
        </p:nvSpPr>
        <p:spPr>
          <a:xfrm>
            <a:off x="9418320" y="5148072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89975636-2973-43EB-8284-82876E89595D}"/>
              </a:ext>
            </a:extLst>
          </p:cNvPr>
          <p:cNvSpPr>
            <a:spLocks noGrp="1"/>
          </p:cNvSpPr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A645AB62-8A4D-4512-8F74-DE418179E43B}"/>
              </a:ext>
            </a:extLst>
          </p:cNvPr>
          <p:cNvSpPr>
            <a:spLocks noGrp="1"/>
          </p:cNvSpPr>
          <p:nvPr/>
        </p:nvSpPr>
        <p:spPr>
          <a:xfrm>
            <a:off x="7717536" y="571500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сек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4117B712-25E2-4520-9FD2-EBDF52F2E339}"/>
              </a:ext>
            </a:extLst>
          </p:cNvPr>
          <p:cNvSpPr>
            <a:spLocks noGrp="1"/>
          </p:cNvSpPr>
          <p:nvPr/>
        </p:nvSpPr>
        <p:spPr>
          <a:xfrm>
            <a:off x="9418320" y="5715000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розігрів у мікрохвильовці</a:t>
            </a:r>
            <a:endParaRPr sz="105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E7A215B1-AD40-45DA-BB18-23E7B159186F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Quotation One's International Co., Ltd. (бренд KBROS), FOB Busan, чинна до 31.12.2026; фото продукції — з комерційної пропозиції постачальника.</a:t>
            </a:r>
            <a:endParaRPr sz="900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37" name="Rectangle 136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C9A6D18B-A944-45D2-8E87-358191F7E4AF}"/>
              </a:ext>
            </a:extLst>
          </p:cNvPr>
          <p:cNvSpPr>
            <a:spLocks noGrp="1"/>
          </p:cNvSpPr>
          <p:nvPr/>
        </p:nvSpPr>
        <p:spPr>
          <a:xfrm>
            <a:off x="2304288" y="310896"/>
            <a:ext cx="676656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b="1" spc="260">
                <a:solidFill>
                  <a:srgbClr val="FFC95C"/>
                </a:solidFill>
                <a:latin typeface="Calibri"/>
                <a:ea typeface="Calibri"/>
                <a:cs typeface="Calibri"/>
              </a:rPr>
              <a:t>ПОСТАЧАЛЬНИК 3  ·  KBROS / ONE'S INTERNATIONAL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B4F6B36-12AD-4E80-B246-044D6B11275B}"/>
              </a:ext>
            </a:extLst>
          </p:cNvPr>
          <p:cNvSpPr>
            <a:spLocks noGrp="1"/>
          </p:cNvSpPr>
          <p:nvPr/>
        </p:nvSpPr>
        <p:spPr>
          <a:xfrm>
            <a:off x="2304288" y="548640"/>
            <a:ext cx="804672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KBROS Fried Rice 12 × 200 г — </a:t>
            </a:r>
            <a:r>
              <a:rPr sz="1900" b="1" dirty="0" err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собівартість</a:t>
            </a:r>
            <a:r>
              <a:rPr sz="19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.</a:t>
            </a:r>
            <a:endParaRPr sz="31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777A169-A18D-4352-B969-19E1FAD489B5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3" name="Picture 132" descr="card_kimch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87232188-1DCC-4781-85AB-61CF6976C5DA}"/>
              </a:ext>
            </a:extLst>
          </p:cNvPr>
          <p:cNvSpPr>
            <a:spLocks noGrp="1"/>
          </p:cNvSpPr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EAA2BFF8-08EA-4127-88A8-7020E461BE87}"/>
              </a:ext>
            </a:extLst>
          </p:cNvPr>
          <p:cNvSpPr>
            <a:spLocks noGrp="1"/>
          </p:cNvSpPr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3312D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E9C00E7C-A4B5-4F70-BF95-2F612003EAA9}"/>
              </a:ext>
            </a:extLst>
          </p:cNvPr>
          <p:cNvSpPr>
            <a:spLocks noGrp="1"/>
          </p:cNvSpPr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ЛОТОК 200 Г · AMBIENT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955875F5-C8AA-4604-BC2B-C7F2B6B61192}"/>
              </a:ext>
            </a:extLst>
          </p:cNvPr>
          <p:cNvSpPr>
            <a:spLocks noGrp="1"/>
          </p:cNvSpPr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Kimchi Fried Rice</a:t>
            </a:r>
            <a:endParaRPr sz="145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4A033679-0F16-416E-9BC4-280F6974334A}"/>
              </a:ext>
            </a:extLst>
          </p:cNvPr>
          <p:cNvSpPr>
            <a:spLocks noGrp="1"/>
          </p:cNvSpPr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C2BA45D7-6F03-4868-BDD2-44FC1BFF8AEA}"/>
              </a:ext>
            </a:extLst>
          </p:cNvPr>
          <p:cNvSpPr>
            <a:spLocks noGrp="1"/>
          </p:cNvSpPr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ЛОТОК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ED9F963D-2EFD-42F1-A3D8-955B0A886C4D}"/>
              </a:ext>
            </a:extLst>
          </p:cNvPr>
          <p:cNvSpPr>
            <a:spLocks noGrp="1"/>
          </p:cNvSpPr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6844CDDA-23FC-437B-9119-7C16195CDFA0}"/>
              </a:ext>
            </a:extLst>
          </p:cNvPr>
          <p:cNvSpPr>
            <a:spLocks noGrp="1"/>
          </p:cNvSpPr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$2,105 / 94,72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27DB5FDD-4BCF-480F-AC44-12CE6BC0A357}"/>
              </a:ext>
            </a:extLst>
          </p:cNvPr>
          <p:cNvSpPr>
            <a:spLocks noGrp="1"/>
          </p:cNvSpPr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82BA0A6-D97E-4819-8CA9-388C425BB098}"/>
              </a:ext>
            </a:extLst>
          </p:cNvPr>
          <p:cNvSpPr>
            <a:spLocks noGrp="1"/>
          </p:cNvSpPr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$1,939 / 87,26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744B828A-FAD0-48B0-A84B-5C4651E029AF}"/>
              </a:ext>
            </a:extLst>
          </p:cNvPr>
          <p:cNvSpPr>
            <a:spLocks noGrp="1"/>
          </p:cNvSpPr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4" name="Text 15">
            <a:extLst>
              <a:ext uri="{FF2B5EF4-FFF2-40B4-BE49-F238E27FC236}">
                <a16:creationId xmlns:a16="http://schemas.microsoft.com/office/drawing/2014/main" id="{744B828A-FAD0-48B0-A84B-5C4651E029AF}"/>
              </a:ext>
            </a:extLst>
          </p:cNvPr>
          <p:cNvSpPr>
            <a:spLocks noGrp="1"/>
          </p:cNvSpPr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13BF0E51-D744-4257-9C8D-7D20E2A440E5}"/>
              </a:ext>
            </a:extLst>
          </p:cNvPr>
          <p:cNvSpPr>
            <a:spLocks noGrp="1"/>
          </p:cNvSpPr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$2,109 / 94,92 ₴</a:t>
            </a:r>
            <a:endParaRPr sz="95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13BF0E51-D744-4257-9C8D-7D20E2A440E5}"/>
              </a:ext>
            </a:extLst>
          </p:cNvPr>
          <p:cNvSpPr>
            <a:spLocks noGrp="1"/>
          </p:cNvSpPr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$1,989 / 89,52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21615AB-3FD4-4403-AFF6-D6A56343CBC2}"/>
              </a:ext>
            </a:extLst>
          </p:cNvPr>
          <p:cNvSpPr>
            <a:spLocks noGrp="1"/>
          </p:cNvSpPr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4" name="Picture 133" descr="card_vegetab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>
            <a:extLst>
              <a:ext uri="{FF2B5EF4-FFF2-40B4-BE49-F238E27FC236}">
                <a16:creationId xmlns:a16="http://schemas.microsoft.com/office/drawing/2014/main" id="{04C442D0-2F30-4863-8F74-AF51825B409B}"/>
              </a:ext>
            </a:extLst>
          </p:cNvPr>
          <p:cNvSpPr>
            <a:spLocks noGrp="1"/>
          </p:cNvSpPr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8FDFA6F-6582-4237-9B22-00A082830131}"/>
              </a:ext>
            </a:extLst>
          </p:cNvPr>
          <p:cNvSpPr>
            <a:spLocks noGrp="1"/>
          </p:cNvSpPr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3312D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3BF42D84-D0AF-4217-B04F-C90FB592237C}"/>
              </a:ext>
            </a:extLst>
          </p:cNvPr>
          <p:cNvSpPr>
            <a:spLocks noGrp="1"/>
          </p:cNvSpPr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ЛОТОК 200 Г · AMBIENT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ACDE96DD-6C77-424C-B5EB-F3F2EA231669}"/>
              </a:ext>
            </a:extLst>
          </p:cNvPr>
          <p:cNvSpPr>
            <a:spLocks noGrp="1"/>
          </p:cNvSpPr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Vegetable Fried Rice</a:t>
            </a:r>
            <a:endParaRPr sz="145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BB6ACCF8-0216-4C21-8A34-38A25C9E2A95}"/>
              </a:ext>
            </a:extLst>
          </p:cNvPr>
          <p:cNvSpPr>
            <a:spLocks noGrp="1"/>
          </p:cNvSpPr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AE847F71-A762-450C-A559-36DCDA518904}"/>
              </a:ext>
            </a:extLst>
          </p:cNvPr>
          <p:cNvSpPr>
            <a:spLocks noGrp="1"/>
          </p:cNvSpPr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ЛОТОК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16B44C2-FF59-4FA7-AB65-3092D174973A}"/>
              </a:ext>
            </a:extLst>
          </p:cNvPr>
          <p:cNvSpPr>
            <a:spLocks noGrp="1"/>
          </p:cNvSpPr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4BFD8799-39A3-483C-B443-61D7961487B8}"/>
              </a:ext>
            </a:extLst>
          </p:cNvPr>
          <p:cNvSpPr>
            <a:spLocks noGrp="1"/>
          </p:cNvSpPr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$2,105 / 94,72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6236FB47-8D66-49B9-890D-86AFDDAD03E0}"/>
              </a:ext>
            </a:extLst>
          </p:cNvPr>
          <p:cNvSpPr>
            <a:spLocks noGrp="1"/>
          </p:cNvSpPr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1C5B3AD2-2E31-4934-829B-92559C96C96C}"/>
              </a:ext>
            </a:extLst>
          </p:cNvPr>
          <p:cNvSpPr>
            <a:spLocks noGrp="1"/>
          </p:cNvSpPr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$1,939 / 87,26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AB5675A7-525E-4791-993A-B3BFA05842FE}"/>
              </a:ext>
            </a:extLst>
          </p:cNvPr>
          <p:cNvSpPr>
            <a:spLocks noGrp="1"/>
          </p:cNvSpPr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20" name="Text 31">
            <a:extLst>
              <a:ext uri="{FF2B5EF4-FFF2-40B4-BE49-F238E27FC236}">
                <a16:creationId xmlns:a16="http://schemas.microsoft.com/office/drawing/2014/main" id="{AB5675A7-525E-4791-993A-B3BFA05842FE}"/>
              </a:ext>
            </a:extLst>
          </p:cNvPr>
          <p:cNvSpPr>
            <a:spLocks noGrp="1"/>
          </p:cNvSpPr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1497E892-700F-4999-8614-DBAADE2E6A5A}"/>
              </a:ext>
            </a:extLst>
          </p:cNvPr>
          <p:cNvSpPr>
            <a:spLocks noGrp="1"/>
          </p:cNvSpPr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$2,109 / 94,92 ₴</a:t>
            </a:r>
            <a:endParaRPr sz="950"/>
          </a:p>
        </p:txBody>
      </p:sp>
      <p:sp>
        <p:nvSpPr>
          <p:cNvPr id="21" name="Text 32">
            <a:extLst>
              <a:ext uri="{FF2B5EF4-FFF2-40B4-BE49-F238E27FC236}">
                <a16:creationId xmlns:a16="http://schemas.microsoft.com/office/drawing/2014/main" id="{1497E892-700F-4999-8614-DBAADE2E6A5A}"/>
              </a:ext>
            </a:extLst>
          </p:cNvPr>
          <p:cNvSpPr>
            <a:spLocks noGrp="1"/>
          </p:cNvSpPr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$1,989 / 89,52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E9A5A22F-E04B-4856-A6EE-5DB1869CB5A4}"/>
              </a:ext>
            </a:extLst>
          </p:cNvPr>
          <p:cNvSpPr>
            <a:spLocks noGrp="1"/>
          </p:cNvSpPr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5" name="Picture 134" descr="card_japcha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>
            <a:extLst>
              <a:ext uri="{FF2B5EF4-FFF2-40B4-BE49-F238E27FC236}">
                <a16:creationId xmlns:a16="http://schemas.microsoft.com/office/drawing/2014/main" id="{F9B242CE-9FC3-4F31-9E90-E76F07CC34D9}"/>
              </a:ext>
            </a:extLst>
          </p:cNvPr>
          <p:cNvSpPr>
            <a:spLocks noGrp="1"/>
          </p:cNvSpPr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A50AE707-BF33-4DC0-8761-DC73CA95E9E3}"/>
              </a:ext>
            </a:extLst>
          </p:cNvPr>
          <p:cNvSpPr>
            <a:spLocks noGrp="1"/>
          </p:cNvSpPr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3312D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83B499CA-E5CA-4A54-A2B7-6FC3B8C2A8E6}"/>
              </a:ext>
            </a:extLst>
          </p:cNvPr>
          <p:cNvSpPr>
            <a:spLocks noGrp="1"/>
          </p:cNvSpPr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ЛОТОК 200 Г · AMBIENT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44658F7D-867D-4A61-B46E-876DD11E5E0F}"/>
              </a:ext>
            </a:extLst>
          </p:cNvPr>
          <p:cNvSpPr>
            <a:spLocks noGrp="1"/>
          </p:cNvSpPr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Japchae Fried Rice</a:t>
            </a:r>
            <a:endParaRPr sz="145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CB4E5E2B-AB82-4890-B02A-60C7FFBEFA40}"/>
              </a:ext>
            </a:extLst>
          </p:cNvPr>
          <p:cNvSpPr>
            <a:spLocks noGrp="1"/>
          </p:cNvSpPr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64AB014A-05C3-45B0-AEEE-0D5F7B45FEB4}"/>
              </a:ext>
            </a:extLst>
          </p:cNvPr>
          <p:cNvSpPr>
            <a:spLocks noGrp="1"/>
          </p:cNvSpPr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ЛОТОК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9FE6818-4F14-4862-A822-5259E90FC4D8}"/>
              </a:ext>
            </a:extLst>
          </p:cNvPr>
          <p:cNvSpPr>
            <a:spLocks noGrp="1"/>
          </p:cNvSpPr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5C9DFA8C-DC12-493F-89E1-05F82142934A}"/>
              </a:ext>
            </a:extLst>
          </p:cNvPr>
          <p:cNvSpPr>
            <a:spLocks noGrp="1"/>
          </p:cNvSpPr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$2,105 / 94,72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351C6F62-3582-446E-9329-137053C4895C}"/>
              </a:ext>
            </a:extLst>
          </p:cNvPr>
          <p:cNvSpPr>
            <a:spLocks noGrp="1"/>
          </p:cNvSpPr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1CB0E785-438F-46B1-9B4D-45FFA085CF82}"/>
              </a:ext>
            </a:extLst>
          </p:cNvPr>
          <p:cNvSpPr>
            <a:spLocks noGrp="1"/>
          </p:cNvSpPr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$1,939 / 87,26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843D82C3-467A-4031-AA4E-8835A62B789E}"/>
              </a:ext>
            </a:extLst>
          </p:cNvPr>
          <p:cNvSpPr>
            <a:spLocks noGrp="1"/>
          </p:cNvSpPr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23" name="Text 47">
            <a:extLst>
              <a:ext uri="{FF2B5EF4-FFF2-40B4-BE49-F238E27FC236}">
                <a16:creationId xmlns:a16="http://schemas.microsoft.com/office/drawing/2014/main" id="{843D82C3-467A-4031-AA4E-8835A62B789E}"/>
              </a:ext>
            </a:extLst>
          </p:cNvPr>
          <p:cNvSpPr>
            <a:spLocks noGrp="1"/>
          </p:cNvSpPr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219E8FB0-85D4-446F-8CAB-519B563DBBC5}"/>
              </a:ext>
            </a:extLst>
          </p:cNvPr>
          <p:cNvSpPr>
            <a:spLocks noGrp="1"/>
          </p:cNvSpPr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$2,109 / 94,92 ₴</a:t>
            </a:r>
            <a:endParaRPr sz="950"/>
          </a:p>
        </p:txBody>
      </p:sp>
      <p:sp>
        <p:nvSpPr>
          <p:cNvPr id="37" name="Text 48">
            <a:extLst>
              <a:ext uri="{FF2B5EF4-FFF2-40B4-BE49-F238E27FC236}">
                <a16:creationId xmlns:a16="http://schemas.microsoft.com/office/drawing/2014/main" id="{219E8FB0-85D4-446F-8CAB-519B563DBBC5}"/>
              </a:ext>
            </a:extLst>
          </p:cNvPr>
          <p:cNvSpPr>
            <a:spLocks noGrp="1"/>
          </p:cNvSpPr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$1,989 / 89,52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251A2DC7-D0DC-4DDD-94FC-121AF67D8149}"/>
              </a:ext>
            </a:extLst>
          </p:cNvPr>
          <p:cNvSpPr>
            <a:spLocks noGrp="1"/>
          </p:cNvSpPr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6" name="Picture 135" descr="card_whit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>
            <a:extLst>
              <a:ext uri="{FF2B5EF4-FFF2-40B4-BE49-F238E27FC236}">
                <a16:creationId xmlns:a16="http://schemas.microsoft.com/office/drawing/2014/main" id="{F2C3BE02-E820-4936-861D-46D3D3E589BF}"/>
              </a:ext>
            </a:extLst>
          </p:cNvPr>
          <p:cNvSpPr>
            <a:spLocks noGrp="1"/>
          </p:cNvSpPr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490DA2D-D85E-4489-896A-3376EF0EC2F2}"/>
              </a:ext>
            </a:extLst>
          </p:cNvPr>
          <p:cNvSpPr>
            <a:spLocks noGrp="1"/>
          </p:cNvSpPr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3312D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1BAD208D-D6B2-4DF7-AE5B-808AFC5016F0}"/>
              </a:ext>
            </a:extLst>
          </p:cNvPr>
          <p:cNvSpPr>
            <a:spLocks noGrp="1"/>
          </p:cNvSpPr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ЛОТОК 210 Г · AMBIENT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D32F869F-1422-4380-8509-FD4EC7795CA7}"/>
              </a:ext>
            </a:extLst>
          </p:cNvPr>
          <p:cNvSpPr>
            <a:spLocks noGrp="1"/>
          </p:cNvSpPr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Cooked White Rice</a:t>
            </a:r>
            <a:endParaRPr sz="145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B87B54C9-A9BC-4125-8EB8-417D870F885A}"/>
              </a:ext>
            </a:extLst>
          </p:cNvPr>
          <p:cNvSpPr>
            <a:spLocks noGrp="1"/>
          </p:cNvSpPr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5CDDC64B-111E-4034-BB84-739716A535C5}"/>
              </a:ext>
            </a:extLst>
          </p:cNvPr>
          <p:cNvSpPr>
            <a:spLocks noGrp="1"/>
          </p:cNvSpPr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ЛОТОК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6A939BB-1670-4E52-9CBF-2148FF618BE5}"/>
              </a:ext>
            </a:extLst>
          </p:cNvPr>
          <p:cNvSpPr>
            <a:spLocks noGrp="1"/>
          </p:cNvSpPr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89315069-AA8B-4FB9-B0D8-4EEFAFCC5D68}"/>
              </a:ext>
            </a:extLst>
          </p:cNvPr>
          <p:cNvSpPr>
            <a:spLocks noGrp="1"/>
          </p:cNvSpPr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$0,971 / 43,72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EF2C8EF4-AF40-4A42-B5F5-CD3A89AECD13}"/>
              </a:ext>
            </a:extLst>
          </p:cNvPr>
          <p:cNvSpPr>
            <a:spLocks noGrp="1"/>
          </p:cNvSpPr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4A437B21-276B-4A8E-B4FA-E55E4C8EB3D4}"/>
              </a:ext>
            </a:extLst>
          </p:cNvPr>
          <p:cNvSpPr>
            <a:spLocks noGrp="1"/>
          </p:cNvSpPr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$0,895 / 40,27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D3FCC8C4-076B-4094-B816-197B2B0E688C}"/>
              </a:ext>
            </a:extLst>
          </p:cNvPr>
          <p:cNvSpPr>
            <a:spLocks noGrp="1"/>
          </p:cNvSpPr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8" name="Text 63">
            <a:extLst>
              <a:ext uri="{FF2B5EF4-FFF2-40B4-BE49-F238E27FC236}">
                <a16:creationId xmlns:a16="http://schemas.microsoft.com/office/drawing/2014/main" id="{D3FCC8C4-076B-4094-B816-197B2B0E688C}"/>
              </a:ext>
            </a:extLst>
          </p:cNvPr>
          <p:cNvSpPr>
            <a:spLocks noGrp="1"/>
          </p:cNvSpPr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AC58F4C-4853-4DE5-929B-AF4822760C15}"/>
              </a:ext>
            </a:extLst>
          </p:cNvPr>
          <p:cNvSpPr>
            <a:spLocks noGrp="1"/>
          </p:cNvSpPr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$0,974 / 43,81 ₴</a:t>
            </a:r>
            <a:endParaRPr sz="950"/>
          </a:p>
        </p:txBody>
      </p:sp>
      <p:sp>
        <p:nvSpPr>
          <p:cNvPr id="40" name="Text 64">
            <a:extLst>
              <a:ext uri="{FF2B5EF4-FFF2-40B4-BE49-F238E27FC236}">
                <a16:creationId xmlns:a16="http://schemas.microsoft.com/office/drawing/2014/main" id="{4AC58F4C-4853-4DE5-929B-AF4822760C15}"/>
              </a:ext>
            </a:extLst>
          </p:cNvPr>
          <p:cNvSpPr>
            <a:spLocks noGrp="1"/>
          </p:cNvSpPr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$0,918 / 41,32 ₴</a:t>
            </a:r>
            <a:endParaRPr sz="950"/>
          </a:p>
        </p:txBody>
      </p:sp>
      <p:pic>
        <p:nvPicPr>
          <p:cNvPr id="139" name="Picture 13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140" name="TextBox 139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РЕКОМЕНДАЦІЯ · ФОРМАТ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Що заводити: азійський стакан як герой лінійки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Три кандидати, оцінені за конкурентною позицією, а не за собівартістю.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FF8EC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17904"/>
            <a:ext cx="3538728" cy="2743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РЕКОМЕНДУЄМО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BSCM · СТАКАН 150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9EA6"/>
                </a:solidFill>
                <a:latin typeface="Segoe UI"/>
              </a:rPr>
              <a:t>139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93 грн/100 г  ·  полиця за фінмоделлю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Ottogi 225–356 грн · Henan 83–156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НАША ПЕРЕВАГА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−45 % до медіани Ottogi (255 грн)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КАНАЛ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20 азійських фудшопів уже продають цю полицю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РИЗИК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Henan дешевший: 83 грн за 144 г. Але це сухий рис під окріп, не готова страва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6384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Єдина наша позиція, що входить у нішу дешевше за діючого лідера. Азійський формат, азійський канал, зрозуміле порівняння для покупця.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34256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34256" y="1517904"/>
            <a:ext cx="3538728" cy="2743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34256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ДРУГИЙ ПРІОРИТЕТ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ONE'S · ЛОТОК 210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D4B96"/>
                </a:solidFill>
                <a:latin typeface="Segoe UI"/>
              </a:rPr>
              <a:t>153 грн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73 грн/100 г  ·  полиця за фінмоделлю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Bibigo 210 г · 135–189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НАША ПЕРЕВАГА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Той самий грамаж, ціна в середині діапазону конкурента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КАНАЛ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Смак Кореї · Rozetka · Prom — де вже стоїть Bibigo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3712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РИЗИК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MOQ 200 коробів на SKU · передоплата 100 % T/T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3712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53712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Найточніше зіставлення в усій лінійці: та сама вага, та сама країна, той самий канал. Заходимо рівно по центру ціни конкурента.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01583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01583" y="1517904"/>
            <a:ext cx="3538728" cy="27432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01583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НЕ ЗАВОДИТИ ЗАРАЗ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BSCM · ПАУЧ 240 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C94F7C"/>
                </a:solidFill>
                <a:latin typeface="Segoe UI"/>
              </a:rPr>
              <a:t>157 грн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40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65 грн/100 г  ·  полиця за фінмоделлю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Ben's Original 45–179 грн, медіана 90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1040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НАША ПОЗИЦІЯ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+74 % до медіани Ben's, 88-й перцентиль його діапазону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ПРОБЛЕМА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40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Mars має заводи в ЄС, нульове мито і 13 SKU в «Сільпо»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УМОВА ВХОДУ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FOB ≤ $0,405 або підтвердження гіпотези щодо ПДВ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321040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21040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Формат правильний — вага збігається з лідером. Але ціновий розрив проти Mars не закривається за поточного FOB.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Ціни — полиця за поточною фінмоделлю (20′ FCL навалом, курс 45, бонус 25 %, маржа 35 %, націнка 1,40). Ринкові ціни конкурентів — роздріб за одну упаковку, 22–23.09.2026.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РЕКОМЕНДАЦІЯ · ЦІНА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Цільова полиця і що для неї потрібно від постачальника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Три цінові сценарії на герой-SKU. Рекомендований — середній.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9FA9C4"/>
                </a:solidFill>
                <a:latin typeface="Segoe UI"/>
              </a:rPr>
              <a:t>АГРЕСИВНИЙ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C2235"/>
                </a:solidFill>
                <a:latin typeface="Segoe UI"/>
              </a:rPr>
              <a:t>119 грн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$0,443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95728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95728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−11 %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Нижче Henan-медіани (140 грн), −53 % до Ottogi. Бере полицю ціною, але вбиває маржу при будь-якому зростанні курсу.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Ризик: немає запасу на бонус вище 25 %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34256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0F9FA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1E9EA6"/>
                </a:solidFill>
                <a:latin typeface="Segoe UI"/>
              </a:rPr>
              <a:t>РЕКОМЕНДОВАНО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E9EA6"/>
                </a:solidFill>
                <a:latin typeface="Segoe UI"/>
              </a:rPr>
              <a:t>129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3712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63056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63056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−4 %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−49 % до медіани Ottogi, −8 % до медіани Henan, у верхній частині вікна мережевої полиці. Зберігає цільову маржу 35 % і залишає простір на промо.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Потрібно від BSCM: FOB $0,480 замість $0,500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01583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9FA9C4"/>
                </a:solidFill>
                <a:latin typeface="Segoe UI"/>
              </a:rPr>
              <a:t>КОМФОРТНИЙ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C2235"/>
                </a:solidFill>
                <a:latin typeface="Segoe UI"/>
              </a:rPr>
              <a:t>139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30384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30384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0 %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Поточний FOB без переговорів. Усе ще −45 % до Ottogi, але дорожче за медіану Henan і на рівні її верхньої межі.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Працює лише в азійському каналі, не в мережі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242816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АРХІТЕКТУРА ЦІН ПО ВСІЙ ЛІНІЙЦІ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4535424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1C2235"/>
                </a:solidFill>
                <a:latin typeface="Segoe UI"/>
              </a:rPr>
              <a:t/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4535424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ТОВАРНА ГРУПА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4535424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РОЛЬ У ЛІНІЙЦІ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04688" y="4535424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ПОЛИЦЯ ЗАРАЗ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03136" y="4535424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ЦІЛЬОВА ПОЛИЦЯ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93023" y="4535424"/>
            <a:ext cx="11704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63455" y="4535424"/>
            <a:ext cx="19933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ОРІЄНТИР НА ПОЛИЦІ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8" y="4773168"/>
            <a:ext cx="10789920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846320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стакан 150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4846320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1E9EA6"/>
                </a:solidFill>
                <a:latin typeface="Segoe UI"/>
              </a:rPr>
              <a:t>Герой · азійський формат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04688" y="4846320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139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03136" y="4846320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129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3023" y="4846320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63455" y="4846320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Ottogi 255 · Henan 140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4999024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5040172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ONE'S лоток 210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5040172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5D4B96"/>
                </a:solidFill>
                <a:latin typeface="Segoe UI"/>
              </a:rPr>
              <a:t>Другий герой · Корея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04688" y="5040172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153 грн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03136" y="5040172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155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93023" y="5040172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~$0,577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363455" y="5040172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Bibigo 135–189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5234025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пауч 200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55848" y="5234025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4820A"/>
                </a:solidFill>
                <a:latin typeface="Segoe UI"/>
              </a:rPr>
              <a:t>Об'єм · вхід у ціну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04688" y="5234025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03136" y="5234025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129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93023" y="5234025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63455" y="5234025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пауч-медіана 109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93776" y="5386730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6928" y="5427878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пауч 240 г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355848" y="5427878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4820A"/>
                </a:solidFill>
                <a:latin typeface="Segoe UI"/>
              </a:rPr>
              <a:t>Мережа · 2-га хвиля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04688" y="5427878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157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03136" y="5427878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109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93023" y="5427878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$0,405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363455" y="5427878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Ben's медіана 90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" y="5621731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CM Premium 250 г органік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355848" y="5621731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7A169"/>
                </a:solidFill>
                <a:latin typeface="Segoe UI"/>
              </a:rPr>
              <a:t>Преміум · нішa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04688" y="5621731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178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803136" y="5621731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178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93023" y="5621731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$0,667 — без змін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363455" y="5621731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Clearspring 252–446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93776" y="5774435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66928" y="5815583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ONE'S Fried Rice 200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55848" y="5815583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94F7C"/>
                </a:solidFill>
                <a:latin typeface="Segoe UI"/>
              </a:rPr>
              <a:t>Переглянути або зняти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504688" y="5815583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332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03136" y="5815583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199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93023" y="5815583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94F7C"/>
                </a:solidFill>
                <a:latin typeface="Segoe UI"/>
              </a:rPr>
              <a:t>~$0,740 (−40 %)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363455" y="5815583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Ottogi 225–356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6928" y="6009436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подвійний стакан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355848" y="6009436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Private label · пізніше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504688" y="6009436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219 грн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803136" y="6009436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179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193023" y="6009436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$0,666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363455" y="6009436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верх вікна полиці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Цільова полиця — наша рекомендація. Потрібний FOB розрахований за формулою полиця = FOB × 268,9 (20′ FCL). FOB для ONE'S — оцінка, постачальник його не розкрив. Перехід на 40′ FCL знижує потрібний FOB на ~10 %.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РЕКОМЕНДАЦІЯ · ПОСТАЧАЛЬНИК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Хто дає найкращий формат і на яку ціну тиснути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Три постачальники в обоймі, оцінені за форматом, гнучкістю та ціновою ефективністю.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17904"/>
            <a:ext cx="3538728" cy="2743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ОСНОВНИЙ ПОСТАЧАЛЬНИК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BSCM FOODS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Таїланд · Бангкок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ФОРМАТИ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240 · спецвиробництво 150/200 · стакан 150 · подвійний стакан 2×125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Єдиний, хто робить стакан — формат, яким ми б'ємо Ottogi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ТЕРМІН ПРИДАТНОСТІ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18 місяців за кімнатної температури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BRC · HACCP · ISO 22000 · GMP · Organic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FOB-ДІАПАЗОН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$0,472 – $0,750 залежно від SKU і ваги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PRIVATE LABEL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Так — подвійний стакан, кейс мережі SPAR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ЦІЛЬОВИЙ FOB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Стакан 150 г: $0,480 замість $0,500 (−4 %).
Пауч 240 г: $0,405 замість $0,583 (−31 %) — якщо йдемо в мережу.
Обов'язково: перехід на 40′ FCL дає ще −12 % до собівартості.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34256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34256" y="1517904"/>
            <a:ext cx="3538728" cy="2743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34256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ТОЧКОВО, ПІД BIBIGO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ONE'S INTERNATIONAL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Корея · Гурі-сі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ФОРМАТИ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Лоток 200 г (fried rice) · лоток 210 г (білий рис)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3712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Корейське походження — премія в азійському каналі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ТЕРМІН ПРИДАТНОСТІ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53712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12 місяців — найкоротший з трьох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53712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53712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HACCP · FSSC 22000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53712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FOB-ДІАПАЗОН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Не розкрито. Оцінка з СС: ~$0,571 і ~$1,238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УМОВИ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53712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MOQ 200 коробів на SKU · передоплата 100 % T/T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53712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53712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ЦІЛЬОВИЙ FOB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53712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Cooked White Rice 210 г: брати як є — б'є Bibigo.
Fried Rice 200 г: потрібен FOB ≈ $0,740 (−40 % до оцінки).
Першим кроком — вимагати розкриття FOB по кожному SKU.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01583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101583" y="1517904"/>
            <a:ext cx="3538728" cy="27432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01583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НІШЕВИЙ ПРЕМІУМ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40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CM PREMIUM RICE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Таїланд · Nakhon Ratchasima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ФОРМАТИ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250 г органік · 24 шт у коробі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21040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40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Сертифікована органіка — інша полиця, інший покупець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1040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ПОТУЖНІСТЬ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120 000 т/рік · 30+ партнерських рисозаводів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21040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BRC · HACCP · ISO 9001 · Halal · Organic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21040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FOB-ДІАПАЗОН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1040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$0,667 — однаковий на всі 4 SKU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1040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ОБМЕЖЕННЯ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21040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Один формат. Гнучкості за вагою немає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21040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21040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37A169"/>
                </a:solidFill>
                <a:latin typeface="Segoe UI"/>
              </a:rPr>
              <a:t>ЦІЛЬОВИЙ FOB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21040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Тиснути не треба: 178 грн проти Clearspring 252–446 грн — ми вже вдвічі дешевші за єдиного органічного конкурента.
Ризик — не ціна, а обсяг: органіка в Україні це мала полиця.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Профілі — за RTE_Rice_Suppliers.pptx. FOB BSCM і CM Premium — з комерційних пропозицій. FOB ONE'S у пропозиції відсутній: значення виведено з собівартості за коефіцієнтом 1,7074 і є ОЦІНКОЮ, не фактом.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ПЛАН ДІЙ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Що робити далі — і в якому порядку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Послідовність від найдешевшого кроку до найдорожчого рішення.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72768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9EA6"/>
                </a:solidFill>
                <a:latin typeface="Segoe U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Запит FOB у ONE'S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1E9EA6"/>
                </a:solidFill>
                <a:latin typeface="Segoe UI"/>
              </a:rPr>
              <a:t>1 ТИЖДЕНЬ · ЗАКУПІВЛЯ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Вимагати FOB по кожному SKU окремо. Cooked White Rice 210 г беремо як є — він б'є Bibigo. Fried Rice 200 г без цієї цифри оцінити неможливо.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4256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4256" y="1572768"/>
            <a:ext cx="41148" cy="2011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9A50B"/>
                </a:solidFill>
                <a:latin typeface="Segoe U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Переговори з BSCM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F9A50B"/>
                </a:solidFill>
                <a:latin typeface="Segoe UI"/>
              </a:rPr>
              <a:t>2–3 ТИЖНІ · ЗАКУПІВЛЯ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Ціль: стакан 150 г за FOB $0,480 і розрахунок під 40′ FCL. Аргумент — обсяг одразу по двох форматах: стакан 150 г і пауч 200 г.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01583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01583" y="1572768"/>
            <a:ext cx="41148" cy="201168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9327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D4B96"/>
                </a:solidFill>
                <a:latin typeface="Segoe U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Дизайн і локалізація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7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5D4B96"/>
                </a:solidFill>
                <a:latin typeface="Segoe UI"/>
              </a:rPr>
              <a:t>3–4 ТИЖНІ · МАРКЕТИНГ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Серед 84 позицій ринку немає жодної україномовної упаковки. Локалізація — безкоштовна відмінність, яку не має жоден конкурент.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3785615"/>
            <a:ext cx="41148" cy="201168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7A169"/>
                </a:solidFill>
                <a:latin typeface="Segoe U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Тест в азійському каналі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37A169"/>
                </a:solidFill>
                <a:latin typeface="Segoe UI"/>
              </a:rPr>
              <a:t>1–2 МІСЯЦІ · ПРОДАЖІ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Завести стакан 150 г у 5 фудшопів: Смак Кореї, Апетітаріум, Gurmissimo, OMG! Asia, Скарби Азії. Там уже стоять Ottogi і Henan.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4256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4256" y="3785615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0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9EA6"/>
                </a:solidFill>
                <a:latin typeface="Segoe U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Зібрати оборотність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1E9EA6"/>
                </a:solidFill>
                <a:latin typeface="Segoe UI"/>
              </a:rPr>
              <a:t>ПАРАЛЕЛЬНО З КРОКОМ 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Продажі поштучно за SKU і тижнями. Без цих даних мережа не заводить нову імпортну категорію — це єдиний аргумент, який працює.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01583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101583" y="3785615"/>
            <a:ext cx="41148" cy="201168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39327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94F7C"/>
                </a:solidFill>
                <a:latin typeface="Segoe UI"/>
              </a:rPr>
              <a:t>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39327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Розмова з «Сільпо»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39327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C94F7C"/>
                </a:solidFill>
                <a:latin typeface="Segoe UI"/>
              </a:rPr>
              <a:t>ПІСЛЯ КРОКУ 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39327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Заходити зі стаканом і паучем 200 г за 129 грн, а не з паучем 240 г за 157 грн. Ben's Original за 90 грн виграє прямий ціновий бій.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943600"/>
            <a:ext cx="10789920" cy="548640"/>
          </a:xfrm>
          <a:prstGeom prst="roundRect">
            <a:avLst>
              <a:gd name="adj" fmla="val 5000"/>
            </a:avLst>
          </a:prstGeom>
          <a:solidFill>
            <a:srgbClr val="FF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6928" y="5943600"/>
            <a:ext cx="41148" cy="5486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" y="6053328"/>
            <a:ext cx="960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9A50B"/>
                </a:solidFill>
                <a:latin typeface="Segoe UI"/>
              </a:rPr>
              <a:t>ГОЛОВНЕ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74519" y="6035040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Вхід у мережу — не перший крок, а п'ятий. Спочатку азійський канал і цифри оборотності, і тільки потім розмова про полицю «Сільпо».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6583680"/>
            <a:ext cx="11064240" cy="246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Eurostat Comext (CN 1904 90 10), 17 мереж zakaz.ua, «Сільпо», Prom, Rozetka, MAUDAU, спеціалізовані фудшопи — 22–23.09.2026 · RICE_PRICING_Slelf_.xlsx · RTE_Rice_Suppliers.pptx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4552</Words>
  <Application>Microsoft Office PowerPoint</Application>
  <PresentationFormat>Широкий екран</PresentationFormat>
  <Paragraphs>932</Paragraphs>
  <Slides>19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19</vt:i4>
      </vt:variant>
    </vt:vector>
  </HeadingPairs>
  <TitlesOfParts>
    <vt:vector size="23" baseType="lpstr">
      <vt:lpstr>Arial</vt:lpstr>
      <vt:lpstr>Calibri</vt:lpstr>
      <vt:lpstr>Segoe UI</vt:lpstr>
      <vt:lpstr>Office Theme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Чаплигін lлля</cp:lastModifiedBy>
  <cp:revision>2</cp:revision>
  <dcterms:created xsi:type="dcterms:W3CDTF">2013-01-27T09:14:16Z</dcterms:created>
  <dcterms:modified xsi:type="dcterms:W3CDTF">2026-09-23T11:30:11Z</dcterms:modified>
  <cp:category/>
</cp:coreProperties>
</file>