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7" r:id="rId27"/>
    <p:sldId id="278" r:id="rId28"/>
    <p:sldId id="260" r:id="rId6"/>
    <p:sldId id="279" r:id="rId29"/>
    <p:sldId id="261" r:id="rId7"/>
    <p:sldId id="287" r:id="rId37"/>
    <p:sldId id="288" r:id="rId3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9" r:id="rId39"/>
    <p:sldId id="290" r:id="rId40"/>
    <p:sldId id="276" r:id="rId26"/>
    <p:sldId id="274" r:id="rId20"/>
    <p:sldId id="291" r:id="rId41"/>
    <p:sldId id="275" r:id="rId25"/>
    <p:sldId id="280" r:id="rId30"/>
    <p:sldId id="281" r:id="rId31"/>
    <p:sldId id="282" r:id="rId32"/>
    <p:sldId id="306" r:id="rId56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12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20" Type="http://schemas.openxmlformats.org/officeDocument/2006/relationships/slide" Target="slides/slide26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8.xml"/><Relationship Id="rId26" Type="http://schemas.openxmlformats.org/officeDocument/2006/relationships/slide" Target="slides/slide25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7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01.jpg"/><Relationship Id="rId4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02.jpg"/><Relationship Id="rId4" Type="http://schemas.openxmlformats.org/officeDocument/2006/relationships/image" Target="../media/image103.jpg"/><Relationship Id="rId5" Type="http://schemas.openxmlformats.org/officeDocument/2006/relationships/image" Target="../media/image104.jpg"/><Relationship Id="rId6" Type="http://schemas.openxmlformats.org/officeDocument/2006/relationships/image" Target="../media/image105.jpg"/><Relationship Id="rId7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06.jpg"/><Relationship Id="rId4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Relationship Id="rId7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10.jpg"/><Relationship Id="rId4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Relationship Id="rId7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Relationship Id="rId7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11.jp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7" Type="http://schemas.openxmlformats.org/officeDocument/2006/relationships/image" Target="../media/image115.png"/><Relationship Id="rId8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16.jpg"/><Relationship Id="rId4" Type="http://schemas.openxmlformats.org/officeDocument/2006/relationships/image" Target="../media/image117.jpg"/><Relationship Id="rId5" Type="http://schemas.openxmlformats.org/officeDocument/2006/relationships/image" Target="../media/image118.jpg"/><Relationship Id="rId6" Type="http://schemas.openxmlformats.org/officeDocument/2006/relationships/image" Target="../media/image119.jpg"/><Relationship Id="rId7" Type="http://schemas.openxmlformats.org/officeDocument/2006/relationships/image" Target="../media/image120.jpg"/><Relationship Id="rId8" Type="http://schemas.openxmlformats.org/officeDocument/2006/relationships/image" Target="../media/image121.jpg"/><Relationship Id="rId9" Type="http://schemas.openxmlformats.org/officeDocument/2006/relationships/image" Target="../media/image122.jpg"/><Relationship Id="rId10" Type="http://schemas.openxmlformats.org/officeDocument/2006/relationships/image" Target="../media/image123.jpg"/><Relationship Id="rId11" Type="http://schemas.openxmlformats.org/officeDocument/2006/relationships/image" Target="../media/image124.jpg"/><Relationship Id="rId12" Type="http://schemas.openxmlformats.org/officeDocument/2006/relationships/image" Target="../media/image125.jpg"/><Relationship Id="rId13" Type="http://schemas.openxmlformats.org/officeDocument/2006/relationships/image" Target="../media/image126.jpg"/><Relationship Id="rId14" Type="http://schemas.openxmlformats.org/officeDocument/2006/relationships/image" Target="../media/image127.jpg"/><Relationship Id="rId15" Type="http://schemas.openxmlformats.org/officeDocument/2006/relationships/image" Target="../media/image128.jpg"/><Relationship Id="rId16" Type="http://schemas.openxmlformats.org/officeDocument/2006/relationships/image" Target="../media/image129.jpg"/><Relationship Id="rId17" Type="http://schemas.openxmlformats.org/officeDocument/2006/relationships/image" Target="../media/image130.jpg"/><Relationship Id="rId18" Type="http://schemas.openxmlformats.org/officeDocument/2006/relationships/image" Target="../media/image131.jpg"/><Relationship Id="rId19" Type="http://schemas.openxmlformats.org/officeDocument/2006/relationships/image" Target="../media/image132.jpg"/><Relationship Id="rId20" Type="http://schemas.openxmlformats.org/officeDocument/2006/relationships/image" Target="../media/image133.jpg"/><Relationship Id="rId21" Type="http://schemas.openxmlformats.org/officeDocument/2006/relationships/image" Target="../media/image134.jpg"/><Relationship Id="rId2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35.png"/><Relationship Id="rId4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36.jpg"/><Relationship Id="rId4" Type="http://schemas.openxmlformats.org/officeDocument/2006/relationships/image" Target="../media/image137.jpg"/><Relationship Id="rId5" Type="http://schemas.openxmlformats.org/officeDocument/2006/relationships/image" Target="../media/image138.jpg"/><Relationship Id="rId6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39.jpg"/><Relationship Id="rId4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40.jpg"/><Relationship Id="rId4" Type="http://schemas.openxmlformats.org/officeDocument/2006/relationships/image" Target="../media/image141.jpg"/><Relationship Id="rId5" Type="http://schemas.openxmlformats.org/officeDocument/2006/relationships/image" Target="../media/image142.jpg"/><Relationship Id="rId6" Type="http://schemas.openxmlformats.org/officeDocument/2006/relationships/image" Target="../media/image143.jpg"/><Relationship Id="rId7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для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розігріву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(30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) — 73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100 г.
У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продається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84.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Решта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73 —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лише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онлайн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маркетплейси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азійські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фудшопи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туристичні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й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військові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магазини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.
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Країни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ЄС — 31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Китай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24,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Україна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16,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Корея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23 бренди у структурі: формат, технологія, ціна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Замість карток — одна таблиця. Сортування за медіанною ціною упаковки.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45–179   ·   мед. 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18–81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94–96   ·   мед. 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109   ·   мед. 109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83–321   ·   мед. 120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98–321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55–156   ·   мед. 133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61–195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133–140   ·   мед. 137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133–140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130–145   ·   мед. 138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153–171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83–156   ·   мед. 140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58–106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135–189   ·   мед. 162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64–90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229   ·   мед. 229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225–356   ·   мед. 255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79–130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521208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525322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322576" y="525322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108960" y="525322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79392" y="525322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321807" y="525322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724144" y="525322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290–370   ·   мед. 310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05472" y="525322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221–308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66175" y="525322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66928" y="5504688"/>
            <a:ext cx="10789920" cy="6583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66928" y="5504688"/>
            <a:ext cx="41148" cy="6583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04672" y="5660136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ПЕРШІ 12 БРЕНДІВ — ДЕШЕВША ПОЛОВИНА РИНКУ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04672" y="5925312"/>
            <a:ext cx="10332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Усі бренди дешевше 400 грн за упаковку. Пауч і чаша займають увесь діапазон 45–356 грн; дойпак і коробка починаються там, де мережева полиця вже закінчилась.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роздрібні за одну упаковку, без оптових порогів. Медіана — за позиціями бренду. Adventure Menu має дві технології (реторт 400 г і сублімат 110 г).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Дорога половина: туризм і саморозігрів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бренди формують «стелю» категорії, але в продуктову мережу не йдуть.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252–446   ·   мед. 349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101–178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Розігрів+Субл.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315–483   ·   мед. 378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79–439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269–715   ·   мед. 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492   ·   мед. 492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501   ·   мед. 501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343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275–889   ·   мед. 515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220–454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380–1190   ·   мед. 680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230–371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699   ·   мед. 699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526–635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931   ·   мед. 931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66928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349240"/>
            <a:ext cx="41148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ТЕХНОЛОГІЯ ВИЗНАЧАЄ КАНАЛ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Сублімація й саморозігрів не конкурують з нами за привід споживання: це похід і відрядження, а не обід у місті.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071616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71616" y="5349240"/>
            <a:ext cx="41148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59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НАШ КОНКУРЕНТНИЙ СЕТ — ВУЗЬКИЙ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09359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Реальних конкурентів у нас п'ять: Ben's Original, Ottogi, Henan, Bibigo і суміжна консерва на полиці мережі.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Trek'n Eat: маса на картках продавців не вказана, грн/100 г не рахується. Qiaoshanmei — рис у пакеті під окріп, не саморозігрів.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 2 позиції без указаної маси до розрахунку грн/100 г не входять.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41849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НАЙДЕШЕВШИЙ ГРАМ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200–249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50 грн за 100 г — мінімум
по всіх вагових смугах.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Медіана грн/100 г — за всіма позиціями, що потрапили у вагову смугу, незалежно від формату.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129 грн · 59 грн/100 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ГРАМ У ТОПІ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36 грн/100 г —
втричі дешевше за чашу 174 г.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0369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8362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6355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34348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2341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90334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45–65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6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50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0369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78362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56355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4348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12341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 грн/100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25856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25856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83133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83133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41324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1324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8601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8601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56792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56792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14069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14069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25856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25856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83133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83133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1324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41324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98601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98601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56792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6792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Готова страва з наповнювачем. Найдорожча упаковка сегмента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82–84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91–103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91–130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94–124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124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117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88950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88950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9320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9320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306055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306055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0975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50975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8950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88950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9320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9320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306055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06055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50975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0975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до заливання.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74–90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80–90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64–86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83864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5352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840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106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СЕГМЕНТ 2 · СУХИЙ РИС ПІД ОКРІП   ·   Окріп, 5–10 хв   ·   Маса — сухого продукту   ·   привід: Офіс і гуртожиток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138 ГРН МЕДІАНА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43814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3814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99632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99632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96111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6111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3814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43814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199632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99632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96111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6111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ПООДИНОКІ БРЕНДИ · 4 БРЕНДИ, 4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 — по одній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сегмент розігріву, але різні країни, ваги й канали. Gallina Blanca у правій частині — інший сегмент, рис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64–90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101–178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31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найдешевший грам категорії, 27–31 грн за 100 г.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361688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61688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99632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37575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37575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84663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84663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283–294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364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348–364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359–365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331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735 ГРН МЕДІАНА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6656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6656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889504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889504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93208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93208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306055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306055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09759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509759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6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6656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89504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889504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93208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93208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306055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06055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509759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09759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КИТАЙСЬКИЙ САМОРОЗІГРІВ · РЕШТА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 — 4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три бренди в одному магазині. Qiaoshanmei у правій частині — інший сегмент: рис у пакеті під окріп, не саморозігрів.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грн: 167 грн за 100 г, дешевше за грам, ніж Haidilao (230–371).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735 ГРН МЕДІАНА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361688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61688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99632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37575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37575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84663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84663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Німеччина, США, Нідерланди. Залити окропом на 8–10 хвилин.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220–412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236–412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412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281–324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324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356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635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526 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34348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337 грн/100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98601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601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ГОТОВА СТРАВА І СУБЛІМАТ · 2 БРЕНДИ,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реторт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94–101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79–89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75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994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344–439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913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355–439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221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156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264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075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308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79–101 грн за 100 г: у тому ж коридорі, що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6656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6656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889504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889504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093208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93208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06055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306055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509759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09759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889504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889504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09320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9320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українське виробництво категорії. Канал — outdoor- і мілітарі-рітейл.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92–153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195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61–90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171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153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0369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98 грн/100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321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133–140 грн/100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є на полиці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пауча з готовим рисом, зате мають суміжну категорію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48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781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42–46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47,6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88,0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487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17556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5824" y="1755648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755648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ГРН/УП.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755648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4704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1938528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4096" y="193852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19385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4" y="1938528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1938528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193852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36–81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04704" y="1938528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153412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54096" y="2153412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21534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5824" y="2153412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2153412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4" y="215341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04704" y="2153412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724911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54096" y="2724911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2724911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35824" y="2724911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2724911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864" y="272491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4704" y="2724911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2939795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54096" y="2939795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2939795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4" y="2939795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74736" y="2939795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98864" y="293979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04704" y="2939795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54679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54096" y="3154679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315467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35824" y="3154679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3154679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98864" y="315467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04704" y="3154679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369563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54096" y="3369563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37376" y="336956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4" y="3369563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3369563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98864" y="33695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04704" y="3369563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584447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4096" y="3584447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37376" y="3584447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35824" y="3584447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74736" y="3584447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8864" y="35844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04704" y="3584447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4155947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54096" y="4155947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37376" y="4155947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35824" y="4155947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4736" y="4155947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98864" y="41559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45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04704" y="4155947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6928" y="4370831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54096" y="4370831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37376" y="4370831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35824" y="4370831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74736" y="4370831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98864" y="43708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24–34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204704" y="4370831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4585716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54096" y="4585716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37376" y="458571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35824" y="45857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74736" y="4585716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98864" y="458571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04704" y="4585716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5157216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54096" y="5157216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37376" y="515721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735824" y="51572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74736" y="5157216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198864" y="515721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04704" y="5157216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39999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Точки продажу за картками продавців і каталогами магазинів, 22–23.09.2026. Outdoor- і мілітарі-рітейл: 40 точок, поіменно наведено 10 найбільших. Агрегатори zakaz.ua і GoToShop у підрахунок точок продажу не входять.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ПОЗИЦІОНУВАННЯ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Де ми стоїмо
і що заводити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Зіставлення фінансової моделі з полицею, рекомендація формату й ціни, цільовий FOB.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ТОВАРНИХ ГРУП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СЦЕНАРІЇВ ЦІНИ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166 грн за 100 г.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100 ГРАМІВ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Головна перевірка: скільки коштує грам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за упаковку приховує вагу. За грам картина інша — і вона для нас гірша.</a:t>
            </a:r>
          </a:p>
        </p:txBody>
      </p:sp>
      <p:pic>
        <p:nvPicPr>
          <p:cNvPr id="10" name="Picture 9" descr="c2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1064240" cy="42574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92040"/>
            <a:ext cx="41148" cy="129844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ЖОДНОГО НАШОГО SKU У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Вікно 18–50 грн за 100 г тримають Ben's Original (41), суміжна консерва (40) і медіана пауча (44). Наш найкращий показник — 65 грн у BSCM пауч 240 г. Це +59 % до медіани категорії.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892040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НЕ ВИРОК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За грам ми програємо, за упаковку — ні. Покупець у мережі порівнює цінник, а не грн/100 г. Але категорійний менеджер дивиться саме на грн/100 г — і це буде головне заперечення на переговорах.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Медіани за 100 г розраховані як медіана ціни формату / медіану ваги формату; для брендів — із карток продавців. Наші значення — за поточною фінмоделлю, 20′ FCL навалом.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63040"/>
            <a:ext cx="7635240" cy="259353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ПОСТАЧАЛЬНИКИ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Хто виробляє
і скільки це коштує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Профілі трьох постачальників в обоймі та собівартість кожного SKU за чотирма схемами поставки.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ФОРМАТІВ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SKU З ЦІНОЮ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СХЕМ ПОСТАВКИ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2" name="Rectangle 6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 dirty="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3" name="Rectangle 13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 dirty="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1  ·  CHEFREY / CM PREMIUM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</a:t>
            </a:r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 Organic RTE 6 × 250 г — </a:t>
            </a:r>
            <a:r>
              <a:rPr sz="19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собівартість</a:t>
            </a:r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1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8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5" name="Imag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2" name="Imag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$1,017 / 45,78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73" name="Rectangle 7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 dirty="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4" name="Rectangle 133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 dirty="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2  ·  BSCM FOODS</a:t>
            </a:r>
            <a:endParaRPr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 </a:t>
            </a:r>
            <a:r>
              <a:rPr lang="uk-UA"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— собівартість</a:t>
            </a:r>
            <a:r>
              <a:rPr lang="ru-UA"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950" b="1" i="0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50" b="0" i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5905500" y="1809750"/>
            <a:ext cx="5715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5857875" y="2286000"/>
            <a:ext cx="5762625" cy="9048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5905500" y="3333750"/>
            <a:ext cx="5715000" cy="5429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5924550" y="3886200"/>
            <a:ext cx="5695950" cy="3333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pic>
        <p:nvPicPr>
          <p:cNvPr id="9" name="Picture 76">
            <a:extLst>
              <a:ext uri="{FF2B5EF4-FFF2-40B4-BE49-F238E27FC236}">
                <a16:creationId xmlns:a16="http://schemas.microsoft.com/office/drawing/2014/main" id="{56818BA5-2DCA-2A8F-62CF-8E4394983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30" y="2095500"/>
            <a:ext cx="3711223" cy="2870399"/>
          </a:xfrm>
          <a:prstGeom prst="round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4" name="Rectangle 133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4" name="Rectangle 133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85" name="Rectangle 184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 </a:t>
            </a:r>
            <a:r>
              <a:rPr lang="uk-UA"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— собівартість</a:t>
            </a:r>
            <a:r>
              <a:rPr lang="ru-UA"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11749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11749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11749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11749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11749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11749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798642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798642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305516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798642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305516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798642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305516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798642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305516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2820010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2964831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2964831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2964831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2964831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2964831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2964831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051724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051724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3558598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051724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3558598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051724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3558598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051724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3558598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5073091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5217912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5217912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5217912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5217912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5217912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5217912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5304805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5304805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5811679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5304805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5811679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5304805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5811679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5304805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5811679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7326173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4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579254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7470994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0" name="Picture 15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4076" y="1700784"/>
            <a:ext cx="1853711" cy="1810512"/>
          </a:xfrm>
          <a:prstGeom prst="roundRect">
            <a:avLst/>
          </a:prstGeom>
        </p:spPr>
      </p:pic>
      <p:sp>
        <p:nvSpPr>
          <p:cNvPr id="76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724076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7470994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724076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7470994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724076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7470994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724076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7470994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724076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7470994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724076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7557887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810968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7557887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810968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8064761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10317842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7557887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810968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8064761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86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10317842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7557887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810968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8064761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10317842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7557887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810968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8064761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10317842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1749" y="1700784"/>
            <a:ext cx="1853711" cy="1810512"/>
          </a:xfrm>
          <a:prstGeom prst="roundRect">
            <a:avLst/>
          </a:prstGeom>
        </p:spPr>
      </p:pic>
      <p:pic>
        <p:nvPicPr>
          <p:cNvPr id="182" name="Рисунок 15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964831" y="1700784"/>
            <a:ext cx="1853711" cy="1810512"/>
          </a:xfrm>
          <a:prstGeom prst="roundRect">
            <a:avLst/>
          </a:prstGeom>
        </p:spPr>
      </p:pic>
      <p:pic>
        <p:nvPicPr>
          <p:cNvPr id="183" name="Рисунок 15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217912" y="1700784"/>
            <a:ext cx="1853711" cy="1810512"/>
          </a:xfrm>
          <a:prstGeom prst="roundRect">
            <a:avLst/>
          </a:prstGeom>
        </p:spPr>
      </p:pic>
      <p:pic>
        <p:nvPicPr>
          <p:cNvPr id="184" name="Рисунок 15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70994" y="1700784"/>
            <a:ext cx="1853711" cy="1810512"/>
          </a:xfrm>
          <a:prstGeom prst="roundRect">
            <a:avLst/>
          </a:prstGeom>
        </p:spPr>
      </p:pic>
      <p:pic>
        <p:nvPicPr>
          <p:cNvPr id="187" name="Picture 1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13" name="Rectangle 11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noGrp="1"/>
          </p:cNvSpPr>
          <p:nvPr/>
        </p:nvSpPr>
        <p:spPr>
          <a:xfrm>
            <a:off x="841248" y="1783080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088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0136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noGrp="1"/>
          </p:cNvSpPr>
          <p:nvPr/>
        </p:nvSpPr>
        <p:spPr>
          <a:xfrm>
            <a:off x="841248" y="2642616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0088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5112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0136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noGrp="1"/>
          </p:cNvSpPr>
          <p:nvPr/>
        </p:nvSpPr>
        <p:spPr>
          <a:xfrm>
            <a:off x="841248" y="3502152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90088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5112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0136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noGrp="1"/>
          </p:cNvSpPr>
          <p:nvPr/>
        </p:nvSpPr>
        <p:spPr>
          <a:xfrm>
            <a:off x="841248" y="4361688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90088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25112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60136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noGrp="1"/>
          </p:cNvSpPr>
          <p:nvPr/>
        </p:nvSpPr>
        <p:spPr>
          <a:xfrm>
            <a:off x="841248" y="5221224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90088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25112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60136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34656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651492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34656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51492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81" name="Rectangle 8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950" b="1" i="0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50" b="0" i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Private Label · приклад — мережа супермаркетів SPAR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6191250" y="1743075"/>
            <a:ext cx="5429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6143625" y="2238375"/>
            <a:ext cx="5476875" cy="8096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429250" cy="36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6191250" y="3524250"/>
            <a:ext cx="5429250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noGrp="1"/>
          </p:cNvSpPr>
          <p:nvPr/>
        </p:nvSpPr>
        <p:spPr>
          <a:xfrm>
            <a:off x="6364082" y="4364601"/>
            <a:ext cx="5429250" cy="914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1" i="0" dirty="0" err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Тільки</a:t>
            </a:r>
            <a:r>
              <a:rPr sz="1800" b="1" i="0" dirty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 Private Label</a:t>
            </a:r>
          </a:p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бренду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цьому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форматі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buNone/>
            </a:pPr>
            <a:r>
              <a:rPr sz="1500" b="0" dirty="0" err="1">
                <a:solidFill>
                  <a:srgbClr val="FCF9F0"/>
                </a:solidFill>
                <a:latin typeface="Calibri"/>
              </a:rPr>
              <a:t>Тільки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під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торговою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маркою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замовника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.</a:t>
            </a:r>
          </a:p>
        </p:txBody>
      </p:sp>
      <p:pic>
        <p:nvPicPr>
          <p:cNvPr id="76" name="Рисунок 7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105025"/>
            <a:ext cx="4953000" cy="3714750"/>
          </a:xfrm>
          <a:prstGeom prst="roundRect">
            <a:avLst>
              <a:gd name="adj" fmla="val 3590"/>
            </a:avLst>
          </a:prstGeom>
          <a:ln w="9525">
            <a:solidFill>
              <a:srgbClr val="C89C40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71500" y="5934456"/>
            <a:ext cx="4953305" cy="722376"/>
          </a:xfrm>
          <a:prstGeom prst="roundRect">
            <a:avLst>
              <a:gd name="adj" fmla="val 8000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29030" y="5905353"/>
            <a:ext cx="1188720" cy="7223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600" b="1" spc="100" dirty="0">
                <a:solidFill>
                  <a:srgbClr val="F5CE76"/>
                </a:solidFill>
                <a:latin typeface="Calibri"/>
              </a:rPr>
              <a:t>SPAR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6071616"/>
            <a:ext cx="14630" cy="448056"/>
          </a:xfrm>
          <a:prstGeom prst="rect">
            <a:avLst/>
          </a:prstGeom>
          <a:solidFill>
            <a:srgbClr val="C89C4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304288" y="6099436"/>
            <a:ext cx="2107821" cy="3924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50" b="1" dirty="0" err="1">
                <a:solidFill>
                  <a:srgbClr val="FCF9F0"/>
                </a:solidFill>
                <a:latin typeface="Calibri"/>
              </a:rPr>
              <a:t>Виготовлено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для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мережі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SPAR</a:t>
            </a:r>
            <a:endParaRPr lang="uk-UA" sz="1250" b="1" dirty="0">
              <a:solidFill>
                <a:srgbClr val="FCF9F0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lang="ru-UA" sz="1050" dirty="0">
                <a:solidFill>
                  <a:srgbClr val="D2E4CE"/>
                </a:solidFill>
                <a:latin typeface="Calibri"/>
              </a:rPr>
              <a:t>Р</a:t>
            </a:r>
            <a:r>
              <a:rPr lang="uk-UA" sz="1050" b="0" dirty="0" err="1">
                <a:solidFill>
                  <a:srgbClr val="D2E4CE"/>
                </a:solidFill>
                <a:latin typeface="Calibri"/>
              </a:rPr>
              <a:t>еальний</a:t>
            </a:r>
            <a:r>
              <a:rPr lang="uk-UA" sz="1050" b="0" dirty="0">
                <a:solidFill>
                  <a:srgbClr val="D2E4CE"/>
                </a:solidFill>
                <a:latin typeface="Calibri"/>
              </a:rPr>
              <a:t> кейс </a:t>
            </a:r>
            <a:r>
              <a:rPr lang="en-US" sz="1050" b="0" dirty="0">
                <a:solidFill>
                  <a:srgbClr val="D2E4CE"/>
                </a:solidFill>
                <a:latin typeface="Calibri"/>
              </a:rPr>
              <a:t>Private Label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11" name="Rectangle 11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950" b="1" i="0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</a:t>
            </a:r>
            <a:r>
              <a:rPr sz="1900" b="1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асортимент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і </a:t>
            </a:r>
            <a:r>
              <a:rPr sz="1900" b="1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собівартість</a:t>
            </a:r>
            <a:r>
              <a:rPr sz="1900" b="1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50" b="0" i="0" dirty="0" err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За</a:t>
            </a:r>
            <a:r>
              <a:rPr sz="950" b="0" i="0" dirty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950" b="0" i="0" dirty="0" err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споживчу</a:t>
            </a:r>
            <a:r>
              <a:rPr sz="950" b="0" i="0" dirty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950" b="0" i="0" dirty="0" err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упаковку</a:t>
            </a:r>
            <a:r>
              <a:rPr sz="950" b="0" i="0" dirty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 2 × 125 г ·</a:t>
            </a:r>
            <a:endParaRPr sz="1250" dirty="0"/>
          </a:p>
        </p:txBody>
      </p:sp>
      <p:sp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$1,480 / 66,58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$1,303 / 58,65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$1,485 / 66,82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$1,362 / 61,31 ₴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$1,776 / 79,90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$1,564 / 70,38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$1,782 / 80,19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$1,635 / 73,57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$1,391 / 62,59 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$1,225 / 55,13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$1,396 / 62,82 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$1,281 / 57,63 ₴</a:t>
            </a:r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950" b="1" i="0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50" b="0" i="0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11049000" cy="3400425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4288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571500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571500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4429125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4429125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8096250" y="5334000"/>
            <a:ext cx="352425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8096250" y="5829300"/>
            <a:ext cx="3524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7250" y="1905000"/>
            <a:ext cx="3238500" cy="295275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429125" y="1971675"/>
            <a:ext cx="3143250" cy="2809875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096250" y="2038350"/>
            <a:ext cx="3190875" cy="266700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3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One's International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603504" y="125272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717890"/>
                </a:solidFill>
                <a:latin typeface="Calibri"/>
                <a:ea typeface="Calibri"/>
                <a:cs typeface="Calibri"/>
              </a:rPr>
              <a:t>Корейський виробник готових страв, бренд KBROS · Ready-to-eat Fried Rice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One's International Co., Ltd. — постачальник готових страв із Республіки Корея. Смажений рис у лотках під брендом KBROS: зберігання за кімнатної температури, розігрів у мікрохвильовці за 90 секунд.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Гурі-сі, Кьонгідо, Республіка Корея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Бренд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KBROS · власна ТМ виробника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Умови поставки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FOB Busan · передоплата 100% (T/T)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MOQ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200 коробів на кожне SKU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місяців від дати виробництва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лоток 200 г / 210 г · 12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HACCP · FSSC 22000</a:t>
            </a:r>
            <a:endParaRPr sz="1150"/>
          </a:p>
        </p:txBody>
      </p:sp>
      <p:pic>
        <p:nvPicPr>
          <p:cNvPr id="37" name="Picture 36" descr="hero_collage_t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1536192"/>
            <a:ext cx="4096512" cy="3401568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3401568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 b="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Quotation One's International Co., Ltd. (бренд KBROS), FOB Busan, чинна до 31.12.2026; фото продукції — з комерційної пропозиції постачальника.</a:t>
            </a:r>
            <a:endParaRPr sz="900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37" name="Rectangle 136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2304288" y="310896"/>
            <a:ext cx="6766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b="1" spc="260">
                <a:solidFill>
                  <a:srgbClr val="FFC95C"/>
                </a:solidFill>
                <a:latin typeface="Calibri"/>
                <a:ea typeface="Calibri"/>
                <a:cs typeface="Calibri"/>
              </a:rPr>
              <a:t>ПОСТАЧАЛЬНИК 3  ·  KBROS / ONE'S INTERNATIONAL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2304288" y="5486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KBROS Fried Rice 12 × 200 г — </a:t>
            </a:r>
            <a:r>
              <a:rPr sz="1900" b="1" dirty="0" err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собівартість</a:t>
            </a:r>
            <a:r>
              <a:rPr sz="19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.</a:t>
            </a:r>
            <a:endParaRPr sz="31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132" descr="card_kimch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Kimchi Fried Rice</a:t>
            </a:r>
            <a:endParaRPr sz="145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4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4" name="Picture 133" descr="card_vegetab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Vegetable Fried Rice</a:t>
            </a:r>
            <a:endParaRPr sz="145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20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21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5" name="Picture 134" descr="card_japcha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Japchae Fried Rice</a:t>
            </a:r>
            <a:endParaRPr sz="145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$2,105 / 94,72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$1,939 / 87,26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23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$2,109 / 94,92 ₴</a:t>
            </a:r>
            <a:endParaRPr sz="950"/>
          </a:p>
        </p:txBody>
      </p:sp>
      <p:sp>
        <p:nvSpPr>
          <p:cNvPr id="37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$1,989 / 89,52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6" name="Picture 135" descr="card_whit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210 Г · AMBIENT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Cooked White Rice</a:t>
            </a:r>
            <a:endParaRPr sz="145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$0,971 / 43,72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$0,895 / 40,27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8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$0,974 / 43,81 ₴</a:t>
            </a:r>
            <a:endParaRPr sz="950"/>
          </a:p>
        </p:txBody>
      </p:sp>
      <p:sp>
        <p:nvSpPr>
          <p:cNvPr id="4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$0,918 / 41,32 ₴</a:t>
            </a:r>
            <a:endParaRPr sz="950"/>
          </a:p>
        </p:txBody>
      </p:sp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93 грн/100 г  ·  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73 грн/100 г  ·  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65 грн/100 г  ·  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