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7" r:id="rId27"/>
    <p:sldId id="278" r:id="rId28"/>
    <p:sldId id="260" r:id="rId6"/>
    <p:sldId id="279" r:id="rId29"/>
    <p:sldId id="261" r:id="rId7"/>
    <p:sldId id="287" r:id="rId37"/>
    <p:sldId id="288" r:id="rId38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89" r:id="rId39"/>
    <p:sldId id="290" r:id="rId40"/>
    <p:sldId id="276" r:id="rId26"/>
    <p:sldId id="273" r:id="rId19"/>
    <p:sldId id="274" r:id="rId20"/>
    <p:sldId id="291" r:id="rId41"/>
    <p:sldId id="275" r:id="rId25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‹№›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4.jp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3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Relationship Id="rId12" Type="http://schemas.openxmlformats.org/officeDocument/2006/relationships/image" Target="../media/image16.jpg"/><Relationship Id="rId13" Type="http://schemas.openxmlformats.org/officeDocument/2006/relationships/image" Target="../media/image17.jpg"/><Relationship Id="rId14" Type="http://schemas.openxmlformats.org/officeDocument/2006/relationships/image" Target="../media/image18.jpg"/><Relationship Id="rId15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image" Target="../media/image25.jpg"/><Relationship Id="rId9" Type="http://schemas.openxmlformats.org/officeDocument/2006/relationships/image" Target="../media/image6.jpg"/><Relationship Id="rId10" Type="http://schemas.openxmlformats.org/officeDocument/2006/relationships/image" Target="../media/image26.jpg"/><Relationship Id="rId11" Type="http://schemas.openxmlformats.org/officeDocument/2006/relationships/image" Target="../media/image27.jpg"/><Relationship Id="rId12" Type="http://schemas.openxmlformats.org/officeDocument/2006/relationships/image" Target="../media/image2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jpg"/><Relationship Id="rId4" Type="http://schemas.openxmlformats.org/officeDocument/2006/relationships/image" Target="../media/image4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Relationship Id="rId7" Type="http://schemas.openxmlformats.org/officeDocument/2006/relationships/image" Target="../media/image32.jpg"/><Relationship Id="rId8" Type="http://schemas.openxmlformats.org/officeDocument/2006/relationships/image" Target="../media/image33.jpg"/><Relationship Id="rId9" Type="http://schemas.openxmlformats.org/officeDocument/2006/relationships/image" Target="../media/image34.jpg"/><Relationship Id="rId10" Type="http://schemas.openxmlformats.org/officeDocument/2006/relationships/image" Target="../media/image3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5.jpg"/><Relationship Id="rId6" Type="http://schemas.openxmlformats.org/officeDocument/2006/relationships/image" Target="../media/image43.jpg"/><Relationship Id="rId7" Type="http://schemas.openxmlformats.org/officeDocument/2006/relationships/image" Target="../media/image44.jpg"/><Relationship Id="rId8" Type="http://schemas.openxmlformats.org/officeDocument/2006/relationships/image" Target="../media/image45.jpg"/><Relationship Id="rId9" Type="http://schemas.openxmlformats.org/officeDocument/2006/relationships/image" Target="../media/image46.jpg"/><Relationship Id="rId10" Type="http://schemas.openxmlformats.org/officeDocument/2006/relationships/image" Target="../media/image47.jpg"/><Relationship Id="rId11" Type="http://schemas.openxmlformats.org/officeDocument/2006/relationships/image" Target="../media/image48.jpg"/><Relationship Id="rId12" Type="http://schemas.openxmlformats.org/officeDocument/2006/relationships/image" Target="../media/image4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Relationship Id="rId6" Type="http://schemas.openxmlformats.org/officeDocument/2006/relationships/image" Target="../media/image53.jpg"/><Relationship Id="rId7" Type="http://schemas.openxmlformats.org/officeDocument/2006/relationships/image" Target="../media/image54.jpg"/><Relationship Id="rId8" Type="http://schemas.openxmlformats.org/officeDocument/2006/relationships/image" Target="../media/image5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jpg"/><Relationship Id="rId4" Type="http://schemas.openxmlformats.org/officeDocument/2006/relationships/image" Target="../media/image56.jpg"/><Relationship Id="rId5" Type="http://schemas.openxmlformats.org/officeDocument/2006/relationships/image" Target="../media/image57.jpg"/><Relationship Id="rId6" Type="http://schemas.openxmlformats.org/officeDocument/2006/relationships/image" Target="../media/image58.jpg"/><Relationship Id="rId7" Type="http://schemas.openxmlformats.org/officeDocument/2006/relationships/image" Target="../media/image59.jpg"/><Relationship Id="rId8" Type="http://schemas.openxmlformats.org/officeDocument/2006/relationships/image" Target="../media/image60.jpg"/><Relationship Id="rId9" Type="http://schemas.openxmlformats.org/officeDocument/2006/relationships/image" Target="../media/image61.jpg"/><Relationship Id="rId10" Type="http://schemas.openxmlformats.org/officeDocument/2006/relationships/image" Target="../media/image62.jpg"/><Relationship Id="rId11" Type="http://schemas.openxmlformats.org/officeDocument/2006/relationships/image" Target="../media/image63.jpg"/><Relationship Id="rId12" Type="http://schemas.openxmlformats.org/officeDocument/2006/relationships/image" Target="../media/image64.jpg"/><Relationship Id="rId13" Type="http://schemas.openxmlformats.org/officeDocument/2006/relationships/image" Target="../media/image65.jpg"/><Relationship Id="rId14" Type="http://schemas.openxmlformats.org/officeDocument/2006/relationships/image" Target="../media/image6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7.jpg"/><Relationship Id="rId4" Type="http://schemas.openxmlformats.org/officeDocument/2006/relationships/image" Target="../media/image68.jpg"/><Relationship Id="rId5" Type="http://schemas.openxmlformats.org/officeDocument/2006/relationships/image" Target="../media/image69.jpg"/><Relationship Id="rId6" Type="http://schemas.openxmlformats.org/officeDocument/2006/relationships/image" Target="../media/image70.jpg"/><Relationship Id="rId7" Type="http://schemas.openxmlformats.org/officeDocument/2006/relationships/image" Target="../media/image71.jpg"/><Relationship Id="rId8" Type="http://schemas.openxmlformats.org/officeDocument/2006/relationships/image" Target="../media/image72.jpg"/><Relationship Id="rId9" Type="http://schemas.openxmlformats.org/officeDocument/2006/relationships/image" Target="../media/image73.jpg"/><Relationship Id="rId10" Type="http://schemas.openxmlformats.org/officeDocument/2006/relationships/image" Target="../media/image7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5.jpg"/><Relationship Id="rId4" Type="http://schemas.openxmlformats.org/officeDocument/2006/relationships/image" Target="../media/image76.jpg"/><Relationship Id="rId5" Type="http://schemas.openxmlformats.org/officeDocument/2006/relationships/image" Target="../media/image77.jpg"/><Relationship Id="rId6" Type="http://schemas.openxmlformats.org/officeDocument/2006/relationships/image" Target="../media/image78.jpg"/><Relationship Id="rId7" Type="http://schemas.openxmlformats.org/officeDocument/2006/relationships/image" Target="../media/image79.jpg"/><Relationship Id="rId8" Type="http://schemas.openxmlformats.org/officeDocument/2006/relationships/image" Target="../media/image80.jpg"/><Relationship Id="rId9" Type="http://schemas.openxmlformats.org/officeDocument/2006/relationships/image" Target="../media/image81.jpg"/><Relationship Id="rId10" Type="http://schemas.openxmlformats.org/officeDocument/2006/relationships/image" Target="../media/image82.jpg"/><Relationship Id="rId11" Type="http://schemas.openxmlformats.org/officeDocument/2006/relationships/image" Target="../media/image83.jpg"/><Relationship Id="rId12" Type="http://schemas.openxmlformats.org/officeDocument/2006/relationships/image" Target="../media/image84.jpg"/><Relationship Id="rId13" Type="http://schemas.openxmlformats.org/officeDocument/2006/relationships/image" Target="../media/image8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6.jpg"/><Relationship Id="rId4" Type="http://schemas.openxmlformats.org/officeDocument/2006/relationships/image" Target="../media/image87.jpg"/><Relationship Id="rId5" Type="http://schemas.openxmlformats.org/officeDocument/2006/relationships/image" Target="../media/image88.jpg"/><Relationship Id="rId6" Type="http://schemas.openxmlformats.org/officeDocument/2006/relationships/image" Target="../media/image89.jpg"/><Relationship Id="rId7" Type="http://schemas.openxmlformats.org/officeDocument/2006/relationships/image" Target="../media/image90.jpg"/><Relationship Id="rId8" Type="http://schemas.openxmlformats.org/officeDocument/2006/relationships/image" Target="../media/image9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d_bg_titl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md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75488"/>
            <a:ext cx="1773936" cy="7680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" y="2139696"/>
            <a:ext cx="64008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542032"/>
            <a:ext cx="65836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600" b="1" i="0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681728"/>
            <a:ext cx="5394960" cy="50292"/>
          </a:xfrm>
          <a:prstGeom prst="rect">
            <a:avLst/>
          </a:prstGeom>
          <a:solidFill>
            <a:srgbClr val="556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52944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60" y="1005840"/>
            <a:ext cx="1385606" cy="19385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857232" y="877824"/>
            <a:ext cx="2148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hn_scallop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536" y="1094494"/>
            <a:ext cx="1856232" cy="176121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52944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5260" y="3328416"/>
            <a:ext cx="1664208" cy="166420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857232" y="3200400"/>
            <a:ext cx="2148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ot_bibimba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3536" y="3345065"/>
            <a:ext cx="1856232" cy="163090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F9A50B"/>
                </a:solidFill>
                <a:latin typeface="Segoe UI"/>
              </a:rPr>
              <a:t>182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68880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88336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88336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37A169"/>
                </a:solidFill>
                <a:latin typeface="Segoe UI"/>
              </a:rPr>
              <a:t>87–110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8336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199632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19088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7B5EA7"/>
                </a:solidFill>
                <a:latin typeface="Segoe UI"/>
              </a:rPr>
              <a:t>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23 брендів, 56 продавців.
У мережі — 11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65008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065008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84464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4464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4464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30384" y="1719072"/>
            <a:ext cx="1700784" cy="177393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930384" y="1719072"/>
            <a:ext cx="1700784" cy="82296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149840" y="1956815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2176272"/>
            <a:ext cx="126187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5B6B8C"/>
                </a:solidFill>
                <a:latin typeface="Segoe UI"/>
              </a:rPr>
              <a:t>250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49840" y="2633472"/>
            <a:ext cx="1261872" cy="768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 i="0">
                <a:solidFill>
                  <a:srgbClr val="1C2235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3504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03504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 dirty="0">
                <a:solidFill>
                  <a:srgbClr val="D5DBEA"/>
                </a:solidFill>
                <a:latin typeface="Segoe UI"/>
              </a:rPr>
              <a:t>1.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імпортується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але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потрапляє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11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із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84 — і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всі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це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Ben's Original у «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».
2.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Зростання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2025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року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дає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Болгарія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44,8 → 78,3 т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рік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+75 %.
3.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Формат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який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реально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працює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полиці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пауч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220–250 г: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медіана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109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грн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за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упаковку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найнижча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категорії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
4.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Готового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рису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в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Україні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не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виробляють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: 100 %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обсягу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 — </a:t>
            </a:r>
            <a:r>
              <a:rPr sz="1000" b="0" i="0" dirty="0" err="1">
                <a:solidFill>
                  <a:srgbClr val="D5DBEA"/>
                </a:solidFill>
                <a:latin typeface="Segoe UI"/>
              </a:rPr>
              <a:t>імпорт</a:t>
            </a:r>
            <a:r>
              <a:rPr sz="1000" b="0" i="0" dirty="0">
                <a:solidFill>
                  <a:srgbClr val="D5DBEA"/>
                </a:solidFill>
                <a:latin typeface="Segoe UI"/>
              </a:rPr>
              <a:t>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9632" y="3712463"/>
            <a:ext cx="5358384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6199632" y="3712463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510528" y="389534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0528" y="4224527"/>
            <a:ext cx="4809744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Немає чаші за 100–150 грн у мережі: Ottogi коштує 225–356 грн, Henan 83–156, але обидва лише онлайн.
2. Немає українського виробника готового рису в паучі для мікрохвильовки — українські 16 позицій це або консерва, або сублімат для туризму.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22–23.09.2026. Ємність роздрібу — оцінка, метод на слайді 03.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182 тонн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6675120" cy="30540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188366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ІМПОРТ ГОТОВОГО РИСУ З ЄС, ТОНН НА РІК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74133"/>
            <a:ext cx="786384" cy="895530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305467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€294k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22575"/>
            <a:ext cx="786384" cy="1847088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773936" y="2103120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3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€553k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2326190"/>
            <a:ext cx="786384" cy="1843473"/>
          </a:xfrm>
          <a:prstGeom prst="roundRect">
            <a:avLst>
              <a:gd name="adj" fmla="val 10000"/>
            </a:avLst>
          </a:prstGeom>
          <a:solidFill>
            <a:srgbClr val="C2C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88336" y="2106734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83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83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€567k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016589"/>
            <a:ext cx="786384" cy="1153074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02736" y="2797133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27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27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€434k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032855"/>
            <a:ext cx="786384" cy="1136808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17136" y="2813399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€428k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0" y="3166597"/>
            <a:ext cx="786384" cy="1003066"/>
          </a:xfrm>
          <a:prstGeom prst="roundRect">
            <a:avLst>
              <a:gd name="adj" fmla="val 10000"/>
            </a:avLst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31536" y="2947141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15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1C2235"/>
                </a:solidFill>
                <a:latin typeface="Segoe UI"/>
              </a:rPr>
              <a:t>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€475k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2548491"/>
            <a:ext cx="786384" cy="1621172"/>
          </a:xfrm>
          <a:prstGeom prst="roundRect">
            <a:avLst>
              <a:gd name="adj" fmla="val 1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45936" y="2329035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F9A50B"/>
                </a:solidFill>
                <a:latin typeface="Segoe UI"/>
              </a:rPr>
              <a:t>179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4224527"/>
            <a:ext cx="8961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2025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4407407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750" b="0" i="0">
                <a:solidFill>
                  <a:srgbClr val="717890"/>
                </a:solidFill>
                <a:latin typeface="Segoe UI"/>
              </a:rPr>
              <a:t>€823k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5537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2025 рік — рекорд за вартістю: 823 тис. € проти 475 тис. € у 2024-му.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98079" y="1719072"/>
            <a:ext cx="4059936" cy="30540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35823" y="1883664"/>
            <a:ext cx="35844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3" y="210312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Болгарія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2148839"/>
            <a:ext cx="1218179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978131" y="209397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78,3 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35823" y="23774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Польща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2423159"/>
            <a:ext cx="1468660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228612" y="23682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94,4 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3" y="265175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Італія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2697479"/>
            <a:ext cx="87123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847075" y="264261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5,6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823" y="292607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Іспанія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86800" y="297179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796528" y="291693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5823" y="320039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Франція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686800" y="324611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96528" y="319125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0,4 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823" y="347471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Корея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86800" y="352043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796528" y="346557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2,0 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5823" y="3749039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Китай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3794759"/>
            <a:ext cx="36576" cy="11887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96528" y="3739895"/>
            <a:ext cx="8229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717890"/>
                </a:solidFill>
                <a:latin typeface="Segoe UI"/>
              </a:rPr>
              <a:t>1,0 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5823" y="4059935"/>
            <a:ext cx="3584448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Болгарія і Польща — 95 % тонажу. Це заводи ЄС, що пакують рис у пауч.
Корея і Китай разом дають 3,1 т — це чаші Ottogi, Bibigo та Henan.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3504" y="4809744"/>
            <a:ext cx="10954512" cy="1316736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03504" y="4809744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4956048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35424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182 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35424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імпорт 2025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24144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0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39 млн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0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51775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× 2,2–2,8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51775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мито 0 %, ПДВ, маржа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40496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59952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87–110 млн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59952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48672" y="497433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9A50B"/>
                </a:solidFill>
                <a:latin typeface="Segoe UI"/>
              </a:rPr>
              <a:t>→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68128" y="4956048"/>
            <a:ext cx="133502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≈ 830 тис.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5212080"/>
            <a:ext cx="133502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FA9C4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5303520"/>
            <a:ext cx="347472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 i="0">
                <a:solidFill>
                  <a:srgbClr val="B9C2DA"/>
                </a:solidFill>
                <a:latin typeface="Segoe UI"/>
              </a:rPr>
              <a:t>Перевірка з іншого боку: 830 тис. упаковок × 110 грн медіани = 91 млн грн. Два методи сходяться.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Eurostat Comext DS-045409, CN 1904 90 10 «рис приготовлений», експорт ЄС→Україна, 2019–2025; UN Comtrade (Корея, Китай, Таїланд, 2025); курс НБУ (середній 2025: 47,15 грн/€, 41,71 грн/$).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23 бренди, чотири технології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F9A50B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9A50B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45 – 446 грн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10712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0712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30168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C94F7C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0168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12 позицій · 3 бренди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0168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0168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30168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C94F7C"/>
                </a:solidFill>
                <a:latin typeface="Segoe UI"/>
              </a:rPr>
              <a:t>138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0168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83 – 501 грн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217920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37376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7B5EA7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14 позицій · 4 бренди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7376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7376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37376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7B5EA7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380 – 1 190 грн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25128" y="1737360"/>
            <a:ext cx="2578608" cy="2688336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025128" y="1737360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244584" y="1920240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E9EA6"/>
                </a:solidFill>
                <a:latin typeface="Segoe UI"/>
              </a:rPr>
              <a:t>СУБЛІМАЦІЯ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2176272"/>
            <a:ext cx="215798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303A5D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42032"/>
            <a:ext cx="2157984" cy="6766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584" y="3255264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44584" y="3712463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244584" y="3803904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ЗА 1 УПАКОВКУ · МЕДІАНА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44584" y="3968496"/>
            <a:ext cx="215798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9EA6"/>
                </a:solidFill>
                <a:latin typeface="Segoe UI"/>
              </a:rPr>
              <a:t>302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44584" y="4206240"/>
            <a:ext cx="215798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діапазон 55 – 889 грн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4572000"/>
            <a:ext cx="10954512" cy="1719072"/>
          </a:xfrm>
          <a:prstGeom prst="roundRect">
            <a:avLst>
              <a:gd name="adj" fmla="val 7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03504" y="4572000"/>
            <a:ext cx="91440" cy="17190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2" y="473659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C95C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6696" y="5138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25296" y="5084064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FFFFFF"/>
                </a:solidFill>
                <a:latin typeface="Segoe UI"/>
              </a:rPr>
              <a:t>Ben's Original — 13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позицій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,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єдиний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бренд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у 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мережі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 («</a:t>
            </a:r>
            <a:r>
              <a:rPr sz="1000" b="0" i="0" dirty="0" err="1">
                <a:solidFill>
                  <a:srgbClr val="FFFFFF"/>
                </a:solidFill>
                <a:latin typeface="Segoe UI"/>
              </a:rPr>
              <a:t>Сільпо</a:t>
            </a:r>
            <a:r>
              <a:rPr sz="1000" b="0" i="0" dirty="0">
                <a:solidFill>
                  <a:srgbClr val="FFFFFF"/>
                </a:solidFill>
                <a:latin typeface="Segoe UI"/>
              </a:rPr>
              <a:t>»).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6696" y="54132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5296" y="535838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Ottogi і Henan — 18 азійських чаш; Henan удвічі дешевший за упаковку.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6696" y="56875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C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25296" y="5632703"/>
            <a:ext cx="513892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Українських позицій — 16, але жодної в паучі для мікрохвильовки.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4791456"/>
            <a:ext cx="36576" cy="1280160"/>
          </a:xfrm>
          <a:prstGeom prst="rect">
            <a:avLst/>
          </a:prstGeom>
          <a:solidFill>
            <a:srgbClr val="4653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620256" y="4736592"/>
            <a:ext cx="4663440" cy="1389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B9C2DA"/>
                </a:solidFill>
                <a:latin typeface="Segoe UI"/>
              </a:rPr>
              <a:t>Медіана готового рису для розігріву (30 позицій) — 164 грн за упаковку.</a:t>
            </a:r>
          </a:p>
          <a:p>
            <a:r>
              <a:rPr sz="1000" b="0" i="0">
                <a:solidFill>
                  <a:srgbClr val="B9C2DA"/>
                </a:solidFill>
                <a:latin typeface="Segoe UI"/>
              </a:rPr>
              <a:t>У мережі продається 11 позицій із 84. Решта 73 — лише онлайн: маркетплейси, азійські фудшопи, туристичні й військові магазини.</a:t>
            </a:r>
          </a:p>
          <a:p>
            <a:r>
              <a:rPr sz="1000" b="0" i="0">
                <a:solidFill>
                  <a:srgbClr val="B9C2DA"/>
                </a:solidFill>
                <a:latin typeface="Segoe UI"/>
              </a:rPr>
              <a:t>Країни: ЄС — 31 позиція, Китай — 24, Україна — 16, Корея — 11, США — 2.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 dirty="0" err="1">
                <a:solidFill>
                  <a:srgbClr val="717890"/>
                </a:solidFill>
                <a:latin typeface="Segoe UI"/>
              </a:rPr>
              <a:t>Джерела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: 17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мереж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на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zakaz.ua, «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Сільпо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», Prom, MAUDAU,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Rozetka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,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спеціалізовані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</a:t>
            </a:r>
            <a:r>
              <a:rPr sz="800" b="0" i="0" dirty="0" err="1">
                <a:solidFill>
                  <a:srgbClr val="717890"/>
                </a:solidFill>
                <a:latin typeface="Segoe UI"/>
              </a:rPr>
              <a:t>магазини</a:t>
            </a:r>
            <a:r>
              <a:rPr sz="800" b="0" i="0" dirty="0">
                <a:solidFill>
                  <a:srgbClr val="717890"/>
                </a:solidFill>
                <a:latin typeface="Segoe UI"/>
              </a:rPr>
              <a:t>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Дойпак і чаша — 63 % позицій, але полицю тримає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9808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415" y="1938528"/>
            <a:ext cx="722785" cy="896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Дойпак із сублімату. Легкий, але потребує окропу. Туризм і армія.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22960" y="3694176"/>
            <a:ext cx="764177" cy="164592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30 позицій · 36 % · 11 брендів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315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E9EA6"/>
                </a:solidFill>
                <a:latin typeface="Segoe UI"/>
              </a:rPr>
              <a:t>55 – 889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2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410712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57016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Picture 28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7788" y="1938528"/>
            <a:ext cx="944454" cy="8961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30168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ЧАША · СТАКАН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0168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Жорстка чаша чи стакан. Готова страва або сухий рис під окріп. Формат для офісу.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30168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630168" y="3694176"/>
            <a:ext cx="585869" cy="16459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30168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23 позиції · 27 % · 5 брендів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0168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30168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229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0168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30168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C94F7C"/>
                </a:solidFill>
                <a:latin typeface="Segoe UI"/>
              </a:rPr>
              <a:t>83 – 931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30168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218 г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217920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364224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bens_basmati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965" y="1938528"/>
            <a:ext cx="640516" cy="89611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437376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ПАУЧ · РЕТОРТ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37376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Плаский реторт-пауч. Мікрохвильовка 90 с або окріп. Формат мережевої полиці.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37376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37376" y="3694176"/>
            <a:ext cx="483978" cy="16459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7376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19 позицій · 23 % · 5 брендів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7376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7376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7376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37376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7376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F9A50B"/>
                </a:solidFill>
                <a:latin typeface="Segoe UI"/>
              </a:rPr>
              <a:t>45 – 376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7376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25128" y="1700784"/>
            <a:ext cx="2578608" cy="36027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9025128" y="1700784"/>
            <a:ext cx="2578608" cy="914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9171432" y="1883664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hd_beef_stew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6376" y="1938528"/>
            <a:ext cx="896112" cy="89611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244584" y="2980944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44584" y="3218688"/>
            <a:ext cx="2157984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Картон із хімічним нагрівачем. Без техніки. Дорогий і об'ємний.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244584" y="3694176"/>
            <a:ext cx="2139696" cy="164592"/>
          </a:xfrm>
          <a:prstGeom prst="roundRect">
            <a:avLst>
              <a:gd name="adj" fmla="val 50000"/>
            </a:avLst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9244584" y="3694176"/>
            <a:ext cx="305670" cy="16459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44584" y="3913632"/>
            <a:ext cx="21579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303A5D"/>
                </a:solidFill>
                <a:latin typeface="Segoe UI"/>
              </a:rPr>
              <a:t>12 позицій · 14 % · 3 бренди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44584" y="4206240"/>
            <a:ext cx="2139696" cy="18288"/>
          </a:xfrm>
          <a:prstGeom prst="rect">
            <a:avLst/>
          </a:prstGeom>
          <a:solidFill>
            <a:srgbClr val="E2E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44584" y="429768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ЦІНА ЗА 1 ШТ, МЕДІАНА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44584" y="4443984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708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44584" y="4645152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ДІАПАЗОН ЦІНИ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44584" y="4791456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7B5EA7"/>
                </a:solidFill>
                <a:latin typeface="Segoe UI"/>
              </a:rPr>
              <a:t>380 – 1 190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44584" y="4992624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>
                <a:solidFill>
                  <a:srgbClr val="717890"/>
                </a:solidFill>
                <a:latin typeface="Segoe UI"/>
              </a:rPr>
              <a:t>МАСА, 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44584" y="5138928"/>
            <a:ext cx="215798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C2235"/>
                </a:solidFill>
                <a:latin typeface="Segoe UI"/>
              </a:rPr>
              <a:t>230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3504" y="5449824"/>
            <a:ext cx="10954512" cy="8595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603504" y="5449824"/>
            <a:ext cx="82296" cy="8595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14400" y="5632704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14400" y="5961888"/>
            <a:ext cx="10405872" cy="201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Дойпак виграє за кількістю позицій лише тому, що туристичні магазини заводять десятки дрібних брендів. За доступністю для покупця виграє пауч: 109 грн медіана проти 315 грн у дойпака й 708 грн у коробки з нагрівачем.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ГРАМАЖ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250 і 220 грамів — половина всієї полиці паучів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Скільки позицій припадає на кожну вагу і як ваги розподілені між форматами.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1700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НАЙЧАСТІШІ ВАГИ, ПОЗИЦІЙ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85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768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90 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42032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42032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110 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11296" y="3115055"/>
            <a:ext cx="859536" cy="853440"/>
          </a:xfrm>
          <a:prstGeom prst="roundRect">
            <a:avLst>
              <a:gd name="adj" fmla="val 12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11296" y="28955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125 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3328415"/>
            <a:ext cx="859536" cy="64008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80560" y="31089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144 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9824" y="2901695"/>
            <a:ext cx="859536" cy="1066800"/>
          </a:xfrm>
          <a:prstGeom prst="roundRect">
            <a:avLst>
              <a:gd name="adj" fmla="val 12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49824" y="268223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94F7C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4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174 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9088" y="2474975"/>
            <a:ext cx="859536" cy="149352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19088" y="225551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220 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8352" y="2048255"/>
            <a:ext cx="859536" cy="1920240"/>
          </a:xfrm>
          <a:prstGeom prst="roundRect">
            <a:avLst>
              <a:gd name="adj" fmla="val 12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88352" y="182879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9A50B"/>
                </a:solidFill>
                <a:latin typeface="Segoe U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4023359"/>
            <a:ext cx="8595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1C2235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261104"/>
            <a:ext cx="777240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Колір стовпця — формат, у якому ця вага трапляється найчастіше: помаранчевий — пауч, рожевий — чаша, бірюзовий — дойпак.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1700784"/>
            <a:ext cx="3255264" cy="316382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0496" y="1865376"/>
            <a:ext cx="2834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17890"/>
                </a:solidFill>
                <a:latin typeface="Segoe UI"/>
              </a:rPr>
              <a:t>ВАГОВЕ ВІКНО ФОРМАТУ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217627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Дойпак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2359152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80–250 г · медіана 110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743200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C94F7C"/>
                </a:solidFill>
                <a:latin typeface="Segoe UI"/>
              </a:rPr>
              <a:t>Чаша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926080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84–320 г · медіана 218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31012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493008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220–400 г · медіана 250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87705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Коробка з нагрівачем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059936"/>
            <a:ext cx="28346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C2235"/>
                </a:solidFill>
                <a:latin typeface="Segoe UI"/>
              </a:rPr>
              <a:t>165–440 г · медіана 230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462272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Чаша й пауч конкурують у вікні 210–250 г — це порція на одну людину.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" y="5010912"/>
            <a:ext cx="10954512" cy="131673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03504" y="5010912"/>
            <a:ext cx="82296" cy="131673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обирати під полицю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5522976"/>
            <a:ext cx="1040587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Вагове ядро категорії — 220–250 г: 16 позицій із 84, усі пауч або чаша, усі в корені порції «обід для однієї людини». Це та вага, під яку вже налаштований покупець Ben's Original і Bibigo.
Легкі ваги 80–146 г — це не менша порція, а сухий продукт: сублімат і інстант-рис, які треба залити окропом. Порівнювати їх із паучем за грам не можна.
Важкі 310–440 г — корейські чаші Ottogi та китайські коробки з нагрівачем: порція «на голодного», але й ціна за упаковку 250–735 грн.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Маса з карток продавців; 2 позицій без указаної маси до розрахунку не входять.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664208"/>
            <a:ext cx="10954512" cy="4608576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97449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31689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250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90995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5235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84540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18780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750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8086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12326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71632" y="1828800"/>
            <a:ext cx="10972" cy="4041648"/>
          </a:xfrm>
          <a:prstGeom prst="rect">
            <a:avLst/>
          </a:prstGeom>
          <a:solidFill>
            <a:srgbClr val="DCE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05872" y="5907024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1 250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07024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1" i="0">
                <a:solidFill>
                  <a:srgbClr val="717890"/>
                </a:solidFill>
                <a:latin typeface="Segoe UI"/>
              </a:rPr>
              <a:t>ГРН ЗА ОДНУ УПАКОВКУ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1828800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6352" y="182880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1" i="0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182880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650" b="1" i="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98424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Маркел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16352" y="200253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93008" y="200253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7877" y="2034539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259297" y="199796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0465" y="197510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94 – 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214884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216712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16712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4742" y="2199132"/>
            <a:ext cx="746940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292742" y="216255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893122" y="213969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45 – 179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231343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James Cook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16352" y="233172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93008" y="233172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0484" y="2363724"/>
            <a:ext cx="56299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337335" y="232714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64916" y="230428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55 – 156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247802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Portion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16352" y="249631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93008" y="249631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11489" y="2528316"/>
            <a:ext cx="18288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342909" y="249174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02929" y="246888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264261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Харчі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26609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93008" y="266090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6561" y="2692908"/>
            <a:ext cx="1326655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4404225" y="265633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684656" y="263347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83 – 321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" y="280720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16352" y="282549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93008" y="282549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6561" y="2857500"/>
            <a:ext cx="406915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423735" y="282092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764916" y="279806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83 – 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" y="297180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!FEST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16352" y="299008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93008" y="299008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45270" y="3022092"/>
            <a:ext cx="39019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4476690" y="298551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75729" y="296265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133 – 140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" y="313639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816352" y="31546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315468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56418" y="3186684"/>
            <a:ext cx="301005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4487838" y="315010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948864" y="312724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135 – 189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330098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Їжа в Похід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816352" y="331927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93008" y="331927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28547" y="3351276"/>
            <a:ext cx="83612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4501774" y="33147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703600" y="329184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130 – 145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346557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Gallina Blanca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348386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93008" y="348386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80391" y="3515868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5011811" y="347929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171831" y="345643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229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363016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Clearspring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16352" y="364845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493008" y="364845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08597" y="3680460"/>
            <a:ext cx="1081391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140017" y="364388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81429" y="362102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252 – 446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" y="379476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16352" y="3813048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93008" y="3813048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058095" y="3845052"/>
            <a:ext cx="730217" cy="6400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5156740" y="380847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5879752" y="378561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225 – 356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1248" y="395935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SubliMate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816352" y="397764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93008" y="3977640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5420416" y="4009644"/>
            <a:ext cx="445934" cy="64008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5457746" y="3973068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5957791" y="395020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290 – 370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4123944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Menu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816352" y="4142232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493008" y="4142232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559771" y="4174236"/>
            <a:ext cx="936462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ounded Rectangle 106"/>
          <p:cNvSpPr/>
          <p:nvPr/>
        </p:nvSpPr>
        <p:spPr>
          <a:xfrm>
            <a:off x="5831216" y="413766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587674" y="41148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315 – 483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1248" y="4288536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Trek'n Eat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816352" y="430682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93008" y="4306824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03359" y="4338828"/>
            <a:ext cx="2486085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6477821" y="4302252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7880884" y="427939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269 – 715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" y="4453128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Adventure Food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16352" y="4471416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93008" y="4471416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546401" y="4503420"/>
            <a:ext cx="18288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477821" y="4466844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637841" y="4443984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492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1248" y="4617720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Qiaoshanmei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816352" y="463600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493008" y="463600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6596569" y="4668012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6527989" y="4631436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6688009" y="4608576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501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1248" y="4782312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Travellunch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816352" y="480059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493008" y="480059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336804" y="4832603"/>
            <a:ext cx="3422547" cy="6400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895885" y="479602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8850792" y="47731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275 – 889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41248" y="4946903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816352" y="4965191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493008" y="4965191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922093" y="4997195"/>
            <a:ext cx="4515087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42155" y="49606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10528621" y="4937759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380 – 1 190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5111495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Mountain House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16352" y="5129783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93008" y="5129783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700257" y="5161787"/>
            <a:ext cx="18288" cy="64008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7631677" y="5125211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7791697" y="5102351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699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41248" y="5276087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Zihaiguo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816352" y="5294375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493008" y="5294375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900928" y="5326379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ounded Rectangle 148"/>
          <p:cNvSpPr/>
          <p:nvPr/>
        </p:nvSpPr>
        <p:spPr>
          <a:xfrm>
            <a:off x="7832348" y="5289803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7992368" y="5266943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41248" y="5440679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Rongcheng Haoji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16352" y="5458967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493008" y="5458967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900928" y="5490971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Rounded Rectangle 154"/>
          <p:cNvSpPr/>
          <p:nvPr/>
        </p:nvSpPr>
        <p:spPr>
          <a:xfrm>
            <a:off x="7832348" y="5454395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7992368" y="5431535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735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1248" y="5605271"/>
            <a:ext cx="19568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303A5D"/>
                </a:solidFill>
                <a:latin typeface="Segoe UI"/>
              </a:rPr>
              <a:t>Mo Xiao Xian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816352" y="5623559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93008" y="5623559"/>
            <a:ext cx="32918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93467" y="5655563"/>
            <a:ext cx="18288" cy="6400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924887" y="5618987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9084907" y="5596127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931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4054742" y="6126480"/>
            <a:ext cx="752514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4054742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F9A50B"/>
                </a:solidFill>
                <a:latin typeface="Segoe UI"/>
              </a:rPr>
              <a:t>вікно мережевої полиці: 45–180 грн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41248" y="618134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717890"/>
                </a:solidFill>
                <a:latin typeface="Segoe UI"/>
              </a:rPr>
              <a:t>Колір — країна: Україна · Китай · Корея · ЄС · США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Ben's Original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пауч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45–179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18–81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ens_longgr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82" y="2395728"/>
            <a:ext cx="546395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45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81497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254649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ens_basmati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0266" y="2395728"/>
            <a:ext cx="549014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300369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0369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00369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00369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59490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832642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bens_mediterr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0441" y="2395728"/>
            <a:ext cx="544649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3878362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Mediterran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78362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78362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78362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37483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410635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bens_risibis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7562" y="2395728"/>
            <a:ext cx="546395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456355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Risi Bisi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6355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56355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56355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15476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988628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bens_curry_indi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0318" y="2395728"/>
            <a:ext cx="556869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034348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Indian Curry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34348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34348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4348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93469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8566621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bens_curry_linsen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0967" y="2395728"/>
            <a:ext cx="531557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8612341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2341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12341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2341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0071462" y="2286000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144614" y="2359152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bens_basmati22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7613" y="2395728"/>
            <a:ext cx="554251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0190334" y="32369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Basmati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90334" y="35844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90334" y="3749039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100–144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0334" y="41513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4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676656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bens_mexikanisc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2273" y="4480560"/>
            <a:ext cx="549014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22376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Mexikanisch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2376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109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181497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2254649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bens_curryreis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39792" y="4480560"/>
            <a:ext cx="569962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2300369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Curryreis Indien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0369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0369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144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0369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759490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832642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bens_stickybow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716" y="4480560"/>
            <a:ext cx="514100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3878362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Для боулів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78362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878362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149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878362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337483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ounded Rectangle 102"/>
          <p:cNvSpPr/>
          <p:nvPr/>
        </p:nvSpPr>
        <p:spPr>
          <a:xfrm>
            <a:off x="5410635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4" name="Picture 103" descr="bens_sweetchili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99706" y="4480560"/>
            <a:ext cx="562106" cy="768096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5456355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Sweet Chili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456355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456355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179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56355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15476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6988628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Picture 111" descr="bens_bio240_singl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17712" y="4480560"/>
            <a:ext cx="482081" cy="768096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034348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Bio Basmati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034348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240 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34348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034348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93469" y="4370832"/>
            <a:ext cx="1486553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8566621" y="4443984"/>
            <a:ext cx="1340249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0" name="Picture 119" descr="bens_lang220_single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67912" y="4480560"/>
            <a:ext cx="537667" cy="76809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612341" y="5321808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Long Grain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612341" y="5669280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220 г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12341" y="5833872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139 грн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12341" y="623620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каталог «Сільпо» (11 позицій), MAUDAU, Edison Lee — 22.09.2026. Basmati 220 г: 100 грн у MAUDAU і 144 грн у «Сільпо». Дві позиції Edison Lee продаються поштучно, ціна за один пауч.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25856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225856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83133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383133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41324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1324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98601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98601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56792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56792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14069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14069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25856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25856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83133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83133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41324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1324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98601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98601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56792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56792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Готова страва з наповнювачем. Найдорожча упаковка сегмента розігріву.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Республіка Корея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79–130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ot_bulgog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745" y="2395728"/>
            <a:ext cx="879267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Бульгогі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ottogi_hambur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79" y="2395728"/>
            <a:ext cx="864980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315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ot_pork3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1126" y="2395728"/>
            <a:ext cx="879267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ot_chicken_ri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5902" y="2395728"/>
            <a:ext cx="768096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310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255–260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ot_octopus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5969" y="2395728"/>
            <a:ext cx="886342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280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255–289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ot_tun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265" y="4480560"/>
            <a:ext cx="97022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247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225–320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ot_bibimba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4462" y="4480560"/>
            <a:ext cx="874214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Пібімпаб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252–334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ot_pork_spic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37588" y="4480560"/>
            <a:ext cx="886342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269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334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ot_beef3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5902" y="4480560"/>
            <a:ext cx="768096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320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356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ottogi_jjampong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61413" y="4480560"/>
            <a:ext cx="875454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217,5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255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Pulsar, Апетітаріум, Gurmissimo, Тайякі Март — 22.09.2026. Ціни роздрібні: у «Тайякі Март» від 15–20 шт діє нижча ціна, вона не бралася.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8950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88950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093208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93208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5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06055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50975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5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88950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88950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93208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93208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306055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06055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50975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50975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2 · СУХИЙ РИС ПІД ОКРІП   ·   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до заливання.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303A5D"/>
                </a:solidFill>
                <a:latin typeface="Segoe UI"/>
              </a:rPr>
              <a:t>Henan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Xiao Guo Zao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чаша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83–156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58–106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n_braised1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697" y="2395728"/>
            <a:ext cx="821660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129–156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438144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n_scallop1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5249" y="2395728"/>
            <a:ext cx="809532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483864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83864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83864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140–156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83864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199632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n_sausage1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274" y="2395728"/>
            <a:ext cx="802458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245352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87968" y="2286000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961120" y="2359152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n_pepperbeef17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5912" y="2395728"/>
            <a:ext cx="774159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006840" y="3236976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358444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749039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118–156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4151376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3504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76656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n_pepperchicken17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54479" y="4480560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22376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2376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112–150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2376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64992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3438144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n_spicychicken14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7270" y="4480560"/>
            <a:ext cx="805490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483864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83864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83864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83864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126480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199632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n_sweetsourbeef14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68250" y="4480560"/>
            <a:ext cx="118650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6245352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45352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135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45352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87968" y="4370832"/>
            <a:ext cx="2670048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961120" y="4443984"/>
            <a:ext cx="2523744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n_eggplant144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97957" y="4480560"/>
            <a:ext cx="10500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006840" y="5321808"/>
            <a:ext cx="24323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5669280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144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6840" y="5833872"/>
            <a:ext cx="24323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152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6236208"/>
            <a:ext cx="24323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MAUDAU, Апетітаріум, Gurmissimo, OMG! Asia, СНЕКІС, DCM — 22–23.09.2026. Маса — сухого продукту до заливання.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Окріп, 5–10 хв   ·   Маса — сухого продукту   ·   привід: Офіс і гуртожиток   ·   медіана сегмента 138 грн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76656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76656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438144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38144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199632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199632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961119" y="3040380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61119" y="3058668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656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76656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438144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38144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99632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99632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961119" y="5125212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61119" y="5143500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1 · ГОТОВИЙ РИС ДО РОЗІГРІВУ   ·   ПООДИНОКІ БРЕНДИ · 4 БРЕНДИ, 4 ПОЗИЦІЇ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Bibigo, Clearspring, Portion, Маркел — по одній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Той самий сегмент розігріву, але різні країни, ваги й канали. Gallina Blanca у правій частині — інший сегмент, рис під окріп.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ibigo_bow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0462"/>
            <a:ext cx="1493520" cy="15003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Білий рис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BIBIGO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210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135–189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learsp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1877766"/>
            <a:ext cx="1493520" cy="17857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Brown &amp; Wild Rice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CLEARSPRING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252–446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58640" y="2660903"/>
            <a:ext cx="160324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 i="0">
                <a:solidFill>
                  <a:srgbClr val="717890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PORTION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109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mk_rice3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5" y="1829441"/>
            <a:ext cx="1493520" cy="188238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МАРКЕЛ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94–96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t_beef8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t_teriyaki8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GALLINA BLANCA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84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229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грн: найдешевша упаковка сегмента. Bibigo — той самий товар у трьох каналах, розкид 40 %. Clearspring — органіка, найдорожчий грам серед паучів. Gallina Blanca Yatekomo — 84 г сухого рису в чаші, заливається окропом.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Смак Кореї, Rozetka, Prom, MAUDAU, СУХПАЙ, UPcompany, «Товари з Іспанії» — 22–23.09.2026. Фото Portion: Rozetka не віддає зображення картки.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Мікрохвильовка 60–90 с   ·   Маса — готової страви   ·   привід: Обід поза домом   ·   медіана сегмента 164 грн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61688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9632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37575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37575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84663" y="3589019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84663" y="3607307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 · СЕГ.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572768"/>
            <a:ext cx="10954512" cy="60350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572768"/>
            <a:ext cx="82296" cy="60350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636776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303A5D"/>
                </a:solidFill>
                <a:latin typeface="Segoe UI"/>
              </a:rPr>
              <a:t>Haidilao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190195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717890"/>
                </a:solidFill>
                <a:latin typeface="Segoe UI"/>
              </a:rPr>
              <a:t>Китай · саморозігрів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коробка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5583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3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C2235"/>
                </a:solidFill>
                <a:latin typeface="Segoe U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655064"/>
            <a:ext cx="18288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17890"/>
                </a:solidFill>
                <a:latin typeface="Segoe UI"/>
              </a:rPr>
              <a:t>ЗА УПАКОВКУ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82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380–1 190 грн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6064" y="1837943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230–371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7665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hd_stewed_chicken16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5405" y="2395728"/>
            <a:ext cx="753946" cy="7680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Stewed Chicken*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165 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380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269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88584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hd_beef_curry27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7521" y="2395728"/>
            <a:ext cx="768096" cy="7680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3156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156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156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770–799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3156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1884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5095036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hd_beef_stew27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6712" y="2395728"/>
            <a:ext cx="768096" cy="76809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140756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40756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40756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40756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3107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730422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Picture 47" descr="hd_tomato_beef27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0849" y="2395728"/>
            <a:ext cx="778202" cy="76809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4994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4994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272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4994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994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40265" y="2286000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9513417" y="2359152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6" name="Picture 55" descr="hd_canton18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5092" y="2395728"/>
            <a:ext cx="768096" cy="768096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9559137" y="32369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9137" y="35844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59137" y="3749039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680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9137" y="41513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0350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7665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hd_stew_chicken18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78331" y="4480560"/>
            <a:ext cx="768096" cy="768096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2237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237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237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650–680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1269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288584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Picture 71" descr="hd_pork_fish18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87521" y="4480560"/>
            <a:ext cx="768096" cy="768096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293156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3156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187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3156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3156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021884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5095036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Picture 79" descr="hd_teriyaki18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79025" y="4480560"/>
            <a:ext cx="803468" cy="768096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5140756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40756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181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40756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650–660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0756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3107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730422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8" name="Picture 87" descr="hd_spicy_chicken17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8721" y="4480560"/>
            <a:ext cx="802458" cy="768096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734994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4994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175 г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4994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650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4994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440265" y="4370832"/>
            <a:ext cx="2117750" cy="20299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9513417" y="4443984"/>
            <a:ext cx="1971446" cy="84124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6" name="Picture 95" descr="hd_porkbelly36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15092" y="4480560"/>
            <a:ext cx="768096" cy="768096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9559137" y="5321808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59137" y="5669280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>
                <a:solidFill>
                  <a:srgbClr val="717890"/>
                </a:solidFill>
                <a:latin typeface="Segoe UI"/>
              </a:rPr>
              <a:t>360 г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59137" y="5833872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1 190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59137" y="623620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Daruy, Tactico, Desna, Sweet Svitt, «Шериф» — 22–23.09.2026. Найдорожча упаковка категорії — 1 190 грн за 360 г. * Sweet Svitt: назва картки Stewed Chicken, на фото — рис з яловичиною та грибами.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Хімічний нагрівач, 15 хв   ·   Без техніки й окропу   ·   привід: Дорога, подарунок   ·   медіана сегмента 735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889504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889504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093208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093208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306055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306055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509759" y="3040380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59" y="3058668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676656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889504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889504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093208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93208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306055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06055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9509759" y="5125212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509759" y="5143500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3 · САМОРОЗІГРІВ   ·   КИТАЙСЬКИЙ САМОРОЗІГРІВ · РЕШТА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Mo Xiao Xian, Zihaiguo, Rongcheng Haoji — 4 позиції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Усі три бренди в одному магазині. Qiaoshanmei у правій частині — інший сегмент: рис у пакеті під окріп, не саморозігрів.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mx_beef_bambo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023871"/>
            <a:ext cx="1493520" cy="1493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44496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17648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mx_bacon_pea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2512" y="2023871"/>
            <a:ext cx="1493520" cy="1493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3368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3368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MO XIAO XIAN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275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3368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931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3368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5488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58640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qs_sh_pepper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3504" y="2023871"/>
            <a:ext cx="1493520" cy="1493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04360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4360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ZIHAIGUO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4360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4360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79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199631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qs_sh_braisedpor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5" y="2023871"/>
            <a:ext cx="1493520" cy="1493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45351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1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RONGCHENG HAOJI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1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735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5351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67472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40624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qs_spicybeef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5488" y="2023871"/>
            <a:ext cx="1493520" cy="1493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086344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86344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86344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6344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08464" y="1719072"/>
            <a:ext cx="1749552" cy="3145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881616" y="1792224"/>
            <a:ext cx="1603248" cy="195681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qs_braisedpor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6480" y="2023871"/>
            <a:ext cx="1493520" cy="149352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27336" y="3785615"/>
            <a:ext cx="151180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27336" y="4133087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QIAOSHANMEI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27336" y="4297679"/>
            <a:ext cx="15118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501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27336" y="4700016"/>
            <a:ext cx="151180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5010912"/>
            <a:ext cx="10954512" cy="12984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5010912"/>
            <a:ext cx="82296" cy="1298448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5193792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522976"/>
            <a:ext cx="1040587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D5DBEA"/>
                </a:solidFill>
                <a:latin typeface="Segoe UI"/>
              </a:rPr>
              <a:t>Zihaiguo і Rongcheng Haoji — коробка 440 г за 735 грн — удвічі більша порція, ніж у Haidilao за ті самі гроші. Mo Xiao Xian — 931 грн за 275 г, найдорожча чаша ринку. Qiaoshanmei — не саморозігрів, а рис у пакеті під окріп, 501 грн.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«Скарби Азії» (Prom), 23.09.2026. Бренди Zihaiguo і Rongcheng Haoji визначено за написами на упаковці, Qiaoshanmei — за карткою продавця.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Хімічний нагрівач, 15 хв   ·   Без техніки й окропу   ·   привід: Дорога, подарунок   ·   медіана сегмента 735 грн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76656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6656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14600" y="3589019"/>
            <a:ext cx="502318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514600" y="3607307"/>
            <a:ext cx="50231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61688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61688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99632" y="3589019"/>
            <a:ext cx="723045" cy="160020"/>
          </a:xfrm>
          <a:prstGeom prst="roundRect">
            <a:avLst>
              <a:gd name="adj" fmla="val 45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99632" y="3607307"/>
            <a:ext cx="723045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037575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37575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884663" y="3589019"/>
            <a:ext cx="1200040" cy="160020"/>
          </a:xfrm>
          <a:prstGeom prst="roundRect">
            <a:avLst>
              <a:gd name="adj" fmla="val 4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84663" y="3607307"/>
            <a:ext cx="1200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ПАКЕТ · СЕГ.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Travellunch, Trek'n Eat, Mountain House, Adventure Food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Німеччина, США, Нідерланди. Залити окропом на 8–10 хвилин.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tl_strog1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763" y="1828800"/>
            <a:ext cx="708034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275–515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l_beef_pepper1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334" y="1828800"/>
            <a:ext cx="706879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295–515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tl_nasi12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59722" y="1828800"/>
            <a:ext cx="686088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567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tl_curry12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657" y="1828800"/>
            <a:ext cx="724204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125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515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tl_strog25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5313" y="1828800"/>
            <a:ext cx="706879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702–811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tl_beef_pepper25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3701" y="1828800"/>
            <a:ext cx="686088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811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tl_nasi25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1695" y="1828800"/>
            <a:ext cx="686088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Nasi Goreng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TRAVELLUNCH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889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e_fish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887" y="4059936"/>
            <a:ext cx="7657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Риба з рисом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269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5" name="Picture 74" descr="te_strog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9537" y="4059936"/>
            <a:ext cx="1210473" cy="877823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TREK'N EAT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маса н/д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715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2" name="Picture 81" descr="mh_curry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22273" y="4059936"/>
            <a:ext cx="960986" cy="877823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0" name="Picture 89" descr="mh_friedrice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90359" y="4059936"/>
            <a:ext cx="780801" cy="877823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Fried Rice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MOUNTAIN HOUSE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133 г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699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915476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988628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8" name="Picture 97" descr="af_curry14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92030" y="4059936"/>
            <a:ext cx="733445" cy="877823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7034348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034348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FOOD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146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034348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34348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93469" y="3950208"/>
            <a:ext cx="3064546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8493469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8804365" y="4133088"/>
            <a:ext cx="251590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04365" y="4462272"/>
            <a:ext cx="2515906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Travellunch — 7 позицій у двох вагах, 125 і 250 г, найширша імпортна лінійка. Mountain House — 699 грн за 110–133 г сухої маси, найдорожчий грам категорії. Канал — туристичні й військові магазини, у продуктовий роздріб ці бренди не йдуть.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Highlander, ForCamp, Військторг Гайдамака, Freeride, Kamanti, 110вольт, Клуб Мандрівник — 22–23.09.2026.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98601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8601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ГОТОВА СТРАВА І СУБЛІМАТ · 2 БРЕНДИ,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Adventure Menu і SubliMate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Adventure Menu — єдиний бренд із двома технологіями: реторт 400 г і сублімат 110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m_korma4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1796" y="1828800"/>
            <a:ext cx="761165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376–404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269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88584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am_wi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74" y="1828800"/>
            <a:ext cx="755390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93156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156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156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315–356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1884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095036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am_meatball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6347" y="1828800"/>
            <a:ext cx="728824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40756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0756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0756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336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40756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3107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30422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am_korma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90309" y="1828800"/>
            <a:ext cx="79928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734994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994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994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378–483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994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40265" y="1719072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9513417" y="1792224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am_tikka11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7767" y="1828800"/>
            <a:ext cx="802746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559137" y="2779776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9137" y="3127248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1E9EA6"/>
                </a:solidFill>
                <a:latin typeface="Segoe UI"/>
              </a:rPr>
              <a:t>ADVENTURE MENU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59137" y="3291840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E9EA6"/>
                </a:solidFill>
                <a:latin typeface="Segoe UI"/>
              </a:rPr>
              <a:t>390–483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9137" y="3694176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350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7665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sm_plov14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119" y="4059936"/>
            <a:ext cx="1106520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72237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309–310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1269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288584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sm_chicken_fruit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5634" y="4059936"/>
            <a:ext cx="1071869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293156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3156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156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290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3156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1884" y="3950208"/>
            <a:ext cx="2117750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5095036" y="4023360"/>
            <a:ext cx="1971446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sm_green_curry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2879" y="4059936"/>
            <a:ext cx="1115760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140756" y="5010912"/>
            <a:ext cx="188000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40756" y="5358384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SUBLIMATE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40756" y="5522976"/>
            <a:ext cx="188000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370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40756" y="5925312"/>
            <a:ext cx="1880006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31075" y="3950208"/>
            <a:ext cx="4326940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7231075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541971" y="4133088"/>
            <a:ext cx="37783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1971" y="4462272"/>
            <a:ext cx="37783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000" b="0" i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315–404 грн за упаковку: дорожче за Ben's Original і Ottogi, але продається лише в туристичних магазинах. SubliMate — український сублімат, 290–370 грн за дойпак.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ALANTUR, ForCamp, MK-Sport, Freeride, Лєєр, OXO, Palmer, Highlander, ВсеОпт, Суренж — 22–23.09.2026.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76656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889504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889504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93208" y="2583180"/>
            <a:ext cx="1134091" cy="160020"/>
          </a:xfrm>
          <a:prstGeom prst="roundRect">
            <a:avLst>
              <a:gd name="adj" fmla="val 4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093208" y="2601468"/>
            <a:ext cx="11340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ПАУЧ · СЕГ. 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306055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306055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509759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509759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889504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889504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9320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9320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4 · СУБЛІМАЦІЯ   ·   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Усе українське виробництво категорії. Канал — outdoor- і мілітарі-рітейл.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c_meatve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03" y="1828800"/>
            <a:ext cx="1033753" cy="87782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83–138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81497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254649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jc_cur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897" y="1828800"/>
            <a:ext cx="1033753" cy="87782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00369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0369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0369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133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0369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59490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32642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jc_mashkichir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1270" y="1828800"/>
            <a:ext cx="1042993" cy="877823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78362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78362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78362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156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8362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37483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410635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jc_ve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0449" y="1828800"/>
            <a:ext cx="980621" cy="87782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56355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6355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JAMES COOK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90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6355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55–81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6355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15476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988628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yp_chicken8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7197" y="1828800"/>
            <a:ext cx="783111" cy="87782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7034348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34348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34348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145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34348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93469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566621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yp_veg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0570" y="1828800"/>
            <a:ext cx="792351" cy="87782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612341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12341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ЇЖА В ПОХІД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12341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130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12341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071462" y="1719072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144614" y="1792224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0" name="Picture 59" descr="kh_pork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46861" y="1828800"/>
            <a:ext cx="735755" cy="87782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190334" y="2779776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90334" y="3127248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90334" y="3291840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0334" y="3694176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76656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kh_ricemeat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5437" y="4059936"/>
            <a:ext cx="742685" cy="87782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22376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120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2376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81497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2254649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6" name="Picture 75" descr="kh_kichr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6896" y="4059936"/>
            <a:ext cx="735755" cy="87782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2300369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300369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85 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00369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83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0369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759490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3832642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4" name="Picture 83" descr="kh_plovxl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855" y="4059936"/>
            <a:ext cx="1175822" cy="877823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3878362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XL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78362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ХАРЧІ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78362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321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78362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37483" y="3950208"/>
            <a:ext cx="1486553" cy="21396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/>
          <p:cNvSpPr/>
          <p:nvPr/>
        </p:nvSpPr>
        <p:spPr>
          <a:xfrm>
            <a:off x="5410635" y="4023360"/>
            <a:ext cx="1340249" cy="950975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91" descr="fest_plov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5708" y="4059936"/>
            <a:ext cx="850103" cy="877823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5456355" y="5010912"/>
            <a:ext cx="1248809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56355" y="5358384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5B6B8C"/>
                </a:solidFill>
                <a:latin typeface="Segoe UI"/>
              </a:rPr>
              <a:t>!FEST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6355" y="5522976"/>
            <a:ext cx="124880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5B6B8C"/>
                </a:solidFill>
                <a:latin typeface="Segoe UI"/>
              </a:rPr>
              <a:t>133–140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456355" y="5925312"/>
            <a:ext cx="124880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915476" y="3950208"/>
            <a:ext cx="4642539" cy="213969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6915476" y="3950208"/>
            <a:ext cx="82296" cy="213969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7226372" y="4133088"/>
            <a:ext cx="40938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26372" y="4462272"/>
            <a:ext cx="4093899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Українські сублімати — 55–321 грн за упаковку, імпортні — 269–889 грн. James Cook — 4 рисові позиції, найширша українська лінійка. Українське виробництво в категорії є, але воно цілком у туристичному каналі.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Джерела: Highlander, Activity, ВсеОпт, Klever-Shop, Terra Incognita, «Їжа в Похід», Харчі ТМ, Висот-Нік, SportStorm, Kalush-Craft — 22–23.09.2026.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Сушіння виморожуванням   ·   Окріп, мінімальна вага   ·   привід: Похід і армія   ·   медіана сегмента 302 грн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665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665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225856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5856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3133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3133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41324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1324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8601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98601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567928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567928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140696" y="2583180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140696" y="2601468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7665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665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25856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25856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831336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831336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413248" y="4814316"/>
            <a:ext cx="651043" cy="160020"/>
          </a:xfrm>
          <a:prstGeom prst="roundRect">
            <a:avLst>
              <a:gd name="adj" fmla="val 4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13248" y="4832604"/>
            <a:ext cx="65104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СЕГМЕНТ 5 · СУМІЖНА ПОЛИЦЯ · КОНСЕРВА   ·   КОНСЕРВА НА ПОЛИЦІ · 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Рис із м'ясом у мережах уже є — але в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Прямий конкурент за той самий привід: гаряча страва з рисом і м'ясом без готування.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7665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ch_hapay_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810512"/>
            <a:ext cx="950975" cy="1389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50592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523744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h_lappetit_por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810512"/>
            <a:ext cx="987551" cy="138988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569464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9464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370832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ch_lappetit_bee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3732" y="1810512"/>
            <a:ext cx="923543" cy="138988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F9A50B"/>
                </a:solidFill>
                <a:latin typeface="Segoe UI"/>
              </a:rPr>
              <a:t>L'APPETIT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F9A50B"/>
                </a:solidFill>
                <a:latin typeface="Segoe UI"/>
              </a:rPr>
              <a:t>126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6552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44768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217920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Picture 35" descr="ch_hapay_plov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5100" y="1810512"/>
            <a:ext cx="1014983" cy="138988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263640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37A169"/>
                </a:solidFill>
                <a:latin typeface="Segoe UI"/>
              </a:rPr>
              <a:t>HAPAY!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340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37A169"/>
                </a:solidFill>
                <a:latin typeface="Segoe UI"/>
              </a:rPr>
              <a:t>117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91856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065008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ch_foodfabrik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2099287"/>
            <a:ext cx="1499616" cy="81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110728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7B5EA7"/>
                </a:solidFill>
                <a:latin typeface="Segoe UI"/>
              </a:rPr>
              <a:t>FOOD FABRIKA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250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0728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0728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38944" y="1700784"/>
            <a:ext cx="1755648" cy="2651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9912096" y="1773936"/>
            <a:ext cx="1609344" cy="1463039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h_myastoria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6960" y="1951661"/>
            <a:ext cx="1499616" cy="110758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957816" y="3273552"/>
            <a:ext cx="1517904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 i="0">
                <a:solidFill>
                  <a:srgbClr val="303A5D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57816" y="3621024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1" i="0">
                <a:solidFill>
                  <a:srgbClr val="C94F7C"/>
                </a:solidFill>
                <a:latin typeface="Segoe UI"/>
              </a:rPr>
              <a:t>М'ЯСТОРІЯ  ·  </a:t>
            </a:r>
            <a:r>
              <a:rPr sz="750" b="0" i="0">
                <a:solidFill>
                  <a:srgbClr val="717890"/>
                </a:solidFill>
                <a:latin typeface="Segoe UI"/>
              </a:rPr>
              <a:t>350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57816" y="3785616"/>
            <a:ext cx="151790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C94F7C"/>
                </a:solidFill>
                <a:latin typeface="Segoe UI"/>
              </a:rPr>
              <a:t>147–160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57816" y="4187952"/>
            <a:ext cx="1517904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3504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03504" y="4535424"/>
            <a:ext cx="82296" cy="1755648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14400" y="4718304"/>
            <a:ext cx="48097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Чому це важливо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047488"/>
            <a:ext cx="480974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Це прямий конкурент за той самий привід: гаряча страва з рисом і м'ясом без готування. Він уже стоїть на полиці, коштує 63–160 грн за 250–350 г і має українського виробника.
Пауч із готовим рисом заходить у той самий гаманець, тож орієнтир ціни — не Ottogi за 255 грн, а ця полиця.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99632" y="4535424"/>
            <a:ext cx="5358384" cy="175564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55664" y="4700016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 i="0">
                <a:solidFill>
                  <a:srgbClr val="303A5D"/>
                </a:solidFill>
                <a:latin typeface="Segoe UI"/>
              </a:rPr>
              <a:t>Порівняння за упаковку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4992624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Каша рисова hapay! 340 г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50224" y="5038344"/>
            <a:ext cx="461356" cy="11887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184732" y="498348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37A169"/>
                </a:solidFill>
                <a:latin typeface="Segoe UI"/>
              </a:rPr>
              <a:t>63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55664" y="5230368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Food Fabrika 250 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0224" y="5276088"/>
            <a:ext cx="1187057" cy="11887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910433" y="522122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7B5EA7"/>
                </a:solidFill>
                <a:latin typeface="Segoe UI"/>
              </a:rPr>
              <a:t>119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55664" y="5468112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Ben's Original, медіана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650224" y="5513831"/>
            <a:ext cx="1022465" cy="11887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745841" y="5458968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F9A50B"/>
                </a:solidFill>
                <a:latin typeface="Segoe UI"/>
              </a:rPr>
              <a:t>90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55664" y="5705855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Плов М'ясторія 350 г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5751575"/>
            <a:ext cx="1139674" cy="11887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863050" y="56967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C94F7C"/>
                </a:solidFill>
                <a:latin typeface="Segoe UI"/>
              </a:rPr>
              <a:t>153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55664" y="5943599"/>
            <a:ext cx="2103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1C2235"/>
                </a:solidFill>
                <a:latin typeface="Segoe UI"/>
              </a:rPr>
              <a:t>Ottogi, медіана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50224" y="5989319"/>
            <a:ext cx="2194560" cy="118872"/>
          </a:xfrm>
          <a:prstGeom prst="roundRect">
            <a:avLst>
              <a:gd name="adj" fmla="val 50000"/>
            </a:avLst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917936" y="5934455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00" b="1" i="0">
                <a:solidFill>
                  <a:srgbClr val="5B6B8C"/>
                </a:solidFill>
                <a:latin typeface="Segoe UI"/>
              </a:rPr>
              <a:t>255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Джерело: API 17 мереж zakaz.ua, 23.09.2026. Ці 6 позицій — суміжна категорія, у 84 позицій дослідження вони не входять. Охолоджені страви й кулінарію мереж не показано: у них термін 2–5 діб.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03504" y="1138428"/>
            <a:ext cx="41148" cy="19659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1156716"/>
            <a:ext cx="106070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37A169"/>
                </a:solidFill>
                <a:latin typeface="Segoe UI"/>
              </a:rPr>
              <a:t>Готова до вживання   ·   Маса — готової страви   ·   привід: Обід поза домом   ·   медіана сегмента 119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76656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6656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523744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523744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370832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370832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17920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065007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65007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12096" y="3076956"/>
            <a:ext cx="793819" cy="160020"/>
          </a:xfrm>
          <a:prstGeom prst="roundRect">
            <a:avLst>
              <a:gd name="adj" fmla="val 4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12096" y="3095244"/>
            <a:ext cx="793819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" b="1">
                <a:solidFill>
                  <a:srgbClr val="FFFFFF"/>
                </a:solidFill>
                <a:latin typeface="Segoe UI"/>
              </a:rPr>
              <a:t>КОНСЕРВА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ДЕ ПРЕДСТАВЛЕНО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56 продавців, чотири типи каналів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Категорія живе в онлайні: у мережі — лише Ben's Original у «Сільпо», 11 позицій.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19072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19072"/>
            <a:ext cx="82296" cy="6949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2880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F9A50B"/>
                </a:solidFill>
                <a:latin typeface="Segoe UI"/>
              </a:rPr>
              <a:t>МЕРЕЖЕВИЙ РОЗДРІБ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066543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Original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847088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61104" y="1847088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Сільпо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4784" y="191109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F9A50B"/>
                </a:solidFill>
                <a:latin typeface="Segoe U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487168"/>
            <a:ext cx="10954512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03504" y="2487168"/>
            <a:ext cx="82296" cy="6949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7824" y="2596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37A169"/>
                </a:solidFill>
                <a:latin typeface="Segoe UI"/>
              </a:rPr>
              <a:t>ОНЛАЙН-СУПЕРМАРКЕТИ Й МАРКЕТПЛЕЙСИ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834639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Ben's · Henan · Bibigo · Clearspring · Portion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2615184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615184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MAUDAU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04841" y="2615184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04841" y="2615184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Rozetka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07100" y="2615184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07100" y="2615184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44784" y="2679191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37A169"/>
                </a:solidFill>
                <a:latin typeface="Segoe UI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3504" y="3255263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03504" y="3255263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7824" y="3364991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7B5EA7"/>
                </a:solidFill>
                <a:latin typeface="Segoe UI"/>
              </a:rPr>
              <a:t>СПЕЦІАЛІЗОВАНІ ФУДШОПИ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" y="3602735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Ottogi · Henan · Bibigo · саморозігрів · Gallina Blanca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61104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61104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Смак Кореї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38928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38928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Тайякі Март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5273" y="3383279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75273" y="3383279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Pulsar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19011" y="3383279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19011" y="3383279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Апетітаріум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655356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55356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Gurmissimo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33180" y="3383279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33180" y="3383279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Edison Lee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11004" y="3383279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1004" y="3383279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OMG! Asia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61104" y="3675887"/>
            <a:ext cx="552297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261104" y="3675887"/>
            <a:ext cx="552297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СНЕКІС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04841" y="3675887"/>
            <a:ext cx="376732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904841" y="3675887"/>
            <a:ext cx="37673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DCM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373014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73014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Скарби Азії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59" y="3675887"/>
            <a:ext cx="1137513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09359" y="3675887"/>
            <a:ext cx="1137513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38313" y="3675887"/>
            <a:ext cx="844905" cy="237744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538313" y="3675887"/>
            <a:ext cx="84490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Sweet Svitt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3602735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7B5EA7"/>
                </a:solidFill>
                <a:latin typeface="Segoe UI"/>
              </a:rPr>
              <a:t>12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3504" y="4334256"/>
            <a:ext cx="10954512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03504" y="4334256"/>
            <a:ext cx="82296" cy="100584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77824" y="44439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1E9EA6"/>
                </a:solidFill>
                <a:latin typeface="Segoe UI"/>
              </a:rPr>
              <a:t>ТУРИСТИЧНІ ТА ВІЙСЬКОВІ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77824" y="4681728"/>
            <a:ext cx="329184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717890"/>
                </a:solidFill>
                <a:latin typeface="Segoe UI"/>
              </a:rPr>
              <a:t>Haidilao · Adventure Menu · усі сублімати · Маркел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1104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261104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ALANTUR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63363" y="4462272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963363" y="4462272"/>
            <a:ext cx="7863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Highlander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41187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841187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ForCamp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543446" y="4462272"/>
            <a:ext cx="727862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43446" y="4462272"/>
            <a:ext cx="72786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Гайдамака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62748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362748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Freeride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23529" y="4462272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23529" y="4462272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MK-Sport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884310" y="4462272"/>
            <a:ext cx="493776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8884310" y="4462272"/>
            <a:ext cx="493776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469526" y="4462272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469526" y="4462272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Tactico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171785" y="4462272"/>
            <a:ext cx="435254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0171785" y="4462272"/>
            <a:ext cx="43525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Лєєр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1104" y="4754880"/>
            <a:ext cx="669340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261104" y="4754880"/>
            <a:ext cx="669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Activity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1884" y="4754880"/>
            <a:ext cx="610819" cy="237744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021884" y="4754880"/>
            <a:ext cx="61081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+ ще 30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44784" y="468172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600" b="1" i="0">
                <a:solidFill>
                  <a:srgbClr val="1E9EA6"/>
                </a:solidFill>
                <a:latin typeface="Segoe UI"/>
              </a:rPr>
              <a:t>40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3504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41248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Що відомо про імпортерів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Картки продавців імпортера не називають. OMG! Asia і СНЕКІС описують себе як прямих імпортерів з Азії; Ben's Original виробляє Mars (заводи Франція, Німеччина).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99632" y="5358384"/>
            <a:ext cx="5358384" cy="8961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37376" y="5486400"/>
            <a:ext cx="4882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303A5D"/>
                </a:solidFill>
                <a:latin typeface="Segoe UI"/>
              </a:rPr>
              <a:t>Мережі без жодної позиції категорії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37376" y="5724144"/>
            <a:ext cx="4882896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 i="0">
                <a:solidFill>
                  <a:srgbClr val="1C2235"/>
                </a:solidFill>
                <a:latin typeface="Segoe UI"/>
              </a:rPr>
              <a:t>АТБ, Novus, Metro, Varus, Ашан, Fozzy, «Таврія В», МегаМаркет, ЕКО маркет, Ultramarket та ще 7 мереж. Суміжну категорію (слайд 17) частина з них має.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02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md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FFC95C"/>
                </a:solidFill>
                <a:latin typeface="Segoe UI"/>
              </a:rPr>
              <a:t>ВИСНОВКИ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Segoe UI"/>
              </a:rPr>
              <a:t>Що показало дослідження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385" y="402336"/>
            <a:ext cx="640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700" b="1" i="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98448"/>
            <a:ext cx="10881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17890"/>
                </a:solidFill>
                <a:latin typeface="Segoe UI"/>
              </a:rPr>
              <a:t>Чотири факти про ринок і три питання, на які дані відповіді не дають.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3504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77824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1. Ринок є, полиці немає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182 т імпорту і 84 позицій у продажу — але 73 із них живуть лише онлайн. Мережеву дистрибуцію має один бренд.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700784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99632" y="1700784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73952" y="1847088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2. Вікно ціни — 45–180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139696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Стільки коштує упаковка, яку покупець бере в мережі. Усе, що дорожче 250 грн, продається поштучно в нішевих магазинах.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03504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7824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3. Формат — пауч 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позицій у цьому вікні, медіана 109 грн. Чаша дорожча вдвічі, коробка з нагрівачем — усемеро.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2962656"/>
            <a:ext cx="5358384" cy="1170432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199632" y="2962656"/>
            <a:ext cx="82296" cy="1170432"/>
          </a:xfrm>
          <a:prstGeom prst="roundRect">
            <a:avLst>
              <a:gd name="adj" fmla="val 50000"/>
            </a:avLst>
          </a:prstGeom>
          <a:solidFill>
            <a:srgbClr val="7B5E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73952" y="3108960"/>
            <a:ext cx="4846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03A5D"/>
                </a:solidFill>
                <a:latin typeface="Segoe UI"/>
              </a:rPr>
              <a:t>4. Українського пауча немає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3401568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50" b="0" i="0">
                <a:solidFill>
                  <a:srgbClr val="1C2235"/>
                </a:solidFill>
                <a:latin typeface="Segoe UI"/>
              </a:rPr>
              <a:t>16 українських позицій — це консерви й сублімати для туризму. Готового рису в паучі під мікрохвильовку не робить ніхто.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3504" y="4334256"/>
            <a:ext cx="10954512" cy="1591056"/>
          </a:xfrm>
          <a:prstGeom prst="roundRect">
            <a:avLst>
              <a:gd name="adj" fmla="val 6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03504" y="4334256"/>
            <a:ext cx="82296" cy="1591056"/>
          </a:xfrm>
          <a:prstGeom prst="roundRect">
            <a:avLst>
              <a:gd name="adj" fmla="val 50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517136"/>
            <a:ext cx="1040587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FFC95C"/>
                </a:solidFill>
                <a:latin typeface="Segoe UI"/>
              </a:rPr>
              <a:t>Чого дані не показують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405872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5DBEA"/>
                </a:solidFill>
                <a:latin typeface="Segoe UI"/>
              </a:rPr>
              <a:t>1. Продажів. Ні мережі, ні маркетплейси не віддають обсяги. Ємність роздрібу на слайді 03 — оцінка за імпортом, а не заміряний продаж.
2. Хто імпортер. У картках продавців імпортера не вказано; Prom показує лише продавця. Точний перелік дасть лише вивантаження Держмитслужби за УКТЗЕД 1904 90 10.
3. Оборотності на полиці «Сільпо». Скільки Ben's Original реально продає за місяць — без даних мережі не порахувати.
Наступний крок, який закриє 1 і 2: замовити митну базу за 1904 90 10 за 2024–2025 рр. і запитати в «Сільпо» дані про категорію.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6473952"/>
            <a:ext cx="108813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717890"/>
                </a:solidFill>
                <a:latin typeface="Segoe UI"/>
              </a:rPr>
              <a:t>Дослідження: 84 позиції, 23 бренди, 56 продавців, 17 мереж. Зріз 22–23 вересня 2026 р.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44752"/>
            <a:ext cx="7635240" cy="359704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148132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30768" y="1481328"/>
            <a:ext cx="41148" cy="148132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8512" y="163677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8512" y="1901952"/>
            <a:ext cx="274320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Шість із семи наших груп потрапляють у вікно 45–180 грн, у якому покупець реально бере товар у мережі.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30768" y="3090672"/>
            <a:ext cx="3200400" cy="15727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30768" y="3090672"/>
            <a:ext cx="41148" cy="157276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3246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511296"/>
            <a:ext cx="274320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Наш найдешевший SKU — 133 грн. Медіана пауча — 109 грн, Ben's Original — 90 грн. За ціною входу ми в верхній третині вікна.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4791456"/>
            <a:ext cx="3200400" cy="135331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4791456"/>
            <a:ext cx="41148" cy="13533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8512" y="4946904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5212080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Подвійний стакан 219 грн і ONE'S Fried Rice 332 грн — вище стелі мережевої полиці.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63040"/>
            <a:ext cx="7635240" cy="26764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430768" y="1481328"/>
            <a:ext cx="3200400" cy="2788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16276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18196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717890"/>
                </a:solidFill>
                <a:latin typeface="Segoe UI"/>
              </a:rPr>
              <a:t>ЦІЛЬ / 20′ FCL / 40′ FCL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06654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3648" y="220827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109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2084831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2487168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Ben's медіана @240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262889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98 грн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3072" y="2505456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$0,408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2907791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3049523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129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3072" y="2926079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$0,535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3648" y="3328415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Паритет Bibigo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8" y="3470147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162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63072" y="3346703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$0,672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39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303A5D"/>
                </a:solidFill>
                <a:latin typeface="Segoe UI"/>
              </a:rPr>
              <a:t>Ottogi −22 %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13648" y="3890772"/>
            <a:ext cx="148132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199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3072" y="3767327"/>
            <a:ext cx="7132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717890"/>
                </a:solidFill>
                <a:latin typeface="Segoe UI"/>
              </a:rPr>
              <a:t>$0,826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30768" y="4434840"/>
            <a:ext cx="3200400" cy="1719072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30768" y="4434840"/>
            <a:ext cx="41148" cy="171907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459028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ФОРМУЛА ПЕРЕГОВОРІВ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68512" y="4855464"/>
            <a:ext cx="2743200" cy="11704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полиця = FOB × 268,9  (20′ FCL)
полиця = FOB × 241,1  (40′ FCL)
Кожні $0,10 зниження FOB знімають 27 грн з полиці.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АУДИТ ФІНМОДЕЛІ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Чотири припущення, які треба закрити до переговорів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Модель арифметично коректна. Ризики — у вхідних даних і в трактуванні податків.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1396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94F7C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ПДВ, ймовірно, задвоєно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Собівартість містить імпортний ПДВ 20 % (RTE_Rice_Suppliers), а ціна партнера в моделі «вже з ПДВ». Для платника ПДВ імпортний податок — податковий кредит, а не витрата.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ЯКЩО ПІДТВЕРДИТЬСЯ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СС падає на 16,7 %, полиця BSCM пауч 240 г: 157 → 131 грн, стакан 150 г: 139 → 116 грн. Це змінює весь висновок щодо пауча.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72768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572768"/>
            <a:ext cx="41148" cy="21396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71907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9A50B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59" y="174650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«Маржа 35 %» — не прибуток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07568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моделі маржа = (ціна партнера − СС − бонус) / ціна партнера. У ній немає нашого ФОП, маркетингу, вхідних бонусів мережі, внутрішньої логістики, списань і прострочення.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55664" y="2871215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5664" y="297180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ЩО ЗРОБИТИ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315468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Додати рядок операційних витрат. Поки його немає, 35 % не можна називати рентабельністю — це валова націнка.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904487"/>
            <a:ext cx="41148" cy="21396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Ставка мита не підтверджена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У СС закладено мито 10 %. Дослідження ринку вказує 0 % для CN 1904 90 10 з ЄС. Для Таїланду й Кореї діє інша ставка, джерело в моделі не зазначено.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ЩО ЗРОБИТИ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Отримати письмову тарифну класифікацію за УКТЗЕД 1904 90 10 до підписання контракту. Похибка в 10 % — це 27 грн на полиці.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04487"/>
            <a:ext cx="5413248" cy="213969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04487"/>
            <a:ext cx="41148" cy="21396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050791"/>
            <a:ext cx="2743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9EA6"/>
                </a:solidFill>
                <a:latin typeface="Segoe U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59" y="407822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Бонус мережі 25 % — гіпотеза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4407407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Ставка 25 % взята з прикладу по локшині. Реальні умови «Сільпо» для нової імпортної категорії без історії продажів можуть бути вищими, плюс вхідний бонус і плата за лістинг.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55664" y="5202936"/>
            <a:ext cx="49560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5303520"/>
            <a:ext cx="49560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ЩО ЗРОБИТИ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5486400"/>
            <a:ext cx="49560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80" b="0">
                <a:solidFill>
                  <a:srgbClr val="303A5D"/>
                </a:solidFill>
                <a:latin typeface="Segoe UI"/>
              </a:rPr>
              <a:t>Запросити комерційні умови до розрахунку цін. За бонусу 30 % полиця зростає на 17 % при тій самій маржі.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Пункт 1 — ГІПОТЕЗА, що потребує підтвердження бухгалтером: залежить від статусу платника ПДВ і від того, як ПДВ ураховано в аркушах Self_Cost. Пункти 2–4 — прямі спостереження за вмістом моделі й супровідних файлів.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АЗІЙСЬКИЙ ФОРМАТ У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Дистрибуція вже є — рису в ній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Скільки позицій кожного азійського бренду вже стоїть у національних мережах.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БАР'ЄР — НЕ ДИСТРИБУЦІЯ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лістинг, полиця й логістика під ці бренди вже існують.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F9A50B"/>
                </a:solidFill>
                <a:latin typeface="Segoe UI"/>
              </a:rPr>
              <a:t>ПОЗИЦІОНУВАННЯ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9692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Де ми стоїмо
і що заводити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41648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B9C2DA"/>
                </a:solidFill>
                <a:latin typeface="Segoe UI"/>
              </a:rPr>
              <a:t>Зіставлення фінансової моделі з полицею, рекомендація формату й ціни, цільовий FOB.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5B6B8C"/>
                </a:solidFill>
                <a:latin typeface="Segoe UI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ТОВАРНИХ ГРУП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ПОСТАЧАЛЬНИКІВ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04748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717890"/>
                </a:solidFill>
                <a:latin typeface="Segoe UI"/>
              </a:rPr>
              <a:t>СЦЕНАРІЇВ ЦІНИ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52486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9A50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4552</Words>
  <Application>Microsoft Office PowerPoint</Application>
  <PresentationFormat>Широкий екран</PresentationFormat>
  <Paragraphs>932</Paragraphs>
  <Slides>19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19</vt:i4>
      </vt:variant>
    </vt:vector>
  </HeadingPairs>
  <TitlesOfParts>
    <vt:vector size="23" baseType="lpstr">
      <vt:lpstr>Arial</vt:lpstr>
      <vt:lpstr>Calibri</vt:lpstr>
      <vt:lpstr>Segoe UI</vt:lpstr>
      <vt:lpstr>Office Theme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Чаплигін lлля</cp:lastModifiedBy>
  <cp:revision>2</cp:revision>
  <dcterms:created xsi:type="dcterms:W3CDTF">2013-01-27T09:14:16Z</dcterms:created>
  <dcterms:modified xsi:type="dcterms:W3CDTF">2026-09-23T11:30:11Z</dcterms:modified>
  <cp:category/>
</cp:coreProperties>
</file>