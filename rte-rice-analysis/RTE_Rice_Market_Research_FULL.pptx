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7" r:id="rId27"/>
    <p:sldId id="278" r:id="rId28"/>
    <p:sldId id="260" r:id="rId6"/>
    <p:sldId id="279" r:id="rId29"/>
    <p:sldId id="261" r:id="rId7"/>
    <p:sldId id="287" r:id="rId37"/>
    <p:sldId id="288" r:id="rId38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9" r:id="rId39"/>
    <p:sldId id="290" r:id="rId40"/>
    <p:sldId id="276" r:id="rId26"/>
    <p:sldId id="274" r:id="rId20"/>
    <p:sldId id="291" r:id="rId41"/>
    <p:sldId id="275" r:id="rId25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4.jp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3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15.jpg"/><Relationship Id="rId12" Type="http://schemas.openxmlformats.org/officeDocument/2006/relationships/image" Target="../media/image16.jpg"/><Relationship Id="rId13" Type="http://schemas.openxmlformats.org/officeDocument/2006/relationships/image" Target="../media/image17.jpg"/><Relationship Id="rId14" Type="http://schemas.openxmlformats.org/officeDocument/2006/relationships/image" Target="../media/image18.jpg"/><Relationship Id="rId15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image" Target="../media/image25.jpg"/><Relationship Id="rId9" Type="http://schemas.openxmlformats.org/officeDocument/2006/relationships/image" Target="../media/image6.jpg"/><Relationship Id="rId10" Type="http://schemas.openxmlformats.org/officeDocument/2006/relationships/image" Target="../media/image26.jpg"/><Relationship Id="rId11" Type="http://schemas.openxmlformats.org/officeDocument/2006/relationships/image" Target="../media/image27.jpg"/><Relationship Id="rId12" Type="http://schemas.openxmlformats.org/officeDocument/2006/relationships/image" Target="../media/image2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9.jpg"/><Relationship Id="rId4" Type="http://schemas.openxmlformats.org/officeDocument/2006/relationships/image" Target="../media/image4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5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Relationship Id="rId6" Type="http://schemas.openxmlformats.org/officeDocument/2006/relationships/image" Target="../media/image53.jpg"/><Relationship Id="rId7" Type="http://schemas.openxmlformats.org/officeDocument/2006/relationships/image" Target="../media/image54.jpg"/><Relationship Id="rId8" Type="http://schemas.openxmlformats.org/officeDocument/2006/relationships/image" Target="../media/image5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jpg"/><Relationship Id="rId10" Type="http://schemas.openxmlformats.org/officeDocument/2006/relationships/image" Target="../media/image62.jpg"/><Relationship Id="rId11" Type="http://schemas.openxmlformats.org/officeDocument/2006/relationships/image" Target="../media/image63.jpg"/><Relationship Id="rId12" Type="http://schemas.openxmlformats.org/officeDocument/2006/relationships/image" Target="../media/image64.jpg"/><Relationship Id="rId13" Type="http://schemas.openxmlformats.org/officeDocument/2006/relationships/image" Target="../media/image65.jpg"/><Relationship Id="rId14" Type="http://schemas.openxmlformats.org/officeDocument/2006/relationships/image" Target="../media/image6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7.jpg"/><Relationship Id="rId4" Type="http://schemas.openxmlformats.org/officeDocument/2006/relationships/image" Target="../media/image68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7" Type="http://schemas.openxmlformats.org/officeDocument/2006/relationships/image" Target="../media/image71.jpg"/><Relationship Id="rId8" Type="http://schemas.openxmlformats.org/officeDocument/2006/relationships/image" Target="../media/image72.jpg"/><Relationship Id="rId9" Type="http://schemas.openxmlformats.org/officeDocument/2006/relationships/image" Target="../media/image73.jpg"/><Relationship Id="rId10" Type="http://schemas.openxmlformats.org/officeDocument/2006/relationships/image" Target="../media/image7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5.jpg"/><Relationship Id="rId4" Type="http://schemas.openxmlformats.org/officeDocument/2006/relationships/image" Target="../media/image76.jpg"/><Relationship Id="rId5" Type="http://schemas.openxmlformats.org/officeDocument/2006/relationships/image" Target="../media/image77.jpg"/><Relationship Id="rId6" Type="http://schemas.openxmlformats.org/officeDocument/2006/relationships/image" Target="../media/image78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81.jpg"/><Relationship Id="rId10" Type="http://schemas.openxmlformats.org/officeDocument/2006/relationships/image" Target="../media/image82.jpg"/><Relationship Id="rId11" Type="http://schemas.openxmlformats.org/officeDocument/2006/relationships/image" Target="../media/image83.jpg"/><Relationship Id="rId12" Type="http://schemas.openxmlformats.org/officeDocument/2006/relationships/image" Target="../media/image84.jpg"/><Relationship Id="rId13" Type="http://schemas.openxmlformats.org/officeDocument/2006/relationships/image" Target="../media/image8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Relationship Id="rId5" Type="http://schemas.openxmlformats.org/officeDocument/2006/relationships/image" Target="../media/image88.jpg"/><Relationship Id="rId6" Type="http://schemas.openxmlformats.org/officeDocument/2006/relationships/image" Target="../media/image89.jpg"/><Relationship Id="rId7" Type="http://schemas.openxmlformats.org/officeDocument/2006/relationships/image" Target="../media/image90.jpg"/><Relationship Id="rId8" Type="http://schemas.openxmlformats.org/officeDocument/2006/relationships/image" Target="../media/image9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37A169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7B5EA7"/>
                </a:solidFill>
                <a:latin typeface="Segoe UI"/>
              </a:rPr>
              <a:t>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23 брендів, 56 продавців.
У мережі — 11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B6B8C"/>
                </a:solidFill>
                <a:latin typeface="Segoe UI"/>
              </a:rPr>
              <a:t>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03504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D5DBEA"/>
                </a:solidFill>
                <a:latin typeface="Segoe UI"/>
              </a:rPr>
              <a:t>1.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імпортується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але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потрапляє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11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84 — і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всі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це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Ben's Original у «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».
2.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Зростання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2025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року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дає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Болгарія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44,8 → 78,3 т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рік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+75 %.
3.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Формат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який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реально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працює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полиці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пауч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220–250 г: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109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упаковку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найнижча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категорії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
4.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Україні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виробляють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100 %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обсягу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199632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10528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чаші за 100–150 грн у мережі: Ottogi коштує 225–356 грн, Henan 83–156, але обидва лише онлайн.
2. Немає українського виробника готового рису в паучі для мікрохвильовки — українські 16 позицій це або консерва, або сублімат для туризму.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2025 рік — рекорд за вартістю: 823 тис. € проти 475 тис. € у 2024-му.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0312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0" y="2148839"/>
            <a:ext cx="1218179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978131" y="209397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3774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2423159"/>
            <a:ext cx="1468660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28612" y="23682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65175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2697479"/>
            <a:ext cx="87123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847075" y="264261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292607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Іспанія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297179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796528" y="291693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20039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Франція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0" y="324611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796528" y="319125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47471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2043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96528" y="346557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5823" y="37490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0" y="379475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796528" y="373989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3" y="4059935"/>
            <a:ext cx="358444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Болгарія і Польща — 95 % тонажу. Це заводи ЄС, що пакують рис у пауч.
Корея і Китай разом дають 3,1 т — це чаші Ottogi, Bibigo та Henan.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495604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35424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24144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0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51775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51775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40496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59952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68128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830 тис.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5303520"/>
            <a:ext cx="34747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Перевірка з іншого боку: 830 тис. упаковок × 110 грн медіани = 91 млн грн. Два методи сходяться.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ЄС→Україна, 2019–2025; UN Comtrade (Корея, Китай, Таїланд, 2025); курс НБУ (середній 2025: 47,15 грн/€, 41,71 грн/$).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23 бренди, чотири технології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9A50B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45 – 446 грн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30168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C94F7C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0168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12 позицій · 3 бренди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0168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0168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30168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138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0168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83 – 501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37376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14 позицій · 4 бренди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7376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37376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7B5EA7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380 – 1 190 грн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44584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1E9EA6"/>
                </a:solidFill>
                <a:latin typeface="Segoe UI"/>
              </a:rPr>
              <a:t>СУБЛІМАЦІЯ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584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244584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302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4584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55 – 889 грн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4572000"/>
            <a:ext cx="10954512" cy="1719072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03504" y="4572000"/>
            <a:ext cx="91440" cy="17190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2" y="47365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C95C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" y="5138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25296" y="5084064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FFFFFF"/>
                </a:solidFill>
                <a:latin typeface="Segoe UI"/>
              </a:rPr>
              <a:t>Ben's Original — 13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єдиний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бренд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у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(«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»).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6" y="54132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25296" y="535838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Ottogi і Henan — 18 азійських чаш; Henan удвічі дешевший за упаковку.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6696" y="56875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25296" y="563270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Українських позицій — 16, але жодної в паучі для мікрохвильовки.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791456"/>
            <a:ext cx="36576" cy="12801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20256" y="4736592"/>
            <a:ext cx="4663440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для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розігріву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(30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) — 73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100 г.
У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продається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11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84.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Решта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73 —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лише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онлайн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маркетплейси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азійські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фудшопи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туристичні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й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військові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магазини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.
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Країни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: ЄС — 31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позиція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Китай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24,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Україна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16, </a:t>
            </a:r>
            <a:r>
              <a:rPr sz="1000" b="0" i="0" dirty="0" err="1">
                <a:solidFill>
                  <a:srgbClr val="B9C2DA"/>
                </a:solidFill>
                <a:latin typeface="Segoe UI"/>
              </a:rPr>
              <a:t>Корея</a:t>
            </a:r>
            <a:r>
              <a:rPr sz="1000" b="0" i="0" dirty="0">
                <a:solidFill>
                  <a:srgbClr val="B9C2DA"/>
                </a:solidFill>
                <a:latin typeface="Segoe UI"/>
              </a:rPr>
              <a:t> — 11, США — 2.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 dirty="0" err="1">
                <a:solidFill>
                  <a:srgbClr val="717890"/>
                </a:solidFill>
                <a:latin typeface="Segoe UI"/>
              </a:rPr>
              <a:t>Джерела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: 17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мереж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на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zakaz.ua, «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Сільпо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», Prom, MAUDAU,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Rozetka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спеціалізовані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магазини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і чаша — 63 % позицій, але полицю тримає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415" y="1938528"/>
            <a:ext cx="722785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Дойпак із сублімату. Легкий, але потребує окропу. Туризм і армія.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2960" y="3694176"/>
            <a:ext cx="764177" cy="16459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30 позицій · 36 % · 11 брендів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315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55 – 889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10712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57016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788" y="1938528"/>
            <a:ext cx="944454" cy="8961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30168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168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Жорстка чаша чи стакан. Готова страва або сухий рис під окріп. Формат для офісу.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30168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630168" y="3694176"/>
            <a:ext cx="585869" cy="16459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30168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23 позиції · 27 % · 5 брендів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30168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0168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229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83 – 931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218 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217920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364224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bens_basmati2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965" y="1938528"/>
            <a:ext cx="640516" cy="8961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37376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Плаский реторт-пауч. Мікрохвильовка 90 с або окріп. Формат мережевої полиці.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37376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437376" y="3694176"/>
            <a:ext cx="483978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37376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19 позицій · 23 % · 5 брендів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7376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37376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37376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45 – 376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25128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025128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171432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60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6376" y="1938528"/>
            <a:ext cx="896112" cy="89611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244584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4584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Картон із хімічним нагрівачем. Без техніки. Дорогий і об'ємний.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44584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244584" y="3694176"/>
            <a:ext cx="305670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244584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12 позицій · 14 % · 3 бренди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44584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244584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44584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708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44584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44584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380 – 1 190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4584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44584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230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504" y="5449824"/>
            <a:ext cx="10954512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603504" y="5449824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14400" y="5632704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14400" y="5961888"/>
            <a:ext cx="10405872" cy="201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Дойпак виграє за кількістю позицій лише тому, що туристичні магазини заводять десятки дрібних брендів. За доступністю для покупця виграє пауч: 109 грн медіана проти 315 грн у дойпака й 708 грн у коробки з нагрівачем.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250 і 220 грамів — половина всієї полиці паучів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Скільки позицій припадає на кожну вагу і як ваги розподілені між форматами.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700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НАЙЧАСТІШІ ВАГИ, ПОЗИЦІЙ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72768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90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42032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42032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296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11296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125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982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4982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9088" y="2474975"/>
            <a:ext cx="859536" cy="149352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225551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8352" y="2048255"/>
            <a:ext cx="859536" cy="192024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88352" y="18287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261104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Колір стовпця — формат, у якому ця вага трапляється найчастіше: помаранчевий — пауч, рожевий — чаша, бірюзовий — дойпак.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1700784"/>
            <a:ext cx="3255264" cy="31638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0496" y="1865376"/>
            <a:ext cx="2834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ВАГОВЕ ВІКНО ФОРМАТУ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217627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35915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80–250 г · медіана 110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7432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Чаша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926080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84–320 г · медіана 218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1012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493008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220–400 г · медіана 250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38770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059936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165–440 г · медіана 230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44622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Чаша й пауч конкурують у вікні 210–250 г — це порція на одну людину.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5010912"/>
            <a:ext cx="10954512" cy="13167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03504" y="5010912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обирати під полицю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522976"/>
            <a:ext cx="104058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Вагове ядро категорії — 220–250 г: 16 позицій із 84, усі пауч або чаша, усі в корені порції «обід для однієї людини». Це та вага, під яку вже налаштований покупець Ben's Original і Bibigo.
Легкі ваги 80–146 г — це не менша порція, а сухий продукт: сублімат і інстант-рис, які треба залити окропом. Порівнювати їх із паучем за грам не можна.
Важкі 310–440 г — корейські чаші Ottogi та китайські коробки з нагрівачем: порція «на голодного», але й ціна за упаковку 250–735 грн.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Маса з карток продавців; 2 позицій без указаної маси до розрахунку не входять.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64208"/>
            <a:ext cx="10954512" cy="4608576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97449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31689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0995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5235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4540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18780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8086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12326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71632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05872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1828800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182880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182880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98424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200253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3008" y="200253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7877" y="2034539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259297" y="199796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0465" y="197510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94 – 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14884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16352" y="216712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16712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4742" y="2199132"/>
            <a:ext cx="7469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92742" y="21625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3122" y="213969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31343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16352" y="233172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233172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0484" y="2363724"/>
            <a:ext cx="56299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337335" y="232714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64916" y="230428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55 – 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247802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16352" y="249631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93008" y="249631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11489" y="2528316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342909" y="249174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02929" y="246888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264261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26609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266090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6561" y="2692908"/>
            <a:ext cx="1326655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4404225" y="26563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84656" y="263347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83 – 321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280720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16352" y="282549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93008" y="282549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6561" y="2857500"/>
            <a:ext cx="406915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423735" y="282092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764916" y="279806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83 – 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297180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16352" y="299008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93008" y="299008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5270" y="3022092"/>
            <a:ext cx="39019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4476690" y="298551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5729" y="29626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133 – 140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313639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31546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315468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56418" y="3186684"/>
            <a:ext cx="301005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4487838" y="315010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948864" y="312724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135 – 189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330098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6352" y="331927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008" y="331927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8547" y="3351276"/>
            <a:ext cx="8361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4501774" y="33147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703600" y="329184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130 – 145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346557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16352" y="348386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93008" y="348386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80391" y="3515868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5011811" y="347929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171831" y="345643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363016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16352" y="364845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93008" y="364845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08597" y="3680460"/>
            <a:ext cx="1081391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140017" y="364388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81429" y="362102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252 – 446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" y="37947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16352" y="381304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93008" y="381304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58095" y="3845052"/>
            <a:ext cx="730217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5156740" y="380847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879752" y="378561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225 – 356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395935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16352" y="397764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93008" y="397764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20416" y="4009644"/>
            <a:ext cx="445934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5457746" y="397306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5957791" y="395020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290 – 370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412394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16352" y="414223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93008" y="414223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559771" y="4174236"/>
            <a:ext cx="936462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5831216" y="413766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587674" y="411480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315 – 483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428853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16352" y="430682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93008" y="430682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03359" y="4338828"/>
            <a:ext cx="2486085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6477821" y="430225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7880884" y="427939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269 – 715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445312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16352" y="447141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93008" y="447141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546401" y="45034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477821" y="44668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637841" y="444398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1248" y="461772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16352" y="463600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93008" y="463600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596569" y="4668012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6527989" y="463143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688009" y="460857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501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1248" y="478231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16352" y="480059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93008" y="480059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36804" y="4832603"/>
            <a:ext cx="3422547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6895885" y="479602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850792" y="47731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275 – 889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4946903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816352" y="496519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93008" y="4965191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922093" y="4997195"/>
            <a:ext cx="4515087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7442155" y="496061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0528621" y="4937759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380 – 1 190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5111495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16352" y="512978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93008" y="5129783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700257" y="5161787"/>
            <a:ext cx="18288" cy="6400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7631677" y="5125211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791697" y="5102351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699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1248" y="5276087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16352" y="529437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93008" y="5294375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900928" y="5326379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7832348" y="528980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992368" y="526694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5440679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16352" y="545896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93008" y="545896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900928" y="5490971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7832348" y="5454395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992368" y="5431535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5605271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6352" y="562355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93008" y="562355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993467" y="5655563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8924887" y="561898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084907" y="5596127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931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054742" y="6126480"/>
            <a:ext cx="752514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4054742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F9A50B"/>
                </a:solidFill>
                <a:latin typeface="Segoe UI"/>
              </a:rPr>
              <a:t>вікно мережевої полиці: 45–180 грн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248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Колір — країна: Україна · Китай · Корея · ЄС · США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BEN'S ORIGINAL · 13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 220–250 г — єдиний бренд на мережевій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Найглибша лінійка сегмента і єдина, що дійшла до продуктового роздрібу.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18–81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81497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254649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266" y="2395728"/>
            <a:ext cx="549014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00369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0369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00369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00369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0369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59490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832642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0441" y="2395728"/>
            <a:ext cx="544649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78362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8362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8362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78362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8362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7483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0635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7562" y="2395728"/>
            <a:ext cx="546395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355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6355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6355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56355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56355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15476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988628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318" y="2395728"/>
            <a:ext cx="556869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34348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34348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34348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34348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4348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93469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8566621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967" y="2395728"/>
            <a:ext cx="531557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612341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2341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12341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12341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2341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71462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0144614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bens_basmati2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7613" y="2395728"/>
            <a:ext cx="554251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190334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90334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0334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100–144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90334" y="39959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45–65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0334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4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676656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bens_mexikanis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2273" y="4480560"/>
            <a:ext cx="549014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2376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2376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50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181497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2254649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bens_curryrei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9792" y="4480560"/>
            <a:ext cx="569962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300369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0369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0369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0369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65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0369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59490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832642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bens_stickybow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5716" y="4480560"/>
            <a:ext cx="514100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78362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78362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78362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149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78362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78362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37483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5410635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Picture 103" descr="bens_sweetchili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99706" y="4480560"/>
            <a:ext cx="562106" cy="768096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456355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56355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56355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56355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56355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15476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988628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2" name="Picture 111" descr="bens_bio240_sing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17712" y="4480560"/>
            <a:ext cx="482081" cy="768096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034348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034348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34348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34348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34348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93469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8566621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119" descr="bens_lang220_singl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912" y="4480560"/>
            <a:ext cx="537667" cy="76809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612341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12341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12341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612341" y="608076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 грн/100 г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12341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каталог «Сільпо» (11 позицій), MAUDAU, Edison Lee — 22.09.2026. Basmati 220 г: 100 грн у MAUDAU і 144 грн у «Сільпо». Дві позиції Edison Lee продаються поштучно, ціна за один пауч.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   ·   Мікрохвильовка 60–90 с   ·   Маса — готової страви   ·   привід: Обід поза домом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164 ГРН МЕДІАНА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25856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25856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383133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83133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41324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1324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98601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8601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56792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56792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14069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14069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25856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25856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83133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83133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41324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41324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98601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98601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56792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56792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OTTOGI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217–320 г — корейський лідер азійського каналу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Готова страва з наповнювачем. Найдорожча упаковка сегмента розігріву.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Республіка Корея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79–130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745" y="2395728"/>
            <a:ext cx="879267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ottogi_hambur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079" y="2395728"/>
            <a:ext cx="864980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ot_pork3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126" y="2395728"/>
            <a:ext cx="879267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81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ot_chicken_ri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902" y="2395728"/>
            <a:ext cx="768096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255–260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82–84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ot_octopu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969" y="2395728"/>
            <a:ext cx="886342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255–289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91–103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ot_tun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265" y="4480560"/>
            <a:ext cx="97022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225–320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91–130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ot_bibimba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4462" y="4480560"/>
            <a:ext cx="874214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94–124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ot_pork_spic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7588" y="4480560"/>
            <a:ext cx="886342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124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ot_beef3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5902" y="4480560"/>
            <a:ext cx="768096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ottogi_jjampong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61413" y="4480560"/>
            <a:ext cx="875454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117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Pulsar, Апетітаріум, Gurmissimo, Тайякі Март — 22.09.2026. Ціни роздрібні: у «Тайякі Март» від 15–20 шт діє нижча ціна, вона не бралася.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   ·   Мікрохвильовка 60–90 с   ·   Маса — готової страви   ·   привід: Обід поза домом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164 ГРН МЕДІАНА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889504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889504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9320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9320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7306055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306055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509759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509759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889504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889504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9320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9320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306055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306055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509759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09759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HENAN ·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144 і 174 г — найдешевша чаша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Маса — до заливання.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Xiao Guo Zao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83–156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58–106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n_braised1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97" y="2395728"/>
            <a:ext cx="821660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129–156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74–90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38144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249" y="2395728"/>
            <a:ext cx="809532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483864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140–156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80–90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83864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199632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n_sausage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274" y="2395728"/>
            <a:ext cx="802458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245352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87968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961120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n_pepperbeef17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5912" y="2395728"/>
            <a:ext cx="774159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06840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6840" y="399592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68–90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76656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n_pepperchicken1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79" y="4480560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2376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112–150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6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64–86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64992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3438144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n_spicychicken14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270" y="4480560"/>
            <a:ext cx="805490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483864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3864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83864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83864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58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83864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26480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199632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n_sweetsourbeef14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8250" y="4480560"/>
            <a:ext cx="118650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6245352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45352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135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45352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45352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87968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961120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n_eggplant14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7957" y="4480560"/>
            <a:ext cx="10500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006840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6840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152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6840" y="608076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106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MAUDAU, Апетітаріум, Gurmissimo, OMG! Asia, СНЕКІС, DCM — 22–23.09.2026. Маса — сухого продукту до заливання.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СЕГМЕНТ 2 · СУХИЙ РИС ПІД ОКРІП   ·   Окріп, 5–10 хв   ·   Маса — сухого продукту   ·   привід: Офіс і гуртожиток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138 ГРН МЕДІАНА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438144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438144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199632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99632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961119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61119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38144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438144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199632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99632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961119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61119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ПООДИНОКІ БРЕНДИ · 4 БРЕНДИ, 4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Bibigo, Clearspring, Portion, Маркел — по одній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Той самий сегмент розігріву, але різні країни, ваги й канали. Gallina Blanca у правій частині — інший сегмент, рис під окріп.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ibigo_bow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0462"/>
            <a:ext cx="1493520" cy="15003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135–189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64–90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learsp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1877766"/>
            <a:ext cx="1493520" cy="17857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252–446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101–178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58640" y="2660903"/>
            <a:ext cx="160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109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31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mk_rice3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5" y="1829441"/>
            <a:ext cx="1493520" cy="18823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94–96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t_beef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t_teriyaki8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273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грн: найдешевший грам категорії, 27–31 грн за 100 г. Bibigo — той самий товар у трьох каналах, розкид 40 %. Clearspring — органіка, найдорожчий грам серед паучів. Gallina Blanca Yatekomo — 84 г сухого рису в чаші, заливається окропом.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Смак Кореї, Rozetka, Prom, MAUDAU, СУХПАЙ, UPcompany, «Товари з Іспанії» — 22–23.09.2026. Фото Portion: Rozetka не віддає зображення картки.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   ·   Мікрохвильовка 60–90 с   ·   Маса — готової страви   ·   привід: Обід поза домом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164 ГРН МЕДІАНА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76656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6656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14600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14600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361688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61688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99632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99632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037575" y="3589019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37575" y="3607307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 · СЕГ. 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84663" y="3589019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84663" y="3607307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 · СЕГ.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HAIDILAO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165–360 г — лідер саморозігріву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Хімічний нагрівач у коробці: готується без мікрохвильовки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саморозігрів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коробка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380–1 190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100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230–371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d_stewed_chicken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405" y="2395728"/>
            <a:ext cx="753946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230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d_beef_curry2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521" y="2395728"/>
            <a:ext cx="768096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770–799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156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283–294 грн/100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d_beef_stew27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12" y="2395728"/>
            <a:ext cx="768096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0756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849" y="2395728"/>
            <a:ext cx="778202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4994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294 грн/100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d_canton18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5092" y="2395728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39959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364 грн/100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d_stew_chicken18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331" y="4480560"/>
            <a:ext cx="76809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650–680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348–364 грн/100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d_pork_fish1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7521" y="4480560"/>
            <a:ext cx="76809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3156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348 грн/100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d_teriyaki1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9025" y="4480560"/>
            <a:ext cx="8034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650–660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0756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359–365 грн/100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hd_spicy_chicken17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8721" y="4480560"/>
            <a:ext cx="802458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4994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371 грн/100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hd_porkbelly36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15092" y="4480560"/>
            <a:ext cx="768096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1 190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59137" y="608076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331 грн/100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Daruy, Tactico, Desna, Sweet Svitt, «Шериф» — 22–23.09.2026. Найдорожча упаковка категорії — 1 190 грн за 360 г. * Sweet Svitt: назва картки Stewed Chicken, на фото — рис з яловичиною та грибами.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СЕГМЕНТ 3 · САМОРОЗІГРІВ   ·   Хімічний нагрівач, 15 хв   ·   Без техніки й окропу   ·   привід: Дорога, подарунок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735 ГРН МЕДІАНА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76656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76656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889504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889504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93208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93208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7306055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306055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509759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509759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6656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76656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889504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889504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93208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93208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306055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306055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509759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09759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КИТАЙСЬКИЙ САМОРОЗІГРІВ · РЕШТА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Mo Xiao Xian, Zihaiguo, Rongcheng Haoji — 4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три бренди в одному магазині. Qiaoshanmei у правій частині — інший сегмент: рис у пакеті під окріп, не саморозігрів.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x_beef_bambo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3871"/>
            <a:ext cx="1493520" cy="149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mx_bacon_pe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2023871"/>
            <a:ext cx="1493520" cy="1493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3368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qs_sh_pepper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504" y="2023871"/>
            <a:ext cx="1493520" cy="1493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ZIHAIGUO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4360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qs_sh_braised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5" y="2023871"/>
            <a:ext cx="1493520" cy="1493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RONGCHENG HAOJI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1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167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qs_spicy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6344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qs_braised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27336" y="4544568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Zihaiguo і Rongcheng Haoji — коробка 440 г за 735 грн: 167 грн за 100 г, дешевше за грам, ніж Haidilao (230–371). Mo Xiao Xian — 931 грн за 275 г, найдорожча чаша ринку. Qiaoshanmei — не саморозігрів, а рис у пакеті під окріп, 501 грн.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«Скарби Азії» (Prom), 23.09.2026. Бренди Zihaiguo і Rongcheng Haoji визначено за написами на упаковці, Qiaoshanmei — за карткою продавця.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СЕГМЕНТ 3 · САМОРОЗІГРІВ   ·   Хімічний нагрівач, 15 хв   ·   Без техніки й окропу   ·   привід: Дорога, подарунок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735 ГРН МЕДІАНА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76656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6656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14600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14600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361688" y="3589019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61688" y="3607307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99632" y="3589019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99632" y="3607307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037575" y="3589019"/>
            <a:ext cx="1200040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37575" y="3607307"/>
            <a:ext cx="1200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ПАКЕТ · СЕГ. 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84663" y="3589019"/>
            <a:ext cx="1200040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84663" y="3607307"/>
            <a:ext cx="1200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ПАКЕТ · СЕГ.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ІМПОРТНИЙ СУБЛІМАТ · 4 БРЕНДИ, 12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Travellunch, Trek'n Eat, Mountain House, Adventure Food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Німеччина, США, Нідерланди. Залити окропом на 8–10 хвилин.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63" y="1828800"/>
            <a:ext cx="708034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275–515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220–412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tl_beef_pepper1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334" y="1828800"/>
            <a:ext cx="706879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295–515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236–412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tl_nasi1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9722" y="1828800"/>
            <a:ext cx="686088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567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454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tl_curry1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657" y="1828800"/>
            <a:ext cx="724204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515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412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tl_strog25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5313" y="1828800"/>
            <a:ext cx="706879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702–811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281–324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tl_beef_pepper25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3701" y="1828800"/>
            <a:ext cx="686088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811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324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tl_nasi25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1695" y="1828800"/>
            <a:ext cx="686088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889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356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e_fis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887" y="4059936"/>
            <a:ext cx="7657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269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5" name="Picture 74" descr="te_strog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9537" y="4059936"/>
            <a:ext cx="1210473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715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Picture 81" descr="mh_curry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2273" y="4059936"/>
            <a:ext cx="960986" cy="877823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635 грн/100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" name="Picture 89" descr="mh_friedric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0359" y="4059936"/>
            <a:ext cx="780801" cy="877823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526 грн/100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915476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988628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8" name="Picture 97" descr="af_curry14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2030" y="4059936"/>
            <a:ext cx="733445" cy="87782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34348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34348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FOOD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4348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492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34348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337 грн/100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34348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93469" y="3950208"/>
            <a:ext cx="3064546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8493469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804365" y="4133088"/>
            <a:ext cx="25159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04365" y="4462272"/>
            <a:ext cx="2515906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Travellunch — 7 позицій у двох вагах, 125 і 250 г, найширша імпортна лінійка. Mountain House — 699 грн за 110–133 г сухої маси, найдорожчий грам категорії. Канал — туристичні й військові магазини, у продуктовий роздріб ці бренди не йдуть.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Highlander, ForCamp, Військторг Гайдамака, Freeride, Kamanti, 110вольт, Клуб Мандрівник — 22–23.09.2026.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   ·   Сушіння виморожуванням   ·   Окріп, мінімальна вага   ·   привід: Похід і армія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302 ГРН МЕДІАНА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7665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7665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25856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25856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83133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3133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41324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41324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98601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98601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56792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6792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014069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14069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25856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25856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83133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83133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1324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41324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98601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8601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ГОТОВА СТРАВА І СУБЛІМАТ · 2 БРЕНДИ,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Adventure Menu і SubliMate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Adventure Menu — єдиний бренд із двома технологіями: реторт 400 г і сублімат 110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m_korma4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96" y="1828800"/>
            <a:ext cx="76116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94–101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74" y="1828800"/>
            <a:ext cx="755390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156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79–89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6347" y="1828800"/>
            <a:ext cx="728824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756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84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075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m_korma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0309" y="1828800"/>
            <a:ext cx="79928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378–483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9947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344–439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994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am_tikka11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7767" y="1828800"/>
            <a:ext cx="802746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390–483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9137" y="353872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355–439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913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sm_plov14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119" y="4059936"/>
            <a:ext cx="1106520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309–310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221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sm_chicken_fru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5634" y="4059936"/>
            <a:ext cx="1071869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290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156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264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156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sm_green_curr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2879" y="4059936"/>
            <a:ext cx="1115760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370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40756" y="576986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308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075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541971" y="4133088"/>
            <a:ext cx="37783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1971" y="4462272"/>
            <a:ext cx="37783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79–101 грн за 100 г: у тому ж коридорі, що Ben's Original і Ottogi, але продається лише в туристичних магазинах. SubliMate — український сублімат, 290–370 грн за дойпак.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ForCamp, MK-Sport, Freeride, Лєєр, OXO, Palmer, Highlander, ВсеОпт, Суренж — 22–23.09.2026.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   ·   Сушіння виморожуванням   ·   Окріп, мінімальна вага   ·   привід: Похід і армія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302 ГРН МЕДІАНА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76656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76656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889504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889504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093208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93208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306055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306055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509759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509759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889504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889504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09320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09320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УКРАЇНСЬКИЙ СУБЛІМАТ · 4 БРЕНДИ,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James Cook, Їжа в Похід, Харчі, !FEST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Усе українське виробництво категорії. Канал — outdoor- і мілітарі-рітейл.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c_meatv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03" y="1828800"/>
            <a:ext cx="1033753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83–138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92–153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jc_cur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897" y="1828800"/>
            <a:ext cx="1033753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133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00369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148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jc_mashkichi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1270" y="1828800"/>
            <a:ext cx="1042993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156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8362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195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c_ve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0449" y="1828800"/>
            <a:ext cx="98062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55–81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6355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61–90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p_chicken8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7197" y="1828800"/>
            <a:ext cx="783111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145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4348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171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p_veg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0570" y="1828800"/>
            <a:ext cx="792351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12341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153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kh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6861" y="1828800"/>
            <a:ext cx="735755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0334" y="353872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kh_ricemea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437" y="4059936"/>
            <a:ext cx="7426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141 грн/100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6" name="Picture 75" descr="kh_kichr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6896" y="4059936"/>
            <a:ext cx="735755" cy="87782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00369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98 грн/100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4" name="Picture 83" descr="kh_plovx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855" y="4059936"/>
            <a:ext cx="1175822" cy="87782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321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78362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321 грн/100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91" descr="fest_plov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5708" y="4059936"/>
            <a:ext cx="850103" cy="8778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!FEST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133–140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56355" y="576986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133–140 грн/100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915476" y="3950208"/>
            <a:ext cx="4642539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6915476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226372" y="4133088"/>
            <a:ext cx="40938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6372" y="4462272"/>
            <a:ext cx="4093899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Українські сублімати — 55–321 грн за упаковку, імпортні — 269–889 грн. James Cook — 4 рисові позиції, найширша українська лінійка. Українське виробництво в категорії є, але воно цілком у туристичному каналі.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Highlander, Activity, ВсеОпт, Klever-Shop, Terra Incognita, «Їжа в Похід», Харчі ТМ, Висот-Нік, SportStorm, Kalush-Craft — 22–23.09.2026.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66751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   ·   Сушіння виморожуванням   ·   Окріп, мінімальна вага   ·   привід: Похід і армія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89520" y="1156716"/>
            <a:ext cx="395020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МЕДІАНА СЕГМЕНТА: 302 ГРН МЕДІАНА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7665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7665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5856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25856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83133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3133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41324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41324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98601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98601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56792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56792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14069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14069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25856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25856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83133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83133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41324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41324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ЩО СТОЇТЬ У МЕРЕЖІ ЗАМІСТЬ НАС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є на полиці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Мережі не мають пауча з готовим рисом, зате мають суміжну категорію за 63–160 грн.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10512"/>
            <a:ext cx="950975" cy="1389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18 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0592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23744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810512"/>
            <a:ext cx="987551" cy="13898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9464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9464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35 грн/100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70832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732" y="1810512"/>
            <a:ext cx="923543" cy="13898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37 грн/100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217920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1810512"/>
            <a:ext cx="1014983" cy="138988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63640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34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91856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65008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10728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0728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0728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48 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8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3894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91209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5781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781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57816" y="403250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42–46 грн/100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4535424"/>
            <a:ext cx="82296" cy="175564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471830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047488"/>
            <a:ext cx="480974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готування. Він уже стоїть на полиці, коштує 63–160 грн за 250–350 г і має українського виробника.
Пауч із готовим рисом заходить у той самий гаманець, тож орієнтир ціни — не Ottogi за 255 грн, а ця полиця.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55664" y="4700016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4992624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50224" y="5038344"/>
            <a:ext cx="461356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84732" y="49834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37A169"/>
                </a:solidFill>
                <a:latin typeface="Segoe UI"/>
              </a:rPr>
              <a:t>18,5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230368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Food Fabrika 250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0224" y="5276088"/>
            <a:ext cx="1187057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910433" y="522122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B5EA7"/>
                </a:solidFill>
                <a:latin typeface="Segoe UI"/>
              </a:rPr>
              <a:t>47,6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468112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Original,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50224" y="5513831"/>
            <a:ext cx="1022465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745841" y="5458968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F9A50B"/>
                </a:solidFill>
                <a:latin typeface="Segoe UI"/>
              </a:rPr>
              <a:t>41,0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705855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5751575"/>
            <a:ext cx="1139674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63050" y="569671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45,7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5664" y="5943599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Ottogi,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50224" y="5989319"/>
            <a:ext cx="21945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917936" y="5934455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5B6B8C"/>
                </a:solidFill>
                <a:latin typeface="Segoe UI"/>
              </a:rPr>
              <a:t>88,0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6 позицій — суміжна категорія, у 84 позицій дослідження вони не входять. Охолоджені страви й кулінарію мереж не показано: у них термін 2–5 діб.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56 продавців, чотири типи каналів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Категорія живе в онлайні: у мережі — лише Ben's Original у «Сільпо», 11 позицій.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82296" cy="6949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28800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66543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1847088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61104" y="1847088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4784" y="191109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F9A50B"/>
                </a:solidFill>
                <a:latin typeface="Segoe U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487168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03504" y="2487168"/>
            <a:ext cx="82296" cy="6949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7824" y="259689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ОНЛАЙН-СУПЕРМАРКЕТИ Й МАРКЕТПЛЕЙСИ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834639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· Henan · Bibigo · Clearspring · Portion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2615184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4" y="2615184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MAUDAU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4841" y="2615184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04841" y="2615184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Rozetka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7100" y="2615184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07100" y="2615184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44784" y="2679191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37A169"/>
                </a:solidFill>
                <a:latin typeface="Segoe UI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" y="3255263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3504" y="3255263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7824" y="3364991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СПЕЦІАЛІЗОВАНІ ФУДШОПИ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3602735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Ottogi · Henan · Bibigo · саморозігрів · Gallina Blanca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1104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61104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Смак Кореї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928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38928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Тайякі Март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5273" y="3383279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75273" y="3383279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19011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19011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Апетітаріум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55356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55356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Gurmissimo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33180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33180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Edison Lee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11004" y="3383279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1004" y="3383279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OMG! Asia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61104" y="3675887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261104" y="3675887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СНЕКІС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04841" y="3675887"/>
            <a:ext cx="37673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04841" y="3675887"/>
            <a:ext cx="3767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DCM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73014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373014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Скарби Азії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59" y="3675887"/>
            <a:ext cx="1137513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09359" y="3675887"/>
            <a:ext cx="1137513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38313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538313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Sweet Svitt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360273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7B5EA7"/>
                </a:solidFill>
                <a:latin typeface="Segoe UI"/>
              </a:rPr>
              <a:t>12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4334256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03504" y="4334256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77824" y="444398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ТУРИСТИЧНІ ТА ВІЙСЬКОВІ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" y="4681728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Haidilao · Adventure Menu · усі сублімати · Маркел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1104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261104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ALANTUR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63363" y="44622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963363" y="4462272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Highlander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41187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41187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ForCamp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3446" y="4462272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43446" y="4462272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Гайдамака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62748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362748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Freeride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23529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123529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MK-Sport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884310" y="4462272"/>
            <a:ext cx="493776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884310" y="4462272"/>
            <a:ext cx="49377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Daruy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69526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469526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Tactico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71785" y="4462272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171785" y="4462272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Лєєр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261104" y="4754880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261104" y="4754880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Activity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1884" y="4754880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021884" y="4754880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+ ще 30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44784" y="468172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1E9EA6"/>
                </a:solidFill>
                <a:latin typeface="Segoe UI"/>
              </a:rPr>
              <a:t>40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41248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Що відомо про імпортерів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Картки продавців імпортера не називають. OMG! Asia і СНЕКІС описують себе як прямих імпортерів з Азії; Ben's Original виробляє Mars (заводи Франція, Німеччина).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99632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437376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Мережі без жодної позиції категорії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37376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АТБ, Novus, Metro, Varus, Ашан, Fozzy, «Таврія В», МегаМаркет, ЕКО маркет, Ultramarket та ще 7 мереж. Суміжну категорію (слайд 17) частина з них має.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Чотири факти про ринок і три питання, на які дані відповіді не дають.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Ринок є, полиці немає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і 84 позицій у продажу — але 73 із них живуть лише онлайн. Мережеву дистрибуцію має один бренд.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99632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Вікно ціни — 45–180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Стільки коштує упаковка, яку покупець бере в мережі. Усе, що дорожче 250 грн, продається поштучно в нішевих магазинах.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Формат — пауч 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позицій у цьому вікні, медіана 109 грн. Чаша дорожча вдвічі, коробка з нагрівачем — усемеро.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Українського пауча немає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українських позицій — це консерви й сублімати для туризму. Готового рису в паучі під мікрохвильовку не робить ніхто.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34256"/>
            <a:ext cx="10954512" cy="159105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03504" y="4334256"/>
            <a:ext cx="82296" cy="15910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517136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405872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обсяги. Ємність роздрібу на слайді 03 — оцінка за імпортом, а не заміряний продаж.
2. Хто імпортер. У картках продавців імпортера не вказано; Prom показує лише продавця. Точний перелік дасть лише вивантаження Держмитслужби за УКТЗЕД 1904 90 10.
3. Оборотності на полиці «Сільпо». Скільки Ben's Original реально продає за місяць — без даних мережі не порахувати.
Наступний крок, який закриє 1 і 2: замовити митну базу за 1904 90 10 за 2024–2025 рр. і запитати в «Сільпо» дані про категорію.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Дослідження: 84 позиції, 23 бренди, 56 продавців, 17 мереж. Зріз 22–23 вересня 2026 р.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129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Стакан BSCM 150 г.
Потрібен FOB $0,480.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166 грн за 100 г.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
2. Ринкові ціни — роздріб за одну упаковку в 64 точках продажу, зріз 22–23.09.2026.
3. Азійський стакан — єдиний наш формат, що входить дешевше за діючого лідера ніші.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</a:p>
        </p:txBody>
      </p:sp>
      <p:pic>
        <p:nvPicPr>
          <p:cNvPr id="8" name="Picture 7" descr="c5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5029200" cy="189652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870448" y="1554480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70448" y="1554480"/>
            <a:ext cx="41148" cy="9326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9904" y="166420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1682495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12680" y="1693468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9904" y="1874519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231343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70448" y="2569464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70448" y="2569464"/>
            <a:ext cx="41148" cy="9326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9904" y="26791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12680" y="2697480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12680" y="2708452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9904" y="288950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9904" y="307238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MAUDAU · Rozetka · Prom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3328416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70448" y="3584448"/>
            <a:ext cx="5760720" cy="1280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70448" y="3584448"/>
            <a:ext cx="41148" cy="12801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9904" y="369417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12680" y="3712463"/>
            <a:ext cx="127558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12680" y="3723436"/>
            <a:ext cx="12755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 · ВХІД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9904" y="3904487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9904" y="4087368"/>
            <a:ext cx="53949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9904" y="469087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70448" y="4946904"/>
            <a:ext cx="5760720" cy="113385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70448" y="4946904"/>
            <a:ext cx="41148" cy="113385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9904" y="5056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12680" y="5074920"/>
            <a:ext cx="973836" cy="18288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12680" y="5085892"/>
            <a:ext cx="9738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9904" y="526694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9904" y="54498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9904" y="590702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3931920"/>
            <a:ext cx="5029200" cy="2148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3931920"/>
            <a:ext cx="41148" cy="21488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40873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4352544"/>
            <a:ext cx="45720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Outdoor- і мілітарі-рітейл дає 40 із 66 точок продажу, але це не наш канал: туди приходять по автономне харчування в дорогу, а не по обід.
Саме тому 30 із 84 позицій категорії — сублімат у дойпаку. Він домінує за кількістю SKU й не конкурує з нами за привід споживання.
Наш вхід — 20 азійських фудшопів: там уже стоять Ottogi і Henan, прямі конкуренти нашого стакана, і там покупець знає категорію.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Точки продажу за картками продавців і каталогами магазинів, 22–23.09.2026. Outdoor- і мілітарі-рітейл: 40 точок, поіменно наведено 10 найбільших. Агрегатори zakaz.ua і GoToShop у підрахунок точок продажу не входять.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МАТРИЦЯ БРЕНДІВ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23 бренди у структурі: формат, технологія, ціна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Замість карток — одна таблиця. Сортування за медіанною ціною упаковки.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572768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572768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ТЕХНОЛОГІЯ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9392" y="1572768"/>
            <a:ext cx="10424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7" y="1572768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4144" y="1572768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ЦІНА ЗА УПАКОВКУ,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1572768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1572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810512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88366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2576" y="188366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188366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2" y="188366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7" y="188366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24144" y="188366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45–179   ·   мед. 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188366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18–81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188366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3776" y="214884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18998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218998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218998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2" y="218998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7" y="218998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24144" y="218998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94–96   ·   мед. 95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5472" y="218998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6175" y="218998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22576" y="249631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249631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9392" y="249631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807" y="249631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24144" y="249631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109   ·   мед. 109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5472" y="249631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5" y="249631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2761488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280263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22576" y="280263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280263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9392" y="280263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280263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4144" y="280263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83–321   ·   мед. 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05472" y="280263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98–321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66175" y="280263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10896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22576" y="310896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310896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79392" y="310896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21807" y="310896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24144" y="310896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55–156   ·   мед. 133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05472" y="310896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61–195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5" y="310896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374136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41528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22576" y="341528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08960" y="341528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9392" y="341528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21807" y="341528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24144" y="341528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133–140   ·   мед. 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05472" y="341528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133–140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5" y="341528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72160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22576" y="372160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08960" y="372160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9392" y="372160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21807" y="372160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24144" y="372160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130–145   ·   мед. 138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05472" y="372160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153–171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66175" y="372160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3986784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402793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22576" y="402793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08960" y="402793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79392" y="402793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21807" y="402793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24144" y="402793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83–156   ·   мед. 140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05472" y="402793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58–106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66175" y="402793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433425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22576" y="433425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08960" y="433425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79392" y="433425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321807" y="433425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24144" y="433425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135–189   ·   мед. 162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05472" y="433425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64–90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66175" y="433425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4599432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464058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322576" y="464058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08960" y="464058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79392" y="464058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21807" y="464058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24144" y="464058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229   ·   мед. 229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05472" y="464058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66175" y="464058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6928" y="494690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22576" y="494690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08960" y="494690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79392" y="494690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321807" y="494690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24144" y="494690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225–356   ·   мед. 255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05472" y="494690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79–130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66175" y="494690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93776" y="521208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66928" y="525322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322576" y="525322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108960" y="525322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279392" y="525322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21807" y="525322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24144" y="525322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290–370   ·   мед. 310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205472" y="525322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221–308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66175" y="525322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66928" y="5504688"/>
            <a:ext cx="10789920" cy="6583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66928" y="5504688"/>
            <a:ext cx="41148" cy="6583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4672" y="5660136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ПЕРШІ 12 БРЕНДІВ — ДЕШЕВША ПОЛОВИНА РИНКУ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04672" y="5925312"/>
            <a:ext cx="10332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Усі бренди дешевше 400 грн за упаковку. Пауч і чаша займають увесь діапазон 45–356 грн; дойпак і коробка починаються там, де мережева полиця вже закінчилась.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роздрібні за одну упаковку, без оптових порогів. Медіана — за позиціями бренду. Adventure Menu має дві технології (реторт 400 г і сублімат 110 г).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МАТРИЦЯ БРЕНДІВ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Дорога половина: туризм і саморозігрів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Ці бренди формують «стелю» категорії, але в продуктову мережу не йдуть.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1755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572768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572768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ТЕХНОЛОГІЯ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9392" y="1572768"/>
            <a:ext cx="104241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7" y="1572768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4144" y="1572768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ЦІНА ЗА УПАКОВКУ,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1572768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1572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810512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88366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2576" y="188366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188366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2" y="188366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7" y="188366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24144" y="188366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252–446   ·   мед. 349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2" y="188366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101–178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188366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3776" y="2148840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218998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218998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218998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Розігрів+Субл.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2" y="218998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7" y="218998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24144" y="218998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315–483   ·   мед. 378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5472" y="218998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79–439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6175" y="218998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22576" y="249631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249631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9392" y="249631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807" y="249631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24144" y="249631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269–715   ·   мед. 492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5472" y="249631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5" y="249631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2761488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280263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22576" y="280263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280263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9392" y="280263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280263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4144" y="280263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492   ·   мед. 492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05472" y="280263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66175" y="280263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310896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22576" y="310896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310896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Окріп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79392" y="310896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21807" y="310896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724144" y="310896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501   ·   мед. 501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05472" y="310896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5" y="310896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374136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41528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22576" y="341528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08960" y="341528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9392" y="341528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21807" y="341528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24144" y="341528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275–889   ·   мед. 515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05472" y="341528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220–454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5" y="341528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721608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22576" y="3721608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08960" y="3721608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9392" y="3721608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21807" y="3721608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724144" y="3721608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380–1190   ·   мед. 680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05472" y="3721608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230–371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66175" y="3721608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3986784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4027932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22576" y="4027932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08960" y="4027932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Сублімація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79392" y="4027932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21807" y="4027932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24144" y="4027932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699   ·   мед. 699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05472" y="4027932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526–635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66175" y="4027932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4334256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22576" y="4334256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08960" y="4334256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79392" y="4334256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321807" y="4334256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24144" y="4334256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735   ·   мед. 735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05472" y="4334256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66175" y="4334256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4599432"/>
            <a:ext cx="10936224" cy="3063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4640580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322576" y="4640580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08960" y="4640580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79392" y="4640580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21807" y="4640580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24144" y="4640580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735   ·   мед. 735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05472" y="4640580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167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66175" y="4640580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6928" y="4946904"/>
            <a:ext cx="175564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22576" y="4946904"/>
            <a:ext cx="78638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08960" y="4946904"/>
            <a:ext cx="1170432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79392" y="4946904"/>
            <a:ext cx="104241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321807" y="4946904"/>
            <a:ext cx="40233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24144" y="4946904"/>
            <a:ext cx="1481328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931   ·   мед. 931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05472" y="4946904"/>
            <a:ext cx="1060704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339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66175" y="4946904"/>
            <a:ext cx="31089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66928" y="5349240"/>
            <a:ext cx="5285232" cy="8412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6928" y="5349240"/>
            <a:ext cx="41148" cy="84124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04672" y="5504688"/>
            <a:ext cx="4828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ТЕХНОЛОГІЯ ВИЗНАЧАЄ КАНАЛ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" y="5769864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Сублімація й саморозігрів не конкурують з нами за привід споживання: це похід і відрядження, а не обід у місті.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071616" y="5349240"/>
            <a:ext cx="5285232" cy="8412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071616" y="5349240"/>
            <a:ext cx="41148" cy="8412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309359" y="5504688"/>
            <a:ext cx="4828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НАШ КОНКУРЕНТНИЙ СЕТ — ВУЗЬКИЙ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309359" y="5769864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Реальних конкурентів у нас п'ять: Ben's Original, Ottogi, Henan, Bibigo і суміжна консерва на полиці мережі.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Trek'n Eat: маса на картках продавців не вказана, грн/100 г не рахується. Qiaoshanmei — рис у пакеті під окріп, не саморозігрів.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8" name="Picture 7" descr="c1_form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 2 позиції без указаної маси до розрахунку грн/100 г не входять.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8" name="Picture 7" descr="c3_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44752"/>
            <a:ext cx="7635240" cy="359704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30768" y="1481328"/>
            <a:ext cx="3200400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30768" y="1481328"/>
            <a:ext cx="41148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8512" y="16367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8512" y="1901952"/>
            <a:ext cx="274320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Шість із семи наших груп потрапляють у вікно 45–180 грн, у якому покупець реально бере товар у мережі.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3090672"/>
            <a:ext cx="3200400" cy="15727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30768" y="3090672"/>
            <a:ext cx="41148" cy="157276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8512" y="3246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3511296"/>
            <a:ext cx="27432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Наш найдешевший SKU — 133 грн. Медіана пауча — 109 грн, Ben's Original — 90 грн. За ціною входу ми в верхній третині вікна.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4791456"/>
            <a:ext cx="3200400" cy="13533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0768" y="4791456"/>
            <a:ext cx="41148" cy="13533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8512" y="494690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2" y="5212080"/>
            <a:ext cx="27432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Подвійний стакан 219 грн і ONE'S Fried Rice 332 грн — вище стелі мережевої полиці.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ЦІНА ЗА 100 ГРАМІВ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Головна перевірка: скільки коштує грам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Ціна за упаковку приховує вагу. За грам картина інша — і вона для нас гірша.</a:t>
            </a:r>
          </a:p>
        </p:txBody>
      </p:sp>
      <p:pic>
        <p:nvPicPr>
          <p:cNvPr id="8" name="Picture 7" descr="c2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11064240" cy="425749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892040"/>
            <a:ext cx="5413248" cy="12984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892040"/>
            <a:ext cx="41148" cy="129844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504748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ЖОДНОГО НАШОГО SKU У ВІКНІ ПОЛИЦІ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312664"/>
            <a:ext cx="4956048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Вікно 18–50 грн за 100 г тримають Ben's Original (41), суміжна консерва (40) і медіана пауча (44). Наш найкращий показник — 65 грн у BSCM пауч 240 г. Це +59 % до медіани категорії.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892040"/>
            <a:ext cx="5413248" cy="12984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4892040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504748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 НЕ ВИРОК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5312664"/>
            <a:ext cx="4956048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За грам ми програємо, за упаковку — ні. Покупець у мережі порівнює цінник, а не грн/100 г. Але категорійний менеджер дивиться саме на грн/100 г — і це буде головне заперечення на переговорах.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Медіани за 100 г розраховані як медіана ціни формату / медіану ваги формату; для брендів — із карток продавців. Наші значення — за поточною фінмоделлю, 20′ FCL навалом.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8" name="Picture 7" descr="c4_f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7635240" cy="25935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30768" y="1481328"/>
            <a:ext cx="3200400" cy="2788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13648" y="162763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3648" y="181965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717890"/>
                </a:solidFill>
                <a:latin typeface="Segoe UI"/>
              </a:rPr>
              <a:t>ЦІЛЬ / 20′ FCL / 40′ FCL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206654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220827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109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8" y="2487168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Ben's медіана @240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3648" y="262889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98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63072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907791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304952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129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3072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$0,535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8" y="332841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Паритет Bibigo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8" y="3470147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162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63072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$0,672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13648" y="374903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Ottogi −22 %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3648" y="3890772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199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63072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$0,826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4434840"/>
            <a:ext cx="3200400" cy="171907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30768" y="4434840"/>
            <a:ext cx="41148" cy="17190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68512" y="4590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ФОРМУЛА ПЕРЕГОВОРІВ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68512" y="4855464"/>
            <a:ext cx="274320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полиця = FOB × 268,9  (20′ FCL)
полиця = FOB × 241,1  (40′ FCL)
Кожні $0,10 зниження FOB знімають 27 грн з полиці.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93 грн/100 г  ·  полиця за фінмоделлю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73 грн/100 г  ·  полиця за фінмоделлю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65 грн/100 г  ·  полиця за фінмоделлю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ПЛАН ДІЙ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Дизайн і локалізація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3–4 ТИЖНІ · МАРКЕТИНГ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Зібрати оборотність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ПАРАЛЕЛЬНО З КРОКОМ 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МОДЕЛЬ ФОРМАТУ І ВАГИ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Яке поєднання упаковки й грамажу тримає ринок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</a:p>
        </p:txBody>
      </p:sp>
      <p:pic>
        <p:nvPicPr>
          <p:cNvPr id="8" name="Picture 7" descr="c6_fmt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26464"/>
            <a:ext cx="11064240" cy="4184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681728"/>
            <a:ext cx="41148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F9A50B"/>
                </a:solidFill>
                <a:latin typeface="Segoe UI"/>
              </a:rPr>
              <a:t>ПОРЦІЙНЕ ВІКНО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200–299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22 позиції: пауч 14, чаша 8.
Одна порція на одну людину.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55848" y="4681728"/>
            <a:ext cx="41148" cy="144475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530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дойпак 100–149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530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16 позицій — але це сухий
сублімат, інший привід.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4681728"/>
            <a:ext cx="41148" cy="1444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4820A"/>
                </a:solidFill>
                <a:latin typeface="Segoe UI"/>
              </a:rPr>
              <a:t>ПАУЧ ЖИВЕ ТІЛЬКИ ТУТ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14 із 19 паучів. Поза вікном —
лише укр. реторт 350 г.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33687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3687" y="4681728"/>
            <a:ext cx="41148" cy="144475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3143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НАЙДЕШЕВШИЙ ГРАМ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3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200–249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3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50 грн за 100 г — мінімум
по всіх вагових смугах.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Медіана грн/100 г — за всіма позиціями, що потрапили у вагову смугу, незалежно від формату.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Які упаковки ринок обирає найчастіше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Ліворуч — конкретні поєднання формату й ваги. Праворуч — частка формату в усій категорії та окремо в каналах, куди ходить масовий покупець.</a:t>
            </a:r>
          </a:p>
        </p:txBody>
      </p:sp>
      <p:pic>
        <p:nvPicPr>
          <p:cNvPr id="8" name="Picture 7" descr="c7_comb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2768"/>
            <a:ext cx="11064240" cy="429191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#1 НА РИНКУ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220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7 позицій, усі Ben's Original.
129 грн · 59 грн/100 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5584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530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НАЙДЕШЕВШИЙ ГРАМ У ТОПІ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530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6 позицій, 36 грн/100 г —
втричі дешевше за чашу 174 г.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4828032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#1 В АЗІЙСЬКІЙ НІШІ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174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 позицій Henan, 148 грн.
Прямий конкурент нашого стакана.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33687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3687" y="4828032"/>
            <a:ext cx="41148" cy="129844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3143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БЕЗ OUTDOOR-КАНАЛУ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3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+ пауч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3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91 % позицій, доступних масовому
покупцю. Дойпак падає з 36 % до 4 %.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Поєднання з двома й більше позиціями; 13 поєднань покривають 52 із 84 позицій. Медіана ціни — за позиціями цього поєднання. «Масовий канал» — мережа, маркетплейси та спеціалізовані фудшопи (46 позицій); outdoor- і мілітарі-рітейл виключено.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РИТЕЙЛ-АУДИТ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Що з готового рису реально стоїть у мережах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17904"/>
            <a:ext cx="41148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5316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5316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12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55648"/>
            <a:ext cx="24871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096" y="1755648"/>
            <a:ext cx="3383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5824" y="1755648"/>
            <a:ext cx="4389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1755648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ГРН/УП.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4" y="1755648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04704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938528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4096" y="1938528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193852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пауч 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5824" y="1938528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1938528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90–179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8864" y="193852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36–81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04704" y="1938528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121408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153412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2153412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215341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лоток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4" y="2153412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2153412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215341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04704" y="2153412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2487168"/>
            <a:ext cx="41148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50088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500884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11 SKU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724911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54096" y="2724911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2724911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 280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35824" y="2724911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74736" y="2724911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98864" y="272491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4704" y="2724911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2907791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2939795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54096" y="2939795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7376" y="2939795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35824" y="2939795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74736" y="2939795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98864" y="2939795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04704" y="2939795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154679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54096" y="3154679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3154679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35824" y="3154679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74736" y="3154679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139–439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98864" y="315467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04704" y="3154679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93776" y="3337559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3369563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54096" y="3369563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37376" y="336956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35824" y="3369563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4736" y="3369563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98864" y="33695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04704" y="3369563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3584447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54096" y="3584447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37376" y="3584447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35824" y="3584447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74736" y="3584447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366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98864" y="3584447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04704" y="3584447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" y="3918203"/>
            <a:ext cx="41148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3232" y="39319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15200" y="39319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3 SKU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4155947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054096" y="4155947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37376" y="4155947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200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35824" y="4155947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74736" y="4155947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89–92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98864" y="4155947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45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04704" y="4155947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93776" y="4338827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4370831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 · Сільпо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054096" y="4370831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37376" y="4370831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250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35824" y="4370831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174736" y="4370831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59–85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98864" y="437083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24–34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204704" y="4370831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6928" y="4585716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054096" y="4585716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37376" y="458571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500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35824" y="45857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74736" y="4585716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98864" y="458571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04704" y="4585716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6928" y="4919472"/>
            <a:ext cx="41148" cy="17373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13232" y="4933188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0" y="4933188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0 SKU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5157216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054096" y="5157216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готового рису немає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37376" y="515721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35824" y="51572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174736" y="5157216"/>
            <a:ext cx="1024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98864" y="515721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04704" y="5157216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лише крупа 1–10 кг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66928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6928" y="5138928"/>
            <a:ext cx="41148" cy="10058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04672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AMBIENT-ПОЛИЦЯ — ЦЕ 12 SKU НА ВСЮ КРАЇНУ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04672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 із них — Ben's Original у «Сільпо». Єдина інша позиція: український лоток The Local Food по-тайськи 350 г за 207 грн у МегаМаркеті.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217920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217920" y="5138928"/>
            <a:ext cx="41148" cy="10058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455664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METRO — НУЛЬ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55664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Cash&amp;Carry тримає лише крупу 1–10 кг під власними марками Metro Chef і Aro. Формат обслуговує HoReCa, не кінцевого покупця.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відкритий каталожний API zakaz.ua (Ашан, METRO, NOVUS, МегаМаркет, Ultramarket, ЕКО маркет, Epicentr, Космос) та sf-ecom-api.silpo.ua — 28.09.2026. Фоззі Cash&amp;Carry перевірити не вдалося: каталог закритий ботозахистом.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АЗІЙСЬКИЙ ФОРМАТ У МЕРЕЖАХ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C2235"/>
                </a:solidFill>
                <a:latin typeface="Segoe UI"/>
              </a:rPr>
              <a:t>Дистрибуція вже є — рису в ній немає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36576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E2E8F3"/>
                </a:solidFill>
                <a:latin typeface="Segoe U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7890"/>
                </a:solidFill>
                <a:latin typeface="Segoe UI"/>
              </a:rPr>
              <a:t>Скільки позицій кожного азійського бренду вже стоїть у національних мережах.</a:t>
            </a:r>
          </a:p>
        </p:txBody>
      </p:sp>
      <p:pic>
        <p:nvPicPr>
          <p:cNvPr id="8" name="Picture 7" descr="c8_asian_she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64240" cy="399992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773168"/>
            <a:ext cx="41148" cy="13716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БАР'ЄР — НЕ ДИСТРИБУЦІЯ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Ottogi має 14 позицій у трьох мережах, Bibigo — 6 в «Ашані». Імпортер, лістинг, полиця й логістика під ці бренди вже існують.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4773168"/>
            <a:ext cx="41148" cy="13716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НІХТО ПРОСТО НЕ ЗАВІЗ РИС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Ті самі Ottogi і Bibigo продають чаші з рисом по 225–356 грн — але лише в азійських фудшопах. У мережу зайшла тільки локшина.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4773168"/>
            <a:ext cx="41148" cy="13716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ВІКНО МОЖЕ БУТИ КОРОТКИМ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Імпортер Ottogi додасть рисові SKU до наявного лістингу швидше, ніж ми збудуємо свій з нуля. Це аргумент заходити зараз.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Підрахунок позицій за відкритими каталогами мереж, 28.09.2026. Ураховано позиції, де назва бренду є в назві товару. «З них рис» — жодної позиції готового чи сирого рису під цими брендами в жодній із перевірених мереж.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9A50B"/>
                </a:solidFill>
                <a:latin typeface="Segoe UI"/>
              </a:rPr>
              <a:t>ПОЗИЦІОНУВАННЯ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9692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Де ми стоїмо
і що заводити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41648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B9C2DA"/>
                </a:solidFill>
                <a:latin typeface="Segoe UI"/>
              </a:rPr>
              <a:t>Зіставлення фінансової моделі з полицею, рекомендація формату й ціни, цільовий FOB.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НАШИХ SKU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ТОВАРНИХ ГРУП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ПОСТАЧАЛЬНИКІВ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СЦЕНАРІЇВ ЦІНИ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4552</Words>
  <Application>Microsoft Office PowerPoint</Application>
  <PresentationFormat>Широкий екран</PresentationFormat>
  <Paragraphs>932</Paragraphs>
  <Slides>19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19</vt:i4>
      </vt:variant>
    </vt:vector>
  </HeadingPairs>
  <TitlesOfParts>
    <vt:vector size="23" baseType="lpstr">
      <vt:lpstr>Arial</vt:lpstr>
      <vt:lpstr>Calibri</vt:lpstr>
      <vt:lpstr>Segoe UI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Чаплигін lлля</cp:lastModifiedBy>
  <cp:revision>2</cp:revision>
  <dcterms:created xsi:type="dcterms:W3CDTF">2013-01-27T09:14:16Z</dcterms:created>
  <dcterms:modified xsi:type="dcterms:W3CDTF">2026-09-23T11:30:11Z</dcterms:modified>
  <cp:category/>
</cp:coreProperties>
</file>