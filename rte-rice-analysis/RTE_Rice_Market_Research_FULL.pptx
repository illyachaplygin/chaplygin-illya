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7" r:id="rId27"/>
    <p:sldId id="278" r:id="rId28"/>
    <p:sldId id="260" r:id="rId6"/>
    <p:sldId id="279" r:id="rId29"/>
    <p:sldId id="261" r:id="rId7"/>
    <p:sldId id="287" r:id="rId3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6" r:id="rId26"/>
    <p:sldId id="274" r:id="rId20"/>
    <p:sldId id="288" r:id="rId38"/>
    <p:sldId id="275" r:id="rId25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image" Target="../media/image6.jpg"/><Relationship Id="rId10" Type="http://schemas.openxmlformats.org/officeDocument/2006/relationships/image" Target="../media/image26.jpg"/><Relationship Id="rId11" Type="http://schemas.openxmlformats.org/officeDocument/2006/relationships/image" Target="../media/image27.jpg"/><Relationship Id="rId12" Type="http://schemas.openxmlformats.org/officeDocument/2006/relationships/image" Target="../media/image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jpg"/><Relationship Id="rId4" Type="http://schemas.openxmlformats.org/officeDocument/2006/relationships/image" Target="../media/image4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5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Relationship Id="rId13" Type="http://schemas.openxmlformats.org/officeDocument/2006/relationships/image" Target="../media/image65.jpg"/><Relationship Id="rId14" Type="http://schemas.openxmlformats.org/officeDocument/2006/relationships/image" Target="../media/image6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jpg"/><Relationship Id="rId10" Type="http://schemas.openxmlformats.org/officeDocument/2006/relationships/image" Target="../media/image7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83.jpg"/><Relationship Id="rId12" Type="http://schemas.openxmlformats.org/officeDocument/2006/relationships/image" Target="../media/image84.jpg"/><Relationship Id="rId13" Type="http://schemas.openxmlformats.org/officeDocument/2006/relationships/image" Target="../media/image8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Relationship Id="rId7" Type="http://schemas.openxmlformats.org/officeDocument/2006/relationships/image" Target="../media/image90.jpg"/><Relationship Id="rId8" Type="http://schemas.openxmlformats.org/officeDocument/2006/relationships/image" Target="../media/image9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для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розігріву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(30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) — 73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100 г.
У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продається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84.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Решта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73 —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лише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онлайн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маркетплейси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азійські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фудшопи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туристичні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й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військові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магазини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.
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Країни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ЄС — 31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Китай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24,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Україна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16,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Корея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BEN'S ORIGINAL · 13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0369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8362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56355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34348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12341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90334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45–65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2376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50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0369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65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78362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56355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34348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12341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 грн/100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OTTOGI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Готова страва з наповнювачем. Найдорожча упаковка сегмента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82–84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91–103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91–130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94–124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124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117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HENAN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Маса — до заливання.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74–90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80–90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64–86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83864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45352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840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106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СЕГМЕНТ 2 · СУХИЙ РИС ПІД ОКРІП   ·   Окріп, 5–10 хв   ·   Маса — сухого продукту   ·   привід: Офіс і гуртожиток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138 ГРН МЕДІАНА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ПООДИНОКІ БРЕНДИ · 4 БРЕНДИ, 4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 — по одній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сегмент розігріву, але різні країни, ваги й канали. Gallina Blanca у правій частині — інший сегмент, рис під окріп.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64–90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101–178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31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найдешевший грам категорії, 27–31 грн за 100 г.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HAIDILAO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283–294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364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348–364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359–365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331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735 ГРН МЕДІАНА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КИТАЙСЬКИЙ САМОРОЗІГРІВ · РЕШТА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 — 4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три бренди в одному магазині. Qiaoshanmei у правій частині — інший сегмент: рис у пакеті під окріп, не саморозігрів.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грн: 167 грн за 100 г, дешевше за грам, ніж Haidilao (230–371).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735 ГРН МЕДІАНА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ІМПОРТНИЙ СУБЛІМАТ · 4 БРЕНДИ, 12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Німеччина, США, Нідерланди. Залити окропом на 8–10 хвилин.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220–412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236–412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412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281–324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324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356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635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526 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34348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337 грн/100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ГОТОВА СТРАВА І СУБЛІМАТ · 2 БРЕНДИ,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реторт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94–101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79–89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75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994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344–439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913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355–439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221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156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264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075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308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79–101 грн за 100 г: у тому ж коридорі, що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УКРАЇНСЬКИЙ СУБЛІМАТ · 4 БРЕНДИ,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 українське виробництво категорії. Канал — outdoor- і мілітарі-рітейл.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92–153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195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61–90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171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153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00369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98 грн/100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321 грн/100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133–140 грн/100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ЩО СТОЇТЬ У МЕРЕЖІ ЗАМІСТЬ НАС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є на полиці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Мережі не мають пауча з готовим рисом, зате мають суміжну категорію за 63–160 грн.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9464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48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5781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42–46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18,5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47,6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41,0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45,7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88,0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56 продавців, чотири типи каналів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Категорія живе в онлайні: у мережі — лише Ben's Original у «Сільпо», 11 позицій.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6949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2880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847088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61104" y="1847088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4784" y="191109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487168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504" y="2487168"/>
            <a:ext cx="82296" cy="6949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259689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ОНЛАЙН-СУПЕРМАРКЕТИ Й МАРКЕТПЛЕЙСИ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34639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· Henan · Bibigo · Clearspring · Portion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2615184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615184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MAUDAU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4841" y="2615184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04841" y="2615184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Rozetka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7100" y="2615184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07100" y="2615184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44784" y="2679191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255263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3504" y="3255263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7824" y="3364991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СПЕЦІАЛІЗОВАНІ ФУДШОПИ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602735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 · Henan · Bibigo · саморозігрів · Gallina Blanca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61104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Смак Кореї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928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38928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5273" y="3383279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75273" y="3383279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19011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19011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5356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55356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33180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33180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1004" y="3383279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1004" y="3383279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OMG! Asia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1104" y="3675887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61104" y="3675887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СНЕКІС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4841" y="3675887"/>
            <a:ext cx="37673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04841" y="3675887"/>
            <a:ext cx="3767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DCM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3014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73014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59" y="3675887"/>
            <a:ext cx="1137513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59" y="3675887"/>
            <a:ext cx="1137513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38313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38313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Sweet Svitt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360273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12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334256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03504" y="4334256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77824" y="44439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ТУРИСТИЧНІ ТА ВІЙСЬКОВІ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4681728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Haidilao · Adventure Menu · усі сублімати · Маркел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1104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61104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63363" y="44622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963363" y="446227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Highlander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1187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41187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ForCamp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3446" y="4462272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43446" y="4462272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Гайдамака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62748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362748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Freeride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23529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123529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84310" y="4462272"/>
            <a:ext cx="493776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884310" y="4462272"/>
            <a:ext cx="4937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69526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469526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Tactico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71785" y="4462272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171785" y="4462272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Лєєр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1104" y="4754880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261104" y="4754880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Activity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1884" y="4754880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021884" y="4754880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+ ще 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44784" y="468172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1E9EA6"/>
                </a:solidFill>
                <a:latin typeface="Segoe UI"/>
              </a:rPr>
              <a:t>40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41248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імпортерів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Картки продавців імпортера не називають. OMG! Asia і СНЕКІС описують себе як прямих імпортерів з Азії; Ben's Original виробляє Mars (заводи Франція, Німеччина).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99632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437376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37376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мереж. Суміжну категорію (слайд 17) частина з них має.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166 грн за 100 г.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8" name="Picture 7" descr="c5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1 МЕРЕЖА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70448" y="2578608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70448" y="2578608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26883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12680" y="2706624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12680" y="2717596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9904" y="2898648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4" y="30815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3337560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70448" y="3602736"/>
            <a:ext cx="5760720" cy="13350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70448" y="3602736"/>
            <a:ext cx="41148" cy="1335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9904" y="37124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12680" y="3730752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12680" y="3741724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9904" y="3922776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9904" y="4105656"/>
            <a:ext cx="5394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4764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70448" y="5029200"/>
            <a:ext cx="5760720" cy="13350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70448" y="5029200"/>
            <a:ext cx="41148" cy="133502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9904" y="51389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12680" y="5157216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12680" y="5168188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9904" y="5349240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9904" y="5532120"/>
            <a:ext cx="5394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6190488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64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Точки продажу за картками продавців і каталогами магазинів, 22–23.09.2026. Outdoor- і мілітарі-рітейл: 40 точок, поіменно наведено 10 найбільших. Агрегатори zakaz.ua і GoToShop у підрахунок точок продажу не входять.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МАТРИЦЯ БРЕНДІВ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23 бренди у структурі: формат, технологія, ціна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Замість карток — одна таблиця. Сортування за медіанною ціною упаковки.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572768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572768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ТЕХНОЛОГІЯ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9392" y="1572768"/>
            <a:ext cx="1042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7" y="157276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1572768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ЦІНА ЗА УПАКОВКУ,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1572768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810512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88366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2576" y="188366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188366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188366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7" y="188366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24144" y="188366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45–179   ·   мед. 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188366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18–81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188366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3776" y="214884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18998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218998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218998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218998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218998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24144" y="218998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94–96   ·   мед. 95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218998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6175" y="218998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22576" y="249631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249631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9392" y="249631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7" y="249631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4144" y="249631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109   ·   мед. 109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249631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5" y="249631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2761488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80263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22576" y="280263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280263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9392" y="280263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280263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4144" y="280263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83–321   ·   мед. 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05472" y="280263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98–321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5" y="280263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10896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2576" y="310896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10896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79392" y="310896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21807" y="310896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24144" y="310896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55–156   ·   мед. 133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05472" y="310896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61–195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5" y="310896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374136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41528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22576" y="341528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08960" y="341528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9392" y="341528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21807" y="341528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24144" y="341528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133–140   ·   мед. 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05472" y="341528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133–140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5" y="341528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72160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22576" y="372160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08960" y="372160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9392" y="372160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21807" y="372160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24144" y="372160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130–145   ·   мед. 138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05472" y="372160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153–171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66175" y="372160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3986784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02793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22576" y="402793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0" y="402793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79392" y="402793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21807" y="402793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24144" y="402793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83–156   ·   мед. 140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05472" y="402793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58–106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66175" y="402793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433425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22576" y="433425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08960" y="433425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79392" y="433425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21807" y="433425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24144" y="433425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135–189   ·   мед. 162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05472" y="433425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64–90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66175" y="433425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599432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64058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22576" y="464058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08960" y="464058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79392" y="464058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21807" y="464058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24144" y="464058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229   ·   мед. 229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05472" y="464058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66175" y="464058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494690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22576" y="494690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08960" y="494690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79392" y="494690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321807" y="494690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24144" y="494690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225–356   ·   мед. 255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05472" y="494690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79–130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66175" y="494690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93776" y="521208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525322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322576" y="525322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108960" y="525322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279392" y="525322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21807" y="525322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24144" y="525322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290–370   ·   мед. 310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205472" y="525322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221–308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66175" y="525322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504688"/>
            <a:ext cx="10789920" cy="6583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504688"/>
            <a:ext cx="41148" cy="6583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660136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ПЕРШІ 12 БРЕНДІВ — ДЕШЕВША ПОЛОВИНА РИНКУ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5925312"/>
            <a:ext cx="10332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Усі бренди дешевше 400 грн за упаковку. Пауч і чаша займають увесь діапазон 45–356 грн; дойпак і коробка починаються там, де мережева полиця вже закінчилась.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роздрібні за одну упаковку, без оптових порогів. Медіана — за позиціями бренду. Adventure Menu має дві технології (реторт 400 г і сублімат 110 г).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МАТРИЦЯ БРЕНДІВ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Дорога половина: туризм і саморозігрів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Ці бренди формують «стелю» категорії, але в продуктову мережу не йдуть.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572768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572768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ТЕХНОЛОГІЯ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9392" y="1572768"/>
            <a:ext cx="1042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7" y="157276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1572768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ЦІНА ЗА УПАКОВКУ,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1572768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810512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88366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2576" y="188366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188366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188366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7" y="188366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24144" y="188366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252–446   ·   мед. 349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188366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101–178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188366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3776" y="214884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18998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218998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218998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Розігрів+Субл.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218998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218998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24144" y="218998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315–483   ·   мед. 378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218998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79–439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6175" y="218998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22576" y="249631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249631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9392" y="249631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7" y="249631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4144" y="249631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269–715   ·   мед. 492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249631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5" y="249631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2761488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80263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22576" y="280263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280263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9392" y="280263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280263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4144" y="280263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492   ·   мед. 492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05472" y="280263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5" y="280263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10896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2576" y="310896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10896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79392" y="310896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21807" y="310896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24144" y="310896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501   ·   мед. 501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05472" y="310896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5" y="310896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374136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41528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22576" y="341528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08960" y="341528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9392" y="341528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21807" y="341528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24144" y="341528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275–889   ·   мед. 515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05472" y="341528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220–454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5" y="341528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72160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22576" y="372160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08960" y="372160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9392" y="372160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21807" y="372160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24144" y="372160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380–1190   ·   мед. 680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05472" y="372160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230–371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66175" y="372160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3986784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02793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22576" y="402793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0" y="402793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79392" y="402793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21807" y="402793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24144" y="402793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699   ·   мед. 699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05472" y="402793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526–635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66175" y="402793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433425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22576" y="433425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08960" y="433425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79392" y="433425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21807" y="433425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24144" y="433425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735   ·   мед. 735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05472" y="433425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66175" y="433425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599432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64058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22576" y="464058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08960" y="464058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79392" y="464058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21807" y="464058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24144" y="464058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735   ·   мед. 735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05472" y="464058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167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66175" y="464058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494690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22576" y="494690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08960" y="494690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79392" y="494690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321807" y="494690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24144" y="494690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931   ·   мед. 931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05472" y="494690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339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66175" y="494690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66928" y="5349240"/>
            <a:ext cx="5285232" cy="8412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6928" y="5349240"/>
            <a:ext cx="41148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04672" y="550468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ТЕХНОЛОГІЯ ВИЗНАЧАЄ КАНАЛ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" y="5769864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Сублімація й саморозігрів не конкурують з нами за привід споживання: це похід і відрядження, а не обід у місті.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071616" y="5349240"/>
            <a:ext cx="5285232" cy="8412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071616" y="5349240"/>
            <a:ext cx="41148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309359" y="550468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НАШ КОНКУРЕНТНИЙ СЕТ — ВУЗЬКИЙ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09359" y="5769864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Реальних конкурентів у нас п'ять: Ben's Original, Ottogi, Henan, Bibigo і суміжна консерва на полиці мережі.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Trek'n Eat: маса на картках продавців не вказана, грн/100 г не рахується. Qiaoshanmei — рис у пакеті під окріп, не саморозігрів.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8" name="Picture 7" descr="c1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 2 позиції без указаної маси до розрахунку грн/100 г не входять.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8" name="Picture 7" descr="c3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ЦІНА ЗА 100 ГРАМІВ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Головна перевірка: скільки коштує грам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Ціна за упаковку приховує вагу. За грам картина інша — і вона для нас гірша.</a:t>
            </a:r>
          </a:p>
        </p:txBody>
      </p:sp>
      <p:pic>
        <p:nvPicPr>
          <p:cNvPr id="8" name="Picture 7" descr="c2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11064240" cy="425749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892040"/>
            <a:ext cx="5413248" cy="12984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892040"/>
            <a:ext cx="41148" cy="129844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504748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ЖОДНОГО НАШОГО SKU У ВІКНІ ПОЛИЦІ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312664"/>
            <a:ext cx="495604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Вікно 18–50 грн за 100 г тримають Ben's Original (41), суміжна консерва (40) і медіана пауча (44). Наш найкращий показник — 65 грн у BSCM пауч 240 г. Це +59 % до медіани категорії.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892040"/>
            <a:ext cx="5413248" cy="12984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4892040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504748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 НЕ ВИРОК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5312664"/>
            <a:ext cx="495604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За грам ми програємо, за упаковку — ні. Покупець у мережі порівнює цінник, а не грн/100 г. Але категорійний менеджер дивиться саме на грн/100 г — і це буде головне заперечення на переговорах.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Медіани за 100 г розраховані як медіана ціни формату / медіану ваги формату; для брендів — із карток продавців. Наші значення — за поточною фінмоделлю, 20′ FCL навалом.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8" name="Picture 7" descr="c4_f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7635240" cy="25935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93 грн/100 г  ·  полиця за фінмоделлю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73 грн/100 г  ·  полиця за фінмоделлю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65 грн/100 г  ·  полиця за фінмоделлю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ПЛАН ДІЙ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8" name="Picture 7" descr="c6_fmt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26464"/>
            <a:ext cx="11064240" cy="4184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НАЙДЕШЕВШИЙ ГРАМ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200–249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50 грн за 100 г — мінімум
по всіх вагових смугах.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Медіана грн/100 г — за всіма позиціями, що потрапили у вагову смугу, незалежно від формату.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9A50B"/>
                </a:solidFill>
                <a:latin typeface="Segoe UI"/>
              </a:rPr>
              <a:t>ПОЗИЦІОНУВАННЯ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9692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Де ми стоїмо
і що заводити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B9C2DA"/>
                </a:solidFill>
                <a:latin typeface="Segoe UI"/>
              </a:rPr>
              <a:t>Зіставлення фінансової моделі з полицею, рекомендація формату й ціни, цільовий FOB.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НАШИХ SKU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ТОВАРНИХ ГРУП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ПОСТАЧАЛЬНИКІВ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СЦЕНАРІЇВ ЦІНИ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4552</Words>
  <Application>Microsoft Office PowerPoint</Application>
  <PresentationFormat>Широкий екран</PresentationFormat>
  <Paragraphs>932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Segoe UI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</cp:revision>
  <dcterms:created xsi:type="dcterms:W3CDTF">2013-01-27T09:14:16Z</dcterms:created>
  <dcterms:modified xsi:type="dcterms:W3CDTF">2026-09-23T11:30:11Z</dcterms:modified>
  <cp:category/>
</cp:coreProperties>
</file>