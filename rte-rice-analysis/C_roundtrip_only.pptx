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4.jpg"/><Relationship Id="rId5" Type="http://schemas.openxmlformats.org/officeDocument/2006/relationships/image" Target="../media/image3.jpg"/><Relationship Id="rId6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Relationship Id="rId4" Type="http://schemas.openxmlformats.org/officeDocument/2006/relationships/image" Target="../media/image3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Relationship Id="rId10" Type="http://schemas.openxmlformats.org/officeDocument/2006/relationships/image" Target="../media/image14.jpg"/><Relationship Id="rId11" Type="http://schemas.openxmlformats.org/officeDocument/2006/relationships/image" Target="../media/image15.jpg"/><Relationship Id="rId12" Type="http://schemas.openxmlformats.org/officeDocument/2006/relationships/image" Target="../media/image16.jpg"/><Relationship Id="rId13" Type="http://schemas.openxmlformats.org/officeDocument/2006/relationships/image" Target="../media/image17.jpg"/><Relationship Id="rId14" Type="http://schemas.openxmlformats.org/officeDocument/2006/relationships/image" Target="../media/image18.jpg"/><Relationship Id="rId15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25.jpg"/><Relationship Id="rId9" Type="http://schemas.openxmlformats.org/officeDocument/2006/relationships/image" Target="../media/image6.jpg"/><Relationship Id="rId10" Type="http://schemas.openxmlformats.org/officeDocument/2006/relationships/image" Target="../media/image26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9.jpg"/><Relationship Id="rId4" Type="http://schemas.openxmlformats.org/officeDocument/2006/relationships/image" Target="../media/image4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5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Relationship Id="rId8" Type="http://schemas.openxmlformats.org/officeDocument/2006/relationships/image" Target="../media/image45.jpg"/><Relationship Id="rId9" Type="http://schemas.openxmlformats.org/officeDocument/2006/relationships/image" Target="../media/image46.jpg"/><Relationship Id="rId10" Type="http://schemas.openxmlformats.org/officeDocument/2006/relationships/image" Target="../media/image47.jpg"/><Relationship Id="rId11" Type="http://schemas.openxmlformats.org/officeDocument/2006/relationships/image" Target="../media/image48.jpg"/><Relationship Id="rId12" Type="http://schemas.openxmlformats.org/officeDocument/2006/relationships/image" Target="../media/image4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Relationship Id="rId8" Type="http://schemas.openxmlformats.org/officeDocument/2006/relationships/image" Target="../media/image5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jpg"/><Relationship Id="rId9" Type="http://schemas.openxmlformats.org/officeDocument/2006/relationships/image" Target="../media/image61.jpg"/><Relationship Id="rId10" Type="http://schemas.openxmlformats.org/officeDocument/2006/relationships/image" Target="../media/image62.jpg"/><Relationship Id="rId11" Type="http://schemas.openxmlformats.org/officeDocument/2006/relationships/image" Target="../media/image63.jpg"/><Relationship Id="rId12" Type="http://schemas.openxmlformats.org/officeDocument/2006/relationships/image" Target="../media/image64.jpg"/><Relationship Id="rId13" Type="http://schemas.openxmlformats.org/officeDocument/2006/relationships/image" Target="../media/image65.jpg"/><Relationship Id="rId14" Type="http://schemas.openxmlformats.org/officeDocument/2006/relationships/image" Target="../media/image6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7.jpg"/><Relationship Id="rId4" Type="http://schemas.openxmlformats.org/officeDocument/2006/relationships/image" Target="../media/image68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Relationship Id="rId8" Type="http://schemas.openxmlformats.org/officeDocument/2006/relationships/image" Target="../media/image72.jpg"/><Relationship Id="rId9" Type="http://schemas.openxmlformats.org/officeDocument/2006/relationships/image" Target="../media/image73.jpg"/><Relationship Id="rId10" Type="http://schemas.openxmlformats.org/officeDocument/2006/relationships/image" Target="../media/image7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5.jpg"/><Relationship Id="rId4" Type="http://schemas.openxmlformats.org/officeDocument/2006/relationships/image" Target="../media/image76.jpg"/><Relationship Id="rId5" Type="http://schemas.openxmlformats.org/officeDocument/2006/relationships/image" Target="../media/image77.jpg"/><Relationship Id="rId6" Type="http://schemas.openxmlformats.org/officeDocument/2006/relationships/image" Target="../media/image78.jpg"/><Relationship Id="rId7" Type="http://schemas.openxmlformats.org/officeDocument/2006/relationships/image" Target="../media/image79.jpg"/><Relationship Id="rId8" Type="http://schemas.openxmlformats.org/officeDocument/2006/relationships/image" Target="../media/image80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83.jpg"/><Relationship Id="rId12" Type="http://schemas.openxmlformats.org/officeDocument/2006/relationships/image" Target="../media/image84.jpg"/><Relationship Id="rId13" Type="http://schemas.openxmlformats.org/officeDocument/2006/relationships/image" Target="../media/image8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6.jpg"/><Relationship Id="rId4" Type="http://schemas.openxmlformats.org/officeDocument/2006/relationships/image" Target="../media/image87.jpg"/><Relationship Id="rId5" Type="http://schemas.openxmlformats.org/officeDocument/2006/relationships/image" Target="../media/image88.jpg"/><Relationship Id="rId6" Type="http://schemas.openxmlformats.org/officeDocument/2006/relationships/image" Target="../media/image89.jpg"/><Relationship Id="rId7" Type="http://schemas.openxmlformats.org/officeDocument/2006/relationships/image" Target="../media/image90.jpg"/><Relationship Id="rId8" Type="http://schemas.openxmlformats.org/officeDocument/2006/relationships/image" Target="../media/image9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d_bg_titl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md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75488"/>
            <a:ext cx="1773936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3504" y="1847088"/>
            <a:ext cx="493776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2139696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C95C"/>
                </a:solidFill>
                <a:latin typeface="Segoe UI"/>
              </a:rPr>
              <a:t>ДОСЛІДЖЕННЯ РИНКУ · ВЕРЕСЕНЬ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542032"/>
            <a:ext cx="6583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Готовий рис
в Україні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4681728"/>
            <a:ext cx="5394960" cy="50292"/>
          </a:xfrm>
          <a:prstGeom prst="rect">
            <a:avLst/>
          </a:prstGeom>
          <a:solidFill>
            <a:srgbClr val="55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52944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560" y="1005840"/>
            <a:ext cx="1385606" cy="19385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857232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n_scallop1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36" y="1094494"/>
            <a:ext cx="1856232" cy="176121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52944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hd_beef_stew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3328416"/>
            <a:ext cx="1664208" cy="16642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857232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ot_bibimb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3536" y="3345065"/>
            <a:ext cx="1856232" cy="16309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Шість цифр, які описують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Усі ціни в колоді — за одну упаковку. Опт і ящики до розрахунку не входять.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ОБСЯГ ІМПОРТУ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9A50B"/>
                </a:solidFill>
                <a:latin typeface="Segoe UI"/>
              </a:rPr>
              <a:t>182 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Готовий рис, CN 1904 90 10.
+59 % до 2024 року.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68880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88336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ЄМНІСТЬ РОЗДРІБУ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7A169"/>
                </a:solidFill>
                <a:latin typeface="Segoe UI"/>
              </a:rPr>
              <a:t>87–110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млн грн на рік — оцінка
за імпортом × 2,2–2,8.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99632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ПОЗИЦІЙ У ПРОДАЖУ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7B5EA7"/>
                </a:solidFill>
                <a:latin typeface="Segoe UI"/>
              </a:rPr>
              <a:t>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23 брендів, 56 продавців.
У мережі — 11 позицій.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65008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4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НАЙПОШИРЕНІШИЙ ФОРМАТ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9EA6"/>
                </a:solidFill>
                <a:latin typeface="Segoe UI"/>
              </a:rPr>
              <a:t>дойпак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30 позицій (36 %),
але це туризм, не полиця.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30384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930384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49840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МАСОВА ВАГА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5B6B8C"/>
                </a:solidFill>
                <a:latin typeface="Segoe UI"/>
              </a:rPr>
              <a:t>250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9 позицій. Далі 220 г — 7,
174 г — 5, 85 г — 5.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3712463"/>
            <a:ext cx="5358384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03504" y="3712463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3895344"/>
            <a:ext cx="4809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224527"/>
            <a:ext cx="4809744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>
                <a:solidFill>
                  <a:srgbClr val="D5DBEA"/>
                </a:solidFill>
                <a:latin typeface="Segoe UI"/>
              </a:rPr>
              <a:t>1.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Категорія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імпортується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але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не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потрапляє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в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мережі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: 11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із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84 — і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всі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це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Ben's Original у «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Сільпо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».
2.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Зростання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2025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року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дає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Болгарія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: 44,8 → 78,3 т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за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рік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+75 %.
3.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Формат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який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реально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працює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на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полиці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—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пауч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220–250 г: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медіана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109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грн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за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упаковку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найнижча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в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категорії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.
4.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Готового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рису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в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Україні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не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виробляють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: 100 %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обсягу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—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імпорт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3712463"/>
            <a:ext cx="5358384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199632" y="3712463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10528" y="3895344"/>
            <a:ext cx="4809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Чого на ринку немає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4224527"/>
            <a:ext cx="4809744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1. Немає чаші за 100–150 грн у мережі: Ottogi коштує 225–356 грн, Henan 83–156, але обидва лише онлайн.
2. Немає українського виробника готового рису в паучі для мікрохвильовки — українські 16 позицій це або консерва, або сублімат для туризму.
3. Немає жодного бренду одночасно в мережі та на маркетплейсі, крім Ben's.
4. Немає локалізації: жодної україномовної упаковки серед 84 позицій.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Eurostat Comext (CN 1904 90 10, експорт ЄС→Україна), UN Comtrade, 17 мереж zakaz.ua, «Сільпо», Prom, Rozetka, MAUDAU — 22–23.09.2026. Ємність роздрібу — оцінка, метод на слайді 03.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ОБСЯГ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182 тонн імпорту, 87–110 млн грн роздрібу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Готовий рис в Україні не виробляють у паучах — увесь обсяг категорії це імпорт.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6675120" cy="30540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88366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ІМПОРТ ГОТОВОГО РИСУ З ЄС, ТОНН НА РІК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74133"/>
            <a:ext cx="786384" cy="895530"/>
          </a:xfrm>
          <a:prstGeom prst="roundRect">
            <a:avLst>
              <a:gd name="adj" fmla="val 10000"/>
            </a:avLst>
          </a:prstGeom>
          <a:solidFill>
            <a:srgbClr val="C2C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05467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€294k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322575"/>
            <a:ext cx="786384" cy="1847088"/>
          </a:xfrm>
          <a:prstGeom prst="roundRect">
            <a:avLst>
              <a:gd name="adj" fmla="val 10000"/>
            </a:avLst>
          </a:prstGeom>
          <a:solidFill>
            <a:srgbClr val="C2C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73936" y="2103120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204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39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€553k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2326190"/>
            <a:ext cx="786384" cy="1843473"/>
          </a:xfrm>
          <a:prstGeom prst="roundRect">
            <a:avLst>
              <a:gd name="adj" fmla="val 10000"/>
            </a:avLst>
          </a:prstGeom>
          <a:solidFill>
            <a:srgbClr val="C2C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88336" y="2106734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204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83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€567k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016589"/>
            <a:ext cx="786384" cy="1153074"/>
          </a:xfrm>
          <a:prstGeom prst="roundRect">
            <a:avLst>
              <a:gd name="adj" fmla="val 1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02736" y="2797133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128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€434k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032855"/>
            <a:ext cx="786384" cy="1136808"/>
          </a:xfrm>
          <a:prstGeom prst="roundRect">
            <a:avLst>
              <a:gd name="adj" fmla="val 1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17136" y="2813399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€428k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3166597"/>
            <a:ext cx="786384" cy="1003066"/>
          </a:xfrm>
          <a:prstGeom prst="roundRect">
            <a:avLst>
              <a:gd name="adj" fmla="val 1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31536" y="2947141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111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315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315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€475k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548491"/>
            <a:ext cx="786384" cy="1621172"/>
          </a:xfrm>
          <a:prstGeom prst="roundRect">
            <a:avLst>
              <a:gd name="adj" fmla="val 1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45936" y="2329035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F9A50B"/>
                </a:solidFill>
                <a:latin typeface="Segoe UI"/>
              </a:rPr>
              <a:t>179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€823k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55371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2025 рік — рекорд за вартістю: 823 тис. € проти 475 тис. € у 2024-му.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79" y="1719072"/>
            <a:ext cx="4059936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35823" y="1883664"/>
            <a:ext cx="3584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ЗВІДКИ ЇДЕ, 2025 РІК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35823" y="21031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Болгарія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2148839"/>
            <a:ext cx="1218179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78131" y="209397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78,3 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35823" y="237743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Польща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2423159"/>
            <a:ext cx="1468660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228612" y="236829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94,4 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35823" y="265175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Італія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0" y="2697479"/>
            <a:ext cx="87123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47075" y="264261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5,6 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35823" y="292607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Іспанія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0" y="297179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96528" y="291693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0,4 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35823" y="320039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Франція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0" y="324611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796528" y="319125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0,4 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35823" y="347471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Корея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86800" y="352043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796528" y="346557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2,0 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35823" y="374903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Китай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86800" y="379475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796528" y="373989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1,0 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35823" y="4059935"/>
            <a:ext cx="358444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Болгарія і Польща — 95 % тонажу. Це заводи ЄС, що пакують рис у пауч.
Корея і Китай разом дають 3,1 т — це чаші Ottogi, Bibigo та Henan.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3504" y="4809744"/>
            <a:ext cx="10954512" cy="1316736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603504" y="4809744"/>
            <a:ext cx="82296" cy="131673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4400" y="495604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Як рахували ємність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35424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182 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35424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імпорт 2025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24144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0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39 млн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CIF за курсом НБУ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32320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51775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× 2,2–2,8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51775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мито 0 %, ПДВ, маржа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0496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59952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87–110 млн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59952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роздріб на рік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48672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68128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≈ 830 тис.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68128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упаковок на рік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5303520"/>
            <a:ext cx="34747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B9C2DA"/>
                </a:solidFill>
                <a:latin typeface="Segoe UI"/>
              </a:rPr>
              <a:t>Перевірка з іншого боку: 830 тис. упаковок × 110 грн медіани = 91 млн грн. Два методи сходяться.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Eurostat Comext DS-045409, CN 1904 90 10 «рис приготовлений», експорт ЄС→Україна, 2019–2025; UN Comtrade (Корея, Китай, Таїланд, 2025); курс НБУ (середній 2025: 47,15 грн/€, 41,71 грн/$). Ємність роздрібу — ОЦІНКА, не заміряні продажі.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КАРТА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23 бренди, чотири технології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Групування за тим, як продукт готується: від цього залежить і ціна, і канал.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ГОТОВИЙ РИС · РОЗІГРІВ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30 позицій · 7 брендів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Ben's Original · Ottogi · Bibigo · Clearspring · Portion · Маркел · Adventure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Мікрохвильовка 60–90 с або реторт. Маса — готової страви.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A50B"/>
                </a:solidFill>
                <a:latin typeface="Segoe UI"/>
              </a:rPr>
              <a:t>164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45 – 446 грн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410712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0168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C94F7C"/>
                </a:solidFill>
                <a:latin typeface="Segoe UI"/>
              </a:rPr>
              <a:t>ЗАЛИТИ ОКРОПОМ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12 позицій · 3 бренди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Henan · Gallina Blanca · Qiaoshanmei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0168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Сухий рис із соусом у чаші чи пакеті, 5–10 хв.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0168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0168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94F7C"/>
                </a:solidFill>
                <a:latin typeface="Segoe UI"/>
              </a:rPr>
              <a:t>138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83 – 501 грн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37376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B5EA7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14 позицій · 4 бренди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Haidilao · Mo Xiao Xian · Zihaiguo · Rongcheng Haoji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Хімічний нагрівач у коробці, без техніки, 15 хв.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7376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7376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7B5EA7"/>
                </a:solidFill>
                <a:latin typeface="Segoe UI"/>
              </a:rPr>
              <a:t>735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7376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380 – 1 190 грн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25128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025128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44584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1E9EA6"/>
                </a:solidFill>
                <a:latin typeface="Segoe UI"/>
              </a:rPr>
              <a:t>СУБЛІМАЦІЯ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28 позицій · 10 брендів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584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Travellunch · Trek'n Eat · Adventure Food · Mountain House · Adventure Menu · SubliMate · James Cook · Їжа в Похід · Харчі · !FEST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4584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Сушіння виморожуванням, окріп. Туризм і армія.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4584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44584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4584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9EA6"/>
                </a:solidFill>
                <a:latin typeface="Segoe UI"/>
              </a:rPr>
              <a:t>302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44584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55 – 889 грн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" y="4572000"/>
            <a:ext cx="10954512" cy="1719072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03504" y="4572000"/>
            <a:ext cx="91440" cy="17190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7552" y="47365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C95C"/>
                </a:solidFill>
                <a:latin typeface="Segoe UI"/>
              </a:rPr>
              <a:t>Що показує розбір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6696" y="513892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25296" y="5084064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Segoe UI"/>
              </a:rPr>
              <a:t>Ben's Original — 13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єдиний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бренд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 у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мережі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 («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Сільпо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»).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6696" y="54132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25296" y="5358383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Ottogi і Henan — 18 азійських чаш; Henan удвічі дешевший за упаковку.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6696" y="568756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25296" y="5632703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Українських позицій — 16, але жодної в паучі для мікрохвильовки.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791456"/>
            <a:ext cx="36576" cy="128016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20256" y="4736592"/>
            <a:ext cx="4663440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Медіана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готового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рису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для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розігріву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(30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) — 73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грн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за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100 г.
У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мережі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продається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11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із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84.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Решта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73 —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лише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онлайн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: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маркетплейси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азійські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фудшопи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туристичні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й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військові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магазини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.
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Країни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: ЄС — 31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позиція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Китай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— 24,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Україна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— 16,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Корея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— 11, США — 2.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 dirty="0" err="1">
                <a:solidFill>
                  <a:srgbClr val="717890"/>
                </a:solidFill>
                <a:latin typeface="Segoe UI"/>
              </a:rPr>
              <a:t>Джерела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: 17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мереж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на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zakaz.ua, «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Сільпо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», Prom, MAUDAU,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Rozetka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,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спеціалізовані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магазини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— 22–23.09.2026.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ФОРМАТИ УПАКОВКИ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Дойпак і чаша — 63 % позицій, але полицю тримає пауч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tl_strog1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415" y="1938528"/>
            <a:ext cx="722785" cy="896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9EA6"/>
                </a:solidFill>
                <a:latin typeface="Segoe UI"/>
              </a:rPr>
              <a:t>ДОЙПАК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Дойпак із сублімату. Легкий, але потребує окропу. Туризм і армія.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3694176"/>
            <a:ext cx="764177" cy="16459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30 позицій · 36 % · 11 брендів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9EA6"/>
                </a:solidFill>
                <a:latin typeface="Segoe UI"/>
              </a:rPr>
              <a:t>315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9EA6"/>
                </a:solidFill>
                <a:latin typeface="Segoe UI"/>
              </a:rPr>
              <a:t>55 – 889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110 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0712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410712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557016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hn_scallop1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788" y="1938528"/>
            <a:ext cx="944454" cy="8961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30168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94F7C"/>
                </a:solidFill>
                <a:latin typeface="Segoe UI"/>
              </a:rPr>
              <a:t>ЧАША · СТАКАН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Жорстка чаша чи стакан. Готова страва або сухий рис під окріп. Формат для офісу.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30168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630168" y="3694176"/>
            <a:ext cx="585869" cy="164592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30168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23 позиції · 27 % · 5 брендів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30168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30168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0168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94F7C"/>
                </a:solidFill>
                <a:latin typeface="Segoe UI"/>
              </a:rPr>
              <a:t>229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0168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0168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94F7C"/>
                </a:solidFill>
                <a:latin typeface="Segoe UI"/>
              </a:rPr>
              <a:t>83 – 931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0168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218 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217920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64224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bens_basmati2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965" y="1938528"/>
            <a:ext cx="640516" cy="89611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37376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ПАУЧ · РЕТОРТ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7376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Плаский реторт-пауч. Мікрохвильовка 90 с або окріп. Формат мережевої полиці.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37376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437376" y="3694176"/>
            <a:ext cx="483978" cy="16459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37376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19 позицій · 23 % · 5 брендів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37376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37376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7376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109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37376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37376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45 – 376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7376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7376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25128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025128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171432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hd_beef_stew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376" y="1938528"/>
            <a:ext cx="896112" cy="89611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244584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КОРОБКА З НАГРІВАЧЕМ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44584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Картон із хімічним нагрівачем. Без техніки. Дорогий і об'ємний.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44584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244584" y="3694176"/>
            <a:ext cx="305670" cy="16459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4584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12 позицій · 14 % · 3 бренди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44584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44584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44584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708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44584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44584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380 – 1 190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44584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44584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230 г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3504" y="5449824"/>
            <a:ext cx="10954512" cy="85953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603504" y="5449824"/>
            <a:ext cx="82296" cy="85953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4400" y="5632704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14400" y="5961888"/>
            <a:ext cx="1040587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Дойпак виграє за кількістю позицій лише тому, що туристичні магазини заводять десятки дрібних брендів. За доступністю для покупця виграє пауч: 109 грн медіана проти 315 грн у дойпака й 708 грн у коробки з нагрівачем.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Розподіл 84 позицій за типом паковання з карток продавців, 22–23.09.2026.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ГРАМАЖ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250 і 220 грамів — половина всієї полиці паучів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Скільки позицій припадає на кожну вагу і як ваги розподілені між форматами.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00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НАЙЧАСТІШІ ВАГИ, ПОЗИЦІЙ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901695"/>
            <a:ext cx="859536" cy="106680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" y="268223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85 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72768" y="3328415"/>
            <a:ext cx="859536" cy="64008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72768" y="31089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90 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2032" y="3115055"/>
            <a:ext cx="859536" cy="85344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42032" y="289559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110 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296" y="3115055"/>
            <a:ext cx="859536" cy="85344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11296" y="289559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1296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125 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328415"/>
            <a:ext cx="859536" cy="640080"/>
          </a:xfrm>
          <a:prstGeom prst="roundRect">
            <a:avLst>
              <a:gd name="adj" fmla="val 12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31089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94F7C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144 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9824" y="2901695"/>
            <a:ext cx="859536" cy="1066800"/>
          </a:xfrm>
          <a:prstGeom prst="roundRect">
            <a:avLst>
              <a:gd name="adj" fmla="val 12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49824" y="268223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94F7C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824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174 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9088" y="2474975"/>
            <a:ext cx="859536" cy="1493520"/>
          </a:xfrm>
          <a:prstGeom prst="roundRect">
            <a:avLst>
              <a:gd name="adj" fmla="val 12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225551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220 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88352" y="2048255"/>
            <a:ext cx="859536" cy="1920240"/>
          </a:xfrm>
          <a:prstGeom prst="roundRect">
            <a:avLst>
              <a:gd name="adj" fmla="val 12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88352" y="182879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4261104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Колір стовпця — формат, у якому ця вага трапляється найчастіше: помаранчевий — пауч, рожевий — чаша, бірюзовий — дойпак.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1700784"/>
            <a:ext cx="3255264" cy="3163824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40496" y="186537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ВАГОВЕ ВІКНО ФОРМАТУ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0496" y="217627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9EA6"/>
                </a:solidFill>
                <a:latin typeface="Segoe UI"/>
              </a:rPr>
              <a:t>Дойпак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235915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80–250 г · медіана 110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6" y="27432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94F7C"/>
                </a:solidFill>
                <a:latin typeface="Segoe UI"/>
              </a:rPr>
              <a:t>Чаша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0496" y="292608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84–320 г · медіана 218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0496" y="331012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9A50B"/>
                </a:solidFill>
                <a:latin typeface="Segoe UI"/>
              </a:rPr>
              <a:t>Пауч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0496" y="3493008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220–400 г · медіана 250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0496" y="38770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B5EA7"/>
                </a:solidFill>
                <a:latin typeface="Segoe UI"/>
              </a:rPr>
              <a:t>Коробка з нагрівачем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0496" y="4059936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165–440 г · медіана 230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0496" y="446227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Чаша й пауч конкурують у вікні 210–250 г — це порція на одну людину.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5010912"/>
            <a:ext cx="10954512" cy="131673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03504" y="5010912"/>
            <a:ext cx="82296" cy="131673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4400" y="5193792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обирати під полицю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522976"/>
            <a:ext cx="1040587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Вагове ядро категорії — 220–250 г: 16 позицій із 84, усі пауч або чаша, усі в корені порції «обід для однієї людини». Це та вага, під яку вже налаштований покупець Ben's Original і Bibigo.
Легкі ваги 80–146 г — це не менша порція, а сухий продукт: сублімат і інстант-рис, які треба залити окропом. Порівнювати їх із паучем за грам не можна.
Важкі 310–440 г — корейські чаші Ottogi та китайські коробки з нагрівачем: порція «на голодного», але й ціна за упаковку 250–735 грн.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Маса з карток продавців; 2 позицій без указаної маси до розрахунку не входять.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ЦІНА ЗА ОДНУ УПАКОВКУ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Від 45 до 1 190 грн: сходи всіх 23 брендів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Крапка — медіана бренду, смуга — від найдешевшої до найдорожчої його позиції.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64208"/>
            <a:ext cx="10954512" cy="4608576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97449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31689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250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90995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25235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4540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8780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750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8086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12326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1 000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71632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05872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1 250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907024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ГРН ЗА ОДНУ УПАКОВКУ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182880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182880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182880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1" i="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98424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Маркел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200253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200253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7877" y="2034539"/>
            <a:ext cx="18288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259297" y="1997963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0465" y="1975103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94 – 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214884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16352" y="216712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216712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54742" y="2199132"/>
            <a:ext cx="746940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292742" y="216255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3122" y="213969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45 – 179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231343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James Cook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16352" y="233172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3008" y="233172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0484" y="2363724"/>
            <a:ext cx="562992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337335" y="232714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64916" y="230428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55 – 156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2478024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Portion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16352" y="249631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93008" y="2496312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11489" y="2528316"/>
            <a:ext cx="18288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342909" y="249174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02929" y="246888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109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2642616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Харчі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16352" y="266090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93008" y="2660904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66561" y="2692908"/>
            <a:ext cx="1326655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404225" y="265633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84656" y="263347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83 – 321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280720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Henan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16352" y="282549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93008" y="282549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66561" y="2857500"/>
            <a:ext cx="406915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423735" y="282092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64916" y="2798064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83 – 156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297180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!FEST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16352" y="299008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93008" y="299008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45270" y="3022092"/>
            <a:ext cx="39019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476690" y="298551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75729" y="296265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133 – 140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" y="313639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16352" y="3154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93008" y="315468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56418" y="3186684"/>
            <a:ext cx="301005" cy="6400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4487838" y="315010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48864" y="312724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135 – 189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" y="3300984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Їжа в Похід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16352" y="33192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93008" y="3319272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28547" y="3351276"/>
            <a:ext cx="83612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4501774" y="331470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703600" y="329184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130 – 145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" y="3465576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Gallina Blanca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16352" y="348386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93008" y="3483864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080391" y="3515868"/>
            <a:ext cx="18288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5011811" y="347929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71831" y="345643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229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" y="363016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16352" y="364845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93008" y="364845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208597" y="3680460"/>
            <a:ext cx="1081391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5140017" y="364388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81429" y="3621024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252 – 446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" y="379476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16352" y="3813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93008" y="381304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058095" y="3845052"/>
            <a:ext cx="730217" cy="6400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5156740" y="380847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879752" y="378561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225 – 356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1248" y="395935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SubliMate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16352" y="397764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93008" y="397764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20416" y="4009644"/>
            <a:ext cx="445934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5457746" y="397306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957791" y="395020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290 – 370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1248" y="4123944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Adventure Menu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16352" y="414223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93008" y="4142232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559771" y="4174236"/>
            <a:ext cx="936462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5831216" y="413766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587674" y="411480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315 – 483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1248" y="4288536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Trek'n Eat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816352" y="430682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93008" y="4306824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303359" y="4338828"/>
            <a:ext cx="2486085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6477821" y="430225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880884" y="427939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269 – 715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41248" y="445312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Adventure Food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16352" y="447141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93008" y="447141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546401" y="4503420"/>
            <a:ext cx="18288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6477821" y="446684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637841" y="4443984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492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41248" y="461772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Qiaoshanmei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16352" y="463600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93008" y="4636007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596569" y="4668012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6527989" y="463143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688009" y="460857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501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1248" y="478231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Travellunch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16352" y="480059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493008" y="4800599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336804" y="4832603"/>
            <a:ext cx="3422547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6895885" y="479602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850792" y="477316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275 – 889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41248" y="4946903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Haidilao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816352" y="496519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93008" y="4965191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922093" y="4997195"/>
            <a:ext cx="4515087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7442155" y="4960619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28621" y="4937759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380 – 1 190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41248" y="5111495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Mountain House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816352" y="512978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США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493008" y="5129783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700257" y="5161787"/>
            <a:ext cx="18288" cy="64008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7631677" y="5125211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7791697" y="5102351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699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41248" y="5276087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Zihaiguo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816352" y="529437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493008" y="5294375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900928" y="5326379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7832348" y="5289803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992368" y="5266943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735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1248" y="5440679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Rongcheng Haoji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816352" y="545896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493008" y="5458967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900928" y="5490971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7832348" y="5454395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7992368" y="5431535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735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41248" y="5605271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Mo Xiao Xian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816352" y="56235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493008" y="5623559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993467" y="5655563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8924887" y="561898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9084907" y="5596127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931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054742" y="6126480"/>
            <a:ext cx="752514" cy="457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4054742" y="618134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9A50B"/>
                </a:solidFill>
                <a:latin typeface="Segoe UI"/>
              </a:rPr>
              <a:t>вікно мережевої полиці: 45–180 грн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41248" y="618134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Колір — країна: Україна · Китай · Корея · ЄС · США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Ціна за одну упаковку в роздріб, без оптових порогів: у 6 продавців діє нижча ціна від 3–20 шт, вона в розрахунок не бралася. 22–23.09.2026.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1 · BEN'S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13 позицій: пауч 220, 240 і 250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Найглибша лінійка категорії і єдиний бренд, що дійшов до мережевої полиці.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Mars · ЄС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пауч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45–179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18–81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bens_longgr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82" y="2395728"/>
            <a:ext cx="546395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45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18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81497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254649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266" y="2395728"/>
            <a:ext cx="549014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300369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0369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00369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00369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0369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59490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832642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bens_mediterr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441" y="2395728"/>
            <a:ext cx="544649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878362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Mediterran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78362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8362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78362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78362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37483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410635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bens_risibis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7562" y="2395728"/>
            <a:ext cx="546395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456355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Risi Bisi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56355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56355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56355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56355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15476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988628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bens_curry_indie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318" y="2395728"/>
            <a:ext cx="556869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034348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Indian Curry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34348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34348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34348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34348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93469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566621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bens_curry_linse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0967" y="2395728"/>
            <a:ext cx="531557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612341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Curry з сочевицею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2341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12341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2341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41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12341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071462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10144614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bens_basmati22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7613" y="2395728"/>
            <a:ext cx="554251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190334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90334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90334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100–144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90334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45–65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90334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Сільпо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03504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676656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bens_mexikanisch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2273" y="4480560"/>
            <a:ext cx="549014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22376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Mexikanisch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76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2376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109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376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50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181497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2254649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bens_curryrei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9792" y="4480560"/>
            <a:ext cx="569962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2300369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Curryreis Indien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00369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00369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144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00369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65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00369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759490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3832642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bens_stickybow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5716" y="4480560"/>
            <a:ext cx="514100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3878362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Для боулів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78362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78362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149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78362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78362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337483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5410635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bens_sweetchili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9706" y="4480560"/>
            <a:ext cx="562106" cy="768096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456355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Sweet Chili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56355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56355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179 грн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56355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56355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915476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6988628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2" name="Picture 111" descr="bens_bio240_singl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7712" y="4480560"/>
            <a:ext cx="482081" cy="768096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034348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Bio Basmati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034348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240 г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34348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139 грн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34348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58 грн/100 г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034348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Edison Lee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493469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8566621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0" name="Picture 119" descr="bens_lang220_singl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67912" y="4480560"/>
            <a:ext cx="537667" cy="768096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612341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12341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612341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139 грн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12341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63 грн/100 г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12341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Edison Lee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каталог «Сільпо» (11 позицій), MAUDAU, Edison Lee — 22.09.2026. Basmati 220 г: 100 грн у MAUDAU і 144 грн у «Сільпо». Дві позиції Edison Lee продаються поштучно, ціна за один пауч.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2 · OTTOGI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10 позицій: чаша 217–320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Готовий рис із наповнювачем для мікрохвильовки. Продається у чотирьох продавців.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Республіка Корея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чаша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225–356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79–130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ot_bulgog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745" y="2395728"/>
            <a:ext cx="879267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Бульгогі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79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Март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269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88584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ottogi_hambur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079" y="2395728"/>
            <a:ext cx="864980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3156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Гамбурзький стейк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156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315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156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156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156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188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9503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ot_pork3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126" y="2395728"/>
            <a:ext cx="879267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4075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075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075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075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075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Март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3107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30422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ot_chicken_ri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902" y="2395728"/>
            <a:ext cx="768096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4994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Гострі курячі ребра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994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994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255–260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994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82–84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994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 · Gurmissimo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4026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51341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ot_octopu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5969" y="2395728"/>
            <a:ext cx="886342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5913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Гострий восьминіг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913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280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913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255–289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913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91–103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913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 · Апетіт. · Gurm.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7665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ot_tun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7265" y="4480560"/>
            <a:ext cx="970226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2237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Тунець і майонез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247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225–320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91–130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· Gurmissimo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1269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88584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ot_bibimb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4462" y="4480560"/>
            <a:ext cx="874214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93156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Пібімпаб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3156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3156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252–334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3156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94–124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3156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· Апетітаріум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188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9503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ot_pork_spicy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7588" y="4480560"/>
            <a:ext cx="886342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14075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свинина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4075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4075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334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4075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124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075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Апетітаріум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3107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730422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ot_beef32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902" y="4480560"/>
            <a:ext cx="768096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34994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яловичина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4994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4994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356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4994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111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4994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Апетітаріум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44026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951341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ottogi_jjampong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61413" y="4480560"/>
            <a:ext cx="875454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55913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Jjampong: рис у супі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5913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217,5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5913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5913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117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5913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Pulsar, Апетітаріум, Gurmissimo, Тайякі Март — 22.09.2026. Ціни роздрібні: у «Тайякі Март» від 15–20 шт діє нижча ціна, вона не бралася.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3 · HENAN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8 позицій: чаша 144 і 174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Сухий рис у чаші, заливається окропом на 8 хвилин. Найдешевша чаша на ринку.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Henan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Китай · Xiao Guo Zao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чаша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83–156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58–106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hn_braised1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697" y="2395728"/>
            <a:ext cx="821660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курка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129–156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74–90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СНЕКІС · DCM · Апетіт.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438144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hn_scallop1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249" y="2395728"/>
            <a:ext cx="809532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483864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Гребінці та гриби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3864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3864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140–156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3864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80–90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83864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Gurm. · DCM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199632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hn_sausage1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274" y="2395728"/>
            <a:ext cx="802458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245352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Кантонська ковбаска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118–156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2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68–90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 · Gurm. · Апетіт.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87968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961120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hn_pepperbeef17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5912" y="2395728"/>
            <a:ext cx="774159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006840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118–156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68–90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 · Gurm. · Апетіт.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76656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hn_pepperchicken17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79" y="4480560"/>
            <a:ext cx="768096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2376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з перцем чилі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112–150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64–86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· СНЕКІС · DCM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64992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438144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hn_spicychicken14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270" y="4480560"/>
            <a:ext cx="805490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483864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курка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83864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83864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83864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58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83864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26480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6199632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hn_sweetsourbeef14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8250" y="4480560"/>
            <a:ext cx="1186506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245352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Кисло-солодка яловичина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5352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5352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135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45352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45352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DCM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887968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961120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hn_eggplant14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7957" y="4480560"/>
            <a:ext cx="1050068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006840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з баклажанами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06840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06840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152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06840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106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06840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DCM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MAUDAU, Апетітаріум, Gurmissimo, OMG! Asia, СНЕКІС, DCM — 22–23.09.2026. Маса — сухого продукту до заливання.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4–8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Bibigo, Clearspring, Portion, Маркел, Gallina Blanca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По одній-дві позиції в кожного: різні країни, різні формати, різні канали.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bibigo_bow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20462"/>
            <a:ext cx="1493520" cy="15003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Білий рис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BIBIGO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210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135–189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64–90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Смак Кореї · Rozetka · Prom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4496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17648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learspr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512" y="1877766"/>
            <a:ext cx="1493520" cy="178573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3368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Brown &amp; Wild 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3368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CLEARSPRING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3368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252–446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3368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101–178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3368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спец. магазини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5488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58640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58640" y="2660903"/>
            <a:ext cx="1603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фото немає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4360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із куркою та овочами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4360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PORTION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4360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109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4360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31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360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Rozetka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79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99631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mk_rice3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5" y="1829441"/>
            <a:ext cx="1493520" cy="18823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45351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із соєвим м'ясом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1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МАРКЕЛ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1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94–96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1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1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СУХПАЙ · UPcompany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67472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040624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yt_beef8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5488" y="2023871"/>
            <a:ext cx="1493520" cy="14935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86344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Yatekomo: яловичина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6344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GALLINA BLANCA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84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6344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229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6344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273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6344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0846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88161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yt_teriyaki8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6480" y="2023871"/>
            <a:ext cx="1493520" cy="14935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2733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Yatekomo: теріякі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733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GALLINA BLANCA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84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733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229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733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273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733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5010912"/>
            <a:ext cx="10954512" cy="12984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03504" y="5010912"/>
            <a:ext cx="82296" cy="129844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" y="5193792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522976"/>
            <a:ext cx="10405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Portion і Маркел — український реторт 350 г за 94–109 грн: найдешевший грам категорії, 27–31 грн за 100 г. Bibigo — той самий товар у трьох каналах, розкид 40 %. Clearspring — органіка, найдорожчий грам серед паучів. Gallina Blanca Yatekomo — 84 г сухого рису в чаші, заливається окропом.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Смак Кореї, Rozetka, Prom, MAUDAU, СУХПАЙ, UPcompany, «Товари з Іспанії» — 22–23.09.2026. Фото Portion: Rozetka не віддає зображення картки.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9 · HAIDILAO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10 позицій: коробка 165–360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Хімічний нагрівач у коробці — готується без мікрохвильовки й окропу.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303A5D"/>
                </a:solidFill>
                <a:latin typeface="Segoe UI"/>
              </a:rPr>
              <a:t>Haidilao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Китай · саморозігрів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коробка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380–1 190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230–371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hd_stewed_chicken1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405" y="2395728"/>
            <a:ext cx="753946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Stewed Chicken*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165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380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230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Sweet Svitt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269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88584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hd_beef_curry27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521" y="2395728"/>
            <a:ext cx="768096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3156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карі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156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156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770–799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156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283–294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156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188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9503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hd_beef_stew27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2395728"/>
            <a:ext cx="768096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4075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яловичина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075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075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799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075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294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075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3107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30422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hd_tomato_beef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849" y="2395728"/>
            <a:ext cx="778202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4994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Томати й грудинка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994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994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799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994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294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994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4026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51341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hd_canton18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5092" y="2395728"/>
            <a:ext cx="768096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5913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Кантонський стиль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913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913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680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913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364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913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7665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hd_stew_chicken18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331" y="4480560"/>
            <a:ext cx="768096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2237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курка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650–680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348–364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 · Desna · Tactico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1269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88584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hd_pork_fish18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7521" y="4480560"/>
            <a:ext cx="768096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93156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Свинина, рибний смак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3156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3156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3156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348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3156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188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9503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hd_teriyaki18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9025" y="4480560"/>
            <a:ext cx="803468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14075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теріякі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4075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181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4075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650–660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4075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359–365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075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 · Шериф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3107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730422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hd_spicy_chicken175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8721" y="4480560"/>
            <a:ext cx="802458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34994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Гострий курячий соус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4994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175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4994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4994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371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4994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44026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951341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hd_porkbelly36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5092" y="4480560"/>
            <a:ext cx="768096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55913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Грудинка з гірчичною зеленню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5913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360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5913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1 190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5913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331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5913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Daruy, Tactico, Desna, Sweet Svitt, «Шериф» — 22–23.09.2026. Найдорожча упаковка категорії — 1 190 грн за 360 г. * Sweet Svitt: назва картки Stewed Chicken, на фото — рис з яловичиною та грибами.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10–13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Mo Xiao Xian, Zihaiguo, Rongcheng Haoji, Qiaoshanmei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Китайський саморозігрів і рис під окріп. Усі чотири бренди — в одному магазині.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x_beef_bambo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23871"/>
            <a:ext cx="1493520" cy="1493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бамбуком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MO XIAO XIAN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275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931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339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4496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17648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mx_bacon_pea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512" y="2023871"/>
            <a:ext cx="1493520" cy="14935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3368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Бекон і горошок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3368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MO XIAO XIAN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275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3368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931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3368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339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3368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5488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58640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qs_sh_pepperbee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504" y="2023871"/>
            <a:ext cx="1493520" cy="14935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04360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двома перцями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4360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ZIHAIGUO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4360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735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4360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167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360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79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99631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qs_sh_braisedpor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5" y="2023871"/>
            <a:ext cx="1493520" cy="14935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45351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свинина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1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RONGCHENG HAOJI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440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1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735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1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167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1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67472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040624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qs_spicybee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488" y="2023871"/>
            <a:ext cx="1493520" cy="14935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86344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яловичина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6344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QIAOSHANMEI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6344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501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6344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343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6344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0846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88161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qs_braisedpor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6480" y="2023871"/>
            <a:ext cx="1493520" cy="14935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2733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 по-тайванськи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733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QIAOSHANMEI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733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501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733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343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733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5010912"/>
            <a:ext cx="10954512" cy="12984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03504" y="5010912"/>
            <a:ext cx="82296" cy="129844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" y="5193792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522976"/>
            <a:ext cx="10405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Zihaiguo і Rongcheng Haoji — коробка 440 г за 735 грн: 167 грн за 100 г, дешевше за грам, ніж Haidilao (230–371). Mo Xiao Xian — 931 грн за 275 г, найдорожча чаша ринку. Qiaoshanmei — не саморозігрів, а рис у пакеті під окріп, 501 грн.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«Скарби Азії» (Prom), 23.09.2026. Бренди Zihaiguo і Rongcheng Haoji визначено за написами на упаковці, Qiaoshanmei — за карткою продавця.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14–17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Travellunch, Trek'n Eat, Mountain House, Adventure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Рис-страви у дойпаку: залити окропом на 8–10 хвилин. Німеччина, США, Нідерланди.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tl_strog1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63" y="1828800"/>
            <a:ext cx="708034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275–515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220–412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81497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254649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tl_beef_pepper1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334" y="1828800"/>
            <a:ext cx="706879" cy="8778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00369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0369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0369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295–515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0369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236–412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0369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59490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832642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tl_nasi12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722" y="1828800"/>
            <a:ext cx="686088" cy="8778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78362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Nasi Goreng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8362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8362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567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8362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454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78362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7483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410635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tl_curry1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657" y="1828800"/>
            <a:ext cx="724204" cy="8778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56355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карі з рисом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6355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6355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515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56355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412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6355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15476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988628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tl_strog25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5313" y="1828800"/>
            <a:ext cx="706879" cy="87782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34348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34348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4348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702–811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34348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281–324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4348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ForCamp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93469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566621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tl_beef_pepper25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3701" y="1828800"/>
            <a:ext cx="686088" cy="87782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12341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12341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2341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811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2341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324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2341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71462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144614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tl_nasi25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1695" y="1828800"/>
            <a:ext cx="686088" cy="87782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190334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Nasi Goreng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0334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90334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889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90334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356 грн/100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90334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76656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te_fish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887" y="4059936"/>
            <a:ext cx="765785" cy="87782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22376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Риба з рисом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TREK'N EAT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269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Freeride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181497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2254649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te_strog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9537" y="4059936"/>
            <a:ext cx="1210473" cy="877823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300369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 з рисом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00369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TREK'N EAT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00369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715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00369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Kamanti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759490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3832642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mh_curry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22273" y="4059936"/>
            <a:ext cx="960986" cy="877823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878362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Жовте карі з куркою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78362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MOUNTAIN HOUSE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78362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699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78362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635 грн/100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78362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110вольт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37483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5410635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mh_friedric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90359" y="4059936"/>
            <a:ext cx="780801" cy="877823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5456355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Chicken Fried Rice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56355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MOUNTAIN HOUSE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133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56355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699 грн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56355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526 грн/100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56355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110вольт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915476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6988628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Picture 97" descr="af_curry146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2030" y="4059936"/>
            <a:ext cx="733445" cy="877823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034348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карі з фруктами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34348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FOOD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34348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492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34348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337 грн/100 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34348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Клуб Мандрівник · ще 3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93469" y="3950208"/>
            <a:ext cx="3064546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8493469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804365" y="4133088"/>
            <a:ext cx="251590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04365" y="4462272"/>
            <a:ext cx="2515906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Travellunch — 7 позицій у двох вагах, 125 і 250 г, найширша імпортна лінійка. Mountain House — 699 грн за 110–133 г сухої маси, найдорожчий грам категорії. Канал — туристичні й військові магазини, у продуктовий роздріб ці бренди не йдуть.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ALANTUR, Highlander, ForCamp, Військторг Гайдамака, Freeride, Kamanti, 110вольт, Клуб Мандрівник — 22–23.09.2026.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18–19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Adventure Menu і SubliMate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Adventure Menu — єдиний бренд із двома технологіями: готова страва 400 г і сублімат 110 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m_korma4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796" y="1828800"/>
            <a:ext cx="761165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Chicken Korma з рисом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376–404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94–101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 · ForCamp · MK-Sport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2694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885846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am_wil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874" y="1828800"/>
            <a:ext cx="755390" cy="8778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931566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в томатному соусі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1566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1566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315–356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1566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79–89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1566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Freeride · MK-Sport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1884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95036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am_meatball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347" y="1828800"/>
            <a:ext cx="728824" cy="8778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40756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Фрикадельки з басматі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0756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0756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336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756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84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0756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Лєєр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31075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304227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am_korma1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0309" y="1828800"/>
            <a:ext cx="799281" cy="8778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49947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Korma з басматі · сублімат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9947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9947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378–483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9947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344–439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9947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Лєєр · OXO · MK · Freeride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40265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513417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am_tikka1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7767" y="1828800"/>
            <a:ext cx="802746" cy="87782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559137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Tikka Masala · сублімат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9137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9137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390–483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9137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355–439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9137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Palmer · Лєєр · MK · Freeride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" y="3950208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76656" y="4023360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sm_plov14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119" y="4059936"/>
            <a:ext cx="1106520" cy="87782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22376" y="5010912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узбецький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" y="535838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" y="5522976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309–310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" y="576986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221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" y="5925312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 · Суренж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12694" y="3950208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2885846" y="4023360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sm_chicken_frui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5634" y="4059936"/>
            <a:ext cx="1071869" cy="87782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931566" y="5010912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куркою і фруктами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31566" y="535838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31566" y="5522976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290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31566" y="576986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264 грн/100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31566" y="5925312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Суренж · ВсеОпт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1884" y="3950208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095036" y="4023360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sm_green_curry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2879" y="4059936"/>
            <a:ext cx="1115760" cy="87782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140756" y="5010912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Тайське зелене карі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40756" y="535838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40756" y="5522976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370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40756" y="576986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308 грн/100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40756" y="5925312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31075" y="3950208"/>
            <a:ext cx="4326940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7231075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541971" y="4133088"/>
            <a:ext cx="37783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41971" y="4462272"/>
            <a:ext cx="3778300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Лінія Adventure Menu 400 г READY TO EAT — реторт без води, 79–101 грн за 100 г: у тому ж коридорі, що Ben's Original і Ottogi, але продається лише в туристичних магазинах. SubliMate — український сублімат, 290–370 грн за дойпак.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ALANTUR, ForCamp, MK-Sport, Freeride, Лєєр, OXO, Palmer, Highlander, ВсеОпт, Суренж — 22–23.09.2026.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20–23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James Cook, Їжа в Похід, Харчі, !FEST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Українські виробники рисових страв у дойпаку. Канал — туристичні й військові магазини.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jc_meatve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03" y="1828800"/>
            <a:ext cx="1033753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м'ясом та овочами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83–138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92–153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 · Klever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81497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254649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jc_curr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897" y="1828800"/>
            <a:ext cx="1033753" cy="8778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00369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Карі з рисом та куркою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0369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0369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133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0369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148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0369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Activity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59490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832642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jc_mashkichir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1270" y="1828800"/>
            <a:ext cx="1042993" cy="8778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78362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Машкічірі: рис з бобами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8362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8362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156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8362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195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78362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Terra Incognita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7483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410635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jc_ve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0449" y="1828800"/>
            <a:ext cx="980621" cy="8778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56355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6355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6355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55–81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56355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61–90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6355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15476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988628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yp_chicken8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7197" y="1828800"/>
            <a:ext cx="783111" cy="87782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34348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куркою та овочами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34348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ЇЖА В ПОХІД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4348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145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34348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171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4348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93469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566621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yp_veg8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0570" y="1828800"/>
            <a:ext cx="792351" cy="87782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12341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12341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ЇЖА В ПОХІД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2341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2341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153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2341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71462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144614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kh_pork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6861" y="1828800"/>
            <a:ext cx="735755" cy="87782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190334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зі свининою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0334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90334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120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90334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141 грн/100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90334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Харчі ТМ · Висот-Нік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76656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kh_ricemea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437" y="4059936"/>
            <a:ext cx="742685" cy="87782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22376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Рисова каша з м'ясом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141 грн/100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2376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181497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2254649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kh_kichri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6896" y="4059936"/>
            <a:ext cx="735755" cy="877823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300369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Кічрі: боби з рисом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00369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00369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00369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98 грн/100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00369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Висот-Нік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759490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3832642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kh_plovx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14855" y="4059936"/>
            <a:ext cx="1175822" cy="877823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3878362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XL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78362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100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78362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321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78362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321 грн/100 г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78362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8 продавців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337483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5410635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Picture 91" descr="fest_plov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5708" y="4059936"/>
            <a:ext cx="850103" cy="877823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5456355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56355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!FEST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100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56355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133–140 грн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56355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133–140 грн/100 г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56355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SportStorm · Kalush-Craft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915476" y="3950208"/>
            <a:ext cx="4642539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6915476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226372" y="4133088"/>
            <a:ext cx="40938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26372" y="4462272"/>
            <a:ext cx="4093899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Українські сублімати — 55–321 грн за упаковку, імпортні — 269–889 грн. James Cook — 4 рисові позиції, найширша українська лінійка. Українське виробництво в категорії є, але воно цілком у туристичному каналі.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Highlander, Activity, ВсеОпт, Klever-Shop, Terra Incognita, «Їжа в Похід», Харчі ТМ, Висот-Нік, SportStorm, Kalush-Craft — 22–23.09.2026.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ЩО СТОЇТЬ У МЕРЕЖІ ЗАМІСТЬ НАС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Рис із м'ясом є на полиці — але в бляшанці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Мережі не мають пауча з готовим рисом, зате мають суміжну категорію за 63–160 грн.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_hapay_r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10512"/>
            <a:ext cx="950975" cy="13898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зі свининою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HAPAY!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63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18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50592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23744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h_lappetit_por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810512"/>
            <a:ext cx="987551" cy="138988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9464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зі свининою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9464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L'APPETIT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9464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120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9464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9464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70832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ch_lappetit_bee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732" y="1810512"/>
            <a:ext cx="923543" cy="138988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16552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 яловичиною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L'APPETIT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126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37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17920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ch_hapay_plov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1810512"/>
            <a:ext cx="1014983" cy="138988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63640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з качки та булгуру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HAPAY!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117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91856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065008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ch_foodfabrik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2099287"/>
            <a:ext cx="1499616" cy="81233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10728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з куркою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0728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FOOD FABRIKA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0728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119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0728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48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0728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Восторг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38944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912096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ch_myastori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0" y="1951661"/>
            <a:ext cx="1499616" cy="110758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57816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з куркою та родзинками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57816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М'ЯСТОРІЯ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57816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147–160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57816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42–46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57816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Novus · МегаМаркет · Космос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4535424"/>
            <a:ext cx="5358384" cy="17556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03504" y="4535424"/>
            <a:ext cx="82296" cy="175564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" y="4718304"/>
            <a:ext cx="4809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Чому це важливо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047488"/>
            <a:ext cx="48097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Це прямий конкурент за той самий привід: гаряча страва з рисом і м'ясом без готування. Він уже стоїть на полиці, коштує 63–160 грн за 250–350 г і має українського виробника.
Пауч із готовим рисом заходить у той самий гаманець, тож орієнтир ціни — не Ottogi за 255 грн, а ця полиця.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99632" y="4535424"/>
            <a:ext cx="5358384" cy="175564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55664" y="4700016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Порівняння за 100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5664" y="4992624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Каша рисова hapay! 340 г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50224" y="5038344"/>
            <a:ext cx="461356" cy="118872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184732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37A169"/>
                </a:solidFill>
                <a:latin typeface="Segoe UI"/>
              </a:rPr>
              <a:t>18,5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55664" y="523036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Плов Food Fabrika 250 г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50224" y="5276088"/>
            <a:ext cx="1187057" cy="11887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910433" y="522122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Segoe UI"/>
              </a:rPr>
              <a:t>47,6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55664" y="5468112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Ben's Original, медіана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50224" y="5513831"/>
            <a:ext cx="1022465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745841" y="545896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F9A50B"/>
                </a:solidFill>
                <a:latin typeface="Segoe UI"/>
              </a:rPr>
              <a:t>41,0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55664" y="5705855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Плов М'ясторія 350 г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50224" y="5751575"/>
            <a:ext cx="1139674" cy="118872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63050" y="569671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45,7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55664" y="5943599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Ottogi, медіана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50224" y="5989319"/>
            <a:ext cx="2194560" cy="118872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917936" y="5934455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B6B8C"/>
                </a:solidFill>
                <a:latin typeface="Segoe UI"/>
              </a:rPr>
              <a:t>88,0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API 17 мереж zakaz.ua, 23.09.2026. Ці 6 позицій — суміжна категорія, у 84 позицій дослідження вони не входять. Охолоджені страви й кулінарію мереж не показано: у них термін 2–5 діб.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ДЕ ПРЕДСТАВЛЕНО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56 продавців, чотири типи каналів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Категорія живе в онлайні: у мережі — лише Ben's Original у «Сільпо», 11 позицій.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0954512" cy="694944"/>
          </a:xfrm>
          <a:prstGeom prst="roundRect">
            <a:avLst>
              <a:gd name="adj" fmla="val 12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19072"/>
            <a:ext cx="82296" cy="6949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82880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9A50B"/>
                </a:solidFill>
                <a:latin typeface="Segoe UI"/>
              </a:rPr>
              <a:t>МЕРЕЖЕВИЙ РОЗДРІБ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066543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Ben's Original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47088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61104" y="1847088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Сільпо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44784" y="1911095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F9A50B"/>
                </a:solidFill>
                <a:latin typeface="Segoe UI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2487168"/>
            <a:ext cx="10954512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3504" y="2487168"/>
            <a:ext cx="82296" cy="6949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259689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37A169"/>
                </a:solidFill>
                <a:latin typeface="Segoe UI"/>
              </a:rPr>
              <a:t>ОНЛАЙН-СУПЕРМАРКЕТИ Й МАРКЕТПЛЕЙСИ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834639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Ben's · Henan · Bibigo · Clearspring · Portion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2615184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61104" y="2615184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MAUDAU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04841" y="2615184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04841" y="2615184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Rozetka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7100" y="2615184"/>
            <a:ext cx="435254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07100" y="2615184"/>
            <a:ext cx="43525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Prom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4784" y="2679191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37A169"/>
                </a:solidFill>
                <a:latin typeface="Segoe U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3255263"/>
            <a:ext cx="10954512" cy="1005840"/>
          </a:xfrm>
          <a:prstGeom prst="roundRect">
            <a:avLst>
              <a:gd name="adj" fmla="val 12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03504" y="3255263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" y="3364991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B5EA7"/>
                </a:solidFill>
                <a:latin typeface="Segoe UI"/>
              </a:rPr>
              <a:t>СПЕЦІАЛІЗОВАНІ ФУДШОПИ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3602735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Ottogi · Henan · Bibigo · саморозігрів · Gallina Blanca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1104" y="3383279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61104" y="3383279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Смак Кореї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38928" y="3383279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38928" y="3383279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Тайякі Март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5273" y="3383279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75273" y="3383279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Pulsar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19011" y="3383279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19011" y="3383279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Апетітаріум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55356" y="3383279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55356" y="3383279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Gurmissimo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33180" y="3383279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33180" y="3383279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Edison Lee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1004" y="3383279"/>
            <a:ext cx="727862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11004" y="3383279"/>
            <a:ext cx="72786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OMG! Asia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61104" y="3675887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61104" y="3675887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СНЕКІС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04841" y="3675887"/>
            <a:ext cx="376732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04841" y="3675887"/>
            <a:ext cx="3767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DCM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73014" y="3675887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73014" y="3675887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Скарби Азії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59" y="3675887"/>
            <a:ext cx="1137513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9359" y="3675887"/>
            <a:ext cx="1137513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38313" y="3675887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538313" y="3675887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Sweet Svitt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44784" y="3602735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7B5EA7"/>
                </a:solidFill>
                <a:latin typeface="Segoe UI"/>
              </a:rPr>
              <a:t>12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3504" y="4334256"/>
            <a:ext cx="1095451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03504" y="4334256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77824" y="444398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9EA6"/>
                </a:solidFill>
                <a:latin typeface="Segoe UI"/>
              </a:rPr>
              <a:t>ТУРИСТИЧНІ ТА ВІЙСЬКОВІ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" y="4681728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Haidilao · Adventure Menu · усі сублімати · Маркел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61104" y="4462272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61104" y="4462272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ALANTUR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63363" y="4462272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63363" y="4462272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Highlander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41187" y="4462272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41187" y="4462272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ForCamp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3446" y="4462272"/>
            <a:ext cx="727862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43446" y="4462272"/>
            <a:ext cx="72786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Гайдамака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62748" y="4462272"/>
            <a:ext cx="66934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62748" y="4462272"/>
            <a:ext cx="669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Freeride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23529" y="4462272"/>
            <a:ext cx="66934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123529" y="4462272"/>
            <a:ext cx="669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MK-Sport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884310" y="4462272"/>
            <a:ext cx="493776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884310" y="4462272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Daruy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69526" y="4462272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469526" y="4462272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Tactico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171785" y="4462272"/>
            <a:ext cx="435254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171785" y="4462272"/>
            <a:ext cx="43525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Лєєр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261104" y="4754880"/>
            <a:ext cx="66934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261104" y="4754880"/>
            <a:ext cx="669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Activity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021884" y="4754880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1884" y="4754880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+ ще 30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44784" y="4681728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1E9EA6"/>
                </a:solidFill>
                <a:latin typeface="Segoe UI"/>
              </a:rPr>
              <a:t>40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3504" y="5358384"/>
            <a:ext cx="5358384" cy="896112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41248" y="5486400"/>
            <a:ext cx="4882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Що відомо про імпортерів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1248" y="5724144"/>
            <a:ext cx="48828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Картки продавців імпортера не називають. OMG! Asia і СНЕКІС описують себе як прямих імпортерів з Азії; Ben's Original виробляє Mars (заводи Франція, Німеччина).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99632" y="5358384"/>
            <a:ext cx="5358384" cy="896112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437376" y="5486400"/>
            <a:ext cx="4882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Мережі без жодної позиції категорії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37376" y="5724144"/>
            <a:ext cx="48828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АТБ, Novus, Metro, Varus, Ашан, Fozzy, «Таврія В», МегаМаркет, ЕКО маркет, Ultramarket та ще 7 мереж. Суміжну категорію (слайд 17) частина з них має.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ВИСНОВКИ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Що показало дослідження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Чотири факти про ринок і три питання, на які дані відповіді не дають.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00784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847088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1. Ринок є, полиці немає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139696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182 т імпорту і 84 позицій у продажу — але 73 із них живуть лише онлайн. Мережеву дистрибуцію має один бренд.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00784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99632" y="1700784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847088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2. Вікно ціни — 45–180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39696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Стільки коштує упаковка, яку покупець бере в мережі. Усе, що дорожче 250 грн, продається поштучно в нішевих магазинах.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962656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3504" y="2962656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310896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3. Формат — пауч 220–250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401568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16 позицій у цьому вікні, медіана 109 грн. Чаша дорожча вдвічі, коробка з нагрівачем — усемеро.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962656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99632" y="2962656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310896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4. Українського пауча немає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401568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16 українських позицій — це консерви й сублімати для туризму. Готового рису в паучі під мікрохвильовку не робить ніхто.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4334256"/>
            <a:ext cx="10954512" cy="159105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03504" y="4334256"/>
            <a:ext cx="82296" cy="15910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517136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Чого дані не показують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040587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1. Продажів. Ні мережі, ні маркетплейси не віддають обсяги. Ємність роздрібу на слайді 03 — оцінка за імпортом, а не заміряний продаж.
2. Хто імпортер. У картках продавців імпортера не вказано; Prom показує лише продавця. Точний перелік дасть лише вивантаження Держмитслужби за УКТЗЕД 1904 90 10.
3. Оборотності на полиці «Сільпо». Скільки Ben's Original реально продає за місяць — без даних мережі не порахувати.
Наступний крок, який закриє 1 і 2: замовити митну базу за 1904 90 10 за 2024–2025 рр. і запитати в «Сільпо» дані про категорію.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Дослідження: 84 позиції, 23 бренди, 56 продавців, 17 мереж. Зріз 22–23 вересня 2026 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4552</Words>
  <Application>Microsoft Office PowerPoint</Application>
  <PresentationFormat>Широкий екран</PresentationFormat>
  <Paragraphs>932</Paragraphs>
  <Slides>19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19</vt:i4>
      </vt:variant>
    </vt:vector>
  </HeadingPairs>
  <TitlesOfParts>
    <vt:vector size="23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2</cp:revision>
  <dcterms:created xsi:type="dcterms:W3CDTF">2013-01-27T09:14:16Z</dcterms:created>
  <dcterms:modified xsi:type="dcterms:W3CDTF">2026-09-23T11:30:11Z</dcterms:modified>
  <cp:category/>
</cp:coreProperties>
</file>