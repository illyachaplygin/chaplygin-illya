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C2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57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1">
                <a:solidFill>
                  <a:srgbClr val="F9A50B"/>
                </a:solidFill>
                <a:latin typeface="Segoe UI"/>
              </a:rPr>
              <a:t>АНАЛІТИКА РИНКУ · ЧАСТИНА 2 · ВЕРЕСЕНЬ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96012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Segoe UI"/>
              </a:rPr>
              <a:t>Формат, ціна
та позиціонування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297680"/>
            <a:ext cx="86868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150" b="0">
                <a:solidFill>
                  <a:srgbClr val="B9C2DA"/>
                </a:solidFill>
                <a:latin typeface="Segoe UI"/>
              </a:rPr>
              <a:t>Структурована карта 23 брендів і 54 продавців · рекомендація формату
упаковки · зіставлення нашої фінансової моделі з полицею · цільовий FOB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53212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БРЕНДІВ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72414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9A50B"/>
                </a:solidFill>
                <a:latin typeface="Segoe UI"/>
              </a:rPr>
              <a:t>23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06040" y="553212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ПОЗИЦІЙ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72414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9A50B"/>
                </a:solidFill>
                <a:latin typeface="Segoe UI"/>
              </a:rPr>
              <a:t>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553212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ПРОДАВЦІВ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572414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9A50B"/>
                </a:solidFill>
                <a:latin typeface="Segoe UI"/>
              </a:rPr>
              <a:t>54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5532120"/>
            <a:ext cx="15544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717890"/>
                </a:solidFill>
                <a:latin typeface="Segoe UI"/>
              </a:rPr>
              <a:t>НАШИХ 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5724144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1">
                <a:solidFill>
                  <a:srgbClr val="F9A50B"/>
                </a:solidFill>
                <a:latin typeface="Segoe UI"/>
              </a:rPr>
              <a:t>32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641908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5B6B8C"/>
                </a:solidFill>
                <a:latin typeface="Segoe UI"/>
              </a:rPr>
              <a:t>Підготовлено на базі RTE_Rice_Market_Research · RTE_Rice_Suppliers · RICE_PRICING_Slelf_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Сім висновків, які змінюють рішення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Що дає зіставлення ринкового зрізу з нашою фінансовою моделлю.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8096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НАША НАЙДЕШЕВША ПОЛИЦЯ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4820A"/>
                </a:solidFill>
                <a:latin typeface="Segoe UI"/>
              </a:rPr>
              <a:t>133 грн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пауч 150 г.
Медіана пауча — 109 грн.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РОЗРИВ ДО МЕДІАНИ ПАУЧА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53128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C94F7C"/>
                </a:solidFill>
                <a:latin typeface="Segoe UI"/>
              </a:rPr>
              <a:t>+22 %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53128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Дешевше за нас у мережі
не буде без зміни FOB.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572768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0" y="1728216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НАШ НАЙКРАЩИЙ ФОРМАТ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38160" y="1938528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E9EA6"/>
                </a:solidFill>
                <a:latin typeface="Segoe UI"/>
              </a:rPr>
              <a:t>стакан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60" y="2414016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BSCM 150 г — 139 грн проти
Ottogi 225–356 грн.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ПОТЕНЦІАЛ 40′ FCL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37A169"/>
                </a:solidFill>
                <a:latin typeface="Segoe UI"/>
              </a:rPr>
              <a:t>−12 %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Собівартість і полиця
падають лише від логістики.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53128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SKU ПОЗА РИНКОМ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53128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5D4B96"/>
                </a:solidFill>
                <a:latin typeface="Segoe UI"/>
              </a:rPr>
              <a:t>2 з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53128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ONE'S Fried Rice 332 грн
і подвійний стакан 219 грн.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936992" y="2907791"/>
            <a:ext cx="3456432" cy="1152144"/>
          </a:xfrm>
          <a:prstGeom prst="roundRect">
            <a:avLst>
              <a:gd name="adj" fmla="val 10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138160" y="3063239"/>
            <a:ext cx="309067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717890"/>
                </a:solidFill>
                <a:latin typeface="Segoe UI"/>
              </a:rPr>
              <a:t>РИЗИК МОДЕЛІ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60" y="3273551"/>
            <a:ext cx="3090672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F9A50B"/>
                </a:solidFill>
                <a:latin typeface="Segoe UI"/>
              </a:rPr>
              <a:t>ПДВ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60" y="3749039"/>
            <a:ext cx="309067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Імпортний ПДВ сидить у СС
і, ймовірно, задвоєний.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4389120"/>
            <a:ext cx="41148" cy="17830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04672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ЩО РОБИТИ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2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Заводити азійський формат — стакан BSCM 150 г. Це єдина наша позиція, що б'є прямого конкурента ціною: −38 % до медіани Ottogi.
2. Пауч 240 г у мережу не заходить проти Ben's Original без FOB ≤ $0,405.
3. ONE'S Fried Rice 200 г — перерахувати або зняти: 166 грн за 100 г.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389120"/>
            <a:ext cx="5413248" cy="1783080"/>
          </a:xfrm>
          <a:prstGeom prst="roundRect">
            <a:avLst>
              <a:gd name="adj" fmla="val 6000"/>
            </a:avLst>
          </a:prstGeom>
          <a:solidFill>
            <a:srgbClr val="F7F8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17920" y="4389120"/>
            <a:ext cx="41148" cy="1783080"/>
          </a:xfrm>
          <a:prstGeom prst="rect">
            <a:avLst/>
          </a:prstGeom>
          <a:solidFill>
            <a:srgbClr val="9FA9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454456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9FA9C4"/>
                </a:solidFill>
                <a:latin typeface="Segoe UI"/>
              </a:rPr>
              <a:t>ЧОГО ДАНІ НЕ ДАЮТЬ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4809744"/>
            <a:ext cx="4956048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1. Обсягів продажів. Ємність 87–110 млн грн — оцінка за імпортом, не заміряний продаж.
2. FOB постачальника ONE'S — у пропозиції не вказаний, виведений з СС і є оцінкою.
3. Ставки мита за УКТЗЕД 1904 90 10 для Таїланду й Кореї — у моделі взято 10 %, джерело не підтверджено.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КАНАЛИ ПРОДАЖУ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54 продавці: де категорія реально лежить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Перелік розширено з 17 мереж і маркетплейсів до всіх ідентифікованих спеціалізованих магазинів.</a:t>
            </a:r>
          </a:p>
        </p:txBody>
      </p:sp>
      <p:pic>
        <p:nvPicPr>
          <p:cNvPr id="8" name="Picture 7" descr="c5_channel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572768"/>
            <a:ext cx="5120640" cy="193100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989320" y="1572768"/>
            <a:ext cx="5650992" cy="47548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989320" y="1572768"/>
            <a:ext cx="36576" cy="47548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81344" y="1673352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C94F7C"/>
                </a:solidFill>
                <a:latin typeface="Segoe UI"/>
              </a:rPr>
              <a:t>МЕРЕЖЕВИЙ РОЗДРІБ ·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81344" y="1856231"/>
            <a:ext cx="534924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Сільпо — 11 позицій, усі Ben's Original.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89320" y="2167128"/>
            <a:ext cx="5650992" cy="73152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989320" y="2167128"/>
            <a:ext cx="36576" cy="731520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2267712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C4820A"/>
                </a:solidFill>
                <a:latin typeface="Segoe UI"/>
              </a:rPr>
              <a:t>ОНЛАЙН-СУПЕРМАРКЕТИ Й МАРКЕТПЛЕЙСИ ·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2450592"/>
            <a:ext cx="53492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MAUDAU · Rozetka · Prom · zakaz.ua (17 мереж) · GoToShop (агрегатор 8 мереж)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89320" y="3017520"/>
            <a:ext cx="5650992" cy="96012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989320" y="3017520"/>
            <a:ext cx="36576" cy="9601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81344" y="3118104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АЗІЙСЬКІ ТА ЕТНІЧНІ ФУДШОПИ · 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3300984"/>
            <a:ext cx="534924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Смак Кореї · Тайякі Март · Pulsar · Апетітаріум · Gurmissimo · Edison Lee · OMG! Asia · СНЕКІС · DCM · Скарби Азії · Sweet Svitt · Товари з Іспанії · AsiaStyle · ASIA FOODS · Wèi Māo · AsianFoods · Asia Goods Store (Львів) · SushiPovar · KladezGroup · Asia Foods Trade (опт)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4096512"/>
            <a:ext cx="5650992" cy="96012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989320" y="4096512"/>
            <a:ext cx="36576" cy="9601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81344" y="4197096"/>
            <a:ext cx="5349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5D4B96"/>
                </a:solidFill>
                <a:latin typeface="Segoe UI"/>
              </a:rPr>
              <a:t>ТУРИСТИЧНІ ТА ВІЙСЬКОВІ · 28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81344" y="4379976"/>
            <a:ext cx="5349240" cy="6126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ALANTUR · Highlander · ForCamp · Гайдамака · Freeride · MK-Sport · Daruy · Tactico · Лєєр · Activity · Desna · Шериф · OXO · Palmer · ВсеОпт · Суренж · Klever-Shop · Terra Incognita · Висот-Нік · СУХПАЙ · UPcompany · SportStorm · Kalush-Craft · 110вольт · Клуб Мандрівник · Kamanti · Харчі ТМ · Їжа в Похід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3977639"/>
            <a:ext cx="5120640" cy="210312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3977639"/>
            <a:ext cx="41148" cy="21031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4133087"/>
            <a:ext cx="46634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ЩО ЦЕ ОЗНАЧАЄ ДЛЯ ВХОДУ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398264"/>
            <a:ext cx="4663440" cy="15544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Нові канали, яких не було в першому зрізі: AsiaStyle, ASIA FOODS, Wèi Māo, AsianFoods, Asia Goods Store, SushiPovar, KladezGroup, Asia Foods Trade.
Азійський фудшоп — найкоротший шлях на полицю: 20 продавців, низький поріг входу, уже продають Ottogi і Henan — прямих конкурентів нашого стакана.
17 мереж не мають жодної позиції категорії. Це не вільна ніша, а бар'єр: категорія не заведена в матрицю закупівлі.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Перелік складено за картками продавців і каталогами магазинів, 22–23.09.2026 + додатковий пошук спеціалізованих фудшопів. Туристичний канал перелічено не повністю — у зрізі фігурує ~40 продавців, ідентифіковано поіменно 28.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МАТРИЦЯ БРЕНДІВ · 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23 бренди у структурі: формат, технологія, ціна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Замість карток — одна таблиця. Сортування за медіанною ціною упаковки.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572768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572768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ТЕХНОЛОГІЯ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572768"/>
            <a:ext cx="1042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157276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1572768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ЦІНА ЗА УПАКОВКУ,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1572768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57276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КАНАЛ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810512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88366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Ben's Original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188366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88366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188366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188366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144" y="188366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45–179   ·   мед. 90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188366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18–81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188366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Мережа + маркетплейс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" y="2148840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18998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Маркел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218998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18998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18998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218998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218998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94–96   ·   мед. 95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18998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218998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Військторг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Portion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" y="249631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249631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249631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7" y="249631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144" y="249631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109   ·   мед. 109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249631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249631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Маркетплейс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" y="2761488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280263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Харчі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2576" y="280263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280263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9392" y="280263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7" y="280263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280263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83–321   ·   мед. 120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280263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98–321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5" y="280263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310896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James Cook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310896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310896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79392" y="310896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21807" y="310896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4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24144" y="310896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55–156   ·   мед. 133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05472" y="310896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61–195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5" y="310896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374136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41528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!FEST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22576" y="341528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8960" y="341528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79392" y="341528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7" y="341528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24144" y="341528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133–140   ·   мед. 137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5472" y="341528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133–140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5" y="341528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72160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Їжа в Похід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22576" y="372160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0" y="372160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9392" y="372160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21807" y="372160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24144" y="372160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130–145   ·   мед. 138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05472" y="372160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153–171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6175" y="372160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Власний магазин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3776" y="3986784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402793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Henan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22576" y="402793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8960" y="402793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Окріп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9392" y="402793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21807" y="402793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8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24144" y="402793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83–156   ·   мед. 140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05472" y="402793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58–106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66175" y="402793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Азійські фудшопи + МП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433425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Bibigo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22576" y="433425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8960" y="433425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79392" y="433425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21807" y="433425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24144" y="433425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135–189   ·   мед. 162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05472" y="433425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64–90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66175" y="433425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Фудшопи + маркетплейс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3776" y="4599432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464058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Gallina Blanca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22576" y="464058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08960" y="464058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Окріп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79392" y="464058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21807" y="464058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24144" y="464058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229   ·   мед. 229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05472" y="464058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273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66175" y="464058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Спец. магазин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8" y="494690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Ottogi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22576" y="494690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Корея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08960" y="494690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79392" y="494690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321807" y="494690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24144" y="494690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225–356   ·   мед. 255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05472" y="494690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79–130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66175" y="494690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Азійські фудшопи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493776" y="5212080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566928" y="525322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SubliMate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2322576" y="525322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Україна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108960" y="525322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279392" y="525322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5321807" y="525322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3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5724144" y="525322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290–370   ·   мед. 310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7205472" y="525322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221–308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8266175" y="525322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66928" y="5504688"/>
            <a:ext cx="10789920" cy="65836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566928" y="5504688"/>
            <a:ext cx="41148" cy="658368"/>
          </a:xfrm>
          <a:prstGeom prst="rect">
            <a:avLst/>
          </a:prstGeom>
          <a:solidFill>
            <a:srgbClr val="C482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804672" y="566013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4820A"/>
                </a:solidFill>
                <a:latin typeface="Segoe UI"/>
              </a:rPr>
              <a:t>ПЕРШІ 12 БРЕНДІВ — ДЕШЕВША ПОЛОВИНА РИНКУ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804672" y="5925312"/>
            <a:ext cx="10332720" cy="1097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Усі бренди дешевше 400 грн за упаковку. Пауч і чаша займають увесь діапазон 45–356 грн; дойпак і коробка починаються там, де мережева полиця вже закінчилась.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роздрібні за одну упаковку, без оптових порогів. Медіана — за позиціями бренду. Adventure Menu має дві технології (реторт 400 г і сублімат 110 г).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МАТРИЦЯ БРЕНДІВ · 2/2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Дорога половина: туризм і саморозігрів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Ці бренди формують «стелю» категорії, але в продуктову мережу не йдуть.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572768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1572768"/>
            <a:ext cx="17556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БРЕНД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22576" y="1572768"/>
            <a:ext cx="78638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КРАЇНА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1572768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ТЕХНОЛОГІЯ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79392" y="1572768"/>
            <a:ext cx="1042415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ФОРМАТ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21807" y="1572768"/>
            <a:ext cx="40233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SKU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24144" y="1572768"/>
            <a:ext cx="14813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ЦІНА ЗА УПАКОВКУ, ГРН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05472" y="1572768"/>
            <a:ext cx="106070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ГРН/100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66175" y="1572768"/>
            <a:ext cx="31089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КАНАЛ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6928" y="1810512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188366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Clearspring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322576" y="188366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188366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79392" y="188366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21807" y="188366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24144" y="188366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252–446   ·   мед. 349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05472" y="188366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101–178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66175" y="188366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Маркетплейс + спец.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93776" y="2148840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218998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Adventure Menu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322576" y="218998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108960" y="218998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Розігрів+Субл.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79392" y="218998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4820A"/>
                </a:solidFill>
                <a:latin typeface="Segoe UI"/>
              </a:rPr>
              <a:t>Пауч/Дойпак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21807" y="218998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24144" y="218998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315–483   ·   мед. 378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05472" y="218998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79–439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266175" y="218998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249631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Trek'n Eat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322576" y="249631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8960" y="249631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79392" y="249631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321807" y="249631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724144" y="249631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269–715   ·   мед. 492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249631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н/д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66175" y="249631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93776" y="2761488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66928" y="280263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Adventure Food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322576" y="280263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108960" y="280263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79392" y="280263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321807" y="280263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724144" y="280263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492   ·   мед. 492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05472" y="280263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337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66175" y="280263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66928" y="310896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Qiaoshanmei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322576" y="310896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108960" y="310896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Окріп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279392" y="310896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Пакет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21807" y="310896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724144" y="310896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501   ·   мед. 501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205472" y="310896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343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66175" y="310896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493776" y="3374136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66928" y="341528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Travellunch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2322576" y="341528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ЄС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108960" y="341528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4279392" y="341528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321807" y="341528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7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724144" y="341528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275–889   ·   мед. 515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205472" y="341528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220–454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266175" y="341528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66928" y="3721608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Haidilao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2322576" y="3721608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108960" y="3721608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4279392" y="3721608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321807" y="3721608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724144" y="3721608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380–1190   ·   мед. 680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7205472" y="3721608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230–371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266175" y="3721608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 + фудшопи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493776" y="3986784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66928" y="4027932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Mountain House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322576" y="4027932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США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108960" y="4027932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Сублімація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279392" y="4027932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5D4B96"/>
                </a:solidFill>
                <a:latin typeface="Segoe UI"/>
              </a:rPr>
              <a:t>Дойпак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321807" y="4027932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5724144" y="4027932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699   ·   мед. 699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205472" y="4027932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526–635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266175" y="4027932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Туризм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4334256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Zihaiguo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22576" y="4334256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3108960" y="4334256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4279392" y="4334256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321807" y="4334256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724144" y="4334256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735   ·   мед. 735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205472" y="4334256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167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8266175" y="4334256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493776" y="4599432"/>
            <a:ext cx="10936224" cy="306324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66928" y="4640580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Rongcheng Haoji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2322576" y="4640580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108960" y="4640580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279392" y="4640580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C94F7C"/>
                </a:solidFill>
                <a:latin typeface="Segoe UI"/>
              </a:rPr>
              <a:t>Коробка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321807" y="4640580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1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5724144" y="4640580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735   ·   мед. 735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7205472" y="4640580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167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266175" y="4640580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566928" y="4946904"/>
            <a:ext cx="175564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C2235"/>
                </a:solidFill>
                <a:latin typeface="Segoe UI"/>
              </a:rPr>
              <a:t>Mo Xiao Xian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322576" y="4946904"/>
            <a:ext cx="78638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Китай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108960" y="4946904"/>
            <a:ext cx="1170432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Саморозігрів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279392" y="4946904"/>
            <a:ext cx="1042415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1E9EA6"/>
                </a:solidFill>
                <a:latin typeface="Segoe UI"/>
              </a:rPr>
              <a:t>Чаша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5321807" y="4946904"/>
            <a:ext cx="402336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1">
                <a:solidFill>
                  <a:srgbClr val="303A5D"/>
                </a:solidFill>
                <a:latin typeface="Segoe UI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5724144" y="4946904"/>
            <a:ext cx="1481328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931   ·   мед. 931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205472" y="4946904"/>
            <a:ext cx="1060704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339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8266175" y="4946904"/>
            <a:ext cx="3108960" cy="3063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40" b="0">
                <a:solidFill>
                  <a:srgbClr val="717890"/>
                </a:solidFill>
                <a:latin typeface="Segoe UI"/>
              </a:rPr>
              <a:t>Азійський фудшоп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66928" y="53492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566928" y="5349240"/>
            <a:ext cx="41148" cy="841248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04672" y="5504688"/>
            <a:ext cx="4828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ТЕХНОЛОГІЯ ВИЗНАЧАЄ КАНАЛ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804672" y="5769864"/>
            <a:ext cx="4828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Сублімація й саморозігрів не конкурують з нами за привід споживання: це похід і відрядження, а не обід у місті.</a:t>
            </a:r>
          </a:p>
        </p:txBody>
      </p:sp>
      <p:sp>
        <p:nvSpPr>
          <p:cNvPr id="115" name="Rounded Rectangle 114"/>
          <p:cNvSpPr/>
          <p:nvPr/>
        </p:nvSpPr>
        <p:spPr>
          <a:xfrm>
            <a:off x="6071616" y="5349240"/>
            <a:ext cx="5285232" cy="8412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071616" y="5349240"/>
            <a:ext cx="41148" cy="8412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6309359" y="5504688"/>
            <a:ext cx="482803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НАШ КОНКУРЕНТНИЙ СЕТ — ВУЗЬКИЙ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6309359" y="5769864"/>
            <a:ext cx="4828032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Реальних конкурентів у нас п'ять: Ben's Original, Ottogi, Henan, Bibigo і суміжна консерва на полиці мережі.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Trek'n Eat: маса на картках продавців не вказана, грн/100 г не рахується. Qiaoshanmei — рис у пакеті під окріп, не саморозігрів.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ФОРМАТИ УПАКОВКИ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Який формат насправді найпопулярніший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Кількість позицій і ціна дають протилежні відповіді. Розбираємо, яка з них релевантна.</a:t>
            </a:r>
          </a:p>
        </p:txBody>
      </p:sp>
      <p:pic>
        <p:nvPicPr>
          <p:cNvPr id="8" name="Picture 7" descr="c1_forma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81328"/>
            <a:ext cx="11064240" cy="335731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023360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ПОПУЛЯРНІСТЬ ≠ ПОЛИЦЯ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Дойпак лідирує за кількістю позицій (30 із 84), але це артефакт каналу: туристичні магазини заводять по 1–2 SKU від десятка дрібних брендів.
За доступністю для покупця виграє пауч: 109 грн проти 315 грн у дойпака.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5112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5112" y="4023360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2856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ВІКНО ПОРЦІЇ 210–250 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2856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Чаша й пауч конкурують у тому самому ваговому вікні — це порція «обід на одну людину».
16 позицій із 84 лежать у 220–250 г. Саме під цю вагу вже привчений покупець Ben's Original і Bibigo.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4023360"/>
            <a:ext cx="3547872" cy="2011680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83296" y="4023360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4178808"/>
            <a:ext cx="3090672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ФОРМАТУ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4443984"/>
            <a:ext cx="30906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ПАУЧ 240–250 Г — для мережевої полиці: найнижча ціна входу, вага збігається з лідером категорії.
СТАКАН 150 Г — для азійського каналу: прямий конкурент Ottogi та Henan за вдвічі нижчою ціною.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Розподіл 84 позицій за типом паковання з карток продавців, 22–23.09.2026. 2 позиції без указаної маси до розрахунку грн/100 г не входять.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ЦІНА ЗА УПАКОВКУ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Де ми стоїмо: від найдешевшої до найдорожчої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Усі ринкові якорі й усі сім наших товарних груп на одній шкалі. Помаранчеве — ми.</a:t>
            </a:r>
          </a:p>
        </p:txBody>
      </p:sp>
      <p:pic>
        <p:nvPicPr>
          <p:cNvPr id="8" name="Picture 7" descr="c3_p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44752"/>
            <a:ext cx="7635240" cy="3597047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30768" y="1481328"/>
            <a:ext cx="3200400" cy="148132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30768" y="1481328"/>
            <a:ext cx="41148" cy="1481328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68512" y="1636776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37A169"/>
                </a:solidFill>
                <a:latin typeface="Segoe UI"/>
              </a:rPr>
              <a:t>МИ В ВІКНІ ПОЛИЦІ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68512" y="1901952"/>
            <a:ext cx="2743200" cy="9326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Шість із семи наших груп потрапляють у вікно 45–180 грн, у якому покупець реально бере товар у мережі.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430768" y="3090672"/>
            <a:ext cx="3200400" cy="157276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430768" y="3090672"/>
            <a:ext cx="41148" cy="157276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68512" y="324612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АЛЕ НЕ В ЙОГО НИЗУ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68512" y="3511296"/>
            <a:ext cx="2743200" cy="10241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Наш найдешевший SKU — 133 грн. Медіана пауча — 109 грн, Ben's Original — 90 грн. За ціною входу ми в верхній третині вікна.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30768" y="4791456"/>
            <a:ext cx="3200400" cy="135331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430768" y="4791456"/>
            <a:ext cx="41148" cy="1353312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68512" y="4946904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5D4B96"/>
                </a:solidFill>
                <a:latin typeface="Segoe UI"/>
              </a:rPr>
              <a:t>ДВІ ГРУПИ ВИПАЛИ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68512" y="5212080"/>
            <a:ext cx="2743200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Подвійний стакан 219 грн і ONE'S Fried Rice 332 грн — вище стелі мережевої полиці.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Наша полиця розрахована за фінмоделлю: 20′ FCL навалом, курс 45 грн/$, бонус мережі 25 %, цільова маржа 35 %, націнка мережі 1,40. Для кожної групи показано найдешевший SKU.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ЦІНА ЗА 100 ГРАМІВ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Головна перевірка: скільки коштує грам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Ціна за упаковку приховує вагу. За грам картина інша — і вона для нас гірша.</a:t>
            </a:r>
          </a:p>
        </p:txBody>
      </p:sp>
      <p:pic>
        <p:nvPicPr>
          <p:cNvPr id="8" name="Picture 7" descr="c2_lad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17320"/>
            <a:ext cx="11064240" cy="425749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4892040"/>
            <a:ext cx="5413248" cy="12984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4892040"/>
            <a:ext cx="41148" cy="1298448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504748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C94F7C"/>
                </a:solidFill>
                <a:latin typeface="Segoe UI"/>
              </a:rPr>
              <a:t>ЖОДНОГО НАШОГО SKU У ВІКНІ ПОЛИЦІ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5312664"/>
            <a:ext cx="4956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Вікно 18–50 грн за 100 г тримають Ben's Original (41), суміжна консерва (40) і медіана пауча (44). Наш найкращий показник — 65 грн у BSCM пауч 240 г. Це +59 % до медіани категорії.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892040"/>
            <a:ext cx="5413248" cy="1298448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4892040"/>
            <a:ext cx="41148" cy="1298448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5664" y="5047488"/>
            <a:ext cx="4956048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1E9EA6"/>
                </a:solidFill>
                <a:latin typeface="Segoe UI"/>
              </a:rPr>
              <a:t>ЧОМУ ЦЕ НЕ ВИРОК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5664" y="5312664"/>
            <a:ext cx="4956048" cy="7498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За грам ми програємо, за упаковку — ні. Покупець у мережі порівнює цінник, а не грн/100 г. Але категорійний менеджер дивиться саме на грн/100 г — і це буде головне заперечення на переговорах.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Медіани за 100 г розраховані як медіана ціни формату / медіану ваги формату; для брендів — із карток продавців. Наші значення — за поточною фінмоделлю, 20′ FCL навалом.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ФІНМОДЕЛЬ ПРОТИ РИНКУ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Скільки коштує кожен наш формат на полиці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Полиця = собівартість × 3,5 за поточних умов. Вертикальні лінії — ринкові цілі.</a:t>
            </a:r>
          </a:p>
        </p:txBody>
      </p:sp>
      <p:pic>
        <p:nvPicPr>
          <p:cNvPr id="8" name="Picture 7" descr="c4_fo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463040"/>
            <a:ext cx="7635240" cy="25935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430768" y="1481328"/>
            <a:ext cx="3200400" cy="2788920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13648" y="1627632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ЯКИЙ FOB ПОТРІБЕН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13648" y="1819656"/>
            <a:ext cx="28346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1">
                <a:solidFill>
                  <a:srgbClr val="717890"/>
                </a:solidFill>
                <a:latin typeface="Segoe UI"/>
              </a:rPr>
              <a:t>ЦІЛЬ / 20′ FCL / 40′ FCL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13648" y="206654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Медіана пауча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13648" y="220827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109 грн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49840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63072" y="2084831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$0,452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13648" y="2487168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Ben's медіана @240 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62889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98 грн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49840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$0,366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863072" y="2505456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$0,408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907791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Полиця 129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13648" y="3049523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129 грн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49840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863072" y="2926079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$0,535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3328415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Паритет Bibigo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13648" y="3470147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162 грн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49840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$0,602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63072" y="3346703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$0,672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13648" y="3749039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303A5D"/>
                </a:solidFill>
                <a:latin typeface="Segoe UI"/>
              </a:rPr>
              <a:t>Ottogi −22 %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13648" y="3890772"/>
            <a:ext cx="148132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199 грн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9840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1">
                <a:solidFill>
                  <a:srgbClr val="1C2235"/>
                </a:solidFill>
                <a:latin typeface="Segoe UI"/>
              </a:rPr>
              <a:t>$0,740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63072" y="3767327"/>
            <a:ext cx="713232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50" b="0">
                <a:solidFill>
                  <a:srgbClr val="717890"/>
                </a:solidFill>
                <a:latin typeface="Segoe UI"/>
              </a:rPr>
              <a:t>$0,826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430768" y="4434840"/>
            <a:ext cx="3200400" cy="1719072"/>
          </a:xfrm>
          <a:prstGeom prst="roundRect">
            <a:avLst>
              <a:gd name="adj" fmla="val 6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430768" y="4434840"/>
            <a:ext cx="41148" cy="171907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668512" y="4590288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ФОРМУЛА ПЕРЕГОВОРІВ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68512" y="4855464"/>
            <a:ext cx="2743200" cy="11704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полиця = FOB × 268,9  (20′ FCL)
полиця = FOB × 241,1  (40′ FCL)
Кожні $0,10 зниження FOB знімають 27 грн з полиці.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Перехідний коефіцієнт FOB → собівартість (1,7074 для 20′ FCL і 1,5306 для 40′ FCL) виведено з даних RTE_Rice_Suppliers для BSCM Jasmine 240 г і перевірено на решті BSCM і CM Premium. FOB ONE'S у пропозиції не вказаний — $1,238 і $0,571 це ОЦІНКА за тим самим коефіцієнтом.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АУДИТ ФІНМОДЕЛІ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Чотири припущення, які треба закрити до переговорів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Модель арифметично коректна. Ризики — у вхідних даних і в трактуванні податків.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41148" cy="2139696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C94F7C"/>
                </a:solidFill>
                <a:latin typeface="Segoe UI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ПДВ, ймовірно, задвоєно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Собівартість містить імпортний ПДВ 20 % (RTE_Rice_Suppliers), а ціна партнера в моделі «вже з ПДВ». Для платника ПДВ імпортний податок — податковий кредит, а не витрата.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ЯКЩО ПІДТВЕРДИТЬСЯ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СС падає на 16,7 %, полиця BSCM пауч 240 г: 157 → 131 грн, стакан 150 г: 139 → 116 грн. Це змінює весь висновок щодо пауча.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1572768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17920" y="1572768"/>
            <a:ext cx="41148" cy="2139696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55664" y="1719072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F9A50B"/>
                </a:solidFill>
                <a:latin typeface="Segoe UI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174650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«Маржа 35 %» — не прибуток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55664" y="2075688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моделі маржа = (ціна партнера − СС − бонус) / ціна партнера. У ній немає нашого ФОП, маркетингу, вхідних бонусів мережі, внутрішньої логістики, списань і прострочення.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5664" y="2871215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55664" y="297180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ЩО ЗРОБИТИ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55664" y="315468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Додати рядок операційних витрат. Поки його немає, 35 % не можна називати рентабельністю — це валова націнка.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3904487"/>
            <a:ext cx="41148" cy="2139696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4672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5D4B96"/>
                </a:solidFill>
                <a:latin typeface="Segoe UI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15568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Ставка мита не підтверджена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У СС закладено мито 10 %. Дослідження ринку вказує 0 % для CN 1904 90 10 з ЄС. Для Таїланду й Кореї діє інша ставка, джерело в моделі не зазначено.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04672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2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ЩО ЗРОБИТИ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Отримати письмову тарифну класифікацію за УКТЗЕД 1904 90 10 до підписання контракту. Похибка в 10 % — це 27 грн на полиці.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217920" y="3904487"/>
            <a:ext cx="5413248" cy="2139696"/>
          </a:xfrm>
          <a:prstGeom prst="roundRect">
            <a:avLst>
              <a:gd name="adj" fmla="val 5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17920" y="3904487"/>
            <a:ext cx="41148" cy="2139696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455664" y="4050791"/>
            <a:ext cx="2743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E9EA6"/>
                </a:solidFill>
                <a:latin typeface="Segoe UI"/>
              </a:rPr>
              <a:t>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66559" y="4078224"/>
            <a:ext cx="45720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Бонус мережі 25 % — гіпотеза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55664" y="4407407"/>
            <a:ext cx="4956048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Ставка 25 % взята з прикладу по локшині. Реальні умови «Сільпо» для нової імпортної категорії без історії продажів можуть бути вищими, плюс вхідний бонус і плата за лістинг.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455664" y="5202936"/>
            <a:ext cx="4956048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55664" y="5303520"/>
            <a:ext cx="4956048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ЩО ЗРОБИТИ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5664" y="5486400"/>
            <a:ext cx="4956048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80" b="0">
                <a:solidFill>
                  <a:srgbClr val="303A5D"/>
                </a:solidFill>
                <a:latin typeface="Segoe UI"/>
              </a:rPr>
              <a:t>Запросити комерційні умови до розрахунку цін. За бонусу 30 % полиця зростає на 17 % при тій самій маржі.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Пункт 1 — ГІПОТЕЗА, що потребує підтвердження бухгалтером: залежить від статусу платника ПДВ і від того, як ПДВ ураховано в аркушах Self_Cost. Пункти 2–4 — прямі спостереження за вмістом моделі й супровідних файлів.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· ФОРМАТ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Що заводити: азійський стакан як герой лінійки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Три кандидати, оцінені за конкурентною позицією, а не за собівартістю.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FF8EC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РЕКОМЕНДУЄМО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СТАКАН 150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1E9EA6"/>
                </a:solidFill>
                <a:latin typeface="Segoe UI"/>
              </a:rPr>
              <a:t>139 грн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93 грн/100 г  ·  полиця за фінмоделлю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Ottogi 225–356 грн · Henan 83–156 грн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−45 % до медіани Ottogi (255 грн)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КАНАЛ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20 азійських фудшопів уже продають цю полицю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РИЗИК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Henan дешевший: 83 грн за 144 г. Але це сухий рис під окріп, не готова страва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6384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Єдина наша позиція, що входить у нішу дешевше за діючого лідера. Азійський формат, азійський канал, зрозуміле порівняння для покупця.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ДРУГИЙ ПРІОРИТЕТ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ONE'S · ЛОТОК 210 Г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53712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5D4B96"/>
                </a:solidFill>
                <a:latin typeface="Segoe UI"/>
              </a:rPr>
              <a:t>153 грн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53712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73 грн/100 г  ·  полиця за фінмоделлю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53712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Bibigo 210 г · 135–189 грн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НАША ПЕРЕВАГА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Той самий грамаж, ціна в середині діапазону конкурента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КАНАЛ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Смак Кореї · Rozetka · Prom — де вже стоїть Bibigo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РИЗИК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53712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53712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Найточніше зіставлення в усій лінійці: та сама вага, та сама країна, той самий канал. Заходимо рівно по центру ціни конкурента.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700" b="1">
                <a:solidFill>
                  <a:srgbClr val="FFFFFF"/>
                </a:solidFill>
                <a:latin typeface="Segoe UI"/>
              </a:rPr>
              <a:t>НЕ ЗАВОДИТИ ЗАРАЗ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21040" y="1938528"/>
            <a:ext cx="3099816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>
                <a:solidFill>
                  <a:srgbClr val="1C2235"/>
                </a:solidFill>
                <a:latin typeface="Segoe UI"/>
              </a:rPr>
              <a:t>BSCM · ПАУЧ 240 Г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21040" y="2249424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700" b="1">
                <a:solidFill>
                  <a:srgbClr val="C94F7C"/>
                </a:solidFill>
                <a:latin typeface="Segoe UI"/>
              </a:rPr>
              <a:t>157 грн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21040" y="257860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0">
                <a:solidFill>
                  <a:srgbClr val="717890"/>
                </a:solidFill>
                <a:latin typeface="Segoe UI"/>
              </a:rPr>
              <a:t>65 грн/100 г  ·  полиця за фінмоделлю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321040" y="2889504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ПРЯМИЙ КОНКУРЕНТ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21040" y="304495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Ben's Original 45–179 грн, медіана 90 грн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21040" y="3547872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НАША ПОЗИЦІЯ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321040" y="3703320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+74 % до медіани Ben's, 88-й перцентиль його діапазону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321040" y="42062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ПРОБЛЕМА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4361688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Mars має заводи в ЄС, нульове мито і 13 SKU в «Сільпо»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4864607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C94F7C"/>
                </a:solidFill>
                <a:latin typeface="Segoe UI"/>
              </a:rPr>
              <a:t>УМОВА ВХОДУ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5020055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FOB ≤ $0,405 або підтвердження гіпотези щодо ПДВ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321040" y="5541264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321040" y="5641848"/>
            <a:ext cx="3099816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Формат правильний — вага збігається з лідером. Але ціновий розрив проти Mars не закривається за поточного FOB.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Ціни — полиця за поточною фінмоделлю (20′ FCL навалом, курс 45, бонус 25 %, маржа 35 %, націнка 1,40). Ринкові ціни конкурентів — роздріб за одну упаковку, 22–23.09.2026.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· ЦІНА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Цільова полиця і що для неї потрібно від постачальника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Три цінові сценарії на герой-SKU. Рекомендований — середній.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АГРЕСИВНИЙ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119 грн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$0,443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95728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95728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−11 %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Нижче Henan-медіани (140 грн), −53 % до Ottogi. Бере полицю ціною, але вбиває маржу при будь-якому зростанні курсу.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Ризик: немає запасу на бонус вище 25 %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34256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0F9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53712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1E9EA6"/>
                </a:solidFill>
                <a:latin typeface="Segoe UI"/>
              </a:rPr>
              <a:t>РЕКОМЕНДОВАНО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3712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E9EA6"/>
                </a:solidFill>
                <a:latin typeface="Segoe UI"/>
              </a:rPr>
              <a:t>129 грн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53712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53712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63056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−4 %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53712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−49 % до медіани Ottogi, −8 % до медіани Henan, у верхній частині вікна мережевої полиці. Зберігає цільову маржу 35 % і залишає простір на промо.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3712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1E9EA6"/>
                </a:solidFill>
                <a:latin typeface="Segoe UI"/>
              </a:rPr>
              <a:t>Потрібно від BSCM: FOB $0,480 замість $0,500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01583" y="1517904"/>
            <a:ext cx="3538728" cy="2487168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1700784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9FA9C4"/>
                </a:solidFill>
                <a:latin typeface="Segoe UI"/>
              </a:rPr>
              <a:t>КОМФОРТНИЙ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1920240"/>
            <a:ext cx="3099816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1">
                <a:solidFill>
                  <a:srgbClr val="1C2235"/>
                </a:solidFill>
                <a:latin typeface="Segoe UI"/>
              </a:rPr>
              <a:t>139 грн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21040" y="2450592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717890"/>
                </a:solidFill>
                <a:latin typeface="Segoe UI"/>
              </a:rPr>
              <a:t>полиця з ПДВ · стакан BSCM 150 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21040" y="2697480"/>
            <a:ext cx="15544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21040" y="2862072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$0,500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930384" y="2697480"/>
            <a:ext cx="14630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717890"/>
                </a:solidFill>
                <a:latin typeface="Segoe UI"/>
              </a:rPr>
              <a:t>ДО ПОТОЧНОГО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930384" y="2862072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0 %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200400"/>
            <a:ext cx="3099816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740" b="0">
                <a:solidFill>
                  <a:srgbClr val="303A5D"/>
                </a:solidFill>
                <a:latin typeface="Segoe UI"/>
              </a:rPr>
              <a:t>Поточний FOB без переговорів. Усе ще −45 % до Ottogi, але дорожче за медіану Henan і на рівні її верхньої межі.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21040" y="3785615"/>
            <a:ext cx="3099816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9FA9C4"/>
                </a:solidFill>
                <a:latin typeface="Segoe UI"/>
              </a:rPr>
              <a:t>Працює лише в азійському каналі, не в мережі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6928" y="4242816"/>
            <a:ext cx="107899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АРХІТЕКТУРА ЦІН ПО ВСІЙ ЛІНІЙЦІ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4535424"/>
            <a:ext cx="10789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00" b="0">
                <a:solidFill>
                  <a:srgbClr val="1C2235"/>
                </a:solidFill>
                <a:latin typeface="Segoe UI"/>
              </a:rPr>
              <a:t/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66928" y="4535424"/>
            <a:ext cx="278892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ТОВАРНА ГРУПА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55848" y="4535424"/>
            <a:ext cx="214884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РОЛЬ У ЛІНІЙЦІ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504688" y="4535424"/>
            <a:ext cx="129844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ПОЛИЦЯ ЗАРАЗ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803136" y="4535424"/>
            <a:ext cx="138988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ЦІЛЬОВА ПОЛИЦЯ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193023" y="4535424"/>
            <a:ext cx="117043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ПОТРІБЕН FOB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363455" y="4535424"/>
            <a:ext cx="1993392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80" b="1">
                <a:solidFill>
                  <a:srgbClr val="717890"/>
                </a:solidFill>
                <a:latin typeface="Segoe UI"/>
              </a:rPr>
              <a:t>ОРІЄНТИР НА ПОЛИЦІ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66928" y="4773168"/>
            <a:ext cx="10789920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66928" y="4846320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стакан 150 г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55848" y="4846320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1E9EA6"/>
                </a:solidFill>
                <a:latin typeface="Segoe UI"/>
              </a:rPr>
              <a:t>Герой · азійський формат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504688" y="4846320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139 грн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803136" y="4846320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93023" y="4846320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63455" y="4846320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255 · Henan 140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93776" y="4999024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66928" y="5040172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лоток 210 г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355848" y="5040172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5D4B96"/>
                </a:solidFill>
                <a:latin typeface="Segoe UI"/>
              </a:rPr>
              <a:t>Другий герой · Корея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504688" y="5040172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153 грн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803136" y="5040172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155 грн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193023" y="5040172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~$0,577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63455" y="5040172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Bibigo 135–189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66928" y="5234025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200 г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3355848" y="5234025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Об'єм · вхід у ціну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504688" y="5234025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150 грн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803136" y="5234025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129 грн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193023" y="5234025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$0,480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363455" y="5234025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пауч-медіана 109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493776" y="5386730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66928" y="5427878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пауч 240 г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355848" y="5427878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4820A"/>
                </a:solidFill>
                <a:latin typeface="Segoe UI"/>
              </a:rPr>
              <a:t>Мережа · 2-га хвиля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504688" y="5427878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157 грн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803136" y="5427878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109 грн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93023" y="5427878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$0,405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363455" y="5427878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Ben's медіана 90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566928" y="5621731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CM Premium 250 г органік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3355848" y="5621731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37A169"/>
                </a:solidFill>
                <a:latin typeface="Segoe UI"/>
              </a:rPr>
              <a:t>Преміум · нішa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504688" y="5621731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178 грн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803136" y="5621731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178 грн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93023" y="5621731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$0,667 — без змін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363455" y="5621731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Clearspring 252–446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493776" y="5774435"/>
            <a:ext cx="10936224" cy="193852"/>
          </a:xfrm>
          <a:prstGeom prst="roundRect">
            <a:avLst>
              <a:gd name="adj" fmla="val 18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566928" y="5815583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ONE'S Fried Rice 200 г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3355848" y="5815583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C94F7C"/>
                </a:solidFill>
                <a:latin typeface="Segoe UI"/>
              </a:rPr>
              <a:t>Переглянути або зняти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5504688" y="5815583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332 грн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803136" y="5815583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199 грн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8193023" y="5815583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C94F7C"/>
                </a:solidFill>
                <a:latin typeface="Segoe UI"/>
              </a:rPr>
              <a:t>~$0,740 (−40 %)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9363455" y="5815583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Ottogi 225–356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66928" y="6009436"/>
            <a:ext cx="278892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BSCM подвійний стакан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355848" y="6009436"/>
            <a:ext cx="2148840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Private label · пізніше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504688" y="6009436"/>
            <a:ext cx="129844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219 грн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6803136" y="6009436"/>
            <a:ext cx="1389888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179 грн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193023" y="6009436"/>
            <a:ext cx="117043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1">
                <a:solidFill>
                  <a:srgbClr val="1C2235"/>
                </a:solidFill>
                <a:latin typeface="Segoe UI"/>
              </a:rPr>
              <a:t>$0,666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9363455" y="6009436"/>
            <a:ext cx="1993392" cy="1938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10" b="0">
                <a:solidFill>
                  <a:srgbClr val="717890"/>
                </a:solidFill>
                <a:latin typeface="Segoe UI"/>
              </a:rPr>
              <a:t>верх вікна полиці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Цільова полиця — наша рекомендація. Потрібний FOB розрахований за формулою полиця = FOB × 268,9 (20′ FCL). FOB для ONE'S — оцінка, постачальник його не розкрив. Перехід на 40′ FCL знижує потрібний FOB на ~10 %.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РЕКОМЕНДАЦІЯ · ПОСТАЧАЛЬНИК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Хто дає найкращий формат і на яку ціну тиснути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Три постачальники в обоймі, оцінені за форматом, гнучкістю та ціновою ефективністю.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 w="17780">
            <a:solidFill>
              <a:srgbClr val="1E9E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17904"/>
            <a:ext cx="3538728" cy="27432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ОСНОВНИЙ ПОСТАЧАЛЬНИК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BSCM FOODS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Бангкок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ФОРМАТИ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240 · спецвиробництво 150/200 · стакан 150 · подвійний стакан 2×125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Єдиний, хто робить стакан — формат, яким ми б'ємо Ottogi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6384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18 місяців за кімнатної температури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22000 · GMP · Organic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6384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FOB-ДІАПАЗОН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$0,472 – $0,750 залежно від SKU і ваги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1E9EA6"/>
                </a:solidFill>
                <a:latin typeface="Segoe UI"/>
              </a:rPr>
              <a:t>PRIVATE LABEL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Так — подвійний стакан, кейс мережі SPAR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86384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6384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1E9EA6"/>
                </a:solidFill>
                <a:latin typeface="Segoe UI"/>
              </a:rPr>
              <a:t>ЦІЛЬОВИЙ FOB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Стакан 150 г: $0,480 замість $0,500 (−4 %).
Пауч 240 г: $0,405 замість $0,583 (−31 %) — якщо йдемо в мережу.
Обов'язково: перехід на 40′ FCL дає ще −12 % до собівартості.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4256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34256" y="1517904"/>
            <a:ext cx="3538728" cy="27432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6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ТОЧКОВО, ПІД BIBIGO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53712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ONE'S INTERNATIONAL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53712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Корея · Гурі-сі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53712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ФОРМАТИ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53712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Лоток 200 г (fried rice) · лоток 210 г (білий рис)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53712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53712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Корейське походження — премія в азійському каналі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53712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ТЕРМІН ПРИДАТНОСТІ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53712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 місяців — найкоротший з трьох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53712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HACCP · FSSC 22000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53712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FOB-ДІАПАЗОН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53712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Не розкрито. Оцінка з СС: ~$0,571 і ~$1,238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53712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5D4B96"/>
                </a:solidFill>
                <a:latin typeface="Segoe UI"/>
              </a:rPr>
              <a:t>УМОВИ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53712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MOQ 200 коробів на SKU · передоплата 100 % T/T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53712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53712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5D4B96"/>
                </a:solidFill>
                <a:latin typeface="Segoe UI"/>
              </a:rPr>
              <a:t>ЦІЛЬОВИЙ FOB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53712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Cooked White Rice 210 г: брати як є — б'є Bibigo.
Fried Rice 200 г: потрібен FOB ≈ $0,740 (−40 % до оцінки).
Першим кроком — вимагати розкриття FOB по кожному SKU.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101583" y="1517904"/>
            <a:ext cx="3538728" cy="461772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101583" y="1517904"/>
            <a:ext cx="3538728" cy="27432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101583" y="1568196"/>
            <a:ext cx="3538728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660" b="1">
                <a:solidFill>
                  <a:srgbClr val="FFFFFF"/>
                </a:solidFill>
                <a:latin typeface="Segoe UI"/>
              </a:rPr>
              <a:t>НІШЕВИЙ ПРЕМІУМ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21040" y="1938528"/>
            <a:ext cx="3099816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>
                <a:solidFill>
                  <a:srgbClr val="1C2235"/>
                </a:solidFill>
                <a:latin typeface="Segoe UI"/>
              </a:rPr>
              <a:t>CM PREMIUM RICE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321040" y="2212848"/>
            <a:ext cx="3099816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0">
                <a:solidFill>
                  <a:srgbClr val="717890"/>
                </a:solidFill>
                <a:latin typeface="Segoe UI"/>
              </a:rPr>
              <a:t>Таїланд · Nakhon Ratchasima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321040" y="248716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ФОРМАТИ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21040" y="263347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Пауч 250 г органік · 24 шт у коробі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21040" y="2985516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УНІКАЛЬНА ПЕРЕВАГА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321040" y="3131820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Сертифікована органіка — інша полиця, інший покупець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321040" y="3483864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ПОТУЖНІСТЬ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321040" y="3630168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120 000 т/рік · 30+ партнерських рисозаводів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321040" y="3982212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СЕРТИФІКАЦІЯ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321040" y="4128516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BRC · HACCP · ISO 9001 · Halal · Organic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321040" y="4480560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FOB-ДІАПАЗОН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321040" y="4626864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$0,667 — однаковий на всі 4 SKU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321040" y="4978908"/>
            <a:ext cx="3099816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20" b="1">
                <a:solidFill>
                  <a:srgbClr val="37A169"/>
                </a:solidFill>
                <a:latin typeface="Segoe UI"/>
              </a:rPr>
              <a:t>ОБМЕЖЕННЯ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321040" y="5125212"/>
            <a:ext cx="3099816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20" b="0">
                <a:solidFill>
                  <a:srgbClr val="303A5D"/>
                </a:solidFill>
                <a:latin typeface="Segoe UI"/>
              </a:rPr>
              <a:t>Один формат. Гнучкості за вагою немає</a:t>
            </a:r>
          </a:p>
        </p:txBody>
      </p:sp>
      <p:sp>
        <p:nvSpPr>
          <p:cNvPr id="65" name="Rectangle 64"/>
          <p:cNvSpPr/>
          <p:nvPr/>
        </p:nvSpPr>
        <p:spPr>
          <a:xfrm>
            <a:off x="8321040" y="5486400"/>
            <a:ext cx="3099816" cy="10972"/>
          </a:xfrm>
          <a:prstGeom prst="rect">
            <a:avLst/>
          </a:prstGeom>
          <a:solidFill>
            <a:srgbClr val="D5DB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321040" y="5577840"/>
            <a:ext cx="309981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30" b="1">
                <a:solidFill>
                  <a:srgbClr val="37A169"/>
                </a:solidFill>
                <a:latin typeface="Segoe UI"/>
              </a:rPr>
              <a:t>ЦІЛЬОВИЙ FOB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321040" y="5742432"/>
            <a:ext cx="3099816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710" b="0">
                <a:solidFill>
                  <a:srgbClr val="303A5D"/>
                </a:solidFill>
                <a:latin typeface="Segoe UI"/>
              </a:rPr>
              <a:t>Тиснути не треба: 178 грн проти Clearspring 252–446 грн — ми вже вдвічі дешевші за єдиного органічного конкурента.
Ризик — не ціна, а обсяг: органіка в Україні це мала полиця.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6355080"/>
            <a:ext cx="110642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Профілі — за RTE_Rice_Suppliers.pptx. FOB BSCM і CM Premium — з комерційних пропозицій. FOB ONE'S у пропозиції відсутній: значення виведено з собівартості за коефіцієнтом 1,7074 і є ОЦІНКОЮ, не фактом.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384048"/>
            <a:ext cx="8686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1">
                <a:solidFill>
                  <a:srgbClr val="F9A50B"/>
                </a:solidFill>
                <a:latin typeface="Segoe UI"/>
              </a:rPr>
              <a:t>ПЛАН ДІЙ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640080"/>
            <a:ext cx="96926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100" b="1">
                <a:solidFill>
                  <a:srgbClr val="1C2235"/>
                </a:solidFill>
                <a:latin typeface="Segoe UI"/>
              </a:rPr>
              <a:t>Що робити далі — і в якому порядку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36576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700" b="1">
                <a:solidFill>
                  <a:srgbClr val="E2E8F3"/>
                </a:solidFill>
                <a:latin typeface="Segoe UI"/>
              </a:rPr>
              <a:t>14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188720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>
                <a:solidFill>
                  <a:srgbClr val="717890"/>
                </a:solidFill>
                <a:latin typeface="Segoe UI"/>
              </a:rPr>
              <a:t>Послідовність від найдешевшого кроку до найдорожчого рішення.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66928" y="1572768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Закрити питання ПДВ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1–2 ДНІ · БУХГАЛТЕР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Перевірити, чи імпортний ПДВ 20 % у Self_Cost — податковий кредит. Якщо так — перерахувати всю модель. Це найдешевша дія з найбільшим впливом: −16,7 % собівартості.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572768"/>
            <a:ext cx="41148" cy="2011680"/>
          </a:xfrm>
          <a:prstGeom prst="rect">
            <a:avLst/>
          </a:prstGeom>
          <a:solidFill>
            <a:srgbClr val="5D4B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0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5D4B96"/>
                </a:solidFill>
                <a:latin typeface="Segoe U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Підтвердити мито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5D4B96"/>
                </a:solidFill>
                <a:latin typeface="Segoe UI"/>
              </a:rPr>
              <a:t>3–5 ДНІВ · МИТНИЙ БРОКЕР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0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Письмова тарифна класифікація за УКТЗЕД 1904 90 10 для Таїланду й Кореї. У моделі 10 %, у дослідженні ринку для ЄС — 0 %. Різниця — 27 грн на полиці.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01583" y="1572768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01583" y="1572768"/>
            <a:ext cx="41148" cy="2011680"/>
          </a:xfrm>
          <a:prstGeom prst="rect">
            <a:avLst/>
          </a:prstGeom>
          <a:solidFill>
            <a:srgbClr val="1E9E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7" y="1737360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1E9EA6"/>
                </a:solidFill>
                <a:latin typeface="Segoe U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7" y="2084832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Запит FOB у ONE'S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7" y="2359152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1E9EA6"/>
                </a:solidFill>
                <a:latin typeface="Segoe UI"/>
              </a:rPr>
              <a:t>1 ТИЖДЕНЬ · ЗАКУПІВЛЯ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39327" y="2578608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Вимагати FOB по кожному SKU окремо. Без цього Fried Rice 200 г неможливо оцінити: за оцінкою він на 40 % дорожчий за ринок.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66928" y="3785615"/>
            <a:ext cx="41148" cy="201168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4672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F9A50B"/>
                </a:solidFill>
                <a:latin typeface="Segoe U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4672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Переговори з BSCM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4672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F9A50B"/>
                </a:solidFill>
                <a:latin typeface="Segoe UI"/>
              </a:rPr>
              <a:t>2–3 ТИЖНІ · ЗАКУПІВЛЯ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Ціль: стакан 150 г за FOB $0,480 і розрахунок під 40′ FCL. Аргумент — обсяг по двох форматах одразу (стакан + пауч 200 г).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334256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334256" y="3785615"/>
            <a:ext cx="41148" cy="2011680"/>
          </a:xfrm>
          <a:prstGeom prst="rect">
            <a:avLst/>
          </a:prstGeom>
          <a:solidFill>
            <a:srgbClr val="37A1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37A169"/>
                </a:solidFill>
                <a:latin typeface="Segoe U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0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Тест в азійському каналі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0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37A169"/>
                </a:solidFill>
                <a:latin typeface="Segoe UI"/>
              </a:rPr>
              <a:t>1–2 МІСЯЦІ · ПРОДАЖІ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Завести стакан 150 г у 3–5 фудшопів (Смак Кореї, Апетітаріум, Gurmissimo, OMG! Asia, Скарби Азії). Зібрати реальну оборотність до розмови з мережею.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101583" y="3785615"/>
            <a:ext cx="3538728" cy="2011680"/>
          </a:xfrm>
          <a:prstGeom prst="roundRect">
            <a:avLst>
              <a:gd name="adj" fmla="val 4000"/>
            </a:avLst>
          </a:prstGeom>
          <a:solidFill>
            <a:srgbClr val="F1F4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101583" y="3785615"/>
            <a:ext cx="41148" cy="2011680"/>
          </a:xfrm>
          <a:prstGeom prst="rect">
            <a:avLst/>
          </a:prstGeom>
          <a:solidFill>
            <a:srgbClr val="C94F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339327" y="3950207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>
                <a:solidFill>
                  <a:srgbClr val="C94F7C"/>
                </a:solidFill>
                <a:latin typeface="Segoe UI"/>
              </a:rPr>
              <a:t>06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39327" y="4297679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1">
                <a:solidFill>
                  <a:srgbClr val="1C2235"/>
                </a:solidFill>
                <a:latin typeface="Segoe UI"/>
              </a:rPr>
              <a:t>Розмова з «Сільпо»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39327" y="4572000"/>
            <a:ext cx="306324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1">
                <a:solidFill>
                  <a:srgbClr val="C94F7C"/>
                </a:solidFill>
                <a:latin typeface="Segoe UI"/>
              </a:rPr>
              <a:t>ПІСЛЯ КРОКУ 05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39327" y="4791456"/>
            <a:ext cx="3063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750" b="0">
                <a:solidFill>
                  <a:srgbClr val="303A5D"/>
                </a:solidFill>
                <a:latin typeface="Segoe UI"/>
              </a:rPr>
              <a:t>Тільки з даними про оборотність і тільки після закриття кроків 01–02. Без них пауч 240 г за 157 грн проти Ben's за 90 грн не проходить категорійний комітет.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" y="5943600"/>
            <a:ext cx="10789920" cy="548640"/>
          </a:xfrm>
          <a:prstGeom prst="roundRect">
            <a:avLst>
              <a:gd name="adj" fmla="val 5000"/>
            </a:avLst>
          </a:prstGeom>
          <a:solidFill>
            <a:srgbClr val="FFF8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66928" y="5943600"/>
            <a:ext cx="41148" cy="548640"/>
          </a:xfrm>
          <a:prstGeom prst="rect">
            <a:avLst/>
          </a:prstGeom>
          <a:solidFill>
            <a:srgbClr val="F9A5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2" y="6053328"/>
            <a:ext cx="960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700" b="1">
                <a:solidFill>
                  <a:srgbClr val="F9A50B"/>
                </a:solidFill>
                <a:latin typeface="Segoe UI"/>
              </a:rPr>
              <a:t>ГОЛОВНЕ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874519" y="6035040"/>
            <a:ext cx="93268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800" b="0">
                <a:solidFill>
                  <a:srgbClr val="303A5D"/>
                </a:solidFill>
                <a:latin typeface="Segoe UI"/>
              </a:rPr>
              <a:t>Кроки 01 і 02 коштують тиждень і не потребують нікого, крім бухгалтера й брокера — але саме вони вирішують, чи має сенс розмова про пауч у мережі.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583680"/>
            <a:ext cx="11064240" cy="24688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650" b="0">
                <a:solidFill>
                  <a:srgbClr val="9FA9C4"/>
                </a:solidFill>
                <a:latin typeface="Segoe UI"/>
              </a:rPr>
              <a:t>Джерела: Eurostat Comext (CN 1904 90 10), 17 мереж zakaz.ua, «Сільпо», Prom, Rozetka, MAUDAU, спеціалізовані фудшопи — 22–23.09.2026 · RICE_PRICING_Slelf_.xlsx · RTE_Rice_Suppliers.pptx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