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2" r:id="rId38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4 — 68–85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144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Таврія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129 г · Ашан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103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 г · Ашан · Зараз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4 — 88–98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124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Таврія 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Ашан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4 — 104–117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135 г · Ашан · Grono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Клас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4 з 4 — 118–205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ЧудоМаркет · Космос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Клас · Onde · Восторг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123 г · Ашан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138 г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136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Зараз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Клас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Космос · Таврія 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145 г · Ашан · ЧудоМаркет · Кос…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ЧудоМаркет · Кос…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Космос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Ашан · ЧудоМаркет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Восторг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заливається окропом, без плити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Grono · Клас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Ашан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Клас · Таврія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75 г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 в ₴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ЦІНА ПАЧКИ, ₴: мін.–макс. (лінія) · медіана (мітка)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717890"/>
                </a:solidFill>
                <a:latin typeface="Segoe UI"/>
              </a:rPr>
              <a:t>МегаМаркет · Ultramarket · ЕКО · Епіцентр · «Ідеал» — 0 позицій у зрізі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 і наша поточна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 · ціна пачки, ₴ · смуги — наша поточна полиця у двох варіантах закупівлі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29.09.2026, медіана ціни позиції в мережі. Фудшопи й Prom.ua: сторінки категорій, жовтень 2026, без наборів дорожче 250 ₴. Смуги: Vegetable/Spicy/Beef/Chicken (нижня межа) і Gouda/Carbonara (верхня межа) за фінмоделлю, бонус мережі 35 %.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Мережі — 89 SKU корейського рамену (пакети й стакани); фудшопи й Prom.ua — рамен зі сторінок категорій, без наборів. Числа в смугах — % пропозицій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ЯКІ БРЕНДИ (ПОЗИЦІЙ)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28 · інші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унікальні позиції (EAN) за медіанною ціною в мережі, 29.09.2026; «Сільпо» — 4 позиції. Фудшопи й Prom.ua — сторінки категорій, жовтень 2026 (бренд визначено за назвою; «інші» — не корейські або без бренду).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БОНУС МЕРЕЖІ 35 %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C4820A"/>
                </a:solidFill>
                <a:latin typeface="Segoe UI"/>
              </a:rPr>
              <a:t>смуга: ціль 120 → зараз 33 палети → 6 палет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₴ · до 120 ₴ включно: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141 ₴  ·  6 палет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₴ · до 120 ₴ включно: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₴ · до 120 ₴ включно: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₴. SIAS: поточна полиця за фінмоделлю, бонус мережі 35 %.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108 ₴  (−39 %) · Ашан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93 ₴  (−36 %) · «Торба»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74 ₴  (−23 %) · Ашан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112 ₴  (−23 %) · Ашан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мережами, тому акцій насправді більше. Смуги — наша поточна полиця: Vegetable/Spicy/Beef/Chicken (нижня межа) і Gouda/Carbonara (верхня).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33 ПАЛЕТИ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33 палети: закупівля €0,65–0,75 → €0,54,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140,55 / 162,18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+17…35 %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€0,54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−17 % / −28 %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мережі 35 % · СС 38,53 ₴ · запас 0,14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від собівартості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Залишається нам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витрати та маржа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100,40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35,14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20,08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115,84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23,17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46,34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27,65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85,62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17,12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34,25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−6,65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−14,78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−2,96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−20,69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мережі 35 % − наша частка 20 %), полиця = ціна партнеру × 1,40; усі ціни з ПДВ, за пачку. Собівартість «до» — з Self-Cost; «після» — за запитом €0,54. Джерело: RAMEN_FINMODEL_4_TABS, вкладка «Цена 120 грн — 33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6 ПАЛЕТ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6 палет: закупівля €0,65–0,75 → €0,32,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180,64 / 208,43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+51…74 %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€0,32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−51 % / −57 %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бонус мережі 35 % · СС 38,16 ₴ · запас 1,28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від собівартості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Залишається нам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витрати та маржа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58,06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129,03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51,61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67,00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148,88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59,55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€4,071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84,80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29,68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−16,90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−19,90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−44,23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−15,48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−8,85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−17,69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−61,92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−€1,209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мережі 35 % − наша частка 20 %), полиця = ціна партнеру × 1,40; усі ціни з ПДВ, за пачку. Собівартість «до» — з Self-Cost; «після» — за запитом €0,32. Джерело: RAMEN_FINMODEL_4_TABS, вкладка «Цена 120 грн — 6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нашій частці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при бонусі мережі 35 %.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НАМ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НАМ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бонус мережі 35 %, частка «залишається нам»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вкладок «Цена 120 грн» (курс 51,20; бонус 35 %;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СОБІВАРТІСТЬ · БЛОКИ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 чого складається собівартість 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₴ на пачку: закупівля у SIAS + доставка + імпортний ПДВ + фінансування = собівартість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572768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10512"/>
            <a:ext cx="1481328" cy="43891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у SIAS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BBE1E4"/>
                </a:solidFill>
                <a:latin typeface="Segoe UI"/>
              </a:rPr>
              <a:t>ціна пачки × курс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1810512"/>
            <a:ext cx="1481328" cy="438912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Доставка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C7CBD9"/>
                </a:solidFill>
                <a:latin typeface="Segoe UI"/>
              </a:rPr>
              <a:t>фрахт, брокер, термінал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810512"/>
            <a:ext cx="1481328" cy="4389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EDD9B5"/>
                </a:solidFill>
                <a:latin typeface="Segoe UI"/>
              </a:rPr>
              <a:t>20 % з товару й фрахту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73568" y="1810512"/>
            <a:ext cx="1481328" cy="438912"/>
          </a:xfrm>
          <a:prstGeom prst="rect">
            <a:avLst/>
          </a:prstGeom>
          <a:solidFill>
            <a:srgbClr val="5B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Фінансування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CDC9E0"/>
                </a:solidFill>
                <a:latin typeface="Segoe UI"/>
              </a:rPr>
              <a:t>2,5 % від суми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1920240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=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56064" y="1810512"/>
            <a:ext cx="1481328" cy="4389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865376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066543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304288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2359152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2569464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Vegetable, Spicy, Beef, Chicken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926080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0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576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08576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08576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6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3,67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91072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91072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91072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7,13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€0,139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73568" y="2304288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73568" y="2304288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73568" y="273405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1,10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8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€0,022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56064" y="2304288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6064" y="2340864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45,18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2587752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2779776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28346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3044952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Gouda, Carbonara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926080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926080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26080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26080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08576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608576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08576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08576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4,23 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08576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€0,083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91072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91072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91072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91072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8,22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€0,161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73568" y="27797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973568" y="27797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73568" y="32095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73568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1,27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73568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€0,025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56064" y="2779776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56064" y="28163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52,13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56064" y="30632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3255264"/>
            <a:ext cx="2249424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331012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8368" y="3520440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усі 6 SKU · закупівля €0,54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926080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6080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27,65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926080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€0,540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08576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08576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3,91 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08576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€0,076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91072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91072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6,03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91072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73568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73568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0,94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73568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€0,018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656064" y="3255264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56064" y="32918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1E9EA6"/>
                </a:solidFill>
                <a:latin typeface="Segoe UI"/>
              </a:rPr>
              <a:t>38,53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56064" y="35387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€0,752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3877056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26080" y="4114800"/>
            <a:ext cx="1481328" cy="438912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962656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у SIAS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962656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BBE1E4"/>
                </a:solidFill>
                <a:latin typeface="Segoe UI"/>
              </a:rPr>
              <a:t>ціна пачки × курс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07408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608576" y="4114800"/>
            <a:ext cx="1481328" cy="438912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645152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Доставка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45152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C7CBD9"/>
                </a:solidFill>
                <a:latin typeface="Segoe UI"/>
              </a:rPr>
              <a:t>фрахт, брокер, термінал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9904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91072" y="4114800"/>
            <a:ext cx="1481328" cy="4389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27648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27648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EDD9B5"/>
                </a:solidFill>
                <a:latin typeface="Segoe UI"/>
              </a:rPr>
              <a:t>20 % з товару й фрахту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400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+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973568" y="4114800"/>
            <a:ext cx="1481328" cy="438912"/>
          </a:xfrm>
          <a:prstGeom prst="rect">
            <a:avLst/>
          </a:prstGeom>
          <a:solidFill>
            <a:srgbClr val="5B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010144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Фінансування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010144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CDC9E0"/>
                </a:solidFill>
                <a:latin typeface="Segoe UI"/>
              </a:rPr>
              <a:t>2,5 % від суми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54896" y="4224528"/>
            <a:ext cx="201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717890"/>
                </a:solidFill>
                <a:latin typeface="Segoe UI"/>
              </a:rPr>
              <a:t>=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656064" y="4114800"/>
            <a:ext cx="1481328" cy="4389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692640" y="4169663"/>
            <a:ext cx="1408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692640" y="4370832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928" y="4608576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8368" y="46634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4873752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Vegetable, Spicy, Beef,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926080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2926080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926080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926080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926080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08576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608576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608576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08576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14,86 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08576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€0,290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291072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291072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291072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291072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8,50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291072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€0,166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973568" y="4608576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973568" y="4608576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973568" y="503834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973568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1,42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973568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€0,028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656064" y="4608576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56064" y="4645152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58,06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56064" y="4892040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€1,134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66928" y="5084064"/>
            <a:ext cx="2249424" cy="43891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58368" y="513892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8368" y="5349240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Gouda, Carbonara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926080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926080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926080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926080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926080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08576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608576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608576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608576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17,15 ₴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08576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€0,335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291072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291072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291072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291072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9,81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91072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€0,192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973568" y="5084064"/>
            <a:ext cx="1481328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973568" y="5084064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973568" y="5513832"/>
            <a:ext cx="1481328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973568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1,63 ₴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973568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€0,032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9656064" y="5084064"/>
            <a:ext cx="1481328" cy="438912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656064" y="512064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303A5D"/>
                </a:solidFill>
                <a:latin typeface="Segoe UI"/>
              </a:rPr>
              <a:t>67,00 ₴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656064" y="5367528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€1,309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66928" y="5559552"/>
            <a:ext cx="2249424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58368" y="5614416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58368" y="5824728"/>
            <a:ext cx="21396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усі 6 SKU · закупівля €0,32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926080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926080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16,38 ₴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926080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€0,320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08576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608576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15,63 ₴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608576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€0,305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291072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291072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5,22 ₴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291072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€0,102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973568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973568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0,93 ₴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7973568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€0,018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656064" y="5559552"/>
            <a:ext cx="1481328" cy="438912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656064" y="5596128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spc="-10">
                <a:solidFill>
                  <a:srgbClr val="1E9EA6"/>
                </a:solidFill>
                <a:latin typeface="Segoe UI"/>
              </a:rPr>
              <a:t>38,16 ₴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656064" y="5843016"/>
            <a:ext cx="14813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€0,745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66928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Доставка — фрахт, брокер, термінал і сертифікація партії, у розрахунку на пачку; чим менша партія, тим дорожча доставка. Мито 0 %. ПДВ 20 % рахується з вартості товару й 70 % фрахту. Курс 51,20 ₴/€. «До» — за Self-Cost (логістика розподілена за вартістю), «після» — рівномірно на пачку.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3</cp:revision>
  <dcterms:created xsi:type="dcterms:W3CDTF">2013-01-27T09:14:16Z</dcterms:created>
  <dcterms:modified xsi:type="dcterms:W3CDTF">2026-10-13T12:43:07Z</dcterms:modified>
  <cp:category/>
</cp:coreProperties>
</file>