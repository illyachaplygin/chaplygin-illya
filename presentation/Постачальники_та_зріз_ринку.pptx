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69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BD0A5-9C7D-4B8A-AB5B-77EAF4C4F90C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94308-184B-4E6F-94F0-0A20C8C407D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8002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94308-184B-4E6F-94F0-0A20C8C407D6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02266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94308-184B-4E6F-94F0-0A20C8C407D6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2700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94308-184B-4E6F-94F0-0A20C8C407D6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35349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2286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2286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2286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86384"/>
            <a:ext cx="4892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90" dirty="0">
                <a:solidFill>
                  <a:srgbClr val="C9A24E"/>
                </a:solidFill>
                <a:latin typeface="Calibri"/>
              </a:rPr>
              <a:t>КАТАЛОГ ПОСТАЧАЛЬНИКІВ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60704"/>
            <a:ext cx="4892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4241F"/>
                </a:solidFill>
                <a:latin typeface="Cambria"/>
              </a:rPr>
              <a:t>Азійські снеки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4241F"/>
                </a:solidFill>
                <a:latin typeface="Cambria"/>
              </a:rPr>
              <a:t>з водоростей і рису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87168"/>
            <a:ext cx="1005840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 rot="21060000">
            <a:off x="5436108" y="603503"/>
            <a:ext cx="1170432" cy="1481328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 rot="21060000">
            <a:off x="5404104" y="557783"/>
            <a:ext cx="11704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Picture 25" descr="sk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60000">
            <a:off x="5495544" y="674315"/>
            <a:ext cx="987552" cy="124826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 rot="420000">
            <a:off x="6606540" y="397763"/>
            <a:ext cx="786384" cy="1417320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 rot="420000">
            <a:off x="6574536" y="352043"/>
            <a:ext cx="78638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9" name="Picture 28" descr="tmk_roll_or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0000">
            <a:off x="6763350" y="443483"/>
            <a:ext cx="408754" cy="123444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 rot="600000">
            <a:off x="7438644" y="704088"/>
            <a:ext cx="1188720" cy="1517904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 rot="600000">
            <a:off x="7406640" y="658368"/>
            <a:ext cx="118872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2" name="Picture 31" descr="tn_orig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7498079" y="812848"/>
            <a:ext cx="1005840" cy="120894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 rot="360000">
            <a:off x="5207508" y="2551175"/>
            <a:ext cx="1170432" cy="1481328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 rot="360000">
            <a:off x="5175504" y="2505456"/>
            <a:ext cx="11704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5" name="Picture 34" descr="zek_tempura_corn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">
            <a:off x="5266944" y="2603217"/>
            <a:ext cx="987552" cy="1285805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 rot="21240000">
            <a:off x="6313932" y="2432303"/>
            <a:ext cx="1243584" cy="1481328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 rot="21240000">
            <a:off x="6281928" y="2386584"/>
            <a:ext cx="1243584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Picture 37" descr="tmk_sw_ori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40000">
            <a:off x="6405266" y="2478024"/>
            <a:ext cx="996906" cy="1298448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 rot="20940000">
            <a:off x="7584948" y="2761488"/>
            <a:ext cx="1078992" cy="1371600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 rot="20940000">
            <a:off x="7552944" y="2715768"/>
            <a:ext cx="107899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1" name="Picture 40" descr="zek_topping_veg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940000">
            <a:off x="7652861" y="2807208"/>
            <a:ext cx="879157" cy="1188720"/>
          </a:xfrm>
          <a:prstGeom prst="rect">
            <a:avLst/>
          </a:prstGeom>
        </p:spPr>
      </p:pic>
      <p:pic>
        <p:nvPicPr>
          <p:cNvPr id="20" name="Picture 59" descr="zek_sandwich_meat25.png">
            <a:extLst>
              <a:ext uri="{FF2B5EF4-FFF2-40B4-BE49-F238E27FC236}">
                <a16:creationId xmlns:a16="http://schemas.microsoft.com/office/drawing/2014/main" id="{AEED2E9B-D974-3C42-E5EC-8E48C83109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1649769">
            <a:off x="4110763" y="2453029"/>
            <a:ext cx="820895" cy="1234626"/>
          </a:xfrm>
          <a:prstGeom prst="rect">
            <a:avLst/>
          </a:prstGeom>
        </p:spPr>
      </p:pic>
      <p:sp>
        <p:nvSpPr>
          <p:cNvPr id="14" name="Rounded Rectangle 24">
            <a:extLst>
              <a:ext uri="{FF2B5EF4-FFF2-40B4-BE49-F238E27FC236}">
                <a16:creationId xmlns:a16="http://schemas.microsoft.com/office/drawing/2014/main" id="{99A07C36-0933-CDAC-B935-69D7A8210C44}"/>
              </a:ext>
            </a:extLst>
          </p:cNvPr>
          <p:cNvSpPr/>
          <p:nvPr/>
        </p:nvSpPr>
        <p:spPr>
          <a:xfrm rot="20910944">
            <a:off x="3022300" y="2420917"/>
            <a:ext cx="864009" cy="119199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83" descr="zek_sandwich_sesame25.png">
            <a:extLst>
              <a:ext uri="{FF2B5EF4-FFF2-40B4-BE49-F238E27FC236}">
                <a16:creationId xmlns:a16="http://schemas.microsoft.com/office/drawing/2014/main" id="{47F56737-65C3-9825-E0D7-13CC77C017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075912">
            <a:off x="3061702" y="2458059"/>
            <a:ext cx="755190" cy="1125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06440" y="566928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logo_sing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632" y="713232"/>
            <a:ext cx="1513975" cy="8046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847088"/>
            <a:ext cx="2880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plant_sing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946" y="1920240"/>
            <a:ext cx="2239346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9592" y="3419856"/>
            <a:ext cx="27340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Виробничий майданчик · singhakameda.co.th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913632"/>
            <a:ext cx="3794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 spc="90">
                <a:solidFill>
                  <a:srgbClr val="E8D0B8"/>
                </a:solidFill>
                <a:latin typeface="Calibri"/>
              </a:rPr>
              <a:t>ВИРОБНИЦТВО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1148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Таїланд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35C15"/>
                </a:solidFill>
                <a:latin typeface="Calibri"/>
              </a:rPr>
              <a:t>ПРОФІЛЬ ПОСТАЧАЛЬНИКА ·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Singha Kameda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(Thailand) Co.,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35C15"/>
                </a:solidFill>
                <a:latin typeface="Calibri"/>
              </a:rPr>
              <a:t>Рисові крекери арарe в норі · Retail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F6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B5F15"/>
                </a:solidFill>
                <a:latin typeface="Calibri"/>
              </a:rPr>
              <a:t>FOB Bangkok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35C15"/>
                </a:solidFill>
                <a:latin typeface="Calibri"/>
              </a:rPr>
              <a:t>ПРО КОМПАНІЮ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4524C"/>
                </a:solidFill>
                <a:latin typeface="Calibri"/>
              </a:rPr>
              <a:t>Спільне підприємство японської Kameda Seika — світового лідера ринку рисових крекерів — та тайської групи Singha. Виробництво в Таїланді за японськими стандартами.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602736"/>
            <a:ext cx="1481328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B5F15"/>
                </a:solidFill>
                <a:latin typeface="Cambria"/>
              </a:rP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рік створення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спільного підприємства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9676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79676" y="3602736"/>
            <a:ext cx="1481328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79676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AB5F15"/>
                </a:solidFill>
                <a:latin typeface="Cambria"/>
              </a:rPr>
              <a:t>50 / 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1116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Kameda Seika (Японія)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та Singha (Таїланд)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93592" y="3602736"/>
            <a:ext cx="1481328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B5F15"/>
                </a:solidFill>
                <a:latin typeface="Cambria"/>
              </a:rPr>
              <a:t>OEM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контрактне виробництво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для інших брендів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4398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35C15"/>
                </a:solidFill>
                <a:latin typeface="Calibri"/>
              </a:rPr>
              <a:t>СЕРТИФІКАТИ ВИРОБНИЦТВА</a:t>
            </a:r>
          </a:p>
        </p:txBody>
      </p:sp>
      <p:pic>
        <p:nvPicPr>
          <p:cNvPr id="32" name="Picture 31" descr="cert_hac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626864"/>
            <a:ext cx="489382" cy="237744"/>
          </a:xfrm>
          <a:prstGeom prst="rect">
            <a:avLst/>
          </a:prstGeom>
        </p:spPr>
      </p:pic>
      <p:pic>
        <p:nvPicPr>
          <p:cNvPr id="33" name="Picture 32" descr="cert_br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022" y="4626864"/>
            <a:ext cx="159692" cy="237744"/>
          </a:xfrm>
          <a:prstGeom prst="rect">
            <a:avLst/>
          </a:prstGeom>
        </p:spPr>
      </p:pic>
      <p:pic>
        <p:nvPicPr>
          <p:cNvPr id="34" name="Picture 33" descr="cert_hal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594" y="4626864"/>
            <a:ext cx="424904" cy="237744"/>
          </a:xfrm>
          <a:prstGeom prst="rect">
            <a:avLst/>
          </a:prstGeom>
        </p:spPr>
      </p:pic>
      <p:pic>
        <p:nvPicPr>
          <p:cNvPr id="35" name="Picture 34" descr="cert_ns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8378" y="4626864"/>
            <a:ext cx="726895" cy="237744"/>
          </a:xfrm>
          <a:prstGeom prst="rect">
            <a:avLst/>
          </a:prstGeom>
        </p:spPr>
      </p:pic>
      <p:pic>
        <p:nvPicPr>
          <p:cNvPr id="36" name="Picture 35" descr="cert_organ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8153" y="4626864"/>
            <a:ext cx="299764" cy="237744"/>
          </a:xfrm>
          <a:prstGeom prst="rect">
            <a:avLst/>
          </a:prstGeom>
        </p:spPr>
      </p:pic>
      <p:pic>
        <p:nvPicPr>
          <p:cNvPr id="37" name="Picture 36" descr="cert_sede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0798" y="4626864"/>
            <a:ext cx="236537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39328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E8D0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B5916"/>
                </a:solidFill>
                <a:latin typeface="Calibri"/>
              </a:rPr>
              <a:t>SINGHA KAMEDA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Arare Norimaki — рисові крекери в норі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66636" y="530352"/>
            <a:ext cx="2311603" cy="292608"/>
          </a:xfrm>
          <a:prstGeom prst="roundRect">
            <a:avLst>
              <a:gd name="adj" fmla="val 24000"/>
            </a:avLst>
          </a:prstGeom>
          <a:solidFill>
            <a:srgbClr val="F6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6636" y="530352"/>
            <a:ext cx="231160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B5F15"/>
                </a:solidFill>
                <a:latin typeface="Calibri"/>
              </a:rPr>
              <a:t>Контейнер везе тільки рітейл-фасовку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74904" y="2377439"/>
            <a:ext cx="4050791" cy="219456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sk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163" y="1243584"/>
            <a:ext cx="904272" cy="1143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25496"/>
            <a:ext cx="352043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 err="1">
                <a:solidFill>
                  <a:srgbClr val="14241F"/>
                </a:solidFill>
                <a:latin typeface="Cambria"/>
              </a:rPr>
              <a:t>Arare</a:t>
            </a:r>
            <a:r>
              <a:rPr sz="1600" b="1" i="0" dirty="0">
                <a:solidFill>
                  <a:srgbClr val="14241F"/>
                </a:solidFill>
                <a:latin typeface="Cambria"/>
              </a:rPr>
              <a:t> Norimaki </a:t>
            </a:r>
            <a:r>
              <a:rPr sz="1600" b="1" dirty="0">
                <a:solidFill>
                  <a:srgbClr val="14241F"/>
                </a:solidFill>
                <a:latin typeface="Cambria"/>
              </a:rPr>
              <a:t>Original </a:t>
            </a:r>
            <a:r>
              <a:rPr lang="uk-UA" sz="1600" b="1" dirty="0">
                <a:solidFill>
                  <a:srgbClr val="14241F"/>
                </a:solidFill>
                <a:latin typeface="Cambria"/>
              </a:rPr>
              <a:t>· </a:t>
            </a:r>
            <a:endParaRPr sz="1600" b="1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 dirty="0" err="1">
                <a:solidFill>
                  <a:srgbClr val="44524C"/>
                </a:solidFill>
                <a:latin typeface="Calibri"/>
              </a:rPr>
              <a:t>Хрусткі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рисові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палички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арарe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обгортці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з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водорості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Смак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соєвого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соусу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без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гостроти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639312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 dirty="0">
                <a:solidFill>
                  <a:srgbClr val="A35C15"/>
                </a:solidFill>
                <a:latin typeface="Calibri"/>
              </a:rPr>
              <a:t>СОБІВАРТІСТЬ · 1 ПАКЕТ 42 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22192"/>
            <a:ext cx="3063239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" y="3877056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014216"/>
            <a:ext cx="144072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FFFFFF"/>
                </a:solidFill>
                <a:latin typeface="Cambria"/>
              </a:rPr>
              <a:t>$1,21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1768" y="4050792"/>
            <a:ext cx="15238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54,65 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426110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 dirty="0" err="1">
                <a:solidFill>
                  <a:srgbClr val="8A938D"/>
                </a:solidFill>
                <a:latin typeface="Calibri"/>
              </a:rPr>
              <a:t>Збірний</a:t>
            </a:r>
            <a:r>
              <a:rPr sz="650" b="0" i="0" dirty="0">
                <a:solidFill>
                  <a:srgbClr val="8A938D"/>
                </a:solidFill>
                <a:latin typeface="Calibri"/>
              </a:rPr>
              <a:t> 34 м³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3236" y="427582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9013" y="426110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56,49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" y="439826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 dirty="0">
                <a:solidFill>
                  <a:srgbClr val="8A938D"/>
                </a:solidFill>
                <a:latin typeface="Calibri"/>
              </a:rPr>
              <a:t>20′ </a:t>
            </a:r>
            <a:r>
              <a:rPr sz="650" b="0" i="0" dirty="0" err="1">
                <a:solidFill>
                  <a:srgbClr val="8A938D"/>
                </a:solidFill>
                <a:latin typeface="Calibri"/>
              </a:rPr>
              <a:t>контейнер</a:t>
            </a:r>
            <a:endParaRPr sz="650" b="0" i="0" dirty="0">
              <a:solidFill>
                <a:srgbClr val="8A938D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23236" y="441298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9013" y="439826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61,16 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" y="453542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 dirty="0" err="1">
                <a:solidFill>
                  <a:srgbClr val="8A938D"/>
                </a:solidFill>
                <a:latin typeface="Calibri"/>
              </a:rPr>
              <a:t>Збірний</a:t>
            </a:r>
            <a:r>
              <a:rPr sz="650" b="0" i="0" dirty="0">
                <a:solidFill>
                  <a:srgbClr val="8A938D"/>
                </a:solidFill>
                <a:latin typeface="Calibri"/>
              </a:rPr>
              <a:t> 17 м³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3236" y="455014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9013" y="4550143"/>
            <a:ext cx="88660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61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,99 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59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718303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18303" y="2377439"/>
            <a:ext cx="4050791" cy="219456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5" name="Picture 34" descr="sk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10" y="1243584"/>
            <a:ext cx="867578" cy="1143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83479" y="2825496"/>
            <a:ext cx="352043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 err="1">
                <a:solidFill>
                  <a:srgbClr val="14241F"/>
                </a:solidFill>
                <a:latin typeface="Cambria"/>
              </a:rPr>
              <a:t>Arare</a:t>
            </a:r>
            <a:r>
              <a:rPr sz="1600" b="1" i="0" dirty="0">
                <a:solidFill>
                  <a:srgbClr val="14241F"/>
                </a:solidFill>
                <a:latin typeface="Cambria"/>
              </a:rPr>
              <a:t> Norimaki Wasabi </a:t>
            </a:r>
            <a:r>
              <a:rPr lang="uk-UA" sz="1600" b="1" dirty="0">
                <a:solidFill>
                  <a:srgbClr val="14241F"/>
                </a:solidFill>
                <a:latin typeface="Cambria"/>
              </a:rPr>
              <a:t>· </a:t>
            </a:r>
            <a:endParaRPr sz="1600" b="1" i="0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12079" y="3246120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 dirty="0" err="1">
                <a:solidFill>
                  <a:srgbClr val="44524C"/>
                </a:solidFill>
                <a:latin typeface="Calibri"/>
              </a:rPr>
              <a:t>Ті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самі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рисові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палички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але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з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відчутною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гостротою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японського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васабі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8383" y="3639312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35C15"/>
                </a:solidFill>
                <a:latin typeface="Calibri"/>
              </a:rPr>
              <a:t>СОБІВАРТІСТЬ · 1 ПАКЕТ 42 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79" y="3822192"/>
            <a:ext cx="3063239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58383" y="3877056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58383" y="4014216"/>
            <a:ext cx="144072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FFFFFF"/>
                </a:solidFill>
                <a:latin typeface="Cambria"/>
              </a:rPr>
              <a:t>$1,21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5168" y="4050792"/>
            <a:ext cx="15238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54,65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58383" y="426110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6636" y="427582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42413" y="426110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56,49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58383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58383" y="439826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6636" y="441298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2413" y="439826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61,16 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58383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58383" y="453542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6636" y="455014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42413" y="4550143"/>
            <a:ext cx="88660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61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99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3</a:t>
            </a:r>
          </a:p>
        </p:txBody>
      </p:sp>
      <p:sp>
        <p:nvSpPr>
          <p:cNvPr id="58" name="Rounded Rectangle 12">
            <a:extLst>
              <a:ext uri="{FF2B5EF4-FFF2-40B4-BE49-F238E27FC236}">
                <a16:creationId xmlns:a16="http://schemas.microsoft.com/office/drawing/2014/main" id="{7EB29D27-C77B-14B9-162F-F061D267EC28}"/>
              </a:ext>
            </a:extLst>
          </p:cNvPr>
          <p:cNvSpPr/>
          <p:nvPr/>
        </p:nvSpPr>
        <p:spPr>
          <a:xfrm>
            <a:off x="836676" y="262897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21872B-B21A-CC92-AE7E-E3C79D2E70BD}"/>
              </a:ext>
            </a:extLst>
          </p:cNvPr>
          <p:cNvSpPr txBox="1"/>
          <p:nvPr/>
        </p:nvSpPr>
        <p:spPr>
          <a:xfrm>
            <a:off x="640080" y="2624328"/>
            <a:ext cx="352043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750" b="1" i="0" spc="90" dirty="0">
                <a:solidFill>
                  <a:srgbClr val="A35C15"/>
                </a:solidFill>
                <a:latin typeface="Calibri"/>
              </a:rPr>
              <a:t>            </a:t>
            </a:r>
            <a:r>
              <a:rPr sz="650" b="1" spc="90" dirty="0">
                <a:solidFill>
                  <a:srgbClr val="A35C15"/>
                </a:solidFill>
                <a:latin typeface="Calibri"/>
              </a:rPr>
              <a:t>42 Г </a:t>
            </a:r>
            <a:r>
              <a:rPr lang="uk-UA" sz="650" b="1" spc="90" dirty="0">
                <a:solidFill>
                  <a:srgbClr val="A35C15"/>
                </a:solidFill>
                <a:latin typeface="Calibri"/>
              </a:rPr>
              <a:t>24 ШТ/КАРТ.</a:t>
            </a:r>
            <a:endParaRPr sz="650" b="1" spc="90" dirty="0">
              <a:solidFill>
                <a:srgbClr val="A35C15"/>
              </a:solidFill>
              <a:latin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11AEFB-39A3-312C-987C-CDBB7998E8DA}"/>
              </a:ext>
            </a:extLst>
          </p:cNvPr>
          <p:cNvSpPr txBox="1"/>
          <p:nvPr/>
        </p:nvSpPr>
        <p:spPr>
          <a:xfrm>
            <a:off x="5257801" y="2628974"/>
            <a:ext cx="352043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750" b="1" i="0" spc="90" dirty="0">
                <a:solidFill>
                  <a:srgbClr val="A35C15"/>
                </a:solidFill>
                <a:latin typeface="Calibri"/>
              </a:rPr>
              <a:t>            </a:t>
            </a:r>
            <a:r>
              <a:rPr sz="650" b="1" spc="90" dirty="0">
                <a:solidFill>
                  <a:srgbClr val="A35C15"/>
                </a:solidFill>
                <a:latin typeface="Calibri"/>
              </a:rPr>
              <a:t>42 Г </a:t>
            </a:r>
            <a:r>
              <a:rPr lang="uk-UA" sz="650" b="1" spc="90" dirty="0">
                <a:solidFill>
                  <a:srgbClr val="A35C15"/>
                </a:solidFill>
                <a:latin typeface="Calibri"/>
              </a:rPr>
              <a:t>24 ШТ/КАРТ.</a:t>
            </a:r>
            <a:endParaRPr sz="650" b="1" spc="90" dirty="0">
              <a:solidFill>
                <a:srgbClr val="A35C15"/>
              </a:solidFill>
              <a:latin typeface="Calibri"/>
            </a:endParaRPr>
          </a:p>
        </p:txBody>
      </p:sp>
      <p:sp>
        <p:nvSpPr>
          <p:cNvPr id="66" name="Rounded Rectangle 12">
            <a:extLst>
              <a:ext uri="{FF2B5EF4-FFF2-40B4-BE49-F238E27FC236}">
                <a16:creationId xmlns:a16="http://schemas.microsoft.com/office/drawing/2014/main" id="{DF931599-32AE-0C6F-647F-1E6DD029EEEA}"/>
              </a:ext>
            </a:extLst>
          </p:cNvPr>
          <p:cNvSpPr/>
          <p:nvPr/>
        </p:nvSpPr>
        <p:spPr>
          <a:xfrm>
            <a:off x="5426964" y="263577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B5916"/>
                </a:solidFill>
                <a:latin typeface="Calibri"/>
              </a:rPr>
              <a:t>SINGHA KAMEDA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Arare Norimaki — рітейл і BULK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30214" y="530352"/>
            <a:ext cx="2948025" cy="292608"/>
          </a:xfrm>
          <a:prstGeom prst="roundRect">
            <a:avLst>
              <a:gd name="adj" fmla="val 24000"/>
            </a:avLst>
          </a:prstGeom>
          <a:solidFill>
            <a:srgbClr val="F6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30214" y="530352"/>
            <a:ext cx="294802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B5F15"/>
                </a:solidFill>
                <a:latin typeface="Calibri"/>
              </a:rPr>
              <a:t>Контейнер везе рітейл-фасовку разом із BULK 3 кг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sk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60" y="1225295"/>
            <a:ext cx="795759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 dirty="0">
                <a:solidFill>
                  <a:srgbClr val="A35C15"/>
                </a:solidFill>
                <a:latin typeface="Calibri"/>
              </a:rPr>
              <a:t>42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 err="1">
                <a:solidFill>
                  <a:srgbClr val="14241F"/>
                </a:solidFill>
                <a:latin typeface="Cambria"/>
              </a:rPr>
              <a:t>Arare</a:t>
            </a:r>
            <a:r>
              <a:rPr sz="1200" b="1" i="0" dirty="0">
                <a:solidFill>
                  <a:srgbClr val="14241F"/>
                </a:solidFill>
                <a:latin typeface="Cambria"/>
              </a:rPr>
              <a:t> Norimaki</a:t>
            </a:r>
          </a:p>
          <a:p>
            <a:r>
              <a:rPr sz="1200" b="1" dirty="0">
                <a:solidFill>
                  <a:srgbClr val="14241F"/>
                </a:solidFill>
                <a:latin typeface="Cambria"/>
              </a:rPr>
              <a:t>Original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 </a:t>
            </a:r>
            <a:endParaRPr sz="1200" b="1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 dirty="0" err="1">
                <a:solidFill>
                  <a:srgbClr val="44524C"/>
                </a:solidFill>
                <a:latin typeface="Calibri"/>
              </a:rPr>
              <a:t>Хрусткі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рисові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палички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арарe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обгортці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з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водорості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Смак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соєвого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соусу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без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гостроти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700" b="1" spc="90">
                <a:solidFill>
                  <a:srgbClr val="A35C15"/>
                </a:solidFill>
                <a:latin typeface="Calibri"/>
              </a:defRPr>
            </a:lvl1pPr>
          </a:lstStyle>
          <a:p>
            <a:r>
              <a:rPr dirty="0"/>
              <a:t>СОБІВАРТІСТЬ · 1 ПАКЕТ 42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50,26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5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1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58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5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3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90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994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5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4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,03₴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sk_wasa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845" y="1225295"/>
            <a:ext cx="763468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35C15"/>
                </a:solidFill>
                <a:latin typeface="Calibri"/>
              </a:rPr>
              <a:t>42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 err="1">
                <a:solidFill>
                  <a:srgbClr val="14241F"/>
                </a:solidFill>
                <a:latin typeface="Cambria"/>
              </a:rPr>
              <a:t>Arare</a:t>
            </a:r>
            <a:r>
              <a:rPr sz="1200" b="1" i="0" dirty="0">
                <a:solidFill>
                  <a:srgbClr val="14241F"/>
                </a:solidFill>
                <a:latin typeface="Cambria"/>
              </a:rPr>
              <a:t> Norimaki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Wasabi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 42 Г</a:t>
            </a:r>
            <a:endParaRPr sz="1200" b="1" i="0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 dirty="0" err="1">
                <a:solidFill>
                  <a:srgbClr val="44524C"/>
                </a:solidFill>
                <a:latin typeface="Calibri"/>
              </a:rPr>
              <a:t>Ті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самі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рисові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палички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але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з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відчутною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гостротою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японського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васабі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spc="90" dirty="0">
                <a:solidFill>
                  <a:srgbClr val="A35C15"/>
                </a:solidFill>
                <a:latin typeface="Calibri"/>
              </a:rPr>
              <a:t>СОБІВАРТІСТЬ · 1 ПАКЕТ 42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50,26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51,58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53,90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54,03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rapezoid 59"/>
          <p:cNvSpPr/>
          <p:nvPr/>
        </p:nvSpPr>
        <p:spPr>
          <a:xfrm>
            <a:off x="531174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55806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96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691134" y="1499616"/>
            <a:ext cx="10972" cy="555955"/>
          </a:xfrm>
          <a:prstGeom prst="rect">
            <a:avLst/>
          </a:prstGeom>
          <a:solidFill>
            <a:srgbClr val="A05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311749" y="1687982"/>
            <a:ext cx="76974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 кг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11749" y="1929384"/>
            <a:ext cx="76974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ECD8C4"/>
                </a:solidFill>
                <a:latin typeface="Calibri"/>
              </a:rPr>
              <a:t>BULK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35C15"/>
                </a:solidFill>
                <a:latin typeface="Calibri"/>
              </a:rPr>
              <a:t>3 КГ · 2 ПАК/КАРТ.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974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 Original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BULK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 ·</a:t>
            </a:r>
            <a:r>
              <a:rPr sz="1200" b="1" i="0" dirty="0">
                <a:solidFill>
                  <a:srgbClr val="14241F"/>
                </a:solidFill>
                <a:latin typeface="Cambria"/>
              </a:rP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 самий продукт у форматі 3 кг — для HoReCa та фасування на місці.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0974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spc="90" dirty="0">
                <a:solidFill>
                  <a:srgbClr val="A35C15"/>
                </a:solidFill>
                <a:latin typeface="Calibri"/>
              </a:rPr>
              <a:t>СОБІВАРТІСТЬ · 1 ПАКЕТ 3 КГ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974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$52,21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2349,75 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7908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$53,58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2411,48 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7908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$55,99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2519,84 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7908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$56,13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762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2526,01 ₴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rapezoid 89"/>
          <p:cNvSpPr/>
          <p:nvPr/>
        </p:nvSpPr>
        <p:spPr>
          <a:xfrm>
            <a:off x="746058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770690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96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839974" y="1499616"/>
            <a:ext cx="10972" cy="555955"/>
          </a:xfrm>
          <a:prstGeom prst="rect">
            <a:avLst/>
          </a:prstGeom>
          <a:solidFill>
            <a:srgbClr val="A05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460589" y="1687982"/>
            <a:ext cx="76974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 кг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0589" y="1929384"/>
            <a:ext cx="76974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ECD8C4"/>
                </a:solidFill>
                <a:latin typeface="Calibri"/>
              </a:rPr>
              <a:t>BULK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35C15"/>
                </a:solidFill>
                <a:latin typeface="Calibri"/>
              </a:rPr>
              <a:t>3 КГ · 2 ПАК/КАРТ.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5858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 Wasabi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BULK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 </a:t>
            </a:r>
            <a:endParaRPr sz="1200" b="1" i="0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 dirty="0" err="1">
                <a:solidFill>
                  <a:srgbClr val="44524C"/>
                </a:solidFill>
                <a:latin typeface="Calibri"/>
              </a:rPr>
              <a:t>Васабі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у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форматі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3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кг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—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для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HoReCa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та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фасування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місці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5858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spc="90" dirty="0">
                <a:solidFill>
                  <a:srgbClr val="A35C15"/>
                </a:solidFill>
                <a:latin typeface="Calibri"/>
              </a:rPr>
              <a:t>СОБІВАРТІСТЬ · 1 ПАКЕТ 3 КГ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5858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$52,21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2349,75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2792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$53,58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2411,48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2792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$55,99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2519,84 ₴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792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$56,13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9646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2526,01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plant_thainichi.png"/>
          <p:cNvPicPr>
            <a:picLocks noChangeAspect="1"/>
          </p:cNvPicPr>
          <p:nvPr/>
        </p:nvPicPr>
        <p:blipFill>
          <a:blip r:embed="rId2"/>
          <a:srcRect t="10606" b="10606"/>
          <a:stretch>
            <a:fillRect/>
          </a:stretch>
        </p:blipFill>
        <p:spPr>
          <a:xfrm>
            <a:off x="5349240" y="0"/>
            <a:ext cx="3794760" cy="3072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49240" y="3072384"/>
            <a:ext cx="3794760" cy="54864"/>
          </a:xfrm>
          <a:prstGeom prst="rect">
            <a:avLst/>
          </a:prstGeom>
          <a:solidFill>
            <a:srgbClr val="6C9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06440" y="2542032"/>
            <a:ext cx="2880360" cy="11338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logo_mizu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988" y="2688336"/>
            <a:ext cx="1607262" cy="8412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3749039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1" dirty="0" err="1">
                <a:solidFill>
                  <a:srgbClr val="C0D1D3"/>
                </a:solidFill>
                <a:latin typeface="Calibri"/>
              </a:rPr>
              <a:t>Продукція</a:t>
            </a:r>
            <a:r>
              <a:rPr sz="650" b="0" i="1" dirty="0">
                <a:solidFill>
                  <a:srgbClr val="C0D1D3"/>
                </a:solidFill>
                <a:latin typeface="Calibri"/>
              </a:rPr>
              <a:t> Mizuho · thai-nichi.com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986784"/>
            <a:ext cx="3794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 spc="90">
                <a:solidFill>
                  <a:srgbClr val="BBCED0"/>
                </a:solidFill>
                <a:latin typeface="Calibri"/>
              </a:rPr>
              <a:t>ВИРОБНИЦТВО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18795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Таїланд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1C565C"/>
                </a:solidFill>
                <a:latin typeface="Calibri"/>
              </a:rPr>
              <a:t>ПРОФІЛЬ ПОСТАЧАЛЬНИКА ·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Thai-Nichi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Industries Co.,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C565C"/>
                </a:solidFill>
                <a:latin typeface="Calibri"/>
              </a:rPr>
              <a:t>Рисові крекери, чипси та протеїнові снеки · Retail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E4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D5860"/>
                </a:solidFill>
                <a:latin typeface="Calibri"/>
              </a:rPr>
              <a:t>FOB Bangkok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ПРО КОМПАНІЮ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4524C"/>
                </a:solidFill>
                <a:latin typeface="Calibri"/>
              </a:rPr>
              <a:t>Тайсько-японський виробник рисових снеків із найширшим прайсом серед усіх постачальників — 28 позицій. Одна фабрика закриває і крекери, і чипси, і протеїнові снеки.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602736"/>
            <a:ext cx="1481328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D5860"/>
                </a:solidFill>
                <a:latin typeface="Cambria"/>
              </a:rPr>
              <a:t>1991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на експортному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ринку 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9676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79676" y="3602736"/>
            <a:ext cx="1481328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79676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D5860"/>
                </a:solidFill>
                <a:latin typeface="Cambria"/>
              </a:rPr>
              <a:t>20+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1116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форм і смаків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рисових крекерів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93592" y="3602736"/>
            <a:ext cx="1481328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D5860"/>
                </a:solidFill>
                <a:latin typeface="Cambria"/>
              </a:rPr>
              <a:t>OEM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та власний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бренд Mizuho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4398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ПОЗНАЧКИ ЯКОСТІ НА УПАКОВЦІ</a:t>
            </a:r>
          </a:p>
        </p:txBody>
      </p:sp>
      <p:pic>
        <p:nvPicPr>
          <p:cNvPr id="32" name="Picture 31" descr="tn_mark_glut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626864"/>
            <a:ext cx="438912" cy="237744"/>
          </a:xfrm>
          <a:prstGeom prst="rect">
            <a:avLst/>
          </a:prstGeom>
        </p:spPr>
      </p:pic>
      <p:pic>
        <p:nvPicPr>
          <p:cNvPr id="33" name="Picture 32" descr="tn_mark_cholester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626864"/>
            <a:ext cx="690250" cy="237744"/>
          </a:xfrm>
          <a:prstGeom prst="rect">
            <a:avLst/>
          </a:prstGeom>
        </p:spPr>
      </p:pic>
      <p:pic>
        <p:nvPicPr>
          <p:cNvPr id="34" name="Picture 33" descr="tn_mark_organ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0682" y="4626864"/>
            <a:ext cx="551854" cy="237744"/>
          </a:xfrm>
          <a:prstGeom prst="rect">
            <a:avLst/>
          </a:prstGeom>
        </p:spPr>
      </p:pic>
      <p:pic>
        <p:nvPicPr>
          <p:cNvPr id="35" name="Picture 34" descr="tn_mark_gm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5416" y="4626864"/>
            <a:ext cx="386250" cy="237744"/>
          </a:xfrm>
          <a:prstGeom prst="rect">
            <a:avLst/>
          </a:prstGeom>
        </p:spPr>
      </p:pic>
      <p:pic>
        <p:nvPicPr>
          <p:cNvPr id="36" name="Picture 35" descr="tn_mark_veg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4547" y="4626864"/>
            <a:ext cx="569014" cy="23774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BBCED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1C5359"/>
                </a:solidFill>
                <a:latin typeface="Calibri"/>
              </a:rPr>
              <a:t>THAI-NICHI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Norimaki — рисові крекери в норі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66636" y="530352"/>
            <a:ext cx="2311603" cy="292608"/>
          </a:xfrm>
          <a:prstGeom prst="roundRect">
            <a:avLst>
              <a:gd name="adj" fmla="val 24000"/>
            </a:avLst>
          </a:prstGeom>
          <a:solidFill>
            <a:srgbClr val="E4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6636" y="530352"/>
            <a:ext cx="231160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D5860"/>
                </a:solidFill>
                <a:latin typeface="Calibri"/>
              </a:rPr>
              <a:t>Контейнер везе тільки рітейл-фасовку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377439"/>
            <a:ext cx="4050791" cy="219456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tn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812" y="1243584"/>
            <a:ext cx="950976" cy="1143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2624328"/>
            <a:ext cx="352043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750" b="1" i="0" spc="90" dirty="0">
                <a:solidFill>
                  <a:srgbClr val="1C565C"/>
                </a:solidFill>
                <a:latin typeface="Calibri"/>
              </a:rPr>
              <a:t>              50 Г · 36 ШТ/КАРТ.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25496"/>
            <a:ext cx="352043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14241F"/>
                </a:solidFill>
                <a:latin typeface="Cambria"/>
              </a:rPr>
              <a:t>Norimaki </a:t>
            </a:r>
            <a:r>
              <a:rPr sz="1600" b="1" dirty="0">
                <a:solidFill>
                  <a:srgbClr val="14241F"/>
                </a:solidFill>
                <a:latin typeface="Cambria"/>
              </a:rPr>
              <a:t>Original </a:t>
            </a:r>
            <a:r>
              <a:rPr lang="uk-UA" sz="1600" b="1" dirty="0">
                <a:solidFill>
                  <a:srgbClr val="14241F"/>
                </a:solidFill>
                <a:latin typeface="Cambria"/>
              </a:rPr>
              <a:t>·</a:t>
            </a:r>
            <a:r>
              <a:rPr lang="ru-UA" sz="1600" b="1" dirty="0">
                <a:solidFill>
                  <a:srgbClr val="14241F"/>
                </a:solidFill>
                <a:latin typeface="Cambria"/>
              </a:rPr>
              <a:t> </a:t>
            </a:r>
            <a:r>
              <a:rPr sz="1600" b="1" dirty="0">
                <a:solidFill>
                  <a:srgbClr val="14241F"/>
                </a:solidFill>
                <a:latin typeface="Cambria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 dirty="0" err="1">
                <a:solidFill>
                  <a:srgbClr val="44524C"/>
                </a:solidFill>
                <a:latin typeface="Calibri"/>
              </a:rPr>
              <a:t>Рисовий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крекер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із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водорістю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смажений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за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японською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рецептурою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Пакет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50 г.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639312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 dirty="0">
                <a:solidFill>
                  <a:srgbClr val="1C565C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22192"/>
            <a:ext cx="3063239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" y="3877056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014216"/>
            <a:ext cx="144072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FFFFFF"/>
                </a:solidFill>
                <a:latin typeface="Cambria"/>
              </a:rPr>
              <a:t>$0,94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1768" y="4050792"/>
            <a:ext cx="15238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42,49 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426110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 dirty="0" err="1">
                <a:solidFill>
                  <a:srgbClr val="8A938D"/>
                </a:solidFill>
                <a:latin typeface="Calibri"/>
              </a:rPr>
              <a:t>Збірний</a:t>
            </a:r>
            <a:r>
              <a:rPr sz="650" b="0" i="0" dirty="0">
                <a:solidFill>
                  <a:srgbClr val="8A938D"/>
                </a:solidFill>
                <a:latin typeface="Calibri"/>
              </a:rPr>
              <a:t> 34 м³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3236" y="427582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9013" y="426110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43,94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" y="439826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3236" y="441298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9013" y="439826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48,94 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" y="453542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3236" y="455014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9013" y="4550143"/>
            <a:ext cx="88660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47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,99 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59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718303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18303" y="2377439"/>
            <a:ext cx="4050791" cy="219456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5" name="Picture 34" descr="tn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50" y="1243584"/>
            <a:ext cx="939699" cy="1143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83479" y="2624328"/>
            <a:ext cx="352043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750" b="1" i="0" spc="90" dirty="0">
                <a:solidFill>
                  <a:srgbClr val="1C565C"/>
                </a:solidFill>
                <a:latin typeface="Calibri"/>
              </a:rPr>
              <a:t>                   55 Г · 36 ШТ/КАРТ.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79" y="2825496"/>
            <a:ext cx="352043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1600" b="1" i="0">
                <a:solidFill>
                  <a:srgbClr val="14241F"/>
                </a:solidFill>
                <a:latin typeface="Cambria"/>
              </a:defRPr>
            </a:lvl1pPr>
          </a:lstStyle>
          <a:p>
            <a:r>
              <a:rPr dirty="0"/>
              <a:t>Norimaki Wasabi </a:t>
            </a:r>
            <a:r>
              <a:rPr lang="uk-UA" dirty="0"/>
              <a:t>·</a:t>
            </a:r>
            <a:r>
              <a:rPr lang="ru-UA" dirty="0"/>
              <a:t> 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5212079" y="3246120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 dirty="0" err="1">
                <a:solidFill>
                  <a:srgbClr val="44524C"/>
                </a:solidFill>
                <a:latin typeface="Calibri"/>
              </a:rPr>
              <a:t>Той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самий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крекер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із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додаванням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васабі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Найбільший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пакет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лінійки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— 55 г.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8383" y="3639312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 dirty="0">
                <a:solidFill>
                  <a:srgbClr val="1C565C"/>
                </a:solidFill>
                <a:latin typeface="Calibri"/>
              </a:rPr>
              <a:t>СОБІВАРТІСТЬ · 1 ПАКЕТ 55 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79" y="3822192"/>
            <a:ext cx="3063239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58383" y="3877056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58383" y="4014216"/>
            <a:ext cx="144072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FFFFFF"/>
                </a:solidFill>
                <a:latin typeface="Cambria"/>
              </a:rPr>
              <a:t>$1,14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5168" y="4050792"/>
            <a:ext cx="15238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51,39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58383" y="426110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6636" y="427582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42413" y="426110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54,92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58383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58383" y="439826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6636" y="441298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2413" y="439826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61,17 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58383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58383" y="453542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6636" y="455014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42413" y="4550143"/>
            <a:ext cx="88660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59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,99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6</a:t>
            </a:r>
          </a:p>
        </p:txBody>
      </p:sp>
      <p:sp>
        <p:nvSpPr>
          <p:cNvPr id="58" name="Rounded Rectangle 12">
            <a:extLst>
              <a:ext uri="{FF2B5EF4-FFF2-40B4-BE49-F238E27FC236}">
                <a16:creationId xmlns:a16="http://schemas.microsoft.com/office/drawing/2014/main" id="{1DD9C00A-C289-254E-A2A8-B6FA20566F9E}"/>
              </a:ext>
            </a:extLst>
          </p:cNvPr>
          <p:cNvSpPr/>
          <p:nvPr/>
        </p:nvSpPr>
        <p:spPr>
          <a:xfrm>
            <a:off x="955548" y="263347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ounded Rectangle 12">
            <a:extLst>
              <a:ext uri="{FF2B5EF4-FFF2-40B4-BE49-F238E27FC236}">
                <a16:creationId xmlns:a16="http://schemas.microsoft.com/office/drawing/2014/main" id="{640F619B-9B3C-F8EA-33E5-9DD206700C7B}"/>
              </a:ext>
            </a:extLst>
          </p:cNvPr>
          <p:cNvSpPr/>
          <p:nvPr/>
        </p:nvSpPr>
        <p:spPr>
          <a:xfrm>
            <a:off x="5486400" y="263168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454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1C5359"/>
                </a:solidFill>
                <a:latin typeface="Calibri"/>
              </a:rPr>
              <a:t>THAI-NICHI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Norimaki — рітейл і BULK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24144" y="530352"/>
            <a:ext cx="3054096" cy="292608"/>
          </a:xfrm>
          <a:prstGeom prst="roundRect">
            <a:avLst>
              <a:gd name="adj" fmla="val 24000"/>
            </a:avLst>
          </a:prstGeom>
          <a:solidFill>
            <a:srgbClr val="E4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24144" y="530352"/>
            <a:ext cx="30540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D5860"/>
                </a:solidFill>
                <a:latin typeface="Calibri"/>
              </a:rPr>
              <a:t>Контейнер везе рітейл-фасовку разом із BULK 2,5 кг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tn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10" y="1225295"/>
            <a:ext cx="836858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1C565C"/>
                </a:solidFill>
                <a:latin typeface="Calibri"/>
              </a:rPr>
              <a:t>50 Г · 36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</a:t>
            </a:r>
          </a:p>
          <a:p>
            <a:r>
              <a:rPr sz="1200" b="1" dirty="0">
                <a:solidFill>
                  <a:srgbClr val="14241F"/>
                </a:solidFill>
                <a:latin typeface="Cambria"/>
              </a:rPr>
              <a:t>Original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</a:t>
            </a:r>
            <a:r>
              <a:rPr lang="ru-UA" sz="1200" b="1" dirty="0">
                <a:solidFill>
                  <a:srgbClr val="14241F"/>
                </a:solidFill>
                <a:latin typeface="Cambria"/>
              </a:rPr>
              <a:t> </a:t>
            </a:r>
            <a:endParaRPr sz="1200" b="1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 dirty="0" err="1">
                <a:solidFill>
                  <a:srgbClr val="44524C"/>
                </a:solidFill>
                <a:latin typeface="Calibri"/>
              </a:rPr>
              <a:t>Рисовий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крекер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із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водорістю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смажений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за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японською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рецептурою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Пакет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50 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spc="90" dirty="0">
                <a:solidFill>
                  <a:srgbClr val="1C565C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 dirty="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40,27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 dirty="0" err="1">
                <a:solidFill>
                  <a:srgbClr val="8A938D"/>
                </a:solidFill>
                <a:latin typeface="Calibri"/>
              </a:rPr>
              <a:t>Збірний</a:t>
            </a:r>
            <a:r>
              <a:rPr sz="650" b="0" i="0" dirty="0">
                <a:solidFill>
                  <a:srgbClr val="8A938D"/>
                </a:solidFill>
                <a:latin typeface="Calibri"/>
              </a:rPr>
              <a:t>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2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41,59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44,15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994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44,23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tn_wasa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112" y="1225295"/>
            <a:ext cx="826935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1C565C"/>
                </a:solidFill>
                <a:latin typeface="Calibri"/>
              </a:rPr>
              <a:t>55 Г · 36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Wasabi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</a:t>
            </a:r>
            <a:r>
              <a:rPr lang="ru-UA" sz="1200" b="1" dirty="0">
                <a:solidFill>
                  <a:srgbClr val="14241F"/>
                </a:solidFill>
                <a:latin typeface="Cambria"/>
              </a:rPr>
              <a:t> </a:t>
            </a:r>
            <a:endParaRPr sz="1200" b="1" i="0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 самий крекер із додаванням васабі. Найбільший пакет лінійки — 55 г.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00" b="1" spc="90" dirty="0">
                <a:solidFill>
                  <a:srgbClr val="1C565C"/>
                </a:solidFill>
                <a:latin typeface="Calibri"/>
              </a:rPr>
              <a:t>СОБІВАРТІСТЬ · 1 ПАКЕТ 55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50,34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51,98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55,19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55,28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rapezoid 59"/>
          <p:cNvSpPr/>
          <p:nvPr/>
        </p:nvSpPr>
        <p:spPr>
          <a:xfrm>
            <a:off x="531174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55806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1B5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691134" y="1499616"/>
            <a:ext cx="10972" cy="555955"/>
          </a:xfrm>
          <a:prstGeom prst="rect">
            <a:avLst/>
          </a:prstGeom>
          <a:solidFill>
            <a:srgbClr val="1C5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311749" y="1687982"/>
            <a:ext cx="76974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2,5 кг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11749" y="1929384"/>
            <a:ext cx="76974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C6D6D8"/>
                </a:solidFill>
                <a:latin typeface="Calibri"/>
              </a:rPr>
              <a:t>BULK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 dirty="0">
                <a:solidFill>
                  <a:srgbClr val="1C565C"/>
                </a:solidFill>
                <a:latin typeface="Calibri"/>
              </a:rPr>
              <a:t>2,5 КГ · 2 ПАК/КАРТ.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974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 Original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BULK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</a:t>
            </a:r>
            <a:r>
              <a:rPr sz="1200" b="1" i="0" dirty="0">
                <a:solidFill>
                  <a:srgbClr val="14241F"/>
                </a:solidFill>
                <a:latin typeface="Cambria"/>
              </a:rP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самий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крекер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у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форматі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2,5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кг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—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для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HoReCa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та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фасування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місці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0974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700" b="1" spc="90" dirty="0">
                <a:solidFill>
                  <a:srgbClr val="1C565C"/>
                </a:solidFill>
                <a:latin typeface="Calibri"/>
              </a:rPr>
              <a:t>СОБІВАРТІСТЬ · 1 ПАКЕТ 2,5 КГ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974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$29,01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1305,37 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7908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$30,19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1358,54 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7908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$32,05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1442,35 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7908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$32,10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4762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1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444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69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rapezoid 89"/>
          <p:cNvSpPr/>
          <p:nvPr/>
        </p:nvSpPr>
        <p:spPr>
          <a:xfrm>
            <a:off x="746058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770690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1B5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839974" y="1499616"/>
            <a:ext cx="10972" cy="555955"/>
          </a:xfrm>
          <a:prstGeom prst="rect">
            <a:avLst/>
          </a:prstGeom>
          <a:solidFill>
            <a:srgbClr val="1C5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460589" y="1687982"/>
            <a:ext cx="76974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2,5 кг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0589" y="1929384"/>
            <a:ext cx="76974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C6D6D8"/>
                </a:solidFill>
                <a:latin typeface="Calibri"/>
              </a:rPr>
              <a:t>BULK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1C565C"/>
                </a:solidFill>
                <a:latin typeface="Calibri"/>
              </a:rPr>
              <a:t>2,5 КГ · 2 ПАК/КАРТ.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5858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 Wasabi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BULK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</a:t>
            </a:r>
            <a:endParaRPr sz="1200" b="1" i="0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 dirty="0" err="1">
                <a:solidFill>
                  <a:srgbClr val="44524C"/>
                </a:solidFill>
                <a:latin typeface="Calibri"/>
              </a:rPr>
              <a:t>Васабі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у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форматі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2,5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кг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—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для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HoReCa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та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фасування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місці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58584" y="3657600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 dirty="0">
                <a:solidFill>
                  <a:srgbClr val="1C565C"/>
                </a:solidFill>
                <a:latin typeface="Calibri"/>
              </a:rPr>
              <a:t>СОБІВАРТІСТЬ · 1 ПАКЕТ 2,5 КГ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5858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$35,53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1598,99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2792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$36,96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1663,52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2792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$39,24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1766,14 ₴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792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$39,31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9646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17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69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00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plant_tmk.png"/>
          <p:cNvPicPr>
            <a:picLocks noChangeAspect="1"/>
          </p:cNvPicPr>
          <p:nvPr/>
        </p:nvPicPr>
        <p:blipFill>
          <a:blip r:embed="rId2"/>
          <a:srcRect t="8919" b="8919"/>
          <a:stretch>
            <a:fillRect/>
          </a:stretch>
        </p:blipFill>
        <p:spPr>
          <a:xfrm>
            <a:off x="5349240" y="0"/>
            <a:ext cx="3794760" cy="3072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49240" y="3072384"/>
            <a:ext cx="3794760" cy="54864"/>
          </a:xfrm>
          <a:prstGeom prst="rect">
            <a:avLst/>
          </a:prstGeom>
          <a:solidFill>
            <a:srgbClr val="78A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06440" y="2542032"/>
            <a:ext cx="2880360" cy="11338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logo_koki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59" y="2870200"/>
            <a:ext cx="1493520" cy="47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3749039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1">
                <a:solidFill>
                  <a:srgbClr val="C5DAC9"/>
                </a:solidFill>
                <a:latin typeface="Calibri"/>
              </a:rPr>
              <a:t>Фабрика TMK · kokiriseaweed.com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986784"/>
            <a:ext cx="3794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 spc="90">
                <a:solidFill>
                  <a:srgbClr val="C1D7C5"/>
                </a:solidFill>
                <a:latin typeface="Calibri"/>
              </a:rPr>
              <a:t>ВИРОБНИЦТВО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18795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Таїланд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2C713B"/>
                </a:solidFill>
                <a:latin typeface="Calibri"/>
              </a:rPr>
              <a:t>ПРОФІЛЬ ПОСТАЧАЛЬНИКА ·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 dirty="0">
                <a:solidFill>
                  <a:srgbClr val="14241F"/>
                </a:solidFill>
                <a:latin typeface="Cambria"/>
              </a:rPr>
              <a:t>TMK (Thailand)</a:t>
            </a:r>
          </a:p>
          <a:p>
            <a:pPr algn="l">
              <a:lnSpc>
                <a:spcPct val="108000"/>
              </a:lnSpc>
            </a:pPr>
            <a:r>
              <a:rPr sz="2600" b="1" i="0" dirty="0">
                <a:solidFill>
                  <a:srgbClr val="14241F"/>
                </a:solidFill>
                <a:latin typeface="Cambria"/>
              </a:rPr>
              <a:t>Co.,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C713B"/>
                </a:solidFill>
                <a:latin typeface="Calibri"/>
              </a:rPr>
              <a:t>Снеки з водорості норі · Retail і дитячий формат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E763C"/>
                </a:solidFill>
                <a:latin typeface="Calibri"/>
              </a:rPr>
              <a:t>FOB Bangkok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2C713B"/>
                </a:solidFill>
                <a:latin typeface="Calibri"/>
              </a:rPr>
              <a:t>ПРО КОМПАНІЮ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 err="1">
                <a:solidFill>
                  <a:srgbClr val="44524C"/>
                </a:solidFill>
                <a:latin typeface="Calibri"/>
              </a:rPr>
              <a:t>Виробляє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снеки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з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водорості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яку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завозить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із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Кореї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, і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має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фабрики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Кореї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та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Таїланді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Працює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як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OEM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для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інших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брендів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у 13+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країнах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. «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Кокірі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» — «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слон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»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корейською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символ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довіри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Таїланді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74720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1481328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60273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763C"/>
                </a:solidFill>
                <a:latin typeface="Cambria"/>
              </a:rPr>
              <a:t>2011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77056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рік заснування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компанії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9676" y="3474720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79676" y="3474720"/>
            <a:ext cx="1481328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79676" y="360273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763C"/>
                </a:solidFill>
                <a:latin typeface="Cambria"/>
              </a:rPr>
              <a:t>13+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1116" y="3877056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країн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експорту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3474720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93592" y="3474720"/>
            <a:ext cx="1481328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360273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E763C"/>
                </a:solidFill>
                <a:latin typeface="Cambria"/>
              </a:rPr>
              <a:t>$10 млн+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3877056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експорт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за шість років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26110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2C713B"/>
                </a:solidFill>
                <a:latin typeface="Calibri"/>
              </a:rPr>
              <a:t>СЕРТИФІКАТИ ВИРОБНИЦТВА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3" name="Picture 32" descr="tmk_cert_g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83" y="4462272"/>
            <a:ext cx="372992" cy="40233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5760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8A938D"/>
                </a:solidFill>
                <a:latin typeface="Calibri"/>
              </a:rPr>
              <a:t>GMP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9096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tmk_cert_hacc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282" y="4462272"/>
            <a:ext cx="372666" cy="40233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49096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8A938D"/>
                </a:solidFill>
                <a:latin typeface="Calibri"/>
              </a:rPr>
              <a:t>HACCP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32432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9" name="Picture 38" descr="tmk_cert_hal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6459" y="4462272"/>
            <a:ext cx="372985" cy="4023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932432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8A938D"/>
                </a:solidFill>
                <a:latin typeface="Calibri"/>
              </a:rPr>
              <a:t>Halal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15768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2" name="Picture 41" descr="tmk_cert_iso220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3949" y="4462272"/>
            <a:ext cx="284677" cy="4023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715768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8A938D"/>
                </a:solidFill>
                <a:latin typeface="Calibri"/>
              </a:rPr>
              <a:t>ISO 22000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9103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5" name="Picture 44" descr="tmk_cert_fssc220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5201" y="4462272"/>
            <a:ext cx="268844" cy="40233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499103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8A938D"/>
                </a:solidFill>
                <a:latin typeface="Calibri"/>
              </a:rPr>
              <a:t>FSSC 22000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82440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8" name="Picture 47" descr="tmk_cert_code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6674" y="4462272"/>
            <a:ext cx="272570" cy="40233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282440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 dirty="0">
                <a:solidFill>
                  <a:srgbClr val="8A938D"/>
                </a:solidFill>
                <a:latin typeface="Calibri"/>
              </a:rPr>
              <a:t>CODEX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C1D7C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TMK · KOKIRI ·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Wow ROLL та Wow DOUBLE ROLL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E763C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 dirty="0">
                <a:solidFill>
                  <a:srgbClr val="2C713B"/>
                </a:solidFill>
                <a:latin typeface="Calibri"/>
              </a:rPr>
              <a:t>2,5 Г · ПАКЕТИК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ROLL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Лист норі, скручений навколо рисової палички. Пакетик на один укус, у коробці 10 штук.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ПАКЕТИК 2,5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9,51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10,62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11,98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7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4994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12,11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2,5 Г · ПАКЕТИК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ROLL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Hot Spicy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 самий рулетик норі з гострою приправою. У Таїланді — найпродаваніший смак лінійки.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ПАКЕТИК 2,5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9,51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10,62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11,98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7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79878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12,11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2,5 Г · ПАКЕТИК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974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Wow ROLL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Spicy Squid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Рулетик норі з приправою зі смаком гострого кальмара. Найспецифічніший смак трійки.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974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ПАКЕТИК 2,5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974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9,51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7908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10,62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7908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11,98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7908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7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94762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12,11 ₴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5 Г · ПАКЕТИК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5858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DOUBLE ROLL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Подвійний рулетик норі — порція 5 г замість 2,5 г. У коробці 5 пакетиків.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5858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ПАКЕТИК 5 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5858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$0,3</a:t>
            </a:r>
            <a:r>
              <a:rPr sz="1350" b="1" dirty="0">
                <a:solidFill>
                  <a:srgbClr val="FFFFFF"/>
                </a:solidFill>
                <a:latin typeface="Cambria"/>
              </a:rPr>
              <a:t>8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17,07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792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18,98 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2792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21,41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2792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9646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21,64 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9</a:t>
            </a:r>
          </a:p>
        </p:txBody>
      </p:sp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D0C6FA8D-1486-5F53-9CC8-1599106F4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838" y="1161288"/>
            <a:ext cx="1152098" cy="1152098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9EA5EA44-34A1-1F56-1EAC-2B98B906B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73" y="1104644"/>
            <a:ext cx="1217931" cy="1217931"/>
          </a:xfrm>
          <a:prstGeom prst="rect">
            <a:avLst/>
          </a:prstGeom>
        </p:spPr>
      </p:pic>
      <p:pic>
        <p:nvPicPr>
          <p:cNvPr id="113" name="Рисунок 112">
            <a:extLst>
              <a:ext uri="{FF2B5EF4-FFF2-40B4-BE49-F238E27FC236}">
                <a16:creationId xmlns:a16="http://schemas.microsoft.com/office/drawing/2014/main" id="{E039A6DE-1447-9D0B-A325-1B8ACE632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981" y="1194222"/>
            <a:ext cx="1073491" cy="1073491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D71E0275-6171-2D63-FF01-9182DB1ED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716" y="1139506"/>
            <a:ext cx="1192214" cy="11922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792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TMK · KOKIRI ·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Wow DOUBLE ROLL та Wow SEAWEED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E763C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5 Г · ПАКЕТИК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Wow DOUBLE ROLL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Hot 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Подвійний рулетик норі з гострою приправою. Крок нагору від базового формату.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ПАКЕТИК 5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17,07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18,98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21,41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21,64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24002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tmk_sw_or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874" y="1225295"/>
            <a:ext cx="772251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12 Г · 36 ПАК/КАРТ.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Смажені листи норі, приправлені та нарізані на порційні шматочки. Пакет 12 г.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 12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34,86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39,09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44,10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99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0213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44,56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10514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0" name="Picture 59" descr="tmk_sw_spi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295" y="1225295"/>
            <a:ext cx="777649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12 Г · 36 ПАК/КАРТ.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Spicy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Те саме з гострою приправою. Термін придатності 7 місяців — потребує швидкого обігу.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 12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34,86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39,09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44,10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44,56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10</a:t>
            </a:r>
          </a:p>
        </p:txBody>
      </p: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EE6A31A9-BB45-AAC3-3B9C-8A48F2E42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609" y="1150863"/>
            <a:ext cx="1154708" cy="11547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TMK · KOKIRI ·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14241F"/>
                </a:solidFill>
                <a:latin typeface="Cambria"/>
              </a:rPr>
              <a:t>Wow SEAWEED </a:t>
            </a:r>
            <a:r>
              <a:rPr sz="2000" b="1" i="0" dirty="0" err="1">
                <a:solidFill>
                  <a:srgbClr val="14241F"/>
                </a:solidFill>
                <a:latin typeface="Cambria"/>
              </a:rPr>
              <a:t>та</a:t>
            </a:r>
            <a:r>
              <a:rPr sz="2000" b="1" i="0" dirty="0">
                <a:solidFill>
                  <a:srgbClr val="14241F"/>
                </a:solidFill>
                <a:latin typeface="Cambria"/>
              </a:rPr>
              <a:t> Wow MINI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E763C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12 Г · 36 ПАК/КАРТ.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Wow SEAWEED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Squid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Смажена норі зі смаком кальмара. Термін придатності також 7 місяців.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 12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35,64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39,96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45,07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44,55 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002132" y="-509812"/>
            <a:ext cx="469980" cy="218501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10 Г · 36 ПАК/КАРТ.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Wow MINI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Найменший пакет лінійки — 10 г. Формат для прикасової зони та дитячих наборів.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 10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35,11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38,83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43,80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8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0213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27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0904669" y="-829556"/>
            <a:ext cx="432632" cy="221482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10 Г · 36 ПАК/КАРТ.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MINI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Hot Spicy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Гострий варіант міні-пакета 10 г. Ставиться в пару з Original на одній полиці.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 10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35,11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38,83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16552"/>
            <a:ext cx="669096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$0,973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43,80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44,27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11</a:t>
            </a:r>
          </a:p>
        </p:txBody>
      </p: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3569C15C-F378-0C30-69E7-F36F54965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977" y="1170261"/>
            <a:ext cx="1015155" cy="1015155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B06A8357-03A1-04E9-A48A-202DB9FCB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775" y="1167979"/>
            <a:ext cx="1035725" cy="1035725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0C98B21B-BF67-DCCA-4041-1F55D643B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236" y="1182354"/>
            <a:ext cx="1091726" cy="10917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5646420" y="155447"/>
            <a:ext cx="3200400" cy="3200400"/>
          </a:xfrm>
          <a:prstGeom prst="ellipse">
            <a:avLst/>
          </a:prstGeom>
          <a:noFill/>
          <a:ln w="17780">
            <a:solidFill>
              <a:srgbClr val="F4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 rot="21300000">
            <a:off x="6089904" y="553212"/>
            <a:ext cx="2331720" cy="1325880"/>
          </a:xfrm>
          <a:prstGeom prst="roundRect">
            <a:avLst>
              <a:gd name="adj" fmla="val 5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 rot="21300000">
            <a:off x="6057900" y="507492"/>
            <a:ext cx="233172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zek_clas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00000">
            <a:off x="6158251" y="598932"/>
            <a:ext cx="2131016" cy="1143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 rot="21060000">
            <a:off x="5911596" y="1581912"/>
            <a:ext cx="1060704" cy="1389888"/>
          </a:xfrm>
          <a:prstGeom prst="roundRect">
            <a:avLst>
              <a:gd name="adj" fmla="val 5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 rot="21060000">
            <a:off x="5879592" y="1536192"/>
            <a:ext cx="1060704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zek_tempura_corn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60000">
            <a:off x="5971031" y="1659666"/>
            <a:ext cx="877824" cy="114293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 rot="600000">
            <a:off x="7594092" y="1673352"/>
            <a:ext cx="1024128" cy="1353312"/>
          </a:xfrm>
          <a:prstGeom prst="roundRect">
            <a:avLst>
              <a:gd name="adj" fmla="val 5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 rot="600000">
            <a:off x="7562088" y="1627632"/>
            <a:ext cx="1024128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zek_topping_veg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7653527" y="1735556"/>
            <a:ext cx="841248" cy="113746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89320" y="3054096"/>
            <a:ext cx="25146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4475" y="3145536"/>
            <a:ext cx="225856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1" i="0" dirty="0">
                <a:solidFill>
                  <a:srgbClr val="AA3922"/>
                </a:solidFill>
                <a:latin typeface="Cambria"/>
              </a:rPr>
              <a:t>ZEK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3824351"/>
            <a:ext cx="3794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AA3922"/>
                </a:solidFill>
                <a:latin typeface="Cambria"/>
              </a:rPr>
              <a:t>ВИРОБНИЦТВО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4053869"/>
            <a:ext cx="3794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AA3922"/>
                </a:solidFill>
                <a:latin typeface="Cambria"/>
              </a:rPr>
              <a:t>Китай</a:t>
            </a:r>
            <a:endParaRPr sz="1200" b="1" dirty="0">
              <a:solidFill>
                <a:srgbClr val="AA3922"/>
              </a:solidFill>
              <a:latin typeface="Cambria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23822"/>
                </a:solidFill>
                <a:latin typeface="Calibri"/>
              </a:rPr>
              <a:t>ПРОФІЛЬ ПОСТАЧАЛЬНИКА ·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 dirty="0" err="1">
                <a:solidFill>
                  <a:srgbClr val="14241F"/>
                </a:solidFill>
                <a:latin typeface="Cambria"/>
              </a:rPr>
              <a:t>HanJin</a:t>
            </a:r>
            <a:r>
              <a:rPr sz="2600" b="1" i="0" dirty="0">
                <a:solidFill>
                  <a:srgbClr val="14241F"/>
                </a:solidFill>
                <a:latin typeface="Cambria"/>
              </a:rPr>
              <a:t> (Shanghai)</a:t>
            </a:r>
          </a:p>
          <a:p>
            <a:pPr algn="l">
              <a:lnSpc>
                <a:spcPct val="108000"/>
              </a:lnSpc>
            </a:pPr>
            <a:r>
              <a:rPr sz="2600" b="1" i="0" dirty="0">
                <a:solidFill>
                  <a:srgbClr val="14241F"/>
                </a:solidFill>
                <a:latin typeface="Cambria"/>
              </a:rPr>
              <a:t>Food Co., Ltd.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3822"/>
                </a:solidFill>
                <a:latin typeface="Calibri"/>
              </a:rPr>
              <a:t>Темпура, сендвічі та присипка з норі · Retail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A3922"/>
                </a:solidFill>
                <a:latin typeface="Calibri"/>
              </a:rPr>
              <a:t>FOB Qingdao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23822"/>
                </a:solidFill>
                <a:latin typeface="Calibri"/>
              </a:rPr>
              <a:t>ПРО КОМПАНІЮ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>
                <a:solidFill>
                  <a:srgbClr val="44524C"/>
                </a:solidFill>
                <a:latin typeface="Calibri"/>
              </a:rPr>
              <a:t>ZEK — «Zesty Especial Kingdom»,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власний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бренд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Hanjin Food.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Компанія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заснована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2002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року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у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Вейхаї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головний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офіс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із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2014-го — у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Шанхаї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Партнери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групи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—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тайська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Singha Group і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корейська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SPC Group.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602736"/>
            <a:ext cx="1481328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A3922"/>
                </a:solidFill>
                <a:latin typeface="Cambria"/>
              </a:rPr>
              <a:t>2002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рік заснування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у Вейхаї, Шаньдун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79676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979676" y="3602736"/>
            <a:ext cx="1481328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79676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A3922"/>
                </a:solidFill>
                <a:latin typeface="Cambria"/>
              </a:rPr>
              <a:t>№1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71116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частка ринку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приправленої норі в КНР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93592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593592" y="3602736"/>
            <a:ext cx="1481328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93592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AA3922"/>
                </a:solidFill>
                <a:latin typeface="Cambria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5032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країн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експорту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44398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23822"/>
                </a:solidFill>
                <a:latin typeface="Calibri"/>
              </a:rPr>
              <a:t>СИРОВИНА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626864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4241F"/>
                </a:solidFill>
                <a:latin typeface="Calibri"/>
              </a:rPr>
              <a:t>Норі з острова Чеджу (Корея) та плантацій під Вейхаєм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E8C4B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Tempura Seaweed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650" b="1" spc="90">
              <a:solidFill>
                <a:srgbClr val="A23822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zek_tempura_corn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76" y="1225295"/>
            <a:ext cx="772526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 dirty="0">
                <a:solidFill>
                  <a:srgbClr val="A23822"/>
                </a:solidFill>
                <a:latin typeface="Calibri"/>
              </a:rPr>
              <a:t>30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Листи норі в хрусткому клярі темпура зі смаком солодкої кукурудзи. Пакет 30 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650" b="1" spc="90">
                <a:solidFill>
                  <a:srgbClr val="A23822"/>
                </a:solidFill>
                <a:latin typeface="Calibri"/>
              </a:defRPr>
            </a:lvl1pPr>
          </a:lstStyle>
          <a:p>
            <a:r>
              <a:rPr dirty="0"/>
              <a:t>СОБІВАРТІСТЬ · 1 ПАКЕТ 30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33,90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36,20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3127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1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56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uk-UA" sz="700" b="1" dirty="0">
                <a:solidFill>
                  <a:srgbClr val="44524C"/>
                </a:solidFill>
              </a:rPr>
              <a:t>$</a:t>
            </a:r>
            <a:r>
              <a:rPr lang="en-US" sz="700" b="1" dirty="0">
                <a:solidFill>
                  <a:srgbClr val="44524C"/>
                </a:solidFill>
                <a:latin typeface="Calibri"/>
              </a:rPr>
              <a:t>0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89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4994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4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02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zek_tempura_wasabi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909" y="1225295"/>
            <a:ext cx="767341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30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Wasabi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 в клярі темпура з васабі. Гострий варіант тієї самої лінійки, 30 г.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30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33,90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36,20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41,56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44,02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0" name="Picture 59" descr="zek_tempura_mala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156" y="1225295"/>
            <a:ext cx="772526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30 Г · 24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974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Mala Crawfish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 в темпурі з приправою мала — гостро-пряний китайський смак раків. 30 г.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974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30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974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33,90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7908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36,20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7908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41,56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7908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762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44,02 ₴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4" name="Picture 83" descr="zek_tempura_corn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404" y="1225295"/>
            <a:ext cx="777711" cy="1005840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50 Г · 24 ШТ/КАРТ.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5858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Corn · 50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Кукурудзяна темпура у великому пакеті 50 г. Ціна за грам нижча, ніж у 30 г.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5858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5858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</a:t>
            </a:r>
            <a:r>
              <a:rPr lang="en-US" sz="1350" b="1" i="0" dirty="0">
                <a:solidFill>
                  <a:srgbClr val="FFFFFF"/>
                </a:solidFill>
                <a:latin typeface="Cambria"/>
              </a:rPr>
              <a:t>4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51,25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792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54,72 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2792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40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096463" y="443127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700" b="1" dirty="0">
                <a:solidFill>
                  <a:srgbClr val="44524C"/>
                </a:solidFill>
              </a:rPr>
              <a:t>62</a:t>
            </a:r>
            <a:r>
              <a:rPr lang="uk-UA" sz="700" b="1" dirty="0">
                <a:solidFill>
                  <a:srgbClr val="44524C"/>
                </a:solidFill>
              </a:rPr>
              <a:t>,</a:t>
            </a:r>
            <a:r>
              <a:rPr lang="en-US" sz="700" b="1" dirty="0">
                <a:solidFill>
                  <a:srgbClr val="44524C"/>
                </a:solidFill>
              </a:rPr>
              <a:t>83</a:t>
            </a:r>
            <a:r>
              <a:rPr lang="uk-UA" sz="700" b="1" dirty="0">
                <a:solidFill>
                  <a:srgbClr val="44524C"/>
                </a:solidFill>
              </a:rPr>
              <a:t>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2792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$1,48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9646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66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,54 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Tempura Seaweed та Sandwich Seaweed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zek_tempura_wasabi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76" y="1225295"/>
            <a:ext cx="772526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50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Wasabi · 50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Темпура з васабі у пакеті 50 г — формат для домашнього споживання.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</a:t>
            </a:r>
            <a:r>
              <a:rPr lang="en-US" sz="1350" b="1" i="0" dirty="0">
                <a:solidFill>
                  <a:srgbClr val="FFFFFF"/>
                </a:solidFill>
                <a:latin typeface="Cambria"/>
              </a:rPr>
              <a:t>4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51,25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54,72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40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62,83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994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66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,54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zek_tempura_mala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501" y="1225295"/>
            <a:ext cx="762157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50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Mala · 50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Темпура мала у пакеті 50 г. Замикає лінійку великих фасовок.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</a:t>
            </a:r>
            <a:r>
              <a:rPr lang="en-US" sz="1350" b="1" i="0" dirty="0">
                <a:solidFill>
                  <a:srgbClr val="FFFFFF"/>
                </a:solidFill>
                <a:latin typeface="Cambria"/>
              </a:rPr>
              <a:t>4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51,25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54,72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40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62,83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$1,48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66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,54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0" name="Picture 59" descr="zek_sandwich_meat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271849" y="1225295"/>
            <a:ext cx="749141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25 Г · 30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974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Sandwich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Meat Floss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Два листи норі з прошарком сушеної м’ясної стружки між ними. Пакет 25 г.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974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25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974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$0,5</a:t>
            </a:r>
            <a:r>
              <a:rPr lang="en-US" sz="1350" b="1" i="0" dirty="0">
                <a:solidFill>
                  <a:srgbClr val="FFFFFF"/>
                </a:solidFill>
                <a:latin typeface="Cambria"/>
              </a:rPr>
              <a:t>7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25,49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7908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$0,60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27,19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7908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$0,69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31,19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7908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$0,71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762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31,74 ₴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4" name="Picture 83" descr="zek_sandwich_sesame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048" y="1225295"/>
            <a:ext cx="734422" cy="1005840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25 Г · 30 ШТ/КАРТ.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5858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Sandwich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Sesame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Два листи норі з кунжутним прошарком. Вегетаріанський варіант сендвіча.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5858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25 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5858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$0,5</a:t>
            </a:r>
            <a:r>
              <a:rPr lang="en-US" sz="1350" b="1" i="0" dirty="0">
                <a:solidFill>
                  <a:srgbClr val="FFFFFF"/>
                </a:solidFill>
                <a:latin typeface="Cambria"/>
              </a:rPr>
              <a:t>7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26,05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792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$0,60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27,19 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2792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$0,69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31,19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2792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$0,71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9646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31,74 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Seaweed Topping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zek_topping_chicken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250" y="1225295"/>
            <a:ext cx="745259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 dirty="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Chicken </a:t>
            </a:r>
            <a:r>
              <a:rPr sz="1200" b="1" dirty="0">
                <a:solidFill>
                  <a:srgbClr val="14241F"/>
                </a:solidFill>
                <a:latin typeface="Cambria"/>
              </a:rPr>
              <a:t>Floss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35 Г </a:t>
            </a:r>
            <a:endParaRPr sz="1200" b="1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Подрібнена норі з курячою стружкою — присипка до рису та супів. Збагачена DHA.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32,88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35,09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40,24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40,95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24002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zek_topping_veg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048" y="1225295"/>
            <a:ext cx="743902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Vegetables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Норі-присипка з овочами. Паковання орієнтоване на дитячу аудиторію.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32,88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$0,78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35,09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40,24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0213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40,96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10514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0" name="Picture 59" descr="zek_topping_sesam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003" y="1225295"/>
            <a:ext cx="736233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Sesame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Норі-присипка з кунжутом — базовий смак напрямку, без м’ясних добавок.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32,88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$0,78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35,09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40,24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40,96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Seaweed Topping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zek_topping_veg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502" y="1225295"/>
            <a:ext cx="694755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Vegetables · 70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Овочева присипка у великому пакеті 70 г. Розрахована на родину або HoReCa.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66,59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71,05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81,49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82,92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24002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zek_topping_sesame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029" y="1225295"/>
            <a:ext cx="699940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Sesame · 70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Кунжутна присипка у пакеті 70 г — удвічі більший обсяг за той самий смак.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$1,48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66,59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$1,57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71,05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81,49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$1,84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0213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82,92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10514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0" name="Picture 59" descr="zek_topping_chicken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149" y="1225295"/>
            <a:ext cx="699940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Chicken · 70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Присипка з курячою стружкою, 70 г. Найдорожча позиція в розрахунку ZEK.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66,59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$1,57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71,05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$1,81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81,49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$1,84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82,92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2286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286000" y="0"/>
            <a:ext cx="2286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0" y="0"/>
            <a:ext cx="2286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0" y="0"/>
            <a:ext cx="2286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548640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90">
                <a:solidFill>
                  <a:srgbClr val="C9A24E"/>
                </a:solidFill>
                <a:latin typeface="Calibri"/>
              </a:rPr>
              <a:t>ЧАСТИНА 2 · ЖОВТЕНЬ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8412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4241F"/>
                </a:solidFill>
                <a:latin typeface="Cambria"/>
              </a:rPr>
              <a:t>Зріз ринку і ціна на полиці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66543"/>
            <a:ext cx="1005840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5760" y="2267712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 i="0">
                <a:solidFill>
                  <a:srgbClr val="44524C"/>
                </a:solidFill>
                <a:latin typeface="Calibri"/>
              </a:rPr>
              <a:t>Хто вже стоїть на полиці, по чому продають і де в цій картині опиняється асортимент чотирьох постачальників із цього каталогу.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54680"/>
            <a:ext cx="1993391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1993391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5760" y="3300984"/>
            <a:ext cx="19933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4241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630168"/>
            <a:ext cx="184708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реальні позиції</a:t>
            </a:r>
          </a:p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конкурентів знайдено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5456" y="3154680"/>
            <a:ext cx="1993391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505456" y="3154680"/>
            <a:ext cx="1993391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05456" y="3300984"/>
            <a:ext cx="19933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4241F"/>
                </a:solidFill>
                <a:latin typeface="Cambri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3630168"/>
            <a:ext cx="184708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мереж</a:t>
            </a:r>
          </a:p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перевірено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3154680"/>
            <a:ext cx="1993391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645152" y="3154680"/>
            <a:ext cx="1993391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45152" y="3300984"/>
            <a:ext cx="19933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4241F"/>
                </a:solidFill>
                <a:latin typeface="Cambria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8304" y="3630168"/>
            <a:ext cx="184708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мереж продають</a:t>
            </a:r>
          </a:p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категорію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4848" y="3154680"/>
            <a:ext cx="1993391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784848" y="3154680"/>
            <a:ext cx="1993391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84848" y="3300984"/>
            <a:ext cx="19933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4241F"/>
                </a:solidFill>
                <a:latin typeface="Cambria"/>
              </a:rPr>
              <a:t>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630168"/>
            <a:ext cx="184708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SKU в каталозі</a:t>
            </a:r>
          </a:p>
          <a:p>
            <a:pPr algn="ctr">
              <a:lnSpc>
                <a:spcPct val="112000"/>
              </a:lnSpc>
            </a:pPr>
            <a:r>
              <a:rPr sz="680" b="0" i="0">
                <a:solidFill>
                  <a:srgbClr val="8A938D"/>
                </a:solidFill>
                <a:latin typeface="Calibri"/>
              </a:rPr>
              <a:t>вище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ОБСЯГ ДОСЛІДЖЕННЯ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Методологія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521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50" b="0" i="0">
                <a:solidFill>
                  <a:srgbClr val="44524C"/>
                </a:solidFill>
                <a:latin typeface="Calibri"/>
              </a:rPr>
              <a:t>На відміну від досліджень SIAS і готового рису, тут немає доступу до митної бази — обсяги імпорту категорії не показано. Дані нижче — відкритий моніторинг маркетплейсів і сайтів мереж, жовтень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93392"/>
            <a:ext cx="405079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2C713B"/>
                </a:solidFill>
                <a:latin typeface="Calibri"/>
              </a:rPr>
              <a:t>ЩО ЗРОБЛЕНО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40507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Перевірено онлайн-каталоги 6 мереж: АТБ, Сільпо, Novus, Varus, Ашан, Metro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16352"/>
            <a:ext cx="40507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Перевірено маркетплейси: Prom.ua, Rozetka, Bigl.ua, Allo.ua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40507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Кожна знайдена позиція — з ціною, вагою, продавцем і каналом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50208"/>
            <a:ext cx="40507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Власна собівартість → ціна партнеру → полиця — за формулою проєкту «Готовий рис» (той самий розподіл: бонус 25%, маржа 35%, націнка мережі +40%)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993392"/>
            <a:ext cx="405079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2C713B"/>
                </a:solidFill>
                <a:latin typeface="Calibri"/>
              </a:rPr>
              <a:t>ЧОГО НЕМАЄ В ЦЬОМУ ДОСЛІДЖЕННІ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49424"/>
            <a:ext cx="40507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Митної бази (обсяги імпорту категорії) — на відміну від досліджень SIAS і рису, доступу до цих даних не було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926080"/>
            <a:ext cx="40507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Офлайн-перевірки полиць наживо — лише онлайн-каталоги мереж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602736"/>
            <a:ext cx="40507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•  Повного асортименту конкурентів — тільки те, що показує відкритий пошук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7448" y="4325112"/>
            <a:ext cx="4050791" cy="420624"/>
          </a:xfrm>
          <a:prstGeom prst="roundRect">
            <a:avLst>
              <a:gd name="adj" fmla="val 6000"/>
            </a:avLst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37176" y="4398264"/>
            <a:ext cx="3831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30" b="0" i="1">
                <a:solidFill>
                  <a:srgbClr val="2D733C"/>
                </a:solidFill>
                <a:latin typeface="Calibri"/>
              </a:rPr>
              <a:t>Де написано «не знайдено» — йдеться про видимість в онлайн-пошуку, а не доведену відсутність на ринку.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ЩО ШУКАЛИ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Сегментація категорії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4069079" cy="3383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4069079" cy="54864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3504" y="1408176"/>
            <a:ext cx="3611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2C713B"/>
                </a:solidFill>
                <a:latin typeface="Calibri"/>
              </a:rPr>
              <a:t>СЕГМЕНТ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591056"/>
            <a:ext cx="3611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41F"/>
                </a:solidFill>
                <a:latin typeface="Cambria"/>
              </a:rPr>
              <a:t>Приправлені снеки з водоростей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103120"/>
            <a:ext cx="3611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A938D"/>
                </a:solidFill>
                <a:latin typeface="Calibri"/>
              </a:rPr>
              <a:t>Відповідає TMK · KOKIRI та HanJin · ZEK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450592"/>
            <a:ext cx="1732787" cy="74980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3504" y="2560320"/>
            <a:ext cx="17327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763C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07792"/>
            <a:ext cx="16230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бренди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4308" y="2450592"/>
            <a:ext cx="1732787" cy="74980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64308" y="2560320"/>
            <a:ext cx="17327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763C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9172" y="2907792"/>
            <a:ext cx="16230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позиції з ціною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3383280"/>
            <a:ext cx="359359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69" b="0" i="0">
                <a:solidFill>
                  <a:srgbClr val="44524C"/>
                </a:solidFill>
                <a:latin typeface="Calibri"/>
              </a:rPr>
              <a:t>Tao Kae Noi, AKURA (2 позиції), гуртова «Seaweed Traditional».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9" y="1188720"/>
            <a:ext cx="4069079" cy="3383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709159" y="1188720"/>
            <a:ext cx="4069079" cy="54864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46903" y="1408176"/>
            <a:ext cx="3611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35C15"/>
                </a:solidFill>
                <a:latin typeface="Calibri"/>
              </a:rPr>
              <a:t>СЕГМЕНТ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6903" y="1591056"/>
            <a:ext cx="3611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41F"/>
                </a:solidFill>
                <a:latin typeface="Cambria"/>
              </a:rPr>
              <a:t>Рисові крекери в норі (арарe, сенбей)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6903" y="2103120"/>
            <a:ext cx="3611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A938D"/>
                </a:solidFill>
                <a:latin typeface="Calibri"/>
              </a:rPr>
              <a:t>Відповідає Singha Kameda та Thai-Nichi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46903" y="2450592"/>
            <a:ext cx="1732787" cy="749808"/>
          </a:xfrm>
          <a:prstGeom prst="roundRect">
            <a:avLst>
              <a:gd name="adj" fmla="val 6000"/>
            </a:avLst>
          </a:prstGeom>
          <a:solidFill>
            <a:srgbClr val="F9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46903" y="2560320"/>
            <a:ext cx="17327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AB5F15"/>
                </a:solidFill>
                <a:latin typeface="Cambria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7" y="2907792"/>
            <a:ext cx="16230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брендів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07707" y="2450592"/>
            <a:ext cx="1732787" cy="749808"/>
          </a:xfrm>
          <a:prstGeom prst="roundRect">
            <a:avLst>
              <a:gd name="adj" fmla="val 6000"/>
            </a:avLst>
          </a:prstGeom>
          <a:solidFill>
            <a:srgbClr val="F9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07707" y="2560320"/>
            <a:ext cx="17327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AB5F15"/>
                </a:solidFill>
                <a:latin typeface="Cambria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2571" y="2907792"/>
            <a:ext cx="16230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8A938D"/>
                </a:solidFill>
                <a:latin typeface="Calibri"/>
              </a:rPr>
              <a:t>позицій з ціною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3" y="3383280"/>
            <a:ext cx="359359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69" b="0" i="0">
                <a:solidFill>
                  <a:srgbClr val="44524C"/>
                </a:solidFill>
                <a:latin typeface="Calibri"/>
              </a:rPr>
              <a:t>Рисові крекери в норі (арарe, сенбей — категорія Singha Kameda і Thai-Nichi) на українському ринку не знайдено жодного разу — ні в мережах, ні на маркетплейсах. Порожня ніша або засліплена зона пошуку: перевірити наживо на полицях варто, перш ніж вважати ринок порожнім.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Джерело: відкритий моніторинг маркетплейсів і мереж, жовтень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СЕГМЕНТ A · ЗНАЙДЕНО В ВІДКРИТОМУ ПОШУКУ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Конкуренти · каталог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4 позиції · 3 бренди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965960" cy="325526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965960" cy="82296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1965960" cy="822960"/>
          </a:xfrm>
          <a:prstGeom prst="roundRect">
            <a:avLst>
              <a:gd name="adj" fmla="val 35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2064" y="1316736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41F"/>
                </a:solidFill>
                <a:latin typeface="Cambria"/>
              </a:rPr>
              <a:t>Tao Kae Noi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627632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A938D"/>
                </a:solidFill>
                <a:latin typeface="Calibri"/>
              </a:rPr>
              <a:t>Таїланд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139696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51565B"/>
                </a:solidFill>
                <a:latin typeface="Cambria"/>
              </a:rPr>
              <a:t>Big Roll Classic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596896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18 Г (6 × 3 Г)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" y="2871216"/>
            <a:ext cx="1673351" cy="512064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2064" y="2926080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41F"/>
                </a:solidFill>
                <a:latin typeface="Cambria"/>
              </a:rPr>
              <a:t>155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200400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база 163 ₴ · 8.6 ₴/г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493008"/>
            <a:ext cx="16733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1" i="0">
                <a:solidFill>
                  <a:srgbClr val="55595F"/>
                </a:solidFill>
                <a:latin typeface="Calibri"/>
              </a:rPr>
              <a:t>Маркетплейс (Prom.ua)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712464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1">
                <a:solidFill>
                  <a:srgbClr val="8A938D"/>
                </a:solidFill>
                <a:latin typeface="Calibri"/>
              </a:rPr>
              <a:t>продавець: «Смак 24»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3931920"/>
            <a:ext cx="167335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40" b="0" i="0">
                <a:solidFill>
                  <a:srgbClr val="44524C"/>
                </a:solidFill>
                <a:latin typeface="Calibri"/>
              </a:rPr>
              <a:t>Єдиний світовий бренд категорії, знайдений на українському ринку.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1188720"/>
            <a:ext cx="1965960" cy="325526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514600" y="1188720"/>
            <a:ext cx="1965960" cy="82296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514600" y="1188720"/>
            <a:ext cx="1965960" cy="822960"/>
          </a:xfrm>
          <a:prstGeom prst="roundRect">
            <a:avLst>
              <a:gd name="adj" fmla="val 35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660904" y="1316736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41F"/>
                </a:solidFill>
                <a:latin typeface="Cambria"/>
              </a:rPr>
              <a:t>AKURA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0904" y="1627632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A938D"/>
                </a:solidFill>
                <a:latin typeface="Calibri"/>
              </a:rPr>
              <a:t>імпорт, бренд сушi-аксесуарів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0904" y="2139696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51565B"/>
                </a:solidFill>
                <a:latin typeface="Cambria"/>
              </a:rPr>
              <a:t>Nori Chips Original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0904" y="2596896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3 × 4,5 Г (13,5 Г)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60904" y="2871216"/>
            <a:ext cx="1673351" cy="512064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660904" y="2926080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41F"/>
                </a:solidFill>
                <a:latin typeface="Cambria"/>
              </a:rPr>
              <a:t>129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0904" y="3200400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база 167 ₴ · 9.6 ₴/г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60904" y="3493008"/>
            <a:ext cx="16733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1" i="0">
                <a:solidFill>
                  <a:srgbClr val="55595F"/>
                </a:solidFill>
                <a:latin typeface="Calibri"/>
              </a:rPr>
              <a:t>Маркетплейс (Rozetka, продавець Rozetka)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60904" y="3712464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1">
                <a:solidFill>
                  <a:srgbClr val="8A938D"/>
                </a:solidFill>
                <a:latin typeface="Calibri"/>
              </a:rPr>
              <a:t>продавець: Rozetka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0904" y="3931920"/>
            <a:ext cx="167335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40" b="0" i="0">
                <a:solidFill>
                  <a:srgbClr val="44524C"/>
                </a:solidFill>
                <a:latin typeface="Calibri"/>
              </a:rPr>
              <a:t>Той самий бренд, що й норі-листи для суші — вийшов і в снек-формат.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1188720"/>
            <a:ext cx="1965960" cy="325526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663440" y="1188720"/>
            <a:ext cx="1965960" cy="82296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4663440" y="1188720"/>
            <a:ext cx="1965960" cy="822960"/>
          </a:xfrm>
          <a:prstGeom prst="roundRect">
            <a:avLst>
              <a:gd name="adj" fmla="val 35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9744" y="1316736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41F"/>
                </a:solidFill>
                <a:latin typeface="Cambria"/>
              </a:rPr>
              <a:t>AKURA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9744" y="1627632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A938D"/>
                </a:solidFill>
                <a:latin typeface="Calibri"/>
              </a:rPr>
              <a:t>імпорт, бренд сушi-аксесуарів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9744" y="2139696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51565B"/>
                </a:solidFill>
                <a:latin typeface="Cambria"/>
              </a:rPr>
              <a:t>Nori Chips Kimchi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9744" y="2596896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3 × 4,5 Г (13,5 Г)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09744" y="2871216"/>
            <a:ext cx="1673351" cy="512064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809744" y="2926080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41F"/>
                </a:solidFill>
                <a:latin typeface="Cambria"/>
              </a:rPr>
              <a:t>89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744" y="3200400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база 167 ₴ · 6.6 ₴/г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9744" y="3493008"/>
            <a:ext cx="16733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1" i="0">
                <a:solidFill>
                  <a:srgbClr val="55595F"/>
                </a:solidFill>
                <a:latin typeface="Calibri"/>
              </a:rPr>
              <a:t>Маркетплейс (Rozetka, продавець Rozetka)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9744" y="3712464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1">
                <a:solidFill>
                  <a:srgbClr val="8A938D"/>
                </a:solidFill>
                <a:latin typeface="Calibri"/>
              </a:rPr>
              <a:t>продавець: Rozetka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9744" y="3931920"/>
            <a:ext cx="167335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40" b="0" i="0">
                <a:solidFill>
                  <a:srgbClr val="44524C"/>
                </a:solidFill>
                <a:latin typeface="Calibri"/>
              </a:rPr>
              <a:t>Акційна ціна — майже вдвічі нижче базової 167 ₴.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12280" y="1188720"/>
            <a:ext cx="1965960" cy="325526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812280" y="1188720"/>
            <a:ext cx="1965960" cy="822960"/>
          </a:xfrm>
          <a:prstGeom prst="rect">
            <a:avLst/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6812280" y="1188720"/>
            <a:ext cx="1965960" cy="822960"/>
          </a:xfrm>
          <a:prstGeom prst="roundRect">
            <a:avLst>
              <a:gd name="adj" fmla="val 35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958584" y="1316736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41F"/>
                </a:solidFill>
                <a:latin typeface="Cambria"/>
              </a:rPr>
              <a:t>Seaweed Traditional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4" y="1627632"/>
            <a:ext cx="16733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A938D"/>
                </a:solidFill>
                <a:latin typeface="Calibri"/>
              </a:rPr>
              <a:t>AKURA · гурт/HoReCa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8584" y="2139696"/>
            <a:ext cx="167335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51565B"/>
                </a:solidFill>
                <a:latin typeface="Cambria"/>
              </a:rPr>
              <a:t>Опт / HoReCa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58584" y="2596896"/>
            <a:ext cx="16733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72 × 4,5 Г (324 Г)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58584" y="2871216"/>
            <a:ext cx="1673351" cy="512064"/>
          </a:xfrm>
          <a:prstGeom prst="roundRect">
            <a:avLst>
              <a:gd name="adj" fmla="val 5000"/>
            </a:avLst>
          </a:prstGeom>
          <a:solidFill>
            <a:srgbClr val="F5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958584" y="2926080"/>
            <a:ext cx="16733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41F"/>
                </a:solidFill>
                <a:latin typeface="Cambria"/>
              </a:rPr>
              <a:t>1820 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58584" y="3200400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база 2600 ₴ · 5.6 ₴/г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58584" y="3493008"/>
            <a:ext cx="16733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1" i="0">
                <a:solidFill>
                  <a:srgbClr val="55595F"/>
                </a:solidFill>
                <a:latin typeface="Calibri"/>
              </a:rPr>
              <a:t>B2B-опт (Prom.ua)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58584" y="3712464"/>
            <a:ext cx="1673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1">
                <a:solidFill>
                  <a:srgbClr val="8A938D"/>
                </a:solidFill>
                <a:latin typeface="Calibri"/>
              </a:rPr>
              <a:t>продавець: «Exotic Food»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58584" y="3931920"/>
            <a:ext cx="167335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40" b="0" i="0">
                <a:solidFill>
                  <a:srgbClr val="44524C"/>
                </a:solidFill>
                <a:latin typeface="Calibri"/>
              </a:rPr>
              <a:t>Гуртова/ресторанна ціна — довідково, не роздрібна полиця.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Ціни й продавці — як показані на момент перевірки, жовтень 2026.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КАНАЛИ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Де продається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52144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50" b="0" i="0">
                <a:solidFill>
                  <a:srgbClr val="44524C"/>
                </a:solidFill>
                <a:latin typeface="Calibri"/>
              </a:rPr>
              <a:t>У каталогах шести перевірених мереж приправлений снек з водоростей не знайдено — там є лише листи норі для суші (інша категорія, інше використання). Категорія живе на маркетплейсах: Prom.ua, Rozetka (продавець-маркетплейс), Bigl.ua, Allo.ua.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23822"/>
                </a:solidFill>
                <a:latin typeface="Calibri"/>
              </a:rPr>
              <a:t>ПЕРЕВІРЕНІ МЕРЕЖІ · ПОЗИЦІЙ КАТЕГОРІЇ ЗНАЙДЕНО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39696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АТБ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23433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514600" y="223433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629448" y="2139696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90216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Сільпо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258485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514600" y="258485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29448" y="2490216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40736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Novus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293537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514600" y="293537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629448" y="2840736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191256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Varus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328589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514600" y="328589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629448" y="3191256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541775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Ашан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4600" y="363641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2514600" y="363641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629448" y="3541775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892295"/>
            <a:ext cx="2075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Metro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3986936"/>
            <a:ext cx="2084831" cy="161239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2514600" y="3986936"/>
            <a:ext cx="41696" cy="161239"/>
          </a:xfrm>
          <a:prstGeom prst="roundRect">
            <a:avLst>
              <a:gd name="adj" fmla="val 40000"/>
            </a:avLst>
          </a:prstGeom>
          <a:solidFill>
            <a:srgbClr val="C4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29448" y="3892295"/>
            <a:ext cx="932688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6BCB9"/>
                </a:solidFill>
                <a:latin typeface="Cambria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1920240"/>
            <a:ext cx="32918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23822"/>
                </a:solidFill>
                <a:latin typeface="Calibri"/>
              </a:rPr>
              <a:t>ДЕ КАТЕГОРІЯ РЕАЛЬНО 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2194560"/>
            <a:ext cx="32918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486400" y="2194560"/>
            <a:ext cx="45720" cy="6766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50992" y="228600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241F"/>
                </a:solidFill>
                <a:latin typeface="Cambria"/>
              </a:rPr>
              <a:t>Prom.ua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254203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60" b="0" i="0">
                <a:solidFill>
                  <a:srgbClr val="8A938D"/>
                </a:solidFill>
                <a:latin typeface="Calibri"/>
              </a:rPr>
              <a:t>маркетплейс · найбільше позицій знайдено тут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2999232"/>
            <a:ext cx="32918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486400" y="2999232"/>
            <a:ext cx="45720" cy="6766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650992" y="309067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241F"/>
                </a:solidFill>
                <a:latin typeface="Cambria"/>
              </a:rPr>
              <a:t>Rozetka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50992" y="3346703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60" b="0" i="0">
                <a:solidFill>
                  <a:srgbClr val="8A938D"/>
                </a:solidFill>
                <a:latin typeface="Calibri"/>
              </a:rPr>
              <a:t>маркетплейс · продавець — сама Rozetka (AKURA)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3803904"/>
            <a:ext cx="329183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486400" y="3803904"/>
            <a:ext cx="45720" cy="6766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650992" y="3895344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241F"/>
                </a:solidFill>
                <a:latin typeface="Cambria"/>
              </a:rPr>
              <a:t>Bigl.ua / Allo.ua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50992" y="415137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60" b="0" i="0">
                <a:solidFill>
                  <a:srgbClr val="8A938D"/>
                </a:solidFill>
                <a:latin typeface="Calibri"/>
              </a:rPr>
              <a:t>маркетплейси · перевірено, окремих позицій не зафіксовано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B5916"/>
                </a:solidFill>
                <a:latin typeface="Calibri"/>
              </a:rPr>
              <a:t>ПОЗИЦІОНУВАННЯ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Ціна за грам — конкуренти проти нашого асортименту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225296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TMK · KOKIRI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6436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медіана полиці · 10 SKU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350503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880360" y="1350503"/>
            <a:ext cx="4490357" cy="213316"/>
          </a:xfrm>
          <a:prstGeom prst="roundRect">
            <a:avLst>
              <a:gd name="adj" fmla="val 4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43869" y="1225296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D733C"/>
                </a:solidFill>
                <a:latin typeface="Cambria"/>
              </a:rPr>
              <a:t>12.1 ₴/г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89027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AKURA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30167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Nori Chips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814234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880360" y="1814234"/>
            <a:ext cx="3540617" cy="213316"/>
          </a:xfrm>
          <a:prstGeom prst="roundRect">
            <a:avLst>
              <a:gd name="adj" fmla="val 4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4129" y="1689027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65A60"/>
                </a:solidFill>
                <a:latin typeface="Cambria"/>
              </a:rPr>
              <a:t>9.6 ₴/г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152758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Tao Kae Noi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393899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Big Roll Classic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2277966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880360" y="2277966"/>
            <a:ext cx="3187584" cy="213316"/>
          </a:xfrm>
          <a:prstGeom prst="roundRect">
            <a:avLst>
              <a:gd name="adj" fmla="val 4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41096" y="2152758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65A60"/>
                </a:solidFill>
                <a:latin typeface="Cambria"/>
              </a:rPr>
              <a:t>8.6 ₴/г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616490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AKURA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857630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Nori Chips Kimchi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2741697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880360" y="2741697"/>
            <a:ext cx="2442751" cy="213316"/>
          </a:xfrm>
          <a:prstGeom prst="roundRect">
            <a:avLst>
              <a:gd name="adj" fmla="val 4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396263" y="2616490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65A60"/>
                </a:solidFill>
                <a:latin typeface="Cambria"/>
              </a:rPr>
              <a:t>6.6 ₴/г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080221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Singha Kameda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321362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медіана полиці · 2 SKU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3205429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2880360" y="3205429"/>
            <a:ext cx="1687454" cy="213316"/>
          </a:xfrm>
          <a:prstGeom prst="roundRect">
            <a:avLst>
              <a:gd name="adj" fmla="val 4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40966" y="3080221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A65D15"/>
                </a:solidFill>
                <a:latin typeface="Cambria"/>
              </a:rPr>
              <a:t>4.6 ₴/г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543953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HanJin · ZEK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785093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медіана полиці · 14 SKU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360" y="3669160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2880360" y="3669160"/>
            <a:ext cx="1322272" cy="213316"/>
          </a:xfrm>
          <a:prstGeom prst="roundRect">
            <a:avLst>
              <a:gd name="adj" fmla="val 4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275784" y="3543953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A53822"/>
                </a:solidFill>
                <a:latin typeface="Cambria"/>
              </a:rPr>
              <a:t>3.6 ₴/г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007684"/>
            <a:ext cx="2441448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241F"/>
                </a:solidFill>
                <a:latin typeface="Calibri"/>
              </a:rPr>
              <a:t>Thai-Nichi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248824"/>
            <a:ext cx="2441448" cy="1947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0" i="0">
                <a:solidFill>
                  <a:srgbClr val="8A938D"/>
                </a:solidFill>
                <a:latin typeface="Calibri"/>
              </a:rPr>
              <a:t>медіана полиці · 2 SKU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0360" y="4132892"/>
            <a:ext cx="5029199" cy="213316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2880360" y="4132892"/>
            <a:ext cx="1156899" cy="213316"/>
          </a:xfrm>
          <a:prstGeom prst="roundRect">
            <a:avLst>
              <a:gd name="adj" fmla="val 4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110411" y="4007684"/>
            <a:ext cx="1234440" cy="463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C575E"/>
                </a:solidFill>
                <a:latin typeface="Cambria"/>
              </a:rPr>
              <a:t>3.1 ₴/г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Наша ціна — розрахункова полиця за формулою нижче, не чинний прайс. Конкуренти — реальні ціни з відкритого пошуку.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З ЧОГО СКЛАДАЄТЬСЯ ЦІНА НА ПОЛИЦІ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Ціноутворення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713B"/>
                </a:solidFill>
                <a:latin typeface="Calibri"/>
              </a:rPr>
              <a:t>ЦІНА ПАРТНЕРУ — ЗА НЕЮ МИ ПРОДАЄМО МЕРЕЖІ (100 %)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3364991" cy="420624"/>
          </a:xfrm>
          <a:prstGeom prst="roundRect">
            <a:avLst>
              <a:gd name="adj" fmla="val 3000"/>
            </a:avLst>
          </a:prstGeom>
          <a:solidFill>
            <a:srgbClr val="549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3364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Собівартість 40%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0752" y="1371600"/>
            <a:ext cx="2103120" cy="420624"/>
          </a:xfrm>
          <a:prstGeom prst="roundRect">
            <a:avLst>
              <a:gd name="adj" fmla="val 3000"/>
            </a:avLst>
          </a:prstGeom>
          <a:solidFill>
            <a:srgbClr val="8DB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30752" y="1371600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Бонус мережі 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33872" y="1371600"/>
            <a:ext cx="2944368" cy="420624"/>
          </a:xfrm>
          <a:prstGeom prst="roundRect">
            <a:avLst>
              <a:gd name="adj" fmla="val 3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833872" y="1371600"/>
            <a:ext cx="29443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Наша маржа 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83664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8A938D"/>
                </a:solidFill>
                <a:latin typeface="Calibri"/>
              </a:rPr>
              <a:t>ПОЛИЦЯ = ціна партнеру × 1.40. Бонус 25% і маржа 35% — частки ціни партнеру; націнка мережі 40% — понад ціну партнеру.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212848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ТОВАР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212848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СС,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212848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ПАРТНЕР,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2212848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БОНУС,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212848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ПРИБУТОК, 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212848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1" i="0" spc="90">
                <a:solidFill>
                  <a:srgbClr val="8A938D"/>
                </a:solidFill>
                <a:latin typeface="Calibri"/>
              </a:rPr>
              <a:t>ПОЛИЦЯ, 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95728"/>
            <a:ext cx="5779008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246888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4241F"/>
                </a:solidFill>
                <a:latin typeface="Cambria"/>
              </a:rPr>
              <a:t>Arare Norimaki Original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468880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54.6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7208" y="2468880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136.6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8" y="2468880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34.2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2468880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47.8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2468880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65D15"/>
                </a:solidFill>
                <a:latin typeface="Cambria"/>
              </a:rPr>
              <a:t>191.3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779776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4241F"/>
                </a:solidFill>
                <a:latin typeface="Cambria"/>
              </a:rPr>
              <a:t>Norimaki Original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2779776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42.5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7208" y="2779776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106.2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5888" y="27797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26.6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2779776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37.2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2779776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C575E"/>
                </a:solidFill>
                <a:latin typeface="Cambria"/>
              </a:rPr>
              <a:t>148.7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090672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4241F"/>
                </a:solidFill>
                <a:latin typeface="Cambria"/>
              </a:rPr>
              <a:t>Wow ROLL Original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090672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9.5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07208" y="3090672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23.8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8" y="3090672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5.9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3090672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8.3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6088" y="3090672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2D733C"/>
                </a:solidFill>
                <a:latin typeface="Cambria"/>
              </a:rPr>
              <a:t>33.3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401568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4241F"/>
                </a:solidFill>
                <a:latin typeface="Cambria"/>
              </a:rPr>
              <a:t>Tempura Seaweed Corn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3401568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33.9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7208" y="3401568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84.7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75888" y="3401568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21.2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3401568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4241F"/>
                </a:solidFill>
                <a:latin typeface="Calibri"/>
              </a:rPr>
              <a:t>29.7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6088" y="3401568"/>
            <a:ext cx="813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53822"/>
                </a:solidFill>
                <a:latin typeface="Cambria"/>
              </a:rPr>
              <a:t>118.6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СС — Self_Cost (SelfCost_Snacks.xlsx, найдешевший контейнерний сценарій). Формула — як у проєкті «Готовий рис».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B5916"/>
                </a:solidFill>
                <a:latin typeface="Calibri"/>
              </a:rPr>
              <a:t>РОЗРАХУНКОВА ЦІНА НА ПОЛИЦІ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Полиця — Singha Kameda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2 SKU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ТОВАР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ФАСОВКА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18872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СС, 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ПАРТНЕР,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ПОЛИЦЯ,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35C15"/>
                </a:solidFill>
                <a:latin typeface="Calibri"/>
              </a:rPr>
              <a:t>ПОЛИЦЯ, ₴/Г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89888"/>
            <a:ext cx="7406640" cy="9144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60" y="1481328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Arare Norimaki 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42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481328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54.65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136.6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65D15"/>
                </a:solidFill>
                <a:latin typeface="Calibri"/>
              </a:rPr>
              <a:t>191.3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4.55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732788"/>
            <a:ext cx="7406640" cy="269748"/>
          </a:xfrm>
          <a:prstGeom prst="rect">
            <a:avLst/>
          </a:prstGeom>
          <a:solidFill>
            <a:srgbClr val="FB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1751076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Arare Norimaki Wasabi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42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751076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54.65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136.6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65D15"/>
                </a:solidFill>
                <a:latin typeface="Calibri"/>
              </a:rPr>
              <a:t>191.3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4.55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295144"/>
            <a:ext cx="7406640" cy="512064"/>
          </a:xfrm>
          <a:prstGeom prst="roundRect">
            <a:avLst>
              <a:gd name="adj" fmla="val 6000"/>
            </a:avLst>
          </a:prstGeom>
          <a:solidFill>
            <a:srgbClr val="F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0352" y="2386584"/>
            <a:ext cx="7077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A65D15"/>
                </a:solidFill>
                <a:latin typeface="Calibri"/>
              </a:rPr>
              <a:t>Медіана полиці — 4.6 ₴/г, це на 47% дешевше за медіану знайдених конкурентів (8.6 ₴/г).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Партнер і полиця — за формулою «Собівартість → партнер → полиця» (бонус 25%, маржа 35%, націнка +40%). Собівартість — найдешевший контейнерний сценарій із SelfCost_Snacks.xlsx.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1C5359"/>
                </a:solidFill>
                <a:latin typeface="Calibri"/>
              </a:rPr>
              <a:t>РОЗРАХУНКОВА ЦІНА НА ПОЛИЦІ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Полиця — Thai-Nichi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2 SKU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ТОВАР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ФАСОВКА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18872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СС, 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ПАРТНЕР,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ПОЛИЦЯ,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1C565C"/>
                </a:solidFill>
                <a:latin typeface="Calibri"/>
              </a:rPr>
              <a:t>ПОЛИЦЯ, ₴/Г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89888"/>
            <a:ext cx="7406640" cy="9144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60" y="1481328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Norimaki 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50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481328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42.49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106.2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C575E"/>
                </a:solidFill>
                <a:latin typeface="Calibri"/>
              </a:rPr>
              <a:t>148.7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2.97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732788"/>
            <a:ext cx="7406640" cy="269748"/>
          </a:xfrm>
          <a:prstGeom prst="rect">
            <a:avLst/>
          </a:prstGeom>
          <a:solidFill>
            <a:srgbClr val="F4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1751076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Norimaki Wasabi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55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751076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51.39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128.5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C575E"/>
                </a:solidFill>
                <a:latin typeface="Calibri"/>
              </a:rPr>
              <a:t>179.9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295144"/>
            <a:ext cx="7406640" cy="512064"/>
          </a:xfrm>
          <a:prstGeom prst="roundRect">
            <a:avLst>
              <a:gd name="adj" fmla="val 6000"/>
            </a:avLst>
          </a:prstGeom>
          <a:solidFill>
            <a:srgbClr val="EB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0352" y="2386584"/>
            <a:ext cx="7077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1C575E"/>
                </a:solidFill>
                <a:latin typeface="Calibri"/>
              </a:rPr>
              <a:t>Медіана полиці — 3.1 ₴/г, це на 64% дешевше за медіану знайдених конкурентів (8.6 ₴/г).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Партнер і полиця — за формулою «Собівартість → партнер → полиця» (бонус 25%, маржа 35%, націнка +40%). Собівартість — найдешевший контейнерний сценарій із SelfCost_Snacks.xlsx.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РОЗРАХУНКОВА ЦІНА НА ПОЛИЦІ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Полиця — TMK · KOKIRI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10 SKU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ТОВАР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ФАСОВКА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18872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СС, 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ПАРТНЕР,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ПОЛИЦЯ,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2C713B"/>
                </a:solidFill>
                <a:latin typeface="Calibri"/>
              </a:rPr>
              <a:t>ПОЛИЦЯ, ₴/Г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89888"/>
            <a:ext cx="7406640" cy="9144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60" y="1481328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ROLL 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пакетик 2,5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481328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9.51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23.8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48132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33.3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48132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13.31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732788"/>
            <a:ext cx="7406640" cy="26974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1751076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ROLL Hot Spicy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пакетик 2,5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751076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9.51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23.8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751076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33.3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751076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13.31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020824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ROLL Spicy Squid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020824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пакетик 2,5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2020824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9.51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2020824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23.8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020824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33.3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020824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13.31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272284"/>
            <a:ext cx="7406640" cy="26974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65760" y="2290572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DOUBLE ROLL Original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2290572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пакетик 5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2290572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17.07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2290572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42.7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2290572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59.7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2290572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11.95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2560320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DOUBLE ROLL Hot Spicy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2560320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пакетик 5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2560320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17.07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2560320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42.7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2560320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59.7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2560320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11.95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811779"/>
            <a:ext cx="7406640" cy="26974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65760" y="2830068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SEAWEED Original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283006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12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60520" y="2830068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34.86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283006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87.1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2830068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122.0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2830068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10.17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099815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SEAWEED Spicy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3099815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12 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60520" y="3099815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34.86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2040" y="3099815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87.1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3099815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122.0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3099815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10.17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3351275"/>
            <a:ext cx="7406640" cy="26974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65760" y="3369563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SEAWEED Squid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3369563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12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60520" y="3369563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35.64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2040" y="3369563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89.1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6440" y="3369563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124.7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3369563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10.39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3639311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MINI Original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8960" y="3639311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10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60520" y="3639311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35.11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92040" y="3639311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87.8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3639311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122.9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3639311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12.29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3890772"/>
            <a:ext cx="7406640" cy="26974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65760" y="3909059"/>
            <a:ext cx="26883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Wow MINI Hot Spicy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08960" y="3909059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10 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0520" y="3909059"/>
            <a:ext cx="67665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35.11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92040" y="3909059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87.8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06440" y="3909059"/>
            <a:ext cx="859536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2D733C"/>
                </a:solidFill>
                <a:latin typeface="Calibri"/>
              </a:rPr>
              <a:t>122.9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20840" y="3909059"/>
            <a:ext cx="996695" cy="2697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12.29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Партнер і полиця — за формулою «Собівартість → партнер → полиця» (бонус 25%, маржа 35%, націнка +40%). Собівартість — найдешевший контейнерний сценарій із SelfCost_Snacks.xlsx.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РОЗРАХУНКОВА ЦІНА НА ПОЛИЦІ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Полиця — HanJin · ZEK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14 SKU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ТОВАР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ФАСОВКА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18872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СС, 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ПАРТНЕР,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18872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ПОЛИЦЯ,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188720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 i="0" spc="90">
                <a:solidFill>
                  <a:srgbClr val="A23822"/>
                </a:solidFill>
                <a:latin typeface="Calibri"/>
              </a:rPr>
              <a:t>ПОЛИЦЯ, ₴/Г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89888"/>
            <a:ext cx="7406640" cy="9144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60" y="1481328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481328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481328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33.90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481328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84.7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481328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118.6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481328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3.95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683802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1702090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Wasabi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1702090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702090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33.90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1702090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84.7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702090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118.6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702090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1922852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Mala Crawfish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1922852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1922852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33.90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1922852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84.7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1922852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118.6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1922852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3.95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125326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65760" y="2143614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Corn · 50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2143614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50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2143614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51.25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2143614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128.1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2143614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179.4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2143614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3.59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2364377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Wasabi · 50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2364377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2364377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51.25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2364377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128.1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2364377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179.4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2364377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3.59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566851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65760" y="2585139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Tempura Seaweed Mala · 50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2585139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50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60520" y="2585139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51.25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2585139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128.1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2585139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179.4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2585139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3.59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2805901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Sandwich Seaweed Meat Floss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2805901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25 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60520" y="2805901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25.49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2040" y="2805901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63.7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2805901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89.2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2805901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3.57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3008376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65760" y="3026664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Sandwich Seaweed Sesame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3026664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25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60520" y="3026664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25.49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2040" y="3026664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63.7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6440" y="3026664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89.2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3026664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3.57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3247426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Chicken Floss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8960" y="3247426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35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60520" y="3247426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32.88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92040" y="3247426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82.2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3247426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115.1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3247426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3.29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3449900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65760" y="3468188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Vegetables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08960" y="3468188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35 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0520" y="3468188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31.54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92040" y="3468188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78.8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06440" y="3468188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110.4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20840" y="3468188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3688950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Sesame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08960" y="3688950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35 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60520" y="3688950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31.54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92040" y="3688950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78.8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06440" y="3688950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110.4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20840" y="3688950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3.15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3891425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365760" y="3909713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Vegetables · 70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08960" y="3909713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70 г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60520" y="3909713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63.86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92040" y="3909713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159.6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06440" y="3909713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223.5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20840" y="3909713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" y="4130475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Sesame · 70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08960" y="4130475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70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60520" y="4130475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63.86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92040" y="4130475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159.6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806440" y="4130475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223.5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20840" y="4130475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3.19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5760" y="4332949"/>
            <a:ext cx="7406640" cy="220762"/>
          </a:xfrm>
          <a:prstGeom prst="rect">
            <a:avLst/>
          </a:prstGeom>
          <a:solidFill>
            <a:srgbClr val="FB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365760" y="4351237"/>
            <a:ext cx="26883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14241F"/>
                </a:solidFill>
                <a:latin typeface="Calibri"/>
              </a:rPr>
              <a:t>Seaweed Topping Chicken · 70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08960" y="4351237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 пакет 70 г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160520" y="4351237"/>
            <a:ext cx="67665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63.86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92040" y="4351237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159.6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806440" y="4351237"/>
            <a:ext cx="859536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 i="0">
                <a:solidFill>
                  <a:srgbClr val="A53822"/>
                </a:solidFill>
                <a:latin typeface="Calibri"/>
              </a:rPr>
              <a:t>223.5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720840" y="4351237"/>
            <a:ext cx="996695" cy="220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14241F"/>
                </a:solidFill>
                <a:latin typeface="Calibri"/>
              </a:rPr>
              <a:t>3.19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Партнер і полиця — за формулою «Собівартість → партнер → полиця» (бонус 25%, маржа 35%, націнка +40%). Собівартість — найдешевший контейнерний сценарій із SelfCost_Snacks.xlsx.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ХТО З КИМ СТОЇТЬ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Позиціонування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33856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A938D"/>
                </a:solidFill>
                <a:latin typeface="Calibri"/>
              </a:rPr>
              <a:t>Медіанна полиця кожного постачальника поруч із реальними конкурентами, ₴ за грам.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23360"/>
            <a:ext cx="8046719" cy="12801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301099" y="38816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345905" y="3931920"/>
            <a:ext cx="10972" cy="91439"/>
          </a:xfrm>
          <a:prstGeom prst="rect">
            <a:avLst/>
          </a:prstGeom>
          <a:solidFill>
            <a:srgbClr val="99B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34171" y="3657600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1C565C"/>
                </a:solidFill>
                <a:latin typeface="Calibri"/>
              </a:rPr>
              <a:t>Thai-Nichi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4171" y="3803904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3.1 ₴/г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8793" y="31379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603598" y="3188208"/>
            <a:ext cx="10972" cy="835151"/>
          </a:xfrm>
          <a:prstGeom prst="rect">
            <a:avLst/>
          </a:prstGeom>
          <a:solidFill>
            <a:srgbClr val="DC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991865" y="291388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A23822"/>
                </a:solidFill>
                <a:latin typeface="Calibri"/>
              </a:rPr>
              <a:t>HanJin · ZEK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1865" y="3060192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3.6 ₴/г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7841" y="239420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172647" y="2444496"/>
            <a:ext cx="10972" cy="1578864"/>
          </a:xfrm>
          <a:prstGeom prst="rect">
            <a:avLst/>
          </a:prstGeom>
          <a:solidFill>
            <a:srgbClr val="DDB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560913" y="217017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A35C15"/>
                </a:solidFill>
                <a:latin typeface="Calibri"/>
              </a:rPr>
              <a:t>Singha Kameda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913" y="231648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4.6 ₴/г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4792" y="38816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49597" y="3931920"/>
            <a:ext cx="10972" cy="91439"/>
          </a:xfrm>
          <a:prstGeom prst="rect">
            <a:avLst/>
          </a:prstGeom>
          <a:solidFill>
            <a:srgbClr val="B6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737864" y="3657600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55595F"/>
                </a:solidFill>
                <a:latin typeface="Calibri"/>
              </a:rPr>
              <a:t>AKURA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7864" y="3803904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6.6 ₴/г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65436" y="31379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510242" y="3188208"/>
            <a:ext cx="10972" cy="835151"/>
          </a:xfrm>
          <a:prstGeom prst="rect">
            <a:avLst/>
          </a:prstGeom>
          <a:solidFill>
            <a:srgbClr val="B6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898508" y="291388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55595F"/>
                </a:solidFill>
                <a:latin typeface="Calibri"/>
              </a:rPr>
              <a:t>Tao Kae Noi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8508" y="3060192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8.6 ₴/г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15553" y="38816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C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060359" y="3931920"/>
            <a:ext cx="10972" cy="91439"/>
          </a:xfrm>
          <a:prstGeom prst="rect">
            <a:avLst/>
          </a:prstGeom>
          <a:solidFill>
            <a:srgbClr val="B6B7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48625" y="3657600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55595F"/>
                </a:solidFill>
                <a:latin typeface="Calibri"/>
              </a:rPr>
              <a:t>AKURA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8625" y="3803904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9.6 ₴/г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5495" y="38816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540301" y="3931920"/>
            <a:ext cx="10972" cy="91439"/>
          </a:xfrm>
          <a:prstGeom prst="rect">
            <a:avLst/>
          </a:prstGeom>
          <a:solidFill>
            <a:srgbClr val="A1C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928567" y="3657600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2C713B"/>
                </a:solidFill>
                <a:latin typeface="Calibri"/>
              </a:rPr>
              <a:t>TMK · KOKIRI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8567" y="3803904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8A938D"/>
                </a:solidFill>
                <a:latin typeface="Calibri"/>
              </a:rPr>
              <a:t>12.1 ₴/г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28600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57984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837943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67327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447287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76671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056631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86015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665975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59" y="4023360"/>
            <a:ext cx="10972" cy="64008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75319" y="41056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242816"/>
            <a:ext cx="80467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8A938D"/>
                </a:solidFill>
                <a:latin typeface="Calibri"/>
              </a:rPr>
              <a:t>₴ / Г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370832"/>
            <a:ext cx="8412480" cy="384048"/>
          </a:xfrm>
          <a:prstGeom prst="roundRect">
            <a:avLst>
              <a:gd name="adj" fmla="val 5000"/>
            </a:avLst>
          </a:prstGeom>
          <a:solidFill>
            <a:srgbClr val="F7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12064" y="4434840"/>
            <a:ext cx="8119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A53822"/>
                </a:solidFill>
                <a:latin typeface="Calibri"/>
              </a:rPr>
              <a:t>ZEK і рисові крекери (Singha, Thai-Nichi) виходять на 2–2,5× дешевше за знайдених конкурентів. Малі пакетики TMK · KOKIRI (2,5–12 г) — навпаки, дорожчі за грам, ніж AKURA і Tao Kae Noi: фіксована логістика на маленький пакетик з’їдає перевагу в собівартості.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1C5359"/>
                </a:solidFill>
                <a:latin typeface="Calibri"/>
              </a:rPr>
              <a:t>ЯКА ПОЛИЦЯ ПРИ ІНШІЙ МАРЖІ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Чутливість маржі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8D"/>
                </a:solidFill>
                <a:latin typeface="Calibri"/>
              </a:rPr>
              <a:t>бонус мережі незмінний — 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2331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ТОВАР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1207008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1" y="1207008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9783" y="1207008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207008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1207008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15%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08176"/>
            <a:ext cx="8412480" cy="9144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760" y="1499616"/>
            <a:ext cx="227685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4241F"/>
                </a:solidFill>
                <a:latin typeface="Calibri"/>
              </a:rPr>
              <a:t>Arare Norimaki 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1499616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C565C"/>
                </a:solidFill>
                <a:latin typeface="Cambria"/>
              </a:rPr>
              <a:t>191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1499616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170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3" y="1499616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153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1499616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139 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1499616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128 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874520"/>
            <a:ext cx="8412480" cy="402336"/>
          </a:xfrm>
          <a:prstGeom prst="rect">
            <a:avLst/>
          </a:prstGeom>
          <a:solidFill>
            <a:srgbClr val="F4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5760" y="1901952"/>
            <a:ext cx="227685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4241F"/>
                </a:solidFill>
                <a:latin typeface="Calibri"/>
              </a:rPr>
              <a:t>Norimaki Original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1901952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C565C"/>
                </a:solidFill>
                <a:latin typeface="Cambria"/>
              </a:rPr>
              <a:t>149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1" y="1901952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132 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3" y="1901952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119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1901952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108 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1901952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99 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304288"/>
            <a:ext cx="227685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4241F"/>
                </a:solidFill>
                <a:latin typeface="Calibri"/>
              </a:rPr>
              <a:t>Wow ROLL Original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79" y="2304288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C565C"/>
                </a:solidFill>
                <a:latin typeface="Cambria"/>
              </a:rPr>
              <a:t>33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3631" y="2304288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30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783" y="2304288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27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2304288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24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2088" y="2304288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22 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679192"/>
            <a:ext cx="8412480" cy="402336"/>
          </a:xfrm>
          <a:prstGeom prst="rect">
            <a:avLst/>
          </a:prstGeom>
          <a:solidFill>
            <a:srgbClr val="F4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65760" y="2706624"/>
            <a:ext cx="227685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4241F"/>
                </a:solidFill>
                <a:latin typeface="Calibri"/>
              </a:rPr>
              <a:t>Tempura Seaweed Corn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79" y="270662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C565C"/>
                </a:solidFill>
                <a:latin typeface="Cambria"/>
              </a:rPr>
              <a:t>119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3631" y="270662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105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9783" y="270662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95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270662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86 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2088" y="2706624"/>
            <a:ext cx="11612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4241F"/>
                </a:solidFill>
                <a:latin typeface="Cambria"/>
              </a:rPr>
              <a:t>79 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5760" y="4882896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Кожен товар — у своєму найдешевшому контейнерному сценарії. 35% — базова маржа цього дослідження (виділена колонка).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ЩО З ЦИМ РОБИТИ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Висновки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A53822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188720"/>
            <a:ext cx="7991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Категорія майже порожня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481328"/>
            <a:ext cx="7991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Приправлені снеки з водоростей — лише 3 бренди, 4 позиції на весь відкритий ринок; рисові крекери в норі — 0. Жодна з 6 перевірених мереж не продає категорію взагалі.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A53822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084831"/>
            <a:ext cx="7991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ZEK і рисові крекери — дешевше за ринок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377439"/>
            <a:ext cx="7991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Розрахункова полиця ZEK, Singha Kameda і Thai-Nichi виходить у 2–2,5 рази нижче знайдених конкурентів за грам — є запас і на маржу, і на вхід у мережу.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9992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5760" y="29992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A53822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980944"/>
            <a:ext cx="7991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Малі пакетики TMK · KOKIRI потребують перегляду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273551"/>
            <a:ext cx="7991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Формат 2,5–12 г програє конкурентам за ціною на грам через фіксовану логістику на одиницю — варто рахувати більші фасовки або інший контейнерний сценарій.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9534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5760" y="38953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A53822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877056"/>
            <a:ext cx="7991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Де шукати конкурентів офлайн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169663"/>
            <a:ext cx="7991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4524C"/>
                </a:solidFill>
                <a:latin typeface="Calibri"/>
              </a:rPr>
              <a:t>AKURA (продавець — сама Rozetka) і Tao Kae Noi — єдині реальні орієнтири. Обидва живуть на маркетплейсах, не в мережах: вхід через мережу був би першим для категорії.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2745</Words>
  <Application>Microsoft Office PowerPoint</Application>
  <PresentationFormat>Екран (16:9)</PresentationFormat>
  <Paragraphs>757</Paragraphs>
  <Slides>16</Slides>
  <Notes>3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Cambria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27</cp:revision>
  <dcterms:created xsi:type="dcterms:W3CDTF">2013-01-27T09:14:16Z</dcterms:created>
  <dcterms:modified xsi:type="dcterms:W3CDTF">2026-08-10T18:39:45Z</dcterms:modified>
  <cp:category/>
</cp:coreProperties>
</file>