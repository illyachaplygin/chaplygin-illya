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jpg"/><Relationship Id="rId4" Type="http://schemas.openxmlformats.org/officeDocument/2006/relationships/image" Target="../media/image7.jpg"/><Relationship Id="rId5" Type="http://schemas.openxmlformats.org/officeDocument/2006/relationships/image" Target="../media/image8.jpg"/><Relationship Id="rId6" Type="http://schemas.openxmlformats.org/officeDocument/2006/relationships/image" Target="../media/image9.jpg"/><Relationship Id="rId7" Type="http://schemas.openxmlformats.org/officeDocument/2006/relationships/image" Target="../media/image5.jpg"/><Relationship Id="rId8" Type="http://schemas.openxmlformats.org/officeDocument/2006/relationships/image" Target="../media/image10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5.jpg"/><Relationship Id="rId4" Type="http://schemas.openxmlformats.org/officeDocument/2006/relationships/image" Target="../media/image16.jpg"/><Relationship Id="rId5" Type="http://schemas.openxmlformats.org/officeDocument/2006/relationships/image" Target="../media/image17.jpg"/><Relationship Id="rId6" Type="http://schemas.openxmlformats.org/officeDocument/2006/relationships/image" Target="../media/image18.jpg"/><Relationship Id="rId7" Type="http://schemas.openxmlformats.org/officeDocument/2006/relationships/image" Target="../media/image10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9.jpg"/><Relationship Id="rId4" Type="http://schemas.openxmlformats.org/officeDocument/2006/relationships/image" Target="../media/image20.jpg"/><Relationship Id="rId5" Type="http://schemas.openxmlformats.org/officeDocument/2006/relationships/image" Target="../media/image21.jpg"/><Relationship Id="rId6" Type="http://schemas.openxmlformats.org/officeDocument/2006/relationships/image" Target="../media/image22.jpg"/><Relationship Id="rId7" Type="http://schemas.openxmlformats.org/officeDocument/2006/relationships/image" Target="../media/image2.jpg"/><Relationship Id="rId8" Type="http://schemas.openxmlformats.org/officeDocument/2006/relationships/image" Target="../media/image23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9.jpg"/><Relationship Id="rId4" Type="http://schemas.openxmlformats.org/officeDocument/2006/relationships/image" Target="../media/image24.jpg"/><Relationship Id="rId5" Type="http://schemas.openxmlformats.org/officeDocument/2006/relationships/image" Target="../media/image20.jpg"/><Relationship Id="rId6" Type="http://schemas.openxmlformats.org/officeDocument/2006/relationships/image" Target="../media/image15.jpg"/><Relationship Id="rId7" Type="http://schemas.openxmlformats.org/officeDocument/2006/relationships/image" Target="../media/image21.jpg"/><Relationship Id="rId8" Type="http://schemas.openxmlformats.org/officeDocument/2006/relationships/image" Target="../media/image25.jpg"/><Relationship Id="rId9" Type="http://schemas.openxmlformats.org/officeDocument/2006/relationships/image" Target="../media/image22.jpg"/><Relationship Id="rId10" Type="http://schemas.openxmlformats.org/officeDocument/2006/relationships/image" Target="../media/image26.jpg"/><Relationship Id="rId11" Type="http://schemas.openxmlformats.org/officeDocument/2006/relationships/image" Target="../media/image2.jpg"/><Relationship Id="rId12" Type="http://schemas.openxmlformats.org/officeDocument/2006/relationships/image" Target="../media/image6.jpg"/><Relationship Id="rId13" Type="http://schemas.openxmlformats.org/officeDocument/2006/relationships/image" Target="../media/image23.jpg"/><Relationship Id="rId14" Type="http://schemas.openxmlformats.org/officeDocument/2006/relationships/image" Target="../media/image27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8.jpg"/><Relationship Id="rId4" Type="http://schemas.openxmlformats.org/officeDocument/2006/relationships/image" Target="../media/image29.jpg"/><Relationship Id="rId5" Type="http://schemas.openxmlformats.org/officeDocument/2006/relationships/image" Target="../media/image30.jpg"/><Relationship Id="rId6" Type="http://schemas.openxmlformats.org/officeDocument/2006/relationships/image" Target="../media/image3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2.jpg"/><Relationship Id="rId4" Type="http://schemas.openxmlformats.org/officeDocument/2006/relationships/image" Target="../media/image33.jpg"/><Relationship Id="rId5" Type="http://schemas.openxmlformats.org/officeDocument/2006/relationships/image" Target="../media/image7.jpg"/><Relationship Id="rId6" Type="http://schemas.openxmlformats.org/officeDocument/2006/relationships/image" Target="../media/image16.jpg"/><Relationship Id="rId7" Type="http://schemas.openxmlformats.org/officeDocument/2006/relationships/image" Target="../media/image3.jpg"/><Relationship Id="rId8" Type="http://schemas.openxmlformats.org/officeDocument/2006/relationships/image" Target="../media/image34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2.jpg"/><Relationship Id="rId4" Type="http://schemas.openxmlformats.org/officeDocument/2006/relationships/image" Target="../media/image33.jpg"/><Relationship Id="rId5" Type="http://schemas.openxmlformats.org/officeDocument/2006/relationships/image" Target="../media/image7.jpg"/><Relationship Id="rId6" Type="http://schemas.openxmlformats.org/officeDocument/2006/relationships/image" Target="../media/image16.jpg"/><Relationship Id="rId7" Type="http://schemas.openxmlformats.org/officeDocument/2006/relationships/image" Target="../media/image3.jpg"/><Relationship Id="rId8" Type="http://schemas.openxmlformats.org/officeDocument/2006/relationships/image" Target="../media/image34.jpg"/><Relationship Id="rId9" Type="http://schemas.openxmlformats.org/officeDocument/2006/relationships/image" Target="../media/image35.jpg"/><Relationship Id="rId10" Type="http://schemas.openxmlformats.org/officeDocument/2006/relationships/image" Target="../media/image36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7.jpg"/><Relationship Id="rId4" Type="http://schemas.openxmlformats.org/officeDocument/2006/relationships/image" Target="../media/image8.jpg"/><Relationship Id="rId5" Type="http://schemas.openxmlformats.org/officeDocument/2006/relationships/image" Target="../media/image37.jpg"/><Relationship Id="rId6" Type="http://schemas.openxmlformats.org/officeDocument/2006/relationships/image" Target="../media/image4.jpg"/><Relationship Id="rId7" Type="http://schemas.openxmlformats.org/officeDocument/2006/relationships/image" Target="../media/image38.jpg"/><Relationship Id="rId8" Type="http://schemas.openxmlformats.org/officeDocument/2006/relationships/image" Target="../media/image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7.jpg"/><Relationship Id="rId4" Type="http://schemas.openxmlformats.org/officeDocument/2006/relationships/image" Target="../media/image8.jpg"/><Relationship Id="rId5" Type="http://schemas.openxmlformats.org/officeDocument/2006/relationships/image" Target="../media/image37.jpg"/><Relationship Id="rId6" Type="http://schemas.openxmlformats.org/officeDocument/2006/relationships/image" Target="../media/image4.jpg"/><Relationship Id="rId7" Type="http://schemas.openxmlformats.org/officeDocument/2006/relationships/image" Target="../media/image38.jpg"/><Relationship Id="rId8" Type="http://schemas.openxmlformats.org/officeDocument/2006/relationships/image" Target="../media/image9.jpg"/><Relationship Id="rId9" Type="http://schemas.openxmlformats.org/officeDocument/2006/relationships/image" Target="../media/image39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0.jpg"/><Relationship Id="rId4" Type="http://schemas.openxmlformats.org/officeDocument/2006/relationships/image" Target="../media/image5.jpg"/><Relationship Id="rId5" Type="http://schemas.openxmlformats.org/officeDocument/2006/relationships/image" Target="../media/image18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0.jpg"/><Relationship Id="rId4" Type="http://schemas.openxmlformats.org/officeDocument/2006/relationships/image" Target="../media/image5.jpg"/><Relationship Id="rId5" Type="http://schemas.openxmlformats.org/officeDocument/2006/relationships/image" Target="../media/image18.jpg"/><Relationship Id="rId6" Type="http://schemas.openxmlformats.org/officeDocument/2006/relationships/image" Target="../media/image41.jpg"/><Relationship Id="rId7" Type="http://schemas.openxmlformats.org/officeDocument/2006/relationships/image" Target="../media/image42.jpg"/><Relationship Id="rId8" Type="http://schemas.openxmlformats.org/officeDocument/2006/relationships/image" Target="../media/image43.jpg"/><Relationship Id="rId9" Type="http://schemas.openxmlformats.org/officeDocument/2006/relationships/image" Target="../media/image44.jpg"/><Relationship Id="rId10" Type="http://schemas.openxmlformats.org/officeDocument/2006/relationships/image" Target="../media/image45.jpg"/><Relationship Id="rId11" Type="http://schemas.openxmlformats.org/officeDocument/2006/relationships/image" Target="../media/image10.jpg"/><Relationship Id="rId12" Type="http://schemas.openxmlformats.org/officeDocument/2006/relationships/image" Target="../media/image46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.png"/><Relationship Id="rId4" Type="http://schemas.openxmlformats.org/officeDocument/2006/relationships/image" Target="../media/image47.png"/><Relationship Id="rId5" Type="http://schemas.openxmlformats.org/officeDocument/2006/relationships/image" Target="../media/image12.png"/><Relationship Id="rId6" Type="http://schemas.openxmlformats.org/officeDocument/2006/relationships/image" Target="../media/image48.png"/><Relationship Id="rId7" Type="http://schemas.openxmlformats.org/officeDocument/2006/relationships/image" Target="../media/image40.jpg"/><Relationship Id="rId8" Type="http://schemas.openxmlformats.org/officeDocument/2006/relationships/image" Target="../media/image5.jpg"/><Relationship Id="rId9" Type="http://schemas.openxmlformats.org/officeDocument/2006/relationships/image" Target="../media/image18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.png"/><Relationship Id="rId4" Type="http://schemas.openxmlformats.org/officeDocument/2006/relationships/image" Target="../media/image49.png"/><Relationship Id="rId5" Type="http://schemas.openxmlformats.org/officeDocument/2006/relationships/image" Target="../media/image50.png"/><Relationship Id="rId6" Type="http://schemas.openxmlformats.org/officeDocument/2006/relationships/image" Target="../media/image51.png"/><Relationship Id="rId7" Type="http://schemas.openxmlformats.org/officeDocument/2006/relationships/image" Target="../media/image52.png"/><Relationship Id="rId8" Type="http://schemas.openxmlformats.org/officeDocument/2006/relationships/image" Target="../media/image53.png"/><Relationship Id="rId9" Type="http://schemas.openxmlformats.org/officeDocument/2006/relationships/image" Target="../media/image54.png"/><Relationship Id="rId10" Type="http://schemas.openxmlformats.org/officeDocument/2006/relationships/image" Target="../media/image55.png"/><Relationship Id="rId11" Type="http://schemas.openxmlformats.org/officeDocument/2006/relationships/image" Target="../media/image56.png"/><Relationship Id="rId12" Type="http://schemas.openxmlformats.org/officeDocument/2006/relationships/image" Target="../media/image57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4.png"/><Relationship Id="rId4" Type="http://schemas.openxmlformats.org/officeDocument/2006/relationships/image" Target="../media/image58.png"/><Relationship Id="rId5" Type="http://schemas.openxmlformats.org/officeDocument/2006/relationships/image" Target="../media/image59.png"/><Relationship Id="rId6" Type="http://schemas.openxmlformats.org/officeDocument/2006/relationships/image" Target="../media/image60.png"/><Relationship Id="rId7" Type="http://schemas.openxmlformats.org/officeDocument/2006/relationships/image" Target="../media/image61.png"/><Relationship Id="rId8" Type="http://schemas.openxmlformats.org/officeDocument/2006/relationships/image" Target="../media/image62.png"/><Relationship Id="rId9" Type="http://schemas.openxmlformats.org/officeDocument/2006/relationships/image" Target="../media/image63.png"/><Relationship Id="rId10" Type="http://schemas.openxmlformats.org/officeDocument/2006/relationships/image" Target="../media/image64.png"/><Relationship Id="rId11" Type="http://schemas.openxmlformats.org/officeDocument/2006/relationships/image" Target="../media/image65.png"/><Relationship Id="rId12" Type="http://schemas.openxmlformats.org/officeDocument/2006/relationships/image" Target="../media/image66.png"/><Relationship Id="rId13" Type="http://schemas.openxmlformats.org/officeDocument/2006/relationships/image" Target="../media/image67.png"/><Relationship Id="rId14" Type="http://schemas.openxmlformats.org/officeDocument/2006/relationships/image" Target="../media/image68.png"/><Relationship Id="rId15" Type="http://schemas.openxmlformats.org/officeDocument/2006/relationships/image" Target="../media/image69.png"/><Relationship Id="rId16" Type="http://schemas.openxmlformats.org/officeDocument/2006/relationships/image" Target="../media/image70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977" cy="5143500"/>
          </a:xfrm>
          <a:prstGeom prst="rect">
            <a:avLst/>
          </a:prstGeom>
          <a:solidFill>
            <a:srgbClr val="FFF3D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897880" y="0"/>
            <a:ext cx="3246097" cy="5143500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212080" y="2674620"/>
            <a:ext cx="2468880" cy="2468880"/>
          </a:xfrm>
          <a:prstGeom prst="roundRect">
            <a:avLst>
              <a:gd name="adj" fmla="val 50000"/>
            </a:avLst>
          </a:prstGeom>
          <a:solidFill>
            <a:srgbClr val="FFB82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548640"/>
            <a:ext cx="1508760" cy="672084"/>
          </a:xfrm>
          <a:prstGeom prst="roundRect">
            <a:avLst>
              <a:gd name="adj" fmla="val 12000"/>
            </a:avLst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17220"/>
            <a:ext cx="1234440" cy="5349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2057400"/>
            <a:ext cx="514350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1" i="0" spc="30">
                <a:solidFill>
                  <a:srgbClr val="C4820A"/>
                </a:solidFill>
                <a:latin typeface="Segoe UI"/>
              </a:rPr>
              <a:t>ПОСТАЧАЛЬНИКИ · ЗРІЗ РИНКУ · ЦІНА НА ПОЛИЦІ · ЖОВТЕНЬ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31720"/>
            <a:ext cx="521208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40" b="1" i="0">
                <a:solidFill>
                  <a:srgbClr val="303A5D"/>
                </a:solidFill>
                <a:latin typeface="Segoe UI"/>
              </a:rPr>
              <a:t>Норі-снеки</a:t>
            </a:r>
          </a:p>
          <a:p>
            <a:pPr algn="l">
              <a:lnSpc>
                <a:spcPct val="100000"/>
              </a:lnSpc>
            </a:pPr>
            <a:r>
              <a:rPr sz="3040" b="1" i="0">
                <a:solidFill>
                  <a:srgbClr val="303A5D"/>
                </a:solidFill>
                <a:latin typeface="Segoe UI"/>
              </a:rPr>
              <a:t>та рисові крекери</a:t>
            </a:r>
          </a:p>
          <a:p>
            <a:pPr algn="l">
              <a:lnSpc>
                <a:spcPct val="100000"/>
              </a:lnSpc>
            </a:pPr>
            <a:r>
              <a:rPr sz="3040" b="1" i="0">
                <a:solidFill>
                  <a:srgbClr val="303A5D"/>
                </a:solidFill>
                <a:latin typeface="Segoe UI"/>
              </a:rPr>
              <a:t>в Україні</a:t>
            </a:r>
          </a:p>
        </p:txBody>
      </p:sp>
      <p:sp>
        <p:nvSpPr>
          <p:cNvPr id="9" name="Rectangle 8"/>
          <p:cNvSpPr/>
          <p:nvPr/>
        </p:nvSpPr>
        <p:spPr>
          <a:xfrm>
            <a:off x="582930" y="4114800"/>
            <a:ext cx="960120" cy="48006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350508" y="363474"/>
            <a:ext cx="1303020" cy="1577340"/>
          </a:xfrm>
          <a:prstGeom prst="roundRect">
            <a:avLst>
              <a:gd name="adj" fmla="val 8000"/>
            </a:avLst>
          </a:prstGeom>
          <a:solidFill>
            <a:srgbClr val="E08F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09360" y="308610"/>
            <a:ext cx="1303020" cy="15773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2" name="Picture 11" descr="0590738189656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1656" y="528066"/>
            <a:ext cx="1138428" cy="1138428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7584948" y="1152144"/>
            <a:ext cx="1303020" cy="1577340"/>
          </a:xfrm>
          <a:prstGeom prst="roundRect">
            <a:avLst>
              <a:gd name="adj" fmla="val 8000"/>
            </a:avLst>
          </a:prstGeom>
          <a:solidFill>
            <a:srgbClr val="E08F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543800" y="1097280"/>
            <a:ext cx="1303020" cy="15773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5" name="Picture 14" descr="08809094843003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6096" y="1316736"/>
            <a:ext cx="1138428" cy="1138428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6350508" y="2180844"/>
            <a:ext cx="1303020" cy="1577340"/>
          </a:xfrm>
          <a:prstGeom prst="roundRect">
            <a:avLst>
              <a:gd name="adj" fmla="val 8000"/>
            </a:avLst>
          </a:prstGeom>
          <a:solidFill>
            <a:srgbClr val="E08F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09360" y="2125980"/>
            <a:ext cx="1303020" cy="15773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8" name="Picture 17" descr="08858702428132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1656" y="2345436"/>
            <a:ext cx="1138428" cy="1138428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7584948" y="3140964"/>
            <a:ext cx="1303020" cy="1577340"/>
          </a:xfrm>
          <a:prstGeom prst="roundRect">
            <a:avLst>
              <a:gd name="adj" fmla="val 8000"/>
            </a:avLst>
          </a:prstGeom>
          <a:solidFill>
            <a:srgbClr val="E08F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543800" y="3086100"/>
            <a:ext cx="1303020" cy="15773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1" name="Picture 20" descr="0471014490015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6096" y="3305556"/>
            <a:ext cx="1138428" cy="113842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977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3977" cy="795528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95528"/>
            <a:ext cx="9143977" cy="41148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" y="178308"/>
            <a:ext cx="1042416" cy="4526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728216" y="205740"/>
            <a:ext cx="61722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1" i="0" spc="30">
                <a:solidFill>
                  <a:srgbClr val="FFC95C"/>
                </a:solidFill>
                <a:latin typeface="Segoe UI"/>
              </a:rPr>
              <a:t>МЕТОДОЛОГІЯ · ДЖЕРЕЛА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28216" y="377190"/>
            <a:ext cx="61722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20" b="1" i="0">
                <a:solidFill>
                  <a:srgbClr val="FFFFFF"/>
                </a:solidFill>
                <a:latin typeface="Segoe UI"/>
              </a:rPr>
              <a:t>Що перевірили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20990" y="301752"/>
            <a:ext cx="768096" cy="2263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360" b="1" i="0">
                <a:solidFill>
                  <a:srgbClr val="465382"/>
                </a:solidFill>
                <a:latin typeface="Segoe UI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5196" y="932688"/>
            <a:ext cx="82981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4" b="0" i="0">
                <a:solidFill>
                  <a:srgbClr val="717890"/>
                </a:solidFill>
                <a:latin typeface="Segoe UI"/>
              </a:rPr>
              <a:t>Онлайн-каталоги 18 мереж на zakaz.ua: ціна — поточна ціна на онлайн-полиці одного магазину мережі, грн за упаковку; діапазон показує різницю між мережами та акціями. Позиція = унікальний штрихкод.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5196" y="1337310"/>
            <a:ext cx="2674620" cy="89154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5196" y="1337310"/>
            <a:ext cx="27432" cy="89154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3504" y="1453896"/>
            <a:ext cx="24003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1" i="0" spc="40">
                <a:solidFill>
                  <a:srgbClr val="717890"/>
                </a:solidFill>
                <a:latin typeface="Segoe UI"/>
              </a:rPr>
              <a:t>ПОЗИЦІЙ У ДОСЛІДЖЕННІ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" y="1611630"/>
            <a:ext cx="24003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60" b="1" i="0">
                <a:solidFill>
                  <a:srgbClr val="303A5D"/>
                </a:solidFill>
                <a:latin typeface="Segoe UI"/>
              </a:rPr>
              <a:t>107 SKU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" y="2023110"/>
            <a:ext cx="2400300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унікальні штрихкоди (EAN) нори-снеків і рисових снеків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36976" y="1337310"/>
            <a:ext cx="2674620" cy="89154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36976" y="1337310"/>
            <a:ext cx="27432" cy="891540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15284" y="1453896"/>
            <a:ext cx="24003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1" i="0" spc="40">
                <a:solidFill>
                  <a:srgbClr val="717890"/>
                </a:solidFill>
                <a:latin typeface="Segoe UI"/>
              </a:rPr>
              <a:t>МЕРЕЖ ІЗ ПОЗИЦІЯМИ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15284" y="1611630"/>
            <a:ext cx="24003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60" b="1" i="0">
                <a:solidFill>
                  <a:srgbClr val="C4820A"/>
                </a:solidFill>
                <a:latin typeface="Segoe UI"/>
              </a:rPr>
              <a:t>16 з 18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15284" y="2023110"/>
            <a:ext cx="2400300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7 національних · 9 регіональних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48756" y="1337310"/>
            <a:ext cx="2674620" cy="89154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048756" y="1337310"/>
            <a:ext cx="27432" cy="891540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27064" y="1453896"/>
            <a:ext cx="24003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1" i="0" spc="40">
                <a:solidFill>
                  <a:srgbClr val="717890"/>
                </a:solidFill>
                <a:latin typeface="Segoe UI"/>
              </a:rPr>
              <a:t>БРЕНДІВ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27064" y="1611630"/>
            <a:ext cx="24003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60" b="1" i="0">
                <a:solidFill>
                  <a:srgbClr val="5D4B96"/>
                </a:solidFill>
                <a:latin typeface="Segoe UI"/>
              </a:rPr>
              <a:t>25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27064" y="2023110"/>
            <a:ext cx="2400300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без обліку приватних марок мереж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5196" y="2434590"/>
            <a:ext cx="27432" cy="144018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4924" y="2448306"/>
            <a:ext cx="8298180" cy="10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 spc="30">
                <a:solidFill>
                  <a:srgbClr val="C4820A"/>
                </a:solidFill>
                <a:latin typeface="Segoe UI"/>
              </a:rPr>
              <a:t>НАЦІОНАЛЬНІ МЕРЕЖІ · ЧИСЛО ПОЗИЦІЙ У МЕРЕЖІ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5196" y="2743200"/>
            <a:ext cx="987552" cy="315468"/>
          </a:xfrm>
          <a:prstGeom prst="roundRect">
            <a:avLst>
              <a:gd name="adj" fmla="val 25000"/>
            </a:avLst>
          </a:prstGeom>
          <a:solidFill>
            <a:srgbClr val="F8F0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21208" y="2743200"/>
            <a:ext cx="541782" cy="3154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40" b="1" i="0">
                <a:solidFill>
                  <a:srgbClr val="1C2235"/>
                </a:solidFill>
                <a:latin typeface="Segoe UI"/>
              </a:rPr>
              <a:t>Ашан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56132" y="2804922"/>
            <a:ext cx="288036" cy="192024"/>
          </a:xfrm>
          <a:prstGeom prst="roundRect">
            <a:avLst>
              <a:gd name="adj" fmla="val 30000"/>
            </a:avLst>
          </a:prstGeom>
          <a:solidFill>
            <a:srgbClr val="C4820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56132" y="2804922"/>
            <a:ext cx="288036" cy="192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4" b="1" i="0">
                <a:solidFill>
                  <a:srgbClr val="FFFFFF"/>
                </a:solidFill>
                <a:latin typeface="Segoe UI"/>
              </a:rPr>
              <a:t>35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508760" y="2743200"/>
            <a:ext cx="1062990" cy="315468"/>
          </a:xfrm>
          <a:prstGeom prst="roundRect">
            <a:avLst>
              <a:gd name="adj" fmla="val 25000"/>
            </a:avLst>
          </a:prstGeom>
          <a:solidFill>
            <a:srgbClr val="F8F0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604772" y="2743200"/>
            <a:ext cx="617220" cy="3154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40" b="1" i="0">
                <a:solidFill>
                  <a:srgbClr val="1C2235"/>
                </a:solidFill>
                <a:latin typeface="Segoe UI"/>
              </a:rPr>
              <a:t>Зараз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215134" y="2804922"/>
            <a:ext cx="288036" cy="192024"/>
          </a:xfrm>
          <a:prstGeom prst="roundRect">
            <a:avLst>
              <a:gd name="adj" fmla="val 30000"/>
            </a:avLst>
          </a:prstGeom>
          <a:solidFill>
            <a:srgbClr val="C4820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215134" y="2804922"/>
            <a:ext cx="288036" cy="192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4" b="1" i="0">
                <a:solidFill>
                  <a:srgbClr val="FFFFFF"/>
                </a:solidFill>
                <a:latin typeface="Segoe UI"/>
              </a:rPr>
              <a:t>26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667762" y="2743200"/>
            <a:ext cx="1289304" cy="315468"/>
          </a:xfrm>
          <a:prstGeom prst="roundRect">
            <a:avLst>
              <a:gd name="adj" fmla="val 25000"/>
            </a:avLst>
          </a:prstGeom>
          <a:solidFill>
            <a:srgbClr val="F8F0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63774" y="2743200"/>
            <a:ext cx="843534" cy="3154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40" b="1" i="0">
                <a:solidFill>
                  <a:srgbClr val="1C2235"/>
                </a:solidFill>
                <a:latin typeface="Segoe UI"/>
              </a:rPr>
              <a:t>Епіцентр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600450" y="2804922"/>
            <a:ext cx="288036" cy="192024"/>
          </a:xfrm>
          <a:prstGeom prst="roundRect">
            <a:avLst>
              <a:gd name="adj" fmla="val 30000"/>
            </a:avLst>
          </a:prstGeom>
          <a:solidFill>
            <a:srgbClr val="C4820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00450" y="2804922"/>
            <a:ext cx="288036" cy="192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4" b="1" i="0">
                <a:solidFill>
                  <a:srgbClr val="FFFFFF"/>
                </a:solidFill>
                <a:latin typeface="Segoe UI"/>
              </a:rPr>
              <a:t>19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053078" y="2743200"/>
            <a:ext cx="1062990" cy="315468"/>
          </a:xfrm>
          <a:prstGeom prst="roundRect">
            <a:avLst>
              <a:gd name="adj" fmla="val 25000"/>
            </a:avLst>
          </a:prstGeom>
          <a:solidFill>
            <a:srgbClr val="F8F0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49090" y="2743200"/>
            <a:ext cx="617220" cy="3154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40" b="1" i="0">
                <a:solidFill>
                  <a:srgbClr val="1C2235"/>
                </a:solidFill>
                <a:latin typeface="Segoe UI"/>
              </a:rPr>
              <a:t>METRO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759452" y="2804922"/>
            <a:ext cx="288036" cy="192024"/>
          </a:xfrm>
          <a:prstGeom prst="roundRect">
            <a:avLst>
              <a:gd name="adj" fmla="val 30000"/>
            </a:avLst>
          </a:prstGeom>
          <a:solidFill>
            <a:srgbClr val="C4820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759452" y="2804922"/>
            <a:ext cx="288036" cy="192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4" b="1" i="0">
                <a:solidFill>
                  <a:srgbClr val="FFFFFF"/>
                </a:solidFill>
                <a:latin typeface="Segoe UI"/>
              </a:rPr>
              <a:t>16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212080" y="2743200"/>
            <a:ext cx="1062990" cy="315468"/>
          </a:xfrm>
          <a:prstGeom prst="roundRect">
            <a:avLst>
              <a:gd name="adj" fmla="val 25000"/>
            </a:avLst>
          </a:prstGeom>
          <a:solidFill>
            <a:srgbClr val="F8F0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308092" y="2743200"/>
            <a:ext cx="617220" cy="3154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40" b="1" i="0">
                <a:solidFill>
                  <a:srgbClr val="1C2235"/>
                </a:solidFill>
                <a:latin typeface="Segoe UI"/>
              </a:rPr>
              <a:t>NOVUS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918454" y="2804922"/>
            <a:ext cx="288036" cy="192024"/>
          </a:xfrm>
          <a:prstGeom prst="roundRect">
            <a:avLst>
              <a:gd name="adj" fmla="val 30000"/>
            </a:avLst>
          </a:prstGeom>
          <a:solidFill>
            <a:srgbClr val="C4820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918454" y="2804922"/>
            <a:ext cx="288036" cy="192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4" b="1" i="0">
                <a:solidFill>
                  <a:srgbClr val="FFFFFF"/>
                </a:solidFill>
                <a:latin typeface="Segoe UI"/>
              </a:rPr>
              <a:t>16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371082" y="2743200"/>
            <a:ext cx="1515618" cy="315468"/>
          </a:xfrm>
          <a:prstGeom prst="roundRect">
            <a:avLst>
              <a:gd name="adj" fmla="val 25000"/>
            </a:avLst>
          </a:prstGeom>
          <a:solidFill>
            <a:srgbClr val="F8F0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67094" y="2743200"/>
            <a:ext cx="1069848" cy="3154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40" b="1" i="0">
                <a:solidFill>
                  <a:srgbClr val="1C2235"/>
                </a:solidFill>
                <a:latin typeface="Segoe UI"/>
              </a:rPr>
              <a:t>Ultramarket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530084" y="2804922"/>
            <a:ext cx="288036" cy="192024"/>
          </a:xfrm>
          <a:prstGeom prst="roundRect">
            <a:avLst>
              <a:gd name="adj" fmla="val 30000"/>
            </a:avLst>
          </a:prstGeom>
          <a:solidFill>
            <a:srgbClr val="C4820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530084" y="2804922"/>
            <a:ext cx="288036" cy="192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4" b="1" i="0">
                <a:solidFill>
                  <a:srgbClr val="FFFFFF"/>
                </a:solidFill>
                <a:latin typeface="Segoe UI"/>
              </a:rPr>
              <a:t>13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25196" y="3168396"/>
            <a:ext cx="1440180" cy="315468"/>
          </a:xfrm>
          <a:prstGeom prst="roundRect">
            <a:avLst>
              <a:gd name="adj" fmla="val 25000"/>
            </a:avLst>
          </a:prstGeom>
          <a:solidFill>
            <a:srgbClr val="F8F0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21208" y="3168396"/>
            <a:ext cx="994410" cy="3154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40" b="1" i="0">
                <a:solidFill>
                  <a:srgbClr val="1C2235"/>
                </a:solidFill>
                <a:latin typeface="Segoe UI"/>
              </a:rPr>
              <a:t>МегаМаркет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508760" y="3230118"/>
            <a:ext cx="288036" cy="192024"/>
          </a:xfrm>
          <a:prstGeom prst="roundRect">
            <a:avLst>
              <a:gd name="adj" fmla="val 30000"/>
            </a:avLst>
          </a:prstGeom>
          <a:solidFill>
            <a:srgbClr val="C4820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508760" y="3230118"/>
            <a:ext cx="288036" cy="192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4" b="1" i="0">
                <a:solidFill>
                  <a:srgbClr val="FFFFFF"/>
                </a:solidFill>
                <a:latin typeface="Segoe UI"/>
              </a:rPr>
              <a:t>13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25196" y="3682746"/>
            <a:ext cx="27432" cy="144018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34924" y="3696462"/>
            <a:ext cx="8298180" cy="10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 spc="30">
                <a:solidFill>
                  <a:srgbClr val="303A5D"/>
                </a:solidFill>
                <a:latin typeface="Segoe UI"/>
              </a:rPr>
              <a:t>РЕГІОНАЛЬНІ МЕРЕЖІ · ЧИСЛО ПОЗИЦІЙ У МЕРЕЖІ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25196" y="3991356"/>
            <a:ext cx="987552" cy="315468"/>
          </a:xfrm>
          <a:prstGeom prst="roundRect">
            <a:avLst>
              <a:gd name="adj" fmla="val 25000"/>
            </a:avLst>
          </a:prstGeom>
          <a:solidFill>
            <a:srgbClr val="E6E7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21208" y="3991356"/>
            <a:ext cx="541782" cy="3154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40" b="1" i="0">
                <a:solidFill>
                  <a:srgbClr val="1C2235"/>
                </a:solidFill>
                <a:latin typeface="Segoe UI"/>
              </a:rPr>
              <a:t>Onde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056132" y="4053078"/>
            <a:ext cx="288036" cy="192024"/>
          </a:xfrm>
          <a:prstGeom prst="roundRect">
            <a:avLst>
              <a:gd name="adj" fmla="val 30000"/>
            </a:avLst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56132" y="4053078"/>
            <a:ext cx="288036" cy="192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4" b="1" i="0">
                <a:solidFill>
                  <a:srgbClr val="FFFFFF"/>
                </a:solidFill>
                <a:latin typeface="Segoe UI"/>
              </a:rPr>
              <a:t>34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1508760" y="3991356"/>
            <a:ext cx="1138428" cy="315468"/>
          </a:xfrm>
          <a:prstGeom prst="roundRect">
            <a:avLst>
              <a:gd name="adj" fmla="val 25000"/>
            </a:avLst>
          </a:prstGeom>
          <a:solidFill>
            <a:srgbClr val="E6E7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604772" y="3991356"/>
            <a:ext cx="692658" cy="3154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40" b="1" i="0">
                <a:solidFill>
                  <a:srgbClr val="1C2235"/>
                </a:solidFill>
                <a:latin typeface="Segoe UI"/>
              </a:rPr>
              <a:t>Космос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2290572" y="4053078"/>
            <a:ext cx="288036" cy="192024"/>
          </a:xfrm>
          <a:prstGeom prst="roundRect">
            <a:avLst>
              <a:gd name="adj" fmla="val 30000"/>
            </a:avLst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290572" y="4053078"/>
            <a:ext cx="288036" cy="192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4" b="1" i="0">
                <a:solidFill>
                  <a:srgbClr val="FFFFFF"/>
                </a:solidFill>
                <a:latin typeface="Segoe UI"/>
              </a:rPr>
              <a:t>29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2743200" y="3991356"/>
            <a:ext cx="1213866" cy="315468"/>
          </a:xfrm>
          <a:prstGeom prst="roundRect">
            <a:avLst>
              <a:gd name="adj" fmla="val 25000"/>
            </a:avLst>
          </a:prstGeom>
          <a:solidFill>
            <a:srgbClr val="E6E7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839212" y="3991356"/>
            <a:ext cx="768096" cy="3154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40" b="1" i="0">
                <a:solidFill>
                  <a:srgbClr val="1C2235"/>
                </a:solidFill>
                <a:latin typeface="Segoe UI"/>
              </a:rPr>
              <a:t>Восторг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3600450" y="4053078"/>
            <a:ext cx="288036" cy="192024"/>
          </a:xfrm>
          <a:prstGeom prst="roundRect">
            <a:avLst>
              <a:gd name="adj" fmla="val 30000"/>
            </a:avLst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600450" y="4053078"/>
            <a:ext cx="288036" cy="192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4" b="1" i="0">
                <a:solidFill>
                  <a:srgbClr val="FFFFFF"/>
                </a:solidFill>
                <a:latin typeface="Segoe UI"/>
              </a:rPr>
              <a:t>18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4053078" y="3991356"/>
            <a:ext cx="987552" cy="315468"/>
          </a:xfrm>
          <a:prstGeom prst="roundRect">
            <a:avLst>
              <a:gd name="adj" fmla="val 25000"/>
            </a:avLst>
          </a:prstGeom>
          <a:solidFill>
            <a:srgbClr val="E6E7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149090" y="3991356"/>
            <a:ext cx="541782" cy="3154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40" b="1" i="0">
                <a:solidFill>
                  <a:srgbClr val="1C2235"/>
                </a:solidFill>
                <a:latin typeface="Segoe UI"/>
              </a:rPr>
              <a:t>Клас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4684014" y="4053078"/>
            <a:ext cx="288036" cy="192024"/>
          </a:xfrm>
          <a:prstGeom prst="roundRect">
            <a:avLst>
              <a:gd name="adj" fmla="val 30000"/>
            </a:avLst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684014" y="4053078"/>
            <a:ext cx="288036" cy="192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4" b="1" i="0">
                <a:solidFill>
                  <a:srgbClr val="FFFFFF"/>
                </a:solidFill>
                <a:latin typeface="Segoe UI"/>
              </a:rPr>
              <a:t>18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5136642" y="3991356"/>
            <a:ext cx="1062990" cy="315468"/>
          </a:xfrm>
          <a:prstGeom prst="roundRect">
            <a:avLst>
              <a:gd name="adj" fmla="val 25000"/>
            </a:avLst>
          </a:prstGeom>
          <a:solidFill>
            <a:srgbClr val="E6E7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232654" y="3991356"/>
            <a:ext cx="617220" cy="3154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40" b="1" i="0">
                <a:solidFill>
                  <a:srgbClr val="1C2235"/>
                </a:solidFill>
                <a:latin typeface="Segoe UI"/>
              </a:rPr>
              <a:t>Ідеал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5843016" y="4053078"/>
            <a:ext cx="288036" cy="192024"/>
          </a:xfrm>
          <a:prstGeom prst="roundRect">
            <a:avLst>
              <a:gd name="adj" fmla="val 30000"/>
            </a:avLst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843016" y="4053078"/>
            <a:ext cx="288036" cy="192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4" b="1" i="0">
                <a:solidFill>
                  <a:srgbClr val="FFFFFF"/>
                </a:solidFill>
                <a:latin typeface="Segoe UI"/>
              </a:rPr>
              <a:t>15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6295644" y="3991356"/>
            <a:ext cx="1289304" cy="315468"/>
          </a:xfrm>
          <a:prstGeom prst="roundRect">
            <a:avLst>
              <a:gd name="adj" fmla="val 25000"/>
            </a:avLst>
          </a:prstGeom>
          <a:solidFill>
            <a:srgbClr val="E6E7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391656" y="3991356"/>
            <a:ext cx="843534" cy="3154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40" b="1" i="0">
                <a:solidFill>
                  <a:srgbClr val="1C2235"/>
                </a:solidFill>
                <a:latin typeface="Segoe UI"/>
              </a:rPr>
              <a:t>Таврія В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7228332" y="4053078"/>
            <a:ext cx="288036" cy="192024"/>
          </a:xfrm>
          <a:prstGeom prst="roundRect">
            <a:avLst>
              <a:gd name="adj" fmla="val 30000"/>
            </a:avLst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7228332" y="4053078"/>
            <a:ext cx="288036" cy="192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4" b="1" i="0">
                <a:solidFill>
                  <a:srgbClr val="FFFFFF"/>
                </a:solidFill>
                <a:latin typeface="Segoe UI"/>
              </a:rPr>
              <a:t>11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425196" y="4416552"/>
            <a:ext cx="1062990" cy="315468"/>
          </a:xfrm>
          <a:prstGeom prst="roundRect">
            <a:avLst>
              <a:gd name="adj" fmla="val 25000"/>
            </a:avLst>
          </a:prstGeom>
          <a:solidFill>
            <a:srgbClr val="E6E7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21208" y="4416552"/>
            <a:ext cx="617220" cy="3154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40" b="1" i="0">
                <a:solidFill>
                  <a:srgbClr val="1C2235"/>
                </a:solidFill>
                <a:latin typeface="Segoe UI"/>
              </a:rPr>
              <a:t>Торба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1131570" y="4478274"/>
            <a:ext cx="288036" cy="192024"/>
          </a:xfrm>
          <a:prstGeom prst="roundRect">
            <a:avLst>
              <a:gd name="adj" fmla="val 30000"/>
            </a:avLst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131570" y="4478274"/>
            <a:ext cx="288036" cy="192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4" b="1" i="0">
                <a:solidFill>
                  <a:srgbClr val="FFFFFF"/>
                </a:solidFill>
                <a:latin typeface="Segoe UI"/>
              </a:rPr>
              <a:t>10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1584198" y="4416552"/>
            <a:ext cx="1440180" cy="315468"/>
          </a:xfrm>
          <a:prstGeom prst="roundRect">
            <a:avLst>
              <a:gd name="adj" fmla="val 25000"/>
            </a:avLst>
          </a:prstGeom>
          <a:solidFill>
            <a:srgbClr val="E6E7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680210" y="4416552"/>
            <a:ext cx="994410" cy="3154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40" b="1" i="0">
                <a:solidFill>
                  <a:srgbClr val="1C2235"/>
                </a:solidFill>
                <a:latin typeface="Segoe UI"/>
              </a:rPr>
              <a:t>ЧудоМаркет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2667762" y="4478274"/>
            <a:ext cx="288036" cy="192024"/>
          </a:xfrm>
          <a:prstGeom prst="roundRect">
            <a:avLst>
              <a:gd name="adj" fmla="val 30000"/>
            </a:avLst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2667762" y="4478274"/>
            <a:ext cx="288036" cy="192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4" b="1" i="0">
                <a:solidFill>
                  <a:srgbClr val="FFFFFF"/>
                </a:solidFill>
                <a:latin typeface="Segoe UI"/>
              </a:rPr>
              <a:t>9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3120390" y="4416552"/>
            <a:ext cx="1062990" cy="315468"/>
          </a:xfrm>
          <a:prstGeom prst="roundRect">
            <a:avLst>
              <a:gd name="adj" fmla="val 25000"/>
            </a:avLst>
          </a:prstGeom>
          <a:solidFill>
            <a:srgbClr val="E6E7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3216402" y="4416552"/>
            <a:ext cx="617220" cy="3154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40" b="1" i="0">
                <a:solidFill>
                  <a:srgbClr val="1C2235"/>
                </a:solidFill>
                <a:latin typeface="Segoe UI"/>
              </a:rPr>
              <a:t>Grono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3826764" y="4478274"/>
            <a:ext cx="288036" cy="192024"/>
          </a:xfrm>
          <a:prstGeom prst="roundRect">
            <a:avLst>
              <a:gd name="adj" fmla="val 30000"/>
            </a:avLst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3826764" y="4478274"/>
            <a:ext cx="288036" cy="192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04" b="1" i="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25196" y="4855464"/>
            <a:ext cx="829818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1">
                <a:solidFill>
                  <a:srgbClr val="717890"/>
                </a:solidFill>
                <a:latin typeface="Segoe UI"/>
              </a:rPr>
              <a:t>Каталоги мереж на zakaz.ua (METRO, NOVUS, Ашан, Зараз, МегаМаркет, Ultramarket, Епіцентр, Космос, Onde, Ідеал, Восторг, Клас, Таврія В, ЧудоМаркет, Торба, Grono) · 07.10.2026 · ціна — онлайн-полиця одного магазину мережі, діапазон — між мережами.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977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3977" cy="795528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95528"/>
            <a:ext cx="9143977" cy="41148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" y="178308"/>
            <a:ext cx="1042416" cy="4526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728216" y="205740"/>
            <a:ext cx="61722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1" i="0" spc="30">
                <a:solidFill>
                  <a:srgbClr val="FFC95C"/>
                </a:solidFill>
                <a:latin typeface="Segoe UI"/>
              </a:rPr>
              <a:t>ЩО ЦЕ ЗА ПРОДУКТИ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28216" y="377190"/>
            <a:ext cx="61722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20" b="1" i="0">
                <a:solidFill>
                  <a:srgbClr val="FFFFFF"/>
                </a:solidFill>
                <a:latin typeface="Segoe UI"/>
              </a:rPr>
              <a:t>Формати категорії: що саме лежить на полиці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20990" y="301752"/>
            <a:ext cx="768096" cy="2263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360" b="1" i="0">
                <a:solidFill>
                  <a:srgbClr val="465382"/>
                </a:solidFill>
                <a:latin typeface="Segoe UI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5196" y="932688"/>
            <a:ext cx="82981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4" b="0" i="0">
                <a:solidFill>
                  <a:srgbClr val="717890"/>
                </a:solidFill>
                <a:latin typeface="Segoe UI"/>
              </a:rPr>
              <a:t>Опис — за митними описами товарів (графа 31 декларації) та написами на упаковках. Фото — продукти, які ми знайшли в мережах.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5196" y="1337310"/>
            <a:ext cx="2708910" cy="171450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5196" y="1337310"/>
            <a:ext cx="2708910" cy="3429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7492" y="1474470"/>
            <a:ext cx="891540" cy="1028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3" name="Picture 12" descr="0880915190923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924" y="1570482"/>
            <a:ext cx="836676" cy="83667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488186" y="1460754"/>
            <a:ext cx="157734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2" b="1" i="0">
                <a:solidFill>
                  <a:srgbClr val="2B3453"/>
                </a:solidFill>
                <a:latin typeface="Segoe UI"/>
              </a:rPr>
              <a:t>Норі-снек у міні-пакеті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8186" y="1831086"/>
            <a:ext cx="15773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1C2235"/>
                </a:solidFill>
                <a:latin typeface="Segoe UI"/>
              </a:rPr>
              <a:t>Тонкі листи морської водорості норі, підсмажені з олією, сіллю й спеціями; у пакетику 1–2 аркуші по 4–5 г. Їдять як хрусткі чипси або загортають у них рис.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" y="2558034"/>
            <a:ext cx="25374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717890"/>
                </a:solidFill>
                <a:latin typeface="Segoe UI"/>
              </a:rPr>
              <a:t>Haelove · 4,5 г · типова ціна 43 ₴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21208" y="2708910"/>
            <a:ext cx="2516886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6072" y="2708910"/>
            <a:ext cx="243459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1" i="0">
                <a:solidFill>
                  <a:srgbClr val="303A5D"/>
                </a:solidFill>
                <a:latin typeface="Segoe UI"/>
              </a:rPr>
              <a:t>Тут: TMK ROLL і DOUBLE ROLL (рулончик 2,5 і 5 г)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36976" y="1337310"/>
            <a:ext cx="2708910" cy="171450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36976" y="1337310"/>
            <a:ext cx="2708910" cy="34290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319272" y="1474470"/>
            <a:ext cx="891540" cy="1028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2" name="Picture 21" descr="0482017244297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6704" y="1570482"/>
            <a:ext cx="836676" cy="836676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4299966" y="1460754"/>
            <a:ext cx="157734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2" b="1" i="0">
                <a:solidFill>
                  <a:srgbClr val="9A6A15"/>
                </a:solidFill>
                <a:latin typeface="Segoe UI"/>
              </a:rPr>
              <a:t>Норі-чипси та сендвічі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9966" y="1831086"/>
            <a:ext cx="15773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1C2235"/>
                </a:solidFill>
                <a:latin typeface="Segoe UI"/>
              </a:rPr>
              <a:t>Хрусткі квадрати норі в пакеті 25 г (Hokkaido Club, Norris) і «сендвіч» — два листи норі, склеєні начинкою з рису, кунжуту, насіння чи м’ясної стружки.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32988" y="2558034"/>
            <a:ext cx="25374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717890"/>
                </a:solidFill>
                <a:latin typeface="Segoe UI"/>
              </a:rPr>
              <a:t>Hokkaido Club · 25 г · типова ціна 58 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32988" y="2708910"/>
            <a:ext cx="2516886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387852" y="2708910"/>
            <a:ext cx="243459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1" i="0">
                <a:solidFill>
                  <a:srgbClr val="303A5D"/>
                </a:solidFill>
                <a:latin typeface="Segoe UI"/>
              </a:rPr>
              <a:t>Тут: ZEK Sandwich 25 г і TMK SEAWEED / MINI 10–12 г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48756" y="1337310"/>
            <a:ext cx="2708910" cy="171450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048756" y="1337310"/>
            <a:ext cx="2708910" cy="34290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31052" y="1474470"/>
            <a:ext cx="891540" cy="1028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1" name="Picture 30" descr="08858702402194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58484" y="1570482"/>
            <a:ext cx="836676" cy="836676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7111746" y="1460754"/>
            <a:ext cx="157734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2" b="1" i="0">
                <a:solidFill>
                  <a:srgbClr val="4D417E"/>
                </a:solidFill>
                <a:latin typeface="Segoe UI"/>
              </a:rPr>
              <a:t>Темпура з норі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11746" y="1831086"/>
            <a:ext cx="15773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1C2235"/>
                </a:solidFill>
                <a:latin typeface="Segoe UI"/>
              </a:rPr>
              <a:t>Норі в хрусткому клярі темпура — як чипси, але товстіші, з гострими й васабі-смаками. Одного бренду в мережах — Tao Kae Noi. У ZEK — рисовий снек із сушеною водорістю.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44768" y="2558034"/>
            <a:ext cx="25374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717890"/>
                </a:solidFill>
                <a:latin typeface="Segoe UI"/>
              </a:rPr>
              <a:t>Tao Kae Noi · 25 г · типова ціна 88 ₴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44768" y="2708910"/>
            <a:ext cx="2516886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99632" y="2708910"/>
            <a:ext cx="243459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1" i="0">
                <a:solidFill>
                  <a:srgbClr val="303A5D"/>
                </a:solidFill>
                <a:latin typeface="Segoe UI"/>
              </a:rPr>
              <a:t>Тут: ZEK Tempura 30 і 50 г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5196" y="3134106"/>
            <a:ext cx="2708910" cy="171450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25196" y="3134106"/>
            <a:ext cx="2708910" cy="34290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07492" y="3271266"/>
            <a:ext cx="891540" cy="1028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0" name="Picture 39" descr="08809094847193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4924" y="3367278"/>
            <a:ext cx="836676" cy="836676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1488186" y="3257550"/>
            <a:ext cx="157734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2" b="1" i="0">
                <a:solidFill>
                  <a:srgbClr val="4D417E"/>
                </a:solidFill>
                <a:latin typeface="Segoe UI"/>
              </a:rPr>
              <a:t>Топінг із норі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488186" y="3627882"/>
            <a:ext cx="15773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1C2235"/>
                </a:solidFill>
                <a:latin typeface="Segoe UI"/>
              </a:rPr>
              <a:t>Подрібнена водорість із олією, цукром і начинкою (кунжут, овочі, курячa стружка). Не снек, а посипка для рису, локшини, супів і салатів.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21208" y="4354830"/>
            <a:ext cx="25374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717890"/>
                </a:solidFill>
                <a:latin typeface="Segoe UI"/>
              </a:rPr>
              <a:t>Ock Dong Ja · 70 г · типова ціна 232 ₴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21208" y="4505706"/>
            <a:ext cx="2516886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76072" y="4505706"/>
            <a:ext cx="243459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1" i="0">
                <a:solidFill>
                  <a:srgbClr val="303A5D"/>
                </a:solidFill>
                <a:latin typeface="Segoe UI"/>
              </a:rPr>
              <a:t>Тут: ZEK Topping 35 і 70 г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236976" y="3134106"/>
            <a:ext cx="2708910" cy="171450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236976" y="3134106"/>
            <a:ext cx="2708910" cy="34290"/>
          </a:xfrm>
          <a:prstGeom prst="rect">
            <a:avLst/>
          </a:prstGeom>
          <a:solidFill>
            <a:srgbClr val="B23A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319272" y="3271266"/>
            <a:ext cx="891540" cy="1028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9" name="Picture 48" descr="04710144900154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46704" y="3367278"/>
            <a:ext cx="836676" cy="836676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4299966" y="3257550"/>
            <a:ext cx="157734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2" b="1" i="0">
                <a:solidFill>
                  <a:srgbClr val="8C3439"/>
                </a:solidFill>
                <a:latin typeface="Segoe UI"/>
              </a:rPr>
              <a:t>Рисовий крекер із норі (арарe / норімакі)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299966" y="3627882"/>
            <a:ext cx="15773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1C2235"/>
                </a:solidFill>
                <a:latin typeface="Segoe UI"/>
              </a:rPr>
              <a:t>Обсмажений рисовий крекер із соєвим соусом, обгорнутий або присипаний смаженою норі. Основа — клейкий рис (близько 75–80 %).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332988" y="4354830"/>
            <a:ext cx="25374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717890"/>
                </a:solidFill>
                <a:latin typeface="Segoe UI"/>
              </a:rPr>
              <a:t>Want Want · 60 г · типова ціна 145 ₴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332988" y="4505706"/>
            <a:ext cx="2516886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387852" y="4505706"/>
            <a:ext cx="243459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1" i="0">
                <a:solidFill>
                  <a:srgbClr val="303A5D"/>
                </a:solidFill>
                <a:latin typeface="Segoe UI"/>
              </a:rPr>
              <a:t>Тут: Singha Kameda Norimaki 42 г, Thai-Nichi Mizuho Norimaki 50–55 г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048756" y="3134106"/>
            <a:ext cx="2708910" cy="171450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048756" y="3134106"/>
            <a:ext cx="2708910" cy="34290"/>
          </a:xfrm>
          <a:prstGeom prst="rect">
            <a:avLst/>
          </a:prstGeom>
          <a:solidFill>
            <a:srgbClr val="A5ABB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131052" y="3271266"/>
            <a:ext cx="891540" cy="1028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58" name="Picture 57" descr="03800233070149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58484" y="3367278"/>
            <a:ext cx="836676" cy="836676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7111746" y="3257550"/>
            <a:ext cx="157734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2" b="1" i="0">
                <a:solidFill>
                  <a:srgbClr val="83899B"/>
                </a:solidFill>
                <a:latin typeface="Segoe UI"/>
              </a:rPr>
              <a:t>Рисові чипси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111746" y="3627882"/>
            <a:ext cx="15773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1C2235"/>
                </a:solidFill>
                <a:latin typeface="Segoe UI"/>
              </a:rPr>
              <a:t>Тонкі хрусткі рисові чипси зі смаком сиру, паприки чи сметани. Суміжний формат, не наш: ціна 40–70 ₴ за пакет.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144768" y="4354830"/>
            <a:ext cx="25374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717890"/>
                </a:solidFill>
                <a:latin typeface="Segoe UI"/>
              </a:rPr>
              <a:t>Rice Up! · 60 г · типова ціна 63 ₴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144768" y="4505706"/>
            <a:ext cx="2516886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199632" y="4505706"/>
            <a:ext cx="243459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1" i="0">
                <a:solidFill>
                  <a:srgbClr val="303A5D"/>
                </a:solidFill>
                <a:latin typeface="Segoe UI"/>
              </a:rPr>
              <a:t>У нашому асортименті аналогів немає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25196" y="4855464"/>
            <a:ext cx="829818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1">
                <a:solidFill>
                  <a:srgbClr val="717890"/>
                </a:solidFill>
                <a:latin typeface="Segoe UI"/>
              </a:rPr>
              <a:t>Джерела: митні описи товарів (графа 31 МД) постачальників; каталоги мереж zakaz.ua, 07.10.2026.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977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3977" cy="795528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95528"/>
            <a:ext cx="9143977" cy="41148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" y="178308"/>
            <a:ext cx="1042416" cy="4526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728216" y="205740"/>
            <a:ext cx="61722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1" i="0" spc="30">
                <a:solidFill>
                  <a:srgbClr val="FFC95C"/>
                </a:solidFill>
                <a:latin typeface="Segoe UI"/>
              </a:rPr>
              <a:t>ЩО ЦЕ ЗА ПРОДУКТИ · НАШ АСОРТИМЕНТ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28216" y="377190"/>
            <a:ext cx="61722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20" b="1" i="0">
                <a:solidFill>
                  <a:srgbClr val="FFFFFF"/>
                </a:solidFill>
                <a:latin typeface="Segoe UI"/>
              </a:rPr>
              <a:t>Паспорт продукту: що саме ми пропонуємо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20990" y="301752"/>
            <a:ext cx="768096" cy="2263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360" b="1" i="0">
                <a:solidFill>
                  <a:srgbClr val="465382"/>
                </a:solidFill>
                <a:latin typeface="Segoe UI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5196" y="932688"/>
            <a:ext cx="82981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4" b="0" i="0">
                <a:solidFill>
                  <a:srgbClr val="717890"/>
                </a:solidFill>
                <a:latin typeface="Segoe UI"/>
              </a:rPr>
              <a:t>За вашою таблицею УКТ ЗЕД: класифікація, мито та склад продуктів кожного постачальника. Мито — пільгове / повне.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5196" y="1303020"/>
            <a:ext cx="2023110" cy="274320"/>
          </a:xfrm>
          <a:prstGeom prst="rect">
            <a:avLst/>
          </a:prstGeom>
          <a:solidFill>
            <a:srgbClr val="B3621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7492" y="1364742"/>
            <a:ext cx="188595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 spc="15">
                <a:solidFill>
                  <a:srgbClr val="FFFFFF"/>
                </a:solidFill>
                <a:latin typeface="Segoe UI"/>
              </a:rPr>
              <a:t>SINGHA KAMEDA · ARARE NORIMAKI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5196" y="1577340"/>
            <a:ext cx="2023110" cy="325755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7492" y="1659636"/>
            <a:ext cx="1858518" cy="92583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4" name="Picture 13" descr="sk_orig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223" y="1687068"/>
            <a:ext cx="689055" cy="87096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21208" y="2674620"/>
            <a:ext cx="1831086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 spc="30">
                <a:solidFill>
                  <a:srgbClr val="B36214"/>
                </a:solidFill>
                <a:latin typeface="Segoe UI"/>
              </a:rPr>
              <a:t>ЩО ЦЕ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" y="2791206"/>
            <a:ext cx="1831086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1C2235"/>
                </a:solidFill>
                <a:latin typeface="Segoe UI"/>
              </a:rPr>
              <a:t>Рисовий крекер, обсмажений / екструдований: клейкий рис 75–80 %, соєвий соус (у Original — соєво-рибний з екстрактом боніто), смажена норі 3,5–4 %. Роздріб — пакет-стойка 42 г; також навал 3 кг.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" y="3463290"/>
            <a:ext cx="1831086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 spc="30">
                <a:solidFill>
                  <a:srgbClr val="B36214"/>
                </a:solidFill>
                <a:latin typeface="Segoe UI"/>
              </a:rPr>
              <a:t>КРАЇНА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" y="3579876"/>
            <a:ext cx="1831086" cy="2331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0" i="0">
                <a:solidFill>
                  <a:srgbClr val="1C2235"/>
                </a:solidFill>
                <a:latin typeface="Segoe UI"/>
              </a:rPr>
              <a:t>Таїланд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" y="3778758"/>
            <a:ext cx="1831086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 spc="30">
                <a:solidFill>
                  <a:srgbClr val="B36214"/>
                </a:solidFill>
                <a:latin typeface="Segoe UI"/>
              </a:rPr>
              <a:t>СМАКИ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" y="3895344"/>
            <a:ext cx="1831086" cy="2331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0" i="0">
                <a:solidFill>
                  <a:srgbClr val="1C2235"/>
                </a:solidFill>
                <a:latin typeface="Segoe UI"/>
              </a:rPr>
              <a:t>Original · Wasabi (у таблиці ще Squid Chili, Mala)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" y="4094226"/>
            <a:ext cx="1831086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 spc="30">
                <a:solidFill>
                  <a:srgbClr val="B36214"/>
                </a:solidFill>
                <a:latin typeface="Segoe UI"/>
              </a:rPr>
              <a:t>УКТ ЗЕД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8" y="4210812"/>
            <a:ext cx="1831086" cy="2331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1" i="0">
                <a:solidFill>
                  <a:srgbClr val="1C2235"/>
                </a:solidFill>
                <a:latin typeface="Segoe UI"/>
              </a:rPr>
              <a:t>1905 90 55 00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8" y="4409694"/>
            <a:ext cx="1831086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 spc="30">
                <a:solidFill>
                  <a:srgbClr val="B36214"/>
                </a:solidFill>
                <a:latin typeface="Segoe UI"/>
              </a:rPr>
              <a:t>МИТО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1208" y="4526280"/>
            <a:ext cx="1831086" cy="2331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1" i="0">
                <a:solidFill>
                  <a:srgbClr val="1C2235"/>
                </a:solidFill>
                <a:latin typeface="Segoe UI"/>
              </a:rPr>
              <a:t>10 % / 10 %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523744" y="1303020"/>
            <a:ext cx="2023110" cy="274320"/>
          </a:xfrm>
          <a:prstGeom prst="rect">
            <a:avLst/>
          </a:prstGeom>
          <a:solidFill>
            <a:srgbClr val="1D5B6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06040" y="1364742"/>
            <a:ext cx="188595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 spc="15">
                <a:solidFill>
                  <a:srgbClr val="FFFFFF"/>
                </a:solidFill>
                <a:latin typeface="Segoe UI"/>
              </a:rPr>
              <a:t>THAI-NICHI · MIZUHO NORIMAKI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523744" y="1577340"/>
            <a:ext cx="2023110" cy="325755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606040" y="1659636"/>
            <a:ext cx="1858518" cy="92583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9" name="Picture 28" descr="tn_origin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2977" y="1687068"/>
            <a:ext cx="724643" cy="870966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19756" y="2674620"/>
            <a:ext cx="1831086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 spc="30">
                <a:solidFill>
                  <a:srgbClr val="1D5B63"/>
                </a:solidFill>
                <a:latin typeface="Segoe UI"/>
              </a:rPr>
              <a:t>ЩО ЦЕ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19756" y="2791206"/>
            <a:ext cx="1831086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1C2235"/>
                </a:solidFill>
                <a:latin typeface="Segoe UI"/>
              </a:rPr>
              <a:t>Рисовий крекер, обсмажений / екструдований, із соєвим соусом і сушеною смаженою норі. Алюмінієвий пакет з азотним наповненням; 50 і 55 г.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619756" y="3463290"/>
            <a:ext cx="1831086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 spc="30">
                <a:solidFill>
                  <a:srgbClr val="1D5B63"/>
                </a:solidFill>
                <a:latin typeface="Segoe UI"/>
              </a:rPr>
              <a:t>КРАЇНА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19756" y="3579876"/>
            <a:ext cx="1831086" cy="2331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0" i="0">
                <a:solidFill>
                  <a:srgbClr val="1C2235"/>
                </a:solidFill>
                <a:latin typeface="Segoe UI"/>
              </a:rPr>
              <a:t>Таїланд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619756" y="3778758"/>
            <a:ext cx="1831086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 spc="30">
                <a:solidFill>
                  <a:srgbClr val="1D5B63"/>
                </a:solidFill>
                <a:latin typeface="Segoe UI"/>
              </a:rPr>
              <a:t>СМАКИ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19756" y="3895344"/>
            <a:ext cx="1831086" cy="2331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0" i="0">
                <a:solidFill>
                  <a:srgbClr val="1C2235"/>
                </a:solidFill>
                <a:latin typeface="Segoe UI"/>
              </a:rPr>
              <a:t>Original · Wasabi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619756" y="4094226"/>
            <a:ext cx="1831086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 spc="30">
                <a:solidFill>
                  <a:srgbClr val="1D5B63"/>
                </a:solidFill>
                <a:latin typeface="Segoe UI"/>
              </a:rPr>
              <a:t>УКТ ЗЕД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619756" y="4210812"/>
            <a:ext cx="1831086" cy="2331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1" i="0">
                <a:solidFill>
                  <a:srgbClr val="1C2235"/>
                </a:solidFill>
                <a:latin typeface="Segoe UI"/>
              </a:rPr>
              <a:t>1905 90 55 00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19756" y="4409694"/>
            <a:ext cx="1831086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 spc="30">
                <a:solidFill>
                  <a:srgbClr val="1D5B63"/>
                </a:solidFill>
                <a:latin typeface="Segoe UI"/>
              </a:rPr>
              <a:t>МИТО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619756" y="4526280"/>
            <a:ext cx="1831086" cy="2331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1" i="0">
                <a:solidFill>
                  <a:srgbClr val="1C2235"/>
                </a:solidFill>
                <a:latin typeface="Segoe UI"/>
              </a:rPr>
              <a:t>10 % / 10 %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622292" y="1303020"/>
            <a:ext cx="2023110" cy="274320"/>
          </a:xfrm>
          <a:prstGeom prst="rect">
            <a:avLst/>
          </a:prstGeom>
          <a:solidFill>
            <a:srgbClr val="2F7A3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04588" y="1364742"/>
            <a:ext cx="188595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 spc="15">
                <a:solidFill>
                  <a:srgbClr val="FFFFFF"/>
                </a:solidFill>
                <a:latin typeface="Segoe UI"/>
              </a:rPr>
              <a:t>TMK · KOKIRI WOW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622292" y="1577340"/>
            <a:ext cx="2023110" cy="325755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704588" y="1659636"/>
            <a:ext cx="1858518" cy="92583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4" name="Picture 43" descr="tmk_roll_ori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9647" y="1687068"/>
            <a:ext cx="288399" cy="870966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4718304" y="2674620"/>
            <a:ext cx="1831086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 spc="30">
                <a:solidFill>
                  <a:srgbClr val="2F7A3E"/>
                </a:solidFill>
                <a:latin typeface="Segoe UI"/>
              </a:rPr>
              <a:t>ЩО ЦЕ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718304" y="2791206"/>
            <a:ext cx="1831086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1C2235"/>
                </a:solidFill>
                <a:latin typeface="Segoe UI"/>
              </a:rPr>
              <a:t>Смажена норі (корейська, 75–95 %) зі смаковою приправою 5 %. ROLL — рулончик 2,5 г; DOUBLE ROLL — подвійний 2 × 2,5 г; MINI — дрібні рулончики 10 г; SEAWEED — хрустка норі, смажена в пальмовій олії, 12 г.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718304" y="3463290"/>
            <a:ext cx="1831086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 spc="30">
                <a:solidFill>
                  <a:srgbClr val="2F7A3E"/>
                </a:solidFill>
                <a:latin typeface="Segoe UI"/>
              </a:rPr>
              <a:t>КРАЇНА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718304" y="3579876"/>
            <a:ext cx="1831086" cy="2331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0" i="0">
                <a:solidFill>
                  <a:srgbClr val="1C2235"/>
                </a:solidFill>
                <a:latin typeface="Segoe UI"/>
              </a:rPr>
              <a:t>Таїланд (сировина з Кореї)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718304" y="3778758"/>
            <a:ext cx="1831086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 spc="30">
                <a:solidFill>
                  <a:srgbClr val="2F7A3E"/>
                </a:solidFill>
                <a:latin typeface="Segoe UI"/>
              </a:rPr>
              <a:t>СМАКИ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718304" y="3895344"/>
            <a:ext cx="1831086" cy="2331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0" i="0">
                <a:solidFill>
                  <a:srgbClr val="1C2235"/>
                </a:solidFill>
                <a:latin typeface="Segoe UI"/>
              </a:rPr>
              <a:t>Original · Hot Spicy · Squid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718304" y="4094226"/>
            <a:ext cx="1831086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 spc="30">
                <a:solidFill>
                  <a:srgbClr val="2F7A3E"/>
                </a:solidFill>
                <a:latin typeface="Segoe UI"/>
              </a:rPr>
              <a:t>УКТ ЗЕД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718304" y="4210812"/>
            <a:ext cx="1831086" cy="2331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1" i="0">
                <a:solidFill>
                  <a:srgbClr val="1C2235"/>
                </a:solidFill>
                <a:latin typeface="Segoe UI"/>
              </a:rPr>
              <a:t>2008 99 99 90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718304" y="4409694"/>
            <a:ext cx="1831086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 spc="30">
                <a:solidFill>
                  <a:srgbClr val="2F7A3E"/>
                </a:solidFill>
                <a:latin typeface="Segoe UI"/>
              </a:rPr>
              <a:t>МИТО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718304" y="4526280"/>
            <a:ext cx="1831086" cy="2331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1" i="0">
                <a:solidFill>
                  <a:srgbClr val="1C2235"/>
                </a:solidFill>
                <a:latin typeface="Segoe UI"/>
              </a:rPr>
              <a:t>10 % / 15 %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720840" y="1303020"/>
            <a:ext cx="2023110" cy="274320"/>
          </a:xfrm>
          <a:prstGeom prst="rect">
            <a:avLst/>
          </a:prstGeom>
          <a:solidFill>
            <a:srgbClr val="B23A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803136" y="1364742"/>
            <a:ext cx="188595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 spc="15">
                <a:solidFill>
                  <a:srgbClr val="FFFFFF"/>
                </a:solidFill>
                <a:latin typeface="Segoe UI"/>
              </a:rPr>
              <a:t>HANJIN · ZEK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720840" y="1577340"/>
            <a:ext cx="2023110" cy="325755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803136" y="1659636"/>
            <a:ext cx="1858518" cy="92583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59" name="Picture 58" descr="zek_tempura_corn3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97926" y="1687068"/>
            <a:ext cx="668937" cy="870966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6816852" y="2674620"/>
            <a:ext cx="1831086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 spc="30">
                <a:solidFill>
                  <a:srgbClr val="B23A22"/>
                </a:solidFill>
                <a:latin typeface="Segoe UI"/>
              </a:rPr>
              <a:t>ЩО ЦЕ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816852" y="2791206"/>
            <a:ext cx="1831086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1C2235"/>
                </a:solidFill>
                <a:latin typeface="Segoe UI"/>
              </a:rPr>
              <a:t>Tempura 30 / 50 г — рисовий снек із сушеною норі, крохмалем і приправою (1905). Sandwich 25 г — листи норі з начинкою (мальтоза, м’ясна стружка / кунжут). Topping 35 / 70 г — подрібнена норі з олією, цукром і начинкою (2008).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816852" y="3463290"/>
            <a:ext cx="1831086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 spc="30">
                <a:solidFill>
                  <a:srgbClr val="B23A22"/>
                </a:solidFill>
                <a:latin typeface="Segoe UI"/>
              </a:rPr>
              <a:t>КРАЇНА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816852" y="3579876"/>
            <a:ext cx="1831086" cy="2331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0" i="0">
                <a:solidFill>
                  <a:srgbClr val="1C2235"/>
                </a:solidFill>
                <a:latin typeface="Segoe UI"/>
              </a:rPr>
              <a:t>Китай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816852" y="3778758"/>
            <a:ext cx="1831086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 spc="30">
                <a:solidFill>
                  <a:srgbClr val="B23A22"/>
                </a:solidFill>
                <a:latin typeface="Segoe UI"/>
              </a:rPr>
              <a:t>СМАКИ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816852" y="3895344"/>
            <a:ext cx="1831086" cy="2331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0" i="0">
                <a:solidFill>
                  <a:srgbClr val="1C2235"/>
                </a:solidFill>
                <a:latin typeface="Segoe UI"/>
              </a:rPr>
              <a:t>Corn · Wasabi · Mala · Meat Floss · Sesame · Vegetables · Chicken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816852" y="4094226"/>
            <a:ext cx="1831086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 spc="30">
                <a:solidFill>
                  <a:srgbClr val="B23A22"/>
                </a:solidFill>
                <a:latin typeface="Segoe UI"/>
              </a:rPr>
              <a:t>УКТ ЗЕД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816852" y="4210812"/>
            <a:ext cx="1831086" cy="2331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1" i="0">
                <a:solidFill>
                  <a:srgbClr val="1C2235"/>
                </a:solidFill>
                <a:latin typeface="Segoe UI"/>
              </a:rPr>
              <a:t>1905 90 55 00 · 2008 99 99 90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816852" y="4409694"/>
            <a:ext cx="1831086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 spc="30">
                <a:solidFill>
                  <a:srgbClr val="B23A22"/>
                </a:solidFill>
                <a:latin typeface="Segoe UI"/>
              </a:rPr>
              <a:t>МИТО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816852" y="4526280"/>
            <a:ext cx="1831086" cy="2331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1" i="0">
                <a:solidFill>
                  <a:srgbClr val="1C2235"/>
                </a:solidFill>
                <a:latin typeface="Segoe UI"/>
              </a:rPr>
              <a:t>10 % / 10 % · 10 % / 15 %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25196" y="4855464"/>
            <a:ext cx="829818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1">
                <a:solidFill>
                  <a:srgbClr val="717890"/>
                </a:solidFill>
                <a:latin typeface="Segoe UI"/>
              </a:rPr>
              <a:t>Джерело: таблиця УКТ ЗЕД постачальників (опис до графи 31 МД). Класифікацію підтверджує митний брокер; мито — за вашою таблицею.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977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3977" cy="795528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95528"/>
            <a:ext cx="9143977" cy="41148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" y="178308"/>
            <a:ext cx="1042416" cy="4526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728216" y="205740"/>
            <a:ext cx="61722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1" i="0" spc="30">
                <a:solidFill>
                  <a:srgbClr val="FFC95C"/>
                </a:solidFill>
                <a:latin typeface="Segoe UI"/>
              </a:rPr>
              <a:t>ОБСЯГ РИНКУ · МИТНА БАЗА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28216" y="377190"/>
            <a:ext cx="61722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20" b="1" i="0">
                <a:solidFill>
                  <a:srgbClr val="FFFFFF"/>
                </a:solidFill>
                <a:latin typeface="Segoe UI"/>
              </a:rPr>
              <a:t>Що показує митна база за нашими кодами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20990" y="301752"/>
            <a:ext cx="768096" cy="2263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360" b="1" i="0">
                <a:solidFill>
                  <a:srgbClr val="465382"/>
                </a:solidFill>
                <a:latin typeface="Segoe UI"/>
              </a:rP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5196" y="932688"/>
            <a:ext cx="82981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4" b="0" i="0">
                <a:solidFill>
                  <a:srgbClr val="717890"/>
                </a:solidFill>
                <a:latin typeface="Segoe UI"/>
              </a:rPr>
              <a:t>Чотири точні коди УКТ ЗЕД за 2025 рік і січень–травень 2026 (5 місяців). Кольорова смужка зліва — коди, під якими оформлюються наші продукти; сірі — локшина й готовий рис із попередніх досліджень, для масштабу.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5196" y="1337310"/>
            <a:ext cx="8298180" cy="82296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5196" y="1337310"/>
            <a:ext cx="41148" cy="822960"/>
          </a:xfrm>
          <a:prstGeom prst="rect">
            <a:avLst/>
          </a:prstGeom>
          <a:solidFill>
            <a:srgbClr val="2F7A3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6646" y="1405890"/>
            <a:ext cx="1988820" cy="150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60" b="1" i="0">
                <a:solidFill>
                  <a:srgbClr val="303A5D"/>
                </a:solidFill>
                <a:latin typeface="Segoe UI"/>
              </a:rPr>
              <a:t>2008 99 99 90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6646" y="1611630"/>
            <a:ext cx="198882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40" b="0" i="0">
                <a:solidFill>
                  <a:srgbClr val="717890"/>
                </a:solidFill>
                <a:latin typeface="Segoe UI"/>
              </a:rPr>
              <a:t>Морські водорості приготовані (нори-снеки, топінг, сендвічі)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6646" y="1940814"/>
            <a:ext cx="198882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77 імпортерів · 824 декларацій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88336" y="1405890"/>
            <a:ext cx="219456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303A5D"/>
                </a:solidFill>
                <a:latin typeface="Segoe UI"/>
              </a:rPr>
              <a:t>2 794 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88336" y="1652778"/>
            <a:ext cx="2194560" cy="150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72" b="0" i="0">
                <a:solidFill>
                  <a:srgbClr val="717890"/>
                </a:solidFill>
                <a:latin typeface="Segoe UI"/>
              </a:rPr>
              <a:t>$9,7 млн · $3,5/кг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88336" y="1831086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найбільший імпортер МД Євротрейд — 55 %; головна країна Китай — 59 %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25796" y="1474470"/>
            <a:ext cx="754380" cy="2057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717890"/>
                </a:solidFill>
                <a:latin typeface="Segoe UI"/>
              </a:rPr>
              <a:t>2025 · 12 міс.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14466" y="1501902"/>
            <a:ext cx="664123" cy="1508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33453" y="1474470"/>
            <a:ext cx="1097280" cy="2057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24" b="1" i="0">
                <a:solidFill>
                  <a:srgbClr val="303A5D"/>
                </a:solidFill>
                <a:latin typeface="Segoe UI"/>
              </a:rPr>
              <a:t>1 474 т · 123 т/міс.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25796" y="1817370"/>
            <a:ext cx="754380" cy="2057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717890"/>
                </a:solidFill>
                <a:latin typeface="Segoe UI"/>
              </a:rPr>
              <a:t>2026 · січ–трав.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14466" y="1844802"/>
            <a:ext cx="1427395" cy="1508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6725" y="1817370"/>
            <a:ext cx="1097280" cy="2057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24" b="1" i="0">
                <a:solidFill>
                  <a:srgbClr val="303A5D"/>
                </a:solidFill>
                <a:latin typeface="Segoe UI"/>
              </a:rPr>
              <a:t>1 320 т · 264 т/міс.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5196" y="2215134"/>
            <a:ext cx="8298180" cy="82296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5196" y="2215134"/>
            <a:ext cx="41148" cy="822960"/>
          </a:xfrm>
          <a:prstGeom prst="rect">
            <a:avLst/>
          </a:prstGeom>
          <a:solidFill>
            <a:srgbClr val="B3621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6646" y="2283714"/>
            <a:ext cx="1988820" cy="150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60" b="1" i="0">
                <a:solidFill>
                  <a:srgbClr val="303A5D"/>
                </a:solidFill>
                <a:latin typeface="Segoe UI"/>
              </a:rPr>
              <a:t>1905 90 55 00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6646" y="2489454"/>
            <a:ext cx="198882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40" b="0" i="0">
                <a:solidFill>
                  <a:srgbClr val="717890"/>
                </a:solidFill>
                <a:latin typeface="Segoe UI"/>
              </a:rPr>
              <a:t>Екструдовані / експандовані снеки (рисові крекери, темпура)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6646" y="2818638"/>
            <a:ext cx="198882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113 імпортерів · 2509 декларацій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88336" y="2283714"/>
            <a:ext cx="219456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303A5D"/>
                </a:solidFill>
                <a:latin typeface="Segoe UI"/>
              </a:rPr>
              <a:t>4 592 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88336" y="2530602"/>
            <a:ext cx="2194560" cy="150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72" b="0" i="0">
                <a:solidFill>
                  <a:srgbClr val="717890"/>
                </a:solidFill>
                <a:latin typeface="Segoe UI"/>
              </a:rPr>
              <a:t>$27,5 млн · $6,0/кг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88336" y="2708910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найбільший імпортер ПрАТ САВ ОРБІКО — 31 %; головна країна Країни ЄС — 52 %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25796" y="2352294"/>
            <a:ext cx="754380" cy="2057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717890"/>
                </a:solidFill>
                <a:latin typeface="Segoe UI"/>
              </a:rPr>
              <a:t>2025 · 12 міс.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14466" y="2379726"/>
            <a:ext cx="1451959" cy="1508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521289" y="2352294"/>
            <a:ext cx="1097280" cy="2057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24" b="1" i="0">
                <a:solidFill>
                  <a:srgbClr val="303A5D"/>
                </a:solidFill>
                <a:latin typeface="Segoe UI"/>
              </a:rPr>
              <a:t>3 222 т · 269 т/міс.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25796" y="2695194"/>
            <a:ext cx="754380" cy="2057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717890"/>
                </a:solidFill>
                <a:latin typeface="Segoe UI"/>
              </a:rPr>
              <a:t>2026 · січ–трав.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14466" y="2722626"/>
            <a:ext cx="1481328" cy="1508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50658" y="2695194"/>
            <a:ext cx="1097280" cy="2057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24" b="1" i="0">
                <a:solidFill>
                  <a:srgbClr val="303A5D"/>
                </a:solidFill>
                <a:latin typeface="Segoe UI"/>
              </a:rPr>
              <a:t>1 370 т · 274 т/міс.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25196" y="3092958"/>
            <a:ext cx="8298180" cy="82296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25196" y="3092958"/>
            <a:ext cx="41148" cy="822960"/>
          </a:xfrm>
          <a:prstGeom prst="rect">
            <a:avLst/>
          </a:prstGeom>
          <a:solidFill>
            <a:srgbClr val="A5ABB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96646" y="3161538"/>
            <a:ext cx="1988820" cy="150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60" b="1" i="0">
                <a:solidFill>
                  <a:srgbClr val="303A5D"/>
                </a:solidFill>
                <a:latin typeface="Segoe UI"/>
              </a:rPr>
              <a:t>1902 30 10 00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6646" y="3367278"/>
            <a:ext cx="198882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40" b="0" i="0">
                <a:solidFill>
                  <a:srgbClr val="717890"/>
                </a:solidFill>
                <a:latin typeface="Segoe UI"/>
              </a:rPr>
              <a:t>Локшина швидкого приготування (рис)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6646" y="3696462"/>
            <a:ext cx="198882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54 імпортерів · 397 декларацій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688336" y="3161538"/>
            <a:ext cx="219456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303A5D"/>
                </a:solidFill>
                <a:latin typeface="Segoe UI"/>
              </a:rPr>
              <a:t>1 944 т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688336" y="3408426"/>
            <a:ext cx="2194560" cy="150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72" b="0" i="0">
                <a:solidFill>
                  <a:srgbClr val="717890"/>
                </a:solidFill>
                <a:latin typeface="Segoe UI"/>
              </a:rPr>
              <a:t>$8,6 млн · $4,4/кг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688336" y="3586734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найбільший імпортер Євро Фуд Сервіс — 42 %; головна країна В'єтнам — 33 %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25796" y="3230118"/>
            <a:ext cx="754380" cy="2057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717890"/>
                </a:solidFill>
                <a:latin typeface="Segoe UI"/>
              </a:rPr>
              <a:t>2025 · 12 міс.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014466" y="3257550"/>
            <a:ext cx="419556" cy="1508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88886" y="3230118"/>
            <a:ext cx="1097280" cy="2057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24" b="1" i="0">
                <a:solidFill>
                  <a:srgbClr val="303A5D"/>
                </a:solidFill>
                <a:latin typeface="Segoe UI"/>
              </a:rPr>
              <a:t>931 т · 78 т/міс.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225796" y="3573018"/>
            <a:ext cx="754380" cy="2057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717890"/>
                </a:solidFill>
                <a:latin typeface="Segoe UI"/>
              </a:rPr>
              <a:t>2026 · січ–трав.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014466" y="3600450"/>
            <a:ext cx="1095843" cy="1508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165173" y="3573018"/>
            <a:ext cx="1097280" cy="2057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24" b="1" i="0">
                <a:solidFill>
                  <a:srgbClr val="303A5D"/>
                </a:solidFill>
                <a:latin typeface="Segoe UI"/>
              </a:rPr>
              <a:t>1 013 т · 203 т/міс.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25196" y="3970782"/>
            <a:ext cx="8298180" cy="82296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25196" y="3970782"/>
            <a:ext cx="41148" cy="822960"/>
          </a:xfrm>
          <a:prstGeom prst="rect">
            <a:avLst/>
          </a:prstGeom>
          <a:solidFill>
            <a:srgbClr val="A5ABB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96646" y="4039362"/>
            <a:ext cx="1988820" cy="150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60" b="1" i="0">
                <a:solidFill>
                  <a:srgbClr val="303A5D"/>
                </a:solidFill>
                <a:latin typeface="Segoe UI"/>
              </a:rPr>
              <a:t>1904 90 10 00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96646" y="4245102"/>
            <a:ext cx="198882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40" b="0" i="0">
                <a:solidFill>
                  <a:srgbClr val="717890"/>
                </a:solidFill>
                <a:latin typeface="Segoe UI"/>
              </a:rPr>
              <a:t>Готовий рис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96646" y="4574286"/>
            <a:ext cx="198882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20 імпортерів · 639 декларацій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688336" y="4039362"/>
            <a:ext cx="219456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303A5D"/>
                </a:solidFill>
                <a:latin typeface="Segoe UI"/>
              </a:rPr>
              <a:t>250 т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688336" y="4286250"/>
            <a:ext cx="2194560" cy="150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72" b="0" i="0">
                <a:solidFill>
                  <a:srgbClr val="717890"/>
                </a:solidFill>
                <a:latin typeface="Segoe UI"/>
              </a:rPr>
              <a:t>$0,8 млн · $3,4/кг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688336" y="4464558"/>
            <a:ext cx="2331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найбільший імпортер АТБ-маркет — 50 %; головна країна Країни ЄС — 54 %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25796" y="4107942"/>
            <a:ext cx="754380" cy="2057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717890"/>
                </a:solidFill>
                <a:latin typeface="Segoe UI"/>
              </a:rPr>
              <a:t>2025 · 12 міс.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014466" y="4135374"/>
            <a:ext cx="82741" cy="1508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152071" y="4107942"/>
            <a:ext cx="1097280" cy="2057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24" b="1" i="0">
                <a:solidFill>
                  <a:srgbClr val="303A5D"/>
                </a:solidFill>
                <a:latin typeface="Segoe UI"/>
              </a:rPr>
              <a:t>184 т · 15,3 т/міс.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225796" y="4450842"/>
            <a:ext cx="754380" cy="2057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717890"/>
                </a:solidFill>
                <a:latin typeface="Segoe UI"/>
              </a:rPr>
              <a:t>2026 · січ–трав.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014466" y="4478274"/>
            <a:ext cx="72099" cy="1508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141429" y="4450842"/>
            <a:ext cx="1097280" cy="2057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24" b="1" i="0">
                <a:solidFill>
                  <a:srgbClr val="303A5D"/>
                </a:solidFill>
                <a:latin typeface="Segoe UI"/>
              </a:rPr>
              <a:t>67 т · 13,3 т/міс.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25196" y="4855464"/>
            <a:ext cx="829818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1">
                <a:solidFill>
                  <a:srgbClr val="717890"/>
                </a:solidFill>
                <a:latin typeface="Segoe UI"/>
              </a:rPr>
              <a:t>Митна база: імпорт в Україну за УКТ ЗЕД, 2025 рік і січень–травень 2026 (17 місяців), фактурна вартість USD без імпортного ПДВ. Декларації не розбито на SKU, тому нори-снеки виділено за описом товару.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977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3977" cy="795528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95528"/>
            <a:ext cx="9143977" cy="41148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" y="178308"/>
            <a:ext cx="1042416" cy="4526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728216" y="205740"/>
            <a:ext cx="61722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1" i="0" spc="30">
                <a:solidFill>
                  <a:srgbClr val="FFC95C"/>
                </a:solidFill>
                <a:latin typeface="Segoe UI"/>
              </a:rPr>
              <a:t>МИТНА БАЗА · НОРИ-СНЕКИ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28216" y="377190"/>
            <a:ext cx="61722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20" b="1" i="0">
                <a:solidFill>
                  <a:srgbClr val="FFFFFF"/>
                </a:solidFill>
                <a:latin typeface="Segoe UI"/>
              </a:rPr>
              <a:t>Нори-снеки: скільки і звідки ввозять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20990" y="301752"/>
            <a:ext cx="768096" cy="2263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360" b="1" i="0">
                <a:solidFill>
                  <a:srgbClr val="465382"/>
                </a:solidFill>
                <a:latin typeface="Segoe UI"/>
              </a:rPr>
              <a:t>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5196" y="932688"/>
            <a:ext cx="82981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4" b="0" i="0">
                <a:solidFill>
                  <a:srgbClr val="717890"/>
                </a:solidFill>
                <a:latin typeface="Segoe UI"/>
              </a:rPr>
              <a:t>Нори-снеки виділено серед усього коду 2008 99 99 90 за описом товару (смажені / хрусткі водорості, снек, чипси, топінг, рол). Решта коду — фрукти, соуси, водорості для салатів — не рахується.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5196" y="1303020"/>
            <a:ext cx="1988820" cy="82296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5196" y="1303020"/>
            <a:ext cx="27432" cy="82296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3504" y="1419606"/>
            <a:ext cx="17145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1" i="0" spc="40">
                <a:solidFill>
                  <a:srgbClr val="717890"/>
                </a:solidFill>
                <a:latin typeface="Segoe UI"/>
              </a:rPr>
              <a:t>УСЬОГО · 17 МІСЯЦІВ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" y="1577340"/>
            <a:ext cx="17145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60" b="1" i="0">
                <a:solidFill>
                  <a:srgbClr val="303A5D"/>
                </a:solidFill>
                <a:latin typeface="Segoe UI"/>
              </a:rPr>
              <a:t>109,5 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" y="1920240"/>
            <a:ext cx="1714500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$3,47 млн · $31,7/кг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523744" y="1303020"/>
            <a:ext cx="1988820" cy="82296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523744" y="1303020"/>
            <a:ext cx="27432" cy="82296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02052" y="1419606"/>
            <a:ext cx="17145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1" i="0" spc="40">
                <a:solidFill>
                  <a:srgbClr val="717890"/>
                </a:solidFill>
                <a:latin typeface="Segoe UI"/>
              </a:rPr>
              <a:t>2025 РІК · 12 МІСЯЦІВ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2052" y="1577340"/>
            <a:ext cx="17145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60" b="1" i="0">
                <a:solidFill>
                  <a:srgbClr val="303A5D"/>
                </a:solidFill>
                <a:latin typeface="Segoe UI"/>
              </a:rPr>
              <a:t>67,7 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02052" y="1920240"/>
            <a:ext cx="1714500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5,6 т на місяць · $2,17 млн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22292" y="1303020"/>
            <a:ext cx="1988820" cy="82296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622292" y="1303020"/>
            <a:ext cx="27432" cy="822960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00600" y="1419606"/>
            <a:ext cx="17145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1" i="0" spc="40">
                <a:solidFill>
                  <a:srgbClr val="717890"/>
                </a:solidFill>
                <a:latin typeface="Segoe UI"/>
              </a:rPr>
              <a:t>2026 · СІЧЕНЬ–ТРАВЕНЬ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00600" y="1577340"/>
            <a:ext cx="17145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60" b="1" i="0">
                <a:solidFill>
                  <a:srgbClr val="C4820A"/>
                </a:solidFill>
                <a:latin typeface="Segoe UI"/>
              </a:rPr>
              <a:t>41,8 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00600" y="1920240"/>
            <a:ext cx="1714500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8,4 т на місяць · $1,30 млн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20840" y="1303020"/>
            <a:ext cx="1988820" cy="82296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720840" y="1303020"/>
            <a:ext cx="27432" cy="822960"/>
          </a:xfrm>
          <a:prstGeom prst="rect">
            <a:avLst/>
          </a:prstGeom>
          <a:solidFill>
            <a:srgbClr val="3E8E5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99148" y="1419606"/>
            <a:ext cx="17145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1" i="0" spc="40">
                <a:solidFill>
                  <a:srgbClr val="717890"/>
                </a:solidFill>
                <a:latin typeface="Segoe UI"/>
              </a:rPr>
              <a:t>ЗМІНА ТЕМПУ ІМПОРТУ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99148" y="1577340"/>
            <a:ext cx="17145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60" b="1" i="0">
                <a:solidFill>
                  <a:srgbClr val="3E8E5A"/>
                </a:solidFill>
                <a:latin typeface="Segoe UI"/>
              </a:rPr>
              <a:t>+48 %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99148" y="1920240"/>
            <a:ext cx="1714500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т/міс.: 2026 проти 2025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5196" y="2263140"/>
            <a:ext cx="27432" cy="144018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4924" y="2276856"/>
            <a:ext cx="5486400" cy="10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 spc="30">
                <a:solidFill>
                  <a:srgbClr val="303A5D"/>
                </a:solidFill>
                <a:latin typeface="Segoe UI"/>
              </a:rPr>
              <a:t>ІМПОРТ ПОМІСЯЧНО, ТОНН · ТЕМНО — ЧИСТІ СНЕКИ, СВІТЛО — ЗМІШАНІ ДЕКЛАРАЦІЇ (СНЕКИ + ЛИСТИ ДЛЯ СУШІ)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5196" y="4159749"/>
            <a:ext cx="277547" cy="19508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25196" y="3975753"/>
            <a:ext cx="277547" cy="183996"/>
          </a:xfrm>
          <a:prstGeom prst="rect">
            <a:avLst/>
          </a:prstGeom>
          <a:solidFill>
            <a:srgbClr val="ACB0B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6616" y="3838593"/>
            <a:ext cx="414707" cy="1234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303A5D"/>
                </a:solidFill>
                <a:latin typeface="Segoe UI"/>
              </a:rPr>
              <a:t>3,4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6616" y="4382262"/>
            <a:ext cx="414707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січ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0749" y="4079944"/>
            <a:ext cx="277547" cy="274885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2169" y="3942784"/>
            <a:ext cx="414707" cy="1234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303A5D"/>
                </a:solidFill>
                <a:latin typeface="Segoe UI"/>
              </a:rPr>
              <a:t>2,5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2169" y="4382262"/>
            <a:ext cx="414707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лют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76302" y="4280566"/>
            <a:ext cx="277547" cy="74263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7722" y="4143406"/>
            <a:ext cx="414707" cy="1234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303A5D"/>
                </a:solidFill>
                <a:latin typeface="Segoe UI"/>
              </a:rPr>
              <a:t>0,7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7722" y="4382262"/>
            <a:ext cx="414707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бер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401855" y="4155315"/>
            <a:ext cx="277547" cy="19951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401855" y="3771805"/>
            <a:ext cx="277547" cy="383510"/>
          </a:xfrm>
          <a:prstGeom prst="rect">
            <a:avLst/>
          </a:prstGeom>
          <a:solidFill>
            <a:srgbClr val="ACB0B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333275" y="3634645"/>
            <a:ext cx="414707" cy="1234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303A5D"/>
                </a:solidFill>
                <a:latin typeface="Segoe UI"/>
              </a:rPr>
              <a:t>5,3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333275" y="4382262"/>
            <a:ext cx="414707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кві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727409" y="3778456"/>
            <a:ext cx="277547" cy="576373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727409" y="3717493"/>
            <a:ext cx="277547" cy="60962"/>
          </a:xfrm>
          <a:prstGeom prst="rect">
            <a:avLst/>
          </a:prstGeom>
          <a:solidFill>
            <a:srgbClr val="ACB0B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658829" y="3580333"/>
            <a:ext cx="414707" cy="1234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303A5D"/>
                </a:solidFill>
                <a:latin typeface="Segoe UI"/>
              </a:rPr>
              <a:t>5,8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658829" y="4382262"/>
            <a:ext cx="414707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тра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052962" y="3787323"/>
            <a:ext cx="277547" cy="56750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2052962" y="3447041"/>
            <a:ext cx="277547" cy="340282"/>
          </a:xfrm>
          <a:prstGeom prst="rect">
            <a:avLst/>
          </a:prstGeom>
          <a:solidFill>
            <a:srgbClr val="ACB0B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984382" y="3309881"/>
            <a:ext cx="414707" cy="1234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303A5D"/>
                </a:solidFill>
                <a:latin typeface="Segoe UI"/>
              </a:rPr>
              <a:t>8,2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984382" y="4382262"/>
            <a:ext cx="414707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чер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378515" y="3828334"/>
            <a:ext cx="277547" cy="526495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2378515" y="3243093"/>
            <a:ext cx="277547" cy="585241"/>
          </a:xfrm>
          <a:prstGeom prst="rect">
            <a:avLst/>
          </a:prstGeom>
          <a:solidFill>
            <a:srgbClr val="ACB0B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309935" y="3105933"/>
            <a:ext cx="414707" cy="1234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303A5D"/>
                </a:solidFill>
                <a:latin typeface="Segoe UI"/>
              </a:rPr>
              <a:t>10,0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09935" y="4382262"/>
            <a:ext cx="414707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лип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704069" y="4015656"/>
            <a:ext cx="277547" cy="339173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635489" y="3878496"/>
            <a:ext cx="414707" cy="1234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303A5D"/>
                </a:solidFill>
                <a:latin typeface="Segoe UI"/>
              </a:rPr>
              <a:t>3,1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635489" y="4382262"/>
            <a:ext cx="414707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сер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029622" y="3635471"/>
            <a:ext cx="277547" cy="719358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3029622" y="3401596"/>
            <a:ext cx="277547" cy="233874"/>
          </a:xfrm>
          <a:prstGeom prst="rect">
            <a:avLst/>
          </a:prstGeom>
          <a:solidFill>
            <a:srgbClr val="ACB0B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961042" y="3264436"/>
            <a:ext cx="414707" cy="1234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303A5D"/>
                </a:solidFill>
                <a:latin typeface="Segoe UI"/>
              </a:rPr>
              <a:t>8,6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961042" y="4382262"/>
            <a:ext cx="414707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вер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355175" y="3619953"/>
            <a:ext cx="277547" cy="73487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3355175" y="3496919"/>
            <a:ext cx="277547" cy="123033"/>
          </a:xfrm>
          <a:prstGeom prst="rect">
            <a:avLst/>
          </a:prstGeom>
          <a:solidFill>
            <a:srgbClr val="ACB0B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286595" y="3359759"/>
            <a:ext cx="414707" cy="1234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303A5D"/>
                </a:solidFill>
                <a:latin typeface="Segoe UI"/>
              </a:rPr>
              <a:t>7,7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286595" y="4382262"/>
            <a:ext cx="414707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жов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680728" y="3727469"/>
            <a:ext cx="277547" cy="62736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3680728" y="3503570"/>
            <a:ext cx="277547" cy="223899"/>
          </a:xfrm>
          <a:prstGeom prst="rect">
            <a:avLst/>
          </a:prstGeom>
          <a:solidFill>
            <a:srgbClr val="ACB0B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612148" y="3366410"/>
            <a:ext cx="414707" cy="1234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303A5D"/>
                </a:solidFill>
                <a:latin typeface="Segoe UI"/>
              </a:rPr>
              <a:t>7,7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612148" y="4382262"/>
            <a:ext cx="414707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лис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006282" y="3945826"/>
            <a:ext cx="277547" cy="409003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4006282" y="3823901"/>
            <a:ext cx="277547" cy="121925"/>
          </a:xfrm>
          <a:prstGeom prst="rect">
            <a:avLst/>
          </a:prstGeom>
          <a:solidFill>
            <a:srgbClr val="ACB0B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3937702" y="3686741"/>
            <a:ext cx="414707" cy="1234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303A5D"/>
                </a:solidFill>
                <a:latin typeface="Segoe UI"/>
              </a:rPr>
              <a:t>4,8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937702" y="4382262"/>
            <a:ext cx="414707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гру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331835" y="3318465"/>
            <a:ext cx="277547" cy="1036364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4331835" y="2743200"/>
            <a:ext cx="277547" cy="575265"/>
          </a:xfrm>
          <a:prstGeom prst="rect">
            <a:avLst/>
          </a:prstGeom>
          <a:solidFill>
            <a:srgbClr val="E7CD9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263255" y="2606040"/>
            <a:ext cx="414707" cy="1234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303A5D"/>
                </a:solidFill>
                <a:latin typeface="Segoe UI"/>
              </a:rPr>
              <a:t>14,5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263255" y="4382262"/>
            <a:ext cx="414707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січ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657388" y="3587809"/>
            <a:ext cx="277547" cy="767020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4657388" y="3464775"/>
            <a:ext cx="277547" cy="123033"/>
          </a:xfrm>
          <a:prstGeom prst="rect">
            <a:avLst/>
          </a:prstGeom>
          <a:solidFill>
            <a:srgbClr val="E7CD9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4588808" y="3327615"/>
            <a:ext cx="414707" cy="1234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303A5D"/>
                </a:solidFill>
                <a:latin typeface="Segoe UI"/>
              </a:rPr>
              <a:t>8,0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588808" y="4382262"/>
            <a:ext cx="414707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лют</a:t>
            </a:r>
          </a:p>
        </p:txBody>
      </p:sp>
      <p:sp>
        <p:nvSpPr>
          <p:cNvPr id="85" name="Rectangle 84"/>
          <p:cNvSpPr/>
          <p:nvPr/>
        </p:nvSpPr>
        <p:spPr>
          <a:xfrm>
            <a:off x="4982942" y="3813925"/>
            <a:ext cx="277547" cy="540904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4982942" y="3588917"/>
            <a:ext cx="277547" cy="225007"/>
          </a:xfrm>
          <a:prstGeom prst="rect">
            <a:avLst/>
          </a:prstGeom>
          <a:solidFill>
            <a:srgbClr val="E7CD9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4914362" y="3451757"/>
            <a:ext cx="414707" cy="1234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303A5D"/>
                </a:solidFill>
                <a:latin typeface="Segoe UI"/>
              </a:rPr>
              <a:t>6,9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914362" y="4382262"/>
            <a:ext cx="414707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бер</a:t>
            </a:r>
          </a:p>
        </p:txBody>
      </p:sp>
      <p:sp>
        <p:nvSpPr>
          <p:cNvPr id="89" name="Rectangle 88"/>
          <p:cNvSpPr/>
          <p:nvPr/>
        </p:nvSpPr>
        <p:spPr>
          <a:xfrm>
            <a:off x="5308495" y="3854936"/>
            <a:ext cx="277547" cy="499893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5239915" y="3717776"/>
            <a:ext cx="414707" cy="1234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303A5D"/>
                </a:solidFill>
                <a:latin typeface="Segoe UI"/>
              </a:rPr>
              <a:t>4,5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239915" y="4382262"/>
            <a:ext cx="414707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кві</a:t>
            </a:r>
          </a:p>
        </p:txBody>
      </p:sp>
      <p:sp>
        <p:nvSpPr>
          <p:cNvPr id="92" name="Rectangle 91"/>
          <p:cNvSpPr/>
          <p:nvPr/>
        </p:nvSpPr>
        <p:spPr>
          <a:xfrm>
            <a:off x="5634048" y="3946934"/>
            <a:ext cx="277547" cy="407895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5634048" y="3486943"/>
            <a:ext cx="277547" cy="459990"/>
          </a:xfrm>
          <a:prstGeom prst="rect">
            <a:avLst/>
          </a:prstGeom>
          <a:solidFill>
            <a:srgbClr val="E7CD9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5565468" y="3349783"/>
            <a:ext cx="414707" cy="1234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303A5D"/>
                </a:solidFill>
                <a:latin typeface="Segoe UI"/>
              </a:rPr>
              <a:t>7,8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565468" y="4382262"/>
            <a:ext cx="414707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тра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25196" y="4533138"/>
            <a:ext cx="3855204" cy="178308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425196" y="4533138"/>
            <a:ext cx="3855204" cy="1783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24" b="1" i="0">
                <a:solidFill>
                  <a:srgbClr val="FFFFFF"/>
                </a:solidFill>
                <a:latin typeface="Segoe UI"/>
              </a:rPr>
              <a:t>2025 · 67,7 т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335264" y="4533138"/>
            <a:ext cx="1576331" cy="178308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335264" y="4533138"/>
            <a:ext cx="1576331" cy="1783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24" b="1" i="0">
                <a:solidFill>
                  <a:srgbClr val="FFFFFF"/>
                </a:solidFill>
                <a:latin typeface="Segoe UI"/>
              </a:rPr>
              <a:t>2026 · 41,8 т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137910" y="2263140"/>
            <a:ext cx="27432" cy="144018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247638" y="2276856"/>
            <a:ext cx="2743200" cy="10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 spc="30">
                <a:solidFill>
                  <a:srgbClr val="C4820A"/>
                </a:solidFill>
                <a:latin typeface="Segoe UI"/>
              </a:rPr>
              <a:t>КРАЇНА ПОХОДЖЕННЯ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137910" y="2537460"/>
            <a:ext cx="685800" cy="2057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52" b="1" i="0">
                <a:solidFill>
                  <a:srgbClr val="303A5D"/>
                </a:solidFill>
                <a:latin typeface="Segoe UI"/>
              </a:rPr>
              <a:t>Корея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6823710" y="2564892"/>
            <a:ext cx="1508760" cy="178308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8387334" y="2537460"/>
            <a:ext cx="685800" cy="2331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52" b="1" i="0">
                <a:solidFill>
                  <a:srgbClr val="303A5D"/>
                </a:solidFill>
                <a:latin typeface="Segoe UI"/>
              </a:rPr>
              <a:t>89,0 т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6137910" y="2784348"/>
            <a:ext cx="2606040" cy="2331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0" i="0">
                <a:solidFill>
                  <a:srgbClr val="717890"/>
                </a:solidFill>
                <a:latin typeface="Segoe UI"/>
              </a:rPr>
              <a:t>81 % · 2025: 55,8 т · 2026: 33,1 т · $34,9/кг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6137910" y="3072384"/>
            <a:ext cx="685800" cy="2057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52" b="1" i="0">
                <a:solidFill>
                  <a:srgbClr val="303A5D"/>
                </a:solidFill>
                <a:latin typeface="Segoe UI"/>
              </a:rPr>
              <a:t>Китай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6823710" y="3099816"/>
            <a:ext cx="321185" cy="178308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7199759" y="3072384"/>
            <a:ext cx="685800" cy="2331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52" b="1" i="0">
                <a:solidFill>
                  <a:srgbClr val="303A5D"/>
                </a:solidFill>
                <a:latin typeface="Segoe UI"/>
              </a:rPr>
              <a:t>18,9 т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6137910" y="3319272"/>
            <a:ext cx="2606040" cy="2331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0" i="0">
                <a:solidFill>
                  <a:srgbClr val="717890"/>
                </a:solidFill>
                <a:latin typeface="Segoe UI"/>
              </a:rPr>
              <a:t>17 % · 2025: 11,0 т · 2026: 7,9 т · $16,6/кг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6137910" y="3607308"/>
            <a:ext cx="685800" cy="2057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52" b="1" i="0">
                <a:solidFill>
                  <a:srgbClr val="303A5D"/>
                </a:solidFill>
                <a:latin typeface="Segoe UI"/>
              </a:rPr>
              <a:t>Таїланд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823710" y="3634740"/>
            <a:ext cx="27432" cy="178308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901007" y="3607308"/>
            <a:ext cx="685800" cy="2331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52" b="1" i="0">
                <a:solidFill>
                  <a:srgbClr val="303A5D"/>
                </a:solidFill>
                <a:latin typeface="Segoe UI"/>
              </a:rPr>
              <a:t>1,3 т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6137910" y="3854196"/>
            <a:ext cx="2606040" cy="2331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0" i="0">
                <a:solidFill>
                  <a:srgbClr val="717890"/>
                </a:solidFill>
                <a:latin typeface="Segoe UI"/>
              </a:rPr>
              <a:t>1 % · 2025: 0,6 т · 2026: 0,7 т · $28,5/кг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6137910" y="4142232"/>
            <a:ext cx="685800" cy="2057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52" b="1" i="0">
                <a:solidFill>
                  <a:srgbClr val="303A5D"/>
                </a:solidFill>
                <a:latin typeface="Segoe UI"/>
              </a:rPr>
              <a:t>Туніс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6823710" y="4169664"/>
            <a:ext cx="27432" cy="178308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6882993" y="4142232"/>
            <a:ext cx="685800" cy="2331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52" b="1" i="0">
                <a:solidFill>
                  <a:srgbClr val="303A5D"/>
                </a:solidFill>
                <a:latin typeface="Segoe UI"/>
              </a:rPr>
              <a:t>0,3 т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137910" y="4389120"/>
            <a:ext cx="2606040" cy="2331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0" i="0">
                <a:solidFill>
                  <a:srgbClr val="717890"/>
                </a:solidFill>
                <a:latin typeface="Segoe UI"/>
              </a:rPr>
              <a:t>0 % · 2025: 0,2 т · 2026: 0,1 т · $61,1/кг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425196" y="4855464"/>
            <a:ext cx="829818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1">
                <a:solidFill>
                  <a:srgbClr val="717890"/>
                </a:solidFill>
                <a:latin typeface="Segoe UI"/>
              </a:rPr>
              <a:t>Митна база: імпорт в Україну за УКТ ЗЕД, 2025 рік і січень–травень 2026 (17 місяців), фактурна вартість USD без імпортного ПДВ. Декларації не розбито на SKU, тому нори-снеки виділено за описом товару.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977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3977" cy="795528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95528"/>
            <a:ext cx="9143977" cy="41148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" y="178308"/>
            <a:ext cx="1042416" cy="4526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728216" y="205740"/>
            <a:ext cx="61722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1" i="0" spc="30">
                <a:solidFill>
                  <a:srgbClr val="FFC95C"/>
                </a:solidFill>
                <a:latin typeface="Segoe UI"/>
              </a:rPr>
              <a:t>МИТНА БАЗА · ХТО ЗАВОЗИТЬ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28216" y="377190"/>
            <a:ext cx="61722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20" b="1" i="0">
                <a:solidFill>
                  <a:srgbClr val="FFFFFF"/>
                </a:solidFill>
                <a:latin typeface="Segoe UI"/>
              </a:rPr>
              <a:t>Хто завозить нори-снеки в Україну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20990" y="301752"/>
            <a:ext cx="768096" cy="2263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360" b="1" i="0">
                <a:solidFill>
                  <a:srgbClr val="465382"/>
                </a:solidFill>
                <a:latin typeface="Segoe UI"/>
              </a:rPr>
              <a:t>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5196" y="932688"/>
            <a:ext cx="82981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4" b="0" i="0">
                <a:solidFill>
                  <a:srgbClr val="717890"/>
                </a:solidFill>
                <a:latin typeface="Segoe UI"/>
              </a:rPr>
              <a:t>Імпортери нори-снеків (код 2008 99 99 90) за 17 місяців; бренди — ті, що названо в описах декларацій. Це ті самі бренди, що ми бачили на полицях мереж.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" y="1268730"/>
            <a:ext cx="41148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 spc="40">
                <a:solidFill>
                  <a:srgbClr val="717890"/>
                </a:solidFill>
                <a:latin typeface="Segoe UI"/>
              </a:rPr>
              <a:t>ІМПОРТЕР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74620" y="1268730"/>
            <a:ext cx="20574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 spc="40">
                <a:solidFill>
                  <a:srgbClr val="717890"/>
                </a:solidFill>
                <a:latin typeface="Segoe UI"/>
              </a:rPr>
              <a:t>ТОНН ЗА 17 МІСЯЦІВ І ЧАСТКА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600" y="1268730"/>
            <a:ext cx="6858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00" b="1" i="0" spc="40">
                <a:solidFill>
                  <a:srgbClr val="717890"/>
                </a:solidFill>
                <a:latin typeface="Segoe UI"/>
              </a:rPr>
              <a:t>2025, 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54980" y="1268730"/>
            <a:ext cx="89154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00" b="1" i="0" spc="40">
                <a:solidFill>
                  <a:srgbClr val="717890"/>
                </a:solidFill>
                <a:latin typeface="Segoe UI"/>
              </a:rPr>
              <a:t>2026 СІЧ–ТРАВ., 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86550" y="1268730"/>
            <a:ext cx="6858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 spc="40">
                <a:solidFill>
                  <a:srgbClr val="717890"/>
                </a:solidFill>
                <a:latin typeface="Segoe UI"/>
              </a:rPr>
              <a:t>МИТНА ЦІНА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40930" y="1268730"/>
            <a:ext cx="123444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 spc="40">
                <a:solidFill>
                  <a:srgbClr val="717890"/>
                </a:solidFill>
                <a:latin typeface="Segoe UI"/>
              </a:rPr>
              <a:t>БРЕНДИ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5196" y="1453896"/>
            <a:ext cx="8298180" cy="288036"/>
          </a:xfrm>
          <a:prstGeom prst="rect">
            <a:avLst/>
          </a:prstGeom>
          <a:solidFill>
            <a:srgbClr val="F8F9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4350" y="1453896"/>
            <a:ext cx="2125980" cy="2880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6" b="1" i="0">
                <a:solidFill>
                  <a:srgbClr val="303A5D"/>
                </a:solidFill>
                <a:latin typeface="Segoe UI"/>
              </a:rPr>
              <a:t>ФОЗЗІ КОММЕРЦ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74620" y="1529334"/>
            <a:ext cx="1303020" cy="13716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032504" y="1453896"/>
            <a:ext cx="1165860" cy="2880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24" b="1" i="0">
                <a:solidFill>
                  <a:srgbClr val="717890"/>
                </a:solidFill>
                <a:latin typeface="Segoe UI"/>
              </a:rPr>
              <a:t>26,1 т · 24 %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00600" y="1453896"/>
            <a:ext cx="685800" cy="2880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72" b="1" i="0">
                <a:solidFill>
                  <a:srgbClr val="1C2235"/>
                </a:solidFill>
                <a:latin typeface="Segoe UI"/>
              </a:rPr>
              <a:t>18,4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54980" y="1453896"/>
            <a:ext cx="891540" cy="2880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72" b="1" i="0">
                <a:solidFill>
                  <a:srgbClr val="C4820A"/>
                </a:solidFill>
                <a:latin typeface="Segoe UI"/>
              </a:rPr>
              <a:t>7,7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86550" y="1453896"/>
            <a:ext cx="685800" cy="2880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88" b="1" i="0">
                <a:solidFill>
                  <a:srgbClr val="1C2235"/>
                </a:solidFill>
                <a:latin typeface="Segoe UI"/>
              </a:rPr>
              <a:t>$34,3/кг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40930" y="1453896"/>
            <a:ext cx="1303020" cy="2880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1C2235"/>
                </a:solidFill>
                <a:latin typeface="Segoe UI"/>
              </a:rPr>
              <a:t>Tao Kae Noi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4350" y="1741932"/>
            <a:ext cx="2125980" cy="2880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6" b="1" i="0">
                <a:solidFill>
                  <a:srgbClr val="303A5D"/>
                </a:solidFill>
                <a:latin typeface="Segoe UI"/>
              </a:rPr>
              <a:t>Метро Кеш Енд Кері Україна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674620" y="1817370"/>
            <a:ext cx="1033331" cy="13716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762815" y="1741932"/>
            <a:ext cx="1165860" cy="2880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24" b="1" i="0">
                <a:solidFill>
                  <a:srgbClr val="717890"/>
                </a:solidFill>
                <a:latin typeface="Segoe UI"/>
              </a:rPr>
              <a:t>20,7 т · 19 %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00600" y="1741932"/>
            <a:ext cx="685800" cy="2880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72" b="1" i="0">
                <a:solidFill>
                  <a:srgbClr val="1C2235"/>
                </a:solidFill>
                <a:latin typeface="Segoe UI"/>
              </a:rPr>
              <a:t>10,9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54980" y="1741932"/>
            <a:ext cx="891540" cy="2880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72" b="1" i="0">
                <a:solidFill>
                  <a:srgbClr val="C4820A"/>
                </a:solidFill>
                <a:latin typeface="Segoe UI"/>
              </a:rPr>
              <a:t>9,8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86550" y="1741932"/>
            <a:ext cx="685800" cy="2880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88" b="1" i="0">
                <a:solidFill>
                  <a:srgbClr val="1C2235"/>
                </a:solidFill>
                <a:latin typeface="Segoe UI"/>
              </a:rPr>
              <a:t>$24,4/кг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40930" y="1741932"/>
            <a:ext cx="1303020" cy="2880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1C2235"/>
                </a:solidFill>
                <a:latin typeface="Segoe UI"/>
              </a:rPr>
              <a:t>Metro Chef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5196" y="2029968"/>
            <a:ext cx="8298180" cy="288036"/>
          </a:xfrm>
          <a:prstGeom prst="rect">
            <a:avLst/>
          </a:prstGeom>
          <a:solidFill>
            <a:srgbClr val="F8F9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14350" y="2029968"/>
            <a:ext cx="2125980" cy="2880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6" b="1" i="0">
                <a:solidFill>
                  <a:srgbClr val="303A5D"/>
                </a:solidFill>
                <a:latin typeface="Segoe UI"/>
              </a:rPr>
              <a:t>ОРІЄНТАЛЬ ПЛЮС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674620" y="2105406"/>
            <a:ext cx="961609" cy="13716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91093" y="2029968"/>
            <a:ext cx="1165860" cy="2880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24" b="1" i="0">
                <a:solidFill>
                  <a:srgbClr val="717890"/>
                </a:solidFill>
                <a:latin typeface="Segoe UI"/>
              </a:rPr>
              <a:t>19,2 т · 18 %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00600" y="2029968"/>
            <a:ext cx="685800" cy="2880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72" b="1" i="0">
                <a:solidFill>
                  <a:srgbClr val="1C2235"/>
                </a:solidFill>
                <a:latin typeface="Segoe UI"/>
              </a:rPr>
              <a:t>13,2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554980" y="2029968"/>
            <a:ext cx="891540" cy="2880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72" b="1" i="0">
                <a:solidFill>
                  <a:srgbClr val="C4820A"/>
                </a:solidFill>
                <a:latin typeface="Segoe UI"/>
              </a:rPr>
              <a:t>6,1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86550" y="2029968"/>
            <a:ext cx="685800" cy="2880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88" b="1" i="0">
                <a:solidFill>
                  <a:srgbClr val="1C2235"/>
                </a:solidFill>
                <a:latin typeface="Segoe UI"/>
              </a:rPr>
              <a:t>$48,4/кг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40930" y="2029968"/>
            <a:ext cx="1303020" cy="2880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1C2235"/>
                </a:solidFill>
                <a:latin typeface="Segoe UI"/>
              </a:rPr>
              <a:t>Akura, Royal Tiger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4350" y="2318004"/>
            <a:ext cx="2125980" cy="2880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6" b="1" i="0">
                <a:solidFill>
                  <a:srgbClr val="303A5D"/>
                </a:solidFill>
                <a:latin typeface="Segoe UI"/>
              </a:rPr>
              <a:t>НОРРІС ГРУП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674620" y="2393442"/>
            <a:ext cx="946203" cy="13716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75687" y="2318004"/>
            <a:ext cx="1165860" cy="2880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24" b="1" i="0">
                <a:solidFill>
                  <a:srgbClr val="717890"/>
                </a:solidFill>
                <a:latin typeface="Segoe UI"/>
              </a:rPr>
              <a:t>18,9 т · 17 %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00600" y="2318004"/>
            <a:ext cx="685800" cy="2880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72" b="1" i="0">
                <a:solidFill>
                  <a:srgbClr val="1C2235"/>
                </a:solidFill>
                <a:latin typeface="Segoe UI"/>
              </a:rPr>
              <a:t>11,0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554980" y="2318004"/>
            <a:ext cx="891540" cy="2880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72" b="1" i="0">
                <a:solidFill>
                  <a:srgbClr val="C4820A"/>
                </a:solidFill>
                <a:latin typeface="Segoe UI"/>
              </a:rPr>
              <a:t>7,9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86550" y="2318004"/>
            <a:ext cx="685800" cy="2880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88" b="1" i="0">
                <a:solidFill>
                  <a:srgbClr val="1C2235"/>
                </a:solidFill>
                <a:latin typeface="Segoe UI"/>
              </a:rPr>
              <a:t>$16,6/кг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40930" y="2318004"/>
            <a:ext cx="1303020" cy="2880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1C2235"/>
                </a:solidFill>
                <a:latin typeface="Segoe UI"/>
              </a:rPr>
              <a:t>Norris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25196" y="2606040"/>
            <a:ext cx="8298180" cy="288036"/>
          </a:xfrm>
          <a:prstGeom prst="rect">
            <a:avLst/>
          </a:prstGeom>
          <a:solidFill>
            <a:srgbClr val="F8F9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14350" y="2606040"/>
            <a:ext cx="2125980" cy="2880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6" b="1" i="0">
                <a:solidFill>
                  <a:srgbClr val="303A5D"/>
                </a:solidFill>
                <a:latin typeface="Segoe UI"/>
              </a:rPr>
              <a:t>Торговий дім ІТС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674620" y="2681478"/>
            <a:ext cx="692614" cy="13716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422098" y="2606040"/>
            <a:ext cx="1165860" cy="2880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24" b="1" i="0">
                <a:solidFill>
                  <a:srgbClr val="717890"/>
                </a:solidFill>
                <a:latin typeface="Segoe UI"/>
              </a:rPr>
              <a:t>13,9 т · 13 %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800600" y="2606040"/>
            <a:ext cx="685800" cy="2880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72" b="1" i="0">
                <a:solidFill>
                  <a:srgbClr val="1C2235"/>
                </a:solidFill>
                <a:latin typeface="Segoe UI"/>
              </a:rPr>
              <a:t>8,4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554980" y="2606040"/>
            <a:ext cx="891540" cy="2880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72" b="1" i="0">
                <a:solidFill>
                  <a:srgbClr val="C4820A"/>
                </a:solidFill>
                <a:latin typeface="Segoe UI"/>
              </a:rPr>
              <a:t>5,5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686550" y="2606040"/>
            <a:ext cx="685800" cy="2880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88" b="1" i="0">
                <a:solidFill>
                  <a:srgbClr val="1C2235"/>
                </a:solidFill>
                <a:latin typeface="Segoe UI"/>
              </a:rPr>
              <a:t>$34,0/кг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440930" y="2606040"/>
            <a:ext cx="1303020" cy="2880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1C2235"/>
                </a:solidFill>
                <a:latin typeface="Segoe UI"/>
              </a:rPr>
              <a:t>Haelove / Delisse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14350" y="2894076"/>
            <a:ext cx="2125980" cy="2880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6" b="1" i="0">
                <a:solidFill>
                  <a:srgbClr val="303A5D"/>
                </a:solidFill>
                <a:latin typeface="Segoe UI"/>
              </a:rPr>
              <a:t>ОРІЄНТАЛ МЕРЧАНТ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674620" y="2969514"/>
            <a:ext cx="262557" cy="13716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992041" y="2894076"/>
            <a:ext cx="1165860" cy="2880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24" b="1" i="0">
                <a:solidFill>
                  <a:srgbClr val="717890"/>
                </a:solidFill>
                <a:latin typeface="Segoe UI"/>
              </a:rPr>
              <a:t>5,3 т · 5 %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800600" y="2894076"/>
            <a:ext cx="685800" cy="2880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72" b="1" i="0">
                <a:solidFill>
                  <a:srgbClr val="1C2235"/>
                </a:solidFill>
                <a:latin typeface="Segoe UI"/>
              </a:rPr>
              <a:t>4,0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554980" y="2894076"/>
            <a:ext cx="891540" cy="2880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72" b="1" i="0">
                <a:solidFill>
                  <a:srgbClr val="C4820A"/>
                </a:solidFill>
                <a:latin typeface="Segoe UI"/>
              </a:rPr>
              <a:t>1,3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686550" y="2894076"/>
            <a:ext cx="685800" cy="2880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88" b="1" i="0">
                <a:solidFill>
                  <a:srgbClr val="1C2235"/>
                </a:solidFill>
                <a:latin typeface="Segoe UI"/>
              </a:rPr>
              <a:t>$29,6/кг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440930" y="2894076"/>
            <a:ext cx="1303020" cy="2880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1C2235"/>
                </a:solidFill>
                <a:latin typeface="Segoe UI"/>
              </a:rPr>
              <a:t>Tao Kae Noi, Ock Dong Ja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25196" y="3182112"/>
            <a:ext cx="8298180" cy="288036"/>
          </a:xfrm>
          <a:prstGeom prst="rect">
            <a:avLst/>
          </a:prstGeom>
          <a:solidFill>
            <a:srgbClr val="F8F9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14350" y="3182112"/>
            <a:ext cx="2125980" cy="2880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6" b="1" i="0">
                <a:solidFill>
                  <a:srgbClr val="303A5D"/>
                </a:solidFill>
                <a:latin typeface="Segoe UI"/>
              </a:rPr>
              <a:t>ДРАЙЗЕР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674620" y="3257550"/>
            <a:ext cx="151072" cy="13716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880556" y="3182112"/>
            <a:ext cx="1165860" cy="2880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24" b="1" i="0">
                <a:solidFill>
                  <a:srgbClr val="717890"/>
                </a:solidFill>
                <a:latin typeface="Segoe UI"/>
              </a:rPr>
              <a:t>3,0 т · 3 %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800600" y="3182112"/>
            <a:ext cx="685800" cy="2880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72" b="1" i="0">
                <a:solidFill>
                  <a:srgbClr val="1C2235"/>
                </a:solidFill>
                <a:latin typeface="Segoe UI"/>
              </a:rPr>
              <a:t>0,9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554980" y="3182112"/>
            <a:ext cx="891540" cy="2880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72" b="1" i="0">
                <a:solidFill>
                  <a:srgbClr val="C4820A"/>
                </a:solidFill>
                <a:latin typeface="Segoe UI"/>
              </a:rPr>
              <a:t>2,2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686550" y="3182112"/>
            <a:ext cx="685800" cy="2880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88" b="1" i="0">
                <a:solidFill>
                  <a:srgbClr val="1C2235"/>
                </a:solidFill>
                <a:latin typeface="Segoe UI"/>
              </a:rPr>
              <a:t>$39,9/кг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440930" y="3182112"/>
            <a:ext cx="1303020" cy="2880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1C2235"/>
                </a:solidFill>
                <a:latin typeface="Segoe UI"/>
              </a:rPr>
              <a:t>—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14350" y="3470148"/>
            <a:ext cx="2125980" cy="2880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6" b="1" i="0">
                <a:solidFill>
                  <a:srgbClr val="303A5D"/>
                </a:solidFill>
                <a:latin typeface="Segoe UI"/>
              </a:rPr>
              <a:t>АЗІАТІК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674620" y="3545586"/>
            <a:ext cx="34652" cy="13716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764136" y="3470148"/>
            <a:ext cx="1165860" cy="2880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24" b="1" i="0">
                <a:solidFill>
                  <a:srgbClr val="717890"/>
                </a:solidFill>
                <a:latin typeface="Segoe UI"/>
              </a:rPr>
              <a:t>0,7 т · 1 %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800600" y="3470148"/>
            <a:ext cx="685800" cy="2880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72" b="1" i="0">
                <a:solidFill>
                  <a:srgbClr val="1C2235"/>
                </a:solidFill>
                <a:latin typeface="Segoe UI"/>
              </a:rPr>
              <a:t>0,0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554980" y="3470148"/>
            <a:ext cx="891540" cy="2880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72" b="1" i="0">
                <a:solidFill>
                  <a:srgbClr val="C4820A"/>
                </a:solidFill>
                <a:latin typeface="Segoe UI"/>
              </a:rPr>
              <a:t>0,7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686550" y="3470148"/>
            <a:ext cx="685800" cy="2880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88" b="1" i="0">
                <a:solidFill>
                  <a:srgbClr val="1C2235"/>
                </a:solidFill>
                <a:latin typeface="Segoe UI"/>
              </a:rPr>
              <a:t>$27,8/кг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440930" y="3470148"/>
            <a:ext cx="1303020" cy="2880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1C2235"/>
                </a:solidFill>
                <a:latin typeface="Segoe UI"/>
              </a:rPr>
              <a:t>Ock Dong Ja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25196" y="3895344"/>
            <a:ext cx="27432" cy="144018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34924" y="3909060"/>
            <a:ext cx="4114800" cy="10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 spc="30">
                <a:solidFill>
                  <a:srgbClr val="C4820A"/>
                </a:solidFill>
                <a:latin typeface="Segoe UI"/>
              </a:rPr>
              <a:t>ВИРОБНИКИ ЗА ОПИСАМИ ДЕКЛАРАЦІЙ (КОРЕЯ, КИТАЙ, ТАЇЛАНД)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25196" y="4101084"/>
            <a:ext cx="1282446" cy="42519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93776" y="4128516"/>
            <a:ext cx="116586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1C2235"/>
                </a:solidFill>
                <a:latin typeface="Segoe UI"/>
              </a:rPr>
              <a:t>Godbawee Food 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93776" y="4334256"/>
            <a:ext cx="116586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25,8 т · $34,0/кг · Корея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762506" y="4101084"/>
            <a:ext cx="1282446" cy="42519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831086" y="4128516"/>
            <a:ext cx="116586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1C2235"/>
                </a:solidFill>
                <a:latin typeface="Segoe UI"/>
              </a:rPr>
              <a:t>Haesarang 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831086" y="4334256"/>
            <a:ext cx="116586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22,3 т · $25,1/кг · Корея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099816" y="4101084"/>
            <a:ext cx="1282446" cy="42519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3168396" y="4128516"/>
            <a:ext cx="116586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1C2235"/>
                </a:solidFill>
                <a:latin typeface="Segoe UI"/>
              </a:rPr>
              <a:t>Solmoi F C 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168396" y="4334256"/>
            <a:ext cx="116586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13,4 т · $47,7/кг · Корея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437126" y="4101084"/>
            <a:ext cx="1282446" cy="42519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4505706" y="4128516"/>
            <a:ext cx="116586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1C2235"/>
                </a:solidFill>
                <a:latin typeface="Segoe UI"/>
              </a:rPr>
              <a:t>Jiangsu Lingxian Food 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505706" y="4334256"/>
            <a:ext cx="116586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12,7 т · $17,4/кг · Китай</a:t>
            </a:r>
          </a:p>
        </p:txBody>
      </p:sp>
      <p:sp>
        <p:nvSpPr>
          <p:cNvPr id="90" name="Rectangle 89"/>
          <p:cNvSpPr/>
          <p:nvPr/>
        </p:nvSpPr>
        <p:spPr>
          <a:xfrm>
            <a:off x="5774436" y="4101084"/>
            <a:ext cx="1282446" cy="42519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5843016" y="4128516"/>
            <a:ext cx="116586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1C2235"/>
                </a:solidFill>
                <a:latin typeface="Segoe UI"/>
              </a:rPr>
              <a:t>Solmoi F C 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843016" y="4334256"/>
            <a:ext cx="116586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5,2 т · $50,3/кг · Корея</a:t>
            </a:r>
          </a:p>
        </p:txBody>
      </p:sp>
      <p:sp>
        <p:nvSpPr>
          <p:cNvPr id="93" name="Rectangle 92"/>
          <p:cNvSpPr/>
          <p:nvPr/>
        </p:nvSpPr>
        <p:spPr>
          <a:xfrm>
            <a:off x="7111746" y="4101084"/>
            <a:ext cx="1282446" cy="42519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7180326" y="4128516"/>
            <a:ext cx="116586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1C2235"/>
                </a:solidFill>
                <a:latin typeface="Segoe UI"/>
              </a:rPr>
              <a:t>Hyosung Food 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180326" y="4334256"/>
            <a:ext cx="1165860" cy="171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3,9 т · $30,4/кг · Корея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25196" y="4855464"/>
            <a:ext cx="829818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1">
                <a:solidFill>
                  <a:srgbClr val="717890"/>
                </a:solidFill>
                <a:latin typeface="Segoe UI"/>
              </a:rPr>
              <a:t>Митна база: імпорт в Україну за УКТ ЗЕД, 2025 рік і січень–травень 2026 (17 місяців), фактурна вартість USD без імпортного ПДВ. Декларації не розбито на SKU, тому нори-снеки виділено за описом товару.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977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3977" cy="795528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95528"/>
            <a:ext cx="9143977" cy="41148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" y="178308"/>
            <a:ext cx="1042416" cy="4526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728216" y="205740"/>
            <a:ext cx="61722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1" i="0" spc="30">
                <a:solidFill>
                  <a:srgbClr val="FFC95C"/>
                </a:solidFill>
                <a:latin typeface="Segoe UI"/>
              </a:rPr>
              <a:t>МИТНА БАЗА · РИСОВІ СНЕКИ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28216" y="377190"/>
            <a:ext cx="61722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20" b="1" i="0">
                <a:solidFill>
                  <a:srgbClr val="FFFFFF"/>
                </a:solidFill>
                <a:latin typeface="Segoe UI"/>
              </a:rPr>
              <a:t>Рисові крекери з норі: імпорту майже немає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20990" y="301752"/>
            <a:ext cx="768096" cy="2263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360" b="1" i="0">
                <a:solidFill>
                  <a:srgbClr val="465382"/>
                </a:solidFill>
                <a:latin typeface="Segoe UI"/>
              </a:rPr>
              <a:t>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5196" y="932688"/>
            <a:ext cx="82981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4" b="0" i="0">
                <a:solidFill>
                  <a:srgbClr val="717890"/>
                </a:solidFill>
                <a:latin typeface="Segoe UI"/>
              </a:rPr>
              <a:t>Код 1905 90 55 00 — екструдовані й експандовані снеки; під ним оформлюють і наші Singha Kameda, Thai-Nichi та ZEK Tempura. Дивимось, хто і що завозить за цим кодом.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5196" y="1303020"/>
            <a:ext cx="1988820" cy="82296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5196" y="1303020"/>
            <a:ext cx="27432" cy="82296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3504" y="1419606"/>
            <a:ext cx="17145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1" i="0" spc="40">
                <a:solidFill>
                  <a:srgbClr val="717890"/>
                </a:solidFill>
                <a:latin typeface="Segoe UI"/>
              </a:rPr>
              <a:t>УВЕСЬ КОД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" y="1577340"/>
            <a:ext cx="17145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60" b="1" i="0">
                <a:solidFill>
                  <a:srgbClr val="303A5D"/>
                </a:solidFill>
                <a:latin typeface="Segoe UI"/>
              </a:rPr>
              <a:t>4 592 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" y="1920240"/>
            <a:ext cx="1714500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2025: 3 222 т · 2026 (5 міс.): 1 370 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523744" y="1303020"/>
            <a:ext cx="1988820" cy="82296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523744" y="1303020"/>
            <a:ext cx="27432" cy="822960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02052" y="1419606"/>
            <a:ext cx="17145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1" i="0" spc="40">
                <a:solidFill>
                  <a:srgbClr val="717890"/>
                </a:solidFill>
                <a:latin typeface="Segoe UI"/>
              </a:rPr>
              <a:t>РИСОВІ СНЕКИ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2052" y="1577340"/>
            <a:ext cx="17145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60" b="1" i="0">
                <a:solidFill>
                  <a:srgbClr val="C4820A"/>
                </a:solidFill>
                <a:latin typeface="Segoe UI"/>
              </a:rPr>
              <a:t>101,3 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02052" y="1920240"/>
            <a:ext cx="1714500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2025: 75,5 т · 2026: 25,8 т · $9,1/кг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22292" y="1303020"/>
            <a:ext cx="1988820" cy="82296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622292" y="1303020"/>
            <a:ext cx="27432" cy="822960"/>
          </a:xfrm>
          <a:prstGeom prst="rect">
            <a:avLst/>
          </a:prstGeom>
          <a:solidFill>
            <a:srgbClr val="B23A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00600" y="1419606"/>
            <a:ext cx="17145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1" i="0" spc="40">
                <a:solidFill>
                  <a:srgbClr val="717890"/>
                </a:solidFill>
                <a:latin typeface="Segoe UI"/>
              </a:rPr>
              <a:t>РИСОВІ КРЕКЕРИ В ОПИСАХ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00600" y="1577340"/>
            <a:ext cx="17145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60" b="1" i="0">
                <a:solidFill>
                  <a:srgbClr val="B23A3A"/>
                </a:solidFill>
                <a:latin typeface="Segoe UI"/>
              </a:rPr>
              <a:t>0,30 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00600" y="1920240"/>
            <a:ext cx="1714500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12 декларацій з 2 509 у коді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20840" y="1303020"/>
            <a:ext cx="1988820" cy="82296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720840" y="1303020"/>
            <a:ext cx="27432" cy="822960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99148" y="1419606"/>
            <a:ext cx="17145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1" i="0" spc="40">
                <a:solidFill>
                  <a:srgbClr val="717890"/>
                </a:solidFill>
                <a:latin typeface="Segoe UI"/>
              </a:rPr>
              <a:t>З ВОДОРОСТЯМИ (НОРІ)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99148" y="1577340"/>
            <a:ext cx="17145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60" b="1" i="0">
                <a:solidFill>
                  <a:srgbClr val="5D4B96"/>
                </a:solidFill>
                <a:latin typeface="Segoe UI"/>
              </a:rPr>
              <a:t>12,6 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99148" y="1920240"/>
            <a:ext cx="1714500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будь-які снеки з водоростями в коді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5196" y="2263140"/>
            <a:ext cx="27432" cy="144018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4924" y="2276856"/>
            <a:ext cx="4114800" cy="10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 spc="30">
                <a:solidFill>
                  <a:srgbClr val="C4820A"/>
                </a:solidFill>
                <a:latin typeface="Segoe UI"/>
              </a:rPr>
              <a:t>ХТО ЗАВОЗИТЬ РИСОВІ СНЕКИ · ТОНН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" y="2503170"/>
            <a:ext cx="145389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72" b="0" i="0">
                <a:solidFill>
                  <a:srgbClr val="303A5D"/>
                </a:solidFill>
                <a:latin typeface="Segoe UI"/>
              </a:rPr>
              <a:t>АЗІЯФУДС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933956" y="2577236"/>
            <a:ext cx="2125980" cy="126187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07942" y="2503170"/>
            <a:ext cx="6172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72" b="1" i="0">
                <a:solidFill>
                  <a:srgbClr val="717890"/>
                </a:solidFill>
                <a:latin typeface="Segoe UI"/>
              </a:rPr>
              <a:t>36,1 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5196" y="2777490"/>
            <a:ext cx="145389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72" b="0" i="0">
                <a:solidFill>
                  <a:srgbClr val="303A5D"/>
                </a:solidFill>
                <a:latin typeface="Segoe UI"/>
              </a:rPr>
              <a:t>ІНГАР ГРУП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933956" y="2851556"/>
            <a:ext cx="829925" cy="126187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811887" y="2777490"/>
            <a:ext cx="6172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72" b="1" i="0">
                <a:solidFill>
                  <a:srgbClr val="717890"/>
                </a:solidFill>
                <a:latin typeface="Segoe UI"/>
              </a:rPr>
              <a:t>14,1 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5196" y="3051810"/>
            <a:ext cx="145389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72" b="0" i="0">
                <a:solidFill>
                  <a:srgbClr val="303A5D"/>
                </a:solidFill>
                <a:latin typeface="Segoe UI"/>
              </a:rPr>
              <a:t>УП-ГРУП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933956" y="3125876"/>
            <a:ext cx="716934" cy="126187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698896" y="3051810"/>
            <a:ext cx="6172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72" b="1" i="0">
                <a:solidFill>
                  <a:srgbClr val="717890"/>
                </a:solidFill>
                <a:latin typeface="Segoe UI"/>
              </a:rPr>
              <a:t>12,2 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25196" y="3326130"/>
            <a:ext cx="145389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72" b="0" i="0">
                <a:solidFill>
                  <a:srgbClr val="303A5D"/>
                </a:solidFill>
                <a:latin typeface="Segoe UI"/>
              </a:rPr>
              <a:t>ФОЗЗІ КОММЕРЦ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933956" y="3400196"/>
            <a:ext cx="649218" cy="126187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631180" y="3326130"/>
            <a:ext cx="6172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72" b="1" i="0">
                <a:solidFill>
                  <a:srgbClr val="717890"/>
                </a:solidFill>
                <a:latin typeface="Segoe UI"/>
              </a:rPr>
              <a:t>11,0 т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5196" y="3600450"/>
            <a:ext cx="145389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72" b="0" i="0">
                <a:solidFill>
                  <a:srgbClr val="303A5D"/>
                </a:solidFill>
                <a:latin typeface="Segoe UI"/>
              </a:rPr>
              <a:t>Метро Кеш Енд Кері Україна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933956" y="3674516"/>
            <a:ext cx="634515" cy="126187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616477" y="3600450"/>
            <a:ext cx="6172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72" b="1" i="0">
                <a:solidFill>
                  <a:srgbClr val="717890"/>
                </a:solidFill>
                <a:latin typeface="Segoe UI"/>
              </a:rPr>
              <a:t>10,8 т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25196" y="3874770"/>
            <a:ext cx="145389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72" b="0" i="0">
                <a:solidFill>
                  <a:srgbClr val="303A5D"/>
                </a:solidFill>
                <a:latin typeface="Segoe UI"/>
              </a:rPr>
              <a:t>РОСТІМ АГРО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933956" y="3948836"/>
            <a:ext cx="541969" cy="126187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523931" y="3874770"/>
            <a:ext cx="6172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72" b="1" i="0">
                <a:solidFill>
                  <a:srgbClr val="717890"/>
                </a:solidFill>
                <a:latin typeface="Segoe UI"/>
              </a:rPr>
              <a:t>9,2 т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732020" y="2263140"/>
            <a:ext cx="27432" cy="144018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841748" y="2276856"/>
            <a:ext cx="4114800" cy="10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 spc="30">
                <a:solidFill>
                  <a:srgbClr val="303A5D"/>
                </a:solidFill>
                <a:latin typeface="Segoe UI"/>
              </a:rPr>
              <a:t>ВИРОБНИКИ · КРАЇНА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732020" y="2503170"/>
            <a:ext cx="3977640" cy="24688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800600" y="2503170"/>
            <a:ext cx="240030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40" b="1" i="0">
                <a:solidFill>
                  <a:srgbClr val="1C2235"/>
                </a:solidFill>
                <a:latin typeface="Segoe UI"/>
              </a:rPr>
              <a:t>Виробника в описі не вказано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063740" y="2503170"/>
            <a:ext cx="157734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24" b="0" i="0">
                <a:solidFill>
                  <a:srgbClr val="717890"/>
                </a:solidFill>
                <a:latin typeface="Segoe UI"/>
              </a:rPr>
              <a:t>62,5 т · В'єтнам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732020" y="2791206"/>
            <a:ext cx="3977640" cy="24688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800600" y="2791206"/>
            <a:ext cx="240030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40" b="1" i="0">
                <a:solidFill>
                  <a:srgbClr val="1C2235"/>
                </a:solidFill>
                <a:latin typeface="Segoe UI"/>
              </a:rPr>
              <a:t>Nuhealth Jsc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063740" y="2791206"/>
            <a:ext cx="157734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24" b="0" i="0">
                <a:solidFill>
                  <a:srgbClr val="717890"/>
                </a:solidFill>
                <a:latin typeface="Segoe UI"/>
              </a:rPr>
              <a:t>18,7 т · Країни ЄС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732020" y="3079242"/>
            <a:ext cx="3977640" cy="24688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800600" y="3079242"/>
            <a:ext cx="240030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40" b="1" i="0">
                <a:solidFill>
                  <a:srgbClr val="1C2235"/>
                </a:solidFill>
                <a:latin typeface="Segoe UI"/>
              </a:rPr>
              <a:t>Mafin Srl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063740" y="3079242"/>
            <a:ext cx="157734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24" b="0" i="0">
                <a:solidFill>
                  <a:srgbClr val="717890"/>
                </a:solidFill>
                <a:latin typeface="Segoe UI"/>
              </a:rPr>
              <a:t>5,7 т · Країни ЄС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732020" y="3367278"/>
            <a:ext cx="3977640" cy="24688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800600" y="3367278"/>
            <a:ext cx="240030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40" b="1" i="0">
                <a:solidFill>
                  <a:srgbClr val="1C2235"/>
                </a:solidFill>
                <a:latin typeface="Segoe UI"/>
              </a:rPr>
              <a:t>Pph Okruszek Sp Z O O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063740" y="3367278"/>
            <a:ext cx="157734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24" b="0" i="0">
                <a:solidFill>
                  <a:srgbClr val="717890"/>
                </a:solidFill>
                <a:latin typeface="Segoe UI"/>
              </a:rPr>
              <a:t>3,3 т · Польща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732020" y="3655314"/>
            <a:ext cx="3977640" cy="24688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800600" y="3655314"/>
            <a:ext cx="240030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40" b="1" i="0">
                <a:solidFill>
                  <a:srgbClr val="1C2235"/>
                </a:solidFill>
                <a:latin typeface="Segoe UI"/>
              </a:rPr>
              <a:t>Eat Real Ltd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063740" y="3655314"/>
            <a:ext cx="157734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24" b="0" i="0">
                <a:solidFill>
                  <a:srgbClr val="717890"/>
                </a:solidFill>
                <a:latin typeface="Segoe UI"/>
              </a:rPr>
              <a:t>2,3 т · Сполучене Королівство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25196" y="4354830"/>
            <a:ext cx="8298180" cy="425196"/>
          </a:xfrm>
          <a:prstGeom prst="rect">
            <a:avLst/>
          </a:prstGeom>
          <a:solidFill>
            <a:srgbClr val="FFF3D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425196" y="4354830"/>
            <a:ext cx="27432" cy="425196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82930" y="4389120"/>
            <a:ext cx="8023860" cy="3771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72" b="0" i="0">
                <a:solidFill>
                  <a:srgbClr val="1C2235"/>
                </a:solidFill>
                <a:latin typeface="Segoe UI"/>
              </a:rPr>
              <a:t>Висновок: рисових крекерів у стилі арарe/норімакі в цьому коді практично немає — це вільна ніша. Застереження: в мережах є Want Want mini, а в базі його не видно — його, ймовірно, ввозять за іншим кодом УКТ ЗЕД, якого немає у вашій вибірці.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25196" y="4855464"/>
            <a:ext cx="829818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1">
                <a:solidFill>
                  <a:srgbClr val="717890"/>
                </a:solidFill>
                <a:latin typeface="Segoe UI"/>
              </a:rPr>
              <a:t>Митна база: імпорт в Україну за УКТ ЗЕД, 2025 рік і січень–травень 2026 (17 місяців), фактурна вартість USD без імпортного ПДВ. Декларації не розбито на SKU, тому нори-снеки виділено за описом товару.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977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3977" cy="795528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95528"/>
            <a:ext cx="9143977" cy="41148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" y="178308"/>
            <a:ext cx="1042416" cy="4526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728216" y="205740"/>
            <a:ext cx="61722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1" i="0" spc="30">
                <a:solidFill>
                  <a:srgbClr val="FFC95C"/>
                </a:solidFill>
                <a:latin typeface="Segoe UI"/>
              </a:rPr>
              <a:t>СЕГМЕНТАЦІЯ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28216" y="377190"/>
            <a:ext cx="61722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20" b="1" i="0">
                <a:solidFill>
                  <a:srgbClr val="FFFFFF"/>
                </a:solidFill>
                <a:latin typeface="Segoe UI"/>
              </a:rPr>
              <a:t>Сегментація за форматом упаковки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20990" y="301752"/>
            <a:ext cx="768096" cy="2263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360" b="1" i="0">
                <a:solidFill>
                  <a:srgbClr val="465382"/>
                </a:solidFill>
                <a:latin typeface="Segoe UI"/>
              </a:rPr>
              <a:t>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5196" y="932688"/>
            <a:ext cx="82981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4" b="0" i="0">
                <a:solidFill>
                  <a:srgbClr val="717890"/>
                </a:solidFill>
                <a:latin typeface="Segoe UI"/>
              </a:rPr>
              <a:t>Усі знайдені в мережах позиції розкладено за форматом упаковки й вагою — так, як їх бачить покупець на полиці. У кожній картці: скільки позицій, яка упаковка найходовіша, типова ціна і діапазон.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5196" y="1268730"/>
            <a:ext cx="2674620" cy="246888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1208" y="1316736"/>
            <a:ext cx="2537460" cy="150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40" b="1" i="0" spc="20">
                <a:solidFill>
                  <a:srgbClr val="FFFFFF"/>
                </a:solidFill>
                <a:latin typeface="Segoe UI"/>
              </a:rPr>
              <a:t>НОРІ-СНЕК У МІНІ-ПАКЕТІ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2628" y="1543050"/>
            <a:ext cx="2619756" cy="14401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21208" y="1611630"/>
            <a:ext cx="754380" cy="7543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4" name="Picture 13" descr="0880909484246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498" y="1645920"/>
            <a:ext cx="685800" cy="6858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385316" y="1570482"/>
            <a:ext cx="89154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80" b="1" i="0">
                <a:solidFill>
                  <a:srgbClr val="303A5D"/>
                </a:solidFill>
                <a:latin typeface="Segoe UI"/>
              </a:rPr>
              <a:t>49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5316" y="1940814"/>
            <a:ext cx="16459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6" b="0" i="0">
                <a:solidFill>
                  <a:srgbClr val="717890"/>
                </a:solidFill>
                <a:latin typeface="Segoe UI"/>
              </a:rPr>
              <a:t>позицій · 46 % зрізу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85316" y="2091690"/>
            <a:ext cx="16802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3–5 г · один–два аркуші в пакетику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" y="2434590"/>
            <a:ext cx="15773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717890"/>
                </a:solidFill>
                <a:latin typeface="Segoe UI"/>
              </a:rPr>
              <a:t>ВАГА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96796" y="2420874"/>
            <a:ext cx="123444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88" b="1" i="0">
                <a:solidFill>
                  <a:srgbClr val="303A5D"/>
                </a:solidFill>
                <a:latin typeface="Segoe UI"/>
              </a:rPr>
              <a:t>2,7–5 г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" y="2582037"/>
            <a:ext cx="15773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717890"/>
                </a:solidFill>
                <a:latin typeface="Segoe UI"/>
              </a:rPr>
              <a:t>МЕДІАНА ЦІНИ ЗА УПАКОВКУ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96796" y="2568321"/>
            <a:ext cx="123444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88" b="1" i="0">
                <a:solidFill>
                  <a:srgbClr val="303A5D"/>
                </a:solidFill>
                <a:latin typeface="Segoe UI"/>
              </a:rPr>
              <a:t>42 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8" y="2729484"/>
            <a:ext cx="15773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717890"/>
                </a:solidFill>
                <a:latin typeface="Segoe UI"/>
              </a:rPr>
              <a:t>НАЙХОДОВІША УПАКОВКА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96796" y="2715768"/>
            <a:ext cx="123444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88" b="1" i="0">
                <a:solidFill>
                  <a:srgbClr val="303A5D"/>
                </a:solidFill>
                <a:latin typeface="Segoe UI"/>
              </a:rPr>
              <a:t>4,5 г · 64 % присутності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1208" y="2876931"/>
            <a:ext cx="15773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717890"/>
                </a:solidFill>
                <a:latin typeface="Segoe UI"/>
              </a:rPr>
              <a:t>ДІАПАЗОН · БРЕНДІВ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96796" y="2863215"/>
            <a:ext cx="123444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88" b="1" i="0">
                <a:solidFill>
                  <a:srgbClr val="303A5D"/>
                </a:solidFill>
                <a:latin typeface="Segoe UI"/>
              </a:rPr>
              <a:t>29–98 ₴ · 13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36976" y="1268730"/>
            <a:ext cx="2674620" cy="246888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332988" y="1316736"/>
            <a:ext cx="2537460" cy="150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40" b="1" i="0" spc="20">
                <a:solidFill>
                  <a:srgbClr val="FFFFFF"/>
                </a:solidFill>
                <a:latin typeface="Segoe UI"/>
              </a:rPr>
              <a:t>НОРІ-ЧИПСИ ТА СЕНДВІЧІ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64408" y="1543050"/>
            <a:ext cx="2619756" cy="14401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332988" y="1611630"/>
            <a:ext cx="754380" cy="7543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0" name="Picture 29" descr="0482026555010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7278" y="1645920"/>
            <a:ext cx="685800" cy="6858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4197096" y="1570482"/>
            <a:ext cx="89154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80" b="1" i="0">
                <a:solidFill>
                  <a:srgbClr val="C4820A"/>
                </a:solidFill>
                <a:latin typeface="Segoe UI"/>
              </a:rPr>
              <a:t>19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97096" y="1940814"/>
            <a:ext cx="16459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6" b="0" i="0">
                <a:solidFill>
                  <a:srgbClr val="717890"/>
                </a:solidFill>
                <a:latin typeface="Segoe UI"/>
              </a:rPr>
              <a:t>позицій · 18 % зрізу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97096" y="2091690"/>
            <a:ext cx="16802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8–40 г · мультипак, чипси, сендвіч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32988" y="2434590"/>
            <a:ext cx="15773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717890"/>
                </a:solidFill>
                <a:latin typeface="Segoe UI"/>
              </a:rPr>
              <a:t>ВАГА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08576" y="2420874"/>
            <a:ext cx="123444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88" b="1" i="0">
                <a:solidFill>
                  <a:srgbClr val="303A5D"/>
                </a:solidFill>
                <a:latin typeface="Segoe UI"/>
              </a:rPr>
              <a:t>8–40 г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32988" y="2582037"/>
            <a:ext cx="15773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717890"/>
                </a:solidFill>
                <a:latin typeface="Segoe UI"/>
              </a:rPr>
              <a:t>МЕДІАНА ЦІНИ ЗА УПАКОВКУ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08576" y="2568321"/>
            <a:ext cx="123444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88" b="1" i="0">
                <a:solidFill>
                  <a:srgbClr val="303A5D"/>
                </a:solidFill>
                <a:latin typeface="Segoe UI"/>
              </a:rPr>
              <a:t>72 ₴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332988" y="2729484"/>
            <a:ext cx="15773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717890"/>
                </a:solidFill>
                <a:latin typeface="Segoe UI"/>
              </a:rPr>
              <a:t>НАЙХОДОВІША УПАКОВКА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08576" y="2715768"/>
            <a:ext cx="123444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88" b="1" i="0">
                <a:solidFill>
                  <a:srgbClr val="303A5D"/>
                </a:solidFill>
                <a:latin typeface="Segoe UI"/>
              </a:rPr>
              <a:t>25 г · 58 % присутності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332988" y="2876931"/>
            <a:ext cx="15773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717890"/>
                </a:solidFill>
                <a:latin typeface="Segoe UI"/>
              </a:rPr>
              <a:t>ДІАПАЗОН · БРЕНДІВ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08576" y="2863215"/>
            <a:ext cx="123444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88" b="1" i="0">
                <a:solidFill>
                  <a:srgbClr val="303A5D"/>
                </a:solidFill>
                <a:latin typeface="Segoe UI"/>
              </a:rPr>
              <a:t>21–151 ₴ · 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048756" y="1268730"/>
            <a:ext cx="2674620" cy="246888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44768" y="1316736"/>
            <a:ext cx="2537460" cy="150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40" b="1" i="0" spc="20">
                <a:solidFill>
                  <a:srgbClr val="FFFFFF"/>
                </a:solidFill>
                <a:latin typeface="Segoe UI"/>
              </a:rPr>
              <a:t>ТЕМПУРА ТА ТОПІНГ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076188" y="1543050"/>
            <a:ext cx="2619756" cy="14401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144768" y="1611630"/>
            <a:ext cx="754380" cy="7543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6" name="Picture 45" descr="08857107230777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9058" y="1645920"/>
            <a:ext cx="685800" cy="685800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7008876" y="1570482"/>
            <a:ext cx="89154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80" b="1" i="0">
                <a:solidFill>
                  <a:srgbClr val="5D4B96"/>
                </a:solidFill>
                <a:latin typeface="Segoe UI"/>
              </a:rPr>
              <a:t>11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008876" y="1940814"/>
            <a:ext cx="16459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6" b="0" i="0">
                <a:solidFill>
                  <a:srgbClr val="717890"/>
                </a:solidFill>
                <a:latin typeface="Segoe UI"/>
              </a:rPr>
              <a:t>позицій · 10 % зрізу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008876" y="2091690"/>
            <a:ext cx="16802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15–70 г · у клярі, подрібнені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144768" y="2434590"/>
            <a:ext cx="15773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717890"/>
                </a:solidFill>
                <a:latin typeface="Segoe UI"/>
              </a:rPr>
              <a:t>ВАГА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420356" y="2420874"/>
            <a:ext cx="123444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88" b="1" i="0">
                <a:solidFill>
                  <a:srgbClr val="303A5D"/>
                </a:solidFill>
                <a:latin typeface="Segoe UI"/>
              </a:rPr>
              <a:t>15–70 г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144768" y="2582037"/>
            <a:ext cx="15773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717890"/>
                </a:solidFill>
                <a:latin typeface="Segoe UI"/>
              </a:rPr>
              <a:t>МЕДІАНА ЦІНИ ЗА УПАКОВКУ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420356" y="2568321"/>
            <a:ext cx="123444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88" b="1" i="0">
                <a:solidFill>
                  <a:srgbClr val="303A5D"/>
                </a:solidFill>
                <a:latin typeface="Segoe UI"/>
              </a:rPr>
              <a:t>105 ₴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144768" y="2729484"/>
            <a:ext cx="15773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717890"/>
                </a:solidFill>
                <a:latin typeface="Segoe UI"/>
              </a:rPr>
              <a:t>НАЙХОДОВІША УПАКОВКА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420356" y="2715768"/>
            <a:ext cx="123444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88" b="1" i="0">
                <a:solidFill>
                  <a:srgbClr val="303A5D"/>
                </a:solidFill>
                <a:latin typeface="Segoe UI"/>
              </a:rPr>
              <a:t>15 г · 33 % присутності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144768" y="2876931"/>
            <a:ext cx="15773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717890"/>
                </a:solidFill>
                <a:latin typeface="Segoe UI"/>
              </a:rPr>
              <a:t>ДІАПАЗОН · БРЕНДІВ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420356" y="2863215"/>
            <a:ext cx="123444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88" b="1" i="0">
                <a:solidFill>
                  <a:srgbClr val="303A5D"/>
                </a:solidFill>
                <a:latin typeface="Segoe UI"/>
              </a:rPr>
              <a:t>70–528 ₴ · 3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25196" y="3065526"/>
            <a:ext cx="2674620" cy="246888"/>
          </a:xfrm>
          <a:prstGeom prst="rect">
            <a:avLst/>
          </a:prstGeom>
          <a:solidFill>
            <a:srgbClr val="B23A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21208" y="3113532"/>
            <a:ext cx="2537460" cy="150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40" b="1" i="0" spc="20">
                <a:solidFill>
                  <a:srgbClr val="FFFFFF"/>
                </a:solidFill>
                <a:latin typeface="Segoe UI"/>
              </a:rPr>
              <a:t>РИСОВІ КРЕКЕРИ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52628" y="3339846"/>
            <a:ext cx="2619756" cy="14401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21208" y="3408426"/>
            <a:ext cx="754380" cy="7543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62" name="Picture 61" descr="03770027194767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5498" y="3442716"/>
            <a:ext cx="685800" cy="685800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1385316" y="3367278"/>
            <a:ext cx="89154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80" b="1" i="0">
                <a:solidFill>
                  <a:srgbClr val="B23A3A"/>
                </a:solidFill>
                <a:latin typeface="Segoe UI"/>
              </a:rPr>
              <a:t>9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385316" y="3737610"/>
            <a:ext cx="16459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6" b="0" i="0">
                <a:solidFill>
                  <a:srgbClr val="717890"/>
                </a:solidFill>
                <a:latin typeface="Segoe UI"/>
              </a:rPr>
              <a:t>позицій · 8 % зрізу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385316" y="3888486"/>
            <a:ext cx="16802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50–60 г · арарe, сенбей, міні-крекер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21208" y="4231386"/>
            <a:ext cx="15773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717890"/>
                </a:solidFill>
                <a:latin typeface="Segoe UI"/>
              </a:rPr>
              <a:t>ВАГА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796796" y="4217670"/>
            <a:ext cx="123444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88" b="1" i="0">
                <a:solidFill>
                  <a:srgbClr val="303A5D"/>
                </a:solidFill>
                <a:latin typeface="Segoe UI"/>
              </a:rPr>
              <a:t>50–60 г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21208" y="4378833"/>
            <a:ext cx="15773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717890"/>
                </a:solidFill>
                <a:latin typeface="Segoe UI"/>
              </a:rPr>
              <a:t>МЕДІАНА ЦІНИ ЗА УПАКОВКУ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796796" y="4365117"/>
            <a:ext cx="123444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88" b="1" i="0">
                <a:solidFill>
                  <a:srgbClr val="303A5D"/>
                </a:solidFill>
                <a:latin typeface="Segoe UI"/>
              </a:rPr>
              <a:t>148 ₴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21208" y="4526280"/>
            <a:ext cx="15773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717890"/>
                </a:solidFill>
                <a:latin typeface="Segoe UI"/>
              </a:rPr>
              <a:t>НАЙХОДОВІША УПАКОВКА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796796" y="4512564"/>
            <a:ext cx="123444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88" b="1" i="0">
                <a:solidFill>
                  <a:srgbClr val="303A5D"/>
                </a:solidFill>
                <a:latin typeface="Segoe UI"/>
              </a:rPr>
              <a:t>60 г · 92 % присутності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21208" y="4673727"/>
            <a:ext cx="15773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717890"/>
                </a:solidFill>
                <a:latin typeface="Segoe UI"/>
              </a:rPr>
              <a:t>ДІАПАЗОН · БРЕНДІВ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796796" y="4660011"/>
            <a:ext cx="123444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88" b="1" i="0">
                <a:solidFill>
                  <a:srgbClr val="303A5D"/>
                </a:solidFill>
                <a:latin typeface="Segoe UI"/>
              </a:rPr>
              <a:t>126–149 ₴ · 3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236976" y="3065526"/>
            <a:ext cx="2674620" cy="246888"/>
          </a:xfrm>
          <a:prstGeom prst="rect">
            <a:avLst/>
          </a:prstGeom>
          <a:solidFill>
            <a:srgbClr val="A5ABB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3332988" y="3113532"/>
            <a:ext cx="2537460" cy="150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40" b="1" i="0" spc="20">
                <a:solidFill>
                  <a:srgbClr val="FFFFFF"/>
                </a:solidFill>
                <a:latin typeface="Segoe UI"/>
              </a:rPr>
              <a:t>РИСОВІ ЧИПСИ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264408" y="3339846"/>
            <a:ext cx="2619756" cy="144018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3332988" y="3408426"/>
            <a:ext cx="754380" cy="7543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78" name="Picture 77" descr="03800233070149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7278" y="3442716"/>
            <a:ext cx="685800" cy="685800"/>
          </a:xfrm>
          <a:prstGeom prst="rect">
            <a:avLst/>
          </a:prstGeom>
        </p:spPr>
      </p:pic>
      <p:sp>
        <p:nvSpPr>
          <p:cNvPr id="79" name="TextBox 78"/>
          <p:cNvSpPr txBox="1"/>
          <p:nvPr/>
        </p:nvSpPr>
        <p:spPr>
          <a:xfrm>
            <a:off x="4197096" y="3367278"/>
            <a:ext cx="89154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80" b="1" i="0">
                <a:solidFill>
                  <a:srgbClr val="A5ABBD"/>
                </a:solidFill>
                <a:latin typeface="Segoe UI"/>
              </a:rPr>
              <a:t>19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197096" y="3737610"/>
            <a:ext cx="16459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6" b="0" i="0">
                <a:solidFill>
                  <a:srgbClr val="717890"/>
                </a:solidFill>
                <a:latin typeface="Segoe UI"/>
              </a:rPr>
              <a:t>позицій · 18 % зрізу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197096" y="3888486"/>
            <a:ext cx="16802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50–150 г · суміжний, не наш формат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332988" y="4231386"/>
            <a:ext cx="15773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717890"/>
                </a:solidFill>
                <a:latin typeface="Segoe UI"/>
              </a:rPr>
              <a:t>ВАГА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608576" y="4217670"/>
            <a:ext cx="123444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88" b="1" i="0">
                <a:solidFill>
                  <a:srgbClr val="303A5D"/>
                </a:solidFill>
                <a:latin typeface="Segoe UI"/>
              </a:rPr>
              <a:t>50–150 г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332988" y="4378833"/>
            <a:ext cx="15773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717890"/>
                </a:solidFill>
                <a:latin typeface="Segoe UI"/>
              </a:rPr>
              <a:t>МЕДІАНА ЦІНИ ЗА УПАКОВКУ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608576" y="4365117"/>
            <a:ext cx="123444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88" b="1" i="0">
                <a:solidFill>
                  <a:srgbClr val="303A5D"/>
                </a:solidFill>
                <a:latin typeface="Segoe UI"/>
              </a:rPr>
              <a:t>60 ₴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332988" y="4526280"/>
            <a:ext cx="15773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717890"/>
                </a:solidFill>
                <a:latin typeface="Segoe UI"/>
              </a:rPr>
              <a:t>НАЙХОДОВІША УПАКОВКА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608576" y="4512564"/>
            <a:ext cx="123444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88" b="1" i="0">
                <a:solidFill>
                  <a:srgbClr val="303A5D"/>
                </a:solidFill>
                <a:latin typeface="Segoe UI"/>
              </a:rPr>
              <a:t>60 г · 43 % присутності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332988" y="4673727"/>
            <a:ext cx="15773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717890"/>
                </a:solidFill>
                <a:latin typeface="Segoe UI"/>
              </a:rPr>
              <a:t>ДІАПАЗОН · БРЕНДІВ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608576" y="4660011"/>
            <a:ext cx="123444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88" b="1" i="0">
                <a:solidFill>
                  <a:srgbClr val="303A5D"/>
                </a:solidFill>
                <a:latin typeface="Segoe UI"/>
              </a:rPr>
              <a:t>20–135 ₴ · 7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048756" y="3065526"/>
            <a:ext cx="2674620" cy="1714500"/>
          </a:xfrm>
          <a:prstGeom prst="rect">
            <a:avLst/>
          </a:prstGeom>
          <a:solidFill>
            <a:srgbClr val="FFF3D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6048756" y="3065526"/>
            <a:ext cx="27432" cy="1714500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6220206" y="3188970"/>
            <a:ext cx="23317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 spc="40">
                <a:solidFill>
                  <a:srgbClr val="C4820A"/>
                </a:solidFill>
                <a:latin typeface="Segoe UI"/>
              </a:rPr>
              <a:t>ДЕ НАШІ ПОСТАЧАЛЬНИКИ</a:t>
            </a:r>
          </a:p>
        </p:txBody>
      </p:sp>
      <p:sp>
        <p:nvSpPr>
          <p:cNvPr id="93" name="Rectangle 92"/>
          <p:cNvSpPr/>
          <p:nvPr/>
        </p:nvSpPr>
        <p:spPr>
          <a:xfrm>
            <a:off x="6220206" y="3442716"/>
            <a:ext cx="137160" cy="233172"/>
          </a:xfrm>
          <a:prstGeom prst="rect">
            <a:avLst/>
          </a:prstGeom>
          <a:solidFill>
            <a:srgbClr val="2F7A3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6446520" y="3435858"/>
            <a:ext cx="20574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20" b="1" i="0">
                <a:solidFill>
                  <a:srgbClr val="1C2235"/>
                </a:solidFill>
                <a:latin typeface="Segoe UI"/>
              </a:rPr>
              <a:t>TMK · KOKIRI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446520" y="3573018"/>
            <a:ext cx="2057400" cy="1234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0" i="0">
                <a:solidFill>
                  <a:srgbClr val="717890"/>
                </a:solidFill>
                <a:latin typeface="Segoe UI"/>
              </a:rPr>
              <a:t>міні-пакет · чипси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220206" y="3771900"/>
            <a:ext cx="137160" cy="233172"/>
          </a:xfrm>
          <a:prstGeom prst="rect">
            <a:avLst/>
          </a:prstGeom>
          <a:solidFill>
            <a:srgbClr val="B23A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446520" y="3765042"/>
            <a:ext cx="20574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20" b="1" i="0">
                <a:solidFill>
                  <a:srgbClr val="1C2235"/>
                </a:solidFill>
                <a:latin typeface="Segoe UI"/>
              </a:rPr>
              <a:t>HanJin · ZEK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446520" y="3902202"/>
            <a:ext cx="2057400" cy="1234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0" i="0">
                <a:solidFill>
                  <a:srgbClr val="717890"/>
                </a:solidFill>
                <a:latin typeface="Segoe UI"/>
              </a:rPr>
              <a:t>темпура · топінг · сендвіч</a:t>
            </a:r>
          </a:p>
        </p:txBody>
      </p:sp>
      <p:sp>
        <p:nvSpPr>
          <p:cNvPr id="99" name="Rectangle 98"/>
          <p:cNvSpPr/>
          <p:nvPr/>
        </p:nvSpPr>
        <p:spPr>
          <a:xfrm>
            <a:off x="6220206" y="4101084"/>
            <a:ext cx="137160" cy="233172"/>
          </a:xfrm>
          <a:prstGeom prst="rect">
            <a:avLst/>
          </a:prstGeom>
          <a:solidFill>
            <a:srgbClr val="B3621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6446520" y="4094226"/>
            <a:ext cx="20574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20" b="1" i="0">
                <a:solidFill>
                  <a:srgbClr val="1C2235"/>
                </a:solidFill>
                <a:latin typeface="Segoe UI"/>
              </a:rPr>
              <a:t>Singha Kameda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446520" y="4231386"/>
            <a:ext cx="2057400" cy="1234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0" i="0">
                <a:solidFill>
                  <a:srgbClr val="717890"/>
                </a:solidFill>
                <a:latin typeface="Segoe UI"/>
              </a:rPr>
              <a:t>рисові крекери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220206" y="4430268"/>
            <a:ext cx="137160" cy="233172"/>
          </a:xfrm>
          <a:prstGeom prst="rect">
            <a:avLst/>
          </a:prstGeom>
          <a:solidFill>
            <a:srgbClr val="1D5B6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446520" y="4423410"/>
            <a:ext cx="20574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20" b="1" i="0">
                <a:solidFill>
                  <a:srgbClr val="1C2235"/>
                </a:solidFill>
                <a:latin typeface="Segoe UI"/>
              </a:rPr>
              <a:t>Thai-Nichi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6446520" y="4560570"/>
            <a:ext cx="2057400" cy="1234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0" i="0">
                <a:solidFill>
                  <a:srgbClr val="717890"/>
                </a:solidFill>
                <a:latin typeface="Segoe UI"/>
              </a:rPr>
              <a:t>рисові крекери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425196" y="4855464"/>
            <a:ext cx="829818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1">
                <a:solidFill>
                  <a:srgbClr val="717890"/>
                </a:solidFill>
                <a:latin typeface="Segoe UI"/>
              </a:rPr>
              <a:t>Каталоги мереж на zakaz.ua (METRO, NOVUS, Ашан, Зараз, МегаМаркет, Ultramarket, Епіцентр, Космос, Onde, Ідеал, Восторг, Клас, Таврія В, ЧудоМаркет, Торба, Grono) · 07.10.2026 · ціна — онлайн-полиця одного магазину мережі, діапазон — між мережами.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977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3977" cy="795528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95528"/>
            <a:ext cx="9143977" cy="41148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" y="178308"/>
            <a:ext cx="1042416" cy="4526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728216" y="205740"/>
            <a:ext cx="61722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1" i="0" spc="30">
                <a:solidFill>
                  <a:srgbClr val="FFC95C"/>
                </a:solidFill>
                <a:latin typeface="Segoe UI"/>
              </a:rPr>
              <a:t>СЕГМЕНТ · НОРІ-СНЕК У МІНІ-ПАКЕТІ · 49 ПОЗИЦІЙ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28216" y="377190"/>
            <a:ext cx="61722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20" b="1" i="0">
                <a:solidFill>
                  <a:srgbClr val="FFFFFF"/>
                </a:solidFill>
                <a:latin typeface="Segoe UI"/>
              </a:rPr>
              <a:t>Міні-пакет 4–5 г: найбільший сегмент, медіана 42 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20990" y="301752"/>
            <a:ext cx="768096" cy="2263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360" b="1" i="0">
                <a:solidFill>
                  <a:srgbClr val="465382"/>
                </a:solidFill>
                <a:latin typeface="Segoe UI"/>
              </a:rP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5196" y="946404"/>
            <a:ext cx="8298180" cy="150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4" b="0" i="0">
                <a:solidFill>
                  <a:srgbClr val="717890"/>
                </a:solidFill>
                <a:latin typeface="Segoe UI"/>
              </a:rPr>
              <a:t>Основа полиці: один–два аркуші в пакетику, ціна упаковки в усіх брендів близька. Сюди потрапляють наші TMK ROLL і DOUBLE ROLL.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5196" y="1193292"/>
            <a:ext cx="2125980" cy="80924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5196" y="1193292"/>
            <a:ext cx="27432" cy="80924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3504" y="1309878"/>
            <a:ext cx="18516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1" i="0" spc="40">
                <a:solidFill>
                  <a:srgbClr val="717890"/>
                </a:solidFill>
                <a:latin typeface="Segoe UI"/>
              </a:rPr>
              <a:t>ПОЗИЦІЙ У СЕГМЕНТІ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" y="1467612"/>
            <a:ext cx="185166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60" b="1" i="0">
                <a:solidFill>
                  <a:srgbClr val="303A5D"/>
                </a:solidFill>
                <a:latin typeface="Segoe UI"/>
              </a:rPr>
              <a:t>49 SKU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" y="1796796"/>
            <a:ext cx="1851660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16 лінійок · 13 брендів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60904" y="1193292"/>
            <a:ext cx="2125980" cy="80924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660904" y="1193292"/>
            <a:ext cx="27432" cy="80924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39212" y="1309878"/>
            <a:ext cx="18516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1" i="0" spc="40">
                <a:solidFill>
                  <a:srgbClr val="717890"/>
                </a:solidFill>
                <a:latin typeface="Segoe UI"/>
              </a:rPr>
              <a:t>МЕДІАНА УПАКОВКИ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9212" y="1467612"/>
            <a:ext cx="185166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60" b="1" i="0">
                <a:solidFill>
                  <a:srgbClr val="303A5D"/>
                </a:solidFill>
                <a:latin typeface="Segoe UI"/>
              </a:rPr>
              <a:t>42 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9212" y="1796796"/>
            <a:ext cx="1851660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діапазон 29–98 ₴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96612" y="1193292"/>
            <a:ext cx="2125980" cy="80924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896612" y="1193292"/>
            <a:ext cx="27432" cy="80924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74920" y="1309878"/>
            <a:ext cx="18516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1" i="0" spc="40">
                <a:solidFill>
                  <a:srgbClr val="717890"/>
                </a:solidFill>
                <a:latin typeface="Segoe UI"/>
              </a:rPr>
              <a:t>НАЙХОДОВІША УПАКОВКА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74920" y="1467612"/>
            <a:ext cx="185166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60" b="1" i="0">
                <a:solidFill>
                  <a:srgbClr val="303A5D"/>
                </a:solidFill>
                <a:latin typeface="Segoe UI"/>
              </a:rPr>
              <a:t>4,5 г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74920" y="1796796"/>
            <a:ext cx="1851660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64 % присутності на полицях · медіана 40 ₴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132320" y="1193292"/>
            <a:ext cx="1591056" cy="80924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132320" y="1193292"/>
            <a:ext cx="27432" cy="80924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0628" y="1309878"/>
            <a:ext cx="131673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1" i="0" spc="40">
                <a:solidFill>
                  <a:srgbClr val="717890"/>
                </a:solidFill>
                <a:latin typeface="Segoe UI"/>
              </a:rPr>
              <a:t>ВАГА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0628" y="1467612"/>
            <a:ext cx="1316736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303A5D"/>
                </a:solidFill>
                <a:latin typeface="Segoe UI"/>
              </a:rPr>
              <a:t>2,7–5 г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5196" y="2125980"/>
            <a:ext cx="27432" cy="144018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34924" y="2139696"/>
            <a:ext cx="3429000" cy="10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 spc="30">
                <a:solidFill>
                  <a:srgbClr val="303A5D"/>
                </a:solidFill>
                <a:latin typeface="Segoe UI"/>
              </a:rPr>
              <a:t>ХТО ТРИМАЄ СЕГМЕНТ · SKU НА БРЕНД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5196" y="2345436"/>
            <a:ext cx="973836" cy="1611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24" b="0" i="0">
                <a:solidFill>
                  <a:srgbClr val="303A5D"/>
                </a:solidFill>
                <a:latin typeface="Segoe UI"/>
              </a:rPr>
              <a:t>Ock Dong Ja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453896" y="2388950"/>
            <a:ext cx="2468880" cy="7413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970782" y="2345436"/>
            <a:ext cx="548640" cy="1611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24" b="1" i="0">
                <a:solidFill>
                  <a:srgbClr val="717890"/>
                </a:solidFill>
                <a:latin typeface="Segoe UI"/>
              </a:rPr>
              <a:t>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5196" y="2506599"/>
            <a:ext cx="973836" cy="1611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24" b="0" i="0">
                <a:solidFill>
                  <a:srgbClr val="303A5D"/>
                </a:solidFill>
                <a:latin typeface="Segoe UI"/>
              </a:rPr>
              <a:t>Akura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453896" y="2550113"/>
            <a:ext cx="2116182" cy="7413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18084" y="2506599"/>
            <a:ext cx="548640" cy="1611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24" b="1" i="0">
                <a:solidFill>
                  <a:srgbClr val="717890"/>
                </a:solidFill>
                <a:latin typeface="Segoe UI"/>
              </a:rP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5196" y="2667762"/>
            <a:ext cx="973836" cy="1611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24" b="0" i="0">
                <a:solidFill>
                  <a:srgbClr val="303A5D"/>
                </a:solidFill>
                <a:latin typeface="Segoe UI"/>
              </a:rPr>
              <a:t>Clearspring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453896" y="2711276"/>
            <a:ext cx="1763485" cy="7413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65387" y="2667762"/>
            <a:ext cx="548640" cy="1611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24" b="1" i="0">
                <a:solidFill>
                  <a:srgbClr val="717890"/>
                </a:solidFill>
                <a:latin typeface="Segoe UI"/>
              </a:rP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5196" y="2828925"/>
            <a:ext cx="973836" cy="1611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24" b="0" i="0">
                <a:solidFill>
                  <a:srgbClr val="303A5D"/>
                </a:solidFill>
                <a:latin typeface="Segoe UI"/>
              </a:rPr>
              <a:t>Norris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453896" y="2872439"/>
            <a:ext cx="1410788" cy="7413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912690" y="2828925"/>
            <a:ext cx="548640" cy="1611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24" b="1" i="0">
                <a:solidFill>
                  <a:srgbClr val="717890"/>
                </a:solidFill>
                <a:latin typeface="Segoe UI"/>
              </a:rPr>
              <a:t>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5196" y="2990088"/>
            <a:ext cx="973836" cy="1611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24" b="0" i="0">
                <a:solidFill>
                  <a:srgbClr val="303A5D"/>
                </a:solidFill>
                <a:latin typeface="Segoe UI"/>
              </a:rPr>
              <a:t>Metro Chef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453896" y="3033602"/>
            <a:ext cx="1410788" cy="7413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912690" y="2990088"/>
            <a:ext cx="548640" cy="1611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24" b="1" i="0">
                <a:solidFill>
                  <a:srgbClr val="717890"/>
                </a:solidFill>
                <a:latin typeface="Segoe UI"/>
              </a:rPr>
              <a:t>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25196" y="3151251"/>
            <a:ext cx="973836" cy="1611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24" b="0" i="0">
                <a:solidFill>
                  <a:srgbClr val="303A5D"/>
                </a:solidFill>
                <a:latin typeface="Segoe UI"/>
              </a:rPr>
              <a:t>Haelove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453896" y="3194765"/>
            <a:ext cx="1410788" cy="7413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912690" y="3151251"/>
            <a:ext cx="548640" cy="1611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24" b="1" i="0">
                <a:solidFill>
                  <a:srgbClr val="717890"/>
                </a:solidFill>
                <a:latin typeface="Segoe UI"/>
              </a:rPr>
              <a:t>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25196" y="3312414"/>
            <a:ext cx="973836" cy="1611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24" b="0" i="0">
                <a:solidFill>
                  <a:srgbClr val="303A5D"/>
                </a:solidFill>
                <a:latin typeface="Segoe UI"/>
              </a:rPr>
              <a:t>Ямчан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453896" y="3355928"/>
            <a:ext cx="1410788" cy="7413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912690" y="3312414"/>
            <a:ext cx="548640" cy="1611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24" b="1" i="0">
                <a:solidFill>
                  <a:srgbClr val="717890"/>
                </a:solidFill>
                <a:latin typeface="Segoe UI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5196" y="3473577"/>
            <a:ext cx="973836" cy="1611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24" b="0" i="0">
                <a:solidFill>
                  <a:srgbClr val="303A5D"/>
                </a:solidFill>
                <a:latin typeface="Segoe UI"/>
              </a:rPr>
              <a:t>Sempio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453896" y="3517091"/>
            <a:ext cx="1410788" cy="7413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912690" y="3473577"/>
            <a:ext cx="548640" cy="1611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24" b="1" i="0">
                <a:solidFill>
                  <a:srgbClr val="717890"/>
                </a:solidFill>
                <a:latin typeface="Segoe UI"/>
              </a:rPr>
              <a:t>4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732020" y="2125980"/>
            <a:ext cx="27432" cy="144018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841748" y="2139696"/>
            <a:ext cx="3429000" cy="10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 spc="30">
                <a:solidFill>
                  <a:srgbClr val="303A5D"/>
                </a:solidFill>
                <a:latin typeface="Segoe UI"/>
              </a:rPr>
              <a:t>ПОЗИЦІЇ ЗА ЦІНОЮ УПАКОВКИ · ₴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732020" y="2489454"/>
            <a:ext cx="605790" cy="89154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663440" y="2359152"/>
            <a:ext cx="742950" cy="1165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08" b="1" i="0">
                <a:solidFill>
                  <a:srgbClr val="303A5D"/>
                </a:solidFill>
                <a:latin typeface="Segoe UI"/>
              </a:rPr>
              <a:t>12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629150" y="3408426"/>
            <a:ext cx="81153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до 35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406390" y="2935224"/>
            <a:ext cx="605790" cy="44577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337810" y="2804922"/>
            <a:ext cx="742950" cy="1165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08" b="1" i="0">
                <a:solidFill>
                  <a:srgbClr val="303A5D"/>
                </a:solidFill>
                <a:latin typeface="Segoe UI"/>
              </a:rPr>
              <a:t>6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303520" y="3408426"/>
            <a:ext cx="81153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35–40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080760" y="2489454"/>
            <a:ext cx="605790" cy="89154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012180" y="2359152"/>
            <a:ext cx="742950" cy="1165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08" b="1" i="0">
                <a:solidFill>
                  <a:srgbClr val="303A5D"/>
                </a:solidFill>
                <a:latin typeface="Segoe UI"/>
              </a:rPr>
              <a:t>12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977890" y="3408426"/>
            <a:ext cx="81153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40–45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755130" y="2563749"/>
            <a:ext cx="605790" cy="817245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686550" y="2433447"/>
            <a:ext cx="742950" cy="1165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08" b="1" i="0">
                <a:solidFill>
                  <a:srgbClr val="303A5D"/>
                </a:solidFill>
                <a:latin typeface="Segoe UI"/>
              </a:rPr>
              <a:t>11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652260" y="3408426"/>
            <a:ext cx="81153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45–55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429500" y="3158109"/>
            <a:ext cx="605790" cy="222885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360920" y="3027807"/>
            <a:ext cx="742950" cy="1165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08" b="1" i="0">
                <a:solidFill>
                  <a:srgbClr val="303A5D"/>
                </a:solidFill>
                <a:latin typeface="Segoe UI"/>
              </a:rPr>
              <a:t>3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326630" y="3408426"/>
            <a:ext cx="81153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55–80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103870" y="3009519"/>
            <a:ext cx="605790" cy="371475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035290" y="2879217"/>
            <a:ext cx="742950" cy="1165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08" b="1" i="0">
                <a:solidFill>
                  <a:srgbClr val="303A5D"/>
                </a:solidFill>
                <a:latin typeface="Segoe UI"/>
              </a:rPr>
              <a:t>5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001000" y="3408426"/>
            <a:ext cx="81153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80+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25196" y="3669030"/>
            <a:ext cx="27432" cy="144018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34924" y="3682746"/>
            <a:ext cx="5486400" cy="10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 spc="30">
                <a:solidFill>
                  <a:srgbClr val="303A5D"/>
                </a:solidFill>
                <a:latin typeface="Segoe UI"/>
              </a:rPr>
              <a:t>ПРЕДСТАВНИКИ СЕГМЕНТА · ВІД НАЙДЕШЕВШОЇ ДО НАЙДОРОЖЧОЇ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25196" y="3895344"/>
            <a:ext cx="1316736" cy="111099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425196" y="3895344"/>
            <a:ext cx="1316736" cy="2743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473202" y="3963924"/>
            <a:ext cx="54864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80" name="Picture 79" descr="0482026555031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918" y="3977640"/>
            <a:ext cx="521208" cy="521208"/>
          </a:xfrm>
          <a:prstGeom prst="rect">
            <a:avLst/>
          </a:prstGeom>
        </p:spPr>
      </p:pic>
      <p:sp>
        <p:nvSpPr>
          <p:cNvPr id="81" name="TextBox 80"/>
          <p:cNvSpPr txBox="1"/>
          <p:nvPr/>
        </p:nvSpPr>
        <p:spPr>
          <a:xfrm>
            <a:off x="1069848" y="3991356"/>
            <a:ext cx="65151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24" b="1" i="0">
                <a:solidFill>
                  <a:srgbClr val="1C2235"/>
                </a:solidFill>
                <a:latin typeface="Segoe UI"/>
              </a:rPr>
              <a:t>Norris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9848" y="4320540"/>
            <a:ext cx="65151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1" i="0">
                <a:solidFill>
                  <a:srgbClr val="1C2235"/>
                </a:solidFill>
                <a:latin typeface="Segoe UI"/>
              </a:rPr>
              <a:t>30 ₴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93776" y="4581144"/>
            <a:ext cx="121386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3 г · 1 смак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93776" y="4732020"/>
            <a:ext cx="1213866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NOVUS · Onde · Восторг +1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824228" y="3895344"/>
            <a:ext cx="1316736" cy="111099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1824228" y="3895344"/>
            <a:ext cx="1316736" cy="2743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1872234" y="3963924"/>
            <a:ext cx="54864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88" name="Picture 87" descr="0880909484211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85950" y="3977640"/>
            <a:ext cx="521208" cy="521208"/>
          </a:xfrm>
          <a:prstGeom prst="rect">
            <a:avLst/>
          </a:prstGeom>
        </p:spPr>
      </p:pic>
      <p:sp>
        <p:nvSpPr>
          <p:cNvPr id="89" name="TextBox 88"/>
          <p:cNvSpPr txBox="1"/>
          <p:nvPr/>
        </p:nvSpPr>
        <p:spPr>
          <a:xfrm>
            <a:off x="2468880" y="3991356"/>
            <a:ext cx="65151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24" b="1" i="0">
                <a:solidFill>
                  <a:srgbClr val="1C2235"/>
                </a:solidFill>
                <a:latin typeface="Segoe UI"/>
              </a:rPr>
              <a:t>Ock Dong Ja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468880" y="4320540"/>
            <a:ext cx="65151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1" i="0">
                <a:solidFill>
                  <a:srgbClr val="1C2235"/>
                </a:solidFill>
                <a:latin typeface="Segoe UI"/>
              </a:rPr>
              <a:t>32 ₴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892808" y="4581144"/>
            <a:ext cx="121386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4 г · 2 смаки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892808" y="4732020"/>
            <a:ext cx="1213866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Ашан · Зараз · Onde</a:t>
            </a:r>
          </a:p>
        </p:txBody>
      </p:sp>
      <p:sp>
        <p:nvSpPr>
          <p:cNvPr id="93" name="Rectangle 92"/>
          <p:cNvSpPr/>
          <p:nvPr/>
        </p:nvSpPr>
        <p:spPr>
          <a:xfrm>
            <a:off x="3223260" y="3895344"/>
            <a:ext cx="1316736" cy="111099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3223260" y="3895344"/>
            <a:ext cx="1316736" cy="2743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3271266" y="3963924"/>
            <a:ext cx="54864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96" name="Picture 95" descr="0482026555033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84982" y="3977640"/>
            <a:ext cx="521208" cy="521208"/>
          </a:xfrm>
          <a:prstGeom prst="rect">
            <a:avLst/>
          </a:prstGeom>
        </p:spPr>
      </p:pic>
      <p:sp>
        <p:nvSpPr>
          <p:cNvPr id="97" name="TextBox 96"/>
          <p:cNvSpPr txBox="1"/>
          <p:nvPr/>
        </p:nvSpPr>
        <p:spPr>
          <a:xfrm>
            <a:off x="3867912" y="3991356"/>
            <a:ext cx="65151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24" b="1" i="0">
                <a:solidFill>
                  <a:srgbClr val="1C2235"/>
                </a:solidFill>
                <a:latin typeface="Segoe UI"/>
              </a:rPr>
              <a:t>Norris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3867912" y="4320540"/>
            <a:ext cx="65151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1" i="0">
                <a:solidFill>
                  <a:srgbClr val="1C2235"/>
                </a:solidFill>
                <a:latin typeface="Segoe UI"/>
              </a:rPr>
              <a:t>36 ₴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3291840" y="4581144"/>
            <a:ext cx="121386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4,5 г · 3 смаки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3291840" y="4732020"/>
            <a:ext cx="1213866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Епіцентр · Onde · Ідеал +4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4622292" y="3895344"/>
            <a:ext cx="1316736" cy="111099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4622292" y="3895344"/>
            <a:ext cx="1316736" cy="2743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4670298" y="3963924"/>
            <a:ext cx="54864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04" name="Picture 103" descr="08809178815087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84014" y="3977640"/>
            <a:ext cx="521208" cy="521208"/>
          </a:xfrm>
          <a:prstGeom prst="rect">
            <a:avLst/>
          </a:prstGeom>
        </p:spPr>
      </p:pic>
      <p:sp>
        <p:nvSpPr>
          <p:cNvPr id="105" name="TextBox 104"/>
          <p:cNvSpPr txBox="1"/>
          <p:nvPr/>
        </p:nvSpPr>
        <p:spPr>
          <a:xfrm>
            <a:off x="5266944" y="3991356"/>
            <a:ext cx="65151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24" b="1" i="0">
                <a:solidFill>
                  <a:srgbClr val="1C2235"/>
                </a:solidFill>
                <a:latin typeface="Segoe UI"/>
              </a:rPr>
              <a:t>Humanwell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5266944" y="4320540"/>
            <a:ext cx="65151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1" i="0">
                <a:solidFill>
                  <a:srgbClr val="1C2235"/>
                </a:solidFill>
                <a:latin typeface="Segoe UI"/>
              </a:rPr>
              <a:t>40 ₴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4690872" y="4581144"/>
            <a:ext cx="121386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4 г · 3 смаки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4690872" y="4732020"/>
            <a:ext cx="1213866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Ашан · Космос · Таврія В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6021324" y="3895344"/>
            <a:ext cx="1316736" cy="111099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6021324" y="3895344"/>
            <a:ext cx="1316736" cy="2743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6069330" y="3963924"/>
            <a:ext cx="54864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12" name="Picture 111" descr="05907381896565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83046" y="3977640"/>
            <a:ext cx="521208" cy="521208"/>
          </a:xfrm>
          <a:prstGeom prst="rect">
            <a:avLst/>
          </a:prstGeom>
        </p:spPr>
      </p:pic>
      <p:sp>
        <p:nvSpPr>
          <p:cNvPr id="113" name="TextBox 112"/>
          <p:cNvSpPr txBox="1"/>
          <p:nvPr/>
        </p:nvSpPr>
        <p:spPr>
          <a:xfrm>
            <a:off x="6665976" y="3991356"/>
            <a:ext cx="65151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24" b="1" i="0">
                <a:solidFill>
                  <a:srgbClr val="1C2235"/>
                </a:solidFill>
                <a:latin typeface="Segoe UI"/>
              </a:rPr>
              <a:t>Akura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6665976" y="4320540"/>
            <a:ext cx="65151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1" i="0">
                <a:solidFill>
                  <a:srgbClr val="1C2235"/>
                </a:solidFill>
                <a:latin typeface="Segoe UI"/>
              </a:rPr>
              <a:t>42 ₴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6089904" y="4581144"/>
            <a:ext cx="121386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4,5 г · 5 смаків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6089904" y="4732020"/>
            <a:ext cx="1213866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Епіцентр · Восторг · Клас +2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7420356" y="3895344"/>
            <a:ext cx="1316736" cy="111099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7420356" y="3895344"/>
            <a:ext cx="1316736" cy="2743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7468362" y="3963924"/>
            <a:ext cx="54864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20" name="Picture 119" descr="08936181660790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82078" y="3977640"/>
            <a:ext cx="521208" cy="521208"/>
          </a:xfrm>
          <a:prstGeom prst="rect">
            <a:avLst/>
          </a:prstGeom>
        </p:spPr>
      </p:pic>
      <p:sp>
        <p:nvSpPr>
          <p:cNvPr id="121" name="TextBox 120"/>
          <p:cNvSpPr txBox="1"/>
          <p:nvPr/>
        </p:nvSpPr>
        <p:spPr>
          <a:xfrm>
            <a:off x="8065008" y="3991356"/>
            <a:ext cx="65151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24" b="1" i="0">
                <a:solidFill>
                  <a:srgbClr val="1C2235"/>
                </a:solidFill>
                <a:latin typeface="Segoe UI"/>
              </a:rPr>
              <a:t>Ямчан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8065008" y="4320540"/>
            <a:ext cx="65151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1" i="0">
                <a:solidFill>
                  <a:srgbClr val="1C2235"/>
                </a:solidFill>
                <a:latin typeface="Segoe UI"/>
              </a:rPr>
              <a:t>46 ₴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7488936" y="4581144"/>
            <a:ext cx="121386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4,5 г · 4 смаки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7488936" y="4732020"/>
            <a:ext cx="1213866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Космос · ЧудоМаркет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977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3977" cy="795528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95528"/>
            <a:ext cx="9143977" cy="41148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" y="178308"/>
            <a:ext cx="1042416" cy="4526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728216" y="205740"/>
            <a:ext cx="61722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1" i="0" spc="30">
                <a:solidFill>
                  <a:srgbClr val="FFC95C"/>
                </a:solidFill>
                <a:latin typeface="Segoe UI"/>
              </a:rPr>
              <a:t>СЕГМЕНТ · НОРІ-СНЕК У МІНІ-ПАКЕТІ · ПОПУЛЯРНІ УПАКОВКИ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28216" y="377190"/>
            <a:ext cx="61722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20" b="1" i="0">
                <a:solidFill>
                  <a:srgbClr val="FFFFFF"/>
                </a:solidFill>
                <a:latin typeface="Segoe UI"/>
              </a:rPr>
              <a:t>Міні-пакет: 4,5 г — найходовіша, 64 % присутності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20990" y="301752"/>
            <a:ext cx="768096" cy="2263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360" b="1" i="0">
                <a:solidFill>
                  <a:srgbClr val="465382"/>
                </a:solidFill>
                <a:latin typeface="Segoe UI"/>
              </a:rPr>
              <a:t>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5196" y="946404"/>
            <a:ext cx="8298180" cy="150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88" b="0" i="0">
                <a:solidFill>
                  <a:srgbClr val="717890"/>
                </a:solidFill>
                <a:latin typeface="Segoe UI"/>
              </a:rPr>
              <a:t>Популярність — це присутність упаковки на полицях: кількість позицій × мереж, де вона стоїть (даних про продажі немає). Справа — наша полиця проти типової ціни пакетів близької ваги.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5196" y="1268730"/>
            <a:ext cx="6446520" cy="20574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7492" y="1289304"/>
            <a:ext cx="2743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 spc="20">
                <a:solidFill>
                  <a:srgbClr val="FFFFFF"/>
                </a:solidFill>
                <a:latin typeface="Segoe UI"/>
              </a:rPr>
              <a:t>НОРІ-СНЕК У МІНІ-ПАКЕТІ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5196" y="1495044"/>
            <a:ext cx="58293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717890"/>
                </a:solidFill>
                <a:latin typeface="Segoe UI"/>
              </a:rPr>
              <a:t>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" y="1495044"/>
            <a:ext cx="96012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717890"/>
                </a:solidFill>
                <a:latin typeface="Segoe UI"/>
              </a:rPr>
              <a:t>ВАГА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85316" y="1495044"/>
            <a:ext cx="246888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717890"/>
                </a:solidFill>
                <a:latin typeface="Segoe UI"/>
              </a:rPr>
              <a:t>ПРИСУТНІСТЬ · ПОЗИЦІЙ × МЕРЕЖ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79876" y="1495044"/>
            <a:ext cx="10287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717890"/>
                </a:solidFill>
                <a:latin typeface="Segoe UI"/>
              </a:rPr>
              <a:t>SKU · БРЕНДІВ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34256" y="1495044"/>
            <a:ext cx="75438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717890"/>
                </a:solidFill>
                <a:latin typeface="Segoe UI"/>
              </a:rPr>
              <a:t>МЕРЕЖ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14316" y="1495044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717890"/>
                </a:solidFill>
                <a:latin typeface="Segoe UI"/>
              </a:rPr>
              <a:t>ЦІНА, ₴ · МІН.–МАКС.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11596" y="1495044"/>
            <a:ext cx="96012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717890"/>
                </a:solidFill>
                <a:latin typeface="Segoe UI"/>
              </a:rPr>
              <a:t>МЕДІАНА ЦІНИ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5196" y="1625346"/>
            <a:ext cx="6446520" cy="533400"/>
          </a:xfrm>
          <a:prstGeom prst="rect">
            <a:avLst/>
          </a:prstGeom>
          <a:solidFill>
            <a:srgbClr val="F8F9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52628" y="1802892"/>
            <a:ext cx="178308" cy="178308"/>
          </a:xfrm>
          <a:prstGeom prst="roundRect">
            <a:avLst>
              <a:gd name="adj" fmla="val 50000"/>
            </a:avLst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2628" y="1802892"/>
            <a:ext cx="178308" cy="1783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8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9516" y="1625346"/>
            <a:ext cx="65151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40" b="1" i="0">
                <a:solidFill>
                  <a:srgbClr val="303A5D"/>
                </a:solidFill>
                <a:latin typeface="Segoe UI"/>
              </a:rPr>
              <a:t>4,5 г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385316" y="1769364"/>
            <a:ext cx="1577340" cy="24536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17520" y="1625346"/>
            <a:ext cx="82296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24" b="1" i="0">
                <a:solidFill>
                  <a:srgbClr val="717890"/>
                </a:solidFill>
                <a:latin typeface="Segoe UI"/>
              </a:rPr>
              <a:t>88 · 64 %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79876" y="1625346"/>
            <a:ext cx="68580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40" b="0" i="0">
                <a:solidFill>
                  <a:srgbClr val="303A5D"/>
                </a:solidFill>
                <a:latin typeface="Segoe UI"/>
              </a:rPr>
              <a:t>25 · 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34256" y="1625346"/>
            <a:ext cx="41148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40" b="0" i="0">
                <a:solidFill>
                  <a:srgbClr val="303A5D"/>
                </a:solidFill>
                <a:latin typeface="Segoe UI"/>
              </a:rPr>
              <a:t>14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14316" y="1625346"/>
            <a:ext cx="109728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40" b="0" i="0">
                <a:solidFill>
                  <a:srgbClr val="717890"/>
                </a:solidFill>
                <a:latin typeface="Segoe UI"/>
              </a:rPr>
              <a:t>29–48 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11596" y="1625346"/>
            <a:ext cx="82296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80" b="1" i="0">
                <a:solidFill>
                  <a:srgbClr val="1C2235"/>
                </a:solidFill>
                <a:latin typeface="Segoe UI"/>
              </a:rPr>
              <a:t>40 ₴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2628" y="2336292"/>
            <a:ext cx="178308" cy="178308"/>
          </a:xfrm>
          <a:prstGeom prst="roundRect">
            <a:avLst>
              <a:gd name="adj" fmla="val 50000"/>
            </a:avLst>
          </a:prstGeom>
          <a:solidFill>
            <a:srgbClr val="B7BAC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2628" y="2336292"/>
            <a:ext cx="178308" cy="1783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8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9516" y="2158746"/>
            <a:ext cx="65151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40" b="1" i="0">
                <a:solidFill>
                  <a:srgbClr val="303A5D"/>
                </a:solidFill>
                <a:latin typeface="Segoe UI"/>
              </a:rPr>
              <a:t>4 г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385316" y="2302764"/>
            <a:ext cx="699048" cy="245364"/>
          </a:xfrm>
          <a:prstGeom prst="rect">
            <a:avLst/>
          </a:prstGeom>
          <a:solidFill>
            <a:srgbClr val="8D93A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139228" y="2158746"/>
            <a:ext cx="82296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24" b="1" i="0">
                <a:solidFill>
                  <a:srgbClr val="717890"/>
                </a:solidFill>
                <a:latin typeface="Segoe UI"/>
              </a:rPr>
              <a:t>39 · 28 %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79876" y="2158746"/>
            <a:ext cx="68580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40" b="0" i="0">
                <a:solidFill>
                  <a:srgbClr val="303A5D"/>
                </a:solidFill>
                <a:latin typeface="Segoe UI"/>
              </a:rPr>
              <a:t>16 · 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34256" y="2158746"/>
            <a:ext cx="41148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40" b="0" i="0">
                <a:solidFill>
                  <a:srgbClr val="303A5D"/>
                </a:solidFill>
                <a:latin typeface="Segoe UI"/>
              </a:rPr>
              <a:t>11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14316" y="2158746"/>
            <a:ext cx="109728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40" b="0" i="0">
                <a:solidFill>
                  <a:srgbClr val="717890"/>
                </a:solidFill>
                <a:latin typeface="Segoe UI"/>
              </a:rPr>
              <a:t>29–98 ₴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11596" y="2158746"/>
            <a:ext cx="82296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80" b="1" i="0">
                <a:solidFill>
                  <a:srgbClr val="1C2235"/>
                </a:solidFill>
                <a:latin typeface="Segoe UI"/>
              </a:rPr>
              <a:t>61 ₴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25196" y="2692146"/>
            <a:ext cx="6446520" cy="533400"/>
          </a:xfrm>
          <a:prstGeom prst="rect">
            <a:avLst/>
          </a:prstGeom>
          <a:solidFill>
            <a:srgbClr val="F8F9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452628" y="2869692"/>
            <a:ext cx="178308" cy="178308"/>
          </a:xfrm>
          <a:prstGeom prst="roundRect">
            <a:avLst>
              <a:gd name="adj" fmla="val 50000"/>
            </a:avLst>
          </a:prstGeom>
          <a:solidFill>
            <a:srgbClr val="B7BAC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2628" y="2869692"/>
            <a:ext cx="178308" cy="1783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8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9516" y="2692146"/>
            <a:ext cx="65151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40" b="1" i="0">
                <a:solidFill>
                  <a:srgbClr val="303A5D"/>
                </a:solidFill>
                <a:latin typeface="Segoe UI"/>
              </a:rPr>
              <a:t>5 г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385316" y="2836164"/>
            <a:ext cx="89621" cy="245364"/>
          </a:xfrm>
          <a:prstGeom prst="rect">
            <a:avLst/>
          </a:prstGeom>
          <a:solidFill>
            <a:srgbClr val="8D93A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529801" y="2692146"/>
            <a:ext cx="82296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24" b="1" i="0">
                <a:solidFill>
                  <a:srgbClr val="717890"/>
                </a:solidFill>
                <a:latin typeface="Segoe UI"/>
              </a:rPr>
              <a:t>5 · 4 %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79876" y="2692146"/>
            <a:ext cx="68580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40" b="0" i="0">
                <a:solidFill>
                  <a:srgbClr val="303A5D"/>
                </a:solidFill>
                <a:latin typeface="Segoe UI"/>
              </a:rPr>
              <a:t>5 · 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334256" y="2692146"/>
            <a:ext cx="41148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40" b="0" i="0">
                <a:solidFill>
                  <a:srgbClr val="303A5D"/>
                </a:solidFill>
                <a:latin typeface="Segoe UI"/>
              </a:rPr>
              <a:t>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814316" y="2692146"/>
            <a:ext cx="109728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40" b="0" i="0">
                <a:solidFill>
                  <a:srgbClr val="717890"/>
                </a:solidFill>
                <a:latin typeface="Segoe UI"/>
              </a:rPr>
              <a:t>46–52 ₴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911596" y="2692146"/>
            <a:ext cx="82296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80" b="1" i="0">
                <a:solidFill>
                  <a:srgbClr val="1C2235"/>
                </a:solidFill>
                <a:latin typeface="Segoe UI"/>
              </a:rPr>
              <a:t>52 ₴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52628" y="3403092"/>
            <a:ext cx="178308" cy="178308"/>
          </a:xfrm>
          <a:prstGeom prst="roundRect">
            <a:avLst>
              <a:gd name="adj" fmla="val 50000"/>
            </a:avLst>
          </a:prstGeom>
          <a:solidFill>
            <a:srgbClr val="B7BAC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52628" y="3403092"/>
            <a:ext cx="178308" cy="1783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8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99516" y="3225546"/>
            <a:ext cx="65151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40" b="1" i="0">
                <a:solidFill>
                  <a:srgbClr val="303A5D"/>
                </a:solidFill>
                <a:latin typeface="Segoe UI"/>
              </a:rPr>
              <a:t>3 г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385316" y="3369564"/>
            <a:ext cx="71697" cy="245364"/>
          </a:xfrm>
          <a:prstGeom prst="rect">
            <a:avLst/>
          </a:prstGeom>
          <a:solidFill>
            <a:srgbClr val="8D93A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511877" y="3225546"/>
            <a:ext cx="82296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24" b="1" i="0">
                <a:solidFill>
                  <a:srgbClr val="717890"/>
                </a:solidFill>
                <a:latin typeface="Segoe UI"/>
              </a:rPr>
              <a:t>4 · 3 %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579876" y="3225546"/>
            <a:ext cx="68580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40" b="0" i="0">
                <a:solidFill>
                  <a:srgbClr val="303A5D"/>
                </a:solidFill>
                <a:latin typeface="Segoe UI"/>
              </a:rPr>
              <a:t>1 · 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334256" y="3225546"/>
            <a:ext cx="41148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40" b="0" i="0">
                <a:solidFill>
                  <a:srgbClr val="303A5D"/>
                </a:solidFill>
                <a:latin typeface="Segoe UI"/>
              </a:rPr>
              <a:t>4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814316" y="3225546"/>
            <a:ext cx="109728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40" b="0" i="0">
                <a:solidFill>
                  <a:srgbClr val="717890"/>
                </a:solidFill>
                <a:latin typeface="Segoe UI"/>
              </a:rPr>
              <a:t>30–32 ₴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911596" y="3225546"/>
            <a:ext cx="82296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80" b="1" i="0">
                <a:solidFill>
                  <a:srgbClr val="1C2235"/>
                </a:solidFill>
                <a:latin typeface="Segoe UI"/>
              </a:rPr>
              <a:t>30 ₴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25196" y="3758946"/>
            <a:ext cx="6446520" cy="533400"/>
          </a:xfrm>
          <a:prstGeom prst="rect">
            <a:avLst/>
          </a:prstGeom>
          <a:solidFill>
            <a:srgbClr val="F8F9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452628" y="3936492"/>
            <a:ext cx="178308" cy="178308"/>
          </a:xfrm>
          <a:prstGeom prst="roundRect">
            <a:avLst>
              <a:gd name="adj" fmla="val 50000"/>
            </a:avLst>
          </a:prstGeom>
          <a:solidFill>
            <a:srgbClr val="B7BAC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52628" y="3936492"/>
            <a:ext cx="178308" cy="1783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8" b="1" i="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99516" y="3758946"/>
            <a:ext cx="65151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40" b="1" i="0">
                <a:solidFill>
                  <a:srgbClr val="303A5D"/>
                </a:solidFill>
                <a:latin typeface="Segoe UI"/>
              </a:rPr>
              <a:t>2,7 г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385316" y="3902964"/>
            <a:ext cx="35848" cy="245364"/>
          </a:xfrm>
          <a:prstGeom prst="rect">
            <a:avLst/>
          </a:prstGeom>
          <a:solidFill>
            <a:srgbClr val="8D93A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476028" y="3758946"/>
            <a:ext cx="82296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24" b="1" i="0">
                <a:solidFill>
                  <a:srgbClr val="717890"/>
                </a:solidFill>
                <a:latin typeface="Segoe UI"/>
              </a:rPr>
              <a:t>2 · 1 %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579876" y="3758946"/>
            <a:ext cx="68580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40" b="0" i="0">
                <a:solidFill>
                  <a:srgbClr val="303A5D"/>
                </a:solidFill>
                <a:latin typeface="Segoe UI"/>
              </a:rPr>
              <a:t>2 · 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334256" y="3758946"/>
            <a:ext cx="41148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40" b="0" i="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814316" y="3758946"/>
            <a:ext cx="109728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40" b="0" i="0">
                <a:solidFill>
                  <a:srgbClr val="717890"/>
                </a:solidFill>
                <a:latin typeface="Segoe UI"/>
              </a:rPr>
              <a:t>51 ₴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911596" y="3758946"/>
            <a:ext cx="82296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80" b="1" i="0">
                <a:solidFill>
                  <a:srgbClr val="1C2235"/>
                </a:solidFill>
                <a:latin typeface="Segoe UI"/>
              </a:rPr>
              <a:t>51 ₴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995160" y="1268730"/>
            <a:ext cx="27432" cy="144018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104888" y="1282446"/>
            <a:ext cx="1714500" cy="10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 spc="30">
                <a:solidFill>
                  <a:srgbClr val="C4820A"/>
                </a:solidFill>
                <a:latin typeface="Segoe UI"/>
              </a:rPr>
              <a:t>НАША ПОЛИЦЯ ПРОТИ РИНКУ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995160" y="1508760"/>
            <a:ext cx="1728216" cy="6172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995160" y="1508760"/>
            <a:ext cx="34290" cy="617220"/>
          </a:xfrm>
          <a:prstGeom prst="rect">
            <a:avLst/>
          </a:prstGeom>
          <a:solidFill>
            <a:srgbClr val="2F7A3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091172" y="1536192"/>
            <a:ext cx="157734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1C2235"/>
                </a:solidFill>
                <a:latin typeface="Segoe UI"/>
              </a:rPr>
              <a:t>Wow ROLL Original · 2,5 г  ×3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091172" y="1680210"/>
            <a:ext cx="157734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88" b="1" i="0">
                <a:solidFill>
                  <a:srgbClr val="2F7A3E"/>
                </a:solidFill>
                <a:latin typeface="Segoe UI"/>
              </a:rPr>
              <a:t>наша полиця 30 ₴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091172" y="1831086"/>
            <a:ext cx="1577340" cy="2948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ринок поруч: 3 поз., типова 51 ₴ → наша нижча на 22 ₴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995160" y="2180844"/>
            <a:ext cx="1728216" cy="6172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995160" y="2180844"/>
            <a:ext cx="34290" cy="617220"/>
          </a:xfrm>
          <a:prstGeom prst="rect">
            <a:avLst/>
          </a:prstGeom>
          <a:solidFill>
            <a:srgbClr val="2F7A3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091172" y="2208276"/>
            <a:ext cx="157734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1C2235"/>
                </a:solidFill>
                <a:latin typeface="Segoe UI"/>
              </a:rPr>
              <a:t>Wow DOUBLE ROLL Original · 5 г  ×2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091172" y="2352294"/>
            <a:ext cx="157734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88" b="1" i="0">
                <a:solidFill>
                  <a:srgbClr val="2F7A3E"/>
                </a:solidFill>
                <a:latin typeface="Segoe UI"/>
              </a:rPr>
              <a:t>наша полиця 53 ₴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091172" y="2503170"/>
            <a:ext cx="1577340" cy="2948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ринок поруч: 47 поз., типова 42 ₴ → наша вища на 11 ₴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25196" y="4855464"/>
            <a:ext cx="829818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1">
                <a:solidFill>
                  <a:srgbClr val="717890"/>
                </a:solidFill>
                <a:latin typeface="Segoe UI"/>
              </a:rPr>
              <a:t>Каталоги мереж на zakaz.ua (METRO, NOVUS, Ашан, Зараз, МегаМаркет, Ultramarket, Епіцентр, Космос, Onde, Ідеал, Восторг, Клас, Таврія В, ЧудоМаркет, Торба, Grono) · 07.10.2026 · ціна — онлайн-полиця одного магазину мережі, діапазон — між мережами.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977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3977" cy="795528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95528"/>
            <a:ext cx="9143977" cy="41148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" y="178308"/>
            <a:ext cx="1042416" cy="4526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728216" y="205740"/>
            <a:ext cx="61722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1" i="0" spc="30">
                <a:solidFill>
                  <a:srgbClr val="FFC95C"/>
                </a:solidFill>
                <a:latin typeface="Segoe UI"/>
              </a:rPr>
              <a:t>СЕГМЕНТ · НОРІ-СНЕК У МІНІ-ПАКЕТІ · 49 ПОЗИЦІЙ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28216" y="377190"/>
            <a:ext cx="61722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20" b="1" i="0">
                <a:solidFill>
                  <a:srgbClr val="FFFFFF"/>
                </a:solidFill>
                <a:latin typeface="Segoe UI"/>
              </a:rPr>
              <a:t>Міні-пакет: каталог 1 з 2 — 29–52 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20990" y="301752"/>
            <a:ext cx="768096" cy="2263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360" b="1" i="0">
                <a:solidFill>
                  <a:srgbClr val="465382"/>
                </a:solidFill>
                <a:latin typeface="Segoe UI"/>
              </a:rPr>
              <a:t>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5196" y="918972"/>
            <a:ext cx="82981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72" b="0" i="0">
                <a:solidFill>
                  <a:srgbClr val="717890"/>
                </a:solidFill>
                <a:latin typeface="Segoe UI"/>
              </a:rPr>
              <a:t>Картка = лінійка бренда (бренд + вага пакета). Ціна — діапазон по мережах, де лінійка знайдена; смаки з однаковою упаковкою згруповано, кількість смаків — під ціною.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5196" y="1152144"/>
            <a:ext cx="1316736" cy="190652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5196" y="1152144"/>
            <a:ext cx="1316736" cy="2743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80060" y="1234440"/>
            <a:ext cx="1207008" cy="9052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3" name="Picture 12" descr="0482026555031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510" y="1255014"/>
            <a:ext cx="864108" cy="86410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93776" y="2194560"/>
            <a:ext cx="117957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4" b="1" i="0">
                <a:solidFill>
                  <a:srgbClr val="1C2235"/>
                </a:solidFill>
                <a:latin typeface="Segoe UI"/>
              </a:rPr>
              <a:t>Norris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" y="2331720"/>
            <a:ext cx="1179576" cy="2331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Рол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" y="2571750"/>
            <a:ext cx="1179576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0" b="1" i="0">
                <a:solidFill>
                  <a:srgbClr val="1C2235"/>
                </a:solidFill>
                <a:latin typeface="Segoe UI"/>
              </a:rPr>
              <a:t>30–32 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" y="2770632"/>
            <a:ext cx="1179576" cy="1234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3 г · 1 смак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" y="2894076"/>
            <a:ext cx="117957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NOVUS · Onde +2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24228" y="1152144"/>
            <a:ext cx="1316736" cy="190652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824228" y="1152144"/>
            <a:ext cx="1316736" cy="2743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879092" y="1234440"/>
            <a:ext cx="1207008" cy="9052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2" name="Picture 21" descr="08809151909437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0542" y="1255014"/>
            <a:ext cx="864108" cy="864108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892808" y="2194560"/>
            <a:ext cx="117957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4" b="1" i="0">
                <a:solidFill>
                  <a:srgbClr val="1C2235"/>
                </a:solidFill>
                <a:latin typeface="Segoe UI"/>
              </a:rPr>
              <a:t>Metro Chef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92808" y="2331720"/>
            <a:ext cx="1179576" cy="2331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Традиційні, з оливковою олією, зі смаком кімчі +1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92808" y="2571750"/>
            <a:ext cx="1179576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0" b="1" i="0">
                <a:solidFill>
                  <a:srgbClr val="1C2235"/>
                </a:solidFill>
                <a:latin typeface="Segoe UI"/>
              </a:rPr>
              <a:t>31 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92808" y="2770632"/>
            <a:ext cx="1179576" cy="1234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4,5 г · 4 смаки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92808" y="2894076"/>
            <a:ext cx="117957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METRO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23260" y="1152144"/>
            <a:ext cx="1316736" cy="190652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23260" y="1152144"/>
            <a:ext cx="1316736" cy="2743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78124" y="1234440"/>
            <a:ext cx="1207008" cy="9052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1" name="Picture 30" descr="08809094842112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49574" y="1255014"/>
            <a:ext cx="864108" cy="864108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3291840" y="2194560"/>
            <a:ext cx="117957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4" b="1" i="0">
                <a:solidFill>
                  <a:srgbClr val="1C2235"/>
                </a:solidFill>
                <a:latin typeface="Segoe UI"/>
              </a:rPr>
              <a:t>Ock Dong Ja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91840" y="2331720"/>
            <a:ext cx="1179576" cy="2331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Shin-Ock-Dong-Ja оригінальний смак, чорниця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91840" y="2571750"/>
            <a:ext cx="1179576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0" b="1" i="0">
                <a:solidFill>
                  <a:srgbClr val="1C2235"/>
                </a:solidFill>
                <a:latin typeface="Segoe UI"/>
              </a:rPr>
              <a:t>29–49 ₴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91840" y="2770632"/>
            <a:ext cx="1179576" cy="1234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4 г · 2 смаки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91840" y="2894076"/>
            <a:ext cx="117957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Ашан · Зараз +1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622292" y="1152144"/>
            <a:ext cx="1316736" cy="190652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622292" y="1152144"/>
            <a:ext cx="1316736" cy="2743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677156" y="1234440"/>
            <a:ext cx="1207008" cy="9052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0" name="Picture 39" descr="0880909484246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8606" y="1255014"/>
            <a:ext cx="864108" cy="864108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4690872" y="2194560"/>
            <a:ext cx="117957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4" b="1" i="0">
                <a:solidFill>
                  <a:srgbClr val="1C2235"/>
                </a:solidFill>
                <a:latin typeface="Segoe UI"/>
              </a:rPr>
              <a:t>Ock Dong Ja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90872" y="2331720"/>
            <a:ext cx="1179576" cy="2331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Гострий, з оливковою олією, з васабі +2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90872" y="2571750"/>
            <a:ext cx="1179576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0" b="1" i="0">
                <a:solidFill>
                  <a:srgbClr val="1C2235"/>
                </a:solidFill>
                <a:latin typeface="Segoe UI"/>
              </a:rPr>
              <a:t>29–44 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90872" y="2770632"/>
            <a:ext cx="1179576" cy="1234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4,5 г · 5 смаків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90872" y="2894076"/>
            <a:ext cx="117957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Ашан · Зараз +1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021324" y="1152144"/>
            <a:ext cx="1316736" cy="190652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021324" y="1152144"/>
            <a:ext cx="1316736" cy="2743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076188" y="1234440"/>
            <a:ext cx="1207008" cy="9052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9" name="Picture 48" descr="04820265550333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47638" y="1255014"/>
            <a:ext cx="864108" cy="864108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6089904" y="2194560"/>
            <a:ext cx="117957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4" b="1" i="0">
                <a:solidFill>
                  <a:srgbClr val="1C2235"/>
                </a:solidFill>
                <a:latin typeface="Segoe UI"/>
              </a:rPr>
              <a:t>Norris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89904" y="2331720"/>
            <a:ext cx="1179576" cy="2331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Теріякі, класичні, з васабі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089904" y="2571750"/>
            <a:ext cx="1179576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0" b="1" i="0">
                <a:solidFill>
                  <a:srgbClr val="1C2235"/>
                </a:solidFill>
                <a:latin typeface="Segoe UI"/>
              </a:rPr>
              <a:t>33–47 ₴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089904" y="2770632"/>
            <a:ext cx="1179576" cy="1234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4,5 г · 3 смаки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089904" y="2894076"/>
            <a:ext cx="117957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Епіцентр · Onde +5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420356" y="1152144"/>
            <a:ext cx="1316736" cy="190652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420356" y="1152144"/>
            <a:ext cx="1316736" cy="2743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475220" y="1234440"/>
            <a:ext cx="1207008" cy="9052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58" name="Picture 57" descr="04820178464475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46670" y="1255014"/>
            <a:ext cx="864108" cy="864108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7488936" y="2194560"/>
            <a:ext cx="117957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4" b="1" i="0">
                <a:solidFill>
                  <a:srgbClr val="1C2235"/>
                </a:solidFill>
                <a:latin typeface="Segoe UI"/>
              </a:rPr>
              <a:t>Royal Tiger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488936" y="2331720"/>
            <a:ext cx="1179576" cy="2331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Традиційний, зі смаком васабі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488936" y="2571750"/>
            <a:ext cx="1179576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0" b="1" i="0">
                <a:solidFill>
                  <a:srgbClr val="1C2235"/>
                </a:solidFill>
                <a:latin typeface="Segoe UI"/>
              </a:rPr>
              <a:t>40 ₴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488936" y="2770632"/>
            <a:ext cx="1179576" cy="1234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4 г · 2 смаки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488936" y="2894076"/>
            <a:ext cx="117957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Ідеал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25196" y="3099816"/>
            <a:ext cx="1316736" cy="190652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425196" y="3099816"/>
            <a:ext cx="1316736" cy="2743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480060" y="3182112"/>
            <a:ext cx="1207008" cy="9052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67" name="Picture 66" descr="08809178815087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1510" y="3202686"/>
            <a:ext cx="864108" cy="864108"/>
          </a:xfrm>
          <a:prstGeom prst="rect">
            <a:avLst/>
          </a:prstGeom>
        </p:spPr>
      </p:pic>
      <p:sp>
        <p:nvSpPr>
          <p:cNvPr id="68" name="TextBox 67"/>
          <p:cNvSpPr txBox="1"/>
          <p:nvPr/>
        </p:nvSpPr>
        <p:spPr>
          <a:xfrm>
            <a:off x="493776" y="4142232"/>
            <a:ext cx="117957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4" b="1" i="0">
                <a:solidFill>
                  <a:srgbClr val="1C2235"/>
                </a:solidFill>
                <a:latin typeface="Segoe UI"/>
              </a:rPr>
              <a:t>Humanwell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93776" y="4279392"/>
            <a:ext cx="1179576" cy="2331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Зелений чай, гострий кімчі, дитячі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93776" y="4519422"/>
            <a:ext cx="1179576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0" b="1" i="0">
                <a:solidFill>
                  <a:srgbClr val="1C2235"/>
                </a:solidFill>
                <a:latin typeface="Segoe UI"/>
              </a:rPr>
              <a:t>40–42 ₴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93776" y="4718304"/>
            <a:ext cx="1179576" cy="1234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4 г · 3 смаки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93776" y="4841748"/>
            <a:ext cx="117957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Ашан · Космос +1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824228" y="3099816"/>
            <a:ext cx="1316736" cy="190652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1824228" y="3099816"/>
            <a:ext cx="1316736" cy="2743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1879092" y="3182112"/>
            <a:ext cx="1207008" cy="9052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76" name="Picture 75" descr="05907381896510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50542" y="3202686"/>
            <a:ext cx="864108" cy="864108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1892808" y="4142232"/>
            <a:ext cx="117957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4" b="1" i="0">
                <a:solidFill>
                  <a:srgbClr val="1C2235"/>
                </a:solidFill>
                <a:latin typeface="Segoe UI"/>
              </a:rPr>
              <a:t>Akura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892808" y="4279392"/>
            <a:ext cx="1179576" cy="2331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Том Ям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892808" y="4519422"/>
            <a:ext cx="1179576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0" b="1" i="0">
                <a:solidFill>
                  <a:srgbClr val="1C2235"/>
                </a:solidFill>
                <a:latin typeface="Segoe UI"/>
              </a:rPr>
              <a:t>42 ₴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892808" y="4718304"/>
            <a:ext cx="1179576" cy="1234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4 г · 1 смак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892808" y="4841748"/>
            <a:ext cx="117957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Восторг · Клас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223260" y="3099816"/>
            <a:ext cx="1316736" cy="190652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3223260" y="3099816"/>
            <a:ext cx="1316736" cy="2743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3278124" y="3182112"/>
            <a:ext cx="1207008" cy="9052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85" name="Picture 84" descr="05907381896565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49574" y="3202686"/>
            <a:ext cx="864108" cy="864108"/>
          </a:xfrm>
          <a:prstGeom prst="rect">
            <a:avLst/>
          </a:prstGeom>
        </p:spPr>
      </p:pic>
      <p:sp>
        <p:nvSpPr>
          <p:cNvPr id="86" name="TextBox 85"/>
          <p:cNvSpPr txBox="1"/>
          <p:nvPr/>
        </p:nvSpPr>
        <p:spPr>
          <a:xfrm>
            <a:off x="3291840" y="4142232"/>
            <a:ext cx="117957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4" b="1" i="0">
                <a:solidFill>
                  <a:srgbClr val="1C2235"/>
                </a:solidFill>
                <a:latin typeface="Segoe UI"/>
              </a:rPr>
              <a:t>Akura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291840" y="4279392"/>
            <a:ext cx="1179576" cy="2331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З смак український борщ, tрадиційний +3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291840" y="4519422"/>
            <a:ext cx="1179576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0" b="1" i="0">
                <a:solidFill>
                  <a:srgbClr val="1C2235"/>
                </a:solidFill>
                <a:latin typeface="Segoe UI"/>
              </a:rPr>
              <a:t>37–44 ₴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291840" y="4718304"/>
            <a:ext cx="1179576" cy="1234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4,5 г · 5 смаків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291840" y="4841748"/>
            <a:ext cx="117957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Епіцентр · Восторг +3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622292" y="3099816"/>
            <a:ext cx="1316736" cy="190652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4622292" y="3099816"/>
            <a:ext cx="1316736" cy="2743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4677156" y="3182112"/>
            <a:ext cx="1207008" cy="9052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94" name="Picture 93" descr="08809151909239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48606" y="3202686"/>
            <a:ext cx="864108" cy="864108"/>
          </a:xfrm>
          <a:prstGeom prst="rect">
            <a:avLst/>
          </a:prstGeom>
        </p:spPr>
      </p:pic>
      <p:sp>
        <p:nvSpPr>
          <p:cNvPr id="95" name="TextBox 94"/>
          <p:cNvSpPr txBox="1"/>
          <p:nvPr/>
        </p:nvSpPr>
        <p:spPr>
          <a:xfrm>
            <a:off x="4690872" y="4142232"/>
            <a:ext cx="117957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4" b="1" i="0">
                <a:solidFill>
                  <a:srgbClr val="1C2235"/>
                </a:solidFill>
                <a:latin typeface="Segoe UI"/>
              </a:rPr>
              <a:t>Haelove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690872" y="4279392"/>
            <a:ext cx="1179576" cy="2331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Зі смаком кімчі, традиційний, зі смаком васабі +1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690872" y="4519422"/>
            <a:ext cx="1179576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0" b="1" i="0">
                <a:solidFill>
                  <a:srgbClr val="1C2235"/>
                </a:solidFill>
                <a:latin typeface="Segoe UI"/>
              </a:rPr>
              <a:t>29–46 ₴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4690872" y="4718304"/>
            <a:ext cx="1179576" cy="1234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4,5 г · 4 смаки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4690872" y="4841748"/>
            <a:ext cx="117957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NOVUS · Ultramarket +5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021324" y="3099816"/>
            <a:ext cx="1316736" cy="190652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6021324" y="3099816"/>
            <a:ext cx="1316736" cy="2743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6076188" y="3182112"/>
            <a:ext cx="1207008" cy="9052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03" name="Picture 102" descr="08936181660790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47638" y="3202686"/>
            <a:ext cx="864108" cy="864108"/>
          </a:xfrm>
          <a:prstGeom prst="rect">
            <a:avLst/>
          </a:prstGeom>
        </p:spPr>
      </p:pic>
      <p:sp>
        <p:nvSpPr>
          <p:cNvPr id="104" name="TextBox 103"/>
          <p:cNvSpPr txBox="1"/>
          <p:nvPr/>
        </p:nvSpPr>
        <p:spPr>
          <a:xfrm>
            <a:off x="6089904" y="4142232"/>
            <a:ext cx="117957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4" b="1" i="0">
                <a:solidFill>
                  <a:srgbClr val="1C2235"/>
                </a:solidFill>
                <a:latin typeface="Segoe UI"/>
              </a:rPr>
              <a:t>Ямчан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6089904" y="4279392"/>
            <a:ext cx="1179576" cy="2331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Original, kimchi, teriyaki +1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6089904" y="4519422"/>
            <a:ext cx="1179576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0" b="1" i="0">
                <a:solidFill>
                  <a:srgbClr val="1C2235"/>
                </a:solidFill>
                <a:latin typeface="Segoe UI"/>
              </a:rPr>
              <a:t>44–48 ₴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6089904" y="4718304"/>
            <a:ext cx="1179576" cy="1234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4,5 г · 4 смаки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6089904" y="4841748"/>
            <a:ext cx="117957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Космос · ЧудоМаркет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7420356" y="3099816"/>
            <a:ext cx="1316736" cy="190652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7420356" y="3099816"/>
            <a:ext cx="1316736" cy="2743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7475220" y="3182112"/>
            <a:ext cx="1207008" cy="9052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12" name="Picture 111" descr="08801005198165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646670" y="3202686"/>
            <a:ext cx="864108" cy="864108"/>
          </a:xfrm>
          <a:prstGeom prst="rect">
            <a:avLst/>
          </a:prstGeom>
        </p:spPr>
      </p:pic>
      <p:sp>
        <p:nvSpPr>
          <p:cNvPr id="113" name="TextBox 112"/>
          <p:cNvSpPr txBox="1"/>
          <p:nvPr/>
        </p:nvSpPr>
        <p:spPr>
          <a:xfrm>
            <a:off x="7488936" y="4142232"/>
            <a:ext cx="117957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4" b="1" i="0">
                <a:solidFill>
                  <a:srgbClr val="1C2235"/>
                </a:solidFill>
                <a:latin typeface="Segoe UI"/>
              </a:rPr>
              <a:t>Sempio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7488936" y="4279392"/>
            <a:ext cx="1179576" cy="2331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Parae Gim солоний, jaerae gim в прянощах +2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7488936" y="4519422"/>
            <a:ext cx="1179576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0" b="1" i="0">
                <a:solidFill>
                  <a:srgbClr val="1C2235"/>
                </a:solidFill>
                <a:latin typeface="Segoe UI"/>
              </a:rPr>
              <a:t>46–52 ₴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488936" y="4718304"/>
            <a:ext cx="1179576" cy="1234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5 г · 4 смаки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7488936" y="4841748"/>
            <a:ext cx="117957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Ашан · Grono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977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3977" cy="795528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95528"/>
            <a:ext cx="9143977" cy="41148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" y="178308"/>
            <a:ext cx="1042416" cy="4526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728216" y="205740"/>
            <a:ext cx="61722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1" i="0" spc="30">
                <a:solidFill>
                  <a:srgbClr val="FFC95C"/>
                </a:solidFill>
                <a:latin typeface="Segoe UI"/>
              </a:rPr>
              <a:t>СЕГМЕНТ · НОРІ-СНЕК У МІНІ-ПАКЕТІ · 49 ПОЗИЦІЙ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28216" y="377190"/>
            <a:ext cx="61722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20" b="1" i="0">
                <a:solidFill>
                  <a:srgbClr val="FFFFFF"/>
                </a:solidFill>
                <a:latin typeface="Segoe UI"/>
              </a:rPr>
              <a:t>Міні-пакет: каталог 2 з 2 — 51–98 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20990" y="301752"/>
            <a:ext cx="768096" cy="2263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360" b="1" i="0">
                <a:solidFill>
                  <a:srgbClr val="465382"/>
                </a:solidFill>
                <a:latin typeface="Segoe UI"/>
              </a:rPr>
              <a:t>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5196" y="918972"/>
            <a:ext cx="82981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72" b="0" i="0">
                <a:solidFill>
                  <a:srgbClr val="717890"/>
                </a:solidFill>
                <a:latin typeface="Segoe UI"/>
              </a:rPr>
              <a:t>Картка = лінійка бренда (бренд + вага пакета). Ціна — діапазон по мережах, де лінійка знайдена; смаки з однаковою упаковкою згруповано, кількість смаків — під ціною.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5196" y="1152144"/>
            <a:ext cx="1316736" cy="190652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5196" y="1152144"/>
            <a:ext cx="1316736" cy="2743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80060" y="1234440"/>
            <a:ext cx="1207008" cy="9052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3" name="Picture 12" descr="0088329861794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510" y="1255014"/>
            <a:ext cx="864108" cy="86410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93776" y="2194560"/>
            <a:ext cx="117957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4" b="1" i="0">
                <a:solidFill>
                  <a:srgbClr val="1C2235"/>
                </a:solidFill>
                <a:latin typeface="Segoe UI"/>
              </a:rPr>
              <a:t>Dong Won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" y="2331720"/>
            <a:ext cx="1179576" cy="2331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Kimmy зі смаком кімчі, kimmy зі смаком васабі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" y="2571750"/>
            <a:ext cx="1179576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0" b="1" i="0">
                <a:solidFill>
                  <a:srgbClr val="1C2235"/>
                </a:solidFill>
                <a:latin typeface="Segoe UI"/>
              </a:rPr>
              <a:t>51 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" y="2770632"/>
            <a:ext cx="1179576" cy="1234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2,7 г · 2 смаки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" y="2894076"/>
            <a:ext cx="117957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ЧудоМаркет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24228" y="1152144"/>
            <a:ext cx="1316736" cy="190652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824228" y="1152144"/>
            <a:ext cx="1316736" cy="2743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879092" y="1234440"/>
            <a:ext cx="1207008" cy="9052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2" name="Picture 21" descr="0880112854252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0542" y="1255014"/>
            <a:ext cx="864108" cy="864108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892808" y="2194560"/>
            <a:ext cx="117957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4" b="1" i="0">
                <a:solidFill>
                  <a:srgbClr val="1C2235"/>
                </a:solidFill>
                <a:latin typeface="Segoe UI"/>
              </a:rPr>
              <a:t>Paldo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92808" y="2331720"/>
            <a:ext cx="1179576" cy="2331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Roasted Seaweed оригінальний смак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92808" y="2571750"/>
            <a:ext cx="1179576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0" b="1" i="0">
                <a:solidFill>
                  <a:srgbClr val="1C2235"/>
                </a:solidFill>
                <a:latin typeface="Segoe UI"/>
              </a:rPr>
              <a:t>52 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92808" y="2770632"/>
            <a:ext cx="1179576" cy="1234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5 г · 1 смак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92808" y="2894076"/>
            <a:ext cx="117957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Onde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23260" y="1152144"/>
            <a:ext cx="1316736" cy="190652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23260" y="1152144"/>
            <a:ext cx="1316736" cy="2743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78124" y="1234440"/>
            <a:ext cx="1207008" cy="9052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1" name="Picture 30" descr="08809395750017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49574" y="1255014"/>
            <a:ext cx="864108" cy="864108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3291840" y="2194560"/>
            <a:ext cx="117957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4" b="1" i="0">
                <a:solidFill>
                  <a:srgbClr val="1C2235"/>
                </a:solidFill>
                <a:latin typeface="Segoe UI"/>
              </a:rPr>
              <a:t>Kimnori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91840" y="2331720"/>
            <a:ext cx="1179576" cy="2331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Kwang Original, spicy, teriyaki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91840" y="2571750"/>
            <a:ext cx="1179576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0" b="1" i="0">
                <a:solidFill>
                  <a:srgbClr val="1C2235"/>
                </a:solidFill>
                <a:latin typeface="Segoe UI"/>
              </a:rPr>
              <a:t>77–98 ₴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91840" y="2770632"/>
            <a:ext cx="1179576" cy="1234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4 г · 3 смаки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91840" y="2894076"/>
            <a:ext cx="117957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Ultramarket · Ашан +3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622292" y="1152144"/>
            <a:ext cx="1316736" cy="190652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622292" y="1152144"/>
            <a:ext cx="1316736" cy="2743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677156" y="1234440"/>
            <a:ext cx="1207008" cy="9052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0" name="Picture 39" descr="05021554005315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8606" y="1255014"/>
            <a:ext cx="864108" cy="864108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4690872" y="2194560"/>
            <a:ext cx="117957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4" b="1" i="0">
                <a:solidFill>
                  <a:srgbClr val="1C2235"/>
                </a:solidFill>
                <a:latin typeface="Segoe UI"/>
              </a:rPr>
              <a:t>Clearspring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90872" y="2331720"/>
            <a:ext cx="1179576" cy="2331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З морських водоростей чилі органічні +4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90872" y="2571750"/>
            <a:ext cx="1179576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0" b="1" i="0">
                <a:solidFill>
                  <a:srgbClr val="1C2235"/>
                </a:solidFill>
                <a:latin typeface="Segoe UI"/>
              </a:rPr>
              <a:t>84–89 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90872" y="2770632"/>
            <a:ext cx="1179576" cy="1234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4 г · 5 смаків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90872" y="2894076"/>
            <a:ext cx="117957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Ultramarket · Зараз +3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977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3977" cy="795528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95528"/>
            <a:ext cx="9143977" cy="41148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" y="178308"/>
            <a:ext cx="1042416" cy="4526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728216" y="205740"/>
            <a:ext cx="61722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1" i="0" spc="30">
                <a:solidFill>
                  <a:srgbClr val="FFC95C"/>
                </a:solidFill>
                <a:latin typeface="Segoe UI"/>
              </a:rPr>
              <a:t>СЕГМЕНТ · НОРІ-СНЕК У МІНІ-ПАКЕТІ · ДЕ ПРОДАЄТЬСЯ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28216" y="377190"/>
            <a:ext cx="61722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20" b="1" i="0">
                <a:solidFill>
                  <a:srgbClr val="FFFFFF"/>
                </a:solidFill>
                <a:latin typeface="Segoe UI"/>
              </a:rPr>
              <a:t>Міні-пакет: де продається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20990" y="301752"/>
            <a:ext cx="768096" cy="2263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360" b="1" i="0">
                <a:solidFill>
                  <a:srgbClr val="465382"/>
                </a:solidFill>
                <a:latin typeface="Segoe UI"/>
              </a:rPr>
              <a:t>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5196" y="918972"/>
            <a:ext cx="82981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72" b="0" i="0">
                <a:solidFill>
                  <a:srgbClr val="717890"/>
                </a:solidFill>
                <a:latin typeface="Segoe UI"/>
              </a:rPr>
              <a:t>Скільки позицій цього сегмента стоїть у кожній мережі, які бренди та за яку ціну упаковки; праворуч — мережі за типом: національні — головний цільовий канал, регіональні — вхід, без позицій — вільна полиця.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" y="1337310"/>
            <a:ext cx="20574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 spc="40">
                <a:solidFill>
                  <a:srgbClr val="717890"/>
                </a:solidFill>
                <a:latin typeface="Segoe UI"/>
              </a:rPr>
              <a:t>МЕРЕЖА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74470" y="1337310"/>
            <a:ext cx="20574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 spc="40">
                <a:solidFill>
                  <a:srgbClr val="717890"/>
                </a:solidFill>
                <a:latin typeface="Segoe UI"/>
              </a:rPr>
              <a:t>ПОЗИЦІЙ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1337310"/>
            <a:ext cx="20574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 spc="40">
                <a:solidFill>
                  <a:srgbClr val="717890"/>
                </a:solidFill>
                <a:latin typeface="Segoe UI"/>
              </a:rPr>
              <a:t>БРЕНДИ · ЦІНА УПАКОВКИ, ₴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5196" y="1543050"/>
            <a:ext cx="4800600" cy="203596"/>
          </a:xfrm>
          <a:prstGeom prst="rect">
            <a:avLst/>
          </a:prstGeom>
          <a:solidFill>
            <a:srgbClr val="F8F9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3776" y="1543050"/>
            <a:ext cx="960120" cy="2035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68" b="1" i="0">
                <a:solidFill>
                  <a:srgbClr val="303A5D"/>
                </a:solidFill>
                <a:latin typeface="Segoe UI"/>
              </a:rPr>
              <a:t>Ашан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474470" y="1593949"/>
            <a:ext cx="1028700" cy="101798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51176" y="1543050"/>
            <a:ext cx="342900" cy="2035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52" b="1" i="0">
                <a:solidFill>
                  <a:srgbClr val="303A5D"/>
                </a:solidFill>
                <a:latin typeface="Segoe UI"/>
              </a:rPr>
              <a:t>18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80360" y="1559337"/>
            <a:ext cx="2331720" cy="1017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1" i="0">
                <a:solidFill>
                  <a:srgbClr val="1C2235"/>
                </a:solidFill>
                <a:latin typeface="Segoe UI"/>
              </a:rPr>
              <a:t>Ock Dong Ja 6, Haelove 4, Humanwell 3, Kimnori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80360" y="1648920"/>
            <a:ext cx="2331720" cy="814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31–80 ₴ · типова 41 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" y="1746646"/>
            <a:ext cx="960120" cy="2035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68" b="1" i="0">
                <a:solidFill>
                  <a:srgbClr val="303A5D"/>
                </a:solidFill>
                <a:latin typeface="Segoe UI"/>
              </a:rPr>
              <a:t>Зараз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74470" y="1797546"/>
            <a:ext cx="857250" cy="101798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379726" y="1746646"/>
            <a:ext cx="342900" cy="2035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52" b="1" i="0">
                <a:solidFill>
                  <a:srgbClr val="303A5D"/>
                </a:solidFill>
                <a:latin typeface="Segoe UI"/>
              </a:rPr>
              <a:t>15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80360" y="1762934"/>
            <a:ext cx="2331720" cy="1017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1" i="0">
                <a:solidFill>
                  <a:srgbClr val="1C2235"/>
                </a:solidFill>
                <a:latin typeface="Segoe UI"/>
              </a:rPr>
              <a:t>Ock Dong Ja 7, Haelove 4, Clearspring 3, Kimnori 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80360" y="1852517"/>
            <a:ext cx="2331720" cy="814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31–89 ₴ · типова 40 ₴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5196" y="1950243"/>
            <a:ext cx="4800600" cy="203596"/>
          </a:xfrm>
          <a:prstGeom prst="rect">
            <a:avLst/>
          </a:prstGeom>
          <a:solidFill>
            <a:srgbClr val="F8F9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93776" y="1950243"/>
            <a:ext cx="960120" cy="2035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68" b="1" i="0">
                <a:solidFill>
                  <a:srgbClr val="303A5D"/>
                </a:solidFill>
                <a:latin typeface="Segoe UI"/>
              </a:rPr>
              <a:t>Onde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474470" y="2001142"/>
            <a:ext cx="800100" cy="101798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322576" y="1950243"/>
            <a:ext cx="342900" cy="2035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52" b="1" i="0">
                <a:solidFill>
                  <a:srgbClr val="303A5D"/>
                </a:solidFill>
                <a:latin typeface="Segoe UI"/>
              </a:rPr>
              <a:t>14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80360" y="1966531"/>
            <a:ext cx="2331720" cy="1017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1" i="0">
                <a:solidFill>
                  <a:srgbClr val="1C2235"/>
                </a:solidFill>
                <a:latin typeface="Segoe UI"/>
              </a:rPr>
              <a:t>Norris 4, Ock Dong Ja 4, Haelove 3, Clearspring 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80360" y="2056114"/>
            <a:ext cx="2331720" cy="814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30–88 ₴ · типова 38 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3776" y="2153840"/>
            <a:ext cx="960120" cy="2035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68" b="1" i="0">
                <a:solidFill>
                  <a:srgbClr val="303A5D"/>
                </a:solidFill>
                <a:latin typeface="Segoe UI"/>
              </a:rPr>
              <a:t>Ultramarket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474470" y="2204739"/>
            <a:ext cx="571500" cy="101798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093976" y="2153840"/>
            <a:ext cx="342900" cy="2035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52" b="1" i="0">
                <a:solidFill>
                  <a:srgbClr val="303A5D"/>
                </a:solidFill>
                <a:latin typeface="Segoe UI"/>
              </a:rPr>
              <a:t>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880360" y="2170128"/>
            <a:ext cx="2331720" cy="1017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1" i="0">
                <a:solidFill>
                  <a:srgbClr val="1C2235"/>
                </a:solidFill>
                <a:latin typeface="Segoe UI"/>
              </a:rPr>
              <a:t>Haelove 4, Kimnori 3, Clearspring 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880360" y="2259711"/>
            <a:ext cx="2331720" cy="814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40–89 ₴ · типова 80 ₴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5196" y="2357437"/>
            <a:ext cx="4800600" cy="203596"/>
          </a:xfrm>
          <a:prstGeom prst="rect">
            <a:avLst/>
          </a:prstGeom>
          <a:solidFill>
            <a:srgbClr val="F8F9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93776" y="2357437"/>
            <a:ext cx="960120" cy="2035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68" b="1" i="0">
                <a:solidFill>
                  <a:srgbClr val="303A5D"/>
                </a:solidFill>
                <a:latin typeface="Segoe UI"/>
              </a:rPr>
              <a:t>МегаМаркет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474470" y="2408336"/>
            <a:ext cx="571500" cy="101798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093976" y="2357437"/>
            <a:ext cx="342900" cy="2035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52" b="1" i="0">
                <a:solidFill>
                  <a:srgbClr val="303A5D"/>
                </a:solidFill>
                <a:latin typeface="Segoe UI"/>
              </a:rPr>
              <a:t>10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880360" y="2373725"/>
            <a:ext cx="2331720" cy="1017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1" i="0">
                <a:solidFill>
                  <a:srgbClr val="1C2235"/>
                </a:solidFill>
                <a:latin typeface="Segoe UI"/>
              </a:rPr>
              <a:t>Haelove 4, Kimnori 3, Clearspring 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880360" y="2463307"/>
            <a:ext cx="2331720" cy="814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40–89 ₴ · типова 80 ₴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93776" y="2561034"/>
            <a:ext cx="960120" cy="2035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68" b="1" i="0">
                <a:solidFill>
                  <a:srgbClr val="303A5D"/>
                </a:solidFill>
                <a:latin typeface="Segoe UI"/>
              </a:rPr>
              <a:t>Космос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474470" y="2611933"/>
            <a:ext cx="571500" cy="101798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093976" y="2561034"/>
            <a:ext cx="342900" cy="2035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52" b="1" i="0">
                <a:solidFill>
                  <a:srgbClr val="303A5D"/>
                </a:solidFill>
                <a:latin typeface="Segoe UI"/>
              </a:rPr>
              <a:t>10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880360" y="2577322"/>
            <a:ext cx="2331720" cy="1017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1" i="0">
                <a:solidFill>
                  <a:srgbClr val="1C2235"/>
                </a:solidFill>
                <a:latin typeface="Segoe UI"/>
              </a:rPr>
              <a:t>Ямчан 4, Kimnori 3, Norris 2, Humanwell 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880360" y="2666904"/>
            <a:ext cx="2331720" cy="814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36–80 ₴ · типова 46 ₴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25196" y="2764631"/>
            <a:ext cx="4800600" cy="203596"/>
          </a:xfrm>
          <a:prstGeom prst="rect">
            <a:avLst/>
          </a:prstGeom>
          <a:solidFill>
            <a:srgbClr val="F8F9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93776" y="2764631"/>
            <a:ext cx="960120" cy="2035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68" b="1" i="0">
                <a:solidFill>
                  <a:srgbClr val="303A5D"/>
                </a:solidFill>
                <a:latin typeface="Segoe UI"/>
              </a:rPr>
              <a:t>Восторг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474470" y="2815530"/>
            <a:ext cx="571500" cy="101798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093976" y="2764631"/>
            <a:ext cx="342900" cy="2035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52" b="1" i="0">
                <a:solidFill>
                  <a:srgbClr val="303A5D"/>
                </a:solidFill>
                <a:latin typeface="Segoe UI"/>
              </a:rPr>
              <a:t>10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880360" y="2780919"/>
            <a:ext cx="2331720" cy="1017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1" i="0">
                <a:solidFill>
                  <a:srgbClr val="1C2235"/>
                </a:solidFill>
                <a:latin typeface="Segoe UI"/>
              </a:rPr>
              <a:t>Akura 6, Norris 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880360" y="2870501"/>
            <a:ext cx="2331720" cy="814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30–42 ₴ · типова 42 ₴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93776" y="2968228"/>
            <a:ext cx="960120" cy="2035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68" b="1" i="0">
                <a:solidFill>
                  <a:srgbClr val="303A5D"/>
                </a:solidFill>
                <a:latin typeface="Segoe UI"/>
              </a:rPr>
              <a:t>Клас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474470" y="3019127"/>
            <a:ext cx="571500" cy="101798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093976" y="2968228"/>
            <a:ext cx="342900" cy="2035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52" b="1" i="0">
                <a:solidFill>
                  <a:srgbClr val="303A5D"/>
                </a:solidFill>
                <a:latin typeface="Segoe UI"/>
              </a:rPr>
              <a:t>10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880360" y="2984515"/>
            <a:ext cx="2331720" cy="1017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1" i="0">
                <a:solidFill>
                  <a:srgbClr val="1C2235"/>
                </a:solidFill>
                <a:latin typeface="Segoe UI"/>
              </a:rPr>
              <a:t>Akura 6, Norris 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880360" y="3074098"/>
            <a:ext cx="2331720" cy="814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30–42 ₴ · типова 42 ₴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25196" y="3171825"/>
            <a:ext cx="4800600" cy="203596"/>
          </a:xfrm>
          <a:prstGeom prst="rect">
            <a:avLst/>
          </a:prstGeom>
          <a:solidFill>
            <a:srgbClr val="F8F9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93776" y="3171825"/>
            <a:ext cx="960120" cy="2035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68" b="1" i="0">
                <a:solidFill>
                  <a:srgbClr val="303A5D"/>
                </a:solidFill>
                <a:latin typeface="Segoe UI"/>
              </a:rPr>
              <a:t>Епіцентр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474470" y="3222724"/>
            <a:ext cx="514350" cy="101798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036826" y="3171825"/>
            <a:ext cx="342900" cy="2035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52" b="1" i="0">
                <a:solidFill>
                  <a:srgbClr val="303A5D"/>
                </a:solidFill>
                <a:latin typeface="Segoe UI"/>
              </a:rPr>
              <a:t>9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880360" y="3188112"/>
            <a:ext cx="2331720" cy="1017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1" i="0">
                <a:solidFill>
                  <a:srgbClr val="1C2235"/>
                </a:solidFill>
                <a:latin typeface="Segoe UI"/>
              </a:rPr>
              <a:t>Haelove 4, Akura 3, Norris 2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880360" y="3277695"/>
            <a:ext cx="2331720" cy="814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36–45 ₴ · типова 42 ₴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93776" y="3375421"/>
            <a:ext cx="960120" cy="2035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68" b="1" i="0">
                <a:solidFill>
                  <a:srgbClr val="303A5D"/>
                </a:solidFill>
                <a:latin typeface="Segoe UI"/>
              </a:rPr>
              <a:t>ЧудоМаркет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474470" y="3426321"/>
            <a:ext cx="514350" cy="101798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036826" y="3375421"/>
            <a:ext cx="342900" cy="2035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52" b="1" i="0">
                <a:solidFill>
                  <a:srgbClr val="303A5D"/>
                </a:solidFill>
                <a:latin typeface="Segoe UI"/>
              </a:rPr>
              <a:t>9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880360" y="3391709"/>
            <a:ext cx="2331720" cy="1017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1" i="0">
                <a:solidFill>
                  <a:srgbClr val="1C2235"/>
                </a:solidFill>
                <a:latin typeface="Segoe UI"/>
              </a:rPr>
              <a:t>Ямчан 4, Akura 3, Dong Won 2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880360" y="3481292"/>
            <a:ext cx="2331720" cy="814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42–51 ₴ · типова 46 ₴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25196" y="3579018"/>
            <a:ext cx="4800600" cy="203596"/>
          </a:xfrm>
          <a:prstGeom prst="rect">
            <a:avLst/>
          </a:prstGeom>
          <a:solidFill>
            <a:srgbClr val="F8F9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93776" y="3579018"/>
            <a:ext cx="960120" cy="2035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68" b="1" i="0">
                <a:solidFill>
                  <a:srgbClr val="303A5D"/>
                </a:solidFill>
                <a:latin typeface="Segoe UI"/>
              </a:rPr>
              <a:t>Торба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474470" y="3629917"/>
            <a:ext cx="342900" cy="101798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865376" y="3579018"/>
            <a:ext cx="342900" cy="2035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52" b="1" i="0">
                <a:solidFill>
                  <a:srgbClr val="303A5D"/>
                </a:solidFill>
                <a:latin typeface="Segoe UI"/>
              </a:rPr>
              <a:t>6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880360" y="3595306"/>
            <a:ext cx="2331720" cy="1017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1" i="0">
                <a:solidFill>
                  <a:srgbClr val="1C2235"/>
                </a:solidFill>
                <a:latin typeface="Segoe UI"/>
              </a:rPr>
              <a:t>Norris 3, Akura 3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880360" y="3684889"/>
            <a:ext cx="2331720" cy="814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34–42 ₴ · типова 40 ₴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93776" y="3782615"/>
            <a:ext cx="960120" cy="2035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68" b="1" i="0">
                <a:solidFill>
                  <a:srgbClr val="303A5D"/>
                </a:solidFill>
                <a:latin typeface="Segoe UI"/>
              </a:rPr>
              <a:t>NOVUS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474470" y="3833514"/>
            <a:ext cx="285750" cy="101798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808226" y="3782615"/>
            <a:ext cx="342900" cy="2035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52" b="1" i="0">
                <a:solidFill>
                  <a:srgbClr val="303A5D"/>
                </a:solidFill>
                <a:latin typeface="Segoe UI"/>
              </a:rPr>
              <a:t>5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880360" y="3798903"/>
            <a:ext cx="2331720" cy="1017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1" i="0">
                <a:solidFill>
                  <a:srgbClr val="1C2235"/>
                </a:solidFill>
                <a:latin typeface="Segoe UI"/>
              </a:rPr>
              <a:t>Haelove 4, Norris 1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880360" y="3888486"/>
            <a:ext cx="2331720" cy="814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30–45 ₴ · типова 43 ₴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25196" y="3986212"/>
            <a:ext cx="4800600" cy="203596"/>
          </a:xfrm>
          <a:prstGeom prst="rect">
            <a:avLst/>
          </a:prstGeom>
          <a:solidFill>
            <a:srgbClr val="F8F9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93776" y="3986212"/>
            <a:ext cx="960120" cy="2035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68" b="1" i="0">
                <a:solidFill>
                  <a:srgbClr val="303A5D"/>
                </a:solidFill>
                <a:latin typeface="Segoe UI"/>
              </a:rPr>
              <a:t>METRO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474470" y="4037111"/>
            <a:ext cx="228600" cy="101798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751076" y="3986212"/>
            <a:ext cx="342900" cy="2035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52" b="1" i="0">
                <a:solidFill>
                  <a:srgbClr val="303A5D"/>
                </a:solidFill>
                <a:latin typeface="Segoe UI"/>
              </a:rPr>
              <a:t>4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880360" y="4002500"/>
            <a:ext cx="2331720" cy="1017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1" i="0">
                <a:solidFill>
                  <a:srgbClr val="1C2235"/>
                </a:solidFill>
                <a:latin typeface="Segoe UI"/>
              </a:rPr>
              <a:t>Metro Chef 4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880360" y="4092082"/>
            <a:ext cx="2331720" cy="814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31 ₴ · типова 31 ₴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93776" y="4189809"/>
            <a:ext cx="960120" cy="2035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68" b="1" i="0">
                <a:solidFill>
                  <a:srgbClr val="303A5D"/>
                </a:solidFill>
                <a:latin typeface="Segoe UI"/>
              </a:rPr>
              <a:t>Ідеал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474470" y="4240708"/>
            <a:ext cx="228600" cy="101798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751076" y="4189809"/>
            <a:ext cx="342900" cy="2035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52" b="1" i="0">
                <a:solidFill>
                  <a:srgbClr val="303A5D"/>
                </a:solidFill>
                <a:latin typeface="Segoe UI"/>
              </a:rPr>
              <a:t>4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880360" y="4206097"/>
            <a:ext cx="2331720" cy="1017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1" i="0">
                <a:solidFill>
                  <a:srgbClr val="1C2235"/>
                </a:solidFill>
                <a:latin typeface="Segoe UI"/>
              </a:rPr>
              <a:t>Norris 2, Royal Tiger 2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880360" y="4295679"/>
            <a:ext cx="2331720" cy="814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36–40 ₴ · типова 39 ₴</a:t>
            </a:r>
          </a:p>
        </p:txBody>
      </p:sp>
      <p:sp>
        <p:nvSpPr>
          <p:cNvPr id="90" name="Rectangle 89"/>
          <p:cNvSpPr/>
          <p:nvPr/>
        </p:nvSpPr>
        <p:spPr>
          <a:xfrm>
            <a:off x="425196" y="4393406"/>
            <a:ext cx="4800600" cy="203596"/>
          </a:xfrm>
          <a:prstGeom prst="rect">
            <a:avLst/>
          </a:prstGeom>
          <a:solidFill>
            <a:srgbClr val="F8F9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493776" y="4393406"/>
            <a:ext cx="960120" cy="2035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68" b="1" i="0">
                <a:solidFill>
                  <a:srgbClr val="303A5D"/>
                </a:solidFill>
                <a:latin typeface="Segoe UI"/>
              </a:rPr>
              <a:t>Grono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474470" y="4444305"/>
            <a:ext cx="171450" cy="101798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693926" y="4393406"/>
            <a:ext cx="342900" cy="2035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52" b="1" i="0">
                <a:solidFill>
                  <a:srgbClr val="303A5D"/>
                </a:solidFill>
                <a:latin typeface="Segoe UI"/>
              </a:rPr>
              <a:t>3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2880360" y="4409694"/>
            <a:ext cx="2331720" cy="1017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1" i="0">
                <a:solidFill>
                  <a:srgbClr val="1C2235"/>
                </a:solidFill>
                <a:latin typeface="Segoe UI"/>
              </a:rPr>
              <a:t>Sempio 2, Clearspring 1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2880360" y="4499276"/>
            <a:ext cx="2331720" cy="814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52–87 ₴ · типова 52 ₴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93776" y="4597003"/>
            <a:ext cx="960120" cy="2035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68" b="1" i="0">
                <a:solidFill>
                  <a:srgbClr val="303A5D"/>
                </a:solidFill>
                <a:latin typeface="Segoe UI"/>
              </a:rPr>
              <a:t>Таврія В</a:t>
            </a:r>
          </a:p>
        </p:txBody>
      </p:sp>
      <p:sp>
        <p:nvSpPr>
          <p:cNvPr id="97" name="Rectangle 96"/>
          <p:cNvSpPr/>
          <p:nvPr/>
        </p:nvSpPr>
        <p:spPr>
          <a:xfrm>
            <a:off x="1474470" y="4647902"/>
            <a:ext cx="57150" cy="101798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1579626" y="4597003"/>
            <a:ext cx="342900" cy="2035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52" b="1" i="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2880360" y="4613290"/>
            <a:ext cx="2331720" cy="1017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1" i="0">
                <a:solidFill>
                  <a:srgbClr val="1C2235"/>
                </a:solidFill>
                <a:latin typeface="Segoe UI"/>
              </a:rPr>
              <a:t>Humanwell 1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2880360" y="4702873"/>
            <a:ext cx="2331720" cy="814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42 ₴ · типова 42 ₴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5417820" y="1337310"/>
            <a:ext cx="3291840" cy="2057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5417820" y="1351026"/>
            <a:ext cx="2194560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20" b="1" i="0">
                <a:solidFill>
                  <a:srgbClr val="303A5D"/>
                </a:solidFill>
                <a:latin typeface="Segoe UI"/>
              </a:rPr>
              <a:t>Національні мережі · 7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7543800" y="1351026"/>
            <a:ext cx="1165860" cy="164592"/>
          </a:xfrm>
          <a:prstGeom prst="rect">
            <a:avLst/>
          </a:prstGeom>
          <a:solidFill>
            <a:srgbClr val="B23A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7543800" y="1351026"/>
            <a:ext cx="116586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ЦІЛЬОВИЙ КАНАЛ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5417820" y="1625346"/>
            <a:ext cx="773582" cy="192024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5472684" y="1639062"/>
            <a:ext cx="49926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1" i="0">
                <a:solidFill>
                  <a:srgbClr val="1C2235"/>
                </a:solidFill>
                <a:latin typeface="Segoe UI"/>
              </a:rPr>
              <a:t>Ашан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5971946" y="1652778"/>
            <a:ext cx="178308" cy="137160"/>
          </a:xfrm>
          <a:prstGeom prst="rect">
            <a:avLst/>
          </a:prstGeom>
          <a:solidFill>
            <a:srgbClr val="B23A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5971946" y="1652778"/>
            <a:ext cx="178308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18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6259982" y="1625346"/>
            <a:ext cx="829818" cy="192024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6314846" y="1639062"/>
            <a:ext cx="555498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1" i="0">
                <a:solidFill>
                  <a:srgbClr val="1C2235"/>
                </a:solidFill>
                <a:latin typeface="Segoe UI"/>
              </a:rPr>
              <a:t>Зараз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6870344" y="1652778"/>
            <a:ext cx="178308" cy="137160"/>
          </a:xfrm>
          <a:prstGeom prst="rect">
            <a:avLst/>
          </a:prstGeom>
          <a:solidFill>
            <a:srgbClr val="B23A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6870344" y="1652778"/>
            <a:ext cx="178308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15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7158380" y="1625346"/>
            <a:ext cx="1110996" cy="192024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7213244" y="1639062"/>
            <a:ext cx="836676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1" i="0">
                <a:solidFill>
                  <a:srgbClr val="1C2235"/>
                </a:solidFill>
                <a:latin typeface="Segoe UI"/>
              </a:rPr>
              <a:t>МегаМаркет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8049920" y="1652778"/>
            <a:ext cx="178308" cy="137160"/>
          </a:xfrm>
          <a:prstGeom prst="rect">
            <a:avLst/>
          </a:prstGeom>
          <a:solidFill>
            <a:srgbClr val="B23A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8049920" y="1652778"/>
            <a:ext cx="178308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10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5417820" y="1872234"/>
            <a:ext cx="1167231" cy="192024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5472684" y="1885950"/>
            <a:ext cx="892911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1" i="0">
                <a:solidFill>
                  <a:srgbClr val="1C2235"/>
                </a:solidFill>
                <a:latin typeface="Segoe UI"/>
              </a:rPr>
              <a:t>Ultramarket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6365595" y="1899666"/>
            <a:ext cx="178308" cy="137160"/>
          </a:xfrm>
          <a:prstGeom prst="rect">
            <a:avLst/>
          </a:prstGeom>
          <a:solidFill>
            <a:srgbClr val="B23A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6365595" y="1899666"/>
            <a:ext cx="178308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10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6653631" y="1872234"/>
            <a:ext cx="998524" cy="192024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6708495" y="1885950"/>
            <a:ext cx="724204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1" i="0">
                <a:solidFill>
                  <a:srgbClr val="1C2235"/>
                </a:solidFill>
                <a:latin typeface="Segoe UI"/>
              </a:rPr>
              <a:t>Епіцентр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7432700" y="1899666"/>
            <a:ext cx="178308" cy="137160"/>
          </a:xfrm>
          <a:prstGeom prst="rect">
            <a:avLst/>
          </a:prstGeom>
          <a:solidFill>
            <a:srgbClr val="B23A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7432700" y="1899666"/>
            <a:ext cx="178308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9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7720736" y="1872234"/>
            <a:ext cx="829818" cy="192024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7775600" y="1885950"/>
            <a:ext cx="555498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1" i="0">
                <a:solidFill>
                  <a:srgbClr val="1C2235"/>
                </a:solidFill>
                <a:latin typeface="Segoe UI"/>
              </a:rPr>
              <a:t>NOVUS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8331098" y="1899666"/>
            <a:ext cx="178308" cy="137160"/>
          </a:xfrm>
          <a:prstGeom prst="rect">
            <a:avLst/>
          </a:prstGeom>
          <a:solidFill>
            <a:srgbClr val="B23A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8331098" y="1899666"/>
            <a:ext cx="178308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5417820" y="2119122"/>
            <a:ext cx="829818" cy="192024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5472684" y="2132838"/>
            <a:ext cx="555498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1" i="0">
                <a:solidFill>
                  <a:srgbClr val="1C2235"/>
                </a:solidFill>
                <a:latin typeface="Segoe UI"/>
              </a:rPr>
              <a:t>METRO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6028182" y="2146554"/>
            <a:ext cx="178308" cy="137160"/>
          </a:xfrm>
          <a:prstGeom prst="rect">
            <a:avLst/>
          </a:prstGeom>
          <a:solidFill>
            <a:srgbClr val="B23A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6028182" y="2146554"/>
            <a:ext cx="178308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5417820" y="2530602"/>
            <a:ext cx="3291840" cy="2057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5417820" y="2544318"/>
            <a:ext cx="2194560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20" b="1" i="0">
                <a:solidFill>
                  <a:srgbClr val="303A5D"/>
                </a:solidFill>
                <a:latin typeface="Segoe UI"/>
              </a:rPr>
              <a:t>Регіональні мережі · 9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7543800" y="2544318"/>
            <a:ext cx="1165860" cy="164592"/>
          </a:xfrm>
          <a:prstGeom prst="rect">
            <a:avLst/>
          </a:prstGeom>
          <a:solidFill>
            <a:srgbClr val="1F9AA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7543800" y="2544318"/>
            <a:ext cx="116586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РЕГІОНАЛЬНИЙ ВХІД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5417820" y="2818638"/>
            <a:ext cx="773582" cy="192024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5472684" y="2832354"/>
            <a:ext cx="49926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1" i="0">
                <a:solidFill>
                  <a:srgbClr val="1C2235"/>
                </a:solidFill>
                <a:latin typeface="Segoe UI"/>
              </a:rPr>
              <a:t>Onde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5971946" y="2846070"/>
            <a:ext cx="178308" cy="137160"/>
          </a:xfrm>
          <a:prstGeom prst="rect">
            <a:avLst/>
          </a:prstGeom>
          <a:solidFill>
            <a:srgbClr val="1F9AA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5971946" y="2846070"/>
            <a:ext cx="178308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14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6259982" y="2818638"/>
            <a:ext cx="886053" cy="192024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6314846" y="2832354"/>
            <a:ext cx="611733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1" i="0">
                <a:solidFill>
                  <a:srgbClr val="1C2235"/>
                </a:solidFill>
                <a:latin typeface="Segoe UI"/>
              </a:rPr>
              <a:t>Космос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6926580" y="2846070"/>
            <a:ext cx="178308" cy="137160"/>
          </a:xfrm>
          <a:prstGeom prst="rect">
            <a:avLst/>
          </a:prstGeom>
          <a:solidFill>
            <a:srgbClr val="1F9AA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6926580" y="2846070"/>
            <a:ext cx="178308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10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7214616" y="2818638"/>
            <a:ext cx="942289" cy="192024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7269480" y="2832354"/>
            <a:ext cx="667969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1" i="0">
                <a:solidFill>
                  <a:srgbClr val="1C2235"/>
                </a:solidFill>
                <a:latin typeface="Segoe UI"/>
              </a:rPr>
              <a:t>Восторг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7937449" y="2846070"/>
            <a:ext cx="178308" cy="137160"/>
          </a:xfrm>
          <a:prstGeom prst="rect">
            <a:avLst/>
          </a:prstGeom>
          <a:solidFill>
            <a:srgbClr val="1F9AA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7937449" y="2846070"/>
            <a:ext cx="178308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10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5417820" y="3065526"/>
            <a:ext cx="773582" cy="192024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5472684" y="3079242"/>
            <a:ext cx="49926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1" i="0">
                <a:solidFill>
                  <a:srgbClr val="1C2235"/>
                </a:solidFill>
                <a:latin typeface="Segoe UI"/>
              </a:rPr>
              <a:t>Клас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5971946" y="3092958"/>
            <a:ext cx="178308" cy="137160"/>
          </a:xfrm>
          <a:prstGeom prst="rect">
            <a:avLst/>
          </a:prstGeom>
          <a:solidFill>
            <a:srgbClr val="1F9AA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5971946" y="3092958"/>
            <a:ext cx="178308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10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6259982" y="3065526"/>
            <a:ext cx="1110996" cy="192024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6314846" y="3079242"/>
            <a:ext cx="836676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1" i="0">
                <a:solidFill>
                  <a:srgbClr val="1C2235"/>
                </a:solidFill>
                <a:latin typeface="Segoe UI"/>
              </a:rPr>
              <a:t>ЧудоМаркет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7151522" y="3092958"/>
            <a:ext cx="178308" cy="137160"/>
          </a:xfrm>
          <a:prstGeom prst="rect">
            <a:avLst/>
          </a:prstGeom>
          <a:solidFill>
            <a:srgbClr val="1F9AA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7151522" y="3092958"/>
            <a:ext cx="178308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9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7439558" y="3065526"/>
            <a:ext cx="829818" cy="192024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7494422" y="3079242"/>
            <a:ext cx="555498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1" i="0">
                <a:solidFill>
                  <a:srgbClr val="1C2235"/>
                </a:solidFill>
                <a:latin typeface="Segoe UI"/>
              </a:rPr>
              <a:t>Торба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8049920" y="3092958"/>
            <a:ext cx="178308" cy="137160"/>
          </a:xfrm>
          <a:prstGeom prst="rect">
            <a:avLst/>
          </a:prstGeom>
          <a:solidFill>
            <a:srgbClr val="1F9AA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8049920" y="3092958"/>
            <a:ext cx="178308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5417820" y="3312414"/>
            <a:ext cx="829818" cy="192024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5472684" y="3326130"/>
            <a:ext cx="555498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1" i="0">
                <a:solidFill>
                  <a:srgbClr val="1C2235"/>
                </a:solidFill>
                <a:latin typeface="Segoe UI"/>
              </a:rPr>
              <a:t>Ідеал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6028182" y="3339846"/>
            <a:ext cx="178308" cy="137160"/>
          </a:xfrm>
          <a:prstGeom prst="rect">
            <a:avLst/>
          </a:prstGeom>
          <a:solidFill>
            <a:srgbClr val="1F9AA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6028182" y="3339846"/>
            <a:ext cx="178308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316218" y="3312414"/>
            <a:ext cx="829818" cy="192024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371082" y="3326130"/>
            <a:ext cx="555498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1" i="0">
                <a:solidFill>
                  <a:srgbClr val="1C2235"/>
                </a:solidFill>
                <a:latin typeface="Segoe UI"/>
              </a:rPr>
              <a:t>Grono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6926580" y="3339846"/>
            <a:ext cx="178308" cy="137160"/>
          </a:xfrm>
          <a:prstGeom prst="rect">
            <a:avLst/>
          </a:prstGeom>
          <a:solidFill>
            <a:srgbClr val="1F9AA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6926580" y="3339846"/>
            <a:ext cx="178308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7214616" y="3312414"/>
            <a:ext cx="998524" cy="192024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7269480" y="3326130"/>
            <a:ext cx="724204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1" i="0">
                <a:solidFill>
                  <a:srgbClr val="1C2235"/>
                </a:solidFill>
                <a:latin typeface="Segoe UI"/>
              </a:rPr>
              <a:t>Таврія В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7993684" y="3339846"/>
            <a:ext cx="178308" cy="137160"/>
          </a:xfrm>
          <a:prstGeom prst="rect">
            <a:avLst/>
          </a:prstGeom>
          <a:solidFill>
            <a:srgbClr val="1F9AA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7993684" y="3339846"/>
            <a:ext cx="178308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5417820" y="3723894"/>
            <a:ext cx="3291840" cy="2057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5417820" y="3737610"/>
            <a:ext cx="2194560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20" b="1" i="0">
                <a:solidFill>
                  <a:srgbClr val="303A5D"/>
                </a:solidFill>
                <a:latin typeface="Segoe UI"/>
              </a:rPr>
              <a:t>Без позицій сегмента · 2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7543800" y="3737610"/>
            <a:ext cx="1165860" cy="164592"/>
          </a:xfrm>
          <a:prstGeom prst="rect">
            <a:avLst/>
          </a:prstGeom>
          <a:solidFill>
            <a:srgbClr val="A5ABB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7543800" y="3737610"/>
            <a:ext cx="116586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ВІЛЬНА ПОЛИЦЯ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5417820" y="4011930"/>
            <a:ext cx="511606" cy="192024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5472684" y="4025646"/>
            <a:ext cx="237286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1" i="0">
                <a:solidFill>
                  <a:srgbClr val="1C2235"/>
                </a:solidFill>
                <a:latin typeface="Segoe UI"/>
              </a:rPr>
              <a:t>ЕКО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5998006" y="4011930"/>
            <a:ext cx="680313" cy="192024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6052870" y="4025646"/>
            <a:ext cx="405993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1" i="0">
                <a:solidFill>
                  <a:srgbClr val="1C2235"/>
                </a:solidFill>
                <a:latin typeface="Segoe UI"/>
              </a:rPr>
              <a:t>Біотус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425196" y="4855464"/>
            <a:ext cx="829818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1">
                <a:solidFill>
                  <a:srgbClr val="717890"/>
                </a:solidFill>
                <a:latin typeface="Segoe UI"/>
              </a:rPr>
              <a:t>Каталоги мереж на zakaz.ua (METRO, NOVUS, Ашан, Зараз, МегаМаркет, Ultramarket, Епіцентр, Космос, Onde, Ідеал, Восторг, Клас, Таврія В, ЧудоМаркет, Торба, Grono) · 07.10.2026 · ціна — онлайн-полиця одного магазину мережі, діапазон — між мережами.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977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3977" cy="795528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95528"/>
            <a:ext cx="9143977" cy="41148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" y="178308"/>
            <a:ext cx="1042416" cy="4526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728216" y="205740"/>
            <a:ext cx="61722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1" i="0" spc="30">
                <a:solidFill>
                  <a:srgbClr val="FFC95C"/>
                </a:solidFill>
                <a:latin typeface="Segoe UI"/>
              </a:rPr>
              <a:t>СЕГМЕНТ · НОРІ-ЧИПСИ ТА СЕНДВІЧІ · 19 ПОЗИЦІЙ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28216" y="377190"/>
            <a:ext cx="61722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20" b="1" i="0">
                <a:solidFill>
                  <a:srgbClr val="FFFFFF"/>
                </a:solidFill>
                <a:latin typeface="Segoe UI"/>
              </a:rPr>
              <a:t>Чипси та сендвічі 8–40 г: 19 позицій, медіана 72 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20990" y="301752"/>
            <a:ext cx="768096" cy="2263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360" b="1" i="0">
                <a:solidFill>
                  <a:srgbClr val="465382"/>
                </a:solidFill>
                <a:latin typeface="Segoe UI"/>
              </a:rPr>
              <a:t>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5196" y="946404"/>
            <a:ext cx="8298180" cy="150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4" b="0" i="0">
                <a:solidFill>
                  <a:srgbClr val="717890"/>
                </a:solidFill>
                <a:latin typeface="Segoe UI"/>
              </a:rPr>
              <a:t>Чипси Hokkaido Club і Norris 25 г, сендвічі Norris 8 г, Ock Dong Ja 15–25 г, Ocean Snack 40 г. Сюди ставимо ZEK Sandwich і TMK SEAWEED/MINI.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5196" y="1193292"/>
            <a:ext cx="2125980" cy="80924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5196" y="1193292"/>
            <a:ext cx="27432" cy="809244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3504" y="1309878"/>
            <a:ext cx="18516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1" i="0" spc="40">
                <a:solidFill>
                  <a:srgbClr val="717890"/>
                </a:solidFill>
                <a:latin typeface="Segoe UI"/>
              </a:rPr>
              <a:t>ПОЗИЦІЙ У СЕГМЕНТІ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" y="1467612"/>
            <a:ext cx="185166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60" b="1" i="0">
                <a:solidFill>
                  <a:srgbClr val="C4820A"/>
                </a:solidFill>
                <a:latin typeface="Segoe UI"/>
              </a:rPr>
              <a:t>19 SKU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" y="1796796"/>
            <a:ext cx="1851660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8 лінійок · 4 брендів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60904" y="1193292"/>
            <a:ext cx="2125980" cy="80924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660904" y="1193292"/>
            <a:ext cx="27432" cy="809244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39212" y="1309878"/>
            <a:ext cx="18516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1" i="0" spc="40">
                <a:solidFill>
                  <a:srgbClr val="717890"/>
                </a:solidFill>
                <a:latin typeface="Segoe UI"/>
              </a:rPr>
              <a:t>МЕДІАНА УПАКОВКИ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9212" y="1467612"/>
            <a:ext cx="185166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60" b="1" i="0">
                <a:solidFill>
                  <a:srgbClr val="C4820A"/>
                </a:solidFill>
                <a:latin typeface="Segoe UI"/>
              </a:rPr>
              <a:t>72 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9212" y="1796796"/>
            <a:ext cx="1851660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діапазон 21–151 ₴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96612" y="1193292"/>
            <a:ext cx="2125980" cy="80924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896612" y="1193292"/>
            <a:ext cx="27432" cy="809244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74920" y="1309878"/>
            <a:ext cx="18516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1" i="0" spc="40">
                <a:solidFill>
                  <a:srgbClr val="717890"/>
                </a:solidFill>
                <a:latin typeface="Segoe UI"/>
              </a:rPr>
              <a:t>НАЙХОДОВІША УПАКОВКА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74920" y="1467612"/>
            <a:ext cx="185166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60" b="1" i="0">
                <a:solidFill>
                  <a:srgbClr val="C4820A"/>
                </a:solidFill>
                <a:latin typeface="Segoe UI"/>
              </a:rPr>
              <a:t>25 г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74920" y="1796796"/>
            <a:ext cx="1851660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58 % присутності на полицях · медіана 70 ₴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132320" y="1193292"/>
            <a:ext cx="1591056" cy="80924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132320" y="1193292"/>
            <a:ext cx="27432" cy="809244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0628" y="1309878"/>
            <a:ext cx="131673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1" i="0" spc="40">
                <a:solidFill>
                  <a:srgbClr val="717890"/>
                </a:solidFill>
                <a:latin typeface="Segoe UI"/>
              </a:rPr>
              <a:t>ВАГА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0628" y="1467612"/>
            <a:ext cx="1316736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4820A"/>
                </a:solidFill>
                <a:latin typeface="Segoe UI"/>
              </a:rPr>
              <a:t>8–40 г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5196" y="2125980"/>
            <a:ext cx="27432" cy="144018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34924" y="2139696"/>
            <a:ext cx="3429000" cy="10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 spc="30">
                <a:solidFill>
                  <a:srgbClr val="C4820A"/>
                </a:solidFill>
                <a:latin typeface="Segoe UI"/>
              </a:rPr>
              <a:t>ХТО ТРИМАЄ СЕГМЕНТ · SKU НА БРЕНД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5196" y="2345436"/>
            <a:ext cx="973836" cy="1611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24" b="0" i="0">
                <a:solidFill>
                  <a:srgbClr val="303A5D"/>
                </a:solidFill>
                <a:latin typeface="Segoe UI"/>
              </a:rPr>
              <a:t>Norris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453896" y="2388950"/>
            <a:ext cx="2468880" cy="74134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970782" y="2345436"/>
            <a:ext cx="548640" cy="1611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24" b="1" i="0">
                <a:solidFill>
                  <a:srgbClr val="717890"/>
                </a:solidFill>
                <a:latin typeface="Segoe UI"/>
              </a:rPr>
              <a:t>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5196" y="2506599"/>
            <a:ext cx="973836" cy="1611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24" b="0" i="0">
                <a:solidFill>
                  <a:srgbClr val="303A5D"/>
                </a:solidFill>
                <a:latin typeface="Segoe UI"/>
              </a:rPr>
              <a:t>Ock Dong Ja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453896" y="2550113"/>
            <a:ext cx="1234440" cy="74134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36342" y="2506599"/>
            <a:ext cx="548640" cy="1611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24" b="1" i="0">
                <a:solidFill>
                  <a:srgbClr val="717890"/>
                </a:solidFill>
                <a:latin typeface="Segoe UI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5196" y="2667762"/>
            <a:ext cx="973836" cy="1611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24" b="0" i="0">
                <a:solidFill>
                  <a:srgbClr val="303A5D"/>
                </a:solidFill>
                <a:latin typeface="Segoe UI"/>
              </a:rPr>
              <a:t>Ocean Snack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453896" y="2711276"/>
            <a:ext cx="1234440" cy="74134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736342" y="2667762"/>
            <a:ext cx="548640" cy="1611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24" b="1" i="0">
                <a:solidFill>
                  <a:srgbClr val="717890"/>
                </a:solidFill>
                <a:latin typeface="Segoe UI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5196" y="2828925"/>
            <a:ext cx="973836" cy="1611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24" b="0" i="0">
                <a:solidFill>
                  <a:srgbClr val="303A5D"/>
                </a:solidFill>
                <a:latin typeface="Segoe UI"/>
              </a:rPr>
              <a:t>Hokkaido Club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453896" y="2872439"/>
            <a:ext cx="925830" cy="74134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427732" y="2828925"/>
            <a:ext cx="548640" cy="1611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24" b="1" i="0">
                <a:solidFill>
                  <a:srgbClr val="717890"/>
                </a:solidFill>
                <a:latin typeface="Segoe UI"/>
              </a:rPr>
              <a:t>3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732020" y="2125980"/>
            <a:ext cx="27432" cy="144018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841748" y="2139696"/>
            <a:ext cx="3429000" cy="10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 spc="30">
                <a:solidFill>
                  <a:srgbClr val="C4820A"/>
                </a:solidFill>
                <a:latin typeface="Segoe UI"/>
              </a:rPr>
              <a:t>ПОЗИЦІЇ ЗА ЦІНОЮ УПАКОВКИ · ₴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732020" y="2871542"/>
            <a:ext cx="605790" cy="509451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663440" y="2741240"/>
            <a:ext cx="742950" cy="1165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08" b="1" i="0">
                <a:solidFill>
                  <a:srgbClr val="303A5D"/>
                </a:solidFill>
                <a:latin typeface="Segoe UI"/>
              </a:rPr>
              <a:t>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629150" y="3408426"/>
            <a:ext cx="81153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до 35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337810" y="3250692"/>
            <a:ext cx="742950" cy="1165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08" b="1" i="0">
                <a:solidFill>
                  <a:srgbClr val="303A5D"/>
                </a:solidFill>
                <a:latin typeface="Segoe UI"/>
              </a:rPr>
              <a:t>–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303520" y="3408426"/>
            <a:ext cx="81153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35–55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080760" y="2489454"/>
            <a:ext cx="605790" cy="891540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012180" y="2359152"/>
            <a:ext cx="742950" cy="1165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08" b="1" i="0">
                <a:solidFill>
                  <a:srgbClr val="303A5D"/>
                </a:solidFill>
                <a:latin typeface="Segoe UI"/>
              </a:rPr>
              <a:t>7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977890" y="3408426"/>
            <a:ext cx="81153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55–80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755130" y="3253631"/>
            <a:ext cx="605790" cy="12736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686550" y="3123329"/>
            <a:ext cx="742950" cy="1165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08" b="1" i="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652260" y="3408426"/>
            <a:ext cx="81153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80–110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429500" y="2489454"/>
            <a:ext cx="605790" cy="891540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360920" y="2359152"/>
            <a:ext cx="742950" cy="1165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08" b="1" i="0">
                <a:solidFill>
                  <a:srgbClr val="303A5D"/>
                </a:solidFill>
                <a:latin typeface="Segoe UI"/>
              </a:rPr>
              <a:t>7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326630" y="3408426"/>
            <a:ext cx="81153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110–150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035290" y="3250692"/>
            <a:ext cx="742950" cy="1165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08" b="1" i="0">
                <a:solidFill>
                  <a:srgbClr val="303A5D"/>
                </a:solidFill>
                <a:latin typeface="Segoe UI"/>
              </a:rPr>
              <a:t>–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001000" y="3408426"/>
            <a:ext cx="81153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150+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25196" y="3669030"/>
            <a:ext cx="27432" cy="144018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34924" y="3682746"/>
            <a:ext cx="5486400" cy="10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 spc="30">
                <a:solidFill>
                  <a:srgbClr val="C4820A"/>
                </a:solidFill>
                <a:latin typeface="Segoe UI"/>
              </a:rPr>
              <a:t>ПРЕДСТАВНИКИ СЕГМЕНТА · ВІД НАЙДЕШЕВШОЇ ДО НАЙДОРОЖЧОЇ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25196" y="3895344"/>
            <a:ext cx="1316736" cy="111099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425196" y="3895344"/>
            <a:ext cx="1316736" cy="2743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473202" y="3963924"/>
            <a:ext cx="54864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66" name="Picture 65" descr="0482026555035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918" y="3977640"/>
            <a:ext cx="521208" cy="521208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1069848" y="3991356"/>
            <a:ext cx="65151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24" b="1" i="0">
                <a:solidFill>
                  <a:srgbClr val="1C2235"/>
                </a:solidFill>
                <a:latin typeface="Segoe UI"/>
              </a:rPr>
              <a:t>Norris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69848" y="4320540"/>
            <a:ext cx="65151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1" i="0">
                <a:solidFill>
                  <a:srgbClr val="1C2235"/>
                </a:solidFill>
                <a:latin typeface="Segoe UI"/>
              </a:rPr>
              <a:t>31 ₴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93776" y="4581144"/>
            <a:ext cx="121386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10 г · 1 смак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93776" y="4732020"/>
            <a:ext cx="1213866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Onde · Восторг · Клас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824228" y="3895344"/>
            <a:ext cx="1316736" cy="111099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1824228" y="3895344"/>
            <a:ext cx="1316736" cy="2743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1872234" y="3963924"/>
            <a:ext cx="54864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74" name="Picture 73" descr="0482026555021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85950" y="3977640"/>
            <a:ext cx="521208" cy="521208"/>
          </a:xfrm>
          <a:prstGeom prst="rect">
            <a:avLst/>
          </a:prstGeom>
        </p:spPr>
      </p:pic>
      <p:sp>
        <p:nvSpPr>
          <p:cNvPr id="75" name="TextBox 74"/>
          <p:cNvSpPr txBox="1"/>
          <p:nvPr/>
        </p:nvSpPr>
        <p:spPr>
          <a:xfrm>
            <a:off x="2468880" y="3991356"/>
            <a:ext cx="65151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24" b="1" i="0">
                <a:solidFill>
                  <a:srgbClr val="1C2235"/>
                </a:solidFill>
                <a:latin typeface="Segoe UI"/>
              </a:rPr>
              <a:t>Norris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468880" y="4320540"/>
            <a:ext cx="65151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1" i="0">
                <a:solidFill>
                  <a:srgbClr val="1C2235"/>
                </a:solidFill>
                <a:latin typeface="Segoe UI"/>
              </a:rPr>
              <a:t>33 ₴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892808" y="4581144"/>
            <a:ext cx="121386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8 г · 3 смаки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892808" y="4732020"/>
            <a:ext cx="1213866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NOVUS · Епіцентр · Ідеал +4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223260" y="3895344"/>
            <a:ext cx="1316736" cy="111099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3223260" y="3895344"/>
            <a:ext cx="1316736" cy="2743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3271266" y="3963924"/>
            <a:ext cx="54864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82" name="Picture 81" descr="04820172442974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84982" y="3977640"/>
            <a:ext cx="521208" cy="521208"/>
          </a:xfrm>
          <a:prstGeom prst="rect">
            <a:avLst/>
          </a:prstGeom>
        </p:spPr>
      </p:pic>
      <p:sp>
        <p:nvSpPr>
          <p:cNvPr id="83" name="TextBox 82"/>
          <p:cNvSpPr txBox="1"/>
          <p:nvPr/>
        </p:nvSpPr>
        <p:spPr>
          <a:xfrm>
            <a:off x="3867912" y="3991356"/>
            <a:ext cx="65151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24" b="1" i="0">
                <a:solidFill>
                  <a:srgbClr val="1C2235"/>
                </a:solidFill>
                <a:latin typeface="Segoe UI"/>
              </a:rPr>
              <a:t>Hokkaido Club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867912" y="4320540"/>
            <a:ext cx="65151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1" i="0">
                <a:solidFill>
                  <a:srgbClr val="1C2235"/>
                </a:solidFill>
                <a:latin typeface="Segoe UI"/>
              </a:rPr>
              <a:t>58 ₴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291840" y="4581144"/>
            <a:ext cx="121386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25 г · 3 смаки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291840" y="4732020"/>
            <a:ext cx="1213866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METRO · NOVUS · Ultramarket +5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622292" y="3895344"/>
            <a:ext cx="1316736" cy="111099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4622292" y="3895344"/>
            <a:ext cx="1316736" cy="2743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4670298" y="3963924"/>
            <a:ext cx="54864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90" name="Picture 89" descr="0482026555010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84014" y="3977640"/>
            <a:ext cx="521208" cy="521208"/>
          </a:xfrm>
          <a:prstGeom prst="rect">
            <a:avLst/>
          </a:prstGeom>
        </p:spPr>
      </p:pic>
      <p:sp>
        <p:nvSpPr>
          <p:cNvPr id="91" name="TextBox 90"/>
          <p:cNvSpPr txBox="1"/>
          <p:nvPr/>
        </p:nvSpPr>
        <p:spPr>
          <a:xfrm>
            <a:off x="5266944" y="3991356"/>
            <a:ext cx="65151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24" b="1" i="0">
                <a:solidFill>
                  <a:srgbClr val="1C2235"/>
                </a:solidFill>
                <a:latin typeface="Segoe UI"/>
              </a:rPr>
              <a:t>Norris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266944" y="4320540"/>
            <a:ext cx="65151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1" i="0">
                <a:solidFill>
                  <a:srgbClr val="1C2235"/>
                </a:solidFill>
                <a:latin typeface="Segoe UI"/>
              </a:rPr>
              <a:t>71 ₴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690872" y="4581144"/>
            <a:ext cx="121386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25 г · 4 смаки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690872" y="4732020"/>
            <a:ext cx="1213866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NOVUS · Епіцентр · Onde +3</a:t>
            </a:r>
          </a:p>
        </p:txBody>
      </p:sp>
      <p:sp>
        <p:nvSpPr>
          <p:cNvPr id="95" name="Rectangle 94"/>
          <p:cNvSpPr/>
          <p:nvPr/>
        </p:nvSpPr>
        <p:spPr>
          <a:xfrm>
            <a:off x="6021324" y="3895344"/>
            <a:ext cx="1316736" cy="111099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6021324" y="3895344"/>
            <a:ext cx="1316736" cy="2743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6069330" y="3963924"/>
            <a:ext cx="54864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98" name="Picture 97" descr="08809094843003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83046" y="3977640"/>
            <a:ext cx="521208" cy="521208"/>
          </a:xfrm>
          <a:prstGeom prst="rect">
            <a:avLst/>
          </a:prstGeom>
        </p:spPr>
      </p:pic>
      <p:sp>
        <p:nvSpPr>
          <p:cNvPr id="99" name="TextBox 98"/>
          <p:cNvSpPr txBox="1"/>
          <p:nvPr/>
        </p:nvSpPr>
        <p:spPr>
          <a:xfrm>
            <a:off x="6665976" y="3991356"/>
            <a:ext cx="65151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24" b="1" i="0">
                <a:solidFill>
                  <a:srgbClr val="1C2235"/>
                </a:solidFill>
                <a:latin typeface="Segoe UI"/>
              </a:rPr>
              <a:t>Ock Dong Ja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665976" y="4320540"/>
            <a:ext cx="65151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1" i="0">
                <a:solidFill>
                  <a:srgbClr val="1C2235"/>
                </a:solidFill>
                <a:latin typeface="Segoe UI"/>
              </a:rPr>
              <a:t>96 ₴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089904" y="4581144"/>
            <a:ext cx="121386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15 г · 1 смак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089904" y="4732020"/>
            <a:ext cx="1213866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Ашан · Зараз · Onde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7420356" y="3895344"/>
            <a:ext cx="1316736" cy="111099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7420356" y="3895344"/>
            <a:ext cx="1316736" cy="2743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7468362" y="3963924"/>
            <a:ext cx="54864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06" name="Picture 105" descr="04820298900020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82078" y="3977640"/>
            <a:ext cx="521208" cy="521208"/>
          </a:xfrm>
          <a:prstGeom prst="rect">
            <a:avLst/>
          </a:prstGeom>
        </p:spPr>
      </p:pic>
      <p:sp>
        <p:nvSpPr>
          <p:cNvPr id="107" name="TextBox 106"/>
          <p:cNvSpPr txBox="1"/>
          <p:nvPr/>
        </p:nvSpPr>
        <p:spPr>
          <a:xfrm>
            <a:off x="8065008" y="3991356"/>
            <a:ext cx="65151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24" b="1" i="0">
                <a:solidFill>
                  <a:srgbClr val="1C2235"/>
                </a:solidFill>
                <a:latin typeface="Segoe UI"/>
              </a:rPr>
              <a:t>Ocean Snack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065008" y="4320540"/>
            <a:ext cx="65151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1" i="0">
                <a:solidFill>
                  <a:srgbClr val="1C2235"/>
                </a:solidFill>
                <a:latin typeface="Segoe UI"/>
              </a:rPr>
              <a:t>111 ₴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7488936" y="4581144"/>
            <a:ext cx="121386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40 г · 4 смаки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7488936" y="4732020"/>
            <a:ext cx="1213866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Восторг · Клас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977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3977" cy="795528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95528"/>
            <a:ext cx="9143977" cy="41148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" y="178308"/>
            <a:ext cx="1042416" cy="4526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728216" y="205740"/>
            <a:ext cx="61722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1" i="0" spc="30">
                <a:solidFill>
                  <a:srgbClr val="FFC95C"/>
                </a:solidFill>
                <a:latin typeface="Segoe UI"/>
              </a:rPr>
              <a:t>СЕГМЕНТ · НОРІ-ЧИПСИ ТА СЕНДВІЧІ · ПОПУЛЯРНІ УПАКОВКИ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28216" y="377190"/>
            <a:ext cx="61722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20" b="1" i="0">
                <a:solidFill>
                  <a:srgbClr val="FFFFFF"/>
                </a:solidFill>
                <a:latin typeface="Segoe UI"/>
              </a:rPr>
              <a:t>Чипси: 25 г — найходовіша, 58 % присутності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20990" y="301752"/>
            <a:ext cx="768096" cy="2263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360" b="1" i="0">
                <a:solidFill>
                  <a:srgbClr val="465382"/>
                </a:solidFill>
                <a:latin typeface="Segoe UI"/>
              </a:rPr>
              <a:t>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5196" y="946404"/>
            <a:ext cx="8298180" cy="150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88" b="0" i="0">
                <a:solidFill>
                  <a:srgbClr val="717890"/>
                </a:solidFill>
                <a:latin typeface="Segoe UI"/>
              </a:rPr>
              <a:t>Популярність — це присутність упаковки на полицях: кількість позицій × мереж, де вона стоїть (даних про продажі немає). Справа — наша полиця проти типової ціни пакетів близької ваги.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5196" y="1268730"/>
            <a:ext cx="6446520" cy="205740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7492" y="1289304"/>
            <a:ext cx="2743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 spc="20">
                <a:solidFill>
                  <a:srgbClr val="FFFFFF"/>
                </a:solidFill>
                <a:latin typeface="Segoe UI"/>
              </a:rPr>
              <a:t>НОРІ-ЧИПСИ ТА СЕНДВІЧІ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5196" y="1495044"/>
            <a:ext cx="58293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717890"/>
                </a:solidFill>
                <a:latin typeface="Segoe UI"/>
              </a:rPr>
              <a:t>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" y="1495044"/>
            <a:ext cx="96012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717890"/>
                </a:solidFill>
                <a:latin typeface="Segoe UI"/>
              </a:rPr>
              <a:t>ВАГА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85316" y="1495044"/>
            <a:ext cx="246888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717890"/>
                </a:solidFill>
                <a:latin typeface="Segoe UI"/>
              </a:rPr>
              <a:t>ПРИСУТНІСТЬ · ПОЗИЦІЙ × МЕРЕЖ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79876" y="1495044"/>
            <a:ext cx="10287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717890"/>
                </a:solidFill>
                <a:latin typeface="Segoe UI"/>
              </a:rPr>
              <a:t>SKU · БРЕНДІВ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34256" y="1495044"/>
            <a:ext cx="75438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717890"/>
                </a:solidFill>
                <a:latin typeface="Segoe UI"/>
              </a:rPr>
              <a:t>МЕРЕЖ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14316" y="1495044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717890"/>
                </a:solidFill>
                <a:latin typeface="Segoe UI"/>
              </a:rPr>
              <a:t>ЦІНА, ₴ · МІН.–МАКС.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11596" y="1495044"/>
            <a:ext cx="96012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717890"/>
                </a:solidFill>
                <a:latin typeface="Segoe UI"/>
              </a:rPr>
              <a:t>МЕДІАНА ЦІНИ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5196" y="1625346"/>
            <a:ext cx="6446520" cy="460331"/>
          </a:xfrm>
          <a:prstGeom prst="rect">
            <a:avLst/>
          </a:prstGeom>
          <a:solidFill>
            <a:srgbClr val="F8F9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52628" y="1766357"/>
            <a:ext cx="178308" cy="178308"/>
          </a:xfrm>
          <a:prstGeom prst="roundRect">
            <a:avLst>
              <a:gd name="adj" fmla="val 50000"/>
            </a:avLst>
          </a:prstGeom>
          <a:solidFill>
            <a:srgbClr val="C4820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2628" y="1766357"/>
            <a:ext cx="178308" cy="1783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8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9516" y="1625346"/>
            <a:ext cx="651510" cy="4603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40" b="1" i="0">
                <a:solidFill>
                  <a:srgbClr val="303A5D"/>
                </a:solidFill>
                <a:latin typeface="Segoe UI"/>
              </a:rPr>
              <a:t>25 г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385316" y="1749635"/>
            <a:ext cx="1577340" cy="21175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17520" y="1625346"/>
            <a:ext cx="822960" cy="4603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24" b="1" i="0">
                <a:solidFill>
                  <a:srgbClr val="717890"/>
                </a:solidFill>
                <a:latin typeface="Segoe UI"/>
              </a:rPr>
              <a:t>49 · 58 %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79876" y="1625346"/>
            <a:ext cx="685800" cy="4603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40" b="0" i="0">
                <a:solidFill>
                  <a:srgbClr val="303A5D"/>
                </a:solidFill>
                <a:latin typeface="Segoe UI"/>
              </a:rPr>
              <a:t>9 · 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34256" y="1625346"/>
            <a:ext cx="411480" cy="4603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40" b="0" i="0">
                <a:solidFill>
                  <a:srgbClr val="303A5D"/>
                </a:solidFill>
                <a:latin typeface="Segoe UI"/>
              </a:rPr>
              <a:t>11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14316" y="1625346"/>
            <a:ext cx="1097280" cy="4603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40" b="0" i="0">
                <a:solidFill>
                  <a:srgbClr val="717890"/>
                </a:solidFill>
                <a:latin typeface="Segoe UI"/>
              </a:rPr>
              <a:t>47–151 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11596" y="1625346"/>
            <a:ext cx="822960" cy="4603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80" b="1" i="0">
                <a:solidFill>
                  <a:srgbClr val="1C2235"/>
                </a:solidFill>
                <a:latin typeface="Segoe UI"/>
              </a:rPr>
              <a:t>70 ₴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2628" y="2226689"/>
            <a:ext cx="178308" cy="178308"/>
          </a:xfrm>
          <a:prstGeom prst="roundRect">
            <a:avLst>
              <a:gd name="adj" fmla="val 50000"/>
            </a:avLst>
          </a:prstGeom>
          <a:solidFill>
            <a:srgbClr val="EAD3A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2628" y="2226689"/>
            <a:ext cx="178308" cy="1783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8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9516" y="2085677"/>
            <a:ext cx="651510" cy="4603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40" b="1" i="0">
                <a:solidFill>
                  <a:srgbClr val="303A5D"/>
                </a:solidFill>
                <a:latin typeface="Segoe UI"/>
              </a:rPr>
              <a:t>8 г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385316" y="2209967"/>
            <a:ext cx="611621" cy="211752"/>
          </a:xfrm>
          <a:prstGeom prst="rect">
            <a:avLst/>
          </a:prstGeom>
          <a:solidFill>
            <a:srgbClr val="DFB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051801" y="2085677"/>
            <a:ext cx="822960" cy="4603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24" b="1" i="0">
                <a:solidFill>
                  <a:srgbClr val="717890"/>
                </a:solidFill>
                <a:latin typeface="Segoe UI"/>
              </a:rPr>
              <a:t>19 · 23 %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79876" y="2085677"/>
            <a:ext cx="685800" cy="4603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40" b="0" i="0">
                <a:solidFill>
                  <a:srgbClr val="303A5D"/>
                </a:solidFill>
                <a:latin typeface="Segoe UI"/>
              </a:rPr>
              <a:t>3 · 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34256" y="2085677"/>
            <a:ext cx="411480" cy="4603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40" b="0" i="0">
                <a:solidFill>
                  <a:srgbClr val="303A5D"/>
                </a:solidFill>
                <a:latin typeface="Segoe UI"/>
              </a:rPr>
              <a:t>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14316" y="2085677"/>
            <a:ext cx="1097280" cy="4603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40" b="0" i="0">
                <a:solidFill>
                  <a:srgbClr val="717890"/>
                </a:solidFill>
                <a:latin typeface="Segoe UI"/>
              </a:rPr>
              <a:t>21–34 ₴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11596" y="2085677"/>
            <a:ext cx="822960" cy="4603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80" b="1" i="0">
                <a:solidFill>
                  <a:srgbClr val="1C2235"/>
                </a:solidFill>
                <a:latin typeface="Segoe UI"/>
              </a:rPr>
              <a:t>33 ₴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25196" y="2546009"/>
            <a:ext cx="6446520" cy="460331"/>
          </a:xfrm>
          <a:prstGeom prst="rect">
            <a:avLst/>
          </a:prstGeom>
          <a:solidFill>
            <a:srgbClr val="F8F9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452628" y="2687020"/>
            <a:ext cx="178308" cy="178308"/>
          </a:xfrm>
          <a:prstGeom prst="roundRect">
            <a:avLst>
              <a:gd name="adj" fmla="val 50000"/>
            </a:avLst>
          </a:prstGeom>
          <a:solidFill>
            <a:srgbClr val="EAD3A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2628" y="2687020"/>
            <a:ext cx="178308" cy="1783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8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9516" y="2546009"/>
            <a:ext cx="651510" cy="4603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40" b="1" i="0">
                <a:solidFill>
                  <a:srgbClr val="303A5D"/>
                </a:solidFill>
                <a:latin typeface="Segoe UI"/>
              </a:rPr>
              <a:t>40 г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385316" y="2670298"/>
            <a:ext cx="257524" cy="211752"/>
          </a:xfrm>
          <a:prstGeom prst="rect">
            <a:avLst/>
          </a:prstGeom>
          <a:solidFill>
            <a:srgbClr val="DFB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697704" y="2546009"/>
            <a:ext cx="822960" cy="4603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24" b="1" i="0">
                <a:solidFill>
                  <a:srgbClr val="717890"/>
                </a:solidFill>
                <a:latin typeface="Segoe UI"/>
              </a:rPr>
              <a:t>8 · 10 %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79876" y="2546009"/>
            <a:ext cx="685800" cy="4603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40" b="0" i="0">
                <a:solidFill>
                  <a:srgbClr val="303A5D"/>
                </a:solidFill>
                <a:latin typeface="Segoe UI"/>
              </a:rPr>
              <a:t>4 · 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334256" y="2546009"/>
            <a:ext cx="411480" cy="4603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40" b="0" i="0">
                <a:solidFill>
                  <a:srgbClr val="303A5D"/>
                </a:solidFill>
                <a:latin typeface="Segoe UI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814316" y="2546009"/>
            <a:ext cx="1097280" cy="4603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40" b="0" i="0">
                <a:solidFill>
                  <a:srgbClr val="717890"/>
                </a:solidFill>
                <a:latin typeface="Segoe UI"/>
              </a:rPr>
              <a:t>111 ₴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911596" y="2546009"/>
            <a:ext cx="822960" cy="4603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80" b="1" i="0">
                <a:solidFill>
                  <a:srgbClr val="1C2235"/>
                </a:solidFill>
                <a:latin typeface="Segoe UI"/>
              </a:rPr>
              <a:t>111 ₴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52628" y="3147352"/>
            <a:ext cx="178308" cy="178308"/>
          </a:xfrm>
          <a:prstGeom prst="roundRect">
            <a:avLst>
              <a:gd name="adj" fmla="val 50000"/>
            </a:avLst>
          </a:prstGeom>
          <a:solidFill>
            <a:srgbClr val="EAD3A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52628" y="3147352"/>
            <a:ext cx="178308" cy="1783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8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99516" y="3006340"/>
            <a:ext cx="651510" cy="4603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40" b="1" i="0">
                <a:solidFill>
                  <a:srgbClr val="303A5D"/>
                </a:solidFill>
                <a:latin typeface="Segoe UI"/>
              </a:rPr>
              <a:t>10 г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385316" y="3130630"/>
            <a:ext cx="96571" cy="211752"/>
          </a:xfrm>
          <a:prstGeom prst="rect">
            <a:avLst/>
          </a:prstGeom>
          <a:solidFill>
            <a:srgbClr val="DFB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536751" y="3006340"/>
            <a:ext cx="822960" cy="4603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24" b="1" i="0">
                <a:solidFill>
                  <a:srgbClr val="717890"/>
                </a:solidFill>
                <a:latin typeface="Segoe UI"/>
              </a:rPr>
              <a:t>3 · 4 %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579876" y="3006340"/>
            <a:ext cx="685800" cy="4603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40" b="0" i="0">
                <a:solidFill>
                  <a:srgbClr val="303A5D"/>
                </a:solidFill>
                <a:latin typeface="Segoe UI"/>
              </a:rPr>
              <a:t>1 · 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334256" y="3006340"/>
            <a:ext cx="411480" cy="4603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40" b="0" i="0">
                <a:solidFill>
                  <a:srgbClr val="303A5D"/>
                </a:solidFill>
                <a:latin typeface="Segoe UI"/>
              </a:rPr>
              <a:t>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814316" y="3006340"/>
            <a:ext cx="1097280" cy="4603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40" b="0" i="0">
                <a:solidFill>
                  <a:srgbClr val="717890"/>
                </a:solidFill>
                <a:latin typeface="Segoe UI"/>
              </a:rPr>
              <a:t>30–31 ₴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911596" y="3006340"/>
            <a:ext cx="822960" cy="4603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80" b="1" i="0">
                <a:solidFill>
                  <a:srgbClr val="1C2235"/>
                </a:solidFill>
                <a:latin typeface="Segoe UI"/>
              </a:rPr>
              <a:t>31 ₴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25196" y="3466672"/>
            <a:ext cx="6446520" cy="460331"/>
          </a:xfrm>
          <a:prstGeom prst="rect">
            <a:avLst/>
          </a:prstGeom>
          <a:solidFill>
            <a:srgbClr val="F8F9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452628" y="3607683"/>
            <a:ext cx="178308" cy="178308"/>
          </a:xfrm>
          <a:prstGeom prst="roundRect">
            <a:avLst>
              <a:gd name="adj" fmla="val 50000"/>
            </a:avLst>
          </a:prstGeom>
          <a:solidFill>
            <a:srgbClr val="EAD3A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52628" y="3607683"/>
            <a:ext cx="178308" cy="1783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8" b="1" i="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99516" y="3466672"/>
            <a:ext cx="651510" cy="4603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40" b="1" i="0">
                <a:solidFill>
                  <a:srgbClr val="303A5D"/>
                </a:solidFill>
                <a:latin typeface="Segoe UI"/>
              </a:rPr>
              <a:t>15 г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385316" y="3590961"/>
            <a:ext cx="96571" cy="211752"/>
          </a:xfrm>
          <a:prstGeom prst="rect">
            <a:avLst/>
          </a:prstGeom>
          <a:solidFill>
            <a:srgbClr val="DFB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536751" y="3466672"/>
            <a:ext cx="822960" cy="4603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24" b="1" i="0">
                <a:solidFill>
                  <a:srgbClr val="717890"/>
                </a:solidFill>
                <a:latin typeface="Segoe UI"/>
              </a:rPr>
              <a:t>3 · 4 %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579876" y="3466672"/>
            <a:ext cx="685800" cy="4603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40" b="0" i="0">
                <a:solidFill>
                  <a:srgbClr val="303A5D"/>
                </a:solidFill>
                <a:latin typeface="Segoe UI"/>
              </a:rPr>
              <a:t>1 · 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334256" y="3466672"/>
            <a:ext cx="411480" cy="4603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40" b="0" i="0">
                <a:solidFill>
                  <a:srgbClr val="303A5D"/>
                </a:solidFill>
                <a:latin typeface="Segoe UI"/>
              </a:rPr>
              <a:t>3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814316" y="3466672"/>
            <a:ext cx="1097280" cy="4603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40" b="0" i="0">
                <a:solidFill>
                  <a:srgbClr val="717890"/>
                </a:solidFill>
                <a:latin typeface="Segoe UI"/>
              </a:rPr>
              <a:t>80–124 ₴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911596" y="3466672"/>
            <a:ext cx="822960" cy="4603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80" b="1" i="0">
                <a:solidFill>
                  <a:srgbClr val="1C2235"/>
                </a:solidFill>
                <a:latin typeface="Segoe UI"/>
              </a:rPr>
              <a:t>96 ₴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452628" y="4068015"/>
            <a:ext cx="178308" cy="178308"/>
          </a:xfrm>
          <a:prstGeom prst="roundRect">
            <a:avLst>
              <a:gd name="adj" fmla="val 50000"/>
            </a:avLst>
          </a:prstGeom>
          <a:solidFill>
            <a:srgbClr val="EAD3A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52628" y="4068015"/>
            <a:ext cx="178308" cy="1783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8" b="1" i="0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99516" y="3927003"/>
            <a:ext cx="651510" cy="4603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40" b="1" i="0">
                <a:solidFill>
                  <a:srgbClr val="303A5D"/>
                </a:solidFill>
                <a:latin typeface="Segoe UI"/>
              </a:rPr>
              <a:t>20 г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385316" y="4051293"/>
            <a:ext cx="64381" cy="211752"/>
          </a:xfrm>
          <a:prstGeom prst="rect">
            <a:avLst/>
          </a:prstGeom>
          <a:solidFill>
            <a:srgbClr val="DFBA7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504561" y="3927003"/>
            <a:ext cx="822960" cy="4603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24" b="1" i="0">
                <a:solidFill>
                  <a:srgbClr val="717890"/>
                </a:solidFill>
                <a:latin typeface="Segoe UI"/>
              </a:rPr>
              <a:t>2 · 2 %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579876" y="3927003"/>
            <a:ext cx="685800" cy="4603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40" b="0" i="0">
                <a:solidFill>
                  <a:srgbClr val="303A5D"/>
                </a:solidFill>
                <a:latin typeface="Segoe UI"/>
              </a:rPr>
              <a:t>1 · 1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334256" y="3927003"/>
            <a:ext cx="411480" cy="4603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40" b="0" i="0">
                <a:solidFill>
                  <a:srgbClr val="303A5D"/>
                </a:solidFill>
                <a:latin typeface="Segoe UI"/>
              </a:rPr>
              <a:t>2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814316" y="3927003"/>
            <a:ext cx="1097280" cy="4603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40" b="0" i="0">
                <a:solidFill>
                  <a:srgbClr val="717890"/>
                </a:solidFill>
                <a:latin typeface="Segoe UI"/>
              </a:rPr>
              <a:t>139–151 ₴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911596" y="3927003"/>
            <a:ext cx="822960" cy="46033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80" b="1" i="0">
                <a:solidFill>
                  <a:srgbClr val="1C2235"/>
                </a:solidFill>
                <a:latin typeface="Segoe UI"/>
              </a:rPr>
              <a:t>145 ₴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995160" y="1268730"/>
            <a:ext cx="27432" cy="144018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104888" y="1282446"/>
            <a:ext cx="1714500" cy="10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 spc="30">
                <a:solidFill>
                  <a:srgbClr val="C4820A"/>
                </a:solidFill>
                <a:latin typeface="Segoe UI"/>
              </a:rPr>
              <a:t>НАША ПОЛИЦЯ ПРОТИ РИНКУ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995160" y="1508760"/>
            <a:ext cx="1728216" cy="6172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995160" y="1508760"/>
            <a:ext cx="34290" cy="617220"/>
          </a:xfrm>
          <a:prstGeom prst="rect">
            <a:avLst/>
          </a:prstGeom>
          <a:solidFill>
            <a:srgbClr val="2F7A3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7091172" y="1536192"/>
            <a:ext cx="157734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1C2235"/>
                </a:solidFill>
                <a:latin typeface="Segoe UI"/>
              </a:rPr>
              <a:t>Wow SEAWEED Original · 12 г  ×3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091172" y="1680210"/>
            <a:ext cx="157734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88" b="1" i="0">
                <a:solidFill>
                  <a:srgbClr val="2F7A3E"/>
                </a:solidFill>
                <a:latin typeface="Segoe UI"/>
              </a:rPr>
              <a:t>наша полиця 108 ₴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091172" y="1831086"/>
            <a:ext cx="1577340" cy="2948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ринок поруч: 5 поз., типова 33 ₴ → наша вища на 75 ₴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995160" y="2180844"/>
            <a:ext cx="1728216" cy="6172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6995160" y="2180844"/>
            <a:ext cx="34290" cy="617220"/>
          </a:xfrm>
          <a:prstGeom prst="rect">
            <a:avLst/>
          </a:prstGeom>
          <a:solidFill>
            <a:srgbClr val="2F7A3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7091172" y="2208276"/>
            <a:ext cx="157734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1C2235"/>
                </a:solidFill>
                <a:latin typeface="Segoe UI"/>
              </a:rPr>
              <a:t>Wow MINI Original · 10 г  ×2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091172" y="2352294"/>
            <a:ext cx="157734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88" b="1" i="0">
                <a:solidFill>
                  <a:srgbClr val="2F7A3E"/>
                </a:solidFill>
                <a:latin typeface="Segoe UI"/>
              </a:rPr>
              <a:t>наша полиця 109 ₴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091172" y="2503170"/>
            <a:ext cx="1577340" cy="2948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ринок поруч: 4 поз., типова 32 ₴ → наша вища на 77 ₴</a:t>
            </a:r>
          </a:p>
        </p:txBody>
      </p:sp>
      <p:sp>
        <p:nvSpPr>
          <p:cNvPr id="88" name="Rectangle 87"/>
          <p:cNvSpPr/>
          <p:nvPr/>
        </p:nvSpPr>
        <p:spPr>
          <a:xfrm>
            <a:off x="6995160" y="2852928"/>
            <a:ext cx="1728216" cy="6172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6995160" y="2852928"/>
            <a:ext cx="34290" cy="617220"/>
          </a:xfrm>
          <a:prstGeom prst="rect">
            <a:avLst/>
          </a:prstGeom>
          <a:solidFill>
            <a:srgbClr val="B23A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7091172" y="2880360"/>
            <a:ext cx="157734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1C2235"/>
                </a:solidFill>
                <a:latin typeface="Segoe UI"/>
              </a:rPr>
              <a:t>Sandwich Meat Floss · 25 г  ×2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091172" y="3024378"/>
            <a:ext cx="157734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88" b="1" i="0">
                <a:solidFill>
                  <a:srgbClr val="B23A22"/>
                </a:solidFill>
                <a:latin typeface="Segoe UI"/>
              </a:rPr>
              <a:t>наша полиця 79 ₴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091172" y="3175254"/>
            <a:ext cx="1577340" cy="2948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ринок поруч: 11 поз., типова 72 ₴ → наша вища на 7 ₴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25196" y="4855464"/>
            <a:ext cx="829818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1">
                <a:solidFill>
                  <a:srgbClr val="717890"/>
                </a:solidFill>
                <a:latin typeface="Segoe UI"/>
              </a:rPr>
              <a:t>Каталоги мереж на zakaz.ua (METRO, NOVUS, Ашан, Зараз, МегаМаркет, Ultramarket, Епіцентр, Космос, Onde, Ідеал, Восторг, Клас, Таврія В, ЧудоМаркет, Торба, Grono) · 07.10.2026 · ціна — онлайн-полиця одного магазину мережі, діапазон — між мережами.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977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3977" cy="795528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95528"/>
            <a:ext cx="9143977" cy="41148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" y="178308"/>
            <a:ext cx="1042416" cy="4526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728216" y="205740"/>
            <a:ext cx="61722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1" i="0" spc="30">
                <a:solidFill>
                  <a:srgbClr val="FFC95C"/>
                </a:solidFill>
                <a:latin typeface="Segoe UI"/>
              </a:rPr>
              <a:t>СЕГМЕНТ · НОРІ-ЧИПСИ ТА СЕНДВІЧІ · 19 ПОЗИЦІЙ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28216" y="377190"/>
            <a:ext cx="61722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20" b="1" i="0">
                <a:solidFill>
                  <a:srgbClr val="FFFFFF"/>
                </a:solidFill>
                <a:latin typeface="Segoe UI"/>
              </a:rPr>
              <a:t>Чипси та сендвічі: каталог — 21–151 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20990" y="301752"/>
            <a:ext cx="768096" cy="2263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360" b="1" i="0">
                <a:solidFill>
                  <a:srgbClr val="465382"/>
                </a:solidFill>
                <a:latin typeface="Segoe UI"/>
              </a:rPr>
              <a:t>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5196" y="918972"/>
            <a:ext cx="82981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72" b="0" i="0">
                <a:solidFill>
                  <a:srgbClr val="717890"/>
                </a:solidFill>
                <a:latin typeface="Segoe UI"/>
              </a:rPr>
              <a:t>Картка = лінійка бренда (бренд + вага пакета). Ціна — діапазон по мережах, де лінійка знайдена; смаки з однаковою упаковкою згруповано, кількість смаків — під ціною.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5196" y="1152144"/>
            <a:ext cx="1316736" cy="190652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5196" y="1152144"/>
            <a:ext cx="1316736" cy="2743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80060" y="1234440"/>
            <a:ext cx="1207008" cy="9052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3" name="Picture 12" descr="0482026555035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510" y="1255014"/>
            <a:ext cx="864108" cy="86410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93776" y="2194560"/>
            <a:ext cx="117957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4" b="1" i="0">
                <a:solidFill>
                  <a:srgbClr val="1C2235"/>
                </a:solidFill>
                <a:latin typeface="Segoe UI"/>
              </a:rPr>
              <a:t>Norris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" y="2331720"/>
            <a:ext cx="1179576" cy="2331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З фруктами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" y="2571750"/>
            <a:ext cx="1179576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0" b="1" i="0">
                <a:solidFill>
                  <a:srgbClr val="1C2235"/>
                </a:solidFill>
                <a:latin typeface="Segoe UI"/>
              </a:rPr>
              <a:t>30–31 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" y="2770632"/>
            <a:ext cx="1179576" cy="1234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10 г · 1 смак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" y="2894076"/>
            <a:ext cx="117957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Onde · Восторг +1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24228" y="1152144"/>
            <a:ext cx="1316736" cy="190652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824228" y="1152144"/>
            <a:ext cx="1316736" cy="2743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879092" y="1234440"/>
            <a:ext cx="1207008" cy="9052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2" name="Picture 21" descr="0482026555021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0542" y="1255014"/>
            <a:ext cx="864108" cy="864108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892808" y="2194560"/>
            <a:ext cx="117957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4" b="1" i="0">
                <a:solidFill>
                  <a:srgbClr val="1C2235"/>
                </a:solidFill>
                <a:latin typeface="Segoe UI"/>
              </a:rPr>
              <a:t>Norris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92808" y="2331720"/>
            <a:ext cx="1179576" cy="2331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Сендвіч з кунжутом, сендвіч з гарбузовим насінням +1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92808" y="2571750"/>
            <a:ext cx="1179576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0" b="1" i="0">
                <a:solidFill>
                  <a:srgbClr val="1C2235"/>
                </a:solidFill>
                <a:latin typeface="Segoe UI"/>
              </a:rPr>
              <a:t>21–34 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92808" y="2770632"/>
            <a:ext cx="1179576" cy="1234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8 г · 3 смаки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92808" y="2894076"/>
            <a:ext cx="117957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NOVUS · Епіцентр +5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23260" y="1152144"/>
            <a:ext cx="1316736" cy="190652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23260" y="1152144"/>
            <a:ext cx="1316736" cy="2743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78124" y="1234440"/>
            <a:ext cx="1207008" cy="9052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1" name="Picture 30" descr="04820172442974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49574" y="1255014"/>
            <a:ext cx="864108" cy="864108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3291840" y="2194560"/>
            <a:ext cx="117957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4" b="1" i="0">
                <a:solidFill>
                  <a:srgbClr val="1C2235"/>
                </a:solidFill>
                <a:latin typeface="Segoe UI"/>
              </a:rPr>
              <a:t>Hokkaido Club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91840" y="2331720"/>
            <a:ext cx="1179576" cy="2331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Солоні, сир, васабі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91840" y="2571750"/>
            <a:ext cx="1179576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0" b="1" i="0">
                <a:solidFill>
                  <a:srgbClr val="1C2235"/>
                </a:solidFill>
                <a:latin typeface="Segoe UI"/>
              </a:rPr>
              <a:t>51–71 ₴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91840" y="2770632"/>
            <a:ext cx="1179576" cy="1234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25 г · 3 смаки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91840" y="2894076"/>
            <a:ext cx="117957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METRO · NOVUS +6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622292" y="1152144"/>
            <a:ext cx="1316736" cy="190652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622292" y="1152144"/>
            <a:ext cx="1316736" cy="2743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677156" y="1234440"/>
            <a:ext cx="1207008" cy="9052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0" name="Picture 39" descr="0482026555010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8606" y="1255014"/>
            <a:ext cx="864108" cy="864108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4690872" y="2194560"/>
            <a:ext cx="117957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4" b="1" i="0">
                <a:solidFill>
                  <a:srgbClr val="1C2235"/>
                </a:solidFill>
                <a:latin typeface="Segoe UI"/>
              </a:rPr>
              <a:t>Norris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90872" y="2331720"/>
            <a:ext cx="1179576" cy="2331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З васабі, з сіллю, з сиром +1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90872" y="2571750"/>
            <a:ext cx="1179576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0" b="1" i="0">
                <a:solidFill>
                  <a:srgbClr val="1C2235"/>
                </a:solidFill>
                <a:latin typeface="Segoe UI"/>
              </a:rPr>
              <a:t>47–88 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90872" y="2770632"/>
            <a:ext cx="1179576" cy="1234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25 г · 4 смаки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90872" y="2894076"/>
            <a:ext cx="117957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NOVUS · Епіцентр +4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021324" y="1152144"/>
            <a:ext cx="1316736" cy="190652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021324" y="1152144"/>
            <a:ext cx="1316736" cy="2743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076188" y="1234440"/>
            <a:ext cx="1207008" cy="9052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9" name="Picture 48" descr="08809094843003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47638" y="1255014"/>
            <a:ext cx="864108" cy="864108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6089904" y="2194560"/>
            <a:ext cx="117957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4" b="1" i="0">
                <a:solidFill>
                  <a:srgbClr val="1C2235"/>
                </a:solidFill>
                <a:latin typeface="Segoe UI"/>
              </a:rPr>
              <a:t>Ock Dong Ja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89904" y="2331720"/>
            <a:ext cx="1179576" cy="2331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З кунжутною олією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089904" y="2571750"/>
            <a:ext cx="1179576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0" b="1" i="0">
                <a:solidFill>
                  <a:srgbClr val="1C2235"/>
                </a:solidFill>
                <a:latin typeface="Segoe UI"/>
              </a:rPr>
              <a:t>80–124 ₴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089904" y="2770632"/>
            <a:ext cx="1179576" cy="1234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15 г · 1 смак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089904" y="2894076"/>
            <a:ext cx="117957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Ашан · Зараз +1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420356" y="1152144"/>
            <a:ext cx="1316736" cy="190652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420356" y="1152144"/>
            <a:ext cx="1316736" cy="2743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475220" y="1234440"/>
            <a:ext cx="1207008" cy="9052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58" name="Picture 57" descr="04820298900020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46670" y="1255014"/>
            <a:ext cx="864108" cy="864108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7488936" y="2194560"/>
            <a:ext cx="117957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4" b="1" i="0">
                <a:solidFill>
                  <a:srgbClr val="1C2235"/>
                </a:solidFill>
                <a:latin typeface="Segoe UI"/>
              </a:rPr>
              <a:t>Ocean Snack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488936" y="2331720"/>
            <a:ext cx="1179576" cy="2331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З арахісом, з кунжутом, з мигдалем та кунжутом +1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488936" y="2571750"/>
            <a:ext cx="1179576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0" b="1" i="0">
                <a:solidFill>
                  <a:srgbClr val="1C2235"/>
                </a:solidFill>
                <a:latin typeface="Segoe UI"/>
              </a:rPr>
              <a:t>111 ₴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488936" y="2770632"/>
            <a:ext cx="1179576" cy="1234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40 г · 4 смаки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488936" y="2894076"/>
            <a:ext cx="117957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Восторг · Клас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25196" y="3099816"/>
            <a:ext cx="1316736" cy="190652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425196" y="3099816"/>
            <a:ext cx="1316736" cy="2743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480060" y="3182112"/>
            <a:ext cx="1207008" cy="9052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67" name="Picture 66" descr="08809094841061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1510" y="3202686"/>
            <a:ext cx="864108" cy="864108"/>
          </a:xfrm>
          <a:prstGeom prst="rect">
            <a:avLst/>
          </a:prstGeom>
        </p:spPr>
      </p:pic>
      <p:sp>
        <p:nvSpPr>
          <p:cNvPr id="68" name="TextBox 67"/>
          <p:cNvSpPr txBox="1"/>
          <p:nvPr/>
        </p:nvSpPr>
        <p:spPr>
          <a:xfrm>
            <a:off x="493776" y="4142232"/>
            <a:ext cx="117957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4" b="1" i="0">
                <a:solidFill>
                  <a:srgbClr val="1C2235"/>
                </a:solidFill>
                <a:latin typeface="Segoe UI"/>
              </a:rPr>
              <a:t>Ock Dong Ja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93776" y="4279392"/>
            <a:ext cx="1179576" cy="2331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З оливковою олією, з кунжутною олією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93776" y="4519422"/>
            <a:ext cx="1179576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0" b="1" i="0">
                <a:solidFill>
                  <a:srgbClr val="1C2235"/>
                </a:solidFill>
                <a:latin typeface="Segoe UI"/>
              </a:rPr>
              <a:t>112–151 ₴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93776" y="4718304"/>
            <a:ext cx="1179576" cy="1234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25 г · 2 смаки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93776" y="4841748"/>
            <a:ext cx="117957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Ашан · Зараз +1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824228" y="3099816"/>
            <a:ext cx="1316736" cy="190652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1824228" y="3099816"/>
            <a:ext cx="1316736" cy="2743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1879092" y="3182112"/>
            <a:ext cx="1207008" cy="9052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76" name="Picture 75" descr="08809094845014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50542" y="3202686"/>
            <a:ext cx="864108" cy="864108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1892808" y="4142232"/>
            <a:ext cx="117957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4" b="1" i="0">
                <a:solidFill>
                  <a:srgbClr val="1C2235"/>
                </a:solidFill>
                <a:latin typeface="Segoe UI"/>
              </a:rPr>
              <a:t>Ock Dong Ja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892808" y="4279392"/>
            <a:ext cx="1179576" cy="2331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З кунжутною олією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892808" y="4519422"/>
            <a:ext cx="1179576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0" b="1" i="0">
                <a:solidFill>
                  <a:srgbClr val="1C2235"/>
                </a:solidFill>
                <a:latin typeface="Segoe UI"/>
              </a:rPr>
              <a:t>139–151 ₴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892808" y="4718304"/>
            <a:ext cx="1179576" cy="1234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20 г · 1 смак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892808" y="4841748"/>
            <a:ext cx="117957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Ашан · Onde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977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3977" cy="795528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95528"/>
            <a:ext cx="9143977" cy="41148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" y="178308"/>
            <a:ext cx="1042416" cy="4526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728216" y="205740"/>
            <a:ext cx="61722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1" i="0" spc="30">
                <a:solidFill>
                  <a:srgbClr val="FFC95C"/>
                </a:solidFill>
                <a:latin typeface="Segoe UI"/>
              </a:rPr>
              <a:t>СЕГМЕНТ · НОРІ-ЧИПСИ ТА СЕНДВІЧІ · ДЕ ПРОДАЄТЬСЯ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28216" y="377190"/>
            <a:ext cx="61722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20" b="1" i="0">
                <a:solidFill>
                  <a:srgbClr val="FFFFFF"/>
                </a:solidFill>
                <a:latin typeface="Segoe UI"/>
              </a:rPr>
              <a:t>Чипси та сендвічі: де продається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20990" y="301752"/>
            <a:ext cx="768096" cy="2263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360" b="1" i="0">
                <a:solidFill>
                  <a:srgbClr val="465382"/>
                </a:solidFill>
                <a:latin typeface="Segoe UI"/>
              </a:rPr>
              <a:t>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5196" y="918972"/>
            <a:ext cx="82981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72" b="0" i="0">
                <a:solidFill>
                  <a:srgbClr val="717890"/>
                </a:solidFill>
                <a:latin typeface="Segoe UI"/>
              </a:rPr>
              <a:t>Скільки позицій цього сегмента стоїть у кожній мережі, які бренди та за яку ціну упаковки; праворуч — мережі за типом: національні — головний цільовий канал, регіональні — вхід, без позицій — вільна полиця.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" y="1337310"/>
            <a:ext cx="20574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 spc="40">
                <a:solidFill>
                  <a:srgbClr val="717890"/>
                </a:solidFill>
                <a:latin typeface="Segoe UI"/>
              </a:rPr>
              <a:t>МЕРЕЖА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74470" y="1337310"/>
            <a:ext cx="20574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 spc="40">
                <a:solidFill>
                  <a:srgbClr val="717890"/>
                </a:solidFill>
                <a:latin typeface="Segoe UI"/>
              </a:rPr>
              <a:t>ПОЗИЦІЙ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1337310"/>
            <a:ext cx="20574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 spc="40">
                <a:solidFill>
                  <a:srgbClr val="717890"/>
                </a:solidFill>
                <a:latin typeface="Segoe UI"/>
              </a:rPr>
              <a:t>БРЕНДИ · ЦІНА УПАКОВКИ, ₴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5196" y="1543050"/>
            <a:ext cx="4800600" cy="232682"/>
          </a:xfrm>
          <a:prstGeom prst="rect">
            <a:avLst/>
          </a:prstGeom>
          <a:solidFill>
            <a:srgbClr val="F8F9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3776" y="1543050"/>
            <a:ext cx="960120" cy="2326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68" b="1" i="0">
                <a:solidFill>
                  <a:srgbClr val="303A5D"/>
                </a:solidFill>
                <a:latin typeface="Segoe UI"/>
              </a:rPr>
              <a:t>Епіцентр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474470" y="1601220"/>
            <a:ext cx="1028700" cy="116341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51176" y="1543050"/>
            <a:ext cx="342900" cy="2326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52" b="1" i="0">
                <a:solidFill>
                  <a:srgbClr val="303A5D"/>
                </a:solidFill>
                <a:latin typeface="Segoe UI"/>
              </a:rPr>
              <a:t>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80360" y="1561664"/>
            <a:ext cx="2331720" cy="1163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1" i="0">
                <a:solidFill>
                  <a:srgbClr val="1C2235"/>
                </a:solidFill>
                <a:latin typeface="Segoe UI"/>
              </a:rPr>
              <a:t>Norris 7, Hokkaido Club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80360" y="1664044"/>
            <a:ext cx="2331720" cy="93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30–76 ₴ · типова 58 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" y="1775732"/>
            <a:ext cx="960120" cy="2326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68" b="1" i="0">
                <a:solidFill>
                  <a:srgbClr val="303A5D"/>
                </a:solidFill>
                <a:latin typeface="Segoe UI"/>
              </a:rPr>
              <a:t>NOVUS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74470" y="1833902"/>
            <a:ext cx="1028700" cy="116341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51176" y="1775732"/>
            <a:ext cx="342900" cy="2326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52" b="1" i="0">
                <a:solidFill>
                  <a:srgbClr val="303A5D"/>
                </a:solidFill>
                <a:latin typeface="Segoe UI"/>
              </a:rPr>
              <a:t>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80360" y="1794346"/>
            <a:ext cx="2331720" cy="1163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1" i="0">
                <a:solidFill>
                  <a:srgbClr val="1C2235"/>
                </a:solidFill>
                <a:latin typeface="Segoe UI"/>
              </a:rPr>
              <a:t>Norris 7, Hokkaido Club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80360" y="1896726"/>
            <a:ext cx="2331720" cy="93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30–76 ₴ · типова 58 ₴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5196" y="2008414"/>
            <a:ext cx="4800600" cy="232682"/>
          </a:xfrm>
          <a:prstGeom prst="rect">
            <a:avLst/>
          </a:prstGeom>
          <a:solidFill>
            <a:srgbClr val="F8F9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93776" y="2008414"/>
            <a:ext cx="960120" cy="2326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68" b="1" i="0">
                <a:solidFill>
                  <a:srgbClr val="303A5D"/>
                </a:solidFill>
                <a:latin typeface="Segoe UI"/>
              </a:rPr>
              <a:t>Ідеал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474470" y="2066584"/>
            <a:ext cx="1028700" cy="116341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551176" y="2008414"/>
            <a:ext cx="342900" cy="2326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52" b="1" i="0">
                <a:solidFill>
                  <a:srgbClr val="303A5D"/>
                </a:solidFill>
                <a:latin typeface="Segoe UI"/>
              </a:rPr>
              <a:t>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80360" y="2027028"/>
            <a:ext cx="2331720" cy="1163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1" i="0">
                <a:solidFill>
                  <a:srgbClr val="1C2235"/>
                </a:solidFill>
                <a:latin typeface="Segoe UI"/>
              </a:rPr>
              <a:t>Norris 7, Hokkaido Club 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80360" y="2129409"/>
            <a:ext cx="2331720" cy="93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30–76 ₴ · типова 58 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3776" y="2241096"/>
            <a:ext cx="960120" cy="2326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68" b="1" i="0">
                <a:solidFill>
                  <a:srgbClr val="303A5D"/>
                </a:solidFill>
                <a:latin typeface="Segoe UI"/>
              </a:rPr>
              <a:t>Восторг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474470" y="2299266"/>
            <a:ext cx="822960" cy="116341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345436" y="2241096"/>
            <a:ext cx="342900" cy="2326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52" b="1" i="0">
                <a:solidFill>
                  <a:srgbClr val="303A5D"/>
                </a:solidFill>
                <a:latin typeface="Segoe UI"/>
              </a:rPr>
              <a:t>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880360" y="2259711"/>
            <a:ext cx="2331720" cy="1163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1" i="0">
                <a:solidFill>
                  <a:srgbClr val="1C2235"/>
                </a:solidFill>
                <a:latin typeface="Segoe UI"/>
              </a:rPr>
              <a:t>Norris 4, Ocean Snack 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880360" y="2362091"/>
            <a:ext cx="2331720" cy="93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30–111 ₴ · типова 72 ₴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5196" y="2473778"/>
            <a:ext cx="4800600" cy="232682"/>
          </a:xfrm>
          <a:prstGeom prst="rect">
            <a:avLst/>
          </a:prstGeom>
          <a:solidFill>
            <a:srgbClr val="F8F9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93776" y="2473778"/>
            <a:ext cx="960120" cy="2326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68" b="1" i="0">
                <a:solidFill>
                  <a:srgbClr val="303A5D"/>
                </a:solidFill>
                <a:latin typeface="Segoe UI"/>
              </a:rPr>
              <a:t>Клас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474470" y="2531949"/>
            <a:ext cx="822960" cy="116341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345436" y="2473778"/>
            <a:ext cx="342900" cy="2326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52" b="1" i="0">
                <a:solidFill>
                  <a:srgbClr val="303A5D"/>
                </a:solidFill>
                <a:latin typeface="Segoe UI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880360" y="2492393"/>
            <a:ext cx="2331720" cy="1163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1" i="0">
                <a:solidFill>
                  <a:srgbClr val="1C2235"/>
                </a:solidFill>
                <a:latin typeface="Segoe UI"/>
              </a:rPr>
              <a:t>Norris 4, Ocean Snack 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880360" y="2594773"/>
            <a:ext cx="2331720" cy="93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30–111 ₴ · типова 72 ₴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93776" y="2706460"/>
            <a:ext cx="960120" cy="2326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68" b="1" i="0">
                <a:solidFill>
                  <a:srgbClr val="303A5D"/>
                </a:solidFill>
                <a:latin typeface="Segoe UI"/>
              </a:rPr>
              <a:t>Onde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474470" y="2764631"/>
            <a:ext cx="720090" cy="116341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242566" y="2706460"/>
            <a:ext cx="342900" cy="2326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52" b="1" i="0">
                <a:solidFill>
                  <a:srgbClr val="303A5D"/>
                </a:solidFill>
                <a:latin typeface="Segoe UI"/>
              </a:rPr>
              <a:t>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880360" y="2725075"/>
            <a:ext cx="2331720" cy="1163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1" i="0">
                <a:solidFill>
                  <a:srgbClr val="1C2235"/>
                </a:solidFill>
                <a:latin typeface="Segoe UI"/>
              </a:rPr>
              <a:t>Norris 4, Ock Dong Ja 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880360" y="2827455"/>
            <a:ext cx="2331720" cy="93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31–145 ₴ · типова 72 ₴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25196" y="2939142"/>
            <a:ext cx="4800600" cy="232682"/>
          </a:xfrm>
          <a:prstGeom prst="rect">
            <a:avLst/>
          </a:prstGeom>
          <a:solidFill>
            <a:srgbClr val="F8F9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93776" y="2939142"/>
            <a:ext cx="960120" cy="2326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68" b="1" i="0">
                <a:solidFill>
                  <a:srgbClr val="303A5D"/>
                </a:solidFill>
                <a:latin typeface="Segoe UI"/>
              </a:rPr>
              <a:t>Космос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474470" y="2997313"/>
            <a:ext cx="720090" cy="116341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242566" y="2939142"/>
            <a:ext cx="342900" cy="2326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52" b="1" i="0">
                <a:solidFill>
                  <a:srgbClr val="303A5D"/>
                </a:solidFill>
                <a:latin typeface="Segoe UI"/>
              </a:rPr>
              <a:t>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880360" y="2957757"/>
            <a:ext cx="2331720" cy="1163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1" i="0">
                <a:solidFill>
                  <a:srgbClr val="1C2235"/>
                </a:solidFill>
                <a:latin typeface="Segoe UI"/>
              </a:rPr>
              <a:t>Norris 7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880360" y="3060137"/>
            <a:ext cx="2331720" cy="93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30–76 ₴ · типова 68 ₴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93776" y="3171825"/>
            <a:ext cx="960120" cy="2326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68" b="1" i="0">
                <a:solidFill>
                  <a:srgbClr val="303A5D"/>
                </a:solidFill>
                <a:latin typeface="Segoe UI"/>
              </a:rPr>
              <a:t>Ашан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474470" y="3229995"/>
            <a:ext cx="617220" cy="116341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139696" y="3171825"/>
            <a:ext cx="342900" cy="2326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52" b="1" i="0">
                <a:solidFill>
                  <a:srgbClr val="303A5D"/>
                </a:solidFill>
                <a:latin typeface="Segoe UI"/>
              </a:rPr>
              <a:t>6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880360" y="3190439"/>
            <a:ext cx="2331720" cy="1163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1" i="0">
                <a:solidFill>
                  <a:srgbClr val="1C2235"/>
                </a:solidFill>
                <a:latin typeface="Segoe UI"/>
              </a:rPr>
              <a:t>Hokkaido Club 3, Ock Dong Ja 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880360" y="3292819"/>
            <a:ext cx="2331720" cy="93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58–145 ₴ · типова 77 ₴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25196" y="3404507"/>
            <a:ext cx="4800600" cy="232682"/>
          </a:xfrm>
          <a:prstGeom prst="rect">
            <a:avLst/>
          </a:prstGeom>
          <a:solidFill>
            <a:srgbClr val="F8F9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93776" y="3404507"/>
            <a:ext cx="960120" cy="2326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68" b="1" i="0">
                <a:solidFill>
                  <a:srgbClr val="303A5D"/>
                </a:solidFill>
                <a:latin typeface="Segoe UI"/>
              </a:rPr>
              <a:t>Зараз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474470" y="3462677"/>
            <a:ext cx="617220" cy="116341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139696" y="3404507"/>
            <a:ext cx="342900" cy="2326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52" b="1" i="0">
                <a:solidFill>
                  <a:srgbClr val="303A5D"/>
                </a:solidFill>
                <a:latin typeface="Segoe UI"/>
              </a:rPr>
              <a:t>6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880360" y="3423121"/>
            <a:ext cx="2331720" cy="1163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1" i="0">
                <a:solidFill>
                  <a:srgbClr val="1C2235"/>
                </a:solidFill>
                <a:latin typeface="Segoe UI"/>
              </a:rPr>
              <a:t>Hokkaido Club 3, Ock Dong Ja 3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880360" y="3525501"/>
            <a:ext cx="2331720" cy="93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58–139 ₴ · типова 77 ₴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93776" y="3637189"/>
            <a:ext cx="960120" cy="2326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68" b="1" i="0">
                <a:solidFill>
                  <a:srgbClr val="303A5D"/>
                </a:solidFill>
                <a:latin typeface="Segoe UI"/>
              </a:rPr>
              <a:t>METRO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474470" y="3695359"/>
            <a:ext cx="308610" cy="116341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831086" y="3637189"/>
            <a:ext cx="342900" cy="2326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52" b="1" i="0">
                <a:solidFill>
                  <a:srgbClr val="303A5D"/>
                </a:solidFill>
                <a:latin typeface="Segoe UI"/>
              </a:rPr>
              <a:t>3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880360" y="3655803"/>
            <a:ext cx="2331720" cy="1163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1" i="0">
                <a:solidFill>
                  <a:srgbClr val="1C2235"/>
                </a:solidFill>
                <a:latin typeface="Segoe UI"/>
              </a:rPr>
              <a:t>Hokkaido Club 3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880360" y="3758184"/>
            <a:ext cx="2331720" cy="93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58 ₴ · типова 58 ₴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25196" y="3869871"/>
            <a:ext cx="4800600" cy="232682"/>
          </a:xfrm>
          <a:prstGeom prst="rect">
            <a:avLst/>
          </a:prstGeom>
          <a:solidFill>
            <a:srgbClr val="F8F9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93776" y="3869871"/>
            <a:ext cx="960120" cy="2326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68" b="1" i="0">
                <a:solidFill>
                  <a:srgbClr val="303A5D"/>
                </a:solidFill>
                <a:latin typeface="Segoe UI"/>
              </a:rPr>
              <a:t>Ultramarket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474470" y="3928041"/>
            <a:ext cx="308610" cy="116341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831086" y="3869871"/>
            <a:ext cx="342900" cy="2326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52" b="1" i="0">
                <a:solidFill>
                  <a:srgbClr val="303A5D"/>
                </a:solidFill>
                <a:latin typeface="Segoe UI"/>
              </a:rPr>
              <a:t>3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880360" y="3888486"/>
            <a:ext cx="2331720" cy="1163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1" i="0">
                <a:solidFill>
                  <a:srgbClr val="1C2235"/>
                </a:solidFill>
                <a:latin typeface="Segoe UI"/>
              </a:rPr>
              <a:t>Hokkaido Club 3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880360" y="3990866"/>
            <a:ext cx="2331720" cy="93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58 ₴ · типова 58 ₴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93776" y="4102553"/>
            <a:ext cx="960120" cy="2326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68" b="1" i="0">
                <a:solidFill>
                  <a:srgbClr val="303A5D"/>
                </a:solidFill>
                <a:latin typeface="Segoe UI"/>
              </a:rPr>
              <a:t>МегаМаркет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474470" y="4160724"/>
            <a:ext cx="308610" cy="116341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831086" y="4102553"/>
            <a:ext cx="342900" cy="2326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52" b="1" i="0">
                <a:solidFill>
                  <a:srgbClr val="303A5D"/>
                </a:solidFill>
                <a:latin typeface="Segoe UI"/>
              </a:rPr>
              <a:t>3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880360" y="4121168"/>
            <a:ext cx="2331720" cy="1163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1" i="0">
                <a:solidFill>
                  <a:srgbClr val="1C2235"/>
                </a:solidFill>
                <a:latin typeface="Segoe UI"/>
              </a:rPr>
              <a:t>Hokkaido Club 3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880360" y="4223548"/>
            <a:ext cx="2331720" cy="93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58 ₴ · типова 58 ₴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25196" y="4335235"/>
            <a:ext cx="4800600" cy="232682"/>
          </a:xfrm>
          <a:prstGeom prst="rect">
            <a:avLst/>
          </a:prstGeom>
          <a:solidFill>
            <a:srgbClr val="F8F9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93776" y="4335235"/>
            <a:ext cx="960120" cy="2326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68" b="1" i="0">
                <a:solidFill>
                  <a:srgbClr val="303A5D"/>
                </a:solidFill>
                <a:latin typeface="Segoe UI"/>
              </a:rPr>
              <a:t>Таврія В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474470" y="4393406"/>
            <a:ext cx="205740" cy="116341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728216" y="4335235"/>
            <a:ext cx="342900" cy="2326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52" b="1" i="0">
                <a:solidFill>
                  <a:srgbClr val="303A5D"/>
                </a:solidFill>
                <a:latin typeface="Segoe UI"/>
              </a:rPr>
              <a:t>2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880360" y="4353850"/>
            <a:ext cx="2331720" cy="1163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1" i="0">
                <a:solidFill>
                  <a:srgbClr val="1C2235"/>
                </a:solidFill>
                <a:latin typeface="Segoe UI"/>
              </a:rPr>
              <a:t>Norris 2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880360" y="4456230"/>
            <a:ext cx="2331720" cy="93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68–70 ₴ · типова 69 ₴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93776" y="4567917"/>
            <a:ext cx="960120" cy="2326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68" b="1" i="0">
                <a:solidFill>
                  <a:srgbClr val="303A5D"/>
                </a:solidFill>
                <a:latin typeface="Segoe UI"/>
              </a:rPr>
              <a:t>Торба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474470" y="4626088"/>
            <a:ext cx="102870" cy="116341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625346" y="4567917"/>
            <a:ext cx="342900" cy="23268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52" b="1" i="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880360" y="4586532"/>
            <a:ext cx="2331720" cy="1163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1" i="0">
                <a:solidFill>
                  <a:srgbClr val="1C2235"/>
                </a:solidFill>
                <a:latin typeface="Segoe UI"/>
              </a:rPr>
              <a:t>Norris 1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880360" y="4688912"/>
            <a:ext cx="2331720" cy="93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30 ₴ · типова 30 ₴</a:t>
            </a:r>
          </a:p>
        </p:txBody>
      </p:sp>
      <p:sp>
        <p:nvSpPr>
          <p:cNvPr id="90" name="Rectangle 89"/>
          <p:cNvSpPr/>
          <p:nvPr/>
        </p:nvSpPr>
        <p:spPr>
          <a:xfrm>
            <a:off x="5417820" y="1337310"/>
            <a:ext cx="3291840" cy="2057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5417820" y="1351026"/>
            <a:ext cx="2194560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20" b="1" i="0">
                <a:solidFill>
                  <a:srgbClr val="303A5D"/>
                </a:solidFill>
                <a:latin typeface="Segoe UI"/>
              </a:rPr>
              <a:t>Національні мережі · 7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543800" y="1351026"/>
            <a:ext cx="1165860" cy="164592"/>
          </a:xfrm>
          <a:prstGeom prst="rect">
            <a:avLst/>
          </a:prstGeom>
          <a:solidFill>
            <a:srgbClr val="B23A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543800" y="1351026"/>
            <a:ext cx="116586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ЦІЛЬОВИЙ КАНАЛ</a:t>
            </a:r>
          </a:p>
        </p:txBody>
      </p:sp>
      <p:sp>
        <p:nvSpPr>
          <p:cNvPr id="94" name="Rectangle 93"/>
          <p:cNvSpPr/>
          <p:nvPr/>
        </p:nvSpPr>
        <p:spPr>
          <a:xfrm>
            <a:off x="5417820" y="1625346"/>
            <a:ext cx="829818" cy="192024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5472684" y="1639062"/>
            <a:ext cx="555498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1" i="0">
                <a:solidFill>
                  <a:srgbClr val="1C2235"/>
                </a:solidFill>
                <a:latin typeface="Segoe UI"/>
              </a:rPr>
              <a:t>NOVUS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028182" y="1652778"/>
            <a:ext cx="178308" cy="137160"/>
          </a:xfrm>
          <a:prstGeom prst="rect">
            <a:avLst/>
          </a:prstGeom>
          <a:solidFill>
            <a:srgbClr val="B23A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028182" y="1652778"/>
            <a:ext cx="178308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10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316218" y="1625346"/>
            <a:ext cx="998524" cy="192024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371082" y="1639062"/>
            <a:ext cx="724204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1" i="0">
                <a:solidFill>
                  <a:srgbClr val="1C2235"/>
                </a:solidFill>
                <a:latin typeface="Segoe UI"/>
              </a:rPr>
              <a:t>Епіцентр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7095286" y="1652778"/>
            <a:ext cx="178308" cy="137160"/>
          </a:xfrm>
          <a:prstGeom prst="rect">
            <a:avLst/>
          </a:prstGeom>
          <a:solidFill>
            <a:srgbClr val="B23A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7095286" y="1652778"/>
            <a:ext cx="178308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10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383322" y="1625346"/>
            <a:ext cx="773582" cy="192024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438186" y="1639062"/>
            <a:ext cx="49926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1" i="0">
                <a:solidFill>
                  <a:srgbClr val="1C2235"/>
                </a:solidFill>
                <a:latin typeface="Segoe UI"/>
              </a:rPr>
              <a:t>Ашан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937449" y="1652778"/>
            <a:ext cx="178308" cy="137160"/>
          </a:xfrm>
          <a:prstGeom prst="rect">
            <a:avLst/>
          </a:prstGeom>
          <a:solidFill>
            <a:srgbClr val="B23A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937449" y="1652778"/>
            <a:ext cx="178308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5417820" y="1872234"/>
            <a:ext cx="829818" cy="192024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5472684" y="1885950"/>
            <a:ext cx="555498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1" i="0">
                <a:solidFill>
                  <a:srgbClr val="1C2235"/>
                </a:solidFill>
                <a:latin typeface="Segoe UI"/>
              </a:rPr>
              <a:t>Зараз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028182" y="1899666"/>
            <a:ext cx="178308" cy="137160"/>
          </a:xfrm>
          <a:prstGeom prst="rect">
            <a:avLst/>
          </a:prstGeom>
          <a:solidFill>
            <a:srgbClr val="B23A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028182" y="1899666"/>
            <a:ext cx="178308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6316218" y="1872234"/>
            <a:ext cx="829818" cy="192024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6371082" y="1885950"/>
            <a:ext cx="555498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1" i="0">
                <a:solidFill>
                  <a:srgbClr val="1C2235"/>
                </a:solidFill>
                <a:latin typeface="Segoe UI"/>
              </a:rPr>
              <a:t>METRO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926580" y="1899666"/>
            <a:ext cx="178308" cy="137160"/>
          </a:xfrm>
          <a:prstGeom prst="rect">
            <a:avLst/>
          </a:prstGeom>
          <a:solidFill>
            <a:srgbClr val="B23A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926580" y="1899666"/>
            <a:ext cx="178308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7214616" y="1872234"/>
            <a:ext cx="1110996" cy="192024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7269480" y="1885950"/>
            <a:ext cx="836676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1" i="0">
                <a:solidFill>
                  <a:srgbClr val="1C2235"/>
                </a:solidFill>
                <a:latin typeface="Segoe UI"/>
              </a:rPr>
              <a:t>МегаМаркет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8106156" y="1899666"/>
            <a:ext cx="178308" cy="137160"/>
          </a:xfrm>
          <a:prstGeom prst="rect">
            <a:avLst/>
          </a:prstGeom>
          <a:solidFill>
            <a:srgbClr val="B23A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8106156" y="1899666"/>
            <a:ext cx="178308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5417820" y="2119122"/>
            <a:ext cx="1167231" cy="192024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5472684" y="2132838"/>
            <a:ext cx="892911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1" i="0">
                <a:solidFill>
                  <a:srgbClr val="1C2235"/>
                </a:solidFill>
                <a:latin typeface="Segoe UI"/>
              </a:rPr>
              <a:t>Ultramarket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6365595" y="2146554"/>
            <a:ext cx="178308" cy="137160"/>
          </a:xfrm>
          <a:prstGeom prst="rect">
            <a:avLst/>
          </a:prstGeom>
          <a:solidFill>
            <a:srgbClr val="B23A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6365595" y="2146554"/>
            <a:ext cx="178308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5417820" y="2530602"/>
            <a:ext cx="3291840" cy="2057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5417820" y="2544318"/>
            <a:ext cx="2194560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20" b="1" i="0">
                <a:solidFill>
                  <a:srgbClr val="303A5D"/>
                </a:solidFill>
                <a:latin typeface="Segoe UI"/>
              </a:rPr>
              <a:t>Регіональні мережі · 7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7543800" y="2544318"/>
            <a:ext cx="1165860" cy="164592"/>
          </a:xfrm>
          <a:prstGeom prst="rect">
            <a:avLst/>
          </a:prstGeom>
          <a:solidFill>
            <a:srgbClr val="1F9AA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7543800" y="2544318"/>
            <a:ext cx="116586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РЕГІОНАЛЬНИЙ ВХІД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5417820" y="2818638"/>
            <a:ext cx="829818" cy="192024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5472684" y="2832354"/>
            <a:ext cx="555498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1" i="0">
                <a:solidFill>
                  <a:srgbClr val="1C2235"/>
                </a:solidFill>
                <a:latin typeface="Segoe UI"/>
              </a:rPr>
              <a:t>Ідеал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6028182" y="2846070"/>
            <a:ext cx="178308" cy="137160"/>
          </a:xfrm>
          <a:prstGeom prst="rect">
            <a:avLst/>
          </a:prstGeom>
          <a:solidFill>
            <a:srgbClr val="1F9AA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6028182" y="2846070"/>
            <a:ext cx="178308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10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6316218" y="2818638"/>
            <a:ext cx="942289" cy="192024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6371082" y="2832354"/>
            <a:ext cx="667969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1" i="0">
                <a:solidFill>
                  <a:srgbClr val="1C2235"/>
                </a:solidFill>
                <a:latin typeface="Segoe UI"/>
              </a:rPr>
              <a:t>Восторг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7039051" y="2846070"/>
            <a:ext cx="178308" cy="137160"/>
          </a:xfrm>
          <a:prstGeom prst="rect">
            <a:avLst/>
          </a:prstGeom>
          <a:solidFill>
            <a:srgbClr val="1F9AA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7039051" y="2846070"/>
            <a:ext cx="178308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8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7327087" y="2818638"/>
            <a:ext cx="773582" cy="192024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7381951" y="2832354"/>
            <a:ext cx="49926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1" i="0">
                <a:solidFill>
                  <a:srgbClr val="1C2235"/>
                </a:solidFill>
                <a:latin typeface="Segoe UI"/>
              </a:rPr>
              <a:t>Клас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7881213" y="2846070"/>
            <a:ext cx="178308" cy="137160"/>
          </a:xfrm>
          <a:prstGeom prst="rect">
            <a:avLst/>
          </a:prstGeom>
          <a:solidFill>
            <a:srgbClr val="1F9AA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7881213" y="2846070"/>
            <a:ext cx="178308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8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5417820" y="3065526"/>
            <a:ext cx="773582" cy="192024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5472684" y="3079242"/>
            <a:ext cx="49926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1" i="0">
                <a:solidFill>
                  <a:srgbClr val="1C2235"/>
                </a:solidFill>
                <a:latin typeface="Segoe UI"/>
              </a:rPr>
              <a:t>Onde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5971946" y="3092958"/>
            <a:ext cx="178308" cy="137160"/>
          </a:xfrm>
          <a:prstGeom prst="rect">
            <a:avLst/>
          </a:prstGeom>
          <a:solidFill>
            <a:srgbClr val="1F9AA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5971946" y="3092958"/>
            <a:ext cx="178308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7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6259982" y="3065526"/>
            <a:ext cx="886053" cy="192024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6314846" y="3079242"/>
            <a:ext cx="611733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1" i="0">
                <a:solidFill>
                  <a:srgbClr val="1C2235"/>
                </a:solidFill>
                <a:latin typeface="Segoe UI"/>
              </a:rPr>
              <a:t>Космос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6926580" y="3092958"/>
            <a:ext cx="178308" cy="137160"/>
          </a:xfrm>
          <a:prstGeom prst="rect">
            <a:avLst/>
          </a:prstGeom>
          <a:solidFill>
            <a:srgbClr val="1F9AA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6926580" y="3092958"/>
            <a:ext cx="178308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7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7214616" y="3065526"/>
            <a:ext cx="998524" cy="192024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7269480" y="3079242"/>
            <a:ext cx="724204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1" i="0">
                <a:solidFill>
                  <a:srgbClr val="1C2235"/>
                </a:solidFill>
                <a:latin typeface="Segoe UI"/>
              </a:rPr>
              <a:t>Таврія В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7993684" y="3092958"/>
            <a:ext cx="178308" cy="137160"/>
          </a:xfrm>
          <a:prstGeom prst="rect">
            <a:avLst/>
          </a:prstGeom>
          <a:solidFill>
            <a:srgbClr val="1F9AA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7993684" y="3092958"/>
            <a:ext cx="178308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5417820" y="3312414"/>
            <a:ext cx="829818" cy="192024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5472684" y="3326130"/>
            <a:ext cx="555498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1" i="0">
                <a:solidFill>
                  <a:srgbClr val="1C2235"/>
                </a:solidFill>
                <a:latin typeface="Segoe UI"/>
              </a:rPr>
              <a:t>Торба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6028182" y="3339846"/>
            <a:ext cx="178308" cy="137160"/>
          </a:xfrm>
          <a:prstGeom prst="rect">
            <a:avLst/>
          </a:prstGeom>
          <a:solidFill>
            <a:srgbClr val="1F9AA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6028182" y="3339846"/>
            <a:ext cx="178308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5417820" y="3723894"/>
            <a:ext cx="3291840" cy="2057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5417820" y="3737610"/>
            <a:ext cx="2194560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20" b="1" i="0">
                <a:solidFill>
                  <a:srgbClr val="303A5D"/>
                </a:solidFill>
                <a:latin typeface="Segoe UI"/>
              </a:rPr>
              <a:t>Без позицій сегмента · 4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7543800" y="3737610"/>
            <a:ext cx="1165860" cy="164592"/>
          </a:xfrm>
          <a:prstGeom prst="rect">
            <a:avLst/>
          </a:prstGeom>
          <a:solidFill>
            <a:srgbClr val="A5ABB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7543800" y="3737610"/>
            <a:ext cx="116586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ВІЛЬНА ПОЛИЦЯ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5417820" y="4011930"/>
            <a:ext cx="905256" cy="192024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5472684" y="4025646"/>
            <a:ext cx="630936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1" i="0">
                <a:solidFill>
                  <a:srgbClr val="1C2235"/>
                </a:solidFill>
                <a:latin typeface="Segoe UI"/>
              </a:rPr>
              <a:t>ЧудоМаркет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6391656" y="4011930"/>
            <a:ext cx="624078" cy="192024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6446520" y="4025646"/>
            <a:ext cx="349758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1" i="0">
                <a:solidFill>
                  <a:srgbClr val="1C2235"/>
                </a:solidFill>
                <a:latin typeface="Segoe UI"/>
              </a:rPr>
              <a:t>Grono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7084314" y="4011930"/>
            <a:ext cx="511606" cy="192024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7139178" y="4025646"/>
            <a:ext cx="237286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1" i="0">
                <a:solidFill>
                  <a:srgbClr val="1C2235"/>
                </a:solidFill>
                <a:latin typeface="Segoe UI"/>
              </a:rPr>
              <a:t>ЕКО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7664500" y="4011930"/>
            <a:ext cx="680313" cy="192024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7719364" y="4025646"/>
            <a:ext cx="405993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1" i="0">
                <a:solidFill>
                  <a:srgbClr val="1C2235"/>
                </a:solidFill>
                <a:latin typeface="Segoe UI"/>
              </a:rPr>
              <a:t>Біотус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425196" y="4855464"/>
            <a:ext cx="829818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1">
                <a:solidFill>
                  <a:srgbClr val="717890"/>
                </a:solidFill>
                <a:latin typeface="Segoe UI"/>
              </a:rPr>
              <a:t>Каталоги мереж на zakaz.ua (METRO, NOVUS, Ашан, Зараз, МегаМаркет, Ultramarket, Епіцентр, Космос, Onde, Ідеал, Восторг, Клас, Таврія В, ЧудоМаркет, Торба, Grono) · 07.10.2026 · ціна — онлайн-полиця одного магазину мережі, діапазон — між мережами.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977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3977" cy="795528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95528"/>
            <a:ext cx="9143977" cy="41148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" y="178308"/>
            <a:ext cx="1042416" cy="4526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728216" y="205740"/>
            <a:ext cx="61722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1" i="0" spc="30">
                <a:solidFill>
                  <a:srgbClr val="FFC95C"/>
                </a:solidFill>
                <a:latin typeface="Segoe UI"/>
              </a:rPr>
              <a:t>СЕГМЕНТ · ТЕМПУРА ТА ТОПІНГ · 11 ПОЗИЦІЙ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28216" y="377190"/>
            <a:ext cx="61722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20" b="1" i="0">
                <a:solidFill>
                  <a:srgbClr val="FFFFFF"/>
                </a:solidFill>
                <a:latin typeface="Segoe UI"/>
              </a:rPr>
              <a:t>Темпура й топінг: 11 позицій, медіана 105 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20990" y="301752"/>
            <a:ext cx="768096" cy="2263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360" b="1" i="0">
                <a:solidFill>
                  <a:srgbClr val="465382"/>
                </a:solidFill>
                <a:latin typeface="Segoe UI"/>
              </a:rPr>
              <a:t>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5196" y="946404"/>
            <a:ext cx="8298180" cy="150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4" b="0" i="0">
                <a:solidFill>
                  <a:srgbClr val="717890"/>
                </a:solidFill>
                <a:latin typeface="Segoe UI"/>
              </a:rPr>
              <a:t>Tao Kae Noi — єдиний бренд темпури в мережах; топінг — подрібнені норі Ock Dong Ja і Metro Chef. Конкуренти ZEK Tempura й Topping.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5196" y="1193292"/>
            <a:ext cx="2125980" cy="80924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5196" y="1193292"/>
            <a:ext cx="27432" cy="809244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3504" y="1309878"/>
            <a:ext cx="18516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1" i="0" spc="40">
                <a:solidFill>
                  <a:srgbClr val="717890"/>
                </a:solidFill>
                <a:latin typeface="Segoe UI"/>
              </a:rPr>
              <a:t>ПОЗИЦІЙ У СЕГМЕНТІ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" y="1467612"/>
            <a:ext cx="185166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60" b="1" i="0">
                <a:solidFill>
                  <a:srgbClr val="5D4B96"/>
                </a:solidFill>
                <a:latin typeface="Segoe UI"/>
              </a:rPr>
              <a:t>11 SKU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" y="1796796"/>
            <a:ext cx="1851660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7 лінійок · 3 брендів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60904" y="1193292"/>
            <a:ext cx="2125980" cy="80924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660904" y="1193292"/>
            <a:ext cx="27432" cy="809244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39212" y="1309878"/>
            <a:ext cx="18516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1" i="0" spc="40">
                <a:solidFill>
                  <a:srgbClr val="717890"/>
                </a:solidFill>
                <a:latin typeface="Segoe UI"/>
              </a:rPr>
              <a:t>МЕДІАНА УПАКОВКИ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9212" y="1467612"/>
            <a:ext cx="185166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60" b="1" i="0">
                <a:solidFill>
                  <a:srgbClr val="5D4B96"/>
                </a:solidFill>
                <a:latin typeface="Segoe UI"/>
              </a:rPr>
              <a:t>105 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9212" y="1796796"/>
            <a:ext cx="1851660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діапазон 70–528 ₴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96612" y="1193292"/>
            <a:ext cx="2125980" cy="80924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896612" y="1193292"/>
            <a:ext cx="27432" cy="809244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74920" y="1309878"/>
            <a:ext cx="18516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1" i="0" spc="40">
                <a:solidFill>
                  <a:srgbClr val="717890"/>
                </a:solidFill>
                <a:latin typeface="Segoe UI"/>
              </a:rPr>
              <a:t>НАЙХОДОВІША УПАКОВКА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74920" y="1467612"/>
            <a:ext cx="185166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60" b="1" i="0">
                <a:solidFill>
                  <a:srgbClr val="5D4B96"/>
                </a:solidFill>
                <a:latin typeface="Segoe UI"/>
              </a:rPr>
              <a:t>15 г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74920" y="1796796"/>
            <a:ext cx="1851660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33 % присутності на полицях · медіана 77 ₴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132320" y="1193292"/>
            <a:ext cx="1591056" cy="80924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132320" y="1193292"/>
            <a:ext cx="27432" cy="809244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0628" y="1309878"/>
            <a:ext cx="131673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1" i="0" spc="40">
                <a:solidFill>
                  <a:srgbClr val="717890"/>
                </a:solidFill>
                <a:latin typeface="Segoe UI"/>
              </a:rPr>
              <a:t>ВАГА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0628" y="1467612"/>
            <a:ext cx="1316736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5D4B96"/>
                </a:solidFill>
                <a:latin typeface="Segoe UI"/>
              </a:rPr>
              <a:t>15–70 г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5196" y="2125980"/>
            <a:ext cx="27432" cy="144018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34924" y="2139696"/>
            <a:ext cx="3429000" cy="10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 spc="30">
                <a:solidFill>
                  <a:srgbClr val="5D4B96"/>
                </a:solidFill>
                <a:latin typeface="Segoe UI"/>
              </a:rPr>
              <a:t>ХТО ТРИМАЄ СЕГМЕНТ · SKU НА БРЕНД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5196" y="2345436"/>
            <a:ext cx="973836" cy="1611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24" b="0" i="0">
                <a:solidFill>
                  <a:srgbClr val="303A5D"/>
                </a:solidFill>
                <a:latin typeface="Segoe UI"/>
              </a:rPr>
              <a:t>Tao Kae Noi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453896" y="2388950"/>
            <a:ext cx="2468880" cy="74134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970782" y="2345436"/>
            <a:ext cx="548640" cy="1611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24" b="1" i="0">
                <a:solidFill>
                  <a:srgbClr val="717890"/>
                </a:solidFill>
                <a:latin typeface="Segoe UI"/>
              </a:rPr>
              <a:t>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5196" y="2506599"/>
            <a:ext cx="973836" cy="1611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24" b="0" i="0">
                <a:solidFill>
                  <a:srgbClr val="303A5D"/>
                </a:solidFill>
                <a:latin typeface="Segoe UI"/>
              </a:rPr>
              <a:t>Ock Dong Ja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453896" y="2550113"/>
            <a:ext cx="617220" cy="74134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119122" y="2506599"/>
            <a:ext cx="548640" cy="1611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24" b="1" i="0">
                <a:solidFill>
                  <a:srgbClr val="717890"/>
                </a:solidFill>
                <a:latin typeface="Segoe UI"/>
              </a:rPr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5196" y="2667762"/>
            <a:ext cx="973836" cy="1611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24" b="0" i="0">
                <a:solidFill>
                  <a:srgbClr val="303A5D"/>
                </a:solidFill>
                <a:latin typeface="Segoe UI"/>
              </a:rPr>
              <a:t>Metro Chef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453896" y="2711276"/>
            <a:ext cx="308610" cy="74134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810512" y="2667762"/>
            <a:ext cx="548640" cy="1611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24" b="1" i="0">
                <a:solidFill>
                  <a:srgbClr val="717890"/>
                </a:solidFill>
                <a:latin typeface="Segoe UI"/>
              </a:rPr>
              <a:t>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732020" y="2125980"/>
            <a:ext cx="27432" cy="144018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841748" y="2139696"/>
            <a:ext cx="3429000" cy="10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 spc="30">
                <a:solidFill>
                  <a:srgbClr val="5D4B96"/>
                </a:solidFill>
                <a:latin typeface="Segoe UI"/>
              </a:rPr>
              <a:t>ПОЗИЦІЇ ЗА ЦІНОЮ УПАКОВКИ · ₴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732020" y="2935224"/>
            <a:ext cx="605790" cy="445770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663440" y="2804922"/>
            <a:ext cx="742950" cy="1165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08" b="1" i="0">
                <a:solidFill>
                  <a:srgbClr val="303A5D"/>
                </a:solidFill>
                <a:latin typeface="Segoe UI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29150" y="3408426"/>
            <a:ext cx="81153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до 80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406390" y="2489454"/>
            <a:ext cx="605790" cy="891540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337810" y="2359152"/>
            <a:ext cx="742950" cy="1165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08" b="1" i="0">
                <a:solidFill>
                  <a:srgbClr val="303A5D"/>
                </a:solidFill>
                <a:latin typeface="Segoe UI"/>
              </a:rPr>
              <a:t>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303520" y="3408426"/>
            <a:ext cx="81153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80–110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012180" y="3250692"/>
            <a:ext cx="742950" cy="1165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08" b="1" i="0">
                <a:solidFill>
                  <a:srgbClr val="303A5D"/>
                </a:solidFill>
                <a:latin typeface="Segoe UI"/>
              </a:rPr>
              <a:t>–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977890" y="3408426"/>
            <a:ext cx="81153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110–130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755130" y="3158109"/>
            <a:ext cx="605790" cy="222885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686550" y="3027807"/>
            <a:ext cx="742950" cy="1165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08" b="1" i="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652260" y="3408426"/>
            <a:ext cx="81153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130–160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429500" y="2712339"/>
            <a:ext cx="605790" cy="668655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360920" y="2582037"/>
            <a:ext cx="742950" cy="1165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08" b="1" i="0">
                <a:solidFill>
                  <a:srgbClr val="303A5D"/>
                </a:solidFill>
                <a:latin typeface="Segoe UI"/>
              </a:rPr>
              <a:t>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326630" y="3408426"/>
            <a:ext cx="81153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160–250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103870" y="3158109"/>
            <a:ext cx="605790" cy="222885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035290" y="3027807"/>
            <a:ext cx="742950" cy="1165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08" b="1" i="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001000" y="3408426"/>
            <a:ext cx="81153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250+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25196" y="3669030"/>
            <a:ext cx="27432" cy="144018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34924" y="3682746"/>
            <a:ext cx="5486400" cy="10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 spc="30">
                <a:solidFill>
                  <a:srgbClr val="5D4B96"/>
                </a:solidFill>
                <a:latin typeface="Segoe UI"/>
              </a:rPr>
              <a:t>ПРЕДСТАВНИКИ СЕГМЕНТА · ВІД НАЙДЕШЕВШОЇ ДО НАЙДОРОЖЧОЇ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25196" y="3895344"/>
            <a:ext cx="1316736" cy="111099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425196" y="3895344"/>
            <a:ext cx="1316736" cy="27432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473202" y="3963924"/>
            <a:ext cx="54864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64" name="Picture 63" descr="0885710723077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918" y="3977640"/>
            <a:ext cx="521208" cy="521208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1069848" y="3991356"/>
            <a:ext cx="65151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24" b="1" i="0">
                <a:solidFill>
                  <a:srgbClr val="1C2235"/>
                </a:solidFill>
                <a:latin typeface="Segoe UI"/>
              </a:rPr>
              <a:t>Tao Kae Noi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69848" y="4320540"/>
            <a:ext cx="65151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1" i="0">
                <a:solidFill>
                  <a:srgbClr val="1C2235"/>
                </a:solidFill>
                <a:latin typeface="Segoe UI"/>
              </a:rPr>
              <a:t>77 ₴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93776" y="4581144"/>
            <a:ext cx="121386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15 г · 3 смаки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93776" y="4732020"/>
            <a:ext cx="1213866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Ашан · Зараз · Onde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824228" y="3895344"/>
            <a:ext cx="1316736" cy="111099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1824228" y="3895344"/>
            <a:ext cx="1316736" cy="27432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1872234" y="3963924"/>
            <a:ext cx="54864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72" name="Picture 71" descr="0885870240219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85950" y="3977640"/>
            <a:ext cx="521208" cy="521208"/>
          </a:xfrm>
          <a:prstGeom prst="rect">
            <a:avLst/>
          </a:prstGeom>
        </p:spPr>
      </p:pic>
      <p:sp>
        <p:nvSpPr>
          <p:cNvPr id="73" name="TextBox 72"/>
          <p:cNvSpPr txBox="1"/>
          <p:nvPr/>
        </p:nvSpPr>
        <p:spPr>
          <a:xfrm>
            <a:off x="2468880" y="3991356"/>
            <a:ext cx="65151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24" b="1" i="0">
                <a:solidFill>
                  <a:srgbClr val="1C2235"/>
                </a:solidFill>
                <a:latin typeface="Segoe UI"/>
              </a:rPr>
              <a:t>Tao Kae Noi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468880" y="4320540"/>
            <a:ext cx="65151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1" i="0">
                <a:solidFill>
                  <a:srgbClr val="1C2235"/>
                </a:solidFill>
                <a:latin typeface="Segoe UI"/>
              </a:rPr>
              <a:t>88 ₴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892808" y="4581144"/>
            <a:ext cx="121386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25 г · 3 смаки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892808" y="4732020"/>
            <a:ext cx="1213866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Ашан · Зараз · Onde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223260" y="3895344"/>
            <a:ext cx="1316736" cy="111099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3223260" y="3895344"/>
            <a:ext cx="1316736" cy="27432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3271266" y="3963924"/>
            <a:ext cx="54864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80" name="Picture 79" descr="04820293122632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84982" y="3977640"/>
            <a:ext cx="521208" cy="521208"/>
          </a:xfrm>
          <a:prstGeom prst="rect">
            <a:avLst/>
          </a:prstGeom>
        </p:spPr>
      </p:pic>
      <p:sp>
        <p:nvSpPr>
          <p:cNvPr id="81" name="TextBox 80"/>
          <p:cNvSpPr txBox="1"/>
          <p:nvPr/>
        </p:nvSpPr>
        <p:spPr>
          <a:xfrm>
            <a:off x="3867912" y="3991356"/>
            <a:ext cx="65151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24" b="1" i="0">
                <a:solidFill>
                  <a:srgbClr val="1C2235"/>
                </a:solidFill>
                <a:latin typeface="Segoe UI"/>
              </a:rPr>
              <a:t>Metro Chef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867912" y="4320540"/>
            <a:ext cx="65151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1" i="0">
                <a:solidFill>
                  <a:srgbClr val="1C2235"/>
                </a:solidFill>
                <a:latin typeface="Segoe UI"/>
              </a:rPr>
              <a:t>105 ₴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291840" y="4581144"/>
            <a:ext cx="121386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30 г · 1 смак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291840" y="4732020"/>
            <a:ext cx="1213866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METRO</a:t>
            </a:r>
          </a:p>
        </p:txBody>
      </p:sp>
      <p:sp>
        <p:nvSpPr>
          <p:cNvPr id="85" name="Rectangle 84"/>
          <p:cNvSpPr/>
          <p:nvPr/>
        </p:nvSpPr>
        <p:spPr>
          <a:xfrm>
            <a:off x="4622292" y="3895344"/>
            <a:ext cx="1316736" cy="111099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4622292" y="3895344"/>
            <a:ext cx="1316736" cy="27432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4670298" y="3963924"/>
            <a:ext cx="54864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88" name="Picture 87" descr="08858702428132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84014" y="3977640"/>
            <a:ext cx="521208" cy="521208"/>
          </a:xfrm>
          <a:prstGeom prst="rect">
            <a:avLst/>
          </a:prstGeom>
        </p:spPr>
      </p:pic>
      <p:sp>
        <p:nvSpPr>
          <p:cNvPr id="89" name="TextBox 88"/>
          <p:cNvSpPr txBox="1"/>
          <p:nvPr/>
        </p:nvSpPr>
        <p:spPr>
          <a:xfrm>
            <a:off x="5266944" y="3991356"/>
            <a:ext cx="65151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24" b="1" i="0">
                <a:solidFill>
                  <a:srgbClr val="1C2235"/>
                </a:solidFill>
                <a:latin typeface="Segoe UI"/>
              </a:rPr>
              <a:t>Tao Kae Noi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266944" y="4320540"/>
            <a:ext cx="65151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1" i="0">
                <a:solidFill>
                  <a:srgbClr val="1C2235"/>
                </a:solidFill>
                <a:latin typeface="Segoe UI"/>
              </a:rPr>
              <a:t>135 ₴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690872" y="4581144"/>
            <a:ext cx="121386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40 г · 1 смак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690872" y="4732020"/>
            <a:ext cx="1213866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Ашан · Зараз</a:t>
            </a:r>
          </a:p>
        </p:txBody>
      </p:sp>
      <p:sp>
        <p:nvSpPr>
          <p:cNvPr id="93" name="Rectangle 92"/>
          <p:cNvSpPr/>
          <p:nvPr/>
        </p:nvSpPr>
        <p:spPr>
          <a:xfrm>
            <a:off x="6021324" y="3895344"/>
            <a:ext cx="1316736" cy="111099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6021324" y="3895344"/>
            <a:ext cx="1316736" cy="27432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6069330" y="3963924"/>
            <a:ext cx="54864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96" name="Picture 95" descr="08809094847186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83046" y="3977640"/>
            <a:ext cx="521208" cy="521208"/>
          </a:xfrm>
          <a:prstGeom prst="rect">
            <a:avLst/>
          </a:prstGeom>
        </p:spPr>
      </p:pic>
      <p:sp>
        <p:nvSpPr>
          <p:cNvPr id="97" name="TextBox 96"/>
          <p:cNvSpPr txBox="1"/>
          <p:nvPr/>
        </p:nvSpPr>
        <p:spPr>
          <a:xfrm>
            <a:off x="6665976" y="3991356"/>
            <a:ext cx="65151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24" b="1" i="0">
                <a:solidFill>
                  <a:srgbClr val="1C2235"/>
                </a:solidFill>
                <a:latin typeface="Segoe UI"/>
              </a:rPr>
              <a:t>Ock Dong Ja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665976" y="4320540"/>
            <a:ext cx="65151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1" i="0">
                <a:solidFill>
                  <a:srgbClr val="1C2235"/>
                </a:solidFill>
                <a:latin typeface="Segoe UI"/>
              </a:rPr>
              <a:t>186 ₴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089904" y="4581144"/>
            <a:ext cx="121386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35 г · 1 смак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089904" y="4732020"/>
            <a:ext cx="1213866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Ашан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7420356" y="3895344"/>
            <a:ext cx="1316736" cy="111099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7420356" y="3895344"/>
            <a:ext cx="1316736" cy="27432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7468362" y="3963924"/>
            <a:ext cx="54864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04" name="Picture 103" descr="08809094847193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82078" y="3977640"/>
            <a:ext cx="521208" cy="521208"/>
          </a:xfrm>
          <a:prstGeom prst="rect">
            <a:avLst/>
          </a:prstGeom>
        </p:spPr>
      </p:pic>
      <p:sp>
        <p:nvSpPr>
          <p:cNvPr id="105" name="TextBox 104"/>
          <p:cNvSpPr txBox="1"/>
          <p:nvPr/>
        </p:nvSpPr>
        <p:spPr>
          <a:xfrm>
            <a:off x="8065008" y="3991356"/>
            <a:ext cx="65151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24" b="1" i="0">
                <a:solidFill>
                  <a:srgbClr val="1C2235"/>
                </a:solidFill>
                <a:latin typeface="Segoe UI"/>
              </a:rPr>
              <a:t>Ock Dong Ja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065008" y="4320540"/>
            <a:ext cx="65151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1" i="0">
                <a:solidFill>
                  <a:srgbClr val="1C2235"/>
                </a:solidFill>
                <a:latin typeface="Segoe UI"/>
              </a:rPr>
              <a:t>232 ₴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7488936" y="4581144"/>
            <a:ext cx="121386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70 г · 1 смак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7488936" y="4732020"/>
            <a:ext cx="1213866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Ашан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977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3977" cy="795528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95528"/>
            <a:ext cx="9143977" cy="41148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" y="178308"/>
            <a:ext cx="1042416" cy="4526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728216" y="205740"/>
            <a:ext cx="61722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1" i="0" spc="30">
                <a:solidFill>
                  <a:srgbClr val="FFC95C"/>
                </a:solidFill>
                <a:latin typeface="Segoe UI"/>
              </a:rPr>
              <a:t>СЕГМЕНТ · ТЕМПУРА Й ТОПІНГ · ПОПУЛЯРНІ УПАКОВКИ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28216" y="377190"/>
            <a:ext cx="61722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20" b="1" i="0">
                <a:solidFill>
                  <a:srgbClr val="FFFFFF"/>
                </a:solidFill>
                <a:latin typeface="Segoe UI"/>
              </a:rPr>
              <a:t>Темпура й топінг: 15 г — найходовіша, 33 %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20990" y="301752"/>
            <a:ext cx="768096" cy="2263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360" b="1" i="0">
                <a:solidFill>
                  <a:srgbClr val="465382"/>
                </a:solidFill>
                <a:latin typeface="Segoe UI"/>
              </a:rPr>
              <a:t>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5196" y="946404"/>
            <a:ext cx="8298180" cy="150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88" b="0" i="0">
                <a:solidFill>
                  <a:srgbClr val="717890"/>
                </a:solidFill>
                <a:latin typeface="Segoe UI"/>
              </a:rPr>
              <a:t>Популярність — це присутність упаковки на полицях: кількість позицій × мереж, де вона стоїть (даних про продажі немає). Справа — наша полиця проти типової ціни пакетів близької ваги.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5196" y="1268730"/>
            <a:ext cx="6446520" cy="205740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7492" y="1289304"/>
            <a:ext cx="2743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 spc="20">
                <a:solidFill>
                  <a:srgbClr val="FFFFFF"/>
                </a:solidFill>
                <a:latin typeface="Segoe UI"/>
              </a:rPr>
              <a:t>ТЕМПУРА ТА ТОПІНГ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5196" y="1495044"/>
            <a:ext cx="58293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717890"/>
                </a:solidFill>
                <a:latin typeface="Segoe UI"/>
              </a:rPr>
              <a:t>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" y="1495044"/>
            <a:ext cx="96012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717890"/>
                </a:solidFill>
                <a:latin typeface="Segoe UI"/>
              </a:rPr>
              <a:t>ВАГА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85316" y="1495044"/>
            <a:ext cx="246888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717890"/>
                </a:solidFill>
                <a:latin typeface="Segoe UI"/>
              </a:rPr>
              <a:t>ПРИСУТНІСТЬ · ПОЗИЦІЙ × МЕРЕЖ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79876" y="1495044"/>
            <a:ext cx="10287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717890"/>
                </a:solidFill>
                <a:latin typeface="Segoe UI"/>
              </a:rPr>
              <a:t>SKU · БРЕНДІВ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34256" y="1495044"/>
            <a:ext cx="75438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717890"/>
                </a:solidFill>
                <a:latin typeface="Segoe UI"/>
              </a:rPr>
              <a:t>МЕРЕЖ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14316" y="1495044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717890"/>
                </a:solidFill>
                <a:latin typeface="Segoe UI"/>
              </a:rPr>
              <a:t>ЦІНА, ₴ · МІН.–МАКС.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11596" y="1495044"/>
            <a:ext cx="96012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717890"/>
                </a:solidFill>
                <a:latin typeface="Segoe UI"/>
              </a:rPr>
              <a:t>МЕДІАНА ЦІНИ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5196" y="1625346"/>
            <a:ext cx="6446520" cy="404869"/>
          </a:xfrm>
          <a:prstGeom prst="rect">
            <a:avLst/>
          </a:prstGeom>
          <a:solidFill>
            <a:srgbClr val="F8F9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52628" y="1738626"/>
            <a:ext cx="178308" cy="178308"/>
          </a:xfrm>
          <a:prstGeom prst="roundRect">
            <a:avLst>
              <a:gd name="adj" fmla="val 50000"/>
            </a:avLst>
          </a:prstGeom>
          <a:solidFill>
            <a:srgbClr val="5D4B9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2628" y="1738626"/>
            <a:ext cx="178308" cy="1783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8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9516" y="1625346"/>
            <a:ext cx="651510" cy="40486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40" b="1" i="0">
                <a:solidFill>
                  <a:srgbClr val="303A5D"/>
                </a:solidFill>
                <a:latin typeface="Segoe UI"/>
              </a:rPr>
              <a:t>15 г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385316" y="1734660"/>
            <a:ext cx="1577340" cy="186240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17520" y="1625346"/>
            <a:ext cx="822960" cy="40486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24" b="1" i="0">
                <a:solidFill>
                  <a:srgbClr val="717890"/>
                </a:solidFill>
                <a:latin typeface="Segoe UI"/>
              </a:rPr>
              <a:t>6 · 33 %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79876" y="1625346"/>
            <a:ext cx="685800" cy="40486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40" b="0" i="0">
                <a:solidFill>
                  <a:srgbClr val="303A5D"/>
                </a:solidFill>
                <a:latin typeface="Segoe UI"/>
              </a:rPr>
              <a:t>3 · 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34256" y="1625346"/>
            <a:ext cx="411480" cy="40486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40" b="0" i="0">
                <a:solidFill>
                  <a:srgbClr val="303A5D"/>
                </a:solidFill>
                <a:latin typeface="Segoe UI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14316" y="1625346"/>
            <a:ext cx="1097280" cy="40486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40" b="0" i="0">
                <a:solidFill>
                  <a:srgbClr val="717890"/>
                </a:solidFill>
                <a:latin typeface="Segoe UI"/>
              </a:rPr>
              <a:t>70–118 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11596" y="1625346"/>
            <a:ext cx="822960" cy="40486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80" b="1" i="0">
                <a:solidFill>
                  <a:srgbClr val="1C2235"/>
                </a:solidFill>
                <a:latin typeface="Segoe UI"/>
              </a:rPr>
              <a:t>77 ₴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2628" y="2143496"/>
            <a:ext cx="178308" cy="178308"/>
          </a:xfrm>
          <a:prstGeom prst="roundRect">
            <a:avLst>
              <a:gd name="adj" fmla="val 50000"/>
            </a:avLst>
          </a:prstGeom>
          <a:solidFill>
            <a:srgbClr val="C6C0D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2628" y="2143496"/>
            <a:ext cx="178308" cy="1783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8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9516" y="2030215"/>
            <a:ext cx="651510" cy="40486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40" b="1" i="0">
                <a:solidFill>
                  <a:srgbClr val="303A5D"/>
                </a:solidFill>
                <a:latin typeface="Segoe UI"/>
              </a:rPr>
              <a:t>25 г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385316" y="2139530"/>
            <a:ext cx="1577340" cy="186240"/>
          </a:xfrm>
          <a:prstGeom prst="rect">
            <a:avLst/>
          </a:prstGeom>
          <a:solidFill>
            <a:srgbClr val="A69CC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17520" y="2030215"/>
            <a:ext cx="822960" cy="40486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24" b="1" i="0">
                <a:solidFill>
                  <a:srgbClr val="717890"/>
                </a:solidFill>
                <a:latin typeface="Segoe UI"/>
              </a:rPr>
              <a:t>6 · 33 %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79876" y="2030215"/>
            <a:ext cx="685800" cy="40486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40" b="0" i="0">
                <a:solidFill>
                  <a:srgbClr val="303A5D"/>
                </a:solidFill>
                <a:latin typeface="Segoe UI"/>
              </a:rPr>
              <a:t>3 · 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34256" y="2030215"/>
            <a:ext cx="411480" cy="40486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40" b="0" i="0">
                <a:solidFill>
                  <a:srgbClr val="303A5D"/>
                </a:solidFill>
                <a:latin typeface="Segoe UI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14316" y="2030215"/>
            <a:ext cx="1097280" cy="40486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40" b="0" i="0">
                <a:solidFill>
                  <a:srgbClr val="717890"/>
                </a:solidFill>
                <a:latin typeface="Segoe UI"/>
              </a:rPr>
              <a:t>74–193 ₴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11596" y="2030215"/>
            <a:ext cx="822960" cy="40486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80" b="1" i="0">
                <a:solidFill>
                  <a:srgbClr val="1C2235"/>
                </a:solidFill>
                <a:latin typeface="Segoe UI"/>
              </a:rPr>
              <a:t>88 ₴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25196" y="2435085"/>
            <a:ext cx="6446520" cy="404869"/>
          </a:xfrm>
          <a:prstGeom prst="rect">
            <a:avLst/>
          </a:prstGeom>
          <a:solidFill>
            <a:srgbClr val="F8F9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452628" y="2548366"/>
            <a:ext cx="178308" cy="178308"/>
          </a:xfrm>
          <a:prstGeom prst="roundRect">
            <a:avLst>
              <a:gd name="adj" fmla="val 50000"/>
            </a:avLst>
          </a:prstGeom>
          <a:solidFill>
            <a:srgbClr val="C6C0D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2628" y="2548366"/>
            <a:ext cx="178308" cy="1783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8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9516" y="2435085"/>
            <a:ext cx="651510" cy="40486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40" b="1" i="0">
                <a:solidFill>
                  <a:srgbClr val="303A5D"/>
                </a:solidFill>
                <a:latin typeface="Segoe UI"/>
              </a:rPr>
              <a:t>40 г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385316" y="2544400"/>
            <a:ext cx="525780" cy="186240"/>
          </a:xfrm>
          <a:prstGeom prst="rect">
            <a:avLst/>
          </a:prstGeom>
          <a:solidFill>
            <a:srgbClr val="A69CC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965960" y="2435085"/>
            <a:ext cx="822960" cy="40486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24" b="1" i="0">
                <a:solidFill>
                  <a:srgbClr val="717890"/>
                </a:solidFill>
                <a:latin typeface="Segoe UI"/>
              </a:rPr>
              <a:t>2 · 11 %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79876" y="2435085"/>
            <a:ext cx="685800" cy="40486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40" b="0" i="0">
                <a:solidFill>
                  <a:srgbClr val="303A5D"/>
                </a:solidFill>
                <a:latin typeface="Segoe UI"/>
              </a:rPr>
              <a:t>1 · 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334256" y="2435085"/>
            <a:ext cx="411480" cy="40486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40" b="0" i="0">
                <a:solidFill>
                  <a:srgbClr val="303A5D"/>
                </a:solidFill>
                <a:latin typeface="Segoe UI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814316" y="2435085"/>
            <a:ext cx="1097280" cy="40486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40" b="0" i="0">
                <a:solidFill>
                  <a:srgbClr val="717890"/>
                </a:solidFill>
                <a:latin typeface="Segoe UI"/>
              </a:rPr>
              <a:t>126–144 ₴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911596" y="2435085"/>
            <a:ext cx="822960" cy="40486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80" b="1" i="0">
                <a:solidFill>
                  <a:srgbClr val="1C2235"/>
                </a:solidFill>
                <a:latin typeface="Segoe UI"/>
              </a:rPr>
              <a:t>135 ₴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52628" y="2953236"/>
            <a:ext cx="178308" cy="178308"/>
          </a:xfrm>
          <a:prstGeom prst="roundRect">
            <a:avLst>
              <a:gd name="adj" fmla="val 50000"/>
            </a:avLst>
          </a:prstGeom>
          <a:solidFill>
            <a:srgbClr val="C6C0D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52628" y="2953236"/>
            <a:ext cx="178308" cy="1783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8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99516" y="2839955"/>
            <a:ext cx="651510" cy="40486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40" b="1" i="0">
                <a:solidFill>
                  <a:srgbClr val="303A5D"/>
                </a:solidFill>
                <a:latin typeface="Segoe UI"/>
              </a:rPr>
              <a:t>59 г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385316" y="2949270"/>
            <a:ext cx="262890" cy="186240"/>
          </a:xfrm>
          <a:prstGeom prst="rect">
            <a:avLst/>
          </a:prstGeom>
          <a:solidFill>
            <a:srgbClr val="A69CC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703070" y="2839955"/>
            <a:ext cx="822960" cy="40486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24" b="1" i="0">
                <a:solidFill>
                  <a:srgbClr val="717890"/>
                </a:solidFill>
                <a:latin typeface="Segoe UI"/>
              </a:rPr>
              <a:t>1 · 6 %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579876" y="2839955"/>
            <a:ext cx="685800" cy="40486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40" b="0" i="0">
                <a:solidFill>
                  <a:srgbClr val="303A5D"/>
                </a:solidFill>
                <a:latin typeface="Segoe UI"/>
              </a:rPr>
              <a:t>1 · 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334256" y="2839955"/>
            <a:ext cx="411480" cy="40486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40" b="0" i="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814316" y="2839955"/>
            <a:ext cx="1097280" cy="40486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40" b="0" i="0">
                <a:solidFill>
                  <a:srgbClr val="717890"/>
                </a:solidFill>
                <a:latin typeface="Segoe UI"/>
              </a:rPr>
              <a:t>528 ₴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911596" y="2839955"/>
            <a:ext cx="822960" cy="40486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80" b="1" i="0">
                <a:solidFill>
                  <a:srgbClr val="1C2235"/>
                </a:solidFill>
                <a:latin typeface="Segoe UI"/>
              </a:rPr>
              <a:t>528 ₴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25196" y="3244825"/>
            <a:ext cx="6446520" cy="404869"/>
          </a:xfrm>
          <a:prstGeom prst="rect">
            <a:avLst/>
          </a:prstGeom>
          <a:solidFill>
            <a:srgbClr val="F8F9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452628" y="3358106"/>
            <a:ext cx="178308" cy="178308"/>
          </a:xfrm>
          <a:prstGeom prst="roundRect">
            <a:avLst>
              <a:gd name="adj" fmla="val 50000"/>
            </a:avLst>
          </a:prstGeom>
          <a:solidFill>
            <a:srgbClr val="C6C0D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52628" y="3358106"/>
            <a:ext cx="178308" cy="1783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8" b="1" i="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99516" y="3244825"/>
            <a:ext cx="651510" cy="40486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40" b="1" i="0">
                <a:solidFill>
                  <a:srgbClr val="303A5D"/>
                </a:solidFill>
                <a:latin typeface="Segoe UI"/>
              </a:rPr>
              <a:t>30 г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385316" y="3354140"/>
            <a:ext cx="262890" cy="186240"/>
          </a:xfrm>
          <a:prstGeom prst="rect">
            <a:avLst/>
          </a:prstGeom>
          <a:solidFill>
            <a:srgbClr val="A69CC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703070" y="3244825"/>
            <a:ext cx="822960" cy="40486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24" b="1" i="0">
                <a:solidFill>
                  <a:srgbClr val="717890"/>
                </a:solidFill>
                <a:latin typeface="Segoe UI"/>
              </a:rPr>
              <a:t>1 · 6 %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579876" y="3244825"/>
            <a:ext cx="685800" cy="40486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40" b="0" i="0">
                <a:solidFill>
                  <a:srgbClr val="303A5D"/>
                </a:solidFill>
                <a:latin typeface="Segoe UI"/>
              </a:rPr>
              <a:t>1 · 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334256" y="3244825"/>
            <a:ext cx="411480" cy="40486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40" b="0" i="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814316" y="3244825"/>
            <a:ext cx="1097280" cy="40486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40" b="0" i="0">
                <a:solidFill>
                  <a:srgbClr val="717890"/>
                </a:solidFill>
                <a:latin typeface="Segoe UI"/>
              </a:rPr>
              <a:t>105 ₴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911596" y="3244825"/>
            <a:ext cx="822960" cy="40486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80" b="1" i="0">
                <a:solidFill>
                  <a:srgbClr val="1C2235"/>
                </a:solidFill>
                <a:latin typeface="Segoe UI"/>
              </a:rPr>
              <a:t>105 ₴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452628" y="3762976"/>
            <a:ext cx="178308" cy="178308"/>
          </a:xfrm>
          <a:prstGeom prst="roundRect">
            <a:avLst>
              <a:gd name="adj" fmla="val 50000"/>
            </a:avLst>
          </a:prstGeom>
          <a:solidFill>
            <a:srgbClr val="C6C0D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52628" y="3762976"/>
            <a:ext cx="178308" cy="1783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8" b="1" i="0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99516" y="3649695"/>
            <a:ext cx="651510" cy="40486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40" b="1" i="0">
                <a:solidFill>
                  <a:srgbClr val="303A5D"/>
                </a:solidFill>
                <a:latin typeface="Segoe UI"/>
              </a:rPr>
              <a:t>35 г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385316" y="3759010"/>
            <a:ext cx="262890" cy="186240"/>
          </a:xfrm>
          <a:prstGeom prst="rect">
            <a:avLst/>
          </a:prstGeom>
          <a:solidFill>
            <a:srgbClr val="A69CC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703070" y="3649695"/>
            <a:ext cx="822960" cy="40486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24" b="1" i="0">
                <a:solidFill>
                  <a:srgbClr val="717890"/>
                </a:solidFill>
                <a:latin typeface="Segoe UI"/>
              </a:rPr>
              <a:t>1 · 6 %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579876" y="3649695"/>
            <a:ext cx="685800" cy="40486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40" b="0" i="0">
                <a:solidFill>
                  <a:srgbClr val="303A5D"/>
                </a:solidFill>
                <a:latin typeface="Segoe UI"/>
              </a:rPr>
              <a:t>1 · 1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334256" y="3649695"/>
            <a:ext cx="411480" cy="40486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40" b="0" i="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814316" y="3649695"/>
            <a:ext cx="1097280" cy="40486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40" b="0" i="0">
                <a:solidFill>
                  <a:srgbClr val="717890"/>
                </a:solidFill>
                <a:latin typeface="Segoe UI"/>
              </a:rPr>
              <a:t>186 ₴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911596" y="3649695"/>
            <a:ext cx="822960" cy="40486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80" b="1" i="0">
                <a:solidFill>
                  <a:srgbClr val="1C2235"/>
                </a:solidFill>
                <a:latin typeface="Segoe UI"/>
              </a:rPr>
              <a:t>186 ₴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25196" y="4054565"/>
            <a:ext cx="6446520" cy="404869"/>
          </a:xfrm>
          <a:prstGeom prst="rect">
            <a:avLst/>
          </a:prstGeom>
          <a:solidFill>
            <a:srgbClr val="F8F9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452628" y="4167846"/>
            <a:ext cx="178308" cy="178308"/>
          </a:xfrm>
          <a:prstGeom prst="roundRect">
            <a:avLst>
              <a:gd name="adj" fmla="val 50000"/>
            </a:avLst>
          </a:prstGeom>
          <a:solidFill>
            <a:srgbClr val="C6C0D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52628" y="4167846"/>
            <a:ext cx="178308" cy="1783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8" b="1" i="0">
                <a:solidFill>
                  <a:srgbClr val="FFFFFF"/>
                </a:solidFill>
                <a:latin typeface="Segoe UI"/>
              </a:rPr>
              <a:t>7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99516" y="4054565"/>
            <a:ext cx="651510" cy="40486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40" b="1" i="0">
                <a:solidFill>
                  <a:srgbClr val="303A5D"/>
                </a:solidFill>
                <a:latin typeface="Segoe UI"/>
              </a:rPr>
              <a:t>70 г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385316" y="4163880"/>
            <a:ext cx="262890" cy="186240"/>
          </a:xfrm>
          <a:prstGeom prst="rect">
            <a:avLst/>
          </a:prstGeom>
          <a:solidFill>
            <a:srgbClr val="A69CC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703070" y="4054565"/>
            <a:ext cx="822960" cy="40486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24" b="1" i="0">
                <a:solidFill>
                  <a:srgbClr val="717890"/>
                </a:solidFill>
                <a:latin typeface="Segoe UI"/>
              </a:rPr>
              <a:t>1 · 6 %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579876" y="4054565"/>
            <a:ext cx="685800" cy="40486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40" b="0" i="0">
                <a:solidFill>
                  <a:srgbClr val="303A5D"/>
                </a:solidFill>
                <a:latin typeface="Segoe UI"/>
              </a:rPr>
              <a:t>1 · 1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334256" y="4054565"/>
            <a:ext cx="411480" cy="40486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40" b="0" i="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814316" y="4054565"/>
            <a:ext cx="1097280" cy="40486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40" b="0" i="0">
                <a:solidFill>
                  <a:srgbClr val="717890"/>
                </a:solidFill>
                <a:latin typeface="Segoe UI"/>
              </a:rPr>
              <a:t>232 ₴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911596" y="4054565"/>
            <a:ext cx="822960" cy="40486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80" b="1" i="0">
                <a:solidFill>
                  <a:srgbClr val="1C2235"/>
                </a:solidFill>
                <a:latin typeface="Segoe UI"/>
              </a:rPr>
              <a:t>232 ₴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995160" y="1268730"/>
            <a:ext cx="27432" cy="144018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104888" y="1282446"/>
            <a:ext cx="1714500" cy="10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 spc="30">
                <a:solidFill>
                  <a:srgbClr val="C4820A"/>
                </a:solidFill>
                <a:latin typeface="Segoe UI"/>
              </a:rPr>
              <a:t>НАША ПОЛИЦЯ ПРОТИ РИНКУ</a:t>
            </a:r>
          </a:p>
        </p:txBody>
      </p:sp>
      <p:sp>
        <p:nvSpPr>
          <p:cNvPr id="88" name="Rectangle 87"/>
          <p:cNvSpPr/>
          <p:nvPr/>
        </p:nvSpPr>
        <p:spPr>
          <a:xfrm>
            <a:off x="6995160" y="1508760"/>
            <a:ext cx="1728216" cy="6172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6995160" y="1508760"/>
            <a:ext cx="34290" cy="617220"/>
          </a:xfrm>
          <a:prstGeom prst="rect">
            <a:avLst/>
          </a:prstGeom>
          <a:solidFill>
            <a:srgbClr val="B23A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7091172" y="1536192"/>
            <a:ext cx="157734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1C2235"/>
                </a:solidFill>
                <a:latin typeface="Segoe UI"/>
              </a:rPr>
              <a:t>Tempura Corn · 30 г  ×3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091172" y="1680210"/>
            <a:ext cx="157734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88" b="1" i="0">
                <a:solidFill>
                  <a:srgbClr val="B23A22"/>
                </a:solidFill>
                <a:latin typeface="Segoe UI"/>
              </a:rPr>
              <a:t>наша полиця 105 ₴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091172" y="1831086"/>
            <a:ext cx="1577340" cy="2948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ринок поруч: 4 поз., типова 111 ₴ → наша нижча на 6 ₴</a:t>
            </a:r>
          </a:p>
        </p:txBody>
      </p:sp>
      <p:sp>
        <p:nvSpPr>
          <p:cNvPr id="93" name="Rectangle 92"/>
          <p:cNvSpPr/>
          <p:nvPr/>
        </p:nvSpPr>
        <p:spPr>
          <a:xfrm>
            <a:off x="6995160" y="2180844"/>
            <a:ext cx="1728216" cy="6172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6995160" y="2180844"/>
            <a:ext cx="34290" cy="617220"/>
          </a:xfrm>
          <a:prstGeom prst="rect">
            <a:avLst/>
          </a:prstGeom>
          <a:solidFill>
            <a:srgbClr val="B23A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7091172" y="2208276"/>
            <a:ext cx="157734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1C2235"/>
                </a:solidFill>
                <a:latin typeface="Segoe UI"/>
              </a:rPr>
              <a:t>Tempura Corn · 50 г  ×3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7091172" y="2352294"/>
            <a:ext cx="157734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88" b="1" i="0">
                <a:solidFill>
                  <a:srgbClr val="B23A22"/>
                </a:solidFill>
                <a:latin typeface="Segoe UI"/>
              </a:rPr>
              <a:t>наша полиця 159 ₴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7091172" y="2503170"/>
            <a:ext cx="1577340" cy="2948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ринок поруч: 5 поз., типова 135 ₴ → наша вища на 24 ₴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995160" y="2852928"/>
            <a:ext cx="1728216" cy="6172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6995160" y="2852928"/>
            <a:ext cx="34290" cy="617220"/>
          </a:xfrm>
          <a:prstGeom prst="rect">
            <a:avLst/>
          </a:prstGeom>
          <a:solidFill>
            <a:srgbClr val="B23A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7091172" y="2880360"/>
            <a:ext cx="157734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1C2235"/>
                </a:solidFill>
                <a:latin typeface="Segoe UI"/>
              </a:rPr>
              <a:t>Topping Chicken Floss · 35 г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7091172" y="3024378"/>
            <a:ext cx="157734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88" b="1" i="0">
                <a:solidFill>
                  <a:srgbClr val="B23A22"/>
                </a:solidFill>
                <a:latin typeface="Segoe UI"/>
              </a:rPr>
              <a:t>наша полиця 102 ₴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7091172" y="3175254"/>
            <a:ext cx="1577340" cy="2948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ринок поруч: 3 поз., типова 186 ₴ → наша нижча на 83 ₴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6995160" y="3525012"/>
            <a:ext cx="1728216" cy="6172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6995160" y="3525012"/>
            <a:ext cx="34290" cy="617220"/>
          </a:xfrm>
          <a:prstGeom prst="rect">
            <a:avLst/>
          </a:prstGeom>
          <a:solidFill>
            <a:srgbClr val="B23A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091172" y="3552444"/>
            <a:ext cx="157734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1C2235"/>
                </a:solidFill>
                <a:latin typeface="Segoe UI"/>
              </a:rPr>
              <a:t>Topping Vegetables · 35 г  ×2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091172" y="3696462"/>
            <a:ext cx="157734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88" b="1" i="0">
                <a:solidFill>
                  <a:srgbClr val="B23A22"/>
                </a:solidFill>
                <a:latin typeface="Segoe UI"/>
              </a:rPr>
              <a:t>наша полиця 98 ₴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7091172" y="3847338"/>
            <a:ext cx="1577340" cy="2948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ринок поруч: 3 поз., типова 186 ₴ → наша нижча на 88 ₴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995160" y="4197096"/>
            <a:ext cx="1728216" cy="6172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6995160" y="4197096"/>
            <a:ext cx="34290" cy="617220"/>
          </a:xfrm>
          <a:prstGeom prst="rect">
            <a:avLst/>
          </a:prstGeom>
          <a:solidFill>
            <a:srgbClr val="B23A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7091172" y="4224528"/>
            <a:ext cx="157734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1C2235"/>
                </a:solidFill>
                <a:latin typeface="Segoe UI"/>
              </a:rPr>
              <a:t>Topping Vegetables · 70 г  ×3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7091172" y="4368546"/>
            <a:ext cx="157734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88" b="1" i="0">
                <a:solidFill>
                  <a:srgbClr val="B23A22"/>
                </a:solidFill>
                <a:latin typeface="Segoe UI"/>
              </a:rPr>
              <a:t>наша полиця 199 ₴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091172" y="4519422"/>
            <a:ext cx="1577340" cy="2948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ринок поруч: 3 поз., типова 186 ₴ → наша вища на 13 ₴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25196" y="4855464"/>
            <a:ext cx="829818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1">
                <a:solidFill>
                  <a:srgbClr val="717890"/>
                </a:solidFill>
                <a:latin typeface="Segoe UI"/>
              </a:rPr>
              <a:t>Каталоги мереж на zakaz.ua (METRO, NOVUS, Ашан, Зараз, МегаМаркет, Ultramarket, Епіцентр, Космос, Onde, Ідеал, Восторг, Клас, Таврія В, ЧудоМаркет, Торба, Grono) · 07.10.2026 · ціна — онлайн-полиця одного магазину мережі, діапазон — між мережами.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977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3977" cy="795528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95528"/>
            <a:ext cx="9143977" cy="41148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" y="178308"/>
            <a:ext cx="1042416" cy="4526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728216" y="205740"/>
            <a:ext cx="61722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1" i="0" spc="30">
                <a:solidFill>
                  <a:srgbClr val="FFC95C"/>
                </a:solidFill>
                <a:latin typeface="Segoe UI"/>
              </a:rPr>
              <a:t>СЕГМЕНТ · ТЕМПУРА Й ТОПІНГ · 11 ПОЗИЦІЙ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28216" y="377190"/>
            <a:ext cx="61722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20" b="1" i="0">
                <a:solidFill>
                  <a:srgbClr val="FFFFFF"/>
                </a:solidFill>
                <a:latin typeface="Segoe UI"/>
              </a:rPr>
              <a:t>Темпура й топінг: каталог — 70–528 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20990" y="301752"/>
            <a:ext cx="768096" cy="2263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360" b="1" i="0">
                <a:solidFill>
                  <a:srgbClr val="465382"/>
                </a:solidFill>
                <a:latin typeface="Segoe UI"/>
              </a:rPr>
              <a:t>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5196" y="918972"/>
            <a:ext cx="82981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72" b="0" i="0">
                <a:solidFill>
                  <a:srgbClr val="717890"/>
                </a:solidFill>
                <a:latin typeface="Segoe UI"/>
              </a:rPr>
              <a:t>Картка = лінійка бренда (бренд + вага пакета). Ціна — діапазон по мережах, де лінійка знайдена; смаки з однаковою упаковкою згруповано, кількість смаків — під ціною.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5196" y="1152144"/>
            <a:ext cx="1316736" cy="190652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5196" y="1152144"/>
            <a:ext cx="1316736" cy="27432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80060" y="1234440"/>
            <a:ext cx="1207008" cy="9052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3" name="Picture 12" descr="0885710723077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510" y="1255014"/>
            <a:ext cx="864108" cy="86410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93776" y="2194560"/>
            <a:ext cx="117957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4" b="1" i="0">
                <a:solidFill>
                  <a:srgbClr val="1C2235"/>
                </a:solidFill>
                <a:latin typeface="Segoe UI"/>
              </a:rPr>
              <a:t>Tao Kae Noi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" y="2331720"/>
            <a:ext cx="1179576" cy="2331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Зі смаком Том Ям, зі смаком васабі +1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" y="2571750"/>
            <a:ext cx="1179576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0" b="1" i="0">
                <a:solidFill>
                  <a:srgbClr val="1C2235"/>
                </a:solidFill>
                <a:latin typeface="Segoe UI"/>
              </a:rPr>
              <a:t>70–118 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" y="2770632"/>
            <a:ext cx="1179576" cy="1234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15 г · 3 смаки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" y="2894076"/>
            <a:ext cx="117957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Ашан · Зараз +1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24228" y="1152144"/>
            <a:ext cx="1316736" cy="190652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824228" y="1152144"/>
            <a:ext cx="1316736" cy="27432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879092" y="1234440"/>
            <a:ext cx="1207008" cy="9052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2" name="Picture 21" descr="0885870240219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0542" y="1255014"/>
            <a:ext cx="864108" cy="864108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892808" y="2194560"/>
            <a:ext cx="117957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4" b="1" i="0">
                <a:solidFill>
                  <a:srgbClr val="1C2235"/>
                </a:solidFill>
                <a:latin typeface="Segoe UI"/>
              </a:rPr>
              <a:t>Tao Kae Noi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92808" y="2331720"/>
            <a:ext cx="1179576" cy="2331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Hi Tempura гострі +2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92808" y="2571750"/>
            <a:ext cx="1179576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0" b="1" i="0">
                <a:solidFill>
                  <a:srgbClr val="1C2235"/>
                </a:solidFill>
                <a:latin typeface="Segoe UI"/>
              </a:rPr>
              <a:t>74–193 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92808" y="2770632"/>
            <a:ext cx="1179576" cy="1234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25 г · 3 смаки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92808" y="2894076"/>
            <a:ext cx="117957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Ашан · Зараз +1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23260" y="1152144"/>
            <a:ext cx="1316736" cy="190652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23260" y="1152144"/>
            <a:ext cx="1316736" cy="27432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78124" y="1234440"/>
            <a:ext cx="1207008" cy="9052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1" name="Picture 30" descr="04820293122632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49574" y="1255014"/>
            <a:ext cx="864108" cy="864108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3291840" y="2194560"/>
            <a:ext cx="117957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4" b="1" i="0">
                <a:solidFill>
                  <a:srgbClr val="1C2235"/>
                </a:solidFill>
                <a:latin typeface="Segoe UI"/>
              </a:rPr>
              <a:t>Metro Chef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91840" y="2331720"/>
            <a:ext cx="1179576" cy="2331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Нарізані смажені з кунжутом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91840" y="2571750"/>
            <a:ext cx="1179576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0" b="1" i="0">
                <a:solidFill>
                  <a:srgbClr val="1C2235"/>
                </a:solidFill>
                <a:latin typeface="Segoe UI"/>
              </a:rPr>
              <a:t>105 ₴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91840" y="2770632"/>
            <a:ext cx="1179576" cy="1234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30 г · 1 смак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91840" y="2894076"/>
            <a:ext cx="117957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METRO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622292" y="1152144"/>
            <a:ext cx="1316736" cy="190652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622292" y="1152144"/>
            <a:ext cx="1316736" cy="27432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677156" y="1234440"/>
            <a:ext cx="1207008" cy="9052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0" name="Picture 39" descr="08858702428132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8606" y="1255014"/>
            <a:ext cx="864108" cy="864108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4690872" y="2194560"/>
            <a:ext cx="117957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4" b="1" i="0">
                <a:solidFill>
                  <a:srgbClr val="1C2235"/>
                </a:solidFill>
                <a:latin typeface="Segoe UI"/>
              </a:rPr>
              <a:t>Tao Kae Noi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90872" y="2331720"/>
            <a:ext cx="1179576" cy="2331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Смажені Hi Tempura барбекю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90872" y="2571750"/>
            <a:ext cx="1179576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0" b="1" i="0">
                <a:solidFill>
                  <a:srgbClr val="1C2235"/>
                </a:solidFill>
                <a:latin typeface="Segoe UI"/>
              </a:rPr>
              <a:t>126–144 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90872" y="2770632"/>
            <a:ext cx="1179576" cy="1234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40 г · 1 смак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90872" y="2894076"/>
            <a:ext cx="117957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Ашан · Зараз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021324" y="1152144"/>
            <a:ext cx="1316736" cy="190652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021324" y="1152144"/>
            <a:ext cx="1316736" cy="27432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076188" y="1234440"/>
            <a:ext cx="1207008" cy="9052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9" name="Picture 48" descr="08809094847186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47638" y="1255014"/>
            <a:ext cx="864108" cy="864108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6089904" y="2194560"/>
            <a:ext cx="117957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4" b="1" i="0">
                <a:solidFill>
                  <a:srgbClr val="1C2235"/>
                </a:solidFill>
                <a:latin typeface="Segoe UI"/>
              </a:rPr>
              <a:t>Ock Dong Ja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89904" y="2331720"/>
            <a:ext cx="1179576" cy="2331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Подрібнені з кунжутом і зеленим чаєм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089904" y="2571750"/>
            <a:ext cx="1179576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0" b="1" i="0">
                <a:solidFill>
                  <a:srgbClr val="1C2235"/>
                </a:solidFill>
                <a:latin typeface="Segoe UI"/>
              </a:rPr>
              <a:t>186 ₴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089904" y="2770632"/>
            <a:ext cx="1179576" cy="1234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35 г · 1 смак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089904" y="2894076"/>
            <a:ext cx="117957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Ашан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420356" y="1152144"/>
            <a:ext cx="1316736" cy="190652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420356" y="1152144"/>
            <a:ext cx="1316736" cy="27432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475220" y="1234440"/>
            <a:ext cx="1207008" cy="9052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58" name="Picture 57" descr="08809094847193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46670" y="1255014"/>
            <a:ext cx="864108" cy="864108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7488936" y="2194560"/>
            <a:ext cx="117957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4" b="1" i="0">
                <a:solidFill>
                  <a:srgbClr val="1C2235"/>
                </a:solidFill>
                <a:latin typeface="Segoe UI"/>
              </a:rPr>
              <a:t>Ock Dong Ja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488936" y="2331720"/>
            <a:ext cx="1179576" cy="2331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Подрібнені зі смаком барбекю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488936" y="2571750"/>
            <a:ext cx="1179576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0" b="1" i="0">
                <a:solidFill>
                  <a:srgbClr val="1C2235"/>
                </a:solidFill>
                <a:latin typeface="Segoe UI"/>
              </a:rPr>
              <a:t>232 ₴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488936" y="2770632"/>
            <a:ext cx="1179576" cy="1234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70 г · 1 смак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488936" y="2894076"/>
            <a:ext cx="117957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Ашан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25196" y="3099816"/>
            <a:ext cx="1316736" cy="190652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425196" y="3099816"/>
            <a:ext cx="1316736" cy="27432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480060" y="3182112"/>
            <a:ext cx="1207008" cy="9052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67" name="Picture 66" descr="08858702421966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1510" y="3202686"/>
            <a:ext cx="864108" cy="864108"/>
          </a:xfrm>
          <a:prstGeom prst="rect">
            <a:avLst/>
          </a:prstGeom>
        </p:spPr>
      </p:pic>
      <p:sp>
        <p:nvSpPr>
          <p:cNvPr id="68" name="TextBox 67"/>
          <p:cNvSpPr txBox="1"/>
          <p:nvPr/>
        </p:nvSpPr>
        <p:spPr>
          <a:xfrm>
            <a:off x="493776" y="4142232"/>
            <a:ext cx="117957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4" b="1" i="0">
                <a:solidFill>
                  <a:srgbClr val="1C2235"/>
                </a:solidFill>
                <a:latin typeface="Segoe UI"/>
              </a:rPr>
              <a:t>Tao Kae Noi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93776" y="4279392"/>
            <a:ext cx="1179576" cy="2331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Гострі в темпурі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93776" y="4519422"/>
            <a:ext cx="1179576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0" b="1" i="0">
                <a:solidFill>
                  <a:srgbClr val="1C2235"/>
                </a:solidFill>
                <a:latin typeface="Segoe UI"/>
              </a:rPr>
              <a:t>528 ₴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93776" y="4718304"/>
            <a:ext cx="1179576" cy="1234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59 г · 1 смак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93776" y="4841748"/>
            <a:ext cx="117957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Onde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977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3977" cy="795528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95528"/>
            <a:ext cx="9143977" cy="41148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" y="178308"/>
            <a:ext cx="1042416" cy="4526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728216" y="205740"/>
            <a:ext cx="61722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1" i="0" spc="30">
                <a:solidFill>
                  <a:srgbClr val="FFC95C"/>
                </a:solidFill>
                <a:latin typeface="Segoe UI"/>
              </a:rPr>
              <a:t>СЕГМЕНТ · ТЕМПУРА Й ТОПІНГ · ДЕ ПРОДАЄТЬСЯ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28216" y="377190"/>
            <a:ext cx="61722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20" b="1" i="0">
                <a:solidFill>
                  <a:srgbClr val="FFFFFF"/>
                </a:solidFill>
                <a:latin typeface="Segoe UI"/>
              </a:rPr>
              <a:t>Темпура й топінг: де продається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20990" y="301752"/>
            <a:ext cx="768096" cy="2263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360" b="1" i="0">
                <a:solidFill>
                  <a:srgbClr val="465382"/>
                </a:solidFill>
                <a:latin typeface="Segoe UI"/>
              </a:rPr>
              <a:t>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5196" y="918972"/>
            <a:ext cx="82981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72" b="0" i="0">
                <a:solidFill>
                  <a:srgbClr val="717890"/>
                </a:solidFill>
                <a:latin typeface="Segoe UI"/>
              </a:rPr>
              <a:t>Скільки позицій цього сегмента стоїть у кожній мережі, які бренди та за яку ціну упаковки; праворуч — мережі за типом: національні — головний цільовий канал, регіональні — вхід, без позицій — вільна полиця.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" y="1337310"/>
            <a:ext cx="20574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 spc="40">
                <a:solidFill>
                  <a:srgbClr val="717890"/>
                </a:solidFill>
                <a:latin typeface="Segoe UI"/>
              </a:rPr>
              <a:t>МЕРЕЖА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74470" y="1337310"/>
            <a:ext cx="20574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 spc="40">
                <a:solidFill>
                  <a:srgbClr val="717890"/>
                </a:solidFill>
                <a:latin typeface="Segoe UI"/>
              </a:rPr>
              <a:t>ПОЗИЦІЙ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1337310"/>
            <a:ext cx="20574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 spc="40">
                <a:solidFill>
                  <a:srgbClr val="717890"/>
                </a:solidFill>
                <a:latin typeface="Segoe UI"/>
              </a:rPr>
              <a:t>БРЕНДИ · ЦІНА УПАКОВКИ, ₴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5196" y="1543050"/>
            <a:ext cx="4800600" cy="534924"/>
          </a:xfrm>
          <a:prstGeom prst="rect">
            <a:avLst/>
          </a:prstGeom>
          <a:solidFill>
            <a:srgbClr val="F8F9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3776" y="1543050"/>
            <a:ext cx="960120" cy="5349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68" b="1" i="0">
                <a:solidFill>
                  <a:srgbClr val="303A5D"/>
                </a:solidFill>
                <a:latin typeface="Segoe UI"/>
              </a:rPr>
              <a:t>Ашан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474470" y="1676781"/>
            <a:ext cx="1028700" cy="267462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51176" y="1543050"/>
            <a:ext cx="342900" cy="5349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52" b="1" i="0">
                <a:solidFill>
                  <a:srgbClr val="303A5D"/>
                </a:solidFill>
                <a:latin typeface="Segoe UI"/>
              </a:rPr>
              <a:t>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80360" y="1585843"/>
            <a:ext cx="2331720" cy="2674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1" i="0">
                <a:solidFill>
                  <a:srgbClr val="1C2235"/>
                </a:solidFill>
                <a:latin typeface="Segoe UI"/>
              </a:rPr>
              <a:t>Tao Kae Noi 6, Ock Dong Ja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80360" y="1821210"/>
            <a:ext cx="2331720" cy="2139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70–232 ₴ · типова 95 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" y="2077974"/>
            <a:ext cx="960120" cy="5349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68" b="1" i="0">
                <a:solidFill>
                  <a:srgbClr val="303A5D"/>
                </a:solidFill>
                <a:latin typeface="Segoe UI"/>
              </a:rPr>
              <a:t>Зараз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74470" y="2211705"/>
            <a:ext cx="642937" cy="267462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165413" y="2077974"/>
            <a:ext cx="342900" cy="5349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52" b="1" i="0">
                <a:solidFill>
                  <a:srgbClr val="303A5D"/>
                </a:solidFill>
                <a:latin typeface="Segoe UI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80360" y="2120767"/>
            <a:ext cx="2331720" cy="2674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1" i="0">
                <a:solidFill>
                  <a:srgbClr val="1C2235"/>
                </a:solidFill>
                <a:latin typeface="Segoe UI"/>
              </a:rPr>
              <a:t>Tao Kae Noi 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80360" y="2356134"/>
            <a:ext cx="2331720" cy="2139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77–135 ₴ · типова 88 ₴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5196" y="2612898"/>
            <a:ext cx="4800600" cy="534924"/>
          </a:xfrm>
          <a:prstGeom prst="rect">
            <a:avLst/>
          </a:prstGeom>
          <a:solidFill>
            <a:srgbClr val="F8F9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93776" y="2612898"/>
            <a:ext cx="960120" cy="5349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68" b="1" i="0">
                <a:solidFill>
                  <a:srgbClr val="303A5D"/>
                </a:solidFill>
                <a:latin typeface="Segoe UI"/>
              </a:rPr>
              <a:t>Onde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474470" y="2746629"/>
            <a:ext cx="514350" cy="267462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036826" y="2612898"/>
            <a:ext cx="342900" cy="5349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52" b="1" i="0">
                <a:solidFill>
                  <a:srgbClr val="303A5D"/>
                </a:solidFill>
                <a:latin typeface="Segoe U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80360" y="2655691"/>
            <a:ext cx="2331720" cy="2674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1" i="0">
                <a:solidFill>
                  <a:srgbClr val="1C2235"/>
                </a:solidFill>
                <a:latin typeface="Segoe UI"/>
              </a:rPr>
              <a:t>Tao Kae Noi 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80360" y="2891058"/>
            <a:ext cx="2331720" cy="2139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88–528 ₴ · типова 148 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3776" y="3147822"/>
            <a:ext cx="960120" cy="5349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68" b="1" i="0">
                <a:solidFill>
                  <a:srgbClr val="303A5D"/>
                </a:solidFill>
                <a:latin typeface="Segoe UI"/>
              </a:rPr>
              <a:t>METRO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474470" y="3281553"/>
            <a:ext cx="128587" cy="267462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651063" y="3147822"/>
            <a:ext cx="342900" cy="5349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52" b="1" i="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880360" y="3190615"/>
            <a:ext cx="2331720" cy="2674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1" i="0">
                <a:solidFill>
                  <a:srgbClr val="1C2235"/>
                </a:solidFill>
                <a:latin typeface="Segoe UI"/>
              </a:rPr>
              <a:t>Metro Chef 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880360" y="3425982"/>
            <a:ext cx="2331720" cy="2139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105 ₴ · типова 105 ₴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17820" y="1337310"/>
            <a:ext cx="3291840" cy="2057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17820" y="1351026"/>
            <a:ext cx="2194560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20" b="1" i="0">
                <a:solidFill>
                  <a:srgbClr val="303A5D"/>
                </a:solidFill>
                <a:latin typeface="Segoe UI"/>
              </a:rPr>
              <a:t>Національні мережі · 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543800" y="1351026"/>
            <a:ext cx="1165860" cy="164592"/>
          </a:xfrm>
          <a:prstGeom prst="rect">
            <a:avLst/>
          </a:prstGeom>
          <a:solidFill>
            <a:srgbClr val="B23A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543800" y="1351026"/>
            <a:ext cx="116586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ЦІЛЬОВИЙ КАНАЛ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17820" y="1625346"/>
            <a:ext cx="773582" cy="192024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72684" y="1639062"/>
            <a:ext cx="49926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1" i="0">
                <a:solidFill>
                  <a:srgbClr val="1C2235"/>
                </a:solidFill>
                <a:latin typeface="Segoe UI"/>
              </a:rPr>
              <a:t>Ашан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971946" y="1652778"/>
            <a:ext cx="178308" cy="137160"/>
          </a:xfrm>
          <a:prstGeom prst="rect">
            <a:avLst/>
          </a:prstGeom>
          <a:solidFill>
            <a:srgbClr val="B23A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971946" y="1652778"/>
            <a:ext cx="178308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8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59982" y="1625346"/>
            <a:ext cx="829818" cy="192024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14846" y="1639062"/>
            <a:ext cx="555498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1" i="0">
                <a:solidFill>
                  <a:srgbClr val="1C2235"/>
                </a:solidFill>
                <a:latin typeface="Segoe UI"/>
              </a:rPr>
              <a:t>Зараз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870344" y="1652778"/>
            <a:ext cx="178308" cy="137160"/>
          </a:xfrm>
          <a:prstGeom prst="rect">
            <a:avLst/>
          </a:prstGeom>
          <a:solidFill>
            <a:srgbClr val="B23A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870344" y="1652778"/>
            <a:ext cx="178308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158380" y="1625346"/>
            <a:ext cx="829818" cy="192024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213244" y="1639062"/>
            <a:ext cx="555498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1" i="0">
                <a:solidFill>
                  <a:srgbClr val="1C2235"/>
                </a:solidFill>
                <a:latin typeface="Segoe UI"/>
              </a:rPr>
              <a:t>METRO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768742" y="1652778"/>
            <a:ext cx="178308" cy="137160"/>
          </a:xfrm>
          <a:prstGeom prst="rect">
            <a:avLst/>
          </a:prstGeom>
          <a:solidFill>
            <a:srgbClr val="B23A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768742" y="1652778"/>
            <a:ext cx="178308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417820" y="2036826"/>
            <a:ext cx="3291840" cy="2057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417820" y="2050542"/>
            <a:ext cx="2194560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20" b="1" i="0">
                <a:solidFill>
                  <a:srgbClr val="303A5D"/>
                </a:solidFill>
                <a:latin typeface="Segoe UI"/>
              </a:rPr>
              <a:t>Регіональні мережі · 1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543800" y="2050542"/>
            <a:ext cx="1165860" cy="164592"/>
          </a:xfrm>
          <a:prstGeom prst="rect">
            <a:avLst/>
          </a:prstGeom>
          <a:solidFill>
            <a:srgbClr val="1F9AA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543800" y="2050542"/>
            <a:ext cx="116586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РЕГІОНАЛЬНИЙ ВХІД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417820" y="2324862"/>
            <a:ext cx="773582" cy="192024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472684" y="2338578"/>
            <a:ext cx="49926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1" i="0">
                <a:solidFill>
                  <a:srgbClr val="1C2235"/>
                </a:solidFill>
                <a:latin typeface="Segoe UI"/>
              </a:rPr>
              <a:t>Onde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971946" y="2352294"/>
            <a:ext cx="178308" cy="137160"/>
          </a:xfrm>
          <a:prstGeom prst="rect">
            <a:avLst/>
          </a:prstGeom>
          <a:solidFill>
            <a:srgbClr val="1F9AA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971946" y="2352294"/>
            <a:ext cx="178308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417820" y="2736342"/>
            <a:ext cx="3291840" cy="2057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417820" y="2750058"/>
            <a:ext cx="2194560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20" b="1" i="0">
                <a:solidFill>
                  <a:srgbClr val="303A5D"/>
                </a:solidFill>
                <a:latin typeface="Segoe UI"/>
              </a:rPr>
              <a:t>Без позицій сегмента · 14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543800" y="2750058"/>
            <a:ext cx="1165860" cy="164592"/>
          </a:xfrm>
          <a:prstGeom prst="rect">
            <a:avLst/>
          </a:prstGeom>
          <a:solidFill>
            <a:srgbClr val="A5ABB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543800" y="2750058"/>
            <a:ext cx="116586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ВІЛЬНА ПОЛИЦЯ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417820" y="3024378"/>
            <a:ext cx="624078" cy="192024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472684" y="3038094"/>
            <a:ext cx="349758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1" i="0">
                <a:solidFill>
                  <a:srgbClr val="1C2235"/>
                </a:solidFill>
                <a:latin typeface="Segoe UI"/>
              </a:rPr>
              <a:t>NOVUS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110478" y="3024378"/>
            <a:ext cx="905256" cy="192024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165342" y="3038094"/>
            <a:ext cx="630936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1" i="0">
                <a:solidFill>
                  <a:srgbClr val="1C2235"/>
                </a:solidFill>
                <a:latin typeface="Segoe UI"/>
              </a:rPr>
              <a:t>МегаМаркет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084314" y="3024378"/>
            <a:ext cx="961491" cy="192024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139178" y="3038094"/>
            <a:ext cx="687171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1" i="0">
                <a:solidFill>
                  <a:srgbClr val="1C2235"/>
                </a:solidFill>
                <a:latin typeface="Segoe UI"/>
              </a:rPr>
              <a:t>Ultramarket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417820" y="3271266"/>
            <a:ext cx="680313" cy="192024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472684" y="3284982"/>
            <a:ext cx="405993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1" i="0">
                <a:solidFill>
                  <a:srgbClr val="1C2235"/>
                </a:solidFill>
                <a:latin typeface="Segoe UI"/>
              </a:rPr>
              <a:t>Космос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166713" y="3271266"/>
            <a:ext cx="792784" cy="192024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221577" y="3284982"/>
            <a:ext cx="518464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1" i="0">
                <a:solidFill>
                  <a:srgbClr val="1C2235"/>
                </a:solidFill>
                <a:latin typeface="Segoe UI"/>
              </a:rPr>
              <a:t>Епіцентр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028078" y="3271266"/>
            <a:ext cx="624078" cy="192024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082942" y="3284982"/>
            <a:ext cx="349758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1" i="0">
                <a:solidFill>
                  <a:srgbClr val="1C2235"/>
                </a:solidFill>
                <a:latin typeface="Segoe UI"/>
              </a:rPr>
              <a:t>Ідеал</a:t>
            </a:r>
          </a:p>
        </p:txBody>
      </p:sp>
      <p:sp>
        <p:nvSpPr>
          <p:cNvPr id="75" name="Rectangle 74"/>
          <p:cNvSpPr/>
          <p:nvPr/>
        </p:nvSpPr>
        <p:spPr>
          <a:xfrm>
            <a:off x="7720736" y="3271266"/>
            <a:ext cx="736549" cy="192024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775600" y="3284982"/>
            <a:ext cx="462229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1" i="0">
                <a:solidFill>
                  <a:srgbClr val="1C2235"/>
                </a:solidFill>
                <a:latin typeface="Segoe UI"/>
              </a:rPr>
              <a:t>Восторг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417820" y="3518154"/>
            <a:ext cx="567842" cy="192024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472684" y="3531870"/>
            <a:ext cx="29352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1" i="0">
                <a:solidFill>
                  <a:srgbClr val="1C2235"/>
                </a:solidFill>
                <a:latin typeface="Segoe UI"/>
              </a:rPr>
              <a:t>Клас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054242" y="3518154"/>
            <a:ext cx="792784" cy="192024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109106" y="3531870"/>
            <a:ext cx="518464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1" i="0">
                <a:solidFill>
                  <a:srgbClr val="1C2235"/>
                </a:solidFill>
                <a:latin typeface="Segoe UI"/>
              </a:rPr>
              <a:t>Таврія В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915607" y="3518154"/>
            <a:ext cx="905256" cy="192024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970471" y="3531870"/>
            <a:ext cx="630936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1" i="0">
                <a:solidFill>
                  <a:srgbClr val="1C2235"/>
                </a:solidFill>
                <a:latin typeface="Segoe UI"/>
              </a:rPr>
              <a:t>ЧудоМаркет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889443" y="3518154"/>
            <a:ext cx="624078" cy="192024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944307" y="3531870"/>
            <a:ext cx="349758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1" i="0">
                <a:solidFill>
                  <a:srgbClr val="1C2235"/>
                </a:solidFill>
                <a:latin typeface="Segoe UI"/>
              </a:rPr>
              <a:t>Торба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417820" y="3765042"/>
            <a:ext cx="624078" cy="192024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5472684" y="3778758"/>
            <a:ext cx="349758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1" i="0">
                <a:solidFill>
                  <a:srgbClr val="1C2235"/>
                </a:solidFill>
                <a:latin typeface="Segoe UI"/>
              </a:rPr>
              <a:t>Grono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110478" y="3765042"/>
            <a:ext cx="511606" cy="192024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165342" y="3778758"/>
            <a:ext cx="237286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1" i="0">
                <a:solidFill>
                  <a:srgbClr val="1C2235"/>
                </a:solidFill>
                <a:latin typeface="Segoe UI"/>
              </a:rPr>
              <a:t>ЕКО</a:t>
            </a:r>
          </a:p>
        </p:txBody>
      </p:sp>
      <p:sp>
        <p:nvSpPr>
          <p:cNvPr id="89" name="Rectangle 88"/>
          <p:cNvSpPr/>
          <p:nvPr/>
        </p:nvSpPr>
        <p:spPr>
          <a:xfrm>
            <a:off x="6690664" y="3765042"/>
            <a:ext cx="680313" cy="192024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745528" y="3778758"/>
            <a:ext cx="405993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1" i="0">
                <a:solidFill>
                  <a:srgbClr val="1C2235"/>
                </a:solidFill>
                <a:latin typeface="Segoe UI"/>
              </a:rPr>
              <a:t>Біотус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25196" y="4855464"/>
            <a:ext cx="829818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1">
                <a:solidFill>
                  <a:srgbClr val="717890"/>
                </a:solidFill>
                <a:latin typeface="Segoe UI"/>
              </a:rPr>
              <a:t>Каталоги мереж на zakaz.ua (METRO, NOVUS, Ашан, Зараз, МегаМаркет, Ultramarket, Епіцентр, Космос, Onde, Ідеал, Восторг, Клас, Таврія В, ЧудоМаркет, Торба, Grono) · 07.10.2026 · ціна — онлайн-полиця одного магазину мережі, діапазон — між мережами.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977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3977" cy="795528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95528"/>
            <a:ext cx="9143977" cy="41148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" y="178308"/>
            <a:ext cx="1042416" cy="4526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728216" y="205740"/>
            <a:ext cx="61722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1" i="0" spc="30">
                <a:solidFill>
                  <a:srgbClr val="FFC95C"/>
                </a:solidFill>
                <a:latin typeface="Segoe UI"/>
              </a:rPr>
              <a:t>СЕГМЕНТ · РИСОВІ КРЕКЕРИ · 9 ПОЗИЦІЙ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28216" y="377190"/>
            <a:ext cx="61722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20" b="1" i="0">
                <a:solidFill>
                  <a:srgbClr val="FFFFFF"/>
                </a:solidFill>
                <a:latin typeface="Segoe UI"/>
              </a:rPr>
              <a:t>Рисові крекери: 9 позицій, медіана 148 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20990" y="301752"/>
            <a:ext cx="768096" cy="2263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360" b="1" i="0">
                <a:solidFill>
                  <a:srgbClr val="465382"/>
                </a:solidFill>
                <a:latin typeface="Segoe UI"/>
              </a:rPr>
              <a:t>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5196" y="946404"/>
            <a:ext cx="8298180" cy="150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4" b="0" i="0">
                <a:solidFill>
                  <a:srgbClr val="717890"/>
                </a:solidFill>
                <a:latin typeface="Segoe UI"/>
              </a:rPr>
              <a:t>Сегмент Singha Kameda і Thai-Nichi. Прямий аналог у мережах — Want Want mini 60 г; решта — Ultra Pop (аніме-серія) й органічні Clearspring.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5196" y="1193292"/>
            <a:ext cx="2125980" cy="80924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5196" y="1193292"/>
            <a:ext cx="27432" cy="809244"/>
          </a:xfrm>
          <a:prstGeom prst="rect">
            <a:avLst/>
          </a:prstGeom>
          <a:solidFill>
            <a:srgbClr val="B23A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3504" y="1309878"/>
            <a:ext cx="18516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1" i="0" spc="40">
                <a:solidFill>
                  <a:srgbClr val="717890"/>
                </a:solidFill>
                <a:latin typeface="Segoe UI"/>
              </a:rPr>
              <a:t>ПОЗИЦІЙ У СЕГМЕНТІ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" y="1467612"/>
            <a:ext cx="185166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60" b="1" i="0">
                <a:solidFill>
                  <a:srgbClr val="B23A3A"/>
                </a:solidFill>
                <a:latin typeface="Segoe UI"/>
              </a:rPr>
              <a:t>9 SKU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" y="1796796"/>
            <a:ext cx="1851660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3 лінійок · 3 брендів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60904" y="1193292"/>
            <a:ext cx="2125980" cy="80924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660904" y="1193292"/>
            <a:ext cx="27432" cy="809244"/>
          </a:xfrm>
          <a:prstGeom prst="rect">
            <a:avLst/>
          </a:prstGeom>
          <a:solidFill>
            <a:srgbClr val="B23A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39212" y="1309878"/>
            <a:ext cx="18516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1" i="0" spc="40">
                <a:solidFill>
                  <a:srgbClr val="717890"/>
                </a:solidFill>
                <a:latin typeface="Segoe UI"/>
              </a:rPr>
              <a:t>МЕДІАНА УПАКОВКИ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9212" y="1467612"/>
            <a:ext cx="185166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60" b="1" i="0">
                <a:solidFill>
                  <a:srgbClr val="B23A3A"/>
                </a:solidFill>
                <a:latin typeface="Segoe UI"/>
              </a:rPr>
              <a:t>148 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9212" y="1796796"/>
            <a:ext cx="1851660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діапазон 126–149 ₴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96612" y="1193292"/>
            <a:ext cx="2125980" cy="80924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896612" y="1193292"/>
            <a:ext cx="27432" cy="809244"/>
          </a:xfrm>
          <a:prstGeom prst="rect">
            <a:avLst/>
          </a:prstGeom>
          <a:solidFill>
            <a:srgbClr val="B23A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74920" y="1309878"/>
            <a:ext cx="18516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1" i="0" spc="40">
                <a:solidFill>
                  <a:srgbClr val="717890"/>
                </a:solidFill>
                <a:latin typeface="Segoe UI"/>
              </a:rPr>
              <a:t>НАЙХОДОВІША УПАКОВКА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74920" y="1467612"/>
            <a:ext cx="185166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60" b="1" i="0">
                <a:solidFill>
                  <a:srgbClr val="B23A3A"/>
                </a:solidFill>
                <a:latin typeface="Segoe UI"/>
              </a:rPr>
              <a:t>60 г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74920" y="1796796"/>
            <a:ext cx="1851660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92 % присутності на полицях · медіана 148 ₴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132320" y="1193292"/>
            <a:ext cx="1591056" cy="80924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132320" y="1193292"/>
            <a:ext cx="27432" cy="809244"/>
          </a:xfrm>
          <a:prstGeom prst="rect">
            <a:avLst/>
          </a:prstGeom>
          <a:solidFill>
            <a:srgbClr val="B23A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0628" y="1309878"/>
            <a:ext cx="131673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1" i="0" spc="40">
                <a:solidFill>
                  <a:srgbClr val="717890"/>
                </a:solidFill>
                <a:latin typeface="Segoe UI"/>
              </a:rPr>
              <a:t>ВАГА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0628" y="1467612"/>
            <a:ext cx="1316736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B23A3A"/>
                </a:solidFill>
                <a:latin typeface="Segoe UI"/>
              </a:rPr>
              <a:t>50–60 г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5196" y="2125980"/>
            <a:ext cx="27432" cy="144018"/>
          </a:xfrm>
          <a:prstGeom prst="rect">
            <a:avLst/>
          </a:prstGeom>
          <a:solidFill>
            <a:srgbClr val="B23A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34924" y="2139696"/>
            <a:ext cx="3429000" cy="10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 spc="30">
                <a:solidFill>
                  <a:srgbClr val="B23A3A"/>
                </a:solidFill>
                <a:latin typeface="Segoe UI"/>
              </a:rPr>
              <a:t>ХТО ТРИМАЄ СЕГМЕНТ · SKU НА БРЕНД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5196" y="2345436"/>
            <a:ext cx="973836" cy="1611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24" b="0" i="0">
                <a:solidFill>
                  <a:srgbClr val="303A5D"/>
                </a:solidFill>
                <a:latin typeface="Segoe UI"/>
              </a:rPr>
              <a:t>Ultra Pop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453896" y="2388950"/>
            <a:ext cx="2468880" cy="74134"/>
          </a:xfrm>
          <a:prstGeom prst="rect">
            <a:avLst/>
          </a:prstGeom>
          <a:solidFill>
            <a:srgbClr val="B23A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970782" y="2345436"/>
            <a:ext cx="548640" cy="1611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24" b="1" i="0">
                <a:solidFill>
                  <a:srgbClr val="717890"/>
                </a:solidFill>
                <a:latin typeface="Segoe UI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5196" y="2506599"/>
            <a:ext cx="973836" cy="1611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24" b="0" i="0">
                <a:solidFill>
                  <a:srgbClr val="303A5D"/>
                </a:solidFill>
                <a:latin typeface="Segoe UI"/>
              </a:rPr>
              <a:t>Want Want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453896" y="2550113"/>
            <a:ext cx="1481328" cy="74134"/>
          </a:xfrm>
          <a:prstGeom prst="rect">
            <a:avLst/>
          </a:prstGeom>
          <a:solidFill>
            <a:srgbClr val="B23A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983230" y="2506599"/>
            <a:ext cx="548640" cy="1611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24" b="1" i="0">
                <a:solidFill>
                  <a:srgbClr val="717890"/>
                </a:solidFill>
                <a:latin typeface="Segoe UI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5196" y="2667762"/>
            <a:ext cx="973836" cy="1611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24" b="0" i="0">
                <a:solidFill>
                  <a:srgbClr val="303A5D"/>
                </a:solidFill>
                <a:latin typeface="Segoe UI"/>
              </a:rPr>
              <a:t>Clearspring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453896" y="2711276"/>
            <a:ext cx="493776" cy="74134"/>
          </a:xfrm>
          <a:prstGeom prst="rect">
            <a:avLst/>
          </a:prstGeom>
          <a:solidFill>
            <a:srgbClr val="B23A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995678" y="2667762"/>
            <a:ext cx="548640" cy="1611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24" b="1" i="0">
                <a:solidFill>
                  <a:srgbClr val="717890"/>
                </a:solidFill>
                <a:latin typeface="Segoe UI"/>
              </a:rPr>
              <a:t>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732020" y="2125980"/>
            <a:ext cx="27432" cy="144018"/>
          </a:xfrm>
          <a:prstGeom prst="rect">
            <a:avLst/>
          </a:prstGeom>
          <a:solidFill>
            <a:srgbClr val="B23A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841748" y="2139696"/>
            <a:ext cx="3429000" cy="10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 spc="30">
                <a:solidFill>
                  <a:srgbClr val="B23A3A"/>
                </a:solidFill>
                <a:latin typeface="Segoe UI"/>
              </a:rPr>
              <a:t>ПОЗИЦІЇ ЗА ЦІНОЮ УПАКОВКИ · ₴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63440" y="3250692"/>
            <a:ext cx="742950" cy="1165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08" b="1" i="0">
                <a:solidFill>
                  <a:srgbClr val="303A5D"/>
                </a:solidFill>
                <a:latin typeface="Segoe UI"/>
              </a:rPr>
              <a:t>–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29150" y="3408426"/>
            <a:ext cx="81153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до 100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337810" y="3250692"/>
            <a:ext cx="742950" cy="1165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08" b="1" i="0">
                <a:solidFill>
                  <a:srgbClr val="303A5D"/>
                </a:solidFill>
                <a:latin typeface="Segoe UI"/>
              </a:rPr>
              <a:t>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03520" y="3408426"/>
            <a:ext cx="81153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100–125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080760" y="3253631"/>
            <a:ext cx="605790" cy="127362"/>
          </a:xfrm>
          <a:prstGeom prst="rect">
            <a:avLst/>
          </a:prstGeom>
          <a:solidFill>
            <a:srgbClr val="B23A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012180" y="3123329"/>
            <a:ext cx="742950" cy="1165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08" b="1" i="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977890" y="3408426"/>
            <a:ext cx="81153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125–135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755130" y="3253631"/>
            <a:ext cx="605790" cy="127362"/>
          </a:xfrm>
          <a:prstGeom prst="rect">
            <a:avLst/>
          </a:prstGeom>
          <a:solidFill>
            <a:srgbClr val="B23A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686550" y="3123329"/>
            <a:ext cx="742950" cy="1165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08" b="1" i="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652260" y="3408426"/>
            <a:ext cx="81153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135–145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429500" y="2489454"/>
            <a:ext cx="605790" cy="891540"/>
          </a:xfrm>
          <a:prstGeom prst="rect">
            <a:avLst/>
          </a:prstGeom>
          <a:solidFill>
            <a:srgbClr val="B23A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360920" y="2359152"/>
            <a:ext cx="742950" cy="1165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08" b="1" i="0">
                <a:solidFill>
                  <a:srgbClr val="303A5D"/>
                </a:solidFill>
                <a:latin typeface="Segoe UI"/>
              </a:rPr>
              <a:t>7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326630" y="3408426"/>
            <a:ext cx="81153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145–150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035290" y="3250692"/>
            <a:ext cx="742950" cy="1165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08" b="1" i="0">
                <a:solidFill>
                  <a:srgbClr val="303A5D"/>
                </a:solidFill>
                <a:latin typeface="Segoe UI"/>
              </a:rPr>
              <a:t>–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001000" y="3408426"/>
            <a:ext cx="81153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150+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25196" y="3669030"/>
            <a:ext cx="27432" cy="144018"/>
          </a:xfrm>
          <a:prstGeom prst="rect">
            <a:avLst/>
          </a:prstGeom>
          <a:solidFill>
            <a:srgbClr val="B23A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34924" y="3682746"/>
            <a:ext cx="5486400" cy="10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 spc="30">
                <a:solidFill>
                  <a:srgbClr val="B23A3A"/>
                </a:solidFill>
                <a:latin typeface="Segoe UI"/>
              </a:rPr>
              <a:t>ПРЕДСТАВНИКИ СЕГМЕНТА · ВІД НАЙДЕШЕВШОЇ ДО НАЙДОРОЖЧОЇ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25196" y="3895344"/>
            <a:ext cx="1316736" cy="111099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25196" y="3895344"/>
            <a:ext cx="1316736" cy="27432"/>
          </a:xfrm>
          <a:prstGeom prst="rect">
            <a:avLst/>
          </a:prstGeom>
          <a:solidFill>
            <a:srgbClr val="B23A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473202" y="3963924"/>
            <a:ext cx="54864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62" name="Picture 61" descr="0502155498414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918" y="3977640"/>
            <a:ext cx="521208" cy="521208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1069848" y="3991356"/>
            <a:ext cx="65151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24" b="1" i="0">
                <a:solidFill>
                  <a:srgbClr val="1C2235"/>
                </a:solidFill>
                <a:latin typeface="Segoe UI"/>
              </a:rPr>
              <a:t>Clearspring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69848" y="4320540"/>
            <a:ext cx="65151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1" i="0">
                <a:solidFill>
                  <a:srgbClr val="1C2235"/>
                </a:solidFill>
                <a:latin typeface="Segoe UI"/>
              </a:rPr>
              <a:t>126 ₴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93776" y="4581144"/>
            <a:ext cx="121386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50 г · 1 смак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93776" y="4732020"/>
            <a:ext cx="1213866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Grono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824228" y="3895344"/>
            <a:ext cx="1316736" cy="111099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1824228" y="3895344"/>
            <a:ext cx="1316736" cy="27432"/>
          </a:xfrm>
          <a:prstGeom prst="rect">
            <a:avLst/>
          </a:prstGeom>
          <a:solidFill>
            <a:srgbClr val="B23A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1872234" y="3963924"/>
            <a:ext cx="54864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70" name="Picture 69" descr="0471014490015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85950" y="3977640"/>
            <a:ext cx="521208" cy="521208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2468880" y="3991356"/>
            <a:ext cx="65151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24" b="1" i="0">
                <a:solidFill>
                  <a:srgbClr val="1C2235"/>
                </a:solidFill>
                <a:latin typeface="Segoe UI"/>
              </a:rPr>
              <a:t>Want Want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468880" y="4320540"/>
            <a:ext cx="65151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1" i="0">
                <a:solidFill>
                  <a:srgbClr val="1C2235"/>
                </a:solidFill>
                <a:latin typeface="Segoe UI"/>
              </a:rPr>
              <a:t>145 ₴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892808" y="4581144"/>
            <a:ext cx="121386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60 г · 3 смаки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892808" y="4732020"/>
            <a:ext cx="1213866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Ашан · Grono · Onde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223260" y="3895344"/>
            <a:ext cx="1316736" cy="111099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3223260" y="3895344"/>
            <a:ext cx="1316736" cy="27432"/>
          </a:xfrm>
          <a:prstGeom prst="rect">
            <a:avLst/>
          </a:prstGeom>
          <a:solidFill>
            <a:srgbClr val="B23A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3271266" y="3963924"/>
            <a:ext cx="54864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78" name="Picture 77" descr="03770027194767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84982" y="3977640"/>
            <a:ext cx="521208" cy="521208"/>
          </a:xfrm>
          <a:prstGeom prst="rect">
            <a:avLst/>
          </a:prstGeom>
        </p:spPr>
      </p:pic>
      <p:sp>
        <p:nvSpPr>
          <p:cNvPr id="79" name="TextBox 78"/>
          <p:cNvSpPr txBox="1"/>
          <p:nvPr/>
        </p:nvSpPr>
        <p:spPr>
          <a:xfrm>
            <a:off x="3867912" y="3991356"/>
            <a:ext cx="65151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24" b="1" i="0">
                <a:solidFill>
                  <a:srgbClr val="1C2235"/>
                </a:solidFill>
                <a:latin typeface="Segoe UI"/>
              </a:rPr>
              <a:t>Ultra Pop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867912" y="4320540"/>
            <a:ext cx="65151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1" i="0">
                <a:solidFill>
                  <a:srgbClr val="1C2235"/>
                </a:solidFill>
                <a:latin typeface="Segoe UI"/>
              </a:rPr>
              <a:t>148 ₴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291840" y="4581144"/>
            <a:ext cx="121386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60 г · 5 смаків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291840" y="4732020"/>
            <a:ext cx="1213866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Космос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977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3977" cy="795528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95528"/>
            <a:ext cx="9143977" cy="41148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" y="178308"/>
            <a:ext cx="1042416" cy="4526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728216" y="205740"/>
            <a:ext cx="61722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1" i="0" spc="30">
                <a:solidFill>
                  <a:srgbClr val="FFC95C"/>
                </a:solidFill>
                <a:latin typeface="Segoe UI"/>
              </a:rPr>
              <a:t>СЕГМЕНТ · РИСОВІ КРЕКЕРИ ТА ЧИПСИ · ПОПУЛЯРНІ УПАКОВКИ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28216" y="377190"/>
            <a:ext cx="61722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20" b="1" i="0">
                <a:solidFill>
                  <a:srgbClr val="FFFFFF"/>
                </a:solidFill>
                <a:latin typeface="Segoe UI"/>
              </a:rPr>
              <a:t>Рис: ходові упаковки крекерів і чипсів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20990" y="301752"/>
            <a:ext cx="768096" cy="2263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360" b="1" i="0">
                <a:solidFill>
                  <a:srgbClr val="465382"/>
                </a:solidFill>
                <a:latin typeface="Segoe UI"/>
              </a:rPr>
              <a:t>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5196" y="946404"/>
            <a:ext cx="8298180" cy="150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88" b="0" i="0">
                <a:solidFill>
                  <a:srgbClr val="717890"/>
                </a:solidFill>
                <a:latin typeface="Segoe UI"/>
              </a:rPr>
              <a:t>Популярність — це присутність упаковки на полицях: кількість позицій × мереж, де вона стоїть (даних про продажі немає). Справа — наша полиця проти типової ціни пакетів близької ваги.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5196" y="1268730"/>
            <a:ext cx="6446520" cy="205740"/>
          </a:xfrm>
          <a:prstGeom prst="rect">
            <a:avLst/>
          </a:prstGeom>
          <a:solidFill>
            <a:srgbClr val="B23A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7492" y="1289304"/>
            <a:ext cx="2743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 spc="20">
                <a:solidFill>
                  <a:srgbClr val="FFFFFF"/>
                </a:solidFill>
                <a:latin typeface="Segoe UI"/>
              </a:rPr>
              <a:t>РИСОВІ КРЕКЕРИ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5196" y="1495044"/>
            <a:ext cx="58293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717890"/>
                </a:solidFill>
                <a:latin typeface="Segoe UI"/>
              </a:rPr>
              <a:t>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" y="1495044"/>
            <a:ext cx="96012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717890"/>
                </a:solidFill>
                <a:latin typeface="Segoe UI"/>
              </a:rPr>
              <a:t>ВАГА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85316" y="1495044"/>
            <a:ext cx="246888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717890"/>
                </a:solidFill>
                <a:latin typeface="Segoe UI"/>
              </a:rPr>
              <a:t>ПРИСУТНІСТЬ · ПОЗИЦІЙ × МЕРЕЖ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79876" y="1495044"/>
            <a:ext cx="10287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717890"/>
                </a:solidFill>
                <a:latin typeface="Segoe UI"/>
              </a:rPr>
              <a:t>SKU · БРЕНДІВ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34256" y="1495044"/>
            <a:ext cx="75438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717890"/>
                </a:solidFill>
                <a:latin typeface="Segoe UI"/>
              </a:rPr>
              <a:t>МЕРЕЖ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14316" y="1495044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717890"/>
                </a:solidFill>
                <a:latin typeface="Segoe UI"/>
              </a:rPr>
              <a:t>ЦІНА, ₴ · МІН.–МАКС.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11596" y="1495044"/>
            <a:ext cx="96012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717890"/>
                </a:solidFill>
                <a:latin typeface="Segoe UI"/>
              </a:rPr>
              <a:t>МЕДІАНА ЦІНИ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5196" y="1625346"/>
            <a:ext cx="6446520" cy="390746"/>
          </a:xfrm>
          <a:prstGeom prst="rect">
            <a:avLst/>
          </a:prstGeom>
          <a:solidFill>
            <a:srgbClr val="F8F9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52628" y="1731565"/>
            <a:ext cx="178308" cy="178308"/>
          </a:xfrm>
          <a:prstGeom prst="roundRect">
            <a:avLst>
              <a:gd name="adj" fmla="val 50000"/>
            </a:avLst>
          </a:prstGeom>
          <a:solidFill>
            <a:srgbClr val="B23A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2628" y="1731565"/>
            <a:ext cx="178308" cy="1783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8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9516" y="1625346"/>
            <a:ext cx="651510" cy="390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40" b="1" i="0">
                <a:solidFill>
                  <a:srgbClr val="303A5D"/>
                </a:solidFill>
                <a:latin typeface="Segoe UI"/>
              </a:rPr>
              <a:t>60 г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385316" y="1730847"/>
            <a:ext cx="1577340" cy="179743"/>
          </a:xfrm>
          <a:prstGeom prst="rect">
            <a:avLst/>
          </a:prstGeom>
          <a:solidFill>
            <a:srgbClr val="B23A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17520" y="1625346"/>
            <a:ext cx="822960" cy="390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24" b="1" i="0">
                <a:solidFill>
                  <a:srgbClr val="717890"/>
                </a:solidFill>
                <a:latin typeface="Segoe UI"/>
              </a:rPr>
              <a:t>11 · 92 %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79876" y="1625346"/>
            <a:ext cx="685800" cy="390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40" b="0" i="0">
                <a:solidFill>
                  <a:srgbClr val="303A5D"/>
                </a:solidFill>
                <a:latin typeface="Segoe UI"/>
              </a:rPr>
              <a:t>8 · 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34256" y="1625346"/>
            <a:ext cx="411480" cy="390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40" b="0" i="0">
                <a:solidFill>
                  <a:srgbClr val="303A5D"/>
                </a:solidFill>
                <a:latin typeface="Segoe U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14316" y="1625346"/>
            <a:ext cx="1097280" cy="390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40" b="0" i="0">
                <a:solidFill>
                  <a:srgbClr val="717890"/>
                </a:solidFill>
                <a:latin typeface="Segoe UI"/>
              </a:rPr>
              <a:t>140–149 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11596" y="1625346"/>
            <a:ext cx="822960" cy="390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80" b="1" i="0">
                <a:solidFill>
                  <a:srgbClr val="1C2235"/>
                </a:solidFill>
                <a:latin typeface="Segoe UI"/>
              </a:rPr>
              <a:t>148 ₴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2628" y="2122311"/>
            <a:ext cx="178308" cy="178308"/>
          </a:xfrm>
          <a:prstGeom prst="roundRect">
            <a:avLst>
              <a:gd name="adj" fmla="val 50000"/>
            </a:avLst>
          </a:prstGeom>
          <a:solidFill>
            <a:srgbClr val="E4BAB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2628" y="2122311"/>
            <a:ext cx="178308" cy="1783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8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9516" y="2016092"/>
            <a:ext cx="651510" cy="390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40" b="1" i="0">
                <a:solidFill>
                  <a:srgbClr val="303A5D"/>
                </a:solidFill>
                <a:latin typeface="Segoe UI"/>
              </a:rPr>
              <a:t>50 г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385316" y="2121594"/>
            <a:ext cx="143394" cy="179743"/>
          </a:xfrm>
          <a:prstGeom prst="rect">
            <a:avLst/>
          </a:prstGeom>
          <a:solidFill>
            <a:srgbClr val="D5939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583574" y="2016092"/>
            <a:ext cx="822960" cy="390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24" b="1" i="0">
                <a:solidFill>
                  <a:srgbClr val="717890"/>
                </a:solidFill>
                <a:latin typeface="Segoe UI"/>
              </a:rPr>
              <a:t>1 · 8 %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79876" y="2016092"/>
            <a:ext cx="685800" cy="390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40" b="0" i="0">
                <a:solidFill>
                  <a:srgbClr val="303A5D"/>
                </a:solidFill>
                <a:latin typeface="Segoe UI"/>
              </a:rPr>
              <a:t>1 · 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34256" y="2016092"/>
            <a:ext cx="411480" cy="390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40" b="0" i="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14316" y="2016092"/>
            <a:ext cx="1097280" cy="390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40" b="0" i="0">
                <a:solidFill>
                  <a:srgbClr val="717890"/>
                </a:solidFill>
                <a:latin typeface="Segoe UI"/>
              </a:rPr>
              <a:t>126 ₴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11596" y="2016092"/>
            <a:ext cx="822960" cy="390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80" b="1" i="0">
                <a:solidFill>
                  <a:srgbClr val="1C2235"/>
                </a:solidFill>
                <a:latin typeface="Segoe UI"/>
              </a:rPr>
              <a:t>126 ₴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25196" y="2489135"/>
            <a:ext cx="6446520" cy="205740"/>
          </a:xfrm>
          <a:prstGeom prst="rect">
            <a:avLst/>
          </a:prstGeom>
          <a:solidFill>
            <a:srgbClr val="A5ABB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7492" y="2509709"/>
            <a:ext cx="2743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 spc="20">
                <a:solidFill>
                  <a:srgbClr val="FFFFFF"/>
                </a:solidFill>
                <a:latin typeface="Segoe UI"/>
              </a:rPr>
              <a:t>РИСОВІ ЧИПСИ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5196" y="2715449"/>
            <a:ext cx="58293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717890"/>
                </a:solidFill>
                <a:latin typeface="Segoe UI"/>
              </a:rPr>
              <a:t>№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9516" y="2715449"/>
            <a:ext cx="96012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717890"/>
                </a:solidFill>
                <a:latin typeface="Segoe UI"/>
              </a:rPr>
              <a:t>ВАГА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385316" y="2715449"/>
            <a:ext cx="246888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717890"/>
                </a:solidFill>
                <a:latin typeface="Segoe UI"/>
              </a:rPr>
              <a:t>ПРИСУТНІСТЬ · ПОЗИЦІЙ × МЕРЕЖ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79876" y="2715449"/>
            <a:ext cx="10287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717890"/>
                </a:solidFill>
                <a:latin typeface="Segoe UI"/>
              </a:rPr>
              <a:t>SKU · БРЕНДІВ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34256" y="2715449"/>
            <a:ext cx="75438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717890"/>
                </a:solidFill>
                <a:latin typeface="Segoe UI"/>
              </a:rPr>
              <a:t>МЕРЕЖ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814316" y="2715449"/>
            <a:ext cx="12344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717890"/>
                </a:solidFill>
                <a:latin typeface="Segoe UI"/>
              </a:rPr>
              <a:t>ЦІНА, ₴ · МІН.–МАКС.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911596" y="2715449"/>
            <a:ext cx="96012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717890"/>
                </a:solidFill>
                <a:latin typeface="Segoe UI"/>
              </a:rPr>
              <a:t>МЕДІАНА ЦІНИ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25196" y="2845751"/>
            <a:ext cx="6446520" cy="390746"/>
          </a:xfrm>
          <a:prstGeom prst="rect">
            <a:avLst/>
          </a:prstGeom>
          <a:solidFill>
            <a:srgbClr val="F8F9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452628" y="2951970"/>
            <a:ext cx="178308" cy="178308"/>
          </a:xfrm>
          <a:prstGeom prst="roundRect">
            <a:avLst>
              <a:gd name="adj" fmla="val 50000"/>
            </a:avLst>
          </a:prstGeom>
          <a:solidFill>
            <a:srgbClr val="A5ABB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52628" y="2951970"/>
            <a:ext cx="178308" cy="1783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8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99516" y="2845751"/>
            <a:ext cx="651510" cy="390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40" b="1" i="0">
                <a:solidFill>
                  <a:srgbClr val="303A5D"/>
                </a:solidFill>
                <a:latin typeface="Segoe UI"/>
              </a:rPr>
              <a:t>60 г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385316" y="2951252"/>
            <a:ext cx="1577340" cy="179743"/>
          </a:xfrm>
          <a:prstGeom prst="rect">
            <a:avLst/>
          </a:prstGeom>
          <a:solidFill>
            <a:srgbClr val="A5ABB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017520" y="2845751"/>
            <a:ext cx="822960" cy="390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24" b="1" i="0">
                <a:solidFill>
                  <a:srgbClr val="717890"/>
                </a:solidFill>
                <a:latin typeface="Segoe UI"/>
              </a:rPr>
              <a:t>15 · 43 %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579876" y="2845751"/>
            <a:ext cx="685800" cy="390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40" b="0" i="0">
                <a:solidFill>
                  <a:srgbClr val="303A5D"/>
                </a:solidFill>
                <a:latin typeface="Segoe UI"/>
              </a:rPr>
              <a:t>8 · 3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334256" y="2845751"/>
            <a:ext cx="411480" cy="390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40" b="0" i="0">
                <a:solidFill>
                  <a:srgbClr val="303A5D"/>
                </a:solidFill>
                <a:latin typeface="Segoe UI"/>
              </a:rPr>
              <a:t>4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814316" y="2845751"/>
            <a:ext cx="1097280" cy="390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40" b="0" i="0">
                <a:solidFill>
                  <a:srgbClr val="717890"/>
                </a:solidFill>
                <a:latin typeface="Segoe UI"/>
              </a:rPr>
              <a:t>55–71 ₴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911596" y="2845751"/>
            <a:ext cx="822960" cy="390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80" b="1" i="0">
                <a:solidFill>
                  <a:srgbClr val="1C2235"/>
                </a:solidFill>
                <a:latin typeface="Segoe UI"/>
              </a:rPr>
              <a:t>61 ₴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52628" y="3342716"/>
            <a:ext cx="178308" cy="178308"/>
          </a:xfrm>
          <a:prstGeom prst="roundRect">
            <a:avLst>
              <a:gd name="adj" fmla="val 50000"/>
            </a:avLst>
          </a:prstGeom>
          <a:solidFill>
            <a:srgbClr val="E0E2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52628" y="3342716"/>
            <a:ext cx="178308" cy="1783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8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99516" y="3236497"/>
            <a:ext cx="651510" cy="390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40" b="1" i="0">
                <a:solidFill>
                  <a:srgbClr val="303A5D"/>
                </a:solidFill>
                <a:latin typeface="Segoe UI"/>
              </a:rPr>
              <a:t>50 г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385316" y="3341999"/>
            <a:ext cx="841248" cy="179743"/>
          </a:xfrm>
          <a:prstGeom prst="rect">
            <a:avLst/>
          </a:prstGeom>
          <a:solidFill>
            <a:srgbClr val="CED1D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281428" y="3236497"/>
            <a:ext cx="822960" cy="390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24" b="1" i="0">
                <a:solidFill>
                  <a:srgbClr val="717890"/>
                </a:solidFill>
                <a:latin typeface="Segoe UI"/>
              </a:rPr>
              <a:t>8 · 23 %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579876" y="3236497"/>
            <a:ext cx="685800" cy="390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40" b="0" i="0">
                <a:solidFill>
                  <a:srgbClr val="303A5D"/>
                </a:solidFill>
                <a:latin typeface="Segoe UI"/>
              </a:rPr>
              <a:t>4 · 2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334256" y="3236497"/>
            <a:ext cx="411480" cy="390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40" b="0" i="0">
                <a:solidFill>
                  <a:srgbClr val="303A5D"/>
                </a:solidFill>
                <a:latin typeface="Segoe UI"/>
              </a:rPr>
              <a:t>4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814316" y="3236497"/>
            <a:ext cx="1097280" cy="390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40" b="0" i="0">
                <a:solidFill>
                  <a:srgbClr val="717890"/>
                </a:solidFill>
                <a:latin typeface="Segoe UI"/>
              </a:rPr>
              <a:t>20–42 ₴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911596" y="3236497"/>
            <a:ext cx="822960" cy="390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80" b="1" i="0">
                <a:solidFill>
                  <a:srgbClr val="1C2235"/>
                </a:solidFill>
                <a:latin typeface="Segoe UI"/>
              </a:rPr>
              <a:t>39 ₴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25196" y="3627244"/>
            <a:ext cx="6446520" cy="390746"/>
          </a:xfrm>
          <a:prstGeom prst="rect">
            <a:avLst/>
          </a:prstGeom>
          <a:solidFill>
            <a:srgbClr val="F8F9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452628" y="3733463"/>
            <a:ext cx="178308" cy="178308"/>
          </a:xfrm>
          <a:prstGeom prst="roundRect">
            <a:avLst>
              <a:gd name="adj" fmla="val 50000"/>
            </a:avLst>
          </a:prstGeom>
          <a:solidFill>
            <a:srgbClr val="E0E2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52628" y="3733463"/>
            <a:ext cx="178308" cy="1783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8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99516" y="3627244"/>
            <a:ext cx="651510" cy="390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40" b="1" i="0">
                <a:solidFill>
                  <a:srgbClr val="303A5D"/>
                </a:solidFill>
                <a:latin typeface="Segoe UI"/>
              </a:rPr>
              <a:t>70 г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385316" y="3732745"/>
            <a:ext cx="736092" cy="179743"/>
          </a:xfrm>
          <a:prstGeom prst="rect">
            <a:avLst/>
          </a:prstGeom>
          <a:solidFill>
            <a:srgbClr val="CED1D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176272" y="3627244"/>
            <a:ext cx="822960" cy="390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24" b="1" i="0">
                <a:solidFill>
                  <a:srgbClr val="717890"/>
                </a:solidFill>
                <a:latin typeface="Segoe UI"/>
              </a:rPr>
              <a:t>7 · 20 %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579876" y="3627244"/>
            <a:ext cx="685800" cy="390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40" b="0" i="0">
                <a:solidFill>
                  <a:srgbClr val="303A5D"/>
                </a:solidFill>
                <a:latin typeface="Segoe UI"/>
              </a:rPr>
              <a:t>3 · 1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334256" y="3627244"/>
            <a:ext cx="411480" cy="390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40" b="0" i="0">
                <a:solidFill>
                  <a:srgbClr val="303A5D"/>
                </a:solidFill>
                <a:latin typeface="Segoe UI"/>
              </a:rPr>
              <a:t>3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814316" y="3627244"/>
            <a:ext cx="1097280" cy="390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40" b="0" i="0">
                <a:solidFill>
                  <a:srgbClr val="717890"/>
                </a:solidFill>
                <a:latin typeface="Segoe UI"/>
              </a:rPr>
              <a:t>50–58 ₴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911596" y="3627244"/>
            <a:ext cx="822960" cy="390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80" b="1" i="0">
                <a:solidFill>
                  <a:srgbClr val="1C2235"/>
                </a:solidFill>
                <a:latin typeface="Segoe UI"/>
              </a:rPr>
              <a:t>54 ₴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452628" y="4124209"/>
            <a:ext cx="178308" cy="178308"/>
          </a:xfrm>
          <a:prstGeom prst="roundRect">
            <a:avLst>
              <a:gd name="adj" fmla="val 50000"/>
            </a:avLst>
          </a:prstGeom>
          <a:solidFill>
            <a:srgbClr val="E0E2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52628" y="4124209"/>
            <a:ext cx="178308" cy="1783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8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99516" y="4017990"/>
            <a:ext cx="651510" cy="390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40" b="1" i="0">
                <a:solidFill>
                  <a:srgbClr val="303A5D"/>
                </a:solidFill>
                <a:latin typeface="Segoe UI"/>
              </a:rPr>
              <a:t>150 г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385316" y="4123492"/>
            <a:ext cx="525780" cy="179743"/>
          </a:xfrm>
          <a:prstGeom prst="rect">
            <a:avLst/>
          </a:prstGeom>
          <a:solidFill>
            <a:srgbClr val="CED1D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965960" y="4017990"/>
            <a:ext cx="822960" cy="390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24" b="1" i="0">
                <a:solidFill>
                  <a:srgbClr val="717890"/>
                </a:solidFill>
                <a:latin typeface="Segoe UI"/>
              </a:rPr>
              <a:t>5 · 14 %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579876" y="4017990"/>
            <a:ext cx="685800" cy="390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40" b="0" i="0">
                <a:solidFill>
                  <a:srgbClr val="303A5D"/>
                </a:solidFill>
                <a:latin typeface="Segoe UI"/>
              </a:rPr>
              <a:t>4 · 1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334256" y="4017990"/>
            <a:ext cx="411480" cy="390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40" b="0" i="0">
                <a:solidFill>
                  <a:srgbClr val="303A5D"/>
                </a:solidFill>
                <a:latin typeface="Segoe UI"/>
              </a:rPr>
              <a:t>2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814316" y="4017990"/>
            <a:ext cx="1097280" cy="390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40" b="0" i="0">
                <a:solidFill>
                  <a:srgbClr val="717890"/>
                </a:solidFill>
                <a:latin typeface="Segoe UI"/>
              </a:rPr>
              <a:t>73–135 ₴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911596" y="4017990"/>
            <a:ext cx="822960" cy="390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80" b="1" i="0">
                <a:solidFill>
                  <a:srgbClr val="1C2235"/>
                </a:solidFill>
                <a:latin typeface="Segoe UI"/>
              </a:rPr>
              <a:t>120 ₴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995160" y="1268730"/>
            <a:ext cx="27432" cy="144018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7104888" y="1282446"/>
            <a:ext cx="1714500" cy="10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 spc="30">
                <a:solidFill>
                  <a:srgbClr val="C4820A"/>
                </a:solidFill>
                <a:latin typeface="Segoe UI"/>
              </a:rPr>
              <a:t>НАША ПОЛИЦЯ ПРОТИ РИНКУ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995160" y="1508760"/>
            <a:ext cx="1728216" cy="6172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6995160" y="1508760"/>
            <a:ext cx="34290" cy="617220"/>
          </a:xfrm>
          <a:prstGeom prst="rect">
            <a:avLst/>
          </a:prstGeom>
          <a:solidFill>
            <a:srgbClr val="B3621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7091172" y="1536192"/>
            <a:ext cx="157734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1C2235"/>
                </a:solidFill>
                <a:latin typeface="Segoe UI"/>
              </a:rPr>
              <a:t>Norimaki Original · 42 г  ×2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091172" y="1680210"/>
            <a:ext cx="157734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88" b="1" i="0">
                <a:solidFill>
                  <a:srgbClr val="B36214"/>
                </a:solidFill>
                <a:latin typeface="Segoe UI"/>
              </a:rPr>
              <a:t>наша полиця 170 ₴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091172" y="1831086"/>
            <a:ext cx="1577340" cy="2948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ринок поруч: 9 поз., типова 148 ₴ → наша вища на 22 ₴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995160" y="2180844"/>
            <a:ext cx="1728216" cy="6172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6995160" y="2180844"/>
            <a:ext cx="34290" cy="617220"/>
          </a:xfrm>
          <a:prstGeom prst="rect">
            <a:avLst/>
          </a:prstGeom>
          <a:solidFill>
            <a:srgbClr val="1D5B6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7091172" y="2208276"/>
            <a:ext cx="157734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1C2235"/>
                </a:solidFill>
                <a:latin typeface="Segoe UI"/>
              </a:rPr>
              <a:t>Norimaki Original · 50 г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091172" y="2352294"/>
            <a:ext cx="157734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88" b="1" i="0">
                <a:solidFill>
                  <a:srgbClr val="1D5B63"/>
                </a:solidFill>
                <a:latin typeface="Segoe UI"/>
              </a:rPr>
              <a:t>наша полиця 132 ₴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7091172" y="2503170"/>
            <a:ext cx="1577340" cy="2948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ринок поруч: 9 поз., типова 148 ₴ → наша нижча на 15 ₴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995160" y="2852928"/>
            <a:ext cx="1728216" cy="61722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6995160" y="2852928"/>
            <a:ext cx="34290" cy="617220"/>
          </a:xfrm>
          <a:prstGeom prst="rect">
            <a:avLst/>
          </a:prstGeom>
          <a:solidFill>
            <a:srgbClr val="1D5B6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091172" y="2880360"/>
            <a:ext cx="157734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1C2235"/>
                </a:solidFill>
                <a:latin typeface="Segoe UI"/>
              </a:rPr>
              <a:t>Norimaki Wasabi · 55 г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7091172" y="3024378"/>
            <a:ext cx="157734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88" b="1" i="0">
                <a:solidFill>
                  <a:srgbClr val="1D5B63"/>
                </a:solidFill>
                <a:latin typeface="Segoe UI"/>
              </a:rPr>
              <a:t>наша полиця 160 ₴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7091172" y="3175254"/>
            <a:ext cx="1577340" cy="29489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ринок поруч: 9 поз., типова 148 ₴ → наша вища на 12 ₴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425196" y="4855464"/>
            <a:ext cx="829818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1">
                <a:solidFill>
                  <a:srgbClr val="717890"/>
                </a:solidFill>
                <a:latin typeface="Segoe UI"/>
              </a:rPr>
              <a:t>Каталоги мереж на zakaz.ua (METRO, NOVUS, Ашан, Зараз, МегаМаркет, Ultramarket, Епіцентр, Космос, Onde, Ідеал, Восторг, Клас, Таврія В, ЧудоМаркет, Торба, Grono) · 07.10.2026 · ціна — онлайн-полиця одного магазину мережі, діапазон — між мережами.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977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3977" cy="795528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95528"/>
            <a:ext cx="9143977" cy="41148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" y="178308"/>
            <a:ext cx="1042416" cy="4526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728216" y="205740"/>
            <a:ext cx="61722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1" i="0" spc="30">
                <a:solidFill>
                  <a:srgbClr val="FFC95C"/>
                </a:solidFill>
                <a:latin typeface="Segoe UI"/>
              </a:rPr>
              <a:t>СЕГМЕНТ · РИСОВІ КРЕКЕРИ ТА ЧИПСИ · 28 ПОЗИЦІЙ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28216" y="377190"/>
            <a:ext cx="61722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20" b="1" i="0">
                <a:solidFill>
                  <a:srgbClr val="FFFFFF"/>
                </a:solidFill>
                <a:latin typeface="Segoe UI"/>
              </a:rPr>
              <a:t>Рис: крекери та чипси: каталог — 20–149 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20990" y="301752"/>
            <a:ext cx="768096" cy="2263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360" b="1" i="0">
                <a:solidFill>
                  <a:srgbClr val="465382"/>
                </a:solidFill>
                <a:latin typeface="Segoe UI"/>
              </a:rPr>
              <a:t>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5196" y="918972"/>
            <a:ext cx="82981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72" b="0" i="0">
                <a:solidFill>
                  <a:srgbClr val="717890"/>
                </a:solidFill>
                <a:latin typeface="Segoe UI"/>
              </a:rPr>
              <a:t>Картка = лінійка бренда (бренд + вага пакета). Ціна — діапазон по мережах, де лінійка знайдена; смаки з однаковою упаковкою згруповано, кількість смаків — під ціною.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5196" y="1152144"/>
            <a:ext cx="1316736" cy="190652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5196" y="1152144"/>
            <a:ext cx="1316736" cy="27432"/>
          </a:xfrm>
          <a:prstGeom prst="rect">
            <a:avLst/>
          </a:prstGeom>
          <a:solidFill>
            <a:srgbClr val="B23A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80060" y="1234440"/>
            <a:ext cx="1207008" cy="9052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3" name="Picture 12" descr="0502155498414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510" y="1255014"/>
            <a:ext cx="864108" cy="86410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93776" y="2194560"/>
            <a:ext cx="117957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4" b="1" i="0">
                <a:solidFill>
                  <a:srgbClr val="1C2235"/>
                </a:solidFill>
                <a:latin typeface="Segoe UI"/>
              </a:rPr>
              <a:t>Clearspring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" y="2331720"/>
            <a:ext cx="1179576" cy="2331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З соусом Тамарі органічні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" y="2571750"/>
            <a:ext cx="1179576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0" b="1" i="0">
                <a:solidFill>
                  <a:srgbClr val="1C2235"/>
                </a:solidFill>
                <a:latin typeface="Segoe UI"/>
              </a:rPr>
              <a:t>126 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" y="2770632"/>
            <a:ext cx="1179576" cy="1234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50 г · 1 смак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" y="2894076"/>
            <a:ext cx="117957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Grono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24228" y="1152144"/>
            <a:ext cx="1316736" cy="190652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824228" y="1152144"/>
            <a:ext cx="1316736" cy="27432"/>
          </a:xfrm>
          <a:prstGeom prst="rect">
            <a:avLst/>
          </a:prstGeom>
          <a:solidFill>
            <a:srgbClr val="B23A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879092" y="1234440"/>
            <a:ext cx="1207008" cy="9052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2" name="Picture 21" descr="0471014490015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0542" y="1255014"/>
            <a:ext cx="864108" cy="864108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892808" y="2194560"/>
            <a:ext cx="117957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4" b="1" i="0">
                <a:solidFill>
                  <a:srgbClr val="1C2235"/>
                </a:solidFill>
                <a:latin typeface="Segoe UI"/>
              </a:rPr>
              <a:t>Want Want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92808" y="2331720"/>
            <a:ext cx="1179576" cy="2331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Mini зі смаком водоростей, mini з гострим смаком +1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92808" y="2571750"/>
            <a:ext cx="1179576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0" b="1" i="0">
                <a:solidFill>
                  <a:srgbClr val="1C2235"/>
                </a:solidFill>
                <a:latin typeface="Segoe UI"/>
              </a:rPr>
              <a:t>140–149 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92808" y="2770632"/>
            <a:ext cx="1179576" cy="1234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60 г · 3 смаки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92808" y="2894076"/>
            <a:ext cx="117957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Ашан · Grono +1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23260" y="1152144"/>
            <a:ext cx="1316736" cy="190652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23260" y="1152144"/>
            <a:ext cx="1316736" cy="27432"/>
          </a:xfrm>
          <a:prstGeom prst="rect">
            <a:avLst/>
          </a:prstGeom>
          <a:solidFill>
            <a:srgbClr val="B23A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78124" y="1234440"/>
            <a:ext cx="1207008" cy="9052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1" name="Picture 30" descr="03770027194767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49574" y="1255014"/>
            <a:ext cx="864108" cy="864108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3291840" y="2194560"/>
            <a:ext cx="117957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4" b="1" i="0">
                <a:solidFill>
                  <a:srgbClr val="1C2235"/>
                </a:solidFill>
                <a:latin typeface="Segoe UI"/>
              </a:rPr>
              <a:t>Ultra Pop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91840" y="2331720"/>
            <a:ext cx="1179576" cy="2331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One Piece Барбекю, one piece кетчуп +3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91840" y="2571750"/>
            <a:ext cx="1179576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0" b="1" i="0">
                <a:solidFill>
                  <a:srgbClr val="1C2235"/>
                </a:solidFill>
                <a:latin typeface="Segoe UI"/>
              </a:rPr>
              <a:t>148 ₴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91840" y="2770632"/>
            <a:ext cx="1179576" cy="1234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60 г · 5 смаків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91840" y="2894076"/>
            <a:ext cx="117957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Космос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622292" y="1152144"/>
            <a:ext cx="1316736" cy="190652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622292" y="1152144"/>
            <a:ext cx="1316736" cy="27432"/>
          </a:xfrm>
          <a:prstGeom prst="rect">
            <a:avLst/>
          </a:prstGeom>
          <a:solidFill>
            <a:srgbClr val="A5ABB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677156" y="1234440"/>
            <a:ext cx="1207008" cy="9052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0" name="Picture 39" descr="05941194005448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8606" y="1255014"/>
            <a:ext cx="864108" cy="864108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4690872" y="2194560"/>
            <a:ext cx="117957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4" b="1" i="0">
                <a:solidFill>
                  <a:srgbClr val="1C2235"/>
                </a:solidFill>
                <a:latin typeface="Segoe UI"/>
              </a:rPr>
              <a:t>Croco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90872" y="2331720"/>
            <a:ext cx="1179576" cy="2331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Snaks Pizza зі смаком піцци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90872" y="2571750"/>
            <a:ext cx="1179576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0" b="1" i="0">
                <a:solidFill>
                  <a:srgbClr val="1C2235"/>
                </a:solidFill>
                <a:latin typeface="Segoe UI"/>
              </a:rPr>
              <a:t>20 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90872" y="2770632"/>
            <a:ext cx="1179576" cy="1234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50 г · 1 смак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90872" y="2894076"/>
            <a:ext cx="117957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Ідеал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021324" y="1152144"/>
            <a:ext cx="1316736" cy="190652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021324" y="1152144"/>
            <a:ext cx="1316736" cy="27432"/>
          </a:xfrm>
          <a:prstGeom prst="rect">
            <a:avLst/>
          </a:prstGeom>
          <a:solidFill>
            <a:srgbClr val="A5ABB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076188" y="1234440"/>
            <a:ext cx="1207008" cy="9052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9" name="Picture 48" descr="04820122284302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47638" y="1255014"/>
            <a:ext cx="864108" cy="864108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6089904" y="2194560"/>
            <a:ext cx="117957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4" b="1" i="0">
                <a:solidFill>
                  <a:srgbClr val="1C2235"/>
                </a:solidFill>
                <a:latin typeface="Segoe UI"/>
              </a:rPr>
              <a:t>Pikolo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89904" y="2331720"/>
            <a:ext cx="1179576" cy="2331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Зі смаком томатів спайсі +2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089904" y="2571750"/>
            <a:ext cx="1179576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0" b="1" i="0">
                <a:solidFill>
                  <a:srgbClr val="1C2235"/>
                </a:solidFill>
                <a:latin typeface="Segoe UI"/>
              </a:rPr>
              <a:t>38–42 ₴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089904" y="2770632"/>
            <a:ext cx="1179576" cy="1234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50 г · 3 смаки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089904" y="2894076"/>
            <a:ext cx="117957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NOVUS · Onde +1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420356" y="1152144"/>
            <a:ext cx="1316736" cy="190652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420356" y="1152144"/>
            <a:ext cx="1316736" cy="27432"/>
          </a:xfrm>
          <a:prstGeom prst="rect">
            <a:avLst/>
          </a:prstGeom>
          <a:solidFill>
            <a:srgbClr val="A5ABB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475220" y="1234440"/>
            <a:ext cx="1207008" cy="9052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58" name="Picture 57" descr="03800233091168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46670" y="1255014"/>
            <a:ext cx="864108" cy="864108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7488936" y="2194560"/>
            <a:ext cx="117957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4" b="1" i="0">
                <a:solidFill>
                  <a:srgbClr val="1C2235"/>
                </a:solidFill>
                <a:latin typeface="Segoe UI"/>
              </a:rPr>
              <a:t>B.yond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488936" y="2331720"/>
            <a:ext cx="1179576" cy="2331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Зі смаком сиру Чеддер і томатний Чатні +2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488936" y="2571750"/>
            <a:ext cx="1179576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0" b="1" i="0">
                <a:solidFill>
                  <a:srgbClr val="1C2235"/>
                </a:solidFill>
                <a:latin typeface="Segoe UI"/>
              </a:rPr>
              <a:t>50–58 ₴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488936" y="2770632"/>
            <a:ext cx="1179576" cy="1234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70 г · 3 смаки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488936" y="2894076"/>
            <a:ext cx="117957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METRO · Космос +1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25196" y="3099816"/>
            <a:ext cx="1316736" cy="190652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425196" y="3099816"/>
            <a:ext cx="1316736" cy="27432"/>
          </a:xfrm>
          <a:prstGeom prst="rect">
            <a:avLst/>
          </a:prstGeom>
          <a:solidFill>
            <a:srgbClr val="A5ABB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480060" y="3182112"/>
            <a:ext cx="1207008" cy="9052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67" name="Picture 66" descr="03800233091625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1510" y="3202686"/>
            <a:ext cx="864108" cy="864108"/>
          </a:xfrm>
          <a:prstGeom prst="rect">
            <a:avLst/>
          </a:prstGeom>
        </p:spPr>
      </p:pic>
      <p:sp>
        <p:nvSpPr>
          <p:cNvPr id="68" name="TextBox 67"/>
          <p:cNvSpPr txBox="1"/>
          <p:nvPr/>
        </p:nvSpPr>
        <p:spPr>
          <a:xfrm>
            <a:off x="493776" y="4142232"/>
            <a:ext cx="117957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4" b="1" i="0">
                <a:solidFill>
                  <a:srgbClr val="1C2235"/>
                </a:solidFill>
                <a:latin typeface="Segoe UI"/>
              </a:rPr>
              <a:t>Livity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93776" y="4279392"/>
            <a:ext cx="1179576" cy="2331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Техаський барбекю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93776" y="4519422"/>
            <a:ext cx="1179576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0" b="1" i="0">
                <a:solidFill>
                  <a:srgbClr val="1C2235"/>
                </a:solidFill>
                <a:latin typeface="Segoe UI"/>
              </a:rPr>
              <a:t>58 ₴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93776" y="4718304"/>
            <a:ext cx="1179576" cy="1234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60 г · 1 смак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93776" y="4841748"/>
            <a:ext cx="117957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METRO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824228" y="3099816"/>
            <a:ext cx="1316736" cy="190652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1824228" y="3099816"/>
            <a:ext cx="1316736" cy="27432"/>
          </a:xfrm>
          <a:prstGeom prst="rect">
            <a:avLst/>
          </a:prstGeom>
          <a:solidFill>
            <a:srgbClr val="A5ABB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1879092" y="3182112"/>
            <a:ext cx="1207008" cy="9052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76" name="Picture 75" descr="04820179683677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50542" y="3202686"/>
            <a:ext cx="864108" cy="864108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1892808" y="4142232"/>
            <a:ext cx="117957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4" b="1" i="0">
                <a:solidFill>
                  <a:srgbClr val="1C2235"/>
                </a:solidFill>
                <a:latin typeface="Segoe UI"/>
              </a:rPr>
              <a:t>Trapeza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892808" y="4279392"/>
            <a:ext cx="1179576" cy="2331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Зі смаком сиру, зі смаком цибулі зі сметаною +1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892808" y="4519422"/>
            <a:ext cx="1179576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0" b="1" i="0">
                <a:solidFill>
                  <a:srgbClr val="1C2235"/>
                </a:solidFill>
                <a:latin typeface="Segoe UI"/>
              </a:rPr>
              <a:t>59–62 ₴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892808" y="4718304"/>
            <a:ext cx="1179576" cy="1234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60 г · 3 смаки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892808" y="4841748"/>
            <a:ext cx="117957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Космос · Таврія В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223260" y="3099816"/>
            <a:ext cx="1316736" cy="190652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3223260" y="3099816"/>
            <a:ext cx="1316736" cy="27432"/>
          </a:xfrm>
          <a:prstGeom prst="rect">
            <a:avLst/>
          </a:prstGeom>
          <a:solidFill>
            <a:srgbClr val="A5ABB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3278124" y="3182112"/>
            <a:ext cx="1207008" cy="9052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85" name="Picture 84" descr="03800233070149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49574" y="3202686"/>
            <a:ext cx="864108" cy="864108"/>
          </a:xfrm>
          <a:prstGeom prst="rect">
            <a:avLst/>
          </a:prstGeom>
        </p:spPr>
      </p:pic>
      <p:sp>
        <p:nvSpPr>
          <p:cNvPr id="86" name="TextBox 85"/>
          <p:cNvSpPr txBox="1"/>
          <p:nvPr/>
        </p:nvSpPr>
        <p:spPr>
          <a:xfrm>
            <a:off x="3291840" y="4142232"/>
            <a:ext cx="117957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4" b="1" i="0">
                <a:solidFill>
                  <a:srgbClr val="1C2235"/>
                </a:solidFill>
                <a:latin typeface="Segoe UI"/>
              </a:rPr>
              <a:t>Rice Up!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291840" y="4279392"/>
            <a:ext cx="1179576" cy="2331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Сир, паприка, сметана і зелена цибуля +1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291840" y="4519422"/>
            <a:ext cx="1179576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0" b="1" i="0">
                <a:solidFill>
                  <a:srgbClr val="1C2235"/>
                </a:solidFill>
                <a:latin typeface="Segoe UI"/>
              </a:rPr>
              <a:t>55–71 ₴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291840" y="4718304"/>
            <a:ext cx="1179576" cy="1234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60 г · 4 смаки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291840" y="4841748"/>
            <a:ext cx="117957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METRO · Onde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622292" y="3099816"/>
            <a:ext cx="1316736" cy="190652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4622292" y="3099816"/>
            <a:ext cx="1316736" cy="27432"/>
          </a:xfrm>
          <a:prstGeom prst="rect">
            <a:avLst/>
          </a:prstGeom>
          <a:solidFill>
            <a:srgbClr val="A5ABB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4677156" y="3182112"/>
            <a:ext cx="1207008" cy="9052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94" name="Picture 93" descr="05902510403621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48606" y="3202686"/>
            <a:ext cx="864108" cy="864108"/>
          </a:xfrm>
          <a:prstGeom prst="rect">
            <a:avLst/>
          </a:prstGeom>
        </p:spPr>
      </p:pic>
      <p:sp>
        <p:nvSpPr>
          <p:cNvPr id="95" name="TextBox 94"/>
          <p:cNvSpPr txBox="1"/>
          <p:nvPr/>
        </p:nvSpPr>
        <p:spPr>
          <a:xfrm>
            <a:off x="4690872" y="4142232"/>
            <a:ext cx="117957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4" b="1" i="0">
                <a:solidFill>
                  <a:srgbClr val="1C2235"/>
                </a:solidFill>
                <a:latin typeface="Segoe UI"/>
              </a:rPr>
              <a:t>Cornellis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690872" y="4279392"/>
            <a:ext cx="1179576" cy="2331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Зі смаком барбекю, зі смаком сметани, зі смаком сиру +1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690872" y="4519422"/>
            <a:ext cx="1179576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0" b="1" i="0">
                <a:solidFill>
                  <a:srgbClr val="1C2235"/>
                </a:solidFill>
                <a:latin typeface="Segoe UI"/>
              </a:rPr>
              <a:t>73–135 ₴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4690872" y="4718304"/>
            <a:ext cx="1179576" cy="1234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150 г · 4 смаки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4690872" y="4841748"/>
            <a:ext cx="117957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Космос · Таврія В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977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3977" cy="795528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95528"/>
            <a:ext cx="9143977" cy="41148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" y="178308"/>
            <a:ext cx="1042416" cy="4526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728216" y="205740"/>
            <a:ext cx="61722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1" i="0" spc="30">
                <a:solidFill>
                  <a:srgbClr val="FFC95C"/>
                </a:solidFill>
                <a:latin typeface="Segoe UI"/>
              </a:rPr>
              <a:t>СЕГМЕНТ · РИСОВІ КРЕКЕРИ ТА ЧИПСИ · ДЕ ПРОДАЄТЬСЯ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28216" y="377190"/>
            <a:ext cx="61722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20" b="1" i="0">
                <a:solidFill>
                  <a:srgbClr val="FFFFFF"/>
                </a:solidFill>
                <a:latin typeface="Segoe UI"/>
              </a:rPr>
              <a:t>Рисові крекери та чипси: де продається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20990" y="301752"/>
            <a:ext cx="768096" cy="2263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360" b="1" i="0">
                <a:solidFill>
                  <a:srgbClr val="465382"/>
                </a:solidFill>
                <a:latin typeface="Segoe UI"/>
              </a:rPr>
              <a:t>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5196" y="918972"/>
            <a:ext cx="82981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72" b="0" i="0">
                <a:solidFill>
                  <a:srgbClr val="717890"/>
                </a:solidFill>
                <a:latin typeface="Segoe UI"/>
              </a:rPr>
              <a:t>Скільки позицій цього сегмента стоїть у кожній мережі, які бренди та за яку ціну упаковки; праворуч — мережі за типом: національні — головний цільовий канал, регіональні — вхід, без позицій — вільна полиця.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" y="1337310"/>
            <a:ext cx="20574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 spc="40">
                <a:solidFill>
                  <a:srgbClr val="717890"/>
                </a:solidFill>
                <a:latin typeface="Segoe UI"/>
              </a:rPr>
              <a:t>МЕРЕЖА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74470" y="1337310"/>
            <a:ext cx="20574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 spc="40">
                <a:solidFill>
                  <a:srgbClr val="717890"/>
                </a:solidFill>
                <a:latin typeface="Segoe UI"/>
              </a:rPr>
              <a:t>ПОЗИЦІЙ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1337310"/>
            <a:ext cx="20574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 spc="40">
                <a:solidFill>
                  <a:srgbClr val="717890"/>
                </a:solidFill>
                <a:latin typeface="Segoe UI"/>
              </a:rPr>
              <a:t>БРЕНДИ · ЦІНА УПАКОВКИ, ₴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5196" y="1543050"/>
            <a:ext cx="4800600" cy="361950"/>
          </a:xfrm>
          <a:prstGeom prst="rect">
            <a:avLst/>
          </a:prstGeom>
          <a:solidFill>
            <a:srgbClr val="F8F9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3776" y="1543050"/>
            <a:ext cx="960120" cy="361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68" b="1" i="0">
                <a:solidFill>
                  <a:srgbClr val="303A5D"/>
                </a:solidFill>
                <a:latin typeface="Segoe UI"/>
              </a:rPr>
              <a:t>Космос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474470" y="1633537"/>
            <a:ext cx="1028700" cy="180975"/>
          </a:xfrm>
          <a:prstGeom prst="rect">
            <a:avLst/>
          </a:prstGeom>
          <a:solidFill>
            <a:srgbClr val="B23A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51176" y="1543050"/>
            <a:ext cx="342900" cy="361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52" b="1" i="0">
                <a:solidFill>
                  <a:srgbClr val="303A5D"/>
                </a:solidFill>
                <a:latin typeface="Segoe UI"/>
              </a:rPr>
              <a:t>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80360" y="1572006"/>
            <a:ext cx="233172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1" i="0">
                <a:solidFill>
                  <a:srgbClr val="1C2235"/>
                </a:solidFill>
                <a:latin typeface="Segoe UI"/>
              </a:rPr>
              <a:t>Ultra Pop 5, Trapeza 3, Cornellis 3, B.yond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80360" y="1731264"/>
            <a:ext cx="2331720" cy="144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50–148 ₴ · типова 120 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" y="1905000"/>
            <a:ext cx="960120" cy="361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68" b="1" i="0">
                <a:solidFill>
                  <a:srgbClr val="303A5D"/>
                </a:solidFill>
                <a:latin typeface="Segoe UI"/>
              </a:rPr>
              <a:t>Onde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74470" y="1995487"/>
            <a:ext cx="771525" cy="180975"/>
          </a:xfrm>
          <a:prstGeom prst="rect">
            <a:avLst/>
          </a:prstGeom>
          <a:solidFill>
            <a:srgbClr val="B23A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294001" y="1905000"/>
            <a:ext cx="342900" cy="361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52" b="1" i="0">
                <a:solidFill>
                  <a:srgbClr val="303A5D"/>
                </a:solidFill>
                <a:latin typeface="Segoe UI"/>
              </a:rPr>
              <a:t>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80360" y="1933956"/>
            <a:ext cx="233172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1" i="0">
                <a:solidFill>
                  <a:srgbClr val="1C2235"/>
                </a:solidFill>
                <a:latin typeface="Segoe UI"/>
              </a:rPr>
              <a:t>Rice Up! 4, Pikolo 3, Want Want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80360" y="2093214"/>
            <a:ext cx="2331720" cy="144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39–145 ₴ · типова 63 ₴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5196" y="2266950"/>
            <a:ext cx="4800600" cy="361950"/>
          </a:xfrm>
          <a:prstGeom prst="rect">
            <a:avLst/>
          </a:prstGeom>
          <a:solidFill>
            <a:srgbClr val="F8F9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93776" y="2266950"/>
            <a:ext cx="960120" cy="361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68" b="1" i="0">
                <a:solidFill>
                  <a:srgbClr val="303A5D"/>
                </a:solidFill>
                <a:latin typeface="Segoe UI"/>
              </a:rPr>
              <a:t>METRO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474470" y="2357437"/>
            <a:ext cx="685800" cy="180975"/>
          </a:xfrm>
          <a:prstGeom prst="rect">
            <a:avLst/>
          </a:prstGeom>
          <a:solidFill>
            <a:srgbClr val="B23A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208276" y="2266950"/>
            <a:ext cx="342900" cy="361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52" b="1" i="0">
                <a:solidFill>
                  <a:srgbClr val="303A5D"/>
                </a:solidFill>
                <a:latin typeface="Segoe UI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80360" y="2295906"/>
            <a:ext cx="233172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1" i="0">
                <a:solidFill>
                  <a:srgbClr val="1C2235"/>
                </a:solidFill>
                <a:latin typeface="Segoe UI"/>
              </a:rPr>
              <a:t>Rice Up! 4, B.yond 3, Livity 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80360" y="2455164"/>
            <a:ext cx="2331720" cy="144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50–63 ₴ · типова 60 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3776" y="2628900"/>
            <a:ext cx="960120" cy="361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68" b="1" i="0">
                <a:solidFill>
                  <a:srgbClr val="303A5D"/>
                </a:solidFill>
                <a:latin typeface="Segoe UI"/>
              </a:rPr>
              <a:t>Таврія В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474470" y="2719387"/>
            <a:ext cx="685800" cy="180975"/>
          </a:xfrm>
          <a:prstGeom prst="rect">
            <a:avLst/>
          </a:prstGeom>
          <a:solidFill>
            <a:srgbClr val="B23A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208276" y="2628900"/>
            <a:ext cx="342900" cy="361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52" b="1" i="0">
                <a:solidFill>
                  <a:srgbClr val="303A5D"/>
                </a:solidFill>
                <a:latin typeface="Segoe UI"/>
              </a:rPr>
              <a:t>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880360" y="2657856"/>
            <a:ext cx="233172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1" i="0">
                <a:solidFill>
                  <a:srgbClr val="1C2235"/>
                </a:solidFill>
                <a:latin typeface="Segoe UI"/>
              </a:rPr>
              <a:t>B.yond 3, Trapeza 3, Cornellis 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880360" y="2817114"/>
            <a:ext cx="2331720" cy="144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50–135 ₴ · типова 60 ₴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5196" y="2990850"/>
            <a:ext cx="4800600" cy="361950"/>
          </a:xfrm>
          <a:prstGeom prst="rect">
            <a:avLst/>
          </a:prstGeom>
          <a:solidFill>
            <a:srgbClr val="F8F9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93776" y="2990850"/>
            <a:ext cx="960120" cy="361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68" b="1" i="0">
                <a:solidFill>
                  <a:srgbClr val="303A5D"/>
                </a:solidFill>
                <a:latin typeface="Segoe UI"/>
              </a:rPr>
              <a:t>Ашан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474470" y="3081337"/>
            <a:ext cx="257175" cy="180975"/>
          </a:xfrm>
          <a:prstGeom prst="rect">
            <a:avLst/>
          </a:prstGeom>
          <a:solidFill>
            <a:srgbClr val="B23A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779651" y="2990850"/>
            <a:ext cx="342900" cy="361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52" b="1" i="0">
                <a:solidFill>
                  <a:srgbClr val="303A5D"/>
                </a:solidFill>
                <a:latin typeface="Segoe UI"/>
              </a:rP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880360" y="3019806"/>
            <a:ext cx="233172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1" i="0">
                <a:solidFill>
                  <a:srgbClr val="1C2235"/>
                </a:solidFill>
                <a:latin typeface="Segoe UI"/>
              </a:rPr>
              <a:t>Want Want 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880360" y="3179064"/>
            <a:ext cx="2331720" cy="144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144–147 ₴ · типова 145 ₴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93776" y="3352800"/>
            <a:ext cx="960120" cy="361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68" b="1" i="0">
                <a:solidFill>
                  <a:srgbClr val="303A5D"/>
                </a:solidFill>
                <a:latin typeface="Segoe UI"/>
              </a:rPr>
              <a:t>Торба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474470" y="3443287"/>
            <a:ext cx="257175" cy="180975"/>
          </a:xfrm>
          <a:prstGeom prst="rect">
            <a:avLst/>
          </a:prstGeom>
          <a:solidFill>
            <a:srgbClr val="B23A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779651" y="3352800"/>
            <a:ext cx="342900" cy="361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52" b="1" i="0">
                <a:solidFill>
                  <a:srgbClr val="303A5D"/>
                </a:solidFill>
                <a:latin typeface="Segoe UI"/>
              </a:rPr>
              <a:t>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880360" y="3381756"/>
            <a:ext cx="233172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1" i="0">
                <a:solidFill>
                  <a:srgbClr val="1C2235"/>
                </a:solidFill>
                <a:latin typeface="Segoe UI"/>
              </a:rPr>
              <a:t>Pikolo 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880360" y="3541014"/>
            <a:ext cx="2331720" cy="144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39 ₴ · типова 39 ₴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25196" y="3714750"/>
            <a:ext cx="4800600" cy="361950"/>
          </a:xfrm>
          <a:prstGeom prst="rect">
            <a:avLst/>
          </a:prstGeom>
          <a:solidFill>
            <a:srgbClr val="F8F9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93776" y="3714750"/>
            <a:ext cx="960120" cy="361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68" b="1" i="0">
                <a:solidFill>
                  <a:srgbClr val="303A5D"/>
                </a:solidFill>
                <a:latin typeface="Segoe UI"/>
              </a:rPr>
              <a:t>Grono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474470" y="3805237"/>
            <a:ext cx="171450" cy="180975"/>
          </a:xfrm>
          <a:prstGeom prst="rect">
            <a:avLst/>
          </a:prstGeom>
          <a:solidFill>
            <a:srgbClr val="B23A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693926" y="3714750"/>
            <a:ext cx="342900" cy="361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52" b="1" i="0">
                <a:solidFill>
                  <a:srgbClr val="303A5D"/>
                </a:solidFill>
                <a:latin typeface="Segoe UI"/>
              </a:rPr>
              <a:t>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880360" y="3743706"/>
            <a:ext cx="233172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1" i="0">
                <a:solidFill>
                  <a:srgbClr val="1C2235"/>
                </a:solidFill>
                <a:latin typeface="Segoe UI"/>
              </a:rPr>
              <a:t>Clearspring 1, Want Want 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880360" y="3902964"/>
            <a:ext cx="2331720" cy="144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126–147 ₴ · типова 136 ₴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93776" y="4076700"/>
            <a:ext cx="960120" cy="361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68" b="1" i="0">
                <a:solidFill>
                  <a:srgbClr val="303A5D"/>
                </a:solidFill>
                <a:latin typeface="Segoe UI"/>
              </a:rPr>
              <a:t>NOVUS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474470" y="4167187"/>
            <a:ext cx="85725" cy="180975"/>
          </a:xfrm>
          <a:prstGeom prst="rect">
            <a:avLst/>
          </a:prstGeom>
          <a:solidFill>
            <a:srgbClr val="B23A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608201" y="4076700"/>
            <a:ext cx="342900" cy="361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52" b="1" i="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880360" y="4105656"/>
            <a:ext cx="233172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1" i="0">
                <a:solidFill>
                  <a:srgbClr val="1C2235"/>
                </a:solidFill>
                <a:latin typeface="Segoe UI"/>
              </a:rPr>
              <a:t>Pikolo 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880360" y="4264914"/>
            <a:ext cx="2331720" cy="144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39 ₴ · типова 39 ₴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25196" y="4438650"/>
            <a:ext cx="4800600" cy="361950"/>
          </a:xfrm>
          <a:prstGeom prst="rect">
            <a:avLst/>
          </a:prstGeom>
          <a:solidFill>
            <a:srgbClr val="F8F9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93776" y="4438650"/>
            <a:ext cx="960120" cy="361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68" b="1" i="0">
                <a:solidFill>
                  <a:srgbClr val="303A5D"/>
                </a:solidFill>
                <a:latin typeface="Segoe UI"/>
              </a:rPr>
              <a:t>Ідеал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474470" y="4529137"/>
            <a:ext cx="85725" cy="180975"/>
          </a:xfrm>
          <a:prstGeom prst="rect">
            <a:avLst/>
          </a:prstGeom>
          <a:solidFill>
            <a:srgbClr val="B23A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608201" y="4438650"/>
            <a:ext cx="342900" cy="361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52" b="1" i="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880360" y="4467606"/>
            <a:ext cx="233172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1" i="0">
                <a:solidFill>
                  <a:srgbClr val="1C2235"/>
                </a:solidFill>
                <a:latin typeface="Segoe UI"/>
              </a:rPr>
              <a:t>Croco 1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880360" y="4626864"/>
            <a:ext cx="2331720" cy="144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20 ₴ · типова 20 ₴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417820" y="1337310"/>
            <a:ext cx="3291840" cy="2057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417820" y="1351026"/>
            <a:ext cx="2194560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20" b="1" i="0">
                <a:solidFill>
                  <a:srgbClr val="303A5D"/>
                </a:solidFill>
                <a:latin typeface="Segoe UI"/>
              </a:rPr>
              <a:t>Національні мережі · 3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543800" y="1351026"/>
            <a:ext cx="1165860" cy="164592"/>
          </a:xfrm>
          <a:prstGeom prst="rect">
            <a:avLst/>
          </a:prstGeom>
          <a:solidFill>
            <a:srgbClr val="B23A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543800" y="1351026"/>
            <a:ext cx="116586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ЦІЛЬОВИЙ КАНАЛ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417820" y="1625346"/>
            <a:ext cx="829818" cy="192024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472684" y="1639062"/>
            <a:ext cx="555498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1" i="0">
                <a:solidFill>
                  <a:srgbClr val="1C2235"/>
                </a:solidFill>
                <a:latin typeface="Segoe UI"/>
              </a:rPr>
              <a:t>METRO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028182" y="1652778"/>
            <a:ext cx="178308" cy="137160"/>
          </a:xfrm>
          <a:prstGeom prst="rect">
            <a:avLst/>
          </a:prstGeom>
          <a:solidFill>
            <a:srgbClr val="B23A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028182" y="1652778"/>
            <a:ext cx="178308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8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316218" y="1625346"/>
            <a:ext cx="773582" cy="192024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371082" y="1639062"/>
            <a:ext cx="49926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1" i="0">
                <a:solidFill>
                  <a:srgbClr val="1C2235"/>
                </a:solidFill>
                <a:latin typeface="Segoe UI"/>
              </a:rPr>
              <a:t>Ашан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870344" y="1652778"/>
            <a:ext cx="178308" cy="137160"/>
          </a:xfrm>
          <a:prstGeom prst="rect">
            <a:avLst/>
          </a:prstGeom>
          <a:solidFill>
            <a:srgbClr val="B23A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870344" y="1652778"/>
            <a:ext cx="178308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75" name="Rectangle 74"/>
          <p:cNvSpPr/>
          <p:nvPr/>
        </p:nvSpPr>
        <p:spPr>
          <a:xfrm>
            <a:off x="7158380" y="1625346"/>
            <a:ext cx="829818" cy="192024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213244" y="1639062"/>
            <a:ext cx="555498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1" i="0">
                <a:solidFill>
                  <a:srgbClr val="1C2235"/>
                </a:solidFill>
                <a:latin typeface="Segoe UI"/>
              </a:rPr>
              <a:t>NOVUS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768742" y="1652778"/>
            <a:ext cx="178308" cy="137160"/>
          </a:xfrm>
          <a:prstGeom prst="rect">
            <a:avLst/>
          </a:prstGeom>
          <a:solidFill>
            <a:srgbClr val="B23A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768742" y="1652778"/>
            <a:ext cx="178308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417820" y="2036826"/>
            <a:ext cx="3291840" cy="2057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417820" y="2050542"/>
            <a:ext cx="2194560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20" b="1" i="0">
                <a:solidFill>
                  <a:srgbClr val="303A5D"/>
                </a:solidFill>
                <a:latin typeface="Segoe UI"/>
              </a:rPr>
              <a:t>Регіональні мережі · 6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543800" y="2050542"/>
            <a:ext cx="1165860" cy="164592"/>
          </a:xfrm>
          <a:prstGeom prst="rect">
            <a:avLst/>
          </a:prstGeom>
          <a:solidFill>
            <a:srgbClr val="1F9AA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7543800" y="2050542"/>
            <a:ext cx="116586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РЕГІОНАЛЬНИЙ ВХІД</a:t>
            </a:r>
          </a:p>
        </p:txBody>
      </p:sp>
      <p:sp>
        <p:nvSpPr>
          <p:cNvPr id="83" name="Rectangle 82"/>
          <p:cNvSpPr/>
          <p:nvPr/>
        </p:nvSpPr>
        <p:spPr>
          <a:xfrm>
            <a:off x="5417820" y="2324862"/>
            <a:ext cx="886053" cy="192024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472684" y="2338578"/>
            <a:ext cx="611733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1" i="0">
                <a:solidFill>
                  <a:srgbClr val="1C2235"/>
                </a:solidFill>
                <a:latin typeface="Segoe UI"/>
              </a:rPr>
              <a:t>Космос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084417" y="2352294"/>
            <a:ext cx="178308" cy="137160"/>
          </a:xfrm>
          <a:prstGeom prst="rect">
            <a:avLst/>
          </a:prstGeom>
          <a:solidFill>
            <a:srgbClr val="1F9AA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084417" y="2352294"/>
            <a:ext cx="178308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12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372453" y="2324862"/>
            <a:ext cx="773582" cy="192024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427317" y="2338578"/>
            <a:ext cx="49926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1" i="0">
                <a:solidFill>
                  <a:srgbClr val="1C2235"/>
                </a:solidFill>
                <a:latin typeface="Segoe UI"/>
              </a:rPr>
              <a:t>Onde</a:t>
            </a:r>
          </a:p>
        </p:txBody>
      </p:sp>
      <p:sp>
        <p:nvSpPr>
          <p:cNvPr id="89" name="Rectangle 88"/>
          <p:cNvSpPr/>
          <p:nvPr/>
        </p:nvSpPr>
        <p:spPr>
          <a:xfrm>
            <a:off x="6926580" y="2352294"/>
            <a:ext cx="178308" cy="137160"/>
          </a:xfrm>
          <a:prstGeom prst="rect">
            <a:avLst/>
          </a:prstGeom>
          <a:solidFill>
            <a:srgbClr val="1F9AA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926580" y="2352294"/>
            <a:ext cx="178308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9</a:t>
            </a:r>
          </a:p>
        </p:txBody>
      </p:sp>
      <p:sp>
        <p:nvSpPr>
          <p:cNvPr id="91" name="Rectangle 90"/>
          <p:cNvSpPr/>
          <p:nvPr/>
        </p:nvSpPr>
        <p:spPr>
          <a:xfrm>
            <a:off x="7214616" y="2324862"/>
            <a:ext cx="998524" cy="192024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7269480" y="2338578"/>
            <a:ext cx="724204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1" i="0">
                <a:solidFill>
                  <a:srgbClr val="1C2235"/>
                </a:solidFill>
                <a:latin typeface="Segoe UI"/>
              </a:rPr>
              <a:t>Таврія В</a:t>
            </a:r>
          </a:p>
        </p:txBody>
      </p:sp>
      <p:sp>
        <p:nvSpPr>
          <p:cNvPr id="93" name="Rectangle 92"/>
          <p:cNvSpPr/>
          <p:nvPr/>
        </p:nvSpPr>
        <p:spPr>
          <a:xfrm>
            <a:off x="7993684" y="2352294"/>
            <a:ext cx="178308" cy="137160"/>
          </a:xfrm>
          <a:prstGeom prst="rect">
            <a:avLst/>
          </a:prstGeom>
          <a:solidFill>
            <a:srgbClr val="1F9AA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7993684" y="2352294"/>
            <a:ext cx="178308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8</a:t>
            </a:r>
          </a:p>
        </p:txBody>
      </p:sp>
      <p:sp>
        <p:nvSpPr>
          <p:cNvPr id="95" name="Rectangle 94"/>
          <p:cNvSpPr/>
          <p:nvPr/>
        </p:nvSpPr>
        <p:spPr>
          <a:xfrm>
            <a:off x="5417820" y="2571750"/>
            <a:ext cx="829818" cy="192024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5472684" y="2585466"/>
            <a:ext cx="555498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1" i="0">
                <a:solidFill>
                  <a:srgbClr val="1C2235"/>
                </a:solidFill>
                <a:latin typeface="Segoe UI"/>
              </a:rPr>
              <a:t>Торба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028182" y="2599182"/>
            <a:ext cx="178308" cy="137160"/>
          </a:xfrm>
          <a:prstGeom prst="rect">
            <a:avLst/>
          </a:prstGeom>
          <a:solidFill>
            <a:srgbClr val="1F9AA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028182" y="2599182"/>
            <a:ext cx="178308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99" name="Rectangle 98"/>
          <p:cNvSpPr/>
          <p:nvPr/>
        </p:nvSpPr>
        <p:spPr>
          <a:xfrm>
            <a:off x="6316218" y="2571750"/>
            <a:ext cx="829818" cy="192024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6371082" y="2585466"/>
            <a:ext cx="555498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1" i="0">
                <a:solidFill>
                  <a:srgbClr val="1C2235"/>
                </a:solidFill>
                <a:latin typeface="Segoe UI"/>
              </a:rPr>
              <a:t>Grono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6926580" y="2599182"/>
            <a:ext cx="178308" cy="137160"/>
          </a:xfrm>
          <a:prstGeom prst="rect">
            <a:avLst/>
          </a:prstGeom>
          <a:solidFill>
            <a:srgbClr val="1F9AA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6926580" y="2599182"/>
            <a:ext cx="178308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7214616" y="2571750"/>
            <a:ext cx="829818" cy="192024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7269480" y="2585466"/>
            <a:ext cx="555498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1" i="0">
                <a:solidFill>
                  <a:srgbClr val="1C2235"/>
                </a:solidFill>
                <a:latin typeface="Segoe UI"/>
              </a:rPr>
              <a:t>Ідеал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7824978" y="2599182"/>
            <a:ext cx="178308" cy="137160"/>
          </a:xfrm>
          <a:prstGeom prst="rect">
            <a:avLst/>
          </a:prstGeom>
          <a:solidFill>
            <a:srgbClr val="1F9AA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7824978" y="2599182"/>
            <a:ext cx="178308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5417820" y="2983230"/>
            <a:ext cx="3291840" cy="2057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5417820" y="2996946"/>
            <a:ext cx="2194560" cy="178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20" b="1" i="0">
                <a:solidFill>
                  <a:srgbClr val="303A5D"/>
                </a:solidFill>
                <a:latin typeface="Segoe UI"/>
              </a:rPr>
              <a:t>Без позицій сегмента · 9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7543800" y="2996946"/>
            <a:ext cx="1165860" cy="164592"/>
          </a:xfrm>
          <a:prstGeom prst="rect">
            <a:avLst/>
          </a:prstGeom>
          <a:solidFill>
            <a:srgbClr val="A5ABB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7543800" y="2996946"/>
            <a:ext cx="116586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ВІЛЬНА ПОЛИЦЯ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5417820" y="3271266"/>
            <a:ext cx="624078" cy="192024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5472684" y="3284982"/>
            <a:ext cx="349758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1" i="0">
                <a:solidFill>
                  <a:srgbClr val="1C2235"/>
                </a:solidFill>
                <a:latin typeface="Segoe UI"/>
              </a:rPr>
              <a:t>Зараз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6110478" y="3271266"/>
            <a:ext cx="905256" cy="192024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6165342" y="3284982"/>
            <a:ext cx="630936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1" i="0">
                <a:solidFill>
                  <a:srgbClr val="1C2235"/>
                </a:solidFill>
                <a:latin typeface="Segoe UI"/>
              </a:rPr>
              <a:t>МегаМаркет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7084314" y="3271266"/>
            <a:ext cx="961491" cy="192024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7139178" y="3284982"/>
            <a:ext cx="687171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1" i="0">
                <a:solidFill>
                  <a:srgbClr val="1C2235"/>
                </a:solidFill>
                <a:latin typeface="Segoe UI"/>
              </a:rPr>
              <a:t>Ultramarket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5417820" y="3518154"/>
            <a:ext cx="792784" cy="192024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5472684" y="3531870"/>
            <a:ext cx="518464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1" i="0">
                <a:solidFill>
                  <a:srgbClr val="1C2235"/>
                </a:solidFill>
                <a:latin typeface="Segoe UI"/>
              </a:rPr>
              <a:t>Епіцентр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6279184" y="3518154"/>
            <a:ext cx="736549" cy="192024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6334048" y="3531870"/>
            <a:ext cx="462229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1" i="0">
                <a:solidFill>
                  <a:srgbClr val="1C2235"/>
                </a:solidFill>
                <a:latin typeface="Segoe UI"/>
              </a:rPr>
              <a:t>Восторг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7084314" y="3518154"/>
            <a:ext cx="567842" cy="192024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7139178" y="3531870"/>
            <a:ext cx="29352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1" i="0">
                <a:solidFill>
                  <a:srgbClr val="1C2235"/>
                </a:solidFill>
                <a:latin typeface="Segoe UI"/>
              </a:rPr>
              <a:t>Клас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7720736" y="3518154"/>
            <a:ext cx="905256" cy="192024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7775600" y="3531870"/>
            <a:ext cx="630936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1" i="0">
                <a:solidFill>
                  <a:srgbClr val="1C2235"/>
                </a:solidFill>
                <a:latin typeface="Segoe UI"/>
              </a:rPr>
              <a:t>ЧудоМаркет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5417820" y="3765042"/>
            <a:ext cx="511606" cy="192024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5472684" y="3778758"/>
            <a:ext cx="237286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1" i="0">
                <a:solidFill>
                  <a:srgbClr val="1C2235"/>
                </a:solidFill>
                <a:latin typeface="Segoe UI"/>
              </a:rPr>
              <a:t>ЕКО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5998006" y="3765042"/>
            <a:ext cx="680313" cy="192024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6052870" y="3778758"/>
            <a:ext cx="405993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1" i="0">
                <a:solidFill>
                  <a:srgbClr val="1C2235"/>
                </a:solidFill>
                <a:latin typeface="Segoe UI"/>
              </a:rPr>
              <a:t>Біотус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425196" y="4855464"/>
            <a:ext cx="829818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1">
                <a:solidFill>
                  <a:srgbClr val="717890"/>
                </a:solidFill>
                <a:latin typeface="Segoe UI"/>
              </a:rPr>
              <a:t>Каталоги мереж на zakaz.ua (METRO, NOVUS, Ашан, Зараз, МегаМаркет, Ultramarket, Епіцентр, Космос, Onde, Ідеал, Восторг, Клас, Таврія В, ЧудоМаркет, Торба, Grono) · 07.10.2026 · ціна — онлайн-полиця одного магазину мережі, діапазон — між мережами.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977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3977" cy="795528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95528"/>
            <a:ext cx="9143977" cy="41148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" y="178308"/>
            <a:ext cx="1042416" cy="4526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728216" y="205740"/>
            <a:ext cx="61722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1" i="0" spc="30">
                <a:solidFill>
                  <a:srgbClr val="FFC95C"/>
                </a:solidFill>
                <a:latin typeface="Segoe UI"/>
              </a:rPr>
              <a:t>ЗВЕДЕННЯ · БРЕНДИ × МЕРЕЖІ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28216" y="377190"/>
            <a:ext cx="61722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20" b="1" i="0">
                <a:solidFill>
                  <a:srgbClr val="FFFFFF"/>
                </a:solidFill>
                <a:latin typeface="Segoe UI"/>
              </a:rPr>
              <a:t>Який бренд у якій мережі і за скільки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20990" y="301752"/>
            <a:ext cx="768096" cy="2263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360" b="1" i="0">
                <a:solidFill>
                  <a:srgbClr val="465382"/>
                </a:solidFill>
                <a:latin typeface="Segoe UI"/>
              </a:rPr>
              <a:t>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5196" y="932688"/>
            <a:ext cx="829818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88" b="0" i="0">
                <a:solidFill>
                  <a:srgbClr val="717890"/>
                </a:solidFill>
                <a:latin typeface="Segoe UI"/>
              </a:rPr>
              <a:t>У клітинці — типова ціна упаковки цього бренду в цій мережі, ₴. Тире — бренду там немає. Чим темніше, тим більше позицій бренду. Під назвою бренду — що саме він продає (формат і вага); хто бренд і хто його завозить — на наступному слайді.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44802" y="1337310"/>
            <a:ext cx="353187" cy="28803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31086" y="1351026"/>
            <a:ext cx="380619" cy="2606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Ашан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25421" y="1337310"/>
            <a:ext cx="353187" cy="28803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11705" y="1351026"/>
            <a:ext cx="380619" cy="2606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Зараз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06040" y="1337310"/>
            <a:ext cx="353187" cy="28803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92324" y="1351026"/>
            <a:ext cx="380619" cy="2606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Епі-</a:t>
            </a:r>
          </a:p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центр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86659" y="1337310"/>
            <a:ext cx="353187" cy="28803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72943" y="1351026"/>
            <a:ext cx="380619" cy="2606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METRO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67278" y="1337310"/>
            <a:ext cx="353187" cy="28803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53562" y="1351026"/>
            <a:ext cx="380619" cy="2606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NOVUS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747897" y="1337310"/>
            <a:ext cx="353187" cy="28803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34181" y="1351026"/>
            <a:ext cx="380619" cy="2606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Ultra-</a:t>
            </a:r>
          </a:p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market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28516" y="1337310"/>
            <a:ext cx="353187" cy="28803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0" y="1351026"/>
            <a:ext cx="380619" cy="2606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Мега-</a:t>
            </a:r>
          </a:p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Маркет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09135" y="1337310"/>
            <a:ext cx="353187" cy="288036"/>
          </a:xfrm>
          <a:prstGeom prst="rect">
            <a:avLst/>
          </a:prstGeom>
          <a:solidFill>
            <a:srgbClr val="1F9AA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95419" y="1351026"/>
            <a:ext cx="380619" cy="2606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Onde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889754" y="1337310"/>
            <a:ext cx="353187" cy="288036"/>
          </a:xfrm>
          <a:prstGeom prst="rect">
            <a:avLst/>
          </a:prstGeom>
          <a:solidFill>
            <a:srgbClr val="1F9AA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76038" y="1351026"/>
            <a:ext cx="380619" cy="2606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Космос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270373" y="1337310"/>
            <a:ext cx="353187" cy="288036"/>
          </a:xfrm>
          <a:prstGeom prst="rect">
            <a:avLst/>
          </a:prstGeom>
          <a:solidFill>
            <a:srgbClr val="1F9AA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256657" y="1351026"/>
            <a:ext cx="380619" cy="2606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Вос-</a:t>
            </a:r>
          </a:p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торг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50992" y="1337310"/>
            <a:ext cx="353187" cy="288036"/>
          </a:xfrm>
          <a:prstGeom prst="rect">
            <a:avLst/>
          </a:prstGeom>
          <a:solidFill>
            <a:srgbClr val="1F9AA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637276" y="1351026"/>
            <a:ext cx="380619" cy="2606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Клас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31611" y="1337310"/>
            <a:ext cx="353187" cy="288036"/>
          </a:xfrm>
          <a:prstGeom prst="rect">
            <a:avLst/>
          </a:prstGeom>
          <a:solidFill>
            <a:srgbClr val="1F9AA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17895" y="1351026"/>
            <a:ext cx="380619" cy="2606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Ідеал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12230" y="1337310"/>
            <a:ext cx="353187" cy="288036"/>
          </a:xfrm>
          <a:prstGeom prst="rect">
            <a:avLst/>
          </a:prstGeom>
          <a:solidFill>
            <a:srgbClr val="1F9AA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98514" y="1351026"/>
            <a:ext cx="380619" cy="2606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Таврія</a:t>
            </a:r>
          </a:p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В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792849" y="1337310"/>
            <a:ext cx="353187" cy="288036"/>
          </a:xfrm>
          <a:prstGeom prst="rect">
            <a:avLst/>
          </a:prstGeom>
          <a:solidFill>
            <a:srgbClr val="1F9AA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79133" y="1351026"/>
            <a:ext cx="380619" cy="2606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Торба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173468" y="1337310"/>
            <a:ext cx="353187" cy="288036"/>
          </a:xfrm>
          <a:prstGeom prst="rect">
            <a:avLst/>
          </a:prstGeom>
          <a:solidFill>
            <a:srgbClr val="1F9AA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159752" y="1351026"/>
            <a:ext cx="380619" cy="2606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Чудо-</a:t>
            </a:r>
          </a:p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Маркет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554087" y="1337310"/>
            <a:ext cx="353187" cy="288036"/>
          </a:xfrm>
          <a:prstGeom prst="rect">
            <a:avLst/>
          </a:prstGeom>
          <a:solidFill>
            <a:srgbClr val="1F9AA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540371" y="1351026"/>
            <a:ext cx="380619" cy="2606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Grono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962138" y="1337310"/>
            <a:ext cx="370332" cy="288036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962138" y="1351026"/>
            <a:ext cx="370332" cy="2606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SKU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346186" y="1337310"/>
            <a:ext cx="370332" cy="288036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346186" y="1351026"/>
            <a:ext cx="370332" cy="2606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МЕРЕЖ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25196" y="1680210"/>
            <a:ext cx="1337310" cy="1268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72" b="1" i="0">
                <a:solidFill>
                  <a:srgbClr val="303A5D"/>
                </a:solidFill>
                <a:latin typeface="Segoe UI"/>
              </a:rPr>
              <a:t>Ock Dong Ja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25196" y="1793367"/>
            <a:ext cx="1337310" cy="1268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Міні-пакет 4 / 4,5 г; Чипси 15 / 2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844802" y="1680210"/>
            <a:ext cx="353187" cy="226314"/>
          </a:xfrm>
          <a:prstGeom prst="rect">
            <a:avLst/>
          </a:prstGeom>
          <a:solidFill>
            <a:srgbClr val="424C6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831086" y="1666494"/>
            <a:ext cx="380619" cy="253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20" b="1" i="0">
                <a:solidFill>
                  <a:srgbClr val="FFFFFF"/>
                </a:solidFill>
                <a:latin typeface="Segoe UI"/>
              </a:rPr>
              <a:t>34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225421" y="1680210"/>
            <a:ext cx="353187" cy="226314"/>
          </a:xfrm>
          <a:prstGeom prst="rect">
            <a:avLst/>
          </a:prstGeom>
          <a:solidFill>
            <a:srgbClr val="424C6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211705" y="1666494"/>
            <a:ext cx="380619" cy="253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20" b="1" i="0">
                <a:solidFill>
                  <a:srgbClr val="FFFFFF"/>
                </a:solidFill>
                <a:latin typeface="Segoe UI"/>
              </a:rPr>
              <a:t>33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606040" y="1680210"/>
            <a:ext cx="353187" cy="226314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592324" y="1666494"/>
            <a:ext cx="380619" cy="253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A5ABBD"/>
                </a:solidFill>
                <a:latin typeface="Segoe UI"/>
              </a:rPr>
              <a:t>–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986659" y="1680210"/>
            <a:ext cx="353187" cy="226314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972943" y="1666494"/>
            <a:ext cx="380619" cy="253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A5ABBD"/>
                </a:solidFill>
                <a:latin typeface="Segoe UI"/>
              </a:rPr>
              <a:t>–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367278" y="1680210"/>
            <a:ext cx="353187" cy="226314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353562" y="1666494"/>
            <a:ext cx="380619" cy="253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A5ABBD"/>
                </a:solidFill>
                <a:latin typeface="Segoe UI"/>
              </a:rPr>
              <a:t>–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747897" y="1680210"/>
            <a:ext cx="353187" cy="226314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734181" y="1666494"/>
            <a:ext cx="380619" cy="253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A5ABBD"/>
                </a:solidFill>
                <a:latin typeface="Segoe UI"/>
              </a:rPr>
              <a:t>–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128516" y="1680210"/>
            <a:ext cx="353187" cy="226314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114800" y="1666494"/>
            <a:ext cx="380619" cy="253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A5ABBD"/>
                </a:solidFill>
                <a:latin typeface="Segoe UI"/>
              </a:rPr>
              <a:t>–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509135" y="1680210"/>
            <a:ext cx="353187" cy="226314"/>
          </a:xfrm>
          <a:prstGeom prst="rect">
            <a:avLst/>
          </a:prstGeom>
          <a:solidFill>
            <a:srgbClr val="424C6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495419" y="1666494"/>
            <a:ext cx="380619" cy="253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20" b="1" i="0">
                <a:solidFill>
                  <a:srgbClr val="FFFFFF"/>
                </a:solidFill>
                <a:latin typeface="Segoe UI"/>
              </a:rPr>
              <a:t>38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889754" y="1680210"/>
            <a:ext cx="353187" cy="226314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876038" y="1666494"/>
            <a:ext cx="380619" cy="253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A5ABBD"/>
                </a:solidFill>
                <a:latin typeface="Segoe UI"/>
              </a:rPr>
              <a:t>–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270373" y="1680210"/>
            <a:ext cx="353187" cy="226314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256657" y="1666494"/>
            <a:ext cx="380619" cy="253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A5ABBD"/>
                </a:solidFill>
                <a:latin typeface="Segoe UI"/>
              </a:rPr>
              <a:t>–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650992" y="1680210"/>
            <a:ext cx="353187" cy="226314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637276" y="1666494"/>
            <a:ext cx="380619" cy="253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A5ABBD"/>
                </a:solidFill>
                <a:latin typeface="Segoe UI"/>
              </a:rPr>
              <a:t>–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031611" y="1680210"/>
            <a:ext cx="353187" cy="226314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017895" y="1666494"/>
            <a:ext cx="380619" cy="253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A5ABBD"/>
                </a:solidFill>
                <a:latin typeface="Segoe UI"/>
              </a:rPr>
              <a:t>–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412230" y="1680210"/>
            <a:ext cx="353187" cy="226314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398514" y="1666494"/>
            <a:ext cx="380619" cy="253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A5ABBD"/>
                </a:solidFill>
                <a:latin typeface="Segoe UI"/>
              </a:rPr>
              <a:t>–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792849" y="1680210"/>
            <a:ext cx="353187" cy="226314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779133" y="1666494"/>
            <a:ext cx="380619" cy="253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A5ABBD"/>
                </a:solidFill>
                <a:latin typeface="Segoe UI"/>
              </a:rPr>
              <a:t>–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173468" y="1680210"/>
            <a:ext cx="353187" cy="226314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159752" y="1666494"/>
            <a:ext cx="380619" cy="253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A5ABBD"/>
                </a:solidFill>
                <a:latin typeface="Segoe UI"/>
              </a:rPr>
              <a:t>–</a:t>
            </a:r>
          </a:p>
        </p:txBody>
      </p:sp>
      <p:sp>
        <p:nvSpPr>
          <p:cNvPr id="78" name="Rectangle 77"/>
          <p:cNvSpPr/>
          <p:nvPr/>
        </p:nvSpPr>
        <p:spPr>
          <a:xfrm>
            <a:off x="7554087" y="1680210"/>
            <a:ext cx="353187" cy="226314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7540371" y="1666494"/>
            <a:ext cx="380619" cy="253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A5ABBD"/>
                </a:solidFill>
                <a:latin typeface="Segoe UI"/>
              </a:rPr>
              <a:t>–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962138" y="1666494"/>
            <a:ext cx="370332" cy="253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56" b="1" i="0">
                <a:solidFill>
                  <a:srgbClr val="303A5D"/>
                </a:solidFill>
                <a:latin typeface="Segoe UI"/>
              </a:rPr>
              <a:t>13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346186" y="1666494"/>
            <a:ext cx="370332" cy="253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56" b="1" i="0">
                <a:solidFill>
                  <a:srgbClr val="303A5D"/>
                </a:solidFill>
                <a:latin typeface="Segoe UI"/>
              </a:rPr>
              <a:t>3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25196" y="1933956"/>
            <a:ext cx="1337310" cy="1268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72" b="1" i="0">
                <a:solidFill>
                  <a:srgbClr val="303A5D"/>
                </a:solidFill>
                <a:latin typeface="Segoe UI"/>
              </a:rPr>
              <a:t>Norris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25196" y="2047113"/>
            <a:ext cx="1337310" cy="1268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Міні-пакет 3 / 4,5 г; Чипси 8 / 10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844802" y="1933956"/>
            <a:ext cx="353187" cy="226314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1831086" y="1920240"/>
            <a:ext cx="380619" cy="253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A5ABBD"/>
                </a:solidFill>
                <a:latin typeface="Segoe UI"/>
              </a:rPr>
              <a:t>–</a:t>
            </a:r>
          </a:p>
        </p:txBody>
      </p:sp>
      <p:sp>
        <p:nvSpPr>
          <p:cNvPr id="86" name="Rectangle 85"/>
          <p:cNvSpPr/>
          <p:nvPr/>
        </p:nvSpPr>
        <p:spPr>
          <a:xfrm>
            <a:off x="2225421" y="1933956"/>
            <a:ext cx="353187" cy="226314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2211705" y="1920240"/>
            <a:ext cx="380619" cy="253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A5ABBD"/>
                </a:solidFill>
                <a:latin typeface="Segoe UI"/>
              </a:rPr>
              <a:t>–</a:t>
            </a:r>
          </a:p>
        </p:txBody>
      </p:sp>
      <p:sp>
        <p:nvSpPr>
          <p:cNvPr id="88" name="Rectangle 87"/>
          <p:cNvSpPr/>
          <p:nvPr/>
        </p:nvSpPr>
        <p:spPr>
          <a:xfrm>
            <a:off x="2606040" y="1933956"/>
            <a:ext cx="353187" cy="226314"/>
          </a:xfrm>
          <a:prstGeom prst="rect">
            <a:avLst/>
          </a:prstGeom>
          <a:solidFill>
            <a:srgbClr val="424C6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2592324" y="1920240"/>
            <a:ext cx="380619" cy="253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20" b="1" i="0">
                <a:solidFill>
                  <a:srgbClr val="FFFFFF"/>
                </a:solidFill>
                <a:latin typeface="Segoe UI"/>
              </a:rPr>
              <a:t>38</a:t>
            </a:r>
          </a:p>
        </p:txBody>
      </p:sp>
      <p:sp>
        <p:nvSpPr>
          <p:cNvPr id="90" name="Rectangle 89"/>
          <p:cNvSpPr/>
          <p:nvPr/>
        </p:nvSpPr>
        <p:spPr>
          <a:xfrm>
            <a:off x="2986659" y="1933956"/>
            <a:ext cx="353187" cy="226314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2972943" y="1920240"/>
            <a:ext cx="380619" cy="253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A5ABBD"/>
                </a:solidFill>
                <a:latin typeface="Segoe UI"/>
              </a:rPr>
              <a:t>–</a:t>
            </a:r>
          </a:p>
        </p:txBody>
      </p:sp>
      <p:sp>
        <p:nvSpPr>
          <p:cNvPr id="92" name="Rectangle 91"/>
          <p:cNvSpPr/>
          <p:nvPr/>
        </p:nvSpPr>
        <p:spPr>
          <a:xfrm>
            <a:off x="3367278" y="1933956"/>
            <a:ext cx="353187" cy="226314"/>
          </a:xfrm>
          <a:prstGeom prst="rect">
            <a:avLst/>
          </a:prstGeom>
          <a:solidFill>
            <a:srgbClr val="424C6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3353562" y="1920240"/>
            <a:ext cx="380619" cy="253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20" b="1" i="0">
                <a:solidFill>
                  <a:srgbClr val="FFFFFF"/>
                </a:solidFill>
                <a:latin typeface="Segoe UI"/>
              </a:rPr>
              <a:t>51</a:t>
            </a:r>
          </a:p>
        </p:txBody>
      </p:sp>
      <p:sp>
        <p:nvSpPr>
          <p:cNvPr id="94" name="Rectangle 93"/>
          <p:cNvSpPr/>
          <p:nvPr/>
        </p:nvSpPr>
        <p:spPr>
          <a:xfrm>
            <a:off x="3747897" y="1933956"/>
            <a:ext cx="353187" cy="226314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3734181" y="1920240"/>
            <a:ext cx="380619" cy="253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A5ABBD"/>
                </a:solidFill>
                <a:latin typeface="Segoe UI"/>
              </a:rPr>
              <a:t>–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128516" y="1933956"/>
            <a:ext cx="353187" cy="226314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4114800" y="1920240"/>
            <a:ext cx="380619" cy="253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A5ABBD"/>
                </a:solidFill>
                <a:latin typeface="Segoe UI"/>
              </a:rPr>
              <a:t>–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509135" y="1933956"/>
            <a:ext cx="353187" cy="226314"/>
          </a:xfrm>
          <a:prstGeom prst="rect">
            <a:avLst/>
          </a:prstGeom>
          <a:solidFill>
            <a:srgbClr val="424C6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495419" y="1920240"/>
            <a:ext cx="380619" cy="253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20" b="1" i="0">
                <a:solidFill>
                  <a:srgbClr val="FFFFFF"/>
                </a:solidFill>
                <a:latin typeface="Segoe UI"/>
              </a:rPr>
              <a:t>37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889754" y="1933956"/>
            <a:ext cx="353187" cy="226314"/>
          </a:xfrm>
          <a:prstGeom prst="rect">
            <a:avLst/>
          </a:prstGeom>
          <a:solidFill>
            <a:srgbClr val="424C6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876038" y="1920240"/>
            <a:ext cx="380619" cy="253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20" b="1" i="0">
                <a:solidFill>
                  <a:srgbClr val="FFFFFF"/>
                </a:solidFill>
                <a:latin typeface="Segoe UI"/>
              </a:rPr>
              <a:t>38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5270373" y="1933956"/>
            <a:ext cx="353187" cy="226314"/>
          </a:xfrm>
          <a:prstGeom prst="rect">
            <a:avLst/>
          </a:prstGeom>
          <a:solidFill>
            <a:srgbClr val="424C6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5256657" y="1920240"/>
            <a:ext cx="380619" cy="253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20" b="1" i="0">
                <a:solidFill>
                  <a:srgbClr val="FFFFFF"/>
                </a:solidFill>
                <a:latin typeface="Segoe UI"/>
              </a:rPr>
              <a:t>33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5650992" y="1933956"/>
            <a:ext cx="353187" cy="226314"/>
          </a:xfrm>
          <a:prstGeom prst="rect">
            <a:avLst/>
          </a:prstGeom>
          <a:solidFill>
            <a:srgbClr val="424C6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5637276" y="1920240"/>
            <a:ext cx="380619" cy="253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20" b="1" i="0">
                <a:solidFill>
                  <a:srgbClr val="FFFFFF"/>
                </a:solidFill>
                <a:latin typeface="Segoe UI"/>
              </a:rPr>
              <a:t>33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031611" y="1933956"/>
            <a:ext cx="353187" cy="226314"/>
          </a:xfrm>
          <a:prstGeom prst="rect">
            <a:avLst/>
          </a:prstGeom>
          <a:solidFill>
            <a:srgbClr val="424C6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017895" y="1920240"/>
            <a:ext cx="380619" cy="253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20" b="1" i="0">
                <a:solidFill>
                  <a:srgbClr val="FFFFFF"/>
                </a:solidFill>
                <a:latin typeface="Segoe UI"/>
              </a:rPr>
              <a:t>38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412230" y="1933956"/>
            <a:ext cx="353187" cy="226314"/>
          </a:xfrm>
          <a:prstGeom prst="rect">
            <a:avLst/>
          </a:prstGeom>
          <a:solidFill>
            <a:srgbClr val="909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398514" y="1920240"/>
            <a:ext cx="380619" cy="253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20" b="1" i="0">
                <a:solidFill>
                  <a:srgbClr val="303A5D"/>
                </a:solidFill>
                <a:latin typeface="Segoe UI"/>
              </a:rPr>
              <a:t>69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6792849" y="1933956"/>
            <a:ext cx="353187" cy="226314"/>
          </a:xfrm>
          <a:prstGeom prst="rect">
            <a:avLst/>
          </a:prstGeom>
          <a:solidFill>
            <a:srgbClr val="69718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6779133" y="1920240"/>
            <a:ext cx="380619" cy="253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20" b="1" i="0">
                <a:solidFill>
                  <a:srgbClr val="FFFFFF"/>
                </a:solidFill>
                <a:latin typeface="Segoe UI"/>
              </a:rPr>
              <a:t>35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7173468" y="1933956"/>
            <a:ext cx="353187" cy="226314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7159752" y="1920240"/>
            <a:ext cx="380619" cy="253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A5ABBD"/>
                </a:solidFill>
                <a:latin typeface="Segoe UI"/>
              </a:rPr>
              <a:t>–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7554087" y="1933956"/>
            <a:ext cx="353187" cy="226314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7540371" y="1920240"/>
            <a:ext cx="380619" cy="253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A5ABBD"/>
                </a:solidFill>
                <a:latin typeface="Segoe UI"/>
              </a:rPr>
              <a:t>–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962138" y="1920240"/>
            <a:ext cx="370332" cy="253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56" b="1" i="0">
                <a:solidFill>
                  <a:srgbClr val="303A5D"/>
                </a:solidFill>
                <a:latin typeface="Segoe UI"/>
              </a:rPr>
              <a:t>12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8346186" y="1920240"/>
            <a:ext cx="370332" cy="253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56" b="1" i="0">
                <a:solidFill>
                  <a:srgbClr val="303A5D"/>
                </a:solidFill>
                <a:latin typeface="Segoe UI"/>
              </a:rPr>
              <a:t>9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425196" y="2187702"/>
            <a:ext cx="1337310" cy="1268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72" b="1" i="0">
                <a:solidFill>
                  <a:srgbClr val="303A5D"/>
                </a:solidFill>
                <a:latin typeface="Segoe UI"/>
              </a:rPr>
              <a:t>Tao Kae Noi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425196" y="2300859"/>
            <a:ext cx="1337310" cy="1268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Темпура / топінг 15 / 25 / 40 / 59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1844802" y="2187702"/>
            <a:ext cx="353187" cy="226314"/>
          </a:xfrm>
          <a:prstGeom prst="rect">
            <a:avLst/>
          </a:prstGeom>
          <a:solidFill>
            <a:srgbClr val="424C6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1831086" y="2173986"/>
            <a:ext cx="380619" cy="253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20" b="1" i="0">
                <a:solidFill>
                  <a:srgbClr val="FFFFFF"/>
                </a:solidFill>
                <a:latin typeface="Segoe UI"/>
              </a:rPr>
              <a:t>84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2225421" y="2187702"/>
            <a:ext cx="353187" cy="226314"/>
          </a:xfrm>
          <a:prstGeom prst="rect">
            <a:avLst/>
          </a:prstGeom>
          <a:solidFill>
            <a:srgbClr val="555E7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2211705" y="2173986"/>
            <a:ext cx="380619" cy="253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20" b="1" i="0">
                <a:solidFill>
                  <a:srgbClr val="FFFFFF"/>
                </a:solidFill>
                <a:latin typeface="Segoe UI"/>
              </a:rPr>
              <a:t>88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2606040" y="2187702"/>
            <a:ext cx="353187" cy="226314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2592324" y="2173986"/>
            <a:ext cx="380619" cy="253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A5ABBD"/>
                </a:solidFill>
                <a:latin typeface="Segoe UI"/>
              </a:rPr>
              <a:t>–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2986659" y="2187702"/>
            <a:ext cx="353187" cy="226314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2972943" y="2173986"/>
            <a:ext cx="380619" cy="253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A5ABBD"/>
                </a:solidFill>
                <a:latin typeface="Segoe UI"/>
              </a:rPr>
              <a:t>–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3367278" y="2187702"/>
            <a:ext cx="353187" cy="226314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3353562" y="2173986"/>
            <a:ext cx="380619" cy="253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A5ABBD"/>
                </a:solidFill>
                <a:latin typeface="Segoe UI"/>
              </a:rPr>
              <a:t>–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3747897" y="2187702"/>
            <a:ext cx="353187" cy="226314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3734181" y="2173986"/>
            <a:ext cx="380619" cy="253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A5ABBD"/>
                </a:solidFill>
                <a:latin typeface="Segoe UI"/>
              </a:rPr>
              <a:t>–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4128516" y="2187702"/>
            <a:ext cx="353187" cy="226314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4114800" y="2173986"/>
            <a:ext cx="380619" cy="253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A5ABBD"/>
                </a:solidFill>
                <a:latin typeface="Segoe UI"/>
              </a:rPr>
              <a:t>–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4509135" y="2187702"/>
            <a:ext cx="353187" cy="226314"/>
          </a:xfrm>
          <a:prstGeom prst="rect">
            <a:avLst/>
          </a:prstGeom>
          <a:solidFill>
            <a:srgbClr val="69718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4495419" y="2173986"/>
            <a:ext cx="380619" cy="253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20" b="1" i="0">
                <a:solidFill>
                  <a:srgbClr val="FFFFFF"/>
                </a:solidFill>
                <a:latin typeface="Segoe UI"/>
              </a:rPr>
              <a:t>148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4889754" y="2187702"/>
            <a:ext cx="353187" cy="226314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4876038" y="2173986"/>
            <a:ext cx="380619" cy="253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A5ABBD"/>
                </a:solidFill>
                <a:latin typeface="Segoe UI"/>
              </a:rPr>
              <a:t>–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5270373" y="2187702"/>
            <a:ext cx="353187" cy="226314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5256657" y="2173986"/>
            <a:ext cx="380619" cy="253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A5ABBD"/>
                </a:solidFill>
                <a:latin typeface="Segoe UI"/>
              </a:rPr>
              <a:t>–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5650992" y="2187702"/>
            <a:ext cx="353187" cy="226314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5637276" y="2173986"/>
            <a:ext cx="380619" cy="253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A5ABBD"/>
                </a:solidFill>
                <a:latin typeface="Segoe UI"/>
              </a:rPr>
              <a:t>–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6031611" y="2187702"/>
            <a:ext cx="353187" cy="226314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6017895" y="2173986"/>
            <a:ext cx="380619" cy="253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A5ABBD"/>
                </a:solidFill>
                <a:latin typeface="Segoe UI"/>
              </a:rPr>
              <a:t>–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6412230" y="2187702"/>
            <a:ext cx="353187" cy="226314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6398514" y="2173986"/>
            <a:ext cx="380619" cy="253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A5ABBD"/>
                </a:solidFill>
                <a:latin typeface="Segoe UI"/>
              </a:rPr>
              <a:t>–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6792849" y="2187702"/>
            <a:ext cx="353187" cy="226314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6779133" y="2173986"/>
            <a:ext cx="380619" cy="253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A5ABBD"/>
                </a:solidFill>
                <a:latin typeface="Segoe UI"/>
              </a:rPr>
              <a:t>–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7173468" y="2187702"/>
            <a:ext cx="353187" cy="226314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7159752" y="2173986"/>
            <a:ext cx="380619" cy="253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A5ABBD"/>
                </a:solidFill>
                <a:latin typeface="Segoe UI"/>
              </a:rPr>
              <a:t>–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7554087" y="2187702"/>
            <a:ext cx="353187" cy="226314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7540371" y="2173986"/>
            <a:ext cx="380619" cy="253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A5ABBD"/>
                </a:solidFill>
                <a:latin typeface="Segoe UI"/>
              </a:rPr>
              <a:t>–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7962138" y="2173986"/>
            <a:ext cx="370332" cy="253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56" b="1" i="0">
                <a:solidFill>
                  <a:srgbClr val="303A5D"/>
                </a:solidFill>
                <a:latin typeface="Segoe UI"/>
              </a:rPr>
              <a:t>8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8346186" y="2173986"/>
            <a:ext cx="370332" cy="253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56" b="1" i="0">
                <a:solidFill>
                  <a:srgbClr val="303A5D"/>
                </a:solidFill>
                <a:latin typeface="Segoe UI"/>
              </a:rPr>
              <a:t>3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425196" y="2441448"/>
            <a:ext cx="1337310" cy="1268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72" b="1" i="0">
                <a:solidFill>
                  <a:srgbClr val="303A5D"/>
                </a:solidFill>
                <a:latin typeface="Segoe UI"/>
              </a:rPr>
              <a:t>Akura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425196" y="2554605"/>
            <a:ext cx="1337310" cy="1268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Міні-пакет 4 / 4,5 г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1844802" y="2441448"/>
            <a:ext cx="353187" cy="226314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1831086" y="2427732"/>
            <a:ext cx="380619" cy="253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A5ABBD"/>
                </a:solidFill>
                <a:latin typeface="Segoe UI"/>
              </a:rPr>
              <a:t>–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2225421" y="2441448"/>
            <a:ext cx="353187" cy="226314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2211705" y="2427732"/>
            <a:ext cx="380619" cy="253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A5ABBD"/>
                </a:solidFill>
                <a:latin typeface="Segoe UI"/>
              </a:rPr>
              <a:t>–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2606040" y="2441448"/>
            <a:ext cx="353187" cy="226314"/>
          </a:xfrm>
          <a:prstGeom prst="rect">
            <a:avLst/>
          </a:prstGeom>
          <a:solidFill>
            <a:srgbClr val="7C849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2592324" y="2427732"/>
            <a:ext cx="380619" cy="253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20" b="1" i="0">
                <a:solidFill>
                  <a:srgbClr val="FFFFFF"/>
                </a:solidFill>
                <a:latin typeface="Segoe UI"/>
              </a:rPr>
              <a:t>42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2986659" y="2441448"/>
            <a:ext cx="353187" cy="226314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2972943" y="2427732"/>
            <a:ext cx="380619" cy="253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A5ABBD"/>
                </a:solidFill>
                <a:latin typeface="Segoe UI"/>
              </a:rPr>
              <a:t>–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3367278" y="2441448"/>
            <a:ext cx="353187" cy="226314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3353562" y="2427732"/>
            <a:ext cx="380619" cy="253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A5ABBD"/>
                </a:solidFill>
                <a:latin typeface="Segoe UI"/>
              </a:rPr>
              <a:t>–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3747897" y="2441448"/>
            <a:ext cx="353187" cy="226314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3734181" y="2427732"/>
            <a:ext cx="380619" cy="253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A5ABBD"/>
                </a:solidFill>
                <a:latin typeface="Segoe UI"/>
              </a:rPr>
              <a:t>–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4128516" y="2441448"/>
            <a:ext cx="353187" cy="226314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4114800" y="2427732"/>
            <a:ext cx="380619" cy="253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A5ABBD"/>
                </a:solidFill>
                <a:latin typeface="Segoe UI"/>
              </a:rPr>
              <a:t>–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4509135" y="2441448"/>
            <a:ext cx="353187" cy="226314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4495419" y="2427732"/>
            <a:ext cx="380619" cy="253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A5ABBD"/>
                </a:solidFill>
                <a:latin typeface="Segoe UI"/>
              </a:rPr>
              <a:t>–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4889754" y="2441448"/>
            <a:ext cx="353187" cy="226314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4876038" y="2427732"/>
            <a:ext cx="380619" cy="253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A5ABBD"/>
                </a:solidFill>
                <a:latin typeface="Segoe UI"/>
              </a:rPr>
              <a:t>–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5270373" y="2441448"/>
            <a:ext cx="353187" cy="226314"/>
          </a:xfrm>
          <a:prstGeom prst="rect">
            <a:avLst/>
          </a:prstGeom>
          <a:solidFill>
            <a:srgbClr val="424C6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5256657" y="2427732"/>
            <a:ext cx="380619" cy="253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20" b="1" i="0">
                <a:solidFill>
                  <a:srgbClr val="FFFFFF"/>
                </a:solidFill>
                <a:latin typeface="Segoe UI"/>
              </a:rPr>
              <a:t>42</a:t>
            </a:r>
          </a:p>
        </p:txBody>
      </p:sp>
      <p:sp>
        <p:nvSpPr>
          <p:cNvPr id="176" name="Rectangle 175"/>
          <p:cNvSpPr/>
          <p:nvPr/>
        </p:nvSpPr>
        <p:spPr>
          <a:xfrm>
            <a:off x="5650992" y="2441448"/>
            <a:ext cx="353187" cy="226314"/>
          </a:xfrm>
          <a:prstGeom prst="rect">
            <a:avLst/>
          </a:prstGeom>
          <a:solidFill>
            <a:srgbClr val="424C6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7" name="TextBox 176"/>
          <p:cNvSpPr txBox="1"/>
          <p:nvPr/>
        </p:nvSpPr>
        <p:spPr>
          <a:xfrm>
            <a:off x="5637276" y="2427732"/>
            <a:ext cx="380619" cy="253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20" b="1" i="0">
                <a:solidFill>
                  <a:srgbClr val="FFFFFF"/>
                </a:solidFill>
                <a:latin typeface="Segoe UI"/>
              </a:rPr>
              <a:t>42</a:t>
            </a:r>
          </a:p>
        </p:txBody>
      </p:sp>
      <p:sp>
        <p:nvSpPr>
          <p:cNvPr id="178" name="Rectangle 177"/>
          <p:cNvSpPr/>
          <p:nvPr/>
        </p:nvSpPr>
        <p:spPr>
          <a:xfrm>
            <a:off x="6031611" y="2441448"/>
            <a:ext cx="353187" cy="226314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9" name="TextBox 178"/>
          <p:cNvSpPr txBox="1"/>
          <p:nvPr/>
        </p:nvSpPr>
        <p:spPr>
          <a:xfrm>
            <a:off x="6017895" y="2427732"/>
            <a:ext cx="380619" cy="253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A5ABBD"/>
                </a:solidFill>
                <a:latin typeface="Segoe UI"/>
              </a:rPr>
              <a:t>–</a:t>
            </a:r>
          </a:p>
        </p:txBody>
      </p:sp>
      <p:sp>
        <p:nvSpPr>
          <p:cNvPr id="180" name="Rectangle 179"/>
          <p:cNvSpPr/>
          <p:nvPr/>
        </p:nvSpPr>
        <p:spPr>
          <a:xfrm>
            <a:off x="6412230" y="2441448"/>
            <a:ext cx="353187" cy="226314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1" name="TextBox 180"/>
          <p:cNvSpPr txBox="1"/>
          <p:nvPr/>
        </p:nvSpPr>
        <p:spPr>
          <a:xfrm>
            <a:off x="6398514" y="2427732"/>
            <a:ext cx="380619" cy="253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A5ABBD"/>
                </a:solidFill>
                <a:latin typeface="Segoe UI"/>
              </a:rPr>
              <a:t>–</a:t>
            </a:r>
          </a:p>
        </p:txBody>
      </p:sp>
      <p:sp>
        <p:nvSpPr>
          <p:cNvPr id="182" name="Rectangle 181"/>
          <p:cNvSpPr/>
          <p:nvPr/>
        </p:nvSpPr>
        <p:spPr>
          <a:xfrm>
            <a:off x="6792849" y="2441448"/>
            <a:ext cx="353187" cy="226314"/>
          </a:xfrm>
          <a:prstGeom prst="rect">
            <a:avLst/>
          </a:prstGeom>
          <a:solidFill>
            <a:srgbClr val="7C849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3" name="TextBox 182"/>
          <p:cNvSpPr txBox="1"/>
          <p:nvPr/>
        </p:nvSpPr>
        <p:spPr>
          <a:xfrm>
            <a:off x="6779133" y="2427732"/>
            <a:ext cx="380619" cy="253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20" b="1" i="0">
                <a:solidFill>
                  <a:srgbClr val="FFFFFF"/>
                </a:solidFill>
                <a:latin typeface="Segoe UI"/>
              </a:rPr>
              <a:t>42</a:t>
            </a:r>
          </a:p>
        </p:txBody>
      </p:sp>
      <p:sp>
        <p:nvSpPr>
          <p:cNvPr id="184" name="Rectangle 183"/>
          <p:cNvSpPr/>
          <p:nvPr/>
        </p:nvSpPr>
        <p:spPr>
          <a:xfrm>
            <a:off x="7173468" y="2441448"/>
            <a:ext cx="353187" cy="226314"/>
          </a:xfrm>
          <a:prstGeom prst="rect">
            <a:avLst/>
          </a:prstGeom>
          <a:solidFill>
            <a:srgbClr val="7C849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5" name="TextBox 184"/>
          <p:cNvSpPr txBox="1"/>
          <p:nvPr/>
        </p:nvSpPr>
        <p:spPr>
          <a:xfrm>
            <a:off x="7159752" y="2427732"/>
            <a:ext cx="380619" cy="253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20" b="1" i="0">
                <a:solidFill>
                  <a:srgbClr val="FFFFFF"/>
                </a:solidFill>
                <a:latin typeface="Segoe UI"/>
              </a:rPr>
              <a:t>42</a:t>
            </a:r>
          </a:p>
        </p:txBody>
      </p:sp>
      <p:sp>
        <p:nvSpPr>
          <p:cNvPr id="186" name="Rectangle 185"/>
          <p:cNvSpPr/>
          <p:nvPr/>
        </p:nvSpPr>
        <p:spPr>
          <a:xfrm>
            <a:off x="7554087" y="2441448"/>
            <a:ext cx="353187" cy="226314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7" name="TextBox 186"/>
          <p:cNvSpPr txBox="1"/>
          <p:nvPr/>
        </p:nvSpPr>
        <p:spPr>
          <a:xfrm>
            <a:off x="7540371" y="2427732"/>
            <a:ext cx="380619" cy="253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A5ABBD"/>
                </a:solidFill>
                <a:latin typeface="Segoe UI"/>
              </a:rPr>
              <a:t>–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7962138" y="2427732"/>
            <a:ext cx="370332" cy="253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56" b="1" i="0">
                <a:solidFill>
                  <a:srgbClr val="303A5D"/>
                </a:solidFill>
                <a:latin typeface="Segoe UI"/>
              </a:rPr>
              <a:t>6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8346186" y="2427732"/>
            <a:ext cx="370332" cy="253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56" b="1" i="0">
                <a:solidFill>
                  <a:srgbClr val="303A5D"/>
                </a:solidFill>
                <a:latin typeface="Segoe UI"/>
              </a:rPr>
              <a:t>5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425196" y="2695194"/>
            <a:ext cx="1337310" cy="1268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72" b="1" i="0">
                <a:solidFill>
                  <a:srgbClr val="303A5D"/>
                </a:solidFill>
                <a:latin typeface="Segoe UI"/>
              </a:rPr>
              <a:t>Clearspring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425196" y="2808351"/>
            <a:ext cx="1337310" cy="1268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Міні-пакет 4 г; Рис. крекери 50 г</a:t>
            </a:r>
          </a:p>
        </p:txBody>
      </p:sp>
      <p:sp>
        <p:nvSpPr>
          <p:cNvPr id="192" name="Rectangle 191"/>
          <p:cNvSpPr/>
          <p:nvPr/>
        </p:nvSpPr>
        <p:spPr>
          <a:xfrm>
            <a:off x="1844802" y="2695194"/>
            <a:ext cx="353187" cy="226314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3" name="TextBox 192"/>
          <p:cNvSpPr txBox="1"/>
          <p:nvPr/>
        </p:nvSpPr>
        <p:spPr>
          <a:xfrm>
            <a:off x="1831086" y="2681478"/>
            <a:ext cx="380619" cy="253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A5ABBD"/>
                </a:solidFill>
                <a:latin typeface="Segoe UI"/>
              </a:rPr>
              <a:t>–</a:t>
            </a:r>
          </a:p>
        </p:txBody>
      </p:sp>
      <p:sp>
        <p:nvSpPr>
          <p:cNvPr id="194" name="Rectangle 193"/>
          <p:cNvSpPr/>
          <p:nvPr/>
        </p:nvSpPr>
        <p:spPr>
          <a:xfrm>
            <a:off x="2225421" y="2695194"/>
            <a:ext cx="353187" cy="226314"/>
          </a:xfrm>
          <a:prstGeom prst="rect">
            <a:avLst/>
          </a:prstGeom>
          <a:solidFill>
            <a:srgbClr val="7C849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5" name="TextBox 194"/>
          <p:cNvSpPr txBox="1"/>
          <p:nvPr/>
        </p:nvSpPr>
        <p:spPr>
          <a:xfrm>
            <a:off x="2211705" y="2681478"/>
            <a:ext cx="380619" cy="253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20" b="1" i="0">
                <a:solidFill>
                  <a:srgbClr val="FFFFFF"/>
                </a:solidFill>
                <a:latin typeface="Segoe UI"/>
              </a:rPr>
              <a:t>89</a:t>
            </a:r>
          </a:p>
        </p:txBody>
      </p:sp>
      <p:sp>
        <p:nvSpPr>
          <p:cNvPr id="196" name="Rectangle 195"/>
          <p:cNvSpPr/>
          <p:nvPr/>
        </p:nvSpPr>
        <p:spPr>
          <a:xfrm>
            <a:off x="2606040" y="2695194"/>
            <a:ext cx="353187" cy="226314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7" name="TextBox 196"/>
          <p:cNvSpPr txBox="1"/>
          <p:nvPr/>
        </p:nvSpPr>
        <p:spPr>
          <a:xfrm>
            <a:off x="2592324" y="2681478"/>
            <a:ext cx="380619" cy="253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A5ABBD"/>
                </a:solidFill>
                <a:latin typeface="Segoe UI"/>
              </a:rPr>
              <a:t>–</a:t>
            </a:r>
          </a:p>
        </p:txBody>
      </p:sp>
      <p:sp>
        <p:nvSpPr>
          <p:cNvPr id="198" name="Rectangle 197"/>
          <p:cNvSpPr/>
          <p:nvPr/>
        </p:nvSpPr>
        <p:spPr>
          <a:xfrm>
            <a:off x="2986659" y="2695194"/>
            <a:ext cx="353187" cy="226314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9" name="TextBox 198"/>
          <p:cNvSpPr txBox="1"/>
          <p:nvPr/>
        </p:nvSpPr>
        <p:spPr>
          <a:xfrm>
            <a:off x="2972943" y="2681478"/>
            <a:ext cx="380619" cy="253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A5ABBD"/>
                </a:solidFill>
                <a:latin typeface="Segoe UI"/>
              </a:rPr>
              <a:t>–</a:t>
            </a:r>
          </a:p>
        </p:txBody>
      </p:sp>
      <p:sp>
        <p:nvSpPr>
          <p:cNvPr id="200" name="Rectangle 199"/>
          <p:cNvSpPr/>
          <p:nvPr/>
        </p:nvSpPr>
        <p:spPr>
          <a:xfrm>
            <a:off x="3367278" y="2695194"/>
            <a:ext cx="353187" cy="226314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1" name="TextBox 200"/>
          <p:cNvSpPr txBox="1"/>
          <p:nvPr/>
        </p:nvSpPr>
        <p:spPr>
          <a:xfrm>
            <a:off x="3353562" y="2681478"/>
            <a:ext cx="380619" cy="253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A5ABBD"/>
                </a:solidFill>
                <a:latin typeface="Segoe UI"/>
              </a:rPr>
              <a:t>–</a:t>
            </a:r>
          </a:p>
        </p:txBody>
      </p:sp>
      <p:sp>
        <p:nvSpPr>
          <p:cNvPr id="202" name="Rectangle 201"/>
          <p:cNvSpPr/>
          <p:nvPr/>
        </p:nvSpPr>
        <p:spPr>
          <a:xfrm>
            <a:off x="3747897" y="2695194"/>
            <a:ext cx="353187" cy="226314"/>
          </a:xfrm>
          <a:prstGeom prst="rect">
            <a:avLst/>
          </a:prstGeom>
          <a:solidFill>
            <a:srgbClr val="7C849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3" name="TextBox 202"/>
          <p:cNvSpPr txBox="1"/>
          <p:nvPr/>
        </p:nvSpPr>
        <p:spPr>
          <a:xfrm>
            <a:off x="3734181" y="2681478"/>
            <a:ext cx="380619" cy="253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20" b="1" i="0">
                <a:solidFill>
                  <a:srgbClr val="FFFFFF"/>
                </a:solidFill>
                <a:latin typeface="Segoe UI"/>
              </a:rPr>
              <a:t>89</a:t>
            </a:r>
          </a:p>
        </p:txBody>
      </p:sp>
      <p:sp>
        <p:nvSpPr>
          <p:cNvPr id="204" name="Rectangle 203"/>
          <p:cNvSpPr/>
          <p:nvPr/>
        </p:nvSpPr>
        <p:spPr>
          <a:xfrm>
            <a:off x="4128516" y="2695194"/>
            <a:ext cx="353187" cy="226314"/>
          </a:xfrm>
          <a:prstGeom prst="rect">
            <a:avLst/>
          </a:prstGeom>
          <a:solidFill>
            <a:srgbClr val="7C849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5" name="TextBox 204"/>
          <p:cNvSpPr txBox="1"/>
          <p:nvPr/>
        </p:nvSpPr>
        <p:spPr>
          <a:xfrm>
            <a:off x="4114800" y="2681478"/>
            <a:ext cx="380619" cy="253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20" b="1" i="0">
                <a:solidFill>
                  <a:srgbClr val="FFFFFF"/>
                </a:solidFill>
                <a:latin typeface="Segoe UI"/>
              </a:rPr>
              <a:t>89</a:t>
            </a:r>
          </a:p>
        </p:txBody>
      </p:sp>
      <p:sp>
        <p:nvSpPr>
          <p:cNvPr id="206" name="Rectangle 205"/>
          <p:cNvSpPr/>
          <p:nvPr/>
        </p:nvSpPr>
        <p:spPr>
          <a:xfrm>
            <a:off x="4509135" y="2695194"/>
            <a:ext cx="353187" cy="226314"/>
          </a:xfrm>
          <a:prstGeom prst="rect">
            <a:avLst/>
          </a:prstGeom>
          <a:solidFill>
            <a:srgbClr val="909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7" name="TextBox 206"/>
          <p:cNvSpPr txBox="1"/>
          <p:nvPr/>
        </p:nvSpPr>
        <p:spPr>
          <a:xfrm>
            <a:off x="4495419" y="2681478"/>
            <a:ext cx="380619" cy="253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20" b="1" i="0">
                <a:solidFill>
                  <a:srgbClr val="303A5D"/>
                </a:solidFill>
                <a:latin typeface="Segoe UI"/>
              </a:rPr>
              <a:t>87</a:t>
            </a:r>
          </a:p>
        </p:txBody>
      </p:sp>
      <p:sp>
        <p:nvSpPr>
          <p:cNvPr id="208" name="Rectangle 207"/>
          <p:cNvSpPr/>
          <p:nvPr/>
        </p:nvSpPr>
        <p:spPr>
          <a:xfrm>
            <a:off x="4889754" y="2695194"/>
            <a:ext cx="353187" cy="226314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9" name="TextBox 208"/>
          <p:cNvSpPr txBox="1"/>
          <p:nvPr/>
        </p:nvSpPr>
        <p:spPr>
          <a:xfrm>
            <a:off x="4876038" y="2681478"/>
            <a:ext cx="380619" cy="253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A5ABBD"/>
                </a:solidFill>
                <a:latin typeface="Segoe UI"/>
              </a:rPr>
              <a:t>–</a:t>
            </a:r>
          </a:p>
        </p:txBody>
      </p:sp>
      <p:sp>
        <p:nvSpPr>
          <p:cNvPr id="210" name="Rectangle 209"/>
          <p:cNvSpPr/>
          <p:nvPr/>
        </p:nvSpPr>
        <p:spPr>
          <a:xfrm>
            <a:off x="5270373" y="2695194"/>
            <a:ext cx="353187" cy="226314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1" name="TextBox 210"/>
          <p:cNvSpPr txBox="1"/>
          <p:nvPr/>
        </p:nvSpPr>
        <p:spPr>
          <a:xfrm>
            <a:off x="5256657" y="2681478"/>
            <a:ext cx="380619" cy="253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A5ABBD"/>
                </a:solidFill>
                <a:latin typeface="Segoe UI"/>
              </a:rPr>
              <a:t>–</a:t>
            </a:r>
          </a:p>
        </p:txBody>
      </p:sp>
      <p:sp>
        <p:nvSpPr>
          <p:cNvPr id="212" name="Rectangle 211"/>
          <p:cNvSpPr/>
          <p:nvPr/>
        </p:nvSpPr>
        <p:spPr>
          <a:xfrm>
            <a:off x="5650992" y="2695194"/>
            <a:ext cx="353187" cy="226314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3" name="TextBox 212"/>
          <p:cNvSpPr txBox="1"/>
          <p:nvPr/>
        </p:nvSpPr>
        <p:spPr>
          <a:xfrm>
            <a:off x="5637276" y="2681478"/>
            <a:ext cx="380619" cy="253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A5ABBD"/>
                </a:solidFill>
                <a:latin typeface="Segoe UI"/>
              </a:rPr>
              <a:t>–</a:t>
            </a:r>
          </a:p>
        </p:txBody>
      </p:sp>
      <p:sp>
        <p:nvSpPr>
          <p:cNvPr id="214" name="Rectangle 213"/>
          <p:cNvSpPr/>
          <p:nvPr/>
        </p:nvSpPr>
        <p:spPr>
          <a:xfrm>
            <a:off x="6031611" y="2695194"/>
            <a:ext cx="353187" cy="226314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5" name="TextBox 214"/>
          <p:cNvSpPr txBox="1"/>
          <p:nvPr/>
        </p:nvSpPr>
        <p:spPr>
          <a:xfrm>
            <a:off x="6017895" y="2681478"/>
            <a:ext cx="380619" cy="253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A5ABBD"/>
                </a:solidFill>
                <a:latin typeface="Segoe UI"/>
              </a:rPr>
              <a:t>–</a:t>
            </a:r>
          </a:p>
        </p:txBody>
      </p:sp>
      <p:sp>
        <p:nvSpPr>
          <p:cNvPr id="216" name="Rectangle 215"/>
          <p:cNvSpPr/>
          <p:nvPr/>
        </p:nvSpPr>
        <p:spPr>
          <a:xfrm>
            <a:off x="6412230" y="2695194"/>
            <a:ext cx="353187" cy="226314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7" name="TextBox 216"/>
          <p:cNvSpPr txBox="1"/>
          <p:nvPr/>
        </p:nvSpPr>
        <p:spPr>
          <a:xfrm>
            <a:off x="6398514" y="2681478"/>
            <a:ext cx="380619" cy="253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A5ABBD"/>
                </a:solidFill>
                <a:latin typeface="Segoe UI"/>
              </a:rPr>
              <a:t>–</a:t>
            </a:r>
          </a:p>
        </p:txBody>
      </p:sp>
      <p:sp>
        <p:nvSpPr>
          <p:cNvPr id="218" name="Rectangle 217"/>
          <p:cNvSpPr/>
          <p:nvPr/>
        </p:nvSpPr>
        <p:spPr>
          <a:xfrm>
            <a:off x="6792849" y="2695194"/>
            <a:ext cx="353187" cy="226314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9" name="TextBox 218"/>
          <p:cNvSpPr txBox="1"/>
          <p:nvPr/>
        </p:nvSpPr>
        <p:spPr>
          <a:xfrm>
            <a:off x="6779133" y="2681478"/>
            <a:ext cx="380619" cy="253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A5ABBD"/>
                </a:solidFill>
                <a:latin typeface="Segoe UI"/>
              </a:rPr>
              <a:t>–</a:t>
            </a:r>
          </a:p>
        </p:txBody>
      </p:sp>
      <p:sp>
        <p:nvSpPr>
          <p:cNvPr id="220" name="Rectangle 219"/>
          <p:cNvSpPr/>
          <p:nvPr/>
        </p:nvSpPr>
        <p:spPr>
          <a:xfrm>
            <a:off x="7173468" y="2695194"/>
            <a:ext cx="353187" cy="226314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1" name="TextBox 220"/>
          <p:cNvSpPr txBox="1"/>
          <p:nvPr/>
        </p:nvSpPr>
        <p:spPr>
          <a:xfrm>
            <a:off x="7159752" y="2681478"/>
            <a:ext cx="380619" cy="253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A5ABBD"/>
                </a:solidFill>
                <a:latin typeface="Segoe UI"/>
              </a:rPr>
              <a:t>–</a:t>
            </a:r>
          </a:p>
        </p:txBody>
      </p:sp>
      <p:sp>
        <p:nvSpPr>
          <p:cNvPr id="222" name="Rectangle 221"/>
          <p:cNvSpPr/>
          <p:nvPr/>
        </p:nvSpPr>
        <p:spPr>
          <a:xfrm>
            <a:off x="7554087" y="2695194"/>
            <a:ext cx="353187" cy="226314"/>
          </a:xfrm>
          <a:prstGeom prst="rect">
            <a:avLst/>
          </a:prstGeom>
          <a:solidFill>
            <a:srgbClr val="909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3" name="TextBox 222"/>
          <p:cNvSpPr txBox="1"/>
          <p:nvPr/>
        </p:nvSpPr>
        <p:spPr>
          <a:xfrm>
            <a:off x="7540371" y="2681478"/>
            <a:ext cx="380619" cy="253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20" b="1" i="0">
                <a:solidFill>
                  <a:srgbClr val="303A5D"/>
                </a:solidFill>
                <a:latin typeface="Segoe UI"/>
              </a:rPr>
              <a:t>107</a:t>
            </a:r>
          </a:p>
        </p:txBody>
      </p:sp>
      <p:sp>
        <p:nvSpPr>
          <p:cNvPr id="224" name="TextBox 223"/>
          <p:cNvSpPr txBox="1"/>
          <p:nvPr/>
        </p:nvSpPr>
        <p:spPr>
          <a:xfrm>
            <a:off x="7962138" y="2681478"/>
            <a:ext cx="370332" cy="253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56" b="1" i="0">
                <a:solidFill>
                  <a:srgbClr val="303A5D"/>
                </a:solidFill>
                <a:latin typeface="Segoe UI"/>
              </a:rPr>
              <a:t>6</a:t>
            </a:r>
          </a:p>
        </p:txBody>
      </p:sp>
      <p:sp>
        <p:nvSpPr>
          <p:cNvPr id="225" name="TextBox 224"/>
          <p:cNvSpPr txBox="1"/>
          <p:nvPr/>
        </p:nvSpPr>
        <p:spPr>
          <a:xfrm>
            <a:off x="8346186" y="2681478"/>
            <a:ext cx="370332" cy="253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56" b="1" i="0">
                <a:solidFill>
                  <a:srgbClr val="303A5D"/>
                </a:solidFill>
                <a:latin typeface="Segoe UI"/>
              </a:rPr>
              <a:t>5</a:t>
            </a:r>
          </a:p>
        </p:txBody>
      </p:sp>
      <p:sp>
        <p:nvSpPr>
          <p:cNvPr id="226" name="TextBox 225"/>
          <p:cNvSpPr txBox="1"/>
          <p:nvPr/>
        </p:nvSpPr>
        <p:spPr>
          <a:xfrm>
            <a:off x="425196" y="2948940"/>
            <a:ext cx="1337310" cy="1268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72" b="1" i="0">
                <a:solidFill>
                  <a:srgbClr val="303A5D"/>
                </a:solidFill>
                <a:latin typeface="Segoe UI"/>
              </a:rPr>
              <a:t>Metro Chef</a:t>
            </a:r>
          </a:p>
        </p:txBody>
      </p:sp>
      <p:sp>
        <p:nvSpPr>
          <p:cNvPr id="227" name="TextBox 226"/>
          <p:cNvSpPr txBox="1"/>
          <p:nvPr/>
        </p:nvSpPr>
        <p:spPr>
          <a:xfrm>
            <a:off x="425196" y="3062097"/>
            <a:ext cx="1337310" cy="1268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Міні-пакет 4,5 г; Темпура / топінг</a:t>
            </a:r>
          </a:p>
        </p:txBody>
      </p:sp>
      <p:sp>
        <p:nvSpPr>
          <p:cNvPr id="228" name="Rectangle 227"/>
          <p:cNvSpPr/>
          <p:nvPr/>
        </p:nvSpPr>
        <p:spPr>
          <a:xfrm>
            <a:off x="1844802" y="2948940"/>
            <a:ext cx="353187" cy="226314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9" name="TextBox 228"/>
          <p:cNvSpPr txBox="1"/>
          <p:nvPr/>
        </p:nvSpPr>
        <p:spPr>
          <a:xfrm>
            <a:off x="1831086" y="2935224"/>
            <a:ext cx="380619" cy="253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A5ABBD"/>
                </a:solidFill>
                <a:latin typeface="Segoe UI"/>
              </a:rPr>
              <a:t>–</a:t>
            </a:r>
          </a:p>
        </p:txBody>
      </p:sp>
      <p:sp>
        <p:nvSpPr>
          <p:cNvPr id="230" name="Rectangle 229"/>
          <p:cNvSpPr/>
          <p:nvPr/>
        </p:nvSpPr>
        <p:spPr>
          <a:xfrm>
            <a:off x="2225421" y="2948940"/>
            <a:ext cx="353187" cy="226314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1" name="TextBox 230"/>
          <p:cNvSpPr txBox="1"/>
          <p:nvPr/>
        </p:nvSpPr>
        <p:spPr>
          <a:xfrm>
            <a:off x="2211705" y="2935224"/>
            <a:ext cx="380619" cy="253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A5ABBD"/>
                </a:solidFill>
                <a:latin typeface="Segoe UI"/>
              </a:rPr>
              <a:t>–</a:t>
            </a:r>
          </a:p>
        </p:txBody>
      </p:sp>
      <p:sp>
        <p:nvSpPr>
          <p:cNvPr id="232" name="Rectangle 231"/>
          <p:cNvSpPr/>
          <p:nvPr/>
        </p:nvSpPr>
        <p:spPr>
          <a:xfrm>
            <a:off x="2606040" y="2948940"/>
            <a:ext cx="353187" cy="226314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3" name="TextBox 232"/>
          <p:cNvSpPr txBox="1"/>
          <p:nvPr/>
        </p:nvSpPr>
        <p:spPr>
          <a:xfrm>
            <a:off x="2592324" y="2935224"/>
            <a:ext cx="380619" cy="253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A5ABBD"/>
                </a:solidFill>
                <a:latin typeface="Segoe UI"/>
              </a:rPr>
              <a:t>–</a:t>
            </a:r>
          </a:p>
        </p:txBody>
      </p:sp>
      <p:sp>
        <p:nvSpPr>
          <p:cNvPr id="234" name="Rectangle 233"/>
          <p:cNvSpPr/>
          <p:nvPr/>
        </p:nvSpPr>
        <p:spPr>
          <a:xfrm>
            <a:off x="2986659" y="2948940"/>
            <a:ext cx="353187" cy="226314"/>
          </a:xfrm>
          <a:prstGeom prst="rect">
            <a:avLst/>
          </a:prstGeom>
          <a:solidFill>
            <a:srgbClr val="555E7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5" name="TextBox 234"/>
          <p:cNvSpPr txBox="1"/>
          <p:nvPr/>
        </p:nvSpPr>
        <p:spPr>
          <a:xfrm>
            <a:off x="2972943" y="2935224"/>
            <a:ext cx="380619" cy="253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20" b="1" i="0">
                <a:solidFill>
                  <a:srgbClr val="FFFFFF"/>
                </a:solidFill>
                <a:latin typeface="Segoe UI"/>
              </a:rPr>
              <a:t>31</a:t>
            </a:r>
          </a:p>
        </p:txBody>
      </p:sp>
      <p:sp>
        <p:nvSpPr>
          <p:cNvPr id="236" name="Rectangle 235"/>
          <p:cNvSpPr/>
          <p:nvPr/>
        </p:nvSpPr>
        <p:spPr>
          <a:xfrm>
            <a:off x="3367278" y="2948940"/>
            <a:ext cx="353187" cy="226314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7" name="TextBox 236"/>
          <p:cNvSpPr txBox="1"/>
          <p:nvPr/>
        </p:nvSpPr>
        <p:spPr>
          <a:xfrm>
            <a:off x="3353562" y="2935224"/>
            <a:ext cx="380619" cy="253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A5ABBD"/>
                </a:solidFill>
                <a:latin typeface="Segoe UI"/>
              </a:rPr>
              <a:t>–</a:t>
            </a:r>
          </a:p>
        </p:txBody>
      </p:sp>
      <p:sp>
        <p:nvSpPr>
          <p:cNvPr id="238" name="Rectangle 237"/>
          <p:cNvSpPr/>
          <p:nvPr/>
        </p:nvSpPr>
        <p:spPr>
          <a:xfrm>
            <a:off x="3747897" y="2948940"/>
            <a:ext cx="353187" cy="226314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9" name="TextBox 238"/>
          <p:cNvSpPr txBox="1"/>
          <p:nvPr/>
        </p:nvSpPr>
        <p:spPr>
          <a:xfrm>
            <a:off x="3734181" y="2935224"/>
            <a:ext cx="380619" cy="253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A5ABBD"/>
                </a:solidFill>
                <a:latin typeface="Segoe UI"/>
              </a:rPr>
              <a:t>–</a:t>
            </a:r>
          </a:p>
        </p:txBody>
      </p:sp>
      <p:sp>
        <p:nvSpPr>
          <p:cNvPr id="240" name="Rectangle 239"/>
          <p:cNvSpPr/>
          <p:nvPr/>
        </p:nvSpPr>
        <p:spPr>
          <a:xfrm>
            <a:off x="4128516" y="2948940"/>
            <a:ext cx="353187" cy="226314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1" name="TextBox 240"/>
          <p:cNvSpPr txBox="1"/>
          <p:nvPr/>
        </p:nvSpPr>
        <p:spPr>
          <a:xfrm>
            <a:off x="4114800" y="2935224"/>
            <a:ext cx="380619" cy="253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A5ABBD"/>
                </a:solidFill>
                <a:latin typeface="Segoe UI"/>
              </a:rPr>
              <a:t>–</a:t>
            </a:r>
          </a:p>
        </p:txBody>
      </p:sp>
      <p:sp>
        <p:nvSpPr>
          <p:cNvPr id="242" name="Rectangle 241"/>
          <p:cNvSpPr/>
          <p:nvPr/>
        </p:nvSpPr>
        <p:spPr>
          <a:xfrm>
            <a:off x="4509135" y="2948940"/>
            <a:ext cx="353187" cy="226314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3" name="TextBox 242"/>
          <p:cNvSpPr txBox="1"/>
          <p:nvPr/>
        </p:nvSpPr>
        <p:spPr>
          <a:xfrm>
            <a:off x="4495419" y="2935224"/>
            <a:ext cx="380619" cy="253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A5ABBD"/>
                </a:solidFill>
                <a:latin typeface="Segoe UI"/>
              </a:rPr>
              <a:t>–</a:t>
            </a:r>
          </a:p>
        </p:txBody>
      </p:sp>
      <p:sp>
        <p:nvSpPr>
          <p:cNvPr id="244" name="Rectangle 243"/>
          <p:cNvSpPr/>
          <p:nvPr/>
        </p:nvSpPr>
        <p:spPr>
          <a:xfrm>
            <a:off x="4889754" y="2948940"/>
            <a:ext cx="353187" cy="226314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5" name="TextBox 244"/>
          <p:cNvSpPr txBox="1"/>
          <p:nvPr/>
        </p:nvSpPr>
        <p:spPr>
          <a:xfrm>
            <a:off x="4876038" y="2935224"/>
            <a:ext cx="380619" cy="253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A5ABBD"/>
                </a:solidFill>
                <a:latin typeface="Segoe UI"/>
              </a:rPr>
              <a:t>–</a:t>
            </a:r>
          </a:p>
        </p:txBody>
      </p:sp>
      <p:sp>
        <p:nvSpPr>
          <p:cNvPr id="246" name="Rectangle 245"/>
          <p:cNvSpPr/>
          <p:nvPr/>
        </p:nvSpPr>
        <p:spPr>
          <a:xfrm>
            <a:off x="5270373" y="2948940"/>
            <a:ext cx="353187" cy="226314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7" name="TextBox 246"/>
          <p:cNvSpPr txBox="1"/>
          <p:nvPr/>
        </p:nvSpPr>
        <p:spPr>
          <a:xfrm>
            <a:off x="5256657" y="2935224"/>
            <a:ext cx="380619" cy="253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A5ABBD"/>
                </a:solidFill>
                <a:latin typeface="Segoe UI"/>
              </a:rPr>
              <a:t>–</a:t>
            </a:r>
          </a:p>
        </p:txBody>
      </p:sp>
      <p:sp>
        <p:nvSpPr>
          <p:cNvPr id="248" name="Rectangle 247"/>
          <p:cNvSpPr/>
          <p:nvPr/>
        </p:nvSpPr>
        <p:spPr>
          <a:xfrm>
            <a:off x="5650992" y="2948940"/>
            <a:ext cx="353187" cy="226314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9" name="TextBox 248"/>
          <p:cNvSpPr txBox="1"/>
          <p:nvPr/>
        </p:nvSpPr>
        <p:spPr>
          <a:xfrm>
            <a:off x="5637276" y="2935224"/>
            <a:ext cx="380619" cy="253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A5ABBD"/>
                </a:solidFill>
                <a:latin typeface="Segoe UI"/>
              </a:rPr>
              <a:t>–</a:t>
            </a:r>
          </a:p>
        </p:txBody>
      </p:sp>
      <p:sp>
        <p:nvSpPr>
          <p:cNvPr id="250" name="Rectangle 249"/>
          <p:cNvSpPr/>
          <p:nvPr/>
        </p:nvSpPr>
        <p:spPr>
          <a:xfrm>
            <a:off x="6031611" y="2948940"/>
            <a:ext cx="353187" cy="226314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1" name="TextBox 250"/>
          <p:cNvSpPr txBox="1"/>
          <p:nvPr/>
        </p:nvSpPr>
        <p:spPr>
          <a:xfrm>
            <a:off x="6017895" y="2935224"/>
            <a:ext cx="380619" cy="253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A5ABBD"/>
                </a:solidFill>
                <a:latin typeface="Segoe UI"/>
              </a:rPr>
              <a:t>–</a:t>
            </a:r>
          </a:p>
        </p:txBody>
      </p:sp>
      <p:sp>
        <p:nvSpPr>
          <p:cNvPr id="252" name="Rectangle 251"/>
          <p:cNvSpPr/>
          <p:nvPr/>
        </p:nvSpPr>
        <p:spPr>
          <a:xfrm>
            <a:off x="6412230" y="2948940"/>
            <a:ext cx="353187" cy="226314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3" name="TextBox 252"/>
          <p:cNvSpPr txBox="1"/>
          <p:nvPr/>
        </p:nvSpPr>
        <p:spPr>
          <a:xfrm>
            <a:off x="6398514" y="2935224"/>
            <a:ext cx="380619" cy="253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A5ABBD"/>
                </a:solidFill>
                <a:latin typeface="Segoe UI"/>
              </a:rPr>
              <a:t>–</a:t>
            </a:r>
          </a:p>
        </p:txBody>
      </p:sp>
      <p:sp>
        <p:nvSpPr>
          <p:cNvPr id="254" name="Rectangle 253"/>
          <p:cNvSpPr/>
          <p:nvPr/>
        </p:nvSpPr>
        <p:spPr>
          <a:xfrm>
            <a:off x="6792849" y="2948940"/>
            <a:ext cx="353187" cy="226314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5" name="TextBox 254"/>
          <p:cNvSpPr txBox="1"/>
          <p:nvPr/>
        </p:nvSpPr>
        <p:spPr>
          <a:xfrm>
            <a:off x="6779133" y="2935224"/>
            <a:ext cx="380619" cy="253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A5ABBD"/>
                </a:solidFill>
                <a:latin typeface="Segoe UI"/>
              </a:rPr>
              <a:t>–</a:t>
            </a:r>
          </a:p>
        </p:txBody>
      </p:sp>
      <p:sp>
        <p:nvSpPr>
          <p:cNvPr id="256" name="Rectangle 255"/>
          <p:cNvSpPr/>
          <p:nvPr/>
        </p:nvSpPr>
        <p:spPr>
          <a:xfrm>
            <a:off x="7173468" y="2948940"/>
            <a:ext cx="353187" cy="226314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7" name="TextBox 256"/>
          <p:cNvSpPr txBox="1"/>
          <p:nvPr/>
        </p:nvSpPr>
        <p:spPr>
          <a:xfrm>
            <a:off x="7159752" y="2935224"/>
            <a:ext cx="380619" cy="253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A5ABBD"/>
                </a:solidFill>
                <a:latin typeface="Segoe UI"/>
              </a:rPr>
              <a:t>–</a:t>
            </a:r>
          </a:p>
        </p:txBody>
      </p:sp>
      <p:sp>
        <p:nvSpPr>
          <p:cNvPr id="258" name="Rectangle 257"/>
          <p:cNvSpPr/>
          <p:nvPr/>
        </p:nvSpPr>
        <p:spPr>
          <a:xfrm>
            <a:off x="7554087" y="2948940"/>
            <a:ext cx="353187" cy="226314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9" name="TextBox 258"/>
          <p:cNvSpPr txBox="1"/>
          <p:nvPr/>
        </p:nvSpPr>
        <p:spPr>
          <a:xfrm>
            <a:off x="7540371" y="2935224"/>
            <a:ext cx="380619" cy="253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A5ABBD"/>
                </a:solidFill>
                <a:latin typeface="Segoe UI"/>
              </a:rPr>
              <a:t>–</a:t>
            </a:r>
          </a:p>
        </p:txBody>
      </p:sp>
      <p:sp>
        <p:nvSpPr>
          <p:cNvPr id="260" name="TextBox 259"/>
          <p:cNvSpPr txBox="1"/>
          <p:nvPr/>
        </p:nvSpPr>
        <p:spPr>
          <a:xfrm>
            <a:off x="7962138" y="2935224"/>
            <a:ext cx="370332" cy="253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56" b="1" i="0">
                <a:solidFill>
                  <a:srgbClr val="303A5D"/>
                </a:solidFill>
                <a:latin typeface="Segoe UI"/>
              </a:rPr>
              <a:t>5</a:t>
            </a:r>
          </a:p>
        </p:txBody>
      </p:sp>
      <p:sp>
        <p:nvSpPr>
          <p:cNvPr id="261" name="TextBox 260"/>
          <p:cNvSpPr txBox="1"/>
          <p:nvPr/>
        </p:nvSpPr>
        <p:spPr>
          <a:xfrm>
            <a:off x="8346186" y="2935224"/>
            <a:ext cx="370332" cy="253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56" b="1" i="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262" name="TextBox 261"/>
          <p:cNvSpPr txBox="1"/>
          <p:nvPr/>
        </p:nvSpPr>
        <p:spPr>
          <a:xfrm>
            <a:off x="425196" y="3202686"/>
            <a:ext cx="1337310" cy="1268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72" b="1" i="0">
                <a:solidFill>
                  <a:srgbClr val="303A5D"/>
                </a:solidFill>
                <a:latin typeface="Segoe UI"/>
              </a:rPr>
              <a:t>Ultra Pop</a:t>
            </a:r>
          </a:p>
        </p:txBody>
      </p:sp>
      <p:sp>
        <p:nvSpPr>
          <p:cNvPr id="263" name="TextBox 262"/>
          <p:cNvSpPr txBox="1"/>
          <p:nvPr/>
        </p:nvSpPr>
        <p:spPr>
          <a:xfrm>
            <a:off x="425196" y="3315843"/>
            <a:ext cx="1337310" cy="1268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Рис. крекери 60 г</a:t>
            </a:r>
          </a:p>
        </p:txBody>
      </p:sp>
      <p:sp>
        <p:nvSpPr>
          <p:cNvPr id="264" name="Rectangle 263"/>
          <p:cNvSpPr/>
          <p:nvPr/>
        </p:nvSpPr>
        <p:spPr>
          <a:xfrm>
            <a:off x="1844802" y="3202686"/>
            <a:ext cx="353187" cy="226314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5" name="TextBox 264"/>
          <p:cNvSpPr txBox="1"/>
          <p:nvPr/>
        </p:nvSpPr>
        <p:spPr>
          <a:xfrm>
            <a:off x="1831086" y="3188970"/>
            <a:ext cx="380619" cy="253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A5ABBD"/>
                </a:solidFill>
                <a:latin typeface="Segoe UI"/>
              </a:rPr>
              <a:t>–</a:t>
            </a:r>
          </a:p>
        </p:txBody>
      </p:sp>
      <p:sp>
        <p:nvSpPr>
          <p:cNvPr id="266" name="Rectangle 265"/>
          <p:cNvSpPr/>
          <p:nvPr/>
        </p:nvSpPr>
        <p:spPr>
          <a:xfrm>
            <a:off x="2225421" y="3202686"/>
            <a:ext cx="353187" cy="226314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7" name="TextBox 266"/>
          <p:cNvSpPr txBox="1"/>
          <p:nvPr/>
        </p:nvSpPr>
        <p:spPr>
          <a:xfrm>
            <a:off x="2211705" y="3188970"/>
            <a:ext cx="380619" cy="253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A5ABBD"/>
                </a:solidFill>
                <a:latin typeface="Segoe UI"/>
              </a:rPr>
              <a:t>–</a:t>
            </a:r>
          </a:p>
        </p:txBody>
      </p:sp>
      <p:sp>
        <p:nvSpPr>
          <p:cNvPr id="268" name="Rectangle 267"/>
          <p:cNvSpPr/>
          <p:nvPr/>
        </p:nvSpPr>
        <p:spPr>
          <a:xfrm>
            <a:off x="2606040" y="3202686"/>
            <a:ext cx="353187" cy="226314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9" name="TextBox 268"/>
          <p:cNvSpPr txBox="1"/>
          <p:nvPr/>
        </p:nvSpPr>
        <p:spPr>
          <a:xfrm>
            <a:off x="2592324" y="3188970"/>
            <a:ext cx="380619" cy="253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A5ABBD"/>
                </a:solidFill>
                <a:latin typeface="Segoe UI"/>
              </a:rPr>
              <a:t>–</a:t>
            </a:r>
          </a:p>
        </p:txBody>
      </p:sp>
      <p:sp>
        <p:nvSpPr>
          <p:cNvPr id="270" name="Rectangle 269"/>
          <p:cNvSpPr/>
          <p:nvPr/>
        </p:nvSpPr>
        <p:spPr>
          <a:xfrm>
            <a:off x="2986659" y="3202686"/>
            <a:ext cx="353187" cy="226314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1" name="TextBox 270"/>
          <p:cNvSpPr txBox="1"/>
          <p:nvPr/>
        </p:nvSpPr>
        <p:spPr>
          <a:xfrm>
            <a:off x="2972943" y="3188970"/>
            <a:ext cx="380619" cy="253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A5ABBD"/>
                </a:solidFill>
                <a:latin typeface="Segoe UI"/>
              </a:rPr>
              <a:t>–</a:t>
            </a:r>
          </a:p>
        </p:txBody>
      </p:sp>
      <p:sp>
        <p:nvSpPr>
          <p:cNvPr id="272" name="Rectangle 271"/>
          <p:cNvSpPr/>
          <p:nvPr/>
        </p:nvSpPr>
        <p:spPr>
          <a:xfrm>
            <a:off x="3367278" y="3202686"/>
            <a:ext cx="353187" cy="226314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3" name="TextBox 272"/>
          <p:cNvSpPr txBox="1"/>
          <p:nvPr/>
        </p:nvSpPr>
        <p:spPr>
          <a:xfrm>
            <a:off x="3353562" y="3188970"/>
            <a:ext cx="380619" cy="253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A5ABBD"/>
                </a:solidFill>
                <a:latin typeface="Segoe UI"/>
              </a:rPr>
              <a:t>–</a:t>
            </a:r>
          </a:p>
        </p:txBody>
      </p:sp>
      <p:sp>
        <p:nvSpPr>
          <p:cNvPr id="274" name="Rectangle 273"/>
          <p:cNvSpPr/>
          <p:nvPr/>
        </p:nvSpPr>
        <p:spPr>
          <a:xfrm>
            <a:off x="3747897" y="3202686"/>
            <a:ext cx="353187" cy="226314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5" name="TextBox 274"/>
          <p:cNvSpPr txBox="1"/>
          <p:nvPr/>
        </p:nvSpPr>
        <p:spPr>
          <a:xfrm>
            <a:off x="3734181" y="3188970"/>
            <a:ext cx="380619" cy="253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A5ABBD"/>
                </a:solidFill>
                <a:latin typeface="Segoe UI"/>
              </a:rPr>
              <a:t>–</a:t>
            </a:r>
          </a:p>
        </p:txBody>
      </p:sp>
      <p:sp>
        <p:nvSpPr>
          <p:cNvPr id="276" name="Rectangle 275"/>
          <p:cNvSpPr/>
          <p:nvPr/>
        </p:nvSpPr>
        <p:spPr>
          <a:xfrm>
            <a:off x="4128516" y="3202686"/>
            <a:ext cx="353187" cy="226314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7" name="TextBox 276"/>
          <p:cNvSpPr txBox="1"/>
          <p:nvPr/>
        </p:nvSpPr>
        <p:spPr>
          <a:xfrm>
            <a:off x="4114800" y="3188970"/>
            <a:ext cx="380619" cy="253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A5ABBD"/>
                </a:solidFill>
                <a:latin typeface="Segoe UI"/>
              </a:rPr>
              <a:t>–</a:t>
            </a:r>
          </a:p>
        </p:txBody>
      </p:sp>
      <p:sp>
        <p:nvSpPr>
          <p:cNvPr id="278" name="Rectangle 277"/>
          <p:cNvSpPr/>
          <p:nvPr/>
        </p:nvSpPr>
        <p:spPr>
          <a:xfrm>
            <a:off x="4509135" y="3202686"/>
            <a:ext cx="353187" cy="226314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9" name="TextBox 278"/>
          <p:cNvSpPr txBox="1"/>
          <p:nvPr/>
        </p:nvSpPr>
        <p:spPr>
          <a:xfrm>
            <a:off x="4495419" y="3188970"/>
            <a:ext cx="380619" cy="253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A5ABBD"/>
                </a:solidFill>
                <a:latin typeface="Segoe UI"/>
              </a:rPr>
              <a:t>–</a:t>
            </a:r>
          </a:p>
        </p:txBody>
      </p:sp>
      <p:sp>
        <p:nvSpPr>
          <p:cNvPr id="280" name="Rectangle 279"/>
          <p:cNvSpPr/>
          <p:nvPr/>
        </p:nvSpPr>
        <p:spPr>
          <a:xfrm>
            <a:off x="4889754" y="3202686"/>
            <a:ext cx="353187" cy="226314"/>
          </a:xfrm>
          <a:prstGeom prst="rect">
            <a:avLst/>
          </a:prstGeom>
          <a:solidFill>
            <a:srgbClr val="555E7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1" name="TextBox 280"/>
          <p:cNvSpPr txBox="1"/>
          <p:nvPr/>
        </p:nvSpPr>
        <p:spPr>
          <a:xfrm>
            <a:off x="4876038" y="3188970"/>
            <a:ext cx="380619" cy="253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20" b="1" i="0">
                <a:solidFill>
                  <a:srgbClr val="FFFFFF"/>
                </a:solidFill>
                <a:latin typeface="Segoe UI"/>
              </a:rPr>
              <a:t>148</a:t>
            </a:r>
          </a:p>
        </p:txBody>
      </p:sp>
      <p:sp>
        <p:nvSpPr>
          <p:cNvPr id="282" name="Rectangle 281"/>
          <p:cNvSpPr/>
          <p:nvPr/>
        </p:nvSpPr>
        <p:spPr>
          <a:xfrm>
            <a:off x="5270373" y="3202686"/>
            <a:ext cx="353187" cy="226314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3" name="TextBox 282"/>
          <p:cNvSpPr txBox="1"/>
          <p:nvPr/>
        </p:nvSpPr>
        <p:spPr>
          <a:xfrm>
            <a:off x="5256657" y="3188970"/>
            <a:ext cx="380619" cy="253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A5ABBD"/>
                </a:solidFill>
                <a:latin typeface="Segoe UI"/>
              </a:rPr>
              <a:t>–</a:t>
            </a:r>
          </a:p>
        </p:txBody>
      </p:sp>
      <p:sp>
        <p:nvSpPr>
          <p:cNvPr id="284" name="Rectangle 283"/>
          <p:cNvSpPr/>
          <p:nvPr/>
        </p:nvSpPr>
        <p:spPr>
          <a:xfrm>
            <a:off x="5650992" y="3202686"/>
            <a:ext cx="353187" cy="226314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5" name="TextBox 284"/>
          <p:cNvSpPr txBox="1"/>
          <p:nvPr/>
        </p:nvSpPr>
        <p:spPr>
          <a:xfrm>
            <a:off x="5637276" y="3188970"/>
            <a:ext cx="380619" cy="253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A5ABBD"/>
                </a:solidFill>
                <a:latin typeface="Segoe UI"/>
              </a:rPr>
              <a:t>–</a:t>
            </a:r>
          </a:p>
        </p:txBody>
      </p:sp>
      <p:sp>
        <p:nvSpPr>
          <p:cNvPr id="286" name="Rectangle 285"/>
          <p:cNvSpPr/>
          <p:nvPr/>
        </p:nvSpPr>
        <p:spPr>
          <a:xfrm>
            <a:off x="6031611" y="3202686"/>
            <a:ext cx="353187" cy="226314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7" name="TextBox 286"/>
          <p:cNvSpPr txBox="1"/>
          <p:nvPr/>
        </p:nvSpPr>
        <p:spPr>
          <a:xfrm>
            <a:off x="6017895" y="3188970"/>
            <a:ext cx="380619" cy="253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A5ABBD"/>
                </a:solidFill>
                <a:latin typeface="Segoe UI"/>
              </a:rPr>
              <a:t>–</a:t>
            </a:r>
          </a:p>
        </p:txBody>
      </p:sp>
      <p:sp>
        <p:nvSpPr>
          <p:cNvPr id="288" name="Rectangle 287"/>
          <p:cNvSpPr/>
          <p:nvPr/>
        </p:nvSpPr>
        <p:spPr>
          <a:xfrm>
            <a:off x="6412230" y="3202686"/>
            <a:ext cx="353187" cy="226314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9" name="TextBox 288"/>
          <p:cNvSpPr txBox="1"/>
          <p:nvPr/>
        </p:nvSpPr>
        <p:spPr>
          <a:xfrm>
            <a:off x="6398514" y="3188970"/>
            <a:ext cx="380619" cy="253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A5ABBD"/>
                </a:solidFill>
                <a:latin typeface="Segoe UI"/>
              </a:rPr>
              <a:t>–</a:t>
            </a:r>
          </a:p>
        </p:txBody>
      </p:sp>
      <p:sp>
        <p:nvSpPr>
          <p:cNvPr id="290" name="Rectangle 289"/>
          <p:cNvSpPr/>
          <p:nvPr/>
        </p:nvSpPr>
        <p:spPr>
          <a:xfrm>
            <a:off x="6792849" y="3202686"/>
            <a:ext cx="353187" cy="226314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1" name="TextBox 290"/>
          <p:cNvSpPr txBox="1"/>
          <p:nvPr/>
        </p:nvSpPr>
        <p:spPr>
          <a:xfrm>
            <a:off x="6779133" y="3188970"/>
            <a:ext cx="380619" cy="253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A5ABBD"/>
                </a:solidFill>
                <a:latin typeface="Segoe UI"/>
              </a:rPr>
              <a:t>–</a:t>
            </a:r>
          </a:p>
        </p:txBody>
      </p:sp>
      <p:sp>
        <p:nvSpPr>
          <p:cNvPr id="292" name="Rectangle 291"/>
          <p:cNvSpPr/>
          <p:nvPr/>
        </p:nvSpPr>
        <p:spPr>
          <a:xfrm>
            <a:off x="7173468" y="3202686"/>
            <a:ext cx="353187" cy="226314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3" name="TextBox 292"/>
          <p:cNvSpPr txBox="1"/>
          <p:nvPr/>
        </p:nvSpPr>
        <p:spPr>
          <a:xfrm>
            <a:off x="7159752" y="3188970"/>
            <a:ext cx="380619" cy="253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A5ABBD"/>
                </a:solidFill>
                <a:latin typeface="Segoe UI"/>
              </a:rPr>
              <a:t>–</a:t>
            </a:r>
          </a:p>
        </p:txBody>
      </p:sp>
      <p:sp>
        <p:nvSpPr>
          <p:cNvPr id="294" name="Rectangle 293"/>
          <p:cNvSpPr/>
          <p:nvPr/>
        </p:nvSpPr>
        <p:spPr>
          <a:xfrm>
            <a:off x="7554087" y="3202686"/>
            <a:ext cx="353187" cy="226314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5" name="TextBox 294"/>
          <p:cNvSpPr txBox="1"/>
          <p:nvPr/>
        </p:nvSpPr>
        <p:spPr>
          <a:xfrm>
            <a:off x="7540371" y="3188970"/>
            <a:ext cx="380619" cy="253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A5ABBD"/>
                </a:solidFill>
                <a:latin typeface="Segoe UI"/>
              </a:rPr>
              <a:t>–</a:t>
            </a:r>
          </a:p>
        </p:txBody>
      </p:sp>
      <p:sp>
        <p:nvSpPr>
          <p:cNvPr id="296" name="TextBox 295"/>
          <p:cNvSpPr txBox="1"/>
          <p:nvPr/>
        </p:nvSpPr>
        <p:spPr>
          <a:xfrm>
            <a:off x="7962138" y="3188970"/>
            <a:ext cx="370332" cy="253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56" b="1" i="0">
                <a:solidFill>
                  <a:srgbClr val="303A5D"/>
                </a:solidFill>
                <a:latin typeface="Segoe UI"/>
              </a:rPr>
              <a:t>5</a:t>
            </a:r>
          </a:p>
        </p:txBody>
      </p:sp>
      <p:sp>
        <p:nvSpPr>
          <p:cNvPr id="297" name="TextBox 296"/>
          <p:cNvSpPr txBox="1"/>
          <p:nvPr/>
        </p:nvSpPr>
        <p:spPr>
          <a:xfrm>
            <a:off x="8346186" y="3188970"/>
            <a:ext cx="370332" cy="253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56" b="1" i="0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298" name="TextBox 297"/>
          <p:cNvSpPr txBox="1"/>
          <p:nvPr/>
        </p:nvSpPr>
        <p:spPr>
          <a:xfrm>
            <a:off x="425196" y="3456432"/>
            <a:ext cx="1337310" cy="1268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72" b="1" i="0">
                <a:solidFill>
                  <a:srgbClr val="303A5D"/>
                </a:solidFill>
                <a:latin typeface="Segoe UI"/>
              </a:rPr>
              <a:t>Haelove</a:t>
            </a:r>
          </a:p>
        </p:txBody>
      </p:sp>
      <p:sp>
        <p:nvSpPr>
          <p:cNvPr id="299" name="TextBox 298"/>
          <p:cNvSpPr txBox="1"/>
          <p:nvPr/>
        </p:nvSpPr>
        <p:spPr>
          <a:xfrm>
            <a:off x="425196" y="3569589"/>
            <a:ext cx="1337310" cy="1268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Міні-пакет 4,5 г</a:t>
            </a:r>
          </a:p>
        </p:txBody>
      </p:sp>
      <p:sp>
        <p:nvSpPr>
          <p:cNvPr id="300" name="Rectangle 299"/>
          <p:cNvSpPr/>
          <p:nvPr/>
        </p:nvSpPr>
        <p:spPr>
          <a:xfrm>
            <a:off x="1844802" y="3456432"/>
            <a:ext cx="353187" cy="226314"/>
          </a:xfrm>
          <a:prstGeom prst="rect">
            <a:avLst/>
          </a:prstGeom>
          <a:solidFill>
            <a:srgbClr val="69718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1" name="TextBox 300"/>
          <p:cNvSpPr txBox="1"/>
          <p:nvPr/>
        </p:nvSpPr>
        <p:spPr>
          <a:xfrm>
            <a:off x="1831086" y="3442716"/>
            <a:ext cx="380619" cy="253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20" b="1" i="0">
                <a:solidFill>
                  <a:srgbClr val="FFFFFF"/>
                </a:solidFill>
                <a:latin typeface="Segoe UI"/>
              </a:rPr>
              <a:t>43</a:t>
            </a:r>
          </a:p>
        </p:txBody>
      </p:sp>
      <p:sp>
        <p:nvSpPr>
          <p:cNvPr id="302" name="Rectangle 301"/>
          <p:cNvSpPr/>
          <p:nvPr/>
        </p:nvSpPr>
        <p:spPr>
          <a:xfrm>
            <a:off x="2225421" y="3456432"/>
            <a:ext cx="353187" cy="226314"/>
          </a:xfrm>
          <a:prstGeom prst="rect">
            <a:avLst/>
          </a:prstGeom>
          <a:solidFill>
            <a:srgbClr val="69718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3" name="TextBox 302"/>
          <p:cNvSpPr txBox="1"/>
          <p:nvPr/>
        </p:nvSpPr>
        <p:spPr>
          <a:xfrm>
            <a:off x="2211705" y="3442716"/>
            <a:ext cx="380619" cy="253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20" b="1" i="0">
                <a:solidFill>
                  <a:srgbClr val="FFFFFF"/>
                </a:solidFill>
                <a:latin typeface="Segoe UI"/>
              </a:rPr>
              <a:t>43</a:t>
            </a:r>
          </a:p>
        </p:txBody>
      </p:sp>
      <p:sp>
        <p:nvSpPr>
          <p:cNvPr id="304" name="Rectangle 303"/>
          <p:cNvSpPr/>
          <p:nvPr/>
        </p:nvSpPr>
        <p:spPr>
          <a:xfrm>
            <a:off x="2606040" y="3456432"/>
            <a:ext cx="353187" cy="226314"/>
          </a:xfrm>
          <a:prstGeom prst="rect">
            <a:avLst/>
          </a:prstGeom>
          <a:solidFill>
            <a:srgbClr val="69718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5" name="TextBox 304"/>
          <p:cNvSpPr txBox="1"/>
          <p:nvPr/>
        </p:nvSpPr>
        <p:spPr>
          <a:xfrm>
            <a:off x="2592324" y="3442716"/>
            <a:ext cx="380619" cy="253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20" b="1" i="0">
                <a:solidFill>
                  <a:srgbClr val="FFFFFF"/>
                </a:solidFill>
                <a:latin typeface="Segoe UI"/>
              </a:rPr>
              <a:t>43</a:t>
            </a:r>
          </a:p>
        </p:txBody>
      </p:sp>
      <p:sp>
        <p:nvSpPr>
          <p:cNvPr id="306" name="Rectangle 305"/>
          <p:cNvSpPr/>
          <p:nvPr/>
        </p:nvSpPr>
        <p:spPr>
          <a:xfrm>
            <a:off x="2986659" y="3456432"/>
            <a:ext cx="353187" cy="226314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7" name="TextBox 306"/>
          <p:cNvSpPr txBox="1"/>
          <p:nvPr/>
        </p:nvSpPr>
        <p:spPr>
          <a:xfrm>
            <a:off x="2972943" y="3442716"/>
            <a:ext cx="380619" cy="253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A5ABBD"/>
                </a:solidFill>
                <a:latin typeface="Segoe UI"/>
              </a:rPr>
              <a:t>–</a:t>
            </a:r>
          </a:p>
        </p:txBody>
      </p:sp>
      <p:sp>
        <p:nvSpPr>
          <p:cNvPr id="308" name="Rectangle 307"/>
          <p:cNvSpPr/>
          <p:nvPr/>
        </p:nvSpPr>
        <p:spPr>
          <a:xfrm>
            <a:off x="3367278" y="3456432"/>
            <a:ext cx="353187" cy="226314"/>
          </a:xfrm>
          <a:prstGeom prst="rect">
            <a:avLst/>
          </a:prstGeom>
          <a:solidFill>
            <a:srgbClr val="69718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9" name="TextBox 308"/>
          <p:cNvSpPr txBox="1"/>
          <p:nvPr/>
        </p:nvSpPr>
        <p:spPr>
          <a:xfrm>
            <a:off x="3353562" y="3442716"/>
            <a:ext cx="380619" cy="253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20" b="1" i="0">
                <a:solidFill>
                  <a:srgbClr val="FFFFFF"/>
                </a:solidFill>
                <a:latin typeface="Segoe UI"/>
              </a:rPr>
              <a:t>43</a:t>
            </a:r>
          </a:p>
        </p:txBody>
      </p:sp>
      <p:sp>
        <p:nvSpPr>
          <p:cNvPr id="310" name="Rectangle 309"/>
          <p:cNvSpPr/>
          <p:nvPr/>
        </p:nvSpPr>
        <p:spPr>
          <a:xfrm>
            <a:off x="3747897" y="3456432"/>
            <a:ext cx="353187" cy="226314"/>
          </a:xfrm>
          <a:prstGeom prst="rect">
            <a:avLst/>
          </a:prstGeom>
          <a:solidFill>
            <a:srgbClr val="69718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1" name="TextBox 310"/>
          <p:cNvSpPr txBox="1"/>
          <p:nvPr/>
        </p:nvSpPr>
        <p:spPr>
          <a:xfrm>
            <a:off x="3734181" y="3442716"/>
            <a:ext cx="380619" cy="253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20" b="1" i="0">
                <a:solidFill>
                  <a:srgbClr val="FFFFFF"/>
                </a:solidFill>
                <a:latin typeface="Segoe UI"/>
              </a:rPr>
              <a:t>43</a:t>
            </a:r>
          </a:p>
        </p:txBody>
      </p:sp>
      <p:sp>
        <p:nvSpPr>
          <p:cNvPr id="312" name="Rectangle 311"/>
          <p:cNvSpPr/>
          <p:nvPr/>
        </p:nvSpPr>
        <p:spPr>
          <a:xfrm>
            <a:off x="4128516" y="3456432"/>
            <a:ext cx="353187" cy="226314"/>
          </a:xfrm>
          <a:prstGeom prst="rect">
            <a:avLst/>
          </a:prstGeom>
          <a:solidFill>
            <a:srgbClr val="69718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3" name="TextBox 312"/>
          <p:cNvSpPr txBox="1"/>
          <p:nvPr/>
        </p:nvSpPr>
        <p:spPr>
          <a:xfrm>
            <a:off x="4114800" y="3442716"/>
            <a:ext cx="380619" cy="253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20" b="1" i="0">
                <a:solidFill>
                  <a:srgbClr val="FFFFFF"/>
                </a:solidFill>
                <a:latin typeface="Segoe UI"/>
              </a:rPr>
              <a:t>43</a:t>
            </a:r>
          </a:p>
        </p:txBody>
      </p:sp>
      <p:sp>
        <p:nvSpPr>
          <p:cNvPr id="314" name="Rectangle 313"/>
          <p:cNvSpPr/>
          <p:nvPr/>
        </p:nvSpPr>
        <p:spPr>
          <a:xfrm>
            <a:off x="4509135" y="3456432"/>
            <a:ext cx="353187" cy="226314"/>
          </a:xfrm>
          <a:prstGeom prst="rect">
            <a:avLst/>
          </a:prstGeom>
          <a:solidFill>
            <a:srgbClr val="7C849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5" name="TextBox 314"/>
          <p:cNvSpPr txBox="1"/>
          <p:nvPr/>
        </p:nvSpPr>
        <p:spPr>
          <a:xfrm>
            <a:off x="4495419" y="3442716"/>
            <a:ext cx="380619" cy="253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20" b="1" i="0">
                <a:solidFill>
                  <a:srgbClr val="FFFFFF"/>
                </a:solidFill>
                <a:latin typeface="Segoe UI"/>
              </a:rPr>
              <a:t>43</a:t>
            </a:r>
          </a:p>
        </p:txBody>
      </p:sp>
      <p:sp>
        <p:nvSpPr>
          <p:cNvPr id="316" name="Rectangle 315"/>
          <p:cNvSpPr/>
          <p:nvPr/>
        </p:nvSpPr>
        <p:spPr>
          <a:xfrm>
            <a:off x="4889754" y="3456432"/>
            <a:ext cx="353187" cy="226314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7" name="TextBox 316"/>
          <p:cNvSpPr txBox="1"/>
          <p:nvPr/>
        </p:nvSpPr>
        <p:spPr>
          <a:xfrm>
            <a:off x="4876038" y="3442716"/>
            <a:ext cx="380619" cy="253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A5ABBD"/>
                </a:solidFill>
                <a:latin typeface="Segoe UI"/>
              </a:rPr>
              <a:t>–</a:t>
            </a:r>
          </a:p>
        </p:txBody>
      </p:sp>
      <p:sp>
        <p:nvSpPr>
          <p:cNvPr id="318" name="Rectangle 317"/>
          <p:cNvSpPr/>
          <p:nvPr/>
        </p:nvSpPr>
        <p:spPr>
          <a:xfrm>
            <a:off x="5270373" y="3456432"/>
            <a:ext cx="353187" cy="226314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9" name="TextBox 318"/>
          <p:cNvSpPr txBox="1"/>
          <p:nvPr/>
        </p:nvSpPr>
        <p:spPr>
          <a:xfrm>
            <a:off x="5256657" y="3442716"/>
            <a:ext cx="380619" cy="253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A5ABBD"/>
                </a:solidFill>
                <a:latin typeface="Segoe UI"/>
              </a:rPr>
              <a:t>–</a:t>
            </a:r>
          </a:p>
        </p:txBody>
      </p:sp>
      <p:sp>
        <p:nvSpPr>
          <p:cNvPr id="320" name="Rectangle 319"/>
          <p:cNvSpPr/>
          <p:nvPr/>
        </p:nvSpPr>
        <p:spPr>
          <a:xfrm>
            <a:off x="5650992" y="3456432"/>
            <a:ext cx="353187" cy="226314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1" name="TextBox 320"/>
          <p:cNvSpPr txBox="1"/>
          <p:nvPr/>
        </p:nvSpPr>
        <p:spPr>
          <a:xfrm>
            <a:off x="5637276" y="3442716"/>
            <a:ext cx="380619" cy="253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A5ABBD"/>
                </a:solidFill>
                <a:latin typeface="Segoe UI"/>
              </a:rPr>
              <a:t>–</a:t>
            </a:r>
          </a:p>
        </p:txBody>
      </p:sp>
      <p:sp>
        <p:nvSpPr>
          <p:cNvPr id="322" name="Rectangle 321"/>
          <p:cNvSpPr/>
          <p:nvPr/>
        </p:nvSpPr>
        <p:spPr>
          <a:xfrm>
            <a:off x="6031611" y="3456432"/>
            <a:ext cx="353187" cy="226314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3" name="TextBox 322"/>
          <p:cNvSpPr txBox="1"/>
          <p:nvPr/>
        </p:nvSpPr>
        <p:spPr>
          <a:xfrm>
            <a:off x="6017895" y="3442716"/>
            <a:ext cx="380619" cy="253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A5ABBD"/>
                </a:solidFill>
                <a:latin typeface="Segoe UI"/>
              </a:rPr>
              <a:t>–</a:t>
            </a:r>
          </a:p>
        </p:txBody>
      </p:sp>
      <p:sp>
        <p:nvSpPr>
          <p:cNvPr id="324" name="Rectangle 323"/>
          <p:cNvSpPr/>
          <p:nvPr/>
        </p:nvSpPr>
        <p:spPr>
          <a:xfrm>
            <a:off x="6412230" y="3456432"/>
            <a:ext cx="353187" cy="226314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5" name="TextBox 324"/>
          <p:cNvSpPr txBox="1"/>
          <p:nvPr/>
        </p:nvSpPr>
        <p:spPr>
          <a:xfrm>
            <a:off x="6398514" y="3442716"/>
            <a:ext cx="380619" cy="253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A5ABBD"/>
                </a:solidFill>
                <a:latin typeface="Segoe UI"/>
              </a:rPr>
              <a:t>–</a:t>
            </a:r>
          </a:p>
        </p:txBody>
      </p:sp>
      <p:sp>
        <p:nvSpPr>
          <p:cNvPr id="326" name="Rectangle 325"/>
          <p:cNvSpPr/>
          <p:nvPr/>
        </p:nvSpPr>
        <p:spPr>
          <a:xfrm>
            <a:off x="6792849" y="3456432"/>
            <a:ext cx="353187" cy="226314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7" name="TextBox 326"/>
          <p:cNvSpPr txBox="1"/>
          <p:nvPr/>
        </p:nvSpPr>
        <p:spPr>
          <a:xfrm>
            <a:off x="6779133" y="3442716"/>
            <a:ext cx="380619" cy="253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A5ABBD"/>
                </a:solidFill>
                <a:latin typeface="Segoe UI"/>
              </a:rPr>
              <a:t>–</a:t>
            </a:r>
          </a:p>
        </p:txBody>
      </p:sp>
      <p:sp>
        <p:nvSpPr>
          <p:cNvPr id="328" name="Rectangle 327"/>
          <p:cNvSpPr/>
          <p:nvPr/>
        </p:nvSpPr>
        <p:spPr>
          <a:xfrm>
            <a:off x="7173468" y="3456432"/>
            <a:ext cx="353187" cy="226314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9" name="TextBox 328"/>
          <p:cNvSpPr txBox="1"/>
          <p:nvPr/>
        </p:nvSpPr>
        <p:spPr>
          <a:xfrm>
            <a:off x="7159752" y="3442716"/>
            <a:ext cx="380619" cy="253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A5ABBD"/>
                </a:solidFill>
                <a:latin typeface="Segoe UI"/>
              </a:rPr>
              <a:t>–</a:t>
            </a:r>
          </a:p>
        </p:txBody>
      </p:sp>
      <p:sp>
        <p:nvSpPr>
          <p:cNvPr id="330" name="Rectangle 329"/>
          <p:cNvSpPr/>
          <p:nvPr/>
        </p:nvSpPr>
        <p:spPr>
          <a:xfrm>
            <a:off x="7554087" y="3456432"/>
            <a:ext cx="353187" cy="226314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1" name="TextBox 330"/>
          <p:cNvSpPr txBox="1"/>
          <p:nvPr/>
        </p:nvSpPr>
        <p:spPr>
          <a:xfrm>
            <a:off x="7540371" y="3442716"/>
            <a:ext cx="380619" cy="253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A5ABBD"/>
                </a:solidFill>
                <a:latin typeface="Segoe UI"/>
              </a:rPr>
              <a:t>–</a:t>
            </a:r>
          </a:p>
        </p:txBody>
      </p:sp>
      <p:sp>
        <p:nvSpPr>
          <p:cNvPr id="332" name="TextBox 331"/>
          <p:cNvSpPr txBox="1"/>
          <p:nvPr/>
        </p:nvSpPr>
        <p:spPr>
          <a:xfrm>
            <a:off x="7962138" y="3442716"/>
            <a:ext cx="370332" cy="253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56" b="1" i="0">
                <a:solidFill>
                  <a:srgbClr val="303A5D"/>
                </a:solidFill>
                <a:latin typeface="Segoe UI"/>
              </a:rPr>
              <a:t>4</a:t>
            </a:r>
          </a:p>
        </p:txBody>
      </p:sp>
      <p:sp>
        <p:nvSpPr>
          <p:cNvPr id="333" name="TextBox 332"/>
          <p:cNvSpPr txBox="1"/>
          <p:nvPr/>
        </p:nvSpPr>
        <p:spPr>
          <a:xfrm>
            <a:off x="8346186" y="3442716"/>
            <a:ext cx="370332" cy="253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56" b="1" i="0">
                <a:solidFill>
                  <a:srgbClr val="303A5D"/>
                </a:solidFill>
                <a:latin typeface="Segoe UI"/>
              </a:rPr>
              <a:t>7</a:t>
            </a:r>
          </a:p>
        </p:txBody>
      </p:sp>
      <p:sp>
        <p:nvSpPr>
          <p:cNvPr id="334" name="TextBox 333"/>
          <p:cNvSpPr txBox="1"/>
          <p:nvPr/>
        </p:nvSpPr>
        <p:spPr>
          <a:xfrm>
            <a:off x="425196" y="3710178"/>
            <a:ext cx="1337310" cy="1268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72" b="1" i="0">
                <a:solidFill>
                  <a:srgbClr val="303A5D"/>
                </a:solidFill>
                <a:latin typeface="Segoe UI"/>
              </a:rPr>
              <a:t>Ямчан</a:t>
            </a:r>
          </a:p>
        </p:txBody>
      </p:sp>
      <p:sp>
        <p:nvSpPr>
          <p:cNvPr id="335" name="TextBox 334"/>
          <p:cNvSpPr txBox="1"/>
          <p:nvPr/>
        </p:nvSpPr>
        <p:spPr>
          <a:xfrm>
            <a:off x="425196" y="3823335"/>
            <a:ext cx="1337310" cy="1268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Міні-пакет 4,5 г</a:t>
            </a:r>
          </a:p>
        </p:txBody>
      </p:sp>
      <p:sp>
        <p:nvSpPr>
          <p:cNvPr id="336" name="Rectangle 335"/>
          <p:cNvSpPr/>
          <p:nvPr/>
        </p:nvSpPr>
        <p:spPr>
          <a:xfrm>
            <a:off x="1844802" y="3710178"/>
            <a:ext cx="353187" cy="226314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7" name="TextBox 336"/>
          <p:cNvSpPr txBox="1"/>
          <p:nvPr/>
        </p:nvSpPr>
        <p:spPr>
          <a:xfrm>
            <a:off x="1831086" y="3696462"/>
            <a:ext cx="380619" cy="253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A5ABBD"/>
                </a:solidFill>
                <a:latin typeface="Segoe UI"/>
              </a:rPr>
              <a:t>–</a:t>
            </a:r>
          </a:p>
        </p:txBody>
      </p:sp>
      <p:sp>
        <p:nvSpPr>
          <p:cNvPr id="338" name="Rectangle 337"/>
          <p:cNvSpPr/>
          <p:nvPr/>
        </p:nvSpPr>
        <p:spPr>
          <a:xfrm>
            <a:off x="2225421" y="3710178"/>
            <a:ext cx="353187" cy="226314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9" name="TextBox 338"/>
          <p:cNvSpPr txBox="1"/>
          <p:nvPr/>
        </p:nvSpPr>
        <p:spPr>
          <a:xfrm>
            <a:off x="2211705" y="3696462"/>
            <a:ext cx="380619" cy="253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A5ABBD"/>
                </a:solidFill>
                <a:latin typeface="Segoe UI"/>
              </a:rPr>
              <a:t>–</a:t>
            </a:r>
          </a:p>
        </p:txBody>
      </p:sp>
      <p:sp>
        <p:nvSpPr>
          <p:cNvPr id="340" name="Rectangle 339"/>
          <p:cNvSpPr/>
          <p:nvPr/>
        </p:nvSpPr>
        <p:spPr>
          <a:xfrm>
            <a:off x="2606040" y="3710178"/>
            <a:ext cx="353187" cy="226314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1" name="TextBox 340"/>
          <p:cNvSpPr txBox="1"/>
          <p:nvPr/>
        </p:nvSpPr>
        <p:spPr>
          <a:xfrm>
            <a:off x="2592324" y="3696462"/>
            <a:ext cx="380619" cy="253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A5ABBD"/>
                </a:solidFill>
                <a:latin typeface="Segoe UI"/>
              </a:rPr>
              <a:t>–</a:t>
            </a:r>
          </a:p>
        </p:txBody>
      </p:sp>
      <p:sp>
        <p:nvSpPr>
          <p:cNvPr id="342" name="Rectangle 341"/>
          <p:cNvSpPr/>
          <p:nvPr/>
        </p:nvSpPr>
        <p:spPr>
          <a:xfrm>
            <a:off x="2986659" y="3710178"/>
            <a:ext cx="353187" cy="226314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3" name="TextBox 342"/>
          <p:cNvSpPr txBox="1"/>
          <p:nvPr/>
        </p:nvSpPr>
        <p:spPr>
          <a:xfrm>
            <a:off x="2972943" y="3696462"/>
            <a:ext cx="380619" cy="253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A5ABBD"/>
                </a:solidFill>
                <a:latin typeface="Segoe UI"/>
              </a:rPr>
              <a:t>–</a:t>
            </a:r>
          </a:p>
        </p:txBody>
      </p:sp>
      <p:sp>
        <p:nvSpPr>
          <p:cNvPr id="344" name="Rectangle 343"/>
          <p:cNvSpPr/>
          <p:nvPr/>
        </p:nvSpPr>
        <p:spPr>
          <a:xfrm>
            <a:off x="3367278" y="3710178"/>
            <a:ext cx="353187" cy="226314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5" name="TextBox 344"/>
          <p:cNvSpPr txBox="1"/>
          <p:nvPr/>
        </p:nvSpPr>
        <p:spPr>
          <a:xfrm>
            <a:off x="3353562" y="3696462"/>
            <a:ext cx="380619" cy="253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A5ABBD"/>
                </a:solidFill>
                <a:latin typeface="Segoe UI"/>
              </a:rPr>
              <a:t>–</a:t>
            </a:r>
          </a:p>
        </p:txBody>
      </p:sp>
      <p:sp>
        <p:nvSpPr>
          <p:cNvPr id="346" name="Rectangle 345"/>
          <p:cNvSpPr/>
          <p:nvPr/>
        </p:nvSpPr>
        <p:spPr>
          <a:xfrm>
            <a:off x="3747897" y="3710178"/>
            <a:ext cx="353187" cy="226314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7" name="TextBox 346"/>
          <p:cNvSpPr txBox="1"/>
          <p:nvPr/>
        </p:nvSpPr>
        <p:spPr>
          <a:xfrm>
            <a:off x="3734181" y="3696462"/>
            <a:ext cx="380619" cy="253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A5ABBD"/>
                </a:solidFill>
                <a:latin typeface="Segoe UI"/>
              </a:rPr>
              <a:t>–</a:t>
            </a:r>
          </a:p>
        </p:txBody>
      </p:sp>
      <p:sp>
        <p:nvSpPr>
          <p:cNvPr id="348" name="Rectangle 347"/>
          <p:cNvSpPr/>
          <p:nvPr/>
        </p:nvSpPr>
        <p:spPr>
          <a:xfrm>
            <a:off x="4128516" y="3710178"/>
            <a:ext cx="353187" cy="226314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9" name="TextBox 348"/>
          <p:cNvSpPr txBox="1"/>
          <p:nvPr/>
        </p:nvSpPr>
        <p:spPr>
          <a:xfrm>
            <a:off x="4114800" y="3696462"/>
            <a:ext cx="380619" cy="253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A5ABBD"/>
                </a:solidFill>
                <a:latin typeface="Segoe UI"/>
              </a:rPr>
              <a:t>–</a:t>
            </a:r>
          </a:p>
        </p:txBody>
      </p:sp>
      <p:sp>
        <p:nvSpPr>
          <p:cNvPr id="350" name="Rectangle 349"/>
          <p:cNvSpPr/>
          <p:nvPr/>
        </p:nvSpPr>
        <p:spPr>
          <a:xfrm>
            <a:off x="4509135" y="3710178"/>
            <a:ext cx="353187" cy="226314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1" name="TextBox 350"/>
          <p:cNvSpPr txBox="1"/>
          <p:nvPr/>
        </p:nvSpPr>
        <p:spPr>
          <a:xfrm>
            <a:off x="4495419" y="3696462"/>
            <a:ext cx="380619" cy="253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A5ABBD"/>
                </a:solidFill>
                <a:latin typeface="Segoe UI"/>
              </a:rPr>
              <a:t>–</a:t>
            </a:r>
          </a:p>
        </p:txBody>
      </p:sp>
      <p:sp>
        <p:nvSpPr>
          <p:cNvPr id="352" name="Rectangle 351"/>
          <p:cNvSpPr/>
          <p:nvPr/>
        </p:nvSpPr>
        <p:spPr>
          <a:xfrm>
            <a:off x="4889754" y="3710178"/>
            <a:ext cx="353187" cy="226314"/>
          </a:xfrm>
          <a:prstGeom prst="rect">
            <a:avLst/>
          </a:prstGeom>
          <a:solidFill>
            <a:srgbClr val="69718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3" name="TextBox 352"/>
          <p:cNvSpPr txBox="1"/>
          <p:nvPr/>
        </p:nvSpPr>
        <p:spPr>
          <a:xfrm>
            <a:off x="4876038" y="3696462"/>
            <a:ext cx="380619" cy="253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20" b="1" i="0">
                <a:solidFill>
                  <a:srgbClr val="FFFFFF"/>
                </a:solidFill>
                <a:latin typeface="Segoe UI"/>
              </a:rPr>
              <a:t>46</a:t>
            </a:r>
          </a:p>
        </p:txBody>
      </p:sp>
      <p:sp>
        <p:nvSpPr>
          <p:cNvPr id="354" name="Rectangle 353"/>
          <p:cNvSpPr/>
          <p:nvPr/>
        </p:nvSpPr>
        <p:spPr>
          <a:xfrm>
            <a:off x="5270373" y="3710178"/>
            <a:ext cx="353187" cy="226314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5" name="TextBox 354"/>
          <p:cNvSpPr txBox="1"/>
          <p:nvPr/>
        </p:nvSpPr>
        <p:spPr>
          <a:xfrm>
            <a:off x="5256657" y="3696462"/>
            <a:ext cx="380619" cy="253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A5ABBD"/>
                </a:solidFill>
                <a:latin typeface="Segoe UI"/>
              </a:rPr>
              <a:t>–</a:t>
            </a:r>
          </a:p>
        </p:txBody>
      </p:sp>
      <p:sp>
        <p:nvSpPr>
          <p:cNvPr id="356" name="Rectangle 355"/>
          <p:cNvSpPr/>
          <p:nvPr/>
        </p:nvSpPr>
        <p:spPr>
          <a:xfrm>
            <a:off x="5650992" y="3710178"/>
            <a:ext cx="353187" cy="226314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7" name="TextBox 356"/>
          <p:cNvSpPr txBox="1"/>
          <p:nvPr/>
        </p:nvSpPr>
        <p:spPr>
          <a:xfrm>
            <a:off x="5637276" y="3696462"/>
            <a:ext cx="380619" cy="253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A5ABBD"/>
                </a:solidFill>
                <a:latin typeface="Segoe UI"/>
              </a:rPr>
              <a:t>–</a:t>
            </a:r>
          </a:p>
        </p:txBody>
      </p:sp>
      <p:sp>
        <p:nvSpPr>
          <p:cNvPr id="358" name="Rectangle 357"/>
          <p:cNvSpPr/>
          <p:nvPr/>
        </p:nvSpPr>
        <p:spPr>
          <a:xfrm>
            <a:off x="6031611" y="3710178"/>
            <a:ext cx="353187" cy="226314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9" name="TextBox 358"/>
          <p:cNvSpPr txBox="1"/>
          <p:nvPr/>
        </p:nvSpPr>
        <p:spPr>
          <a:xfrm>
            <a:off x="6017895" y="3696462"/>
            <a:ext cx="380619" cy="253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A5ABBD"/>
                </a:solidFill>
                <a:latin typeface="Segoe UI"/>
              </a:rPr>
              <a:t>–</a:t>
            </a:r>
          </a:p>
        </p:txBody>
      </p:sp>
      <p:sp>
        <p:nvSpPr>
          <p:cNvPr id="360" name="Rectangle 359"/>
          <p:cNvSpPr/>
          <p:nvPr/>
        </p:nvSpPr>
        <p:spPr>
          <a:xfrm>
            <a:off x="6412230" y="3710178"/>
            <a:ext cx="353187" cy="226314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1" name="TextBox 360"/>
          <p:cNvSpPr txBox="1"/>
          <p:nvPr/>
        </p:nvSpPr>
        <p:spPr>
          <a:xfrm>
            <a:off x="6398514" y="3696462"/>
            <a:ext cx="380619" cy="253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A5ABBD"/>
                </a:solidFill>
                <a:latin typeface="Segoe UI"/>
              </a:rPr>
              <a:t>–</a:t>
            </a:r>
          </a:p>
        </p:txBody>
      </p:sp>
      <p:sp>
        <p:nvSpPr>
          <p:cNvPr id="362" name="Rectangle 361"/>
          <p:cNvSpPr/>
          <p:nvPr/>
        </p:nvSpPr>
        <p:spPr>
          <a:xfrm>
            <a:off x="6792849" y="3710178"/>
            <a:ext cx="353187" cy="226314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3" name="TextBox 362"/>
          <p:cNvSpPr txBox="1"/>
          <p:nvPr/>
        </p:nvSpPr>
        <p:spPr>
          <a:xfrm>
            <a:off x="6779133" y="3696462"/>
            <a:ext cx="380619" cy="253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A5ABBD"/>
                </a:solidFill>
                <a:latin typeface="Segoe UI"/>
              </a:rPr>
              <a:t>–</a:t>
            </a:r>
          </a:p>
        </p:txBody>
      </p:sp>
      <p:sp>
        <p:nvSpPr>
          <p:cNvPr id="364" name="Rectangle 363"/>
          <p:cNvSpPr/>
          <p:nvPr/>
        </p:nvSpPr>
        <p:spPr>
          <a:xfrm>
            <a:off x="7173468" y="3710178"/>
            <a:ext cx="353187" cy="226314"/>
          </a:xfrm>
          <a:prstGeom prst="rect">
            <a:avLst/>
          </a:prstGeom>
          <a:solidFill>
            <a:srgbClr val="69718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5" name="TextBox 364"/>
          <p:cNvSpPr txBox="1"/>
          <p:nvPr/>
        </p:nvSpPr>
        <p:spPr>
          <a:xfrm>
            <a:off x="7159752" y="3696462"/>
            <a:ext cx="380619" cy="253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20" b="1" i="0">
                <a:solidFill>
                  <a:srgbClr val="FFFFFF"/>
                </a:solidFill>
                <a:latin typeface="Segoe UI"/>
              </a:rPr>
              <a:t>46</a:t>
            </a:r>
          </a:p>
        </p:txBody>
      </p:sp>
      <p:sp>
        <p:nvSpPr>
          <p:cNvPr id="366" name="Rectangle 365"/>
          <p:cNvSpPr/>
          <p:nvPr/>
        </p:nvSpPr>
        <p:spPr>
          <a:xfrm>
            <a:off x="7554087" y="3710178"/>
            <a:ext cx="353187" cy="226314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7" name="TextBox 366"/>
          <p:cNvSpPr txBox="1"/>
          <p:nvPr/>
        </p:nvSpPr>
        <p:spPr>
          <a:xfrm>
            <a:off x="7540371" y="3696462"/>
            <a:ext cx="380619" cy="253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A5ABBD"/>
                </a:solidFill>
                <a:latin typeface="Segoe UI"/>
              </a:rPr>
              <a:t>–</a:t>
            </a:r>
          </a:p>
        </p:txBody>
      </p:sp>
      <p:sp>
        <p:nvSpPr>
          <p:cNvPr id="368" name="TextBox 367"/>
          <p:cNvSpPr txBox="1"/>
          <p:nvPr/>
        </p:nvSpPr>
        <p:spPr>
          <a:xfrm>
            <a:off x="7962138" y="3696462"/>
            <a:ext cx="370332" cy="253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56" b="1" i="0">
                <a:solidFill>
                  <a:srgbClr val="303A5D"/>
                </a:solidFill>
                <a:latin typeface="Segoe UI"/>
              </a:rPr>
              <a:t>4</a:t>
            </a:r>
          </a:p>
        </p:txBody>
      </p:sp>
      <p:sp>
        <p:nvSpPr>
          <p:cNvPr id="369" name="TextBox 368"/>
          <p:cNvSpPr txBox="1"/>
          <p:nvPr/>
        </p:nvSpPr>
        <p:spPr>
          <a:xfrm>
            <a:off x="8346186" y="3696462"/>
            <a:ext cx="370332" cy="253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56" b="1" i="0">
                <a:solidFill>
                  <a:srgbClr val="303A5D"/>
                </a:solidFill>
                <a:latin typeface="Segoe UI"/>
              </a:rPr>
              <a:t>2</a:t>
            </a:r>
          </a:p>
        </p:txBody>
      </p:sp>
      <p:sp>
        <p:nvSpPr>
          <p:cNvPr id="370" name="TextBox 369"/>
          <p:cNvSpPr txBox="1"/>
          <p:nvPr/>
        </p:nvSpPr>
        <p:spPr>
          <a:xfrm>
            <a:off x="425196" y="3963924"/>
            <a:ext cx="1337310" cy="1268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72" b="1" i="0">
                <a:solidFill>
                  <a:srgbClr val="303A5D"/>
                </a:solidFill>
                <a:latin typeface="Segoe UI"/>
              </a:rPr>
              <a:t>Sempio</a:t>
            </a:r>
          </a:p>
        </p:txBody>
      </p:sp>
      <p:sp>
        <p:nvSpPr>
          <p:cNvPr id="371" name="TextBox 370"/>
          <p:cNvSpPr txBox="1"/>
          <p:nvPr/>
        </p:nvSpPr>
        <p:spPr>
          <a:xfrm>
            <a:off x="425196" y="4077081"/>
            <a:ext cx="1337310" cy="1268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Міні-пакет 5 г</a:t>
            </a:r>
          </a:p>
        </p:txBody>
      </p:sp>
      <p:sp>
        <p:nvSpPr>
          <p:cNvPr id="372" name="Rectangle 371"/>
          <p:cNvSpPr/>
          <p:nvPr/>
        </p:nvSpPr>
        <p:spPr>
          <a:xfrm>
            <a:off x="1844802" y="3963924"/>
            <a:ext cx="353187" cy="226314"/>
          </a:xfrm>
          <a:prstGeom prst="rect">
            <a:avLst/>
          </a:prstGeom>
          <a:solidFill>
            <a:srgbClr val="909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3" name="TextBox 372"/>
          <p:cNvSpPr txBox="1"/>
          <p:nvPr/>
        </p:nvSpPr>
        <p:spPr>
          <a:xfrm>
            <a:off x="1831086" y="3950208"/>
            <a:ext cx="380619" cy="253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20" b="1" i="0">
                <a:solidFill>
                  <a:srgbClr val="303A5D"/>
                </a:solidFill>
                <a:latin typeface="Segoe UI"/>
              </a:rPr>
              <a:t>46</a:t>
            </a:r>
          </a:p>
        </p:txBody>
      </p:sp>
      <p:sp>
        <p:nvSpPr>
          <p:cNvPr id="374" name="Rectangle 373"/>
          <p:cNvSpPr/>
          <p:nvPr/>
        </p:nvSpPr>
        <p:spPr>
          <a:xfrm>
            <a:off x="2225421" y="3963924"/>
            <a:ext cx="353187" cy="226314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5" name="TextBox 374"/>
          <p:cNvSpPr txBox="1"/>
          <p:nvPr/>
        </p:nvSpPr>
        <p:spPr>
          <a:xfrm>
            <a:off x="2211705" y="3950208"/>
            <a:ext cx="380619" cy="253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A5ABBD"/>
                </a:solidFill>
                <a:latin typeface="Segoe UI"/>
              </a:rPr>
              <a:t>–</a:t>
            </a:r>
          </a:p>
        </p:txBody>
      </p:sp>
      <p:sp>
        <p:nvSpPr>
          <p:cNvPr id="376" name="Rectangle 375"/>
          <p:cNvSpPr/>
          <p:nvPr/>
        </p:nvSpPr>
        <p:spPr>
          <a:xfrm>
            <a:off x="2606040" y="3963924"/>
            <a:ext cx="353187" cy="226314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7" name="TextBox 376"/>
          <p:cNvSpPr txBox="1"/>
          <p:nvPr/>
        </p:nvSpPr>
        <p:spPr>
          <a:xfrm>
            <a:off x="2592324" y="3950208"/>
            <a:ext cx="380619" cy="253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A5ABBD"/>
                </a:solidFill>
                <a:latin typeface="Segoe UI"/>
              </a:rPr>
              <a:t>–</a:t>
            </a:r>
          </a:p>
        </p:txBody>
      </p:sp>
      <p:sp>
        <p:nvSpPr>
          <p:cNvPr id="378" name="Rectangle 377"/>
          <p:cNvSpPr/>
          <p:nvPr/>
        </p:nvSpPr>
        <p:spPr>
          <a:xfrm>
            <a:off x="2986659" y="3963924"/>
            <a:ext cx="353187" cy="226314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9" name="TextBox 378"/>
          <p:cNvSpPr txBox="1"/>
          <p:nvPr/>
        </p:nvSpPr>
        <p:spPr>
          <a:xfrm>
            <a:off x="2972943" y="3950208"/>
            <a:ext cx="380619" cy="253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A5ABBD"/>
                </a:solidFill>
                <a:latin typeface="Segoe UI"/>
              </a:rPr>
              <a:t>–</a:t>
            </a:r>
          </a:p>
        </p:txBody>
      </p:sp>
      <p:sp>
        <p:nvSpPr>
          <p:cNvPr id="380" name="Rectangle 379"/>
          <p:cNvSpPr/>
          <p:nvPr/>
        </p:nvSpPr>
        <p:spPr>
          <a:xfrm>
            <a:off x="3367278" y="3963924"/>
            <a:ext cx="353187" cy="226314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1" name="TextBox 380"/>
          <p:cNvSpPr txBox="1"/>
          <p:nvPr/>
        </p:nvSpPr>
        <p:spPr>
          <a:xfrm>
            <a:off x="3353562" y="3950208"/>
            <a:ext cx="380619" cy="253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A5ABBD"/>
                </a:solidFill>
                <a:latin typeface="Segoe UI"/>
              </a:rPr>
              <a:t>–</a:t>
            </a:r>
          </a:p>
        </p:txBody>
      </p:sp>
      <p:sp>
        <p:nvSpPr>
          <p:cNvPr id="382" name="Rectangle 381"/>
          <p:cNvSpPr/>
          <p:nvPr/>
        </p:nvSpPr>
        <p:spPr>
          <a:xfrm>
            <a:off x="3747897" y="3963924"/>
            <a:ext cx="353187" cy="226314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3" name="TextBox 382"/>
          <p:cNvSpPr txBox="1"/>
          <p:nvPr/>
        </p:nvSpPr>
        <p:spPr>
          <a:xfrm>
            <a:off x="3734181" y="3950208"/>
            <a:ext cx="380619" cy="253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A5ABBD"/>
                </a:solidFill>
                <a:latin typeface="Segoe UI"/>
              </a:rPr>
              <a:t>–</a:t>
            </a:r>
          </a:p>
        </p:txBody>
      </p:sp>
      <p:sp>
        <p:nvSpPr>
          <p:cNvPr id="384" name="Rectangle 383"/>
          <p:cNvSpPr/>
          <p:nvPr/>
        </p:nvSpPr>
        <p:spPr>
          <a:xfrm>
            <a:off x="4128516" y="3963924"/>
            <a:ext cx="353187" cy="226314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5" name="TextBox 384"/>
          <p:cNvSpPr txBox="1"/>
          <p:nvPr/>
        </p:nvSpPr>
        <p:spPr>
          <a:xfrm>
            <a:off x="4114800" y="3950208"/>
            <a:ext cx="380619" cy="253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A5ABBD"/>
                </a:solidFill>
                <a:latin typeface="Segoe UI"/>
              </a:rPr>
              <a:t>–</a:t>
            </a:r>
          </a:p>
        </p:txBody>
      </p:sp>
      <p:sp>
        <p:nvSpPr>
          <p:cNvPr id="386" name="Rectangle 385"/>
          <p:cNvSpPr/>
          <p:nvPr/>
        </p:nvSpPr>
        <p:spPr>
          <a:xfrm>
            <a:off x="4509135" y="3963924"/>
            <a:ext cx="353187" cy="226314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7" name="TextBox 386"/>
          <p:cNvSpPr txBox="1"/>
          <p:nvPr/>
        </p:nvSpPr>
        <p:spPr>
          <a:xfrm>
            <a:off x="4495419" y="3950208"/>
            <a:ext cx="380619" cy="253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A5ABBD"/>
                </a:solidFill>
                <a:latin typeface="Segoe UI"/>
              </a:rPr>
              <a:t>–</a:t>
            </a:r>
          </a:p>
        </p:txBody>
      </p:sp>
      <p:sp>
        <p:nvSpPr>
          <p:cNvPr id="388" name="Rectangle 387"/>
          <p:cNvSpPr/>
          <p:nvPr/>
        </p:nvSpPr>
        <p:spPr>
          <a:xfrm>
            <a:off x="4889754" y="3963924"/>
            <a:ext cx="353187" cy="226314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9" name="TextBox 388"/>
          <p:cNvSpPr txBox="1"/>
          <p:nvPr/>
        </p:nvSpPr>
        <p:spPr>
          <a:xfrm>
            <a:off x="4876038" y="3950208"/>
            <a:ext cx="380619" cy="253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A5ABBD"/>
                </a:solidFill>
                <a:latin typeface="Segoe UI"/>
              </a:rPr>
              <a:t>–</a:t>
            </a:r>
          </a:p>
        </p:txBody>
      </p:sp>
      <p:sp>
        <p:nvSpPr>
          <p:cNvPr id="390" name="Rectangle 389"/>
          <p:cNvSpPr/>
          <p:nvPr/>
        </p:nvSpPr>
        <p:spPr>
          <a:xfrm>
            <a:off x="5270373" y="3963924"/>
            <a:ext cx="353187" cy="226314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1" name="TextBox 390"/>
          <p:cNvSpPr txBox="1"/>
          <p:nvPr/>
        </p:nvSpPr>
        <p:spPr>
          <a:xfrm>
            <a:off x="5256657" y="3950208"/>
            <a:ext cx="380619" cy="253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A5ABBD"/>
                </a:solidFill>
                <a:latin typeface="Segoe UI"/>
              </a:rPr>
              <a:t>–</a:t>
            </a:r>
          </a:p>
        </p:txBody>
      </p:sp>
      <p:sp>
        <p:nvSpPr>
          <p:cNvPr id="392" name="Rectangle 391"/>
          <p:cNvSpPr/>
          <p:nvPr/>
        </p:nvSpPr>
        <p:spPr>
          <a:xfrm>
            <a:off x="5650992" y="3963924"/>
            <a:ext cx="353187" cy="226314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3" name="TextBox 392"/>
          <p:cNvSpPr txBox="1"/>
          <p:nvPr/>
        </p:nvSpPr>
        <p:spPr>
          <a:xfrm>
            <a:off x="5637276" y="3950208"/>
            <a:ext cx="380619" cy="253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A5ABBD"/>
                </a:solidFill>
                <a:latin typeface="Segoe UI"/>
              </a:rPr>
              <a:t>–</a:t>
            </a:r>
          </a:p>
        </p:txBody>
      </p:sp>
      <p:sp>
        <p:nvSpPr>
          <p:cNvPr id="394" name="Rectangle 393"/>
          <p:cNvSpPr/>
          <p:nvPr/>
        </p:nvSpPr>
        <p:spPr>
          <a:xfrm>
            <a:off x="6031611" y="3963924"/>
            <a:ext cx="353187" cy="226314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5" name="TextBox 394"/>
          <p:cNvSpPr txBox="1"/>
          <p:nvPr/>
        </p:nvSpPr>
        <p:spPr>
          <a:xfrm>
            <a:off x="6017895" y="3950208"/>
            <a:ext cx="380619" cy="253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A5ABBD"/>
                </a:solidFill>
                <a:latin typeface="Segoe UI"/>
              </a:rPr>
              <a:t>–</a:t>
            </a:r>
          </a:p>
        </p:txBody>
      </p:sp>
      <p:sp>
        <p:nvSpPr>
          <p:cNvPr id="396" name="Rectangle 395"/>
          <p:cNvSpPr/>
          <p:nvPr/>
        </p:nvSpPr>
        <p:spPr>
          <a:xfrm>
            <a:off x="6412230" y="3963924"/>
            <a:ext cx="353187" cy="226314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7" name="TextBox 396"/>
          <p:cNvSpPr txBox="1"/>
          <p:nvPr/>
        </p:nvSpPr>
        <p:spPr>
          <a:xfrm>
            <a:off x="6398514" y="3950208"/>
            <a:ext cx="380619" cy="253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A5ABBD"/>
                </a:solidFill>
                <a:latin typeface="Segoe UI"/>
              </a:rPr>
              <a:t>–</a:t>
            </a:r>
          </a:p>
        </p:txBody>
      </p:sp>
      <p:sp>
        <p:nvSpPr>
          <p:cNvPr id="398" name="Rectangle 397"/>
          <p:cNvSpPr/>
          <p:nvPr/>
        </p:nvSpPr>
        <p:spPr>
          <a:xfrm>
            <a:off x="6792849" y="3963924"/>
            <a:ext cx="353187" cy="226314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9" name="TextBox 398"/>
          <p:cNvSpPr txBox="1"/>
          <p:nvPr/>
        </p:nvSpPr>
        <p:spPr>
          <a:xfrm>
            <a:off x="6779133" y="3950208"/>
            <a:ext cx="380619" cy="253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A5ABBD"/>
                </a:solidFill>
                <a:latin typeface="Segoe UI"/>
              </a:rPr>
              <a:t>–</a:t>
            </a:r>
          </a:p>
        </p:txBody>
      </p:sp>
      <p:sp>
        <p:nvSpPr>
          <p:cNvPr id="400" name="Rectangle 399"/>
          <p:cNvSpPr/>
          <p:nvPr/>
        </p:nvSpPr>
        <p:spPr>
          <a:xfrm>
            <a:off x="7173468" y="3963924"/>
            <a:ext cx="353187" cy="226314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1" name="TextBox 400"/>
          <p:cNvSpPr txBox="1"/>
          <p:nvPr/>
        </p:nvSpPr>
        <p:spPr>
          <a:xfrm>
            <a:off x="7159752" y="3950208"/>
            <a:ext cx="380619" cy="253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A5ABBD"/>
                </a:solidFill>
                <a:latin typeface="Segoe UI"/>
              </a:rPr>
              <a:t>–</a:t>
            </a:r>
          </a:p>
        </p:txBody>
      </p:sp>
      <p:sp>
        <p:nvSpPr>
          <p:cNvPr id="402" name="Rectangle 401"/>
          <p:cNvSpPr/>
          <p:nvPr/>
        </p:nvSpPr>
        <p:spPr>
          <a:xfrm>
            <a:off x="7554087" y="3963924"/>
            <a:ext cx="353187" cy="226314"/>
          </a:xfrm>
          <a:prstGeom prst="rect">
            <a:avLst/>
          </a:prstGeom>
          <a:solidFill>
            <a:srgbClr val="9097A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3" name="TextBox 402"/>
          <p:cNvSpPr txBox="1"/>
          <p:nvPr/>
        </p:nvSpPr>
        <p:spPr>
          <a:xfrm>
            <a:off x="7540371" y="3950208"/>
            <a:ext cx="380619" cy="253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20" b="1" i="0">
                <a:solidFill>
                  <a:srgbClr val="303A5D"/>
                </a:solidFill>
                <a:latin typeface="Segoe UI"/>
              </a:rPr>
              <a:t>52</a:t>
            </a:r>
          </a:p>
        </p:txBody>
      </p:sp>
      <p:sp>
        <p:nvSpPr>
          <p:cNvPr id="404" name="TextBox 403"/>
          <p:cNvSpPr txBox="1"/>
          <p:nvPr/>
        </p:nvSpPr>
        <p:spPr>
          <a:xfrm>
            <a:off x="7962138" y="3950208"/>
            <a:ext cx="370332" cy="253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56" b="1" i="0">
                <a:solidFill>
                  <a:srgbClr val="303A5D"/>
                </a:solidFill>
                <a:latin typeface="Segoe UI"/>
              </a:rPr>
              <a:t>4</a:t>
            </a:r>
          </a:p>
        </p:txBody>
      </p:sp>
      <p:sp>
        <p:nvSpPr>
          <p:cNvPr id="405" name="TextBox 404"/>
          <p:cNvSpPr txBox="1"/>
          <p:nvPr/>
        </p:nvSpPr>
        <p:spPr>
          <a:xfrm>
            <a:off x="8346186" y="3950208"/>
            <a:ext cx="370332" cy="253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56" b="1" i="0">
                <a:solidFill>
                  <a:srgbClr val="303A5D"/>
                </a:solidFill>
                <a:latin typeface="Segoe UI"/>
              </a:rPr>
              <a:t>2</a:t>
            </a:r>
          </a:p>
        </p:txBody>
      </p:sp>
      <p:sp>
        <p:nvSpPr>
          <p:cNvPr id="406" name="TextBox 405"/>
          <p:cNvSpPr txBox="1"/>
          <p:nvPr/>
        </p:nvSpPr>
        <p:spPr>
          <a:xfrm>
            <a:off x="425196" y="4217670"/>
            <a:ext cx="1337310" cy="1268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72" b="1" i="0">
                <a:solidFill>
                  <a:srgbClr val="303A5D"/>
                </a:solidFill>
                <a:latin typeface="Segoe UI"/>
              </a:rPr>
              <a:t>Ocean Snack</a:t>
            </a:r>
          </a:p>
        </p:txBody>
      </p:sp>
      <p:sp>
        <p:nvSpPr>
          <p:cNvPr id="407" name="TextBox 406"/>
          <p:cNvSpPr txBox="1"/>
          <p:nvPr/>
        </p:nvSpPr>
        <p:spPr>
          <a:xfrm>
            <a:off x="425196" y="4330827"/>
            <a:ext cx="1337310" cy="1268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Чипси 40 г</a:t>
            </a:r>
          </a:p>
        </p:txBody>
      </p:sp>
      <p:sp>
        <p:nvSpPr>
          <p:cNvPr id="408" name="Rectangle 407"/>
          <p:cNvSpPr/>
          <p:nvPr/>
        </p:nvSpPr>
        <p:spPr>
          <a:xfrm>
            <a:off x="1844802" y="4217670"/>
            <a:ext cx="353187" cy="226314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9" name="TextBox 408"/>
          <p:cNvSpPr txBox="1"/>
          <p:nvPr/>
        </p:nvSpPr>
        <p:spPr>
          <a:xfrm>
            <a:off x="1831086" y="4203954"/>
            <a:ext cx="380619" cy="253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A5ABBD"/>
                </a:solidFill>
                <a:latin typeface="Segoe UI"/>
              </a:rPr>
              <a:t>–</a:t>
            </a:r>
          </a:p>
        </p:txBody>
      </p:sp>
      <p:sp>
        <p:nvSpPr>
          <p:cNvPr id="410" name="Rectangle 409"/>
          <p:cNvSpPr/>
          <p:nvPr/>
        </p:nvSpPr>
        <p:spPr>
          <a:xfrm>
            <a:off x="2225421" y="4217670"/>
            <a:ext cx="353187" cy="226314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1" name="TextBox 410"/>
          <p:cNvSpPr txBox="1"/>
          <p:nvPr/>
        </p:nvSpPr>
        <p:spPr>
          <a:xfrm>
            <a:off x="2211705" y="4203954"/>
            <a:ext cx="380619" cy="253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A5ABBD"/>
                </a:solidFill>
                <a:latin typeface="Segoe UI"/>
              </a:rPr>
              <a:t>–</a:t>
            </a:r>
          </a:p>
        </p:txBody>
      </p:sp>
      <p:sp>
        <p:nvSpPr>
          <p:cNvPr id="412" name="Rectangle 411"/>
          <p:cNvSpPr/>
          <p:nvPr/>
        </p:nvSpPr>
        <p:spPr>
          <a:xfrm>
            <a:off x="2606040" y="4217670"/>
            <a:ext cx="353187" cy="226314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3" name="TextBox 412"/>
          <p:cNvSpPr txBox="1"/>
          <p:nvPr/>
        </p:nvSpPr>
        <p:spPr>
          <a:xfrm>
            <a:off x="2592324" y="4203954"/>
            <a:ext cx="380619" cy="253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A5ABBD"/>
                </a:solidFill>
                <a:latin typeface="Segoe UI"/>
              </a:rPr>
              <a:t>–</a:t>
            </a:r>
          </a:p>
        </p:txBody>
      </p:sp>
      <p:sp>
        <p:nvSpPr>
          <p:cNvPr id="414" name="Rectangle 413"/>
          <p:cNvSpPr/>
          <p:nvPr/>
        </p:nvSpPr>
        <p:spPr>
          <a:xfrm>
            <a:off x="2986659" y="4217670"/>
            <a:ext cx="353187" cy="226314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5" name="TextBox 414"/>
          <p:cNvSpPr txBox="1"/>
          <p:nvPr/>
        </p:nvSpPr>
        <p:spPr>
          <a:xfrm>
            <a:off x="2972943" y="4203954"/>
            <a:ext cx="380619" cy="253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A5ABBD"/>
                </a:solidFill>
                <a:latin typeface="Segoe UI"/>
              </a:rPr>
              <a:t>–</a:t>
            </a:r>
          </a:p>
        </p:txBody>
      </p:sp>
      <p:sp>
        <p:nvSpPr>
          <p:cNvPr id="416" name="Rectangle 415"/>
          <p:cNvSpPr/>
          <p:nvPr/>
        </p:nvSpPr>
        <p:spPr>
          <a:xfrm>
            <a:off x="3367278" y="4217670"/>
            <a:ext cx="353187" cy="226314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7" name="TextBox 416"/>
          <p:cNvSpPr txBox="1"/>
          <p:nvPr/>
        </p:nvSpPr>
        <p:spPr>
          <a:xfrm>
            <a:off x="3353562" y="4203954"/>
            <a:ext cx="380619" cy="253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A5ABBD"/>
                </a:solidFill>
                <a:latin typeface="Segoe UI"/>
              </a:rPr>
              <a:t>–</a:t>
            </a:r>
          </a:p>
        </p:txBody>
      </p:sp>
      <p:sp>
        <p:nvSpPr>
          <p:cNvPr id="418" name="Rectangle 417"/>
          <p:cNvSpPr/>
          <p:nvPr/>
        </p:nvSpPr>
        <p:spPr>
          <a:xfrm>
            <a:off x="3747897" y="4217670"/>
            <a:ext cx="353187" cy="226314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9" name="TextBox 418"/>
          <p:cNvSpPr txBox="1"/>
          <p:nvPr/>
        </p:nvSpPr>
        <p:spPr>
          <a:xfrm>
            <a:off x="3734181" y="4203954"/>
            <a:ext cx="380619" cy="253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A5ABBD"/>
                </a:solidFill>
                <a:latin typeface="Segoe UI"/>
              </a:rPr>
              <a:t>–</a:t>
            </a:r>
          </a:p>
        </p:txBody>
      </p:sp>
      <p:sp>
        <p:nvSpPr>
          <p:cNvPr id="420" name="Rectangle 419"/>
          <p:cNvSpPr/>
          <p:nvPr/>
        </p:nvSpPr>
        <p:spPr>
          <a:xfrm>
            <a:off x="4128516" y="4217670"/>
            <a:ext cx="353187" cy="226314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1" name="TextBox 420"/>
          <p:cNvSpPr txBox="1"/>
          <p:nvPr/>
        </p:nvSpPr>
        <p:spPr>
          <a:xfrm>
            <a:off x="4114800" y="4203954"/>
            <a:ext cx="380619" cy="253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A5ABBD"/>
                </a:solidFill>
                <a:latin typeface="Segoe UI"/>
              </a:rPr>
              <a:t>–</a:t>
            </a:r>
          </a:p>
        </p:txBody>
      </p:sp>
      <p:sp>
        <p:nvSpPr>
          <p:cNvPr id="422" name="Rectangle 421"/>
          <p:cNvSpPr/>
          <p:nvPr/>
        </p:nvSpPr>
        <p:spPr>
          <a:xfrm>
            <a:off x="4509135" y="4217670"/>
            <a:ext cx="353187" cy="226314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3" name="TextBox 422"/>
          <p:cNvSpPr txBox="1"/>
          <p:nvPr/>
        </p:nvSpPr>
        <p:spPr>
          <a:xfrm>
            <a:off x="4495419" y="4203954"/>
            <a:ext cx="380619" cy="253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A5ABBD"/>
                </a:solidFill>
                <a:latin typeface="Segoe UI"/>
              </a:rPr>
              <a:t>–</a:t>
            </a:r>
          </a:p>
        </p:txBody>
      </p:sp>
      <p:sp>
        <p:nvSpPr>
          <p:cNvPr id="424" name="Rectangle 423"/>
          <p:cNvSpPr/>
          <p:nvPr/>
        </p:nvSpPr>
        <p:spPr>
          <a:xfrm>
            <a:off x="4889754" y="4217670"/>
            <a:ext cx="353187" cy="226314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5" name="TextBox 424"/>
          <p:cNvSpPr txBox="1"/>
          <p:nvPr/>
        </p:nvSpPr>
        <p:spPr>
          <a:xfrm>
            <a:off x="4876038" y="4203954"/>
            <a:ext cx="380619" cy="253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A5ABBD"/>
                </a:solidFill>
                <a:latin typeface="Segoe UI"/>
              </a:rPr>
              <a:t>–</a:t>
            </a:r>
          </a:p>
        </p:txBody>
      </p:sp>
      <p:sp>
        <p:nvSpPr>
          <p:cNvPr id="426" name="Rectangle 425"/>
          <p:cNvSpPr/>
          <p:nvPr/>
        </p:nvSpPr>
        <p:spPr>
          <a:xfrm>
            <a:off x="5270373" y="4217670"/>
            <a:ext cx="353187" cy="226314"/>
          </a:xfrm>
          <a:prstGeom prst="rect">
            <a:avLst/>
          </a:prstGeom>
          <a:solidFill>
            <a:srgbClr val="69718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7" name="TextBox 426"/>
          <p:cNvSpPr txBox="1"/>
          <p:nvPr/>
        </p:nvSpPr>
        <p:spPr>
          <a:xfrm>
            <a:off x="5256657" y="4203954"/>
            <a:ext cx="380619" cy="253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20" b="1" i="0">
                <a:solidFill>
                  <a:srgbClr val="FFFFFF"/>
                </a:solidFill>
                <a:latin typeface="Segoe UI"/>
              </a:rPr>
              <a:t>111</a:t>
            </a:r>
          </a:p>
        </p:txBody>
      </p:sp>
      <p:sp>
        <p:nvSpPr>
          <p:cNvPr id="428" name="Rectangle 427"/>
          <p:cNvSpPr/>
          <p:nvPr/>
        </p:nvSpPr>
        <p:spPr>
          <a:xfrm>
            <a:off x="5650992" y="4217670"/>
            <a:ext cx="353187" cy="226314"/>
          </a:xfrm>
          <a:prstGeom prst="rect">
            <a:avLst/>
          </a:prstGeom>
          <a:solidFill>
            <a:srgbClr val="69718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9" name="TextBox 428"/>
          <p:cNvSpPr txBox="1"/>
          <p:nvPr/>
        </p:nvSpPr>
        <p:spPr>
          <a:xfrm>
            <a:off x="5637276" y="4203954"/>
            <a:ext cx="380619" cy="253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20" b="1" i="0">
                <a:solidFill>
                  <a:srgbClr val="FFFFFF"/>
                </a:solidFill>
                <a:latin typeface="Segoe UI"/>
              </a:rPr>
              <a:t>111</a:t>
            </a:r>
          </a:p>
        </p:txBody>
      </p:sp>
      <p:sp>
        <p:nvSpPr>
          <p:cNvPr id="430" name="Rectangle 429"/>
          <p:cNvSpPr/>
          <p:nvPr/>
        </p:nvSpPr>
        <p:spPr>
          <a:xfrm>
            <a:off x="6031611" y="4217670"/>
            <a:ext cx="353187" cy="226314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1" name="TextBox 430"/>
          <p:cNvSpPr txBox="1"/>
          <p:nvPr/>
        </p:nvSpPr>
        <p:spPr>
          <a:xfrm>
            <a:off x="6017895" y="4203954"/>
            <a:ext cx="380619" cy="253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A5ABBD"/>
                </a:solidFill>
                <a:latin typeface="Segoe UI"/>
              </a:rPr>
              <a:t>–</a:t>
            </a:r>
          </a:p>
        </p:txBody>
      </p:sp>
      <p:sp>
        <p:nvSpPr>
          <p:cNvPr id="432" name="Rectangle 431"/>
          <p:cNvSpPr/>
          <p:nvPr/>
        </p:nvSpPr>
        <p:spPr>
          <a:xfrm>
            <a:off x="6412230" y="4217670"/>
            <a:ext cx="353187" cy="226314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3" name="TextBox 432"/>
          <p:cNvSpPr txBox="1"/>
          <p:nvPr/>
        </p:nvSpPr>
        <p:spPr>
          <a:xfrm>
            <a:off x="6398514" y="4203954"/>
            <a:ext cx="380619" cy="253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A5ABBD"/>
                </a:solidFill>
                <a:latin typeface="Segoe UI"/>
              </a:rPr>
              <a:t>–</a:t>
            </a:r>
          </a:p>
        </p:txBody>
      </p:sp>
      <p:sp>
        <p:nvSpPr>
          <p:cNvPr id="434" name="Rectangle 433"/>
          <p:cNvSpPr/>
          <p:nvPr/>
        </p:nvSpPr>
        <p:spPr>
          <a:xfrm>
            <a:off x="6792849" y="4217670"/>
            <a:ext cx="353187" cy="226314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5" name="TextBox 434"/>
          <p:cNvSpPr txBox="1"/>
          <p:nvPr/>
        </p:nvSpPr>
        <p:spPr>
          <a:xfrm>
            <a:off x="6779133" y="4203954"/>
            <a:ext cx="380619" cy="253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A5ABBD"/>
                </a:solidFill>
                <a:latin typeface="Segoe UI"/>
              </a:rPr>
              <a:t>–</a:t>
            </a:r>
          </a:p>
        </p:txBody>
      </p:sp>
      <p:sp>
        <p:nvSpPr>
          <p:cNvPr id="436" name="Rectangle 435"/>
          <p:cNvSpPr/>
          <p:nvPr/>
        </p:nvSpPr>
        <p:spPr>
          <a:xfrm>
            <a:off x="7173468" y="4217670"/>
            <a:ext cx="353187" cy="226314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7" name="TextBox 436"/>
          <p:cNvSpPr txBox="1"/>
          <p:nvPr/>
        </p:nvSpPr>
        <p:spPr>
          <a:xfrm>
            <a:off x="7159752" y="4203954"/>
            <a:ext cx="380619" cy="253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A5ABBD"/>
                </a:solidFill>
                <a:latin typeface="Segoe UI"/>
              </a:rPr>
              <a:t>–</a:t>
            </a:r>
          </a:p>
        </p:txBody>
      </p:sp>
      <p:sp>
        <p:nvSpPr>
          <p:cNvPr id="438" name="Rectangle 437"/>
          <p:cNvSpPr/>
          <p:nvPr/>
        </p:nvSpPr>
        <p:spPr>
          <a:xfrm>
            <a:off x="7554087" y="4217670"/>
            <a:ext cx="353187" cy="226314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9" name="TextBox 438"/>
          <p:cNvSpPr txBox="1"/>
          <p:nvPr/>
        </p:nvSpPr>
        <p:spPr>
          <a:xfrm>
            <a:off x="7540371" y="4203954"/>
            <a:ext cx="380619" cy="253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A5ABBD"/>
                </a:solidFill>
                <a:latin typeface="Segoe UI"/>
              </a:rPr>
              <a:t>–</a:t>
            </a:r>
          </a:p>
        </p:txBody>
      </p:sp>
      <p:sp>
        <p:nvSpPr>
          <p:cNvPr id="440" name="TextBox 439"/>
          <p:cNvSpPr txBox="1"/>
          <p:nvPr/>
        </p:nvSpPr>
        <p:spPr>
          <a:xfrm>
            <a:off x="7962138" y="4203954"/>
            <a:ext cx="370332" cy="253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56" b="1" i="0">
                <a:solidFill>
                  <a:srgbClr val="303A5D"/>
                </a:solidFill>
                <a:latin typeface="Segoe UI"/>
              </a:rPr>
              <a:t>4</a:t>
            </a:r>
          </a:p>
        </p:txBody>
      </p:sp>
      <p:sp>
        <p:nvSpPr>
          <p:cNvPr id="441" name="TextBox 440"/>
          <p:cNvSpPr txBox="1"/>
          <p:nvPr/>
        </p:nvSpPr>
        <p:spPr>
          <a:xfrm>
            <a:off x="8346186" y="4203954"/>
            <a:ext cx="370332" cy="253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56" b="1" i="0">
                <a:solidFill>
                  <a:srgbClr val="303A5D"/>
                </a:solidFill>
                <a:latin typeface="Segoe UI"/>
              </a:rPr>
              <a:t>2</a:t>
            </a:r>
          </a:p>
        </p:txBody>
      </p:sp>
      <p:sp>
        <p:nvSpPr>
          <p:cNvPr id="442" name="TextBox 441"/>
          <p:cNvSpPr txBox="1"/>
          <p:nvPr/>
        </p:nvSpPr>
        <p:spPr>
          <a:xfrm>
            <a:off x="425196" y="4471416"/>
            <a:ext cx="1337310" cy="1268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72" b="1" i="0">
                <a:solidFill>
                  <a:srgbClr val="303A5D"/>
                </a:solidFill>
                <a:latin typeface="Segoe UI"/>
              </a:rPr>
              <a:t>Humanwell</a:t>
            </a:r>
          </a:p>
        </p:txBody>
      </p:sp>
      <p:sp>
        <p:nvSpPr>
          <p:cNvPr id="443" name="TextBox 442"/>
          <p:cNvSpPr txBox="1"/>
          <p:nvPr/>
        </p:nvSpPr>
        <p:spPr>
          <a:xfrm>
            <a:off x="425196" y="4584573"/>
            <a:ext cx="1337310" cy="1268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Міні-пакет 4 г</a:t>
            </a:r>
          </a:p>
        </p:txBody>
      </p:sp>
      <p:sp>
        <p:nvSpPr>
          <p:cNvPr id="444" name="Rectangle 443"/>
          <p:cNvSpPr/>
          <p:nvPr/>
        </p:nvSpPr>
        <p:spPr>
          <a:xfrm>
            <a:off x="1844802" y="4471416"/>
            <a:ext cx="353187" cy="226314"/>
          </a:xfrm>
          <a:prstGeom prst="rect">
            <a:avLst/>
          </a:prstGeom>
          <a:solidFill>
            <a:srgbClr val="7C849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5" name="TextBox 444"/>
          <p:cNvSpPr txBox="1"/>
          <p:nvPr/>
        </p:nvSpPr>
        <p:spPr>
          <a:xfrm>
            <a:off x="1831086" y="4457700"/>
            <a:ext cx="380619" cy="253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20" b="1" i="0">
                <a:solidFill>
                  <a:srgbClr val="FFFFFF"/>
                </a:solidFill>
                <a:latin typeface="Segoe UI"/>
              </a:rPr>
              <a:t>40</a:t>
            </a:r>
          </a:p>
        </p:txBody>
      </p:sp>
      <p:sp>
        <p:nvSpPr>
          <p:cNvPr id="446" name="Rectangle 445"/>
          <p:cNvSpPr/>
          <p:nvPr/>
        </p:nvSpPr>
        <p:spPr>
          <a:xfrm>
            <a:off x="2225421" y="4471416"/>
            <a:ext cx="353187" cy="226314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7" name="TextBox 446"/>
          <p:cNvSpPr txBox="1"/>
          <p:nvPr/>
        </p:nvSpPr>
        <p:spPr>
          <a:xfrm>
            <a:off x="2211705" y="4457700"/>
            <a:ext cx="380619" cy="253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A5ABBD"/>
                </a:solidFill>
                <a:latin typeface="Segoe UI"/>
              </a:rPr>
              <a:t>–</a:t>
            </a:r>
          </a:p>
        </p:txBody>
      </p:sp>
      <p:sp>
        <p:nvSpPr>
          <p:cNvPr id="448" name="Rectangle 447"/>
          <p:cNvSpPr/>
          <p:nvPr/>
        </p:nvSpPr>
        <p:spPr>
          <a:xfrm>
            <a:off x="2606040" y="4471416"/>
            <a:ext cx="353187" cy="226314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9" name="TextBox 448"/>
          <p:cNvSpPr txBox="1"/>
          <p:nvPr/>
        </p:nvSpPr>
        <p:spPr>
          <a:xfrm>
            <a:off x="2592324" y="4457700"/>
            <a:ext cx="380619" cy="253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A5ABBD"/>
                </a:solidFill>
                <a:latin typeface="Segoe UI"/>
              </a:rPr>
              <a:t>–</a:t>
            </a:r>
          </a:p>
        </p:txBody>
      </p:sp>
      <p:sp>
        <p:nvSpPr>
          <p:cNvPr id="450" name="Rectangle 449"/>
          <p:cNvSpPr/>
          <p:nvPr/>
        </p:nvSpPr>
        <p:spPr>
          <a:xfrm>
            <a:off x="2986659" y="4471416"/>
            <a:ext cx="353187" cy="226314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1" name="TextBox 450"/>
          <p:cNvSpPr txBox="1"/>
          <p:nvPr/>
        </p:nvSpPr>
        <p:spPr>
          <a:xfrm>
            <a:off x="2972943" y="4457700"/>
            <a:ext cx="380619" cy="253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A5ABBD"/>
                </a:solidFill>
                <a:latin typeface="Segoe UI"/>
              </a:rPr>
              <a:t>–</a:t>
            </a:r>
          </a:p>
        </p:txBody>
      </p:sp>
      <p:sp>
        <p:nvSpPr>
          <p:cNvPr id="452" name="Rectangle 451"/>
          <p:cNvSpPr/>
          <p:nvPr/>
        </p:nvSpPr>
        <p:spPr>
          <a:xfrm>
            <a:off x="3367278" y="4471416"/>
            <a:ext cx="353187" cy="226314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3" name="TextBox 452"/>
          <p:cNvSpPr txBox="1"/>
          <p:nvPr/>
        </p:nvSpPr>
        <p:spPr>
          <a:xfrm>
            <a:off x="3353562" y="4457700"/>
            <a:ext cx="380619" cy="253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A5ABBD"/>
                </a:solidFill>
                <a:latin typeface="Segoe UI"/>
              </a:rPr>
              <a:t>–</a:t>
            </a:r>
          </a:p>
        </p:txBody>
      </p:sp>
      <p:sp>
        <p:nvSpPr>
          <p:cNvPr id="454" name="Rectangle 453"/>
          <p:cNvSpPr/>
          <p:nvPr/>
        </p:nvSpPr>
        <p:spPr>
          <a:xfrm>
            <a:off x="3747897" y="4471416"/>
            <a:ext cx="353187" cy="226314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5" name="TextBox 454"/>
          <p:cNvSpPr txBox="1"/>
          <p:nvPr/>
        </p:nvSpPr>
        <p:spPr>
          <a:xfrm>
            <a:off x="3734181" y="4457700"/>
            <a:ext cx="380619" cy="253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A5ABBD"/>
                </a:solidFill>
                <a:latin typeface="Segoe UI"/>
              </a:rPr>
              <a:t>–</a:t>
            </a:r>
          </a:p>
        </p:txBody>
      </p:sp>
      <p:sp>
        <p:nvSpPr>
          <p:cNvPr id="456" name="Rectangle 455"/>
          <p:cNvSpPr/>
          <p:nvPr/>
        </p:nvSpPr>
        <p:spPr>
          <a:xfrm>
            <a:off x="4128516" y="4471416"/>
            <a:ext cx="353187" cy="226314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7" name="TextBox 456"/>
          <p:cNvSpPr txBox="1"/>
          <p:nvPr/>
        </p:nvSpPr>
        <p:spPr>
          <a:xfrm>
            <a:off x="4114800" y="4457700"/>
            <a:ext cx="380619" cy="253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A5ABBD"/>
                </a:solidFill>
                <a:latin typeface="Segoe UI"/>
              </a:rPr>
              <a:t>–</a:t>
            </a:r>
          </a:p>
        </p:txBody>
      </p:sp>
      <p:sp>
        <p:nvSpPr>
          <p:cNvPr id="458" name="Rectangle 457"/>
          <p:cNvSpPr/>
          <p:nvPr/>
        </p:nvSpPr>
        <p:spPr>
          <a:xfrm>
            <a:off x="4509135" y="4471416"/>
            <a:ext cx="353187" cy="226314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9" name="TextBox 458"/>
          <p:cNvSpPr txBox="1"/>
          <p:nvPr/>
        </p:nvSpPr>
        <p:spPr>
          <a:xfrm>
            <a:off x="4495419" y="4457700"/>
            <a:ext cx="380619" cy="253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A5ABBD"/>
                </a:solidFill>
                <a:latin typeface="Segoe UI"/>
              </a:rPr>
              <a:t>–</a:t>
            </a:r>
          </a:p>
        </p:txBody>
      </p:sp>
      <p:sp>
        <p:nvSpPr>
          <p:cNvPr id="460" name="Rectangle 459"/>
          <p:cNvSpPr/>
          <p:nvPr/>
        </p:nvSpPr>
        <p:spPr>
          <a:xfrm>
            <a:off x="4889754" y="4471416"/>
            <a:ext cx="353187" cy="226314"/>
          </a:xfrm>
          <a:prstGeom prst="rect">
            <a:avLst/>
          </a:prstGeom>
          <a:solidFill>
            <a:srgbClr val="A3AAB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1" name="TextBox 460"/>
          <p:cNvSpPr txBox="1"/>
          <p:nvPr/>
        </p:nvSpPr>
        <p:spPr>
          <a:xfrm>
            <a:off x="4876038" y="4457700"/>
            <a:ext cx="380619" cy="253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20" b="1" i="0">
                <a:solidFill>
                  <a:srgbClr val="303A5D"/>
                </a:solidFill>
                <a:latin typeface="Segoe UI"/>
              </a:rPr>
              <a:t>42</a:t>
            </a:r>
          </a:p>
        </p:txBody>
      </p:sp>
      <p:sp>
        <p:nvSpPr>
          <p:cNvPr id="462" name="Rectangle 461"/>
          <p:cNvSpPr/>
          <p:nvPr/>
        </p:nvSpPr>
        <p:spPr>
          <a:xfrm>
            <a:off x="5270373" y="4471416"/>
            <a:ext cx="353187" cy="226314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3" name="TextBox 462"/>
          <p:cNvSpPr txBox="1"/>
          <p:nvPr/>
        </p:nvSpPr>
        <p:spPr>
          <a:xfrm>
            <a:off x="5256657" y="4457700"/>
            <a:ext cx="380619" cy="253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A5ABBD"/>
                </a:solidFill>
                <a:latin typeface="Segoe UI"/>
              </a:rPr>
              <a:t>–</a:t>
            </a:r>
          </a:p>
        </p:txBody>
      </p:sp>
      <p:sp>
        <p:nvSpPr>
          <p:cNvPr id="464" name="Rectangle 463"/>
          <p:cNvSpPr/>
          <p:nvPr/>
        </p:nvSpPr>
        <p:spPr>
          <a:xfrm>
            <a:off x="5650992" y="4471416"/>
            <a:ext cx="353187" cy="226314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5" name="TextBox 464"/>
          <p:cNvSpPr txBox="1"/>
          <p:nvPr/>
        </p:nvSpPr>
        <p:spPr>
          <a:xfrm>
            <a:off x="5637276" y="4457700"/>
            <a:ext cx="380619" cy="253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A5ABBD"/>
                </a:solidFill>
                <a:latin typeface="Segoe UI"/>
              </a:rPr>
              <a:t>–</a:t>
            </a:r>
          </a:p>
        </p:txBody>
      </p:sp>
      <p:sp>
        <p:nvSpPr>
          <p:cNvPr id="466" name="Rectangle 465"/>
          <p:cNvSpPr/>
          <p:nvPr/>
        </p:nvSpPr>
        <p:spPr>
          <a:xfrm>
            <a:off x="6031611" y="4471416"/>
            <a:ext cx="353187" cy="226314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7" name="TextBox 466"/>
          <p:cNvSpPr txBox="1"/>
          <p:nvPr/>
        </p:nvSpPr>
        <p:spPr>
          <a:xfrm>
            <a:off x="6017895" y="4457700"/>
            <a:ext cx="380619" cy="253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A5ABBD"/>
                </a:solidFill>
                <a:latin typeface="Segoe UI"/>
              </a:rPr>
              <a:t>–</a:t>
            </a:r>
          </a:p>
        </p:txBody>
      </p:sp>
      <p:sp>
        <p:nvSpPr>
          <p:cNvPr id="468" name="Rectangle 467"/>
          <p:cNvSpPr/>
          <p:nvPr/>
        </p:nvSpPr>
        <p:spPr>
          <a:xfrm>
            <a:off x="6412230" y="4471416"/>
            <a:ext cx="353187" cy="226314"/>
          </a:xfrm>
          <a:prstGeom prst="rect">
            <a:avLst/>
          </a:prstGeom>
          <a:solidFill>
            <a:srgbClr val="A3AAB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9" name="TextBox 468"/>
          <p:cNvSpPr txBox="1"/>
          <p:nvPr/>
        </p:nvSpPr>
        <p:spPr>
          <a:xfrm>
            <a:off x="6398514" y="4457700"/>
            <a:ext cx="380619" cy="253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20" b="1" i="0">
                <a:solidFill>
                  <a:srgbClr val="303A5D"/>
                </a:solidFill>
                <a:latin typeface="Segoe UI"/>
              </a:rPr>
              <a:t>42</a:t>
            </a:r>
          </a:p>
        </p:txBody>
      </p:sp>
      <p:sp>
        <p:nvSpPr>
          <p:cNvPr id="470" name="Rectangle 469"/>
          <p:cNvSpPr/>
          <p:nvPr/>
        </p:nvSpPr>
        <p:spPr>
          <a:xfrm>
            <a:off x="6792849" y="4471416"/>
            <a:ext cx="353187" cy="226314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1" name="TextBox 470"/>
          <p:cNvSpPr txBox="1"/>
          <p:nvPr/>
        </p:nvSpPr>
        <p:spPr>
          <a:xfrm>
            <a:off x="6779133" y="4457700"/>
            <a:ext cx="380619" cy="253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A5ABBD"/>
                </a:solidFill>
                <a:latin typeface="Segoe UI"/>
              </a:rPr>
              <a:t>–</a:t>
            </a:r>
          </a:p>
        </p:txBody>
      </p:sp>
      <p:sp>
        <p:nvSpPr>
          <p:cNvPr id="472" name="Rectangle 471"/>
          <p:cNvSpPr/>
          <p:nvPr/>
        </p:nvSpPr>
        <p:spPr>
          <a:xfrm>
            <a:off x="7173468" y="4471416"/>
            <a:ext cx="353187" cy="226314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3" name="TextBox 472"/>
          <p:cNvSpPr txBox="1"/>
          <p:nvPr/>
        </p:nvSpPr>
        <p:spPr>
          <a:xfrm>
            <a:off x="7159752" y="4457700"/>
            <a:ext cx="380619" cy="253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A5ABBD"/>
                </a:solidFill>
                <a:latin typeface="Segoe UI"/>
              </a:rPr>
              <a:t>–</a:t>
            </a:r>
          </a:p>
        </p:txBody>
      </p:sp>
      <p:sp>
        <p:nvSpPr>
          <p:cNvPr id="474" name="Rectangle 473"/>
          <p:cNvSpPr/>
          <p:nvPr/>
        </p:nvSpPr>
        <p:spPr>
          <a:xfrm>
            <a:off x="7554087" y="4471416"/>
            <a:ext cx="353187" cy="226314"/>
          </a:xfrm>
          <a:prstGeom prst="rect">
            <a:avLst/>
          </a:prstGeom>
          <a:solidFill>
            <a:srgbClr val="F6F7F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5" name="TextBox 474"/>
          <p:cNvSpPr txBox="1"/>
          <p:nvPr/>
        </p:nvSpPr>
        <p:spPr>
          <a:xfrm>
            <a:off x="7540371" y="4457700"/>
            <a:ext cx="380619" cy="253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A5ABBD"/>
                </a:solidFill>
                <a:latin typeface="Segoe UI"/>
              </a:rPr>
              <a:t>–</a:t>
            </a:r>
          </a:p>
        </p:txBody>
      </p:sp>
      <p:sp>
        <p:nvSpPr>
          <p:cNvPr id="476" name="TextBox 475"/>
          <p:cNvSpPr txBox="1"/>
          <p:nvPr/>
        </p:nvSpPr>
        <p:spPr>
          <a:xfrm>
            <a:off x="7962138" y="4457700"/>
            <a:ext cx="370332" cy="253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56" b="1" i="0">
                <a:solidFill>
                  <a:srgbClr val="303A5D"/>
                </a:solidFill>
                <a:latin typeface="Segoe UI"/>
              </a:rPr>
              <a:t>3</a:t>
            </a:r>
          </a:p>
        </p:txBody>
      </p:sp>
      <p:sp>
        <p:nvSpPr>
          <p:cNvPr id="477" name="TextBox 476"/>
          <p:cNvSpPr txBox="1"/>
          <p:nvPr/>
        </p:nvSpPr>
        <p:spPr>
          <a:xfrm>
            <a:off x="8346186" y="4457700"/>
            <a:ext cx="370332" cy="25374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56" b="1" i="0">
                <a:solidFill>
                  <a:srgbClr val="303A5D"/>
                </a:solidFill>
                <a:latin typeface="Segoe UI"/>
              </a:rPr>
              <a:t>3</a:t>
            </a:r>
          </a:p>
        </p:txBody>
      </p:sp>
      <p:sp>
        <p:nvSpPr>
          <p:cNvPr id="478" name="TextBox 477"/>
          <p:cNvSpPr txBox="1"/>
          <p:nvPr/>
        </p:nvSpPr>
        <p:spPr>
          <a:xfrm>
            <a:off x="425196" y="4855464"/>
            <a:ext cx="829818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1">
                <a:solidFill>
                  <a:srgbClr val="717890"/>
                </a:solidFill>
                <a:latin typeface="Segoe UI"/>
              </a:rPr>
              <a:t>Каталоги мереж на zakaz.ua (METRO, NOVUS, Ашан, Зараз, МегаМаркет, Ultramarket, Епіцентр, Космос, Onde, Ідеал, Восторг, Клас, Таврія В, ЧудоМаркет, Торба, Grono) · 07.10.2026 · ціна — онлайн-полиця одного магазину мережі, діапазон — між мережами.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977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3977" cy="795528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95528"/>
            <a:ext cx="9143977" cy="41148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" y="178308"/>
            <a:ext cx="1042416" cy="4526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728216" y="205740"/>
            <a:ext cx="61722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1" i="0" spc="30">
                <a:solidFill>
                  <a:srgbClr val="FFC95C"/>
                </a:solidFill>
                <a:latin typeface="Segoe UI"/>
              </a:rPr>
              <a:t>БРЕНДИ · ЩО ЦЕ І ХТО СТОЇТЬ ЗА НИМИ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28216" y="377190"/>
            <a:ext cx="61722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20" b="1" i="0">
                <a:solidFill>
                  <a:srgbClr val="FFFFFF"/>
                </a:solidFill>
                <a:latin typeface="Segoe UI"/>
              </a:rPr>
              <a:t>Бренди на полиці: що продають і хто завозить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20990" y="301752"/>
            <a:ext cx="768096" cy="2263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360" b="1" i="0">
                <a:solidFill>
                  <a:srgbClr val="465382"/>
                </a:solidFill>
                <a:latin typeface="Segoe UI"/>
              </a:rPr>
              <a:t>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5196" y="932688"/>
            <a:ext cx="8298180" cy="3086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88" b="0" i="0">
                <a:solidFill>
                  <a:srgbClr val="717890"/>
                </a:solidFill>
                <a:latin typeface="Segoe UI"/>
              </a:rPr>
              <a:t>Формат і ціна — з каталогів мереж. Імпортер і країна — з митної бази (за описами декларацій і назвою імпортера); якщо в базі бренд не знайдено, так і написано — власника бренду не вгадуємо.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5196" y="1357884"/>
            <a:ext cx="8298180" cy="20574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" y="1357884"/>
            <a:ext cx="1097280" cy="2057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БРЕНД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9636" y="1357884"/>
            <a:ext cx="2674620" cy="2057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ЩО ПРОДАЄ · ФОРМАТ І ВАГА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68546" y="1357884"/>
            <a:ext cx="342900" cy="2057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SKU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45736" y="1357884"/>
            <a:ext cx="411480" cy="2057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МЕРЕЖ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25796" y="1357884"/>
            <a:ext cx="960120" cy="2057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ЦІНА УПАКОВКИ, 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54496" y="1357884"/>
            <a:ext cx="1645920" cy="2057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ІМПОРТЕР В УКРАЇНІ (МИТНА БАЗА)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34706" y="1357884"/>
            <a:ext cx="822960" cy="2057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ВИРОБНИК / КРАЇНА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5196" y="1591056"/>
            <a:ext cx="8298180" cy="211226"/>
          </a:xfrm>
          <a:prstGeom prst="rect">
            <a:avLst/>
          </a:prstGeom>
          <a:solidFill>
            <a:srgbClr val="F8F9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3776" y="1591056"/>
            <a:ext cx="1165860" cy="21122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72" b="1" i="0">
                <a:solidFill>
                  <a:srgbClr val="303A5D"/>
                </a:solidFill>
                <a:latin typeface="Segoe UI"/>
              </a:rPr>
              <a:t>Ock Dong Ja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9636" y="1591056"/>
            <a:ext cx="2708910" cy="21122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1C2235"/>
                </a:solidFill>
                <a:latin typeface="Segoe UI"/>
              </a:rPr>
              <a:t>Міні-пакет 4 / 4,5 г; Чипси 15 / 20 / 25 г; Темпура / топінг 35 / 70 г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68546" y="1591056"/>
            <a:ext cx="342900" cy="21122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40" b="0" i="0">
                <a:solidFill>
                  <a:srgbClr val="1C2235"/>
                </a:solidFill>
                <a:latin typeface="Segoe UI"/>
              </a:rPr>
              <a:t>13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45736" y="1591056"/>
            <a:ext cx="411480" cy="21122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40" b="0" i="0">
                <a:solidFill>
                  <a:srgbClr val="1C2235"/>
                </a:solidFill>
                <a:latin typeface="Segoe U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25796" y="1591056"/>
            <a:ext cx="960120" cy="21122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0" i="0">
                <a:solidFill>
                  <a:srgbClr val="1C2235"/>
                </a:solidFill>
                <a:latin typeface="Segoe UI"/>
              </a:rPr>
              <a:t>31–232 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54496" y="1591056"/>
            <a:ext cx="1645920" cy="21122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1" i="0">
                <a:solidFill>
                  <a:srgbClr val="1C2235"/>
                </a:solidFill>
                <a:latin typeface="Segoe UI"/>
              </a:rPr>
              <a:t>Оріентал Мерчант, Азіатік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34706" y="1591056"/>
            <a:ext cx="788670" cy="21122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1C2235"/>
                </a:solidFill>
                <a:latin typeface="Segoe UI"/>
              </a:rPr>
              <a:t>Корея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3776" y="1802282"/>
            <a:ext cx="1165860" cy="21122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72" b="1" i="0">
                <a:solidFill>
                  <a:srgbClr val="303A5D"/>
                </a:solidFill>
                <a:latin typeface="Segoe UI"/>
              </a:rPr>
              <a:t>Norris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59636" y="1802282"/>
            <a:ext cx="2708910" cy="21122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1C2235"/>
                </a:solidFill>
                <a:latin typeface="Segoe UI"/>
              </a:rPr>
              <a:t>Міні-пакет 3 / 4,5 г; Чипси 8 / 10 / 25 г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68546" y="1802282"/>
            <a:ext cx="342900" cy="21122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40" b="0" i="0">
                <a:solidFill>
                  <a:srgbClr val="1C2235"/>
                </a:solidFill>
                <a:latin typeface="Segoe UI"/>
              </a:rPr>
              <a:t>12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45736" y="1802282"/>
            <a:ext cx="411480" cy="21122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40" b="0" i="0">
                <a:solidFill>
                  <a:srgbClr val="1C2235"/>
                </a:solidFill>
                <a:latin typeface="Segoe UI"/>
              </a:rPr>
              <a:t>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25796" y="1802282"/>
            <a:ext cx="960120" cy="21122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0" i="0">
                <a:solidFill>
                  <a:srgbClr val="1C2235"/>
                </a:solidFill>
                <a:latin typeface="Segoe UI"/>
              </a:rPr>
              <a:t>30–76 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54496" y="1802282"/>
            <a:ext cx="1645920" cy="21122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1" i="0">
                <a:solidFill>
                  <a:srgbClr val="1C2235"/>
                </a:solidFill>
                <a:latin typeface="Segoe UI"/>
              </a:rPr>
              <a:t>Норріс Груп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34706" y="1802282"/>
            <a:ext cx="788670" cy="21122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1C2235"/>
                </a:solidFill>
                <a:latin typeface="Segoe UI"/>
              </a:rPr>
              <a:t>Китай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5196" y="2013508"/>
            <a:ext cx="8298180" cy="211226"/>
          </a:xfrm>
          <a:prstGeom prst="rect">
            <a:avLst/>
          </a:prstGeom>
          <a:solidFill>
            <a:srgbClr val="F8F9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93776" y="2013508"/>
            <a:ext cx="1165860" cy="21122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72" b="1" i="0">
                <a:solidFill>
                  <a:srgbClr val="303A5D"/>
                </a:solidFill>
                <a:latin typeface="Segoe UI"/>
              </a:rPr>
              <a:t>Tao Kae Noi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59636" y="2013508"/>
            <a:ext cx="2708910" cy="21122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1C2235"/>
                </a:solidFill>
                <a:latin typeface="Segoe UI"/>
              </a:rPr>
              <a:t>Темпура / топінг 15 / 25 / 40 / 59 г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68546" y="2013508"/>
            <a:ext cx="342900" cy="21122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40" b="0" i="0">
                <a:solidFill>
                  <a:srgbClr val="1C2235"/>
                </a:solidFill>
                <a:latin typeface="Segoe UI"/>
              </a:rPr>
              <a:t>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45736" y="2013508"/>
            <a:ext cx="411480" cy="21122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40" b="0" i="0">
                <a:solidFill>
                  <a:srgbClr val="1C2235"/>
                </a:solidFill>
                <a:latin typeface="Segoe UI"/>
              </a:rPr>
              <a:t>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225796" y="2013508"/>
            <a:ext cx="960120" cy="21122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0" i="0">
                <a:solidFill>
                  <a:srgbClr val="1C2235"/>
                </a:solidFill>
                <a:latin typeface="Segoe UI"/>
              </a:rPr>
              <a:t>70–528 ₴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54496" y="2013508"/>
            <a:ext cx="1645920" cy="21122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1" i="0">
                <a:solidFill>
                  <a:srgbClr val="1C2235"/>
                </a:solidFill>
                <a:latin typeface="Segoe UI"/>
              </a:rPr>
              <a:t>Фоззі Коммерс, Оріентал Мерчант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34706" y="2013508"/>
            <a:ext cx="788670" cy="21122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1C2235"/>
                </a:solidFill>
                <a:latin typeface="Segoe UI"/>
              </a:rPr>
              <a:t>Таїланд (Taokaenoi Food)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93776" y="2224735"/>
            <a:ext cx="1165860" cy="21122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72" b="1" i="0">
                <a:solidFill>
                  <a:srgbClr val="303A5D"/>
                </a:solidFill>
                <a:latin typeface="Segoe UI"/>
              </a:rPr>
              <a:t>Akura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659636" y="2224735"/>
            <a:ext cx="2708910" cy="21122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1C2235"/>
                </a:solidFill>
                <a:latin typeface="Segoe UI"/>
              </a:rPr>
              <a:t>Міні-пакет 4 / 4,5 г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68546" y="2224735"/>
            <a:ext cx="342900" cy="21122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40" b="0" i="0">
                <a:solidFill>
                  <a:srgbClr val="1C2235"/>
                </a:solidFill>
                <a:latin typeface="Segoe UI"/>
              </a:rPr>
              <a:t>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745736" y="2224735"/>
            <a:ext cx="411480" cy="21122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40" b="0" i="0">
                <a:solidFill>
                  <a:srgbClr val="1C2235"/>
                </a:solidFill>
                <a:latin typeface="Segoe UI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225796" y="2224735"/>
            <a:ext cx="960120" cy="21122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0" i="0">
                <a:solidFill>
                  <a:srgbClr val="1C2235"/>
                </a:solidFill>
                <a:latin typeface="Segoe UI"/>
              </a:rPr>
              <a:t>41–42 ₴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54496" y="2224735"/>
            <a:ext cx="1645920" cy="21122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1" i="0">
                <a:solidFill>
                  <a:srgbClr val="1C2235"/>
                </a:solidFill>
                <a:latin typeface="Segoe UI"/>
              </a:rPr>
              <a:t>Оріенталь Плюс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934706" y="2224735"/>
            <a:ext cx="788670" cy="21122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1C2235"/>
                </a:solidFill>
                <a:latin typeface="Segoe UI"/>
              </a:rPr>
              <a:t>Корея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25196" y="2435961"/>
            <a:ext cx="8298180" cy="211226"/>
          </a:xfrm>
          <a:prstGeom prst="rect">
            <a:avLst/>
          </a:prstGeom>
          <a:solidFill>
            <a:srgbClr val="F8F9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93776" y="2435961"/>
            <a:ext cx="1165860" cy="21122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72" b="1" i="0">
                <a:solidFill>
                  <a:srgbClr val="303A5D"/>
                </a:solidFill>
                <a:latin typeface="Segoe UI"/>
              </a:rPr>
              <a:t>Clearspring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659636" y="2435961"/>
            <a:ext cx="2708910" cy="21122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1C2235"/>
                </a:solidFill>
                <a:latin typeface="Segoe UI"/>
              </a:rPr>
              <a:t>Міні-пакет 4 г; Рис. крекери 50 г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368546" y="2435961"/>
            <a:ext cx="342900" cy="21122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40" b="0" i="0">
                <a:solidFill>
                  <a:srgbClr val="1C2235"/>
                </a:solidFill>
                <a:latin typeface="Segoe UI"/>
              </a:rPr>
              <a:t>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745736" y="2435961"/>
            <a:ext cx="411480" cy="21122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40" b="0" i="0">
                <a:solidFill>
                  <a:srgbClr val="1C2235"/>
                </a:solidFill>
                <a:latin typeface="Segoe UI"/>
              </a:rPr>
              <a:t>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25796" y="2435961"/>
            <a:ext cx="960120" cy="21122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0" i="0">
                <a:solidFill>
                  <a:srgbClr val="1C2235"/>
                </a:solidFill>
                <a:latin typeface="Segoe UI"/>
              </a:rPr>
              <a:t>84–126 ₴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254496" y="2435961"/>
            <a:ext cx="1645920" cy="21122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1" i="0">
                <a:solidFill>
                  <a:srgbClr val="1C2235"/>
                </a:solidFill>
                <a:latin typeface="Segoe UI"/>
              </a:rPr>
              <a:t>Бюро Вин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934706" y="2435961"/>
            <a:ext cx="788670" cy="21122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1C2235"/>
                </a:solidFill>
                <a:latin typeface="Segoe UI"/>
              </a:rPr>
              <a:t>Корея (Sahm Yook Sea Foods)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93776" y="2647188"/>
            <a:ext cx="1165860" cy="21122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72" b="1" i="0">
                <a:solidFill>
                  <a:srgbClr val="303A5D"/>
                </a:solidFill>
                <a:latin typeface="Segoe UI"/>
              </a:rPr>
              <a:t>Metro Chef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659636" y="2647188"/>
            <a:ext cx="2708910" cy="21122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1C2235"/>
                </a:solidFill>
                <a:latin typeface="Segoe UI"/>
              </a:rPr>
              <a:t>Міні-пакет 4,5 г; Темпура / топінг 30 г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368546" y="2647188"/>
            <a:ext cx="342900" cy="21122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40" b="0" i="0">
                <a:solidFill>
                  <a:srgbClr val="1C2235"/>
                </a:solidFill>
                <a:latin typeface="Segoe UI"/>
              </a:rPr>
              <a:t>5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745736" y="2647188"/>
            <a:ext cx="411480" cy="21122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40" b="0" i="0">
                <a:solidFill>
                  <a:srgbClr val="1C2235"/>
                </a:solidFill>
                <a:latin typeface="Segoe UI"/>
              </a:rPr>
              <a:t>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25796" y="2647188"/>
            <a:ext cx="960120" cy="21122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0" i="0">
                <a:solidFill>
                  <a:srgbClr val="1C2235"/>
                </a:solidFill>
                <a:latin typeface="Segoe UI"/>
              </a:rPr>
              <a:t>31–105 ₴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54496" y="2647188"/>
            <a:ext cx="1645920" cy="21122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1" i="0">
                <a:solidFill>
                  <a:srgbClr val="1C2235"/>
                </a:solidFill>
                <a:latin typeface="Segoe UI"/>
              </a:rPr>
              <a:t>Metro Cash &amp; Carry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934706" y="2647188"/>
            <a:ext cx="788670" cy="21122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1C2235"/>
                </a:solidFill>
                <a:latin typeface="Segoe UI"/>
              </a:rPr>
              <a:t>Корея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25196" y="2858414"/>
            <a:ext cx="8298180" cy="211226"/>
          </a:xfrm>
          <a:prstGeom prst="rect">
            <a:avLst/>
          </a:prstGeom>
          <a:solidFill>
            <a:srgbClr val="F8F9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93776" y="2858414"/>
            <a:ext cx="1165860" cy="21122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72" b="1" i="0">
                <a:solidFill>
                  <a:srgbClr val="303A5D"/>
                </a:solidFill>
                <a:latin typeface="Segoe UI"/>
              </a:rPr>
              <a:t>Ultra Pop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659636" y="2858414"/>
            <a:ext cx="2708910" cy="21122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1C2235"/>
                </a:solidFill>
                <a:latin typeface="Segoe UI"/>
              </a:rPr>
              <a:t>Рис. крекери 60 г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368546" y="2858414"/>
            <a:ext cx="342900" cy="21122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40" b="0" i="0">
                <a:solidFill>
                  <a:srgbClr val="1C2235"/>
                </a:solidFill>
                <a:latin typeface="Segoe UI"/>
              </a:rPr>
              <a:t>5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745736" y="2858414"/>
            <a:ext cx="411480" cy="21122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40" b="0" i="0">
                <a:solidFill>
                  <a:srgbClr val="1C2235"/>
                </a:solidFill>
                <a:latin typeface="Segoe UI"/>
              </a:rPr>
              <a:t>1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225796" y="2858414"/>
            <a:ext cx="960120" cy="21122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0" i="0">
                <a:solidFill>
                  <a:srgbClr val="1C2235"/>
                </a:solidFill>
                <a:latin typeface="Segoe UI"/>
              </a:rPr>
              <a:t>148 ₴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254496" y="2858414"/>
            <a:ext cx="1645920" cy="21122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0" i="0">
                <a:solidFill>
                  <a:srgbClr val="717890"/>
                </a:solidFill>
                <a:latin typeface="Segoe UI"/>
              </a:rPr>
              <a:t>у митній базі не знайдено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934706" y="2858414"/>
            <a:ext cx="788670" cy="21122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—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93776" y="3069640"/>
            <a:ext cx="1165860" cy="21122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72" b="1" i="0">
                <a:solidFill>
                  <a:srgbClr val="303A5D"/>
                </a:solidFill>
                <a:latin typeface="Segoe UI"/>
              </a:rPr>
              <a:t>Haelove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659636" y="3069640"/>
            <a:ext cx="2708910" cy="21122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1C2235"/>
                </a:solidFill>
                <a:latin typeface="Segoe UI"/>
              </a:rPr>
              <a:t>Міні-пакет 4,5 г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368546" y="3069640"/>
            <a:ext cx="342900" cy="21122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40" b="0" i="0">
                <a:solidFill>
                  <a:srgbClr val="1C2235"/>
                </a:solidFill>
                <a:latin typeface="Segoe UI"/>
              </a:rPr>
              <a:t>4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745736" y="3069640"/>
            <a:ext cx="411480" cy="21122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40" b="0" i="0">
                <a:solidFill>
                  <a:srgbClr val="1C2235"/>
                </a:solidFill>
                <a:latin typeface="Segoe UI"/>
              </a:rPr>
              <a:t>7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225796" y="3069640"/>
            <a:ext cx="960120" cy="21122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0" i="0">
                <a:solidFill>
                  <a:srgbClr val="1C2235"/>
                </a:solidFill>
                <a:latin typeface="Segoe UI"/>
              </a:rPr>
              <a:t>40–45 ₴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254496" y="3069640"/>
            <a:ext cx="1645920" cy="21122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1" i="0">
                <a:solidFill>
                  <a:srgbClr val="1C2235"/>
                </a:solidFill>
                <a:latin typeface="Segoe UI"/>
              </a:rPr>
              <a:t>ТД ІТС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934706" y="3069640"/>
            <a:ext cx="788670" cy="21122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1C2235"/>
                </a:solidFill>
                <a:latin typeface="Segoe UI"/>
              </a:rPr>
              <a:t>Корея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25196" y="3280867"/>
            <a:ext cx="8298180" cy="211226"/>
          </a:xfrm>
          <a:prstGeom prst="rect">
            <a:avLst/>
          </a:prstGeom>
          <a:solidFill>
            <a:srgbClr val="F8F9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93776" y="3280867"/>
            <a:ext cx="1165860" cy="21122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72" b="1" i="0">
                <a:solidFill>
                  <a:srgbClr val="303A5D"/>
                </a:solidFill>
                <a:latin typeface="Segoe UI"/>
              </a:rPr>
              <a:t>Ямчан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659636" y="3280867"/>
            <a:ext cx="2708910" cy="21122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1C2235"/>
                </a:solidFill>
                <a:latin typeface="Segoe UI"/>
              </a:rPr>
              <a:t>Міні-пакет 4,5 г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368546" y="3280867"/>
            <a:ext cx="342900" cy="21122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40" b="0" i="0">
                <a:solidFill>
                  <a:srgbClr val="1C2235"/>
                </a:solidFill>
                <a:latin typeface="Segoe UI"/>
              </a:rPr>
              <a:t>4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745736" y="3280867"/>
            <a:ext cx="411480" cy="21122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40" b="0" i="0">
                <a:solidFill>
                  <a:srgbClr val="1C2235"/>
                </a:solidFill>
                <a:latin typeface="Segoe UI"/>
              </a:rPr>
              <a:t>2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225796" y="3280867"/>
            <a:ext cx="960120" cy="21122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0" i="0">
                <a:solidFill>
                  <a:srgbClr val="1C2235"/>
                </a:solidFill>
                <a:latin typeface="Segoe UI"/>
              </a:rPr>
              <a:t>46 ₴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254496" y="3280867"/>
            <a:ext cx="1645920" cy="21122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0" i="0">
                <a:solidFill>
                  <a:srgbClr val="717890"/>
                </a:solidFill>
                <a:latin typeface="Segoe UI"/>
              </a:rPr>
              <a:t>у митній базі не знайдено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934706" y="3280867"/>
            <a:ext cx="788670" cy="21122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—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93776" y="3492093"/>
            <a:ext cx="1165860" cy="21122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72" b="1" i="0">
                <a:solidFill>
                  <a:srgbClr val="303A5D"/>
                </a:solidFill>
                <a:latin typeface="Segoe UI"/>
              </a:rPr>
              <a:t>Sempio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659636" y="3492093"/>
            <a:ext cx="2708910" cy="21122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1C2235"/>
                </a:solidFill>
                <a:latin typeface="Segoe UI"/>
              </a:rPr>
              <a:t>Міні-пакет 5 г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368546" y="3492093"/>
            <a:ext cx="342900" cy="21122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40" b="0" i="0">
                <a:solidFill>
                  <a:srgbClr val="1C2235"/>
                </a:solidFill>
                <a:latin typeface="Segoe UI"/>
              </a:rPr>
              <a:t>4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745736" y="3492093"/>
            <a:ext cx="411480" cy="21122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40" b="0" i="0">
                <a:solidFill>
                  <a:srgbClr val="1C2235"/>
                </a:solidFill>
                <a:latin typeface="Segoe UI"/>
              </a:rPr>
              <a:t>2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225796" y="3492093"/>
            <a:ext cx="960120" cy="21122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0" i="0">
                <a:solidFill>
                  <a:srgbClr val="1C2235"/>
                </a:solidFill>
                <a:latin typeface="Segoe UI"/>
              </a:rPr>
              <a:t>46–52 ₴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254496" y="3492093"/>
            <a:ext cx="1645920" cy="21122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0" i="0">
                <a:solidFill>
                  <a:srgbClr val="717890"/>
                </a:solidFill>
                <a:latin typeface="Segoe UI"/>
              </a:rPr>
              <a:t>у митній базі не знайдено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934706" y="3492093"/>
            <a:ext cx="788670" cy="21122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—</a:t>
            </a:r>
          </a:p>
        </p:txBody>
      </p:sp>
      <p:sp>
        <p:nvSpPr>
          <p:cNvPr id="93" name="Rectangle 92"/>
          <p:cNvSpPr/>
          <p:nvPr/>
        </p:nvSpPr>
        <p:spPr>
          <a:xfrm>
            <a:off x="425196" y="3703320"/>
            <a:ext cx="8298180" cy="211226"/>
          </a:xfrm>
          <a:prstGeom prst="rect">
            <a:avLst/>
          </a:prstGeom>
          <a:solidFill>
            <a:srgbClr val="F8F9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493776" y="3703320"/>
            <a:ext cx="1165860" cy="21122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72" b="1" i="0">
                <a:solidFill>
                  <a:srgbClr val="303A5D"/>
                </a:solidFill>
                <a:latin typeface="Segoe UI"/>
              </a:rPr>
              <a:t>Ocean Snack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659636" y="3703320"/>
            <a:ext cx="2708910" cy="21122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1C2235"/>
                </a:solidFill>
                <a:latin typeface="Segoe UI"/>
              </a:rPr>
              <a:t>Чипси 40 г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368546" y="3703320"/>
            <a:ext cx="342900" cy="21122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40" b="0" i="0">
                <a:solidFill>
                  <a:srgbClr val="1C2235"/>
                </a:solidFill>
                <a:latin typeface="Segoe UI"/>
              </a:rPr>
              <a:t>4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745736" y="3703320"/>
            <a:ext cx="411480" cy="21122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40" b="0" i="0">
                <a:solidFill>
                  <a:srgbClr val="1C2235"/>
                </a:solidFill>
                <a:latin typeface="Segoe UI"/>
              </a:rPr>
              <a:t>2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5225796" y="3703320"/>
            <a:ext cx="960120" cy="21122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0" i="0">
                <a:solidFill>
                  <a:srgbClr val="1C2235"/>
                </a:solidFill>
                <a:latin typeface="Segoe UI"/>
              </a:rPr>
              <a:t>111 ₴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254496" y="3703320"/>
            <a:ext cx="1645920" cy="21122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0" i="0">
                <a:solidFill>
                  <a:srgbClr val="717890"/>
                </a:solidFill>
                <a:latin typeface="Segoe UI"/>
              </a:rPr>
              <a:t>у митній базі не знайдено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7934706" y="3703320"/>
            <a:ext cx="788670" cy="21122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—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93776" y="3914546"/>
            <a:ext cx="1165860" cy="21122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72" b="1" i="0">
                <a:solidFill>
                  <a:srgbClr val="303A5D"/>
                </a:solidFill>
                <a:latin typeface="Segoe UI"/>
              </a:rPr>
              <a:t>Humanwell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659636" y="3914546"/>
            <a:ext cx="2708910" cy="21122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1C2235"/>
                </a:solidFill>
                <a:latin typeface="Segoe UI"/>
              </a:rPr>
              <a:t>Міні-пакет 4 г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4368546" y="3914546"/>
            <a:ext cx="342900" cy="21122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40" b="0" i="0">
                <a:solidFill>
                  <a:srgbClr val="1C2235"/>
                </a:solidFill>
                <a:latin typeface="Segoe UI"/>
              </a:rPr>
              <a:t>3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4745736" y="3914546"/>
            <a:ext cx="411480" cy="21122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40" b="0" i="0">
                <a:solidFill>
                  <a:srgbClr val="1C2235"/>
                </a:solidFill>
                <a:latin typeface="Segoe UI"/>
              </a:rPr>
              <a:t>3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5225796" y="3914546"/>
            <a:ext cx="960120" cy="21122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0" i="0">
                <a:solidFill>
                  <a:srgbClr val="1C2235"/>
                </a:solidFill>
                <a:latin typeface="Segoe UI"/>
              </a:rPr>
              <a:t>40–42 ₴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6254496" y="3914546"/>
            <a:ext cx="1645920" cy="21122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0" i="0">
                <a:solidFill>
                  <a:srgbClr val="717890"/>
                </a:solidFill>
                <a:latin typeface="Segoe UI"/>
              </a:rPr>
              <a:t>у митній базі не знайдено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7934706" y="3914546"/>
            <a:ext cx="788670" cy="21122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—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425196" y="4125772"/>
            <a:ext cx="8298180" cy="211226"/>
          </a:xfrm>
          <a:prstGeom prst="rect">
            <a:avLst/>
          </a:prstGeom>
          <a:solidFill>
            <a:srgbClr val="F8F9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493776" y="4125772"/>
            <a:ext cx="1165860" cy="21122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72" b="1" i="0">
                <a:solidFill>
                  <a:srgbClr val="303A5D"/>
                </a:solidFill>
                <a:latin typeface="Segoe UI"/>
              </a:rPr>
              <a:t>Kimnori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659636" y="4125772"/>
            <a:ext cx="2708910" cy="21122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1C2235"/>
                </a:solidFill>
                <a:latin typeface="Segoe UI"/>
              </a:rPr>
              <a:t>Міні-пакет 4 г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4368546" y="4125772"/>
            <a:ext cx="342900" cy="21122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40" b="0" i="0">
                <a:solidFill>
                  <a:srgbClr val="1C2235"/>
                </a:solidFill>
                <a:latin typeface="Segoe UI"/>
              </a:rPr>
              <a:t>3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4745736" y="4125772"/>
            <a:ext cx="411480" cy="21122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40" b="0" i="0">
                <a:solidFill>
                  <a:srgbClr val="1C2235"/>
                </a:solidFill>
                <a:latin typeface="Segoe UI"/>
              </a:rPr>
              <a:t>5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5225796" y="4125772"/>
            <a:ext cx="960120" cy="21122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0" i="0">
                <a:solidFill>
                  <a:srgbClr val="1C2235"/>
                </a:solidFill>
                <a:latin typeface="Segoe UI"/>
              </a:rPr>
              <a:t>80 ₴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6254496" y="4125772"/>
            <a:ext cx="1645920" cy="21122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0" i="0">
                <a:solidFill>
                  <a:srgbClr val="717890"/>
                </a:solidFill>
                <a:latin typeface="Segoe UI"/>
              </a:rPr>
              <a:t>у митній базі не знайдено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7934706" y="4125772"/>
            <a:ext cx="788670" cy="21122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—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493776" y="4336999"/>
            <a:ext cx="1165860" cy="21122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72" b="1" i="0">
                <a:solidFill>
                  <a:srgbClr val="303A5D"/>
                </a:solidFill>
                <a:latin typeface="Segoe UI"/>
              </a:rPr>
              <a:t>Hokkaido Club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659636" y="4336999"/>
            <a:ext cx="2708910" cy="21122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1C2235"/>
                </a:solidFill>
                <a:latin typeface="Segoe UI"/>
              </a:rPr>
              <a:t>Чипси 25 г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4368546" y="4336999"/>
            <a:ext cx="342900" cy="21122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40" b="0" i="0">
                <a:solidFill>
                  <a:srgbClr val="1C2235"/>
                </a:solidFill>
                <a:latin typeface="Segoe UI"/>
              </a:rPr>
              <a:t>3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4745736" y="4336999"/>
            <a:ext cx="411480" cy="21122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40" b="0" i="0">
                <a:solidFill>
                  <a:srgbClr val="1C2235"/>
                </a:solidFill>
                <a:latin typeface="Segoe UI"/>
              </a:rPr>
              <a:t>8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5225796" y="4336999"/>
            <a:ext cx="960120" cy="21122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0" i="0">
                <a:solidFill>
                  <a:srgbClr val="1C2235"/>
                </a:solidFill>
                <a:latin typeface="Segoe UI"/>
              </a:rPr>
              <a:t>58 ₴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6254496" y="4336999"/>
            <a:ext cx="1645920" cy="21122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0" i="0">
                <a:solidFill>
                  <a:srgbClr val="717890"/>
                </a:solidFill>
                <a:latin typeface="Segoe UI"/>
              </a:rPr>
              <a:t>у митній базі не знайдено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7934706" y="4336999"/>
            <a:ext cx="788670" cy="21122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—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425196" y="4548225"/>
            <a:ext cx="8298180" cy="211226"/>
          </a:xfrm>
          <a:prstGeom prst="rect">
            <a:avLst/>
          </a:prstGeom>
          <a:solidFill>
            <a:srgbClr val="F8F9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493776" y="4548225"/>
            <a:ext cx="1165860" cy="21122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72" b="1" i="0">
                <a:solidFill>
                  <a:srgbClr val="303A5D"/>
                </a:solidFill>
                <a:latin typeface="Segoe UI"/>
              </a:rPr>
              <a:t>Want Want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1659636" y="4548225"/>
            <a:ext cx="2708910" cy="21122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1C2235"/>
                </a:solidFill>
                <a:latin typeface="Segoe UI"/>
              </a:rPr>
              <a:t>Рис. крекери 60 г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4368546" y="4548225"/>
            <a:ext cx="342900" cy="21122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40" b="0" i="0">
                <a:solidFill>
                  <a:srgbClr val="1C2235"/>
                </a:solidFill>
                <a:latin typeface="Segoe UI"/>
              </a:rPr>
              <a:t>3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4745736" y="4548225"/>
            <a:ext cx="411480" cy="21122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40" b="0" i="0">
                <a:solidFill>
                  <a:srgbClr val="1C2235"/>
                </a:solidFill>
                <a:latin typeface="Segoe UI"/>
              </a:rPr>
              <a:t>3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5225796" y="4548225"/>
            <a:ext cx="960120" cy="21122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0" i="0">
                <a:solidFill>
                  <a:srgbClr val="1C2235"/>
                </a:solidFill>
                <a:latin typeface="Segoe UI"/>
              </a:rPr>
              <a:t>144–147 ₴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254496" y="4548225"/>
            <a:ext cx="1645920" cy="21122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0" i="0">
                <a:solidFill>
                  <a:srgbClr val="717890"/>
                </a:solidFill>
                <a:latin typeface="Segoe UI"/>
              </a:rPr>
              <a:t>у митній базі не знайдено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934706" y="4548225"/>
            <a:ext cx="788670" cy="21122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—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425196" y="4855464"/>
            <a:ext cx="829818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1">
                <a:solidFill>
                  <a:srgbClr val="717890"/>
                </a:solidFill>
                <a:latin typeface="Segoe UI"/>
              </a:rPr>
              <a:t>Каталоги мереж на zakaz.ua (METRO, NOVUS, Ашан, Зараз, МегаМаркет, Ultramarket, Епіцентр, Космос, Onde, Ідеал, Восторг, Клас, Таврія В, ЧудоМаркет, Торба, Grono) · 07.10.2026 · ціна — онлайн-полиця одного магазину мережі, діапазон — між мережами.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977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3977" cy="795528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95528"/>
            <a:ext cx="9143977" cy="41148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" y="178308"/>
            <a:ext cx="1042416" cy="4526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728216" y="205740"/>
            <a:ext cx="61722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1" i="0" spc="30">
                <a:solidFill>
                  <a:srgbClr val="FFC95C"/>
                </a:solidFill>
                <a:latin typeface="Segoe UI"/>
              </a:rPr>
              <a:t>ФОРМАТ × ВАГА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28216" y="377190"/>
            <a:ext cx="61722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20" b="1" i="0">
                <a:solidFill>
                  <a:srgbClr val="FFFFFF"/>
                </a:solidFill>
                <a:latin typeface="Segoe UI"/>
              </a:rPr>
              <a:t>Де насправді щільна полиця: вага упаковки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20990" y="301752"/>
            <a:ext cx="768096" cy="2263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360" b="1" i="0">
                <a:solidFill>
                  <a:srgbClr val="465382"/>
                </a:solidFill>
                <a:latin typeface="Segoe UI"/>
              </a:rPr>
              <a:t>29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5196" y="932688"/>
            <a:ext cx="8298180" cy="150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36" b="0" i="0">
                <a:solidFill>
                  <a:srgbClr val="717890"/>
                </a:solidFill>
                <a:latin typeface="Segoe UI"/>
              </a:rPr>
              <a:t>Кількість позицій і медіана ціни упаковки за ваговими смугами. Золотою позначено смуги, де є наші SKU.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" y="1220724"/>
            <a:ext cx="27432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 spc="40">
                <a:solidFill>
                  <a:srgbClr val="717890"/>
                </a:solidFill>
                <a:latin typeface="Segoe UI"/>
              </a:rPr>
              <a:t>ПОЗИЦІЙ У ВАГОВІЙ СМУЗІ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06340" y="1220724"/>
            <a:ext cx="34290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 spc="40">
                <a:solidFill>
                  <a:srgbClr val="717890"/>
                </a:solidFill>
                <a:latin typeface="Segoe UI"/>
              </a:rPr>
              <a:t>ТИПОВА ЦІНА УПАКОВКИ (МЕДІАНА), ₴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7190" y="1399032"/>
            <a:ext cx="8401050" cy="493776"/>
          </a:xfrm>
          <a:prstGeom prst="rect">
            <a:avLst/>
          </a:prstGeom>
          <a:solidFill>
            <a:srgbClr val="FFF3D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5196" y="1440180"/>
            <a:ext cx="891540" cy="3771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52" b="1" i="0">
                <a:solidFill>
                  <a:srgbClr val="303A5D"/>
                </a:solidFill>
                <a:latin typeface="Segoe UI"/>
              </a:rPr>
              <a:t>до 5 г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71600" y="1522476"/>
            <a:ext cx="2948940" cy="21945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0" y="1440180"/>
            <a:ext cx="1234440" cy="3771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88" b="1" i="0">
                <a:solidFill>
                  <a:srgbClr val="717890"/>
                </a:solidFill>
                <a:latin typeface="Segoe UI"/>
              </a:rPr>
              <a:t>49 · 56 %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06340" y="1522476"/>
            <a:ext cx="460857" cy="21945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35777" y="1440180"/>
            <a:ext cx="1577340" cy="3771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88" b="1" i="0">
                <a:solidFill>
                  <a:srgbClr val="717890"/>
                </a:solidFill>
                <a:latin typeface="Segoe UI"/>
              </a:rPr>
              <a:t>42 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43800" y="1440180"/>
            <a:ext cx="1165860" cy="3771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40" b="1" i="0">
                <a:solidFill>
                  <a:srgbClr val="C4820A"/>
                </a:solidFill>
                <a:latin typeface="Segoe UI"/>
              </a:rPr>
              <a:t>наші SKU: 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7190" y="1933956"/>
            <a:ext cx="8401050" cy="493776"/>
          </a:xfrm>
          <a:prstGeom prst="rect">
            <a:avLst/>
          </a:prstGeom>
          <a:solidFill>
            <a:srgbClr val="FFF3D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5196" y="1975104"/>
            <a:ext cx="891540" cy="3771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52" b="1" i="0">
                <a:solidFill>
                  <a:srgbClr val="303A5D"/>
                </a:solidFill>
                <a:latin typeface="Segoe UI"/>
              </a:rPr>
              <a:t>8–15 г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71600" y="2057400"/>
            <a:ext cx="481459" cy="21945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921639" y="1975104"/>
            <a:ext cx="1234440" cy="3771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88" b="1" i="0">
                <a:solidFill>
                  <a:srgbClr val="717890"/>
                </a:solidFill>
                <a:latin typeface="Segoe UI"/>
              </a:rPr>
              <a:t>8 · 9 %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06340" y="2057400"/>
            <a:ext cx="570585" cy="21945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45505" y="1975104"/>
            <a:ext cx="1577340" cy="3771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88" b="1" i="0">
                <a:solidFill>
                  <a:srgbClr val="717890"/>
                </a:solidFill>
                <a:latin typeface="Segoe UI"/>
              </a:rPr>
              <a:t>52 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43800" y="1975104"/>
            <a:ext cx="1165860" cy="3771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40" b="1" i="0">
                <a:solidFill>
                  <a:srgbClr val="C4820A"/>
                </a:solidFill>
                <a:latin typeface="Segoe UI"/>
              </a:rPr>
              <a:t>наші SKU: 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77190" y="2468880"/>
            <a:ext cx="8401050" cy="493776"/>
          </a:xfrm>
          <a:prstGeom prst="rect">
            <a:avLst/>
          </a:prstGeom>
          <a:solidFill>
            <a:srgbClr val="FFF3D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5196" y="2510028"/>
            <a:ext cx="891540" cy="3771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52" b="1" i="0">
                <a:solidFill>
                  <a:srgbClr val="303A5D"/>
                </a:solidFill>
                <a:latin typeface="Segoe UI"/>
              </a:rPr>
              <a:t>20–30 г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371600" y="2592324"/>
            <a:ext cx="842554" cy="21945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282734" y="2510028"/>
            <a:ext cx="1234440" cy="3771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88" b="1" i="0">
                <a:solidFill>
                  <a:srgbClr val="717890"/>
                </a:solidFill>
                <a:latin typeface="Segoe UI"/>
              </a:rPr>
              <a:t>14 · 16 %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06340" y="2592324"/>
            <a:ext cx="860240" cy="21945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35160" y="2510028"/>
            <a:ext cx="1577340" cy="3771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88" b="1" i="0">
                <a:solidFill>
                  <a:srgbClr val="717890"/>
                </a:solidFill>
                <a:latin typeface="Segoe UI"/>
              </a:rPr>
              <a:t>78 ₴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43800" y="2510028"/>
            <a:ext cx="1165860" cy="3771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40" b="1" i="0">
                <a:solidFill>
                  <a:srgbClr val="C4820A"/>
                </a:solidFill>
                <a:latin typeface="Segoe UI"/>
              </a:rPr>
              <a:t>наші SKU: 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77190" y="3003804"/>
            <a:ext cx="8401050" cy="493776"/>
          </a:xfrm>
          <a:prstGeom prst="rect">
            <a:avLst/>
          </a:prstGeom>
          <a:solidFill>
            <a:srgbClr val="FFF3D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5196" y="3044952"/>
            <a:ext cx="891540" cy="3771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52" b="1" i="0">
                <a:solidFill>
                  <a:srgbClr val="303A5D"/>
                </a:solidFill>
                <a:latin typeface="Segoe UI"/>
              </a:rPr>
              <a:t>35–60 г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371600" y="3127248"/>
            <a:ext cx="962919" cy="21945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403099" y="3044952"/>
            <a:ext cx="1234440" cy="3771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88" b="1" i="0">
                <a:solidFill>
                  <a:srgbClr val="717890"/>
                </a:solidFill>
                <a:latin typeface="Segoe UI"/>
              </a:rPr>
              <a:t>16 · 18 %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06340" y="3127248"/>
            <a:ext cx="1602303" cy="21945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77223" y="3044952"/>
            <a:ext cx="1577340" cy="3771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88" b="1" i="0">
                <a:solidFill>
                  <a:srgbClr val="717890"/>
                </a:solidFill>
                <a:latin typeface="Segoe UI"/>
              </a:rPr>
              <a:t>146 ₴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43800" y="3044952"/>
            <a:ext cx="1165860" cy="3771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40" b="1" i="0">
                <a:solidFill>
                  <a:srgbClr val="C4820A"/>
                </a:solidFill>
                <a:latin typeface="Segoe UI"/>
              </a:rPr>
              <a:t>наші SKU: 10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77190" y="3538728"/>
            <a:ext cx="8401050" cy="493776"/>
          </a:xfrm>
          <a:prstGeom prst="rect">
            <a:avLst/>
          </a:prstGeom>
          <a:solidFill>
            <a:srgbClr val="FFF3D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25196" y="3579876"/>
            <a:ext cx="891540" cy="3771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52" b="1" i="0">
                <a:solidFill>
                  <a:srgbClr val="303A5D"/>
                </a:solidFill>
                <a:latin typeface="Segoe UI"/>
              </a:rPr>
              <a:t>70 г і більше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371600" y="3662172"/>
            <a:ext cx="60182" cy="21945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500362" y="3579876"/>
            <a:ext cx="1234440" cy="3771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88" b="1" i="0">
                <a:solidFill>
                  <a:srgbClr val="717890"/>
                </a:solidFill>
                <a:latin typeface="Segoe UI"/>
              </a:rPr>
              <a:t>1 · 1 %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006340" y="3662172"/>
            <a:ext cx="2194560" cy="21945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269480" y="3579876"/>
            <a:ext cx="1577340" cy="3771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88" b="1" i="0">
                <a:solidFill>
                  <a:srgbClr val="717890"/>
                </a:solidFill>
                <a:latin typeface="Segoe UI"/>
              </a:rPr>
              <a:t>232 ₴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543800" y="3579876"/>
            <a:ext cx="1165860" cy="3771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40" b="1" i="0">
                <a:solidFill>
                  <a:srgbClr val="C4820A"/>
                </a:solidFill>
                <a:latin typeface="Segoe UI"/>
              </a:rPr>
              <a:t>наші SKU: 3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25196" y="4183380"/>
            <a:ext cx="4080510" cy="63093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25196" y="4183380"/>
            <a:ext cx="27432" cy="63093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62356" y="4251960"/>
            <a:ext cx="384048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 spc="20">
                <a:solidFill>
                  <a:srgbClr val="303A5D"/>
                </a:solidFill>
                <a:latin typeface="Segoe UI"/>
              </a:rPr>
              <a:t>ДЕ СТОЇТЬ НАШ АСОРТИМЕНТ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62356" y="4389120"/>
            <a:ext cx="3840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24" b="0" i="0">
                <a:solidFill>
                  <a:srgbClr val="1C2235"/>
                </a:solidFill>
                <a:latin typeface="Segoe UI"/>
              </a:rPr>
              <a:t>Наші SKU є в усіх п’яти вагових смугах. Найщільніша полиця — до 5 г (49 SKU, 56 %); у смузі 35–60 г — 16 позицій ринку й 10 наших SKU (Singha, Thai-Nichi, ZEK).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642866" y="4183380"/>
            <a:ext cx="4080510" cy="63093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642866" y="4183380"/>
            <a:ext cx="27432" cy="63093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80026" y="4251960"/>
            <a:ext cx="384048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 spc="20">
                <a:solidFill>
                  <a:srgbClr val="C4820A"/>
                </a:solidFill>
                <a:latin typeface="Segoe UI"/>
              </a:rPr>
              <a:t>ЦІНА ЗРОСТАЄ З ВАГОЮ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780026" y="4389120"/>
            <a:ext cx="3840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24" b="0" i="0">
                <a:solidFill>
                  <a:srgbClr val="1C2235"/>
                </a:solidFill>
                <a:latin typeface="Segoe UI"/>
              </a:rPr>
              <a:t>Типова упаковка до 5 г — 42 ₴, 8–15 г — 52 ₴, 20–30 г — 78 ₴, 35–60 г — 146 ₴. Наші TMK 10–12 г стоять по 108 ₴ — у 2,1 рази вище за типову упаковку своєї смуги (52 ₴).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25196" y="4855464"/>
            <a:ext cx="829818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1">
                <a:solidFill>
                  <a:srgbClr val="717890"/>
                </a:solidFill>
                <a:latin typeface="Segoe UI"/>
              </a:rPr>
              <a:t>Каталоги мереж на zakaz.ua (METRO, NOVUS, Ашан, Зараз, МегаМаркет, Ultramarket, Епіцентр, Космос, Onde, Ідеал, Восторг, Клас, Таврія В, ЧудоМаркет, Торба, Grono) · 07.10.2026 · ціна — онлайн-полиця одного магазину мережі, діапазон — між мережами.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977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3977" cy="795528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95528"/>
            <a:ext cx="9143977" cy="41148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" y="178308"/>
            <a:ext cx="1042416" cy="4526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728216" y="205740"/>
            <a:ext cx="61722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1" i="0" spc="30">
                <a:solidFill>
                  <a:srgbClr val="FFC95C"/>
                </a:solidFill>
                <a:latin typeface="Segoe UI"/>
              </a:rPr>
              <a:t>РИТЕЙЛ-АУДИТ · МЕРЕЖІ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28216" y="377190"/>
            <a:ext cx="61722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20" b="1" i="0">
                <a:solidFill>
                  <a:srgbClr val="FFFFFF"/>
                </a:solidFill>
                <a:latin typeface="Segoe UI"/>
              </a:rPr>
              <a:t>Що з норі-снеків стоїть у мережах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20990" y="301752"/>
            <a:ext cx="768096" cy="2263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360" b="1" i="0">
                <a:solidFill>
                  <a:srgbClr val="465382"/>
                </a:solidFill>
                <a:latin typeface="Segoe UI"/>
              </a:rPr>
              <a:t>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5196" y="932688"/>
            <a:ext cx="8298180" cy="150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4" b="0" i="0">
                <a:solidFill>
                  <a:srgbClr val="717890"/>
                </a:solidFill>
                <a:latin typeface="Segoe UI"/>
              </a:rPr>
              <a:t>Суцільна перевірка онлайн-каталогів 18 мереж. SKU — унікальні позиції норі-снеків і рисових крекерів. Праворуч: мін.–макс. (лінія) і медіана (крапка) ціни упаковки.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" y="1234440"/>
            <a:ext cx="10972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 spc="40">
                <a:solidFill>
                  <a:srgbClr val="717890"/>
                </a:solidFill>
                <a:latin typeface="Segoe UI"/>
              </a:rPr>
              <a:t>МЕРЕЖА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91056" y="1234440"/>
            <a:ext cx="54864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 spc="40">
                <a:solidFill>
                  <a:srgbClr val="717890"/>
                </a:solidFill>
                <a:latin typeface="Segoe UI"/>
              </a:rPr>
              <a:t>ТИП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08276" y="1234440"/>
            <a:ext cx="24688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 spc="40">
                <a:solidFill>
                  <a:srgbClr val="717890"/>
                </a:solidFill>
                <a:latin typeface="Segoe UI"/>
              </a:rPr>
              <a:t>SKU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82896" y="1234440"/>
            <a:ext cx="34290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 spc="40">
                <a:solidFill>
                  <a:srgbClr val="717890"/>
                </a:solidFill>
                <a:latin typeface="Segoe UI"/>
              </a:rPr>
              <a:t>ЦІНА УПАКОВКИ · МІН.–МАКС. · МЕДІАНА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11896" y="1234440"/>
            <a:ext cx="7543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00" b="1" i="0" spc="40">
                <a:solidFill>
                  <a:srgbClr val="717890"/>
                </a:solidFill>
                <a:latin typeface="Segoe UI"/>
              </a:rPr>
              <a:t>МЕДІАНА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82896" y="1426464"/>
            <a:ext cx="6858" cy="2977469"/>
          </a:xfrm>
          <a:prstGeom prst="rect">
            <a:avLst/>
          </a:prstGeom>
          <a:solidFill>
            <a:srgbClr val="D9DE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77156" y="4403933"/>
            <a:ext cx="41148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23001" y="1426464"/>
            <a:ext cx="6858" cy="2977469"/>
          </a:xfrm>
          <a:prstGeom prst="rect">
            <a:avLst/>
          </a:prstGeom>
          <a:solidFill>
            <a:srgbClr val="D9DE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517261" y="4403933"/>
            <a:ext cx="41148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50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63106" y="1426464"/>
            <a:ext cx="6858" cy="2977469"/>
          </a:xfrm>
          <a:prstGeom prst="rect">
            <a:avLst/>
          </a:prstGeom>
          <a:solidFill>
            <a:srgbClr val="D9DE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7366" y="4403933"/>
            <a:ext cx="41148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100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03211" y="1426464"/>
            <a:ext cx="6858" cy="2977469"/>
          </a:xfrm>
          <a:prstGeom prst="rect">
            <a:avLst/>
          </a:prstGeom>
          <a:solidFill>
            <a:srgbClr val="D9DE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97471" y="4403933"/>
            <a:ext cx="41148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150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43316" y="1426464"/>
            <a:ext cx="6858" cy="2977469"/>
          </a:xfrm>
          <a:prstGeom prst="rect">
            <a:avLst/>
          </a:prstGeom>
          <a:solidFill>
            <a:srgbClr val="D9DE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37576" y="4403933"/>
            <a:ext cx="41148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200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5196" y="1440180"/>
            <a:ext cx="8298180" cy="183794"/>
          </a:xfrm>
          <a:prstGeom prst="rect">
            <a:avLst/>
          </a:prstGeom>
          <a:solidFill>
            <a:srgbClr val="F8F9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9486" y="1440180"/>
            <a:ext cx="1097280" cy="1837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6" b="1" i="0">
                <a:solidFill>
                  <a:srgbClr val="303A5D"/>
                </a:solidFill>
                <a:latin typeface="Segoe UI"/>
              </a:rPr>
              <a:t>Ашан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591056" y="1474470"/>
            <a:ext cx="534924" cy="11521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591056" y="1474470"/>
            <a:ext cx="534924" cy="11521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НАЦ.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208276" y="1488186"/>
            <a:ext cx="1058091" cy="8778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208276" y="1474470"/>
            <a:ext cx="1058091" cy="11521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18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66367" y="1488186"/>
            <a:ext cx="352697" cy="8778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66367" y="1474470"/>
            <a:ext cx="352697" cy="11521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19064" y="1488186"/>
            <a:ext cx="470262" cy="87782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19064" y="1474470"/>
            <a:ext cx="470262" cy="11521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8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089327" y="1488186"/>
            <a:ext cx="176348" cy="87782"/>
          </a:xfrm>
          <a:prstGeom prst="rect">
            <a:avLst/>
          </a:prstGeom>
          <a:solidFill>
            <a:srgbClr val="B23A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089327" y="1474470"/>
            <a:ext cx="176348" cy="11521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20540" y="1440180"/>
            <a:ext cx="411480" cy="1837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6" b="1" i="0">
                <a:solidFill>
                  <a:srgbClr val="717890"/>
                </a:solidFill>
                <a:latin typeface="Segoe UI"/>
              </a:rPr>
              <a:t>35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03761" y="1518361"/>
            <a:ext cx="2839554" cy="27432"/>
          </a:xfrm>
          <a:prstGeom prst="rect">
            <a:avLst/>
          </a:prstGeom>
          <a:solidFill>
            <a:srgbClr val="A5ABB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5820386" y="1490929"/>
            <a:ext cx="82296" cy="82296"/>
          </a:xfrm>
          <a:prstGeom prst="roundRect">
            <a:avLst>
              <a:gd name="adj" fmla="val 50000"/>
            </a:avLst>
          </a:prstGeom>
          <a:solidFill>
            <a:srgbClr val="C4820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11896" y="1440180"/>
            <a:ext cx="754380" cy="1837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56" b="1" i="0">
                <a:solidFill>
                  <a:srgbClr val="303A5D"/>
                </a:solidFill>
                <a:latin typeface="Segoe UI"/>
              </a:rPr>
              <a:t>58 ₴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9486" y="1623974"/>
            <a:ext cx="1097280" cy="1837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6" b="1" i="0">
                <a:solidFill>
                  <a:srgbClr val="303A5D"/>
                </a:solidFill>
                <a:latin typeface="Segoe UI"/>
              </a:rPr>
              <a:t>Зараз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591056" y="1658264"/>
            <a:ext cx="534924" cy="11521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591056" y="1658264"/>
            <a:ext cx="534924" cy="11521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НАЦ.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208276" y="1671980"/>
            <a:ext cx="881742" cy="8778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208276" y="1658264"/>
            <a:ext cx="881742" cy="11521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15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090018" y="1671980"/>
            <a:ext cx="352697" cy="8778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090018" y="1658264"/>
            <a:ext cx="352697" cy="11521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442716" y="1671980"/>
            <a:ext cx="293914" cy="87782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442716" y="1658264"/>
            <a:ext cx="293914" cy="11521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791494" y="1623974"/>
            <a:ext cx="411480" cy="1837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6" b="1" i="0">
                <a:solidFill>
                  <a:srgbClr val="717890"/>
                </a:solidFill>
                <a:latin typeface="Segoe UI"/>
              </a:rPr>
              <a:t>26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403761" y="1702155"/>
            <a:ext cx="1821347" cy="27432"/>
          </a:xfrm>
          <a:prstGeom prst="rect">
            <a:avLst/>
          </a:prstGeom>
          <a:solidFill>
            <a:srgbClr val="A5ABB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5820386" y="1674723"/>
            <a:ext cx="82296" cy="82296"/>
          </a:xfrm>
          <a:prstGeom prst="roundRect">
            <a:avLst>
              <a:gd name="adj" fmla="val 50000"/>
            </a:avLst>
          </a:prstGeom>
          <a:solidFill>
            <a:srgbClr val="C4820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311896" y="1623974"/>
            <a:ext cx="754380" cy="1837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56" b="1" i="0">
                <a:solidFill>
                  <a:srgbClr val="303A5D"/>
                </a:solidFill>
                <a:latin typeface="Segoe UI"/>
              </a:rPr>
              <a:t>58 ₴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25196" y="1807768"/>
            <a:ext cx="8298180" cy="183794"/>
          </a:xfrm>
          <a:prstGeom prst="rect">
            <a:avLst/>
          </a:prstGeom>
          <a:solidFill>
            <a:srgbClr val="F8F9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59486" y="1807768"/>
            <a:ext cx="1097280" cy="1837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6" b="1" i="0">
                <a:solidFill>
                  <a:srgbClr val="303A5D"/>
                </a:solidFill>
                <a:latin typeface="Segoe UI"/>
              </a:rPr>
              <a:t>Епіцентр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591056" y="1842058"/>
            <a:ext cx="534924" cy="11521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591056" y="1842058"/>
            <a:ext cx="534924" cy="11521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НАЦ.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208276" y="1855774"/>
            <a:ext cx="529045" cy="8778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208276" y="1842058"/>
            <a:ext cx="529045" cy="11521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9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737321" y="1855774"/>
            <a:ext cx="587828" cy="8778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737321" y="1842058"/>
            <a:ext cx="587828" cy="11521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10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380014" y="1807768"/>
            <a:ext cx="411480" cy="1837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6" b="1" i="0">
                <a:solidFill>
                  <a:srgbClr val="717890"/>
                </a:solidFill>
                <a:latin typeface="Segoe UI"/>
              </a:rPr>
              <a:t>19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378557" y="1885950"/>
            <a:ext cx="777853" cy="27432"/>
          </a:xfrm>
          <a:prstGeom prst="rect">
            <a:avLst/>
          </a:prstGeom>
          <a:solidFill>
            <a:srgbClr val="A5ABB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5560877" y="1858518"/>
            <a:ext cx="82296" cy="82296"/>
          </a:xfrm>
          <a:prstGeom prst="roundRect">
            <a:avLst>
              <a:gd name="adj" fmla="val 50000"/>
            </a:avLst>
          </a:prstGeom>
          <a:solidFill>
            <a:srgbClr val="C4820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311896" y="1807768"/>
            <a:ext cx="754380" cy="1837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56" b="1" i="0">
                <a:solidFill>
                  <a:srgbClr val="303A5D"/>
                </a:solidFill>
                <a:latin typeface="Segoe UI"/>
              </a:rPr>
              <a:t>43 ₴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59486" y="1991563"/>
            <a:ext cx="1097280" cy="1837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6" b="1" i="0">
                <a:solidFill>
                  <a:srgbClr val="303A5D"/>
                </a:solidFill>
                <a:latin typeface="Segoe UI"/>
              </a:rPr>
              <a:t>NOVUS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591056" y="2025853"/>
            <a:ext cx="534924" cy="11521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591056" y="2025853"/>
            <a:ext cx="534924" cy="11521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НАЦ.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208276" y="2039569"/>
            <a:ext cx="293914" cy="8778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208276" y="2025853"/>
            <a:ext cx="293914" cy="11521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502190" y="2039569"/>
            <a:ext cx="587828" cy="8778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502190" y="2025853"/>
            <a:ext cx="587828" cy="11521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10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144882" y="1991563"/>
            <a:ext cx="411480" cy="1837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6" b="1" i="0">
                <a:solidFill>
                  <a:srgbClr val="717890"/>
                </a:solidFill>
                <a:latin typeface="Segoe UI"/>
              </a:rPr>
              <a:t>15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378557" y="2069744"/>
            <a:ext cx="777853" cy="27432"/>
          </a:xfrm>
          <a:prstGeom prst="rect">
            <a:avLst/>
          </a:prstGeom>
          <a:solidFill>
            <a:srgbClr val="A5ABB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5591961" y="2042312"/>
            <a:ext cx="82296" cy="82296"/>
          </a:xfrm>
          <a:prstGeom prst="roundRect">
            <a:avLst>
              <a:gd name="adj" fmla="val 50000"/>
            </a:avLst>
          </a:prstGeom>
          <a:solidFill>
            <a:srgbClr val="C4820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311896" y="1991563"/>
            <a:ext cx="754380" cy="1837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56" b="1" i="0">
                <a:solidFill>
                  <a:srgbClr val="303A5D"/>
                </a:solidFill>
                <a:latin typeface="Segoe UI"/>
              </a:rPr>
              <a:t>45 ₴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25196" y="2175357"/>
            <a:ext cx="8298180" cy="183794"/>
          </a:xfrm>
          <a:prstGeom prst="rect">
            <a:avLst/>
          </a:prstGeom>
          <a:solidFill>
            <a:srgbClr val="F8F9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59486" y="2175357"/>
            <a:ext cx="1097280" cy="1837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6" b="1" i="0">
                <a:solidFill>
                  <a:srgbClr val="303A5D"/>
                </a:solidFill>
                <a:latin typeface="Segoe UI"/>
              </a:rPr>
              <a:t>МегаМаркет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591056" y="2209647"/>
            <a:ext cx="534924" cy="11521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591056" y="2209647"/>
            <a:ext cx="534924" cy="11521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НАЦ.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208276" y="2223363"/>
            <a:ext cx="587828" cy="8778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208276" y="2209647"/>
            <a:ext cx="587828" cy="11521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10</a:t>
            </a:r>
          </a:p>
        </p:txBody>
      </p:sp>
      <p:sp>
        <p:nvSpPr>
          <p:cNvPr id="83" name="Rectangle 82"/>
          <p:cNvSpPr/>
          <p:nvPr/>
        </p:nvSpPr>
        <p:spPr>
          <a:xfrm>
            <a:off x="2796104" y="2223363"/>
            <a:ext cx="176348" cy="8778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2796104" y="2209647"/>
            <a:ext cx="176348" cy="11521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027317" y="2175357"/>
            <a:ext cx="411480" cy="1837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6" b="1" i="0">
                <a:solidFill>
                  <a:srgbClr val="717890"/>
                </a:solidFill>
                <a:latin typeface="Segoe UI"/>
              </a:rPr>
              <a:t>13</a:t>
            </a:r>
          </a:p>
        </p:txBody>
      </p:sp>
      <p:sp>
        <p:nvSpPr>
          <p:cNvPr id="86" name="Rectangle 85"/>
          <p:cNvSpPr/>
          <p:nvPr/>
        </p:nvSpPr>
        <p:spPr>
          <a:xfrm>
            <a:off x="5554811" y="2253538"/>
            <a:ext cx="823470" cy="27432"/>
          </a:xfrm>
          <a:prstGeom prst="rect">
            <a:avLst/>
          </a:prstGeom>
          <a:solidFill>
            <a:srgbClr val="A5ABB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" name="Rounded Rectangle 86"/>
          <p:cNvSpPr/>
          <p:nvPr/>
        </p:nvSpPr>
        <p:spPr>
          <a:xfrm>
            <a:off x="5820386" y="2226106"/>
            <a:ext cx="82296" cy="82296"/>
          </a:xfrm>
          <a:prstGeom prst="roundRect">
            <a:avLst>
              <a:gd name="adj" fmla="val 50000"/>
            </a:avLst>
          </a:prstGeom>
          <a:solidFill>
            <a:srgbClr val="C4820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8311896" y="2175357"/>
            <a:ext cx="754380" cy="1837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56" b="1" i="0">
                <a:solidFill>
                  <a:srgbClr val="303A5D"/>
                </a:solidFill>
                <a:latin typeface="Segoe UI"/>
              </a:rPr>
              <a:t>58 ₴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59486" y="2359152"/>
            <a:ext cx="1097280" cy="1837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6" b="1" i="0">
                <a:solidFill>
                  <a:srgbClr val="303A5D"/>
                </a:solidFill>
                <a:latin typeface="Segoe UI"/>
              </a:rPr>
              <a:t>Ultramarket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591056" y="2393442"/>
            <a:ext cx="534924" cy="11521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591056" y="2393442"/>
            <a:ext cx="534924" cy="11521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НАЦ.</a:t>
            </a:r>
          </a:p>
        </p:txBody>
      </p:sp>
      <p:sp>
        <p:nvSpPr>
          <p:cNvPr id="92" name="Rectangle 91"/>
          <p:cNvSpPr/>
          <p:nvPr/>
        </p:nvSpPr>
        <p:spPr>
          <a:xfrm>
            <a:off x="2208276" y="2407158"/>
            <a:ext cx="587828" cy="8778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2208276" y="2393442"/>
            <a:ext cx="587828" cy="11521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10</a:t>
            </a:r>
          </a:p>
        </p:txBody>
      </p:sp>
      <p:sp>
        <p:nvSpPr>
          <p:cNvPr id="94" name="Rectangle 93"/>
          <p:cNvSpPr/>
          <p:nvPr/>
        </p:nvSpPr>
        <p:spPr>
          <a:xfrm>
            <a:off x="2796104" y="2407158"/>
            <a:ext cx="176348" cy="8778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2796104" y="2393442"/>
            <a:ext cx="176348" cy="11521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3027317" y="2359152"/>
            <a:ext cx="411480" cy="1837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6" b="1" i="0">
                <a:solidFill>
                  <a:srgbClr val="717890"/>
                </a:solidFill>
                <a:latin typeface="Segoe UI"/>
              </a:rPr>
              <a:t>13</a:t>
            </a:r>
          </a:p>
        </p:txBody>
      </p:sp>
      <p:sp>
        <p:nvSpPr>
          <p:cNvPr id="97" name="Rectangle 96"/>
          <p:cNvSpPr/>
          <p:nvPr/>
        </p:nvSpPr>
        <p:spPr>
          <a:xfrm>
            <a:off x="5554811" y="2437333"/>
            <a:ext cx="823470" cy="27432"/>
          </a:xfrm>
          <a:prstGeom prst="rect">
            <a:avLst/>
          </a:prstGeom>
          <a:solidFill>
            <a:srgbClr val="A5ABB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8" name="Rounded Rectangle 97"/>
          <p:cNvSpPr/>
          <p:nvPr/>
        </p:nvSpPr>
        <p:spPr>
          <a:xfrm>
            <a:off x="5820386" y="2409901"/>
            <a:ext cx="82296" cy="82296"/>
          </a:xfrm>
          <a:prstGeom prst="roundRect">
            <a:avLst>
              <a:gd name="adj" fmla="val 50000"/>
            </a:avLst>
          </a:prstGeom>
          <a:solidFill>
            <a:srgbClr val="C4820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8311896" y="2359152"/>
            <a:ext cx="754380" cy="1837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56" b="1" i="0">
                <a:solidFill>
                  <a:srgbClr val="303A5D"/>
                </a:solidFill>
                <a:latin typeface="Segoe UI"/>
              </a:rPr>
              <a:t>58 ₴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25196" y="2542946"/>
            <a:ext cx="8298180" cy="183794"/>
          </a:xfrm>
          <a:prstGeom prst="rect">
            <a:avLst/>
          </a:prstGeom>
          <a:solidFill>
            <a:srgbClr val="F8F9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59486" y="2542946"/>
            <a:ext cx="1097280" cy="1837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6" b="1" i="0">
                <a:solidFill>
                  <a:srgbClr val="303A5D"/>
                </a:solidFill>
                <a:latin typeface="Segoe UI"/>
              </a:rPr>
              <a:t>METRO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1591056" y="2577236"/>
            <a:ext cx="534924" cy="11521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1591056" y="2577236"/>
            <a:ext cx="534924" cy="11521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НАЦ.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2208276" y="2590952"/>
            <a:ext cx="235131" cy="8778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2208276" y="2577236"/>
            <a:ext cx="235131" cy="11521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2443407" y="2590952"/>
            <a:ext cx="176348" cy="8778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2443407" y="2577236"/>
            <a:ext cx="176348" cy="11521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2619756" y="2590952"/>
            <a:ext cx="58782" cy="87782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2733402" y="2542946"/>
            <a:ext cx="411480" cy="1837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6" b="1" i="0">
                <a:solidFill>
                  <a:srgbClr val="717890"/>
                </a:solidFill>
                <a:latin typeface="Segoe UI"/>
              </a:rPr>
              <a:t>8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5398720" y="2621127"/>
            <a:ext cx="1248396" cy="27432"/>
          </a:xfrm>
          <a:prstGeom prst="rect">
            <a:avLst/>
          </a:prstGeom>
          <a:solidFill>
            <a:srgbClr val="A5ABB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" name="Rounded Rectangle 110"/>
          <p:cNvSpPr/>
          <p:nvPr/>
        </p:nvSpPr>
        <p:spPr>
          <a:xfrm>
            <a:off x="5588979" y="2593695"/>
            <a:ext cx="82296" cy="82296"/>
          </a:xfrm>
          <a:prstGeom prst="roundRect">
            <a:avLst>
              <a:gd name="adj" fmla="val 50000"/>
            </a:avLst>
          </a:prstGeom>
          <a:solidFill>
            <a:srgbClr val="C4820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8311896" y="2542946"/>
            <a:ext cx="754380" cy="1837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56" b="1" i="0">
                <a:solidFill>
                  <a:srgbClr val="303A5D"/>
                </a:solidFill>
                <a:latin typeface="Segoe UI"/>
              </a:rPr>
              <a:t>44 ₴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59486" y="2726740"/>
            <a:ext cx="1097280" cy="1837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6" b="1" i="0">
                <a:solidFill>
                  <a:srgbClr val="303A5D"/>
                </a:solidFill>
                <a:latin typeface="Segoe UI"/>
              </a:rPr>
              <a:t>Onde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1591056" y="2761030"/>
            <a:ext cx="534924" cy="115214"/>
          </a:xfrm>
          <a:prstGeom prst="rect">
            <a:avLst/>
          </a:prstGeom>
          <a:solidFill>
            <a:srgbClr val="1F9AA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1591056" y="2761030"/>
            <a:ext cx="534924" cy="11521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РЕГІОН.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2208276" y="2774746"/>
            <a:ext cx="822960" cy="8778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2208276" y="2761030"/>
            <a:ext cx="822960" cy="11521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14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031236" y="2774746"/>
            <a:ext cx="411480" cy="8778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3031236" y="2761030"/>
            <a:ext cx="411480" cy="11521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7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3442716" y="2774746"/>
            <a:ext cx="235131" cy="87782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3442716" y="2761030"/>
            <a:ext cx="235131" cy="11521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3677847" y="2774746"/>
            <a:ext cx="117565" cy="87782"/>
          </a:xfrm>
          <a:prstGeom prst="rect">
            <a:avLst/>
          </a:prstGeom>
          <a:solidFill>
            <a:srgbClr val="B23A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3850277" y="2726740"/>
            <a:ext cx="411480" cy="1837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6" b="1" i="0">
                <a:solidFill>
                  <a:srgbClr val="717890"/>
                </a:solidFill>
                <a:latin typeface="Segoe UI"/>
              </a:rPr>
              <a:t>27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5395360" y="2804922"/>
            <a:ext cx="2847955" cy="27432"/>
          </a:xfrm>
          <a:prstGeom prst="rect">
            <a:avLst/>
          </a:prstGeom>
          <a:solidFill>
            <a:srgbClr val="A5ABB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" name="Rounded Rectangle 124"/>
          <p:cNvSpPr/>
          <p:nvPr/>
        </p:nvSpPr>
        <p:spPr>
          <a:xfrm>
            <a:off x="5981770" y="2777490"/>
            <a:ext cx="82296" cy="82296"/>
          </a:xfrm>
          <a:prstGeom prst="roundRect">
            <a:avLst>
              <a:gd name="adj" fmla="val 50000"/>
            </a:avLst>
          </a:prstGeom>
          <a:solidFill>
            <a:srgbClr val="C4820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8311896" y="2726740"/>
            <a:ext cx="754380" cy="1837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56" b="1" i="0">
                <a:solidFill>
                  <a:srgbClr val="303A5D"/>
                </a:solidFill>
                <a:latin typeface="Segoe UI"/>
              </a:rPr>
              <a:t>68 ₴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425196" y="2910535"/>
            <a:ext cx="8298180" cy="183794"/>
          </a:xfrm>
          <a:prstGeom prst="rect">
            <a:avLst/>
          </a:prstGeom>
          <a:solidFill>
            <a:srgbClr val="F8F9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459486" y="2910535"/>
            <a:ext cx="1097280" cy="1837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6" b="1" i="0">
                <a:solidFill>
                  <a:srgbClr val="303A5D"/>
                </a:solidFill>
                <a:latin typeface="Segoe UI"/>
              </a:rPr>
              <a:t>Космос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1591056" y="2944825"/>
            <a:ext cx="534924" cy="115214"/>
          </a:xfrm>
          <a:prstGeom prst="rect">
            <a:avLst/>
          </a:prstGeom>
          <a:solidFill>
            <a:srgbClr val="1F9AA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1591056" y="2944825"/>
            <a:ext cx="534924" cy="11521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РЕГІОН.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2208276" y="2958541"/>
            <a:ext cx="587828" cy="8778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2208276" y="2944825"/>
            <a:ext cx="587828" cy="11521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10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2796104" y="2958541"/>
            <a:ext cx="411480" cy="8778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2796104" y="2944825"/>
            <a:ext cx="411480" cy="11521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7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3207584" y="2958541"/>
            <a:ext cx="293914" cy="87782"/>
          </a:xfrm>
          <a:prstGeom prst="rect">
            <a:avLst/>
          </a:prstGeom>
          <a:solidFill>
            <a:srgbClr val="B23A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3207584" y="2944825"/>
            <a:ext cx="293914" cy="11521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556362" y="2910535"/>
            <a:ext cx="411480" cy="1837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6" b="1" i="0">
                <a:solidFill>
                  <a:srgbClr val="717890"/>
                </a:solidFill>
                <a:latin typeface="Segoe UI"/>
              </a:rPr>
              <a:t>22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5378557" y="2988716"/>
            <a:ext cx="1984328" cy="27432"/>
          </a:xfrm>
          <a:prstGeom prst="rect">
            <a:avLst/>
          </a:prstGeom>
          <a:solidFill>
            <a:srgbClr val="A5ABB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9" name="Rounded Rectangle 138"/>
          <p:cNvSpPr/>
          <p:nvPr/>
        </p:nvSpPr>
        <p:spPr>
          <a:xfrm>
            <a:off x="6002353" y="2961284"/>
            <a:ext cx="82296" cy="82296"/>
          </a:xfrm>
          <a:prstGeom prst="roundRect">
            <a:avLst>
              <a:gd name="adj" fmla="val 50000"/>
            </a:avLst>
          </a:prstGeom>
          <a:solidFill>
            <a:srgbClr val="C4820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8311896" y="2910535"/>
            <a:ext cx="754380" cy="1837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56" b="1" i="0">
                <a:solidFill>
                  <a:srgbClr val="303A5D"/>
                </a:solidFill>
                <a:latin typeface="Segoe UI"/>
              </a:rPr>
              <a:t>69 ₴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459486" y="3094329"/>
            <a:ext cx="1097280" cy="1837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6" b="1" i="0">
                <a:solidFill>
                  <a:srgbClr val="303A5D"/>
                </a:solidFill>
                <a:latin typeface="Segoe UI"/>
              </a:rPr>
              <a:t>Восторг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1591056" y="3128619"/>
            <a:ext cx="534924" cy="115214"/>
          </a:xfrm>
          <a:prstGeom prst="rect">
            <a:avLst/>
          </a:prstGeom>
          <a:solidFill>
            <a:srgbClr val="1F9AA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1591056" y="3128619"/>
            <a:ext cx="534924" cy="11521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РЕГІОН.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2208276" y="3142335"/>
            <a:ext cx="587828" cy="8778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2208276" y="3128619"/>
            <a:ext cx="587828" cy="11521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10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2796104" y="3142335"/>
            <a:ext cx="470262" cy="8778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2796104" y="3128619"/>
            <a:ext cx="470262" cy="11521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8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3321231" y="3094329"/>
            <a:ext cx="411480" cy="1837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6" b="1" i="0">
                <a:solidFill>
                  <a:srgbClr val="717890"/>
                </a:solidFill>
                <a:latin typeface="Segoe UI"/>
              </a:rPr>
              <a:t>18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5378557" y="3172510"/>
            <a:ext cx="1369371" cy="27432"/>
          </a:xfrm>
          <a:prstGeom prst="rect">
            <a:avLst/>
          </a:prstGeom>
          <a:solidFill>
            <a:srgbClr val="A5ABB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0" name="Rounded Rectangle 149"/>
          <p:cNvSpPr/>
          <p:nvPr/>
        </p:nvSpPr>
        <p:spPr>
          <a:xfrm>
            <a:off x="5539035" y="3145078"/>
            <a:ext cx="82296" cy="82296"/>
          </a:xfrm>
          <a:prstGeom prst="roundRect">
            <a:avLst>
              <a:gd name="adj" fmla="val 50000"/>
            </a:avLst>
          </a:prstGeom>
          <a:solidFill>
            <a:srgbClr val="C4820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8311896" y="3094329"/>
            <a:ext cx="754380" cy="1837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56" b="1" i="0">
                <a:solidFill>
                  <a:srgbClr val="303A5D"/>
                </a:solidFill>
                <a:latin typeface="Segoe UI"/>
              </a:rPr>
              <a:t>42 ₴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425196" y="3278124"/>
            <a:ext cx="8298180" cy="183794"/>
          </a:xfrm>
          <a:prstGeom prst="rect">
            <a:avLst/>
          </a:prstGeom>
          <a:solidFill>
            <a:srgbClr val="F8F9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459486" y="3278124"/>
            <a:ext cx="1097280" cy="1837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6" b="1" i="0">
                <a:solidFill>
                  <a:srgbClr val="303A5D"/>
                </a:solidFill>
                <a:latin typeface="Segoe UI"/>
              </a:rPr>
              <a:t>Клас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1591056" y="3312414"/>
            <a:ext cx="534924" cy="115214"/>
          </a:xfrm>
          <a:prstGeom prst="rect">
            <a:avLst/>
          </a:prstGeom>
          <a:solidFill>
            <a:srgbClr val="1F9AA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1591056" y="3312414"/>
            <a:ext cx="534924" cy="11521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РЕГІОН.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2208276" y="3326130"/>
            <a:ext cx="587828" cy="8778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2208276" y="3312414"/>
            <a:ext cx="587828" cy="11521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10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2796104" y="3326130"/>
            <a:ext cx="470262" cy="8778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2796104" y="3312414"/>
            <a:ext cx="470262" cy="11521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8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3321231" y="3278124"/>
            <a:ext cx="411480" cy="1837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6" b="1" i="0">
                <a:solidFill>
                  <a:srgbClr val="717890"/>
                </a:solidFill>
                <a:latin typeface="Segoe UI"/>
              </a:rPr>
              <a:t>18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5378557" y="3356305"/>
            <a:ext cx="1369371" cy="27432"/>
          </a:xfrm>
          <a:prstGeom prst="rect">
            <a:avLst/>
          </a:prstGeom>
          <a:solidFill>
            <a:srgbClr val="A5ABB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2" name="Rounded Rectangle 161"/>
          <p:cNvSpPr/>
          <p:nvPr/>
        </p:nvSpPr>
        <p:spPr>
          <a:xfrm>
            <a:off x="5539035" y="3328873"/>
            <a:ext cx="82296" cy="82296"/>
          </a:xfrm>
          <a:prstGeom prst="roundRect">
            <a:avLst>
              <a:gd name="adj" fmla="val 50000"/>
            </a:avLst>
          </a:prstGeom>
          <a:solidFill>
            <a:srgbClr val="C4820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8311896" y="3278124"/>
            <a:ext cx="754380" cy="1837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56" b="1" i="0">
                <a:solidFill>
                  <a:srgbClr val="303A5D"/>
                </a:solidFill>
                <a:latin typeface="Segoe UI"/>
              </a:rPr>
              <a:t>42 ₴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459486" y="3461918"/>
            <a:ext cx="1097280" cy="1837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6" b="1" i="0">
                <a:solidFill>
                  <a:srgbClr val="303A5D"/>
                </a:solidFill>
                <a:latin typeface="Segoe UI"/>
              </a:rPr>
              <a:t>Ідеал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1591056" y="3496208"/>
            <a:ext cx="534924" cy="115214"/>
          </a:xfrm>
          <a:prstGeom prst="rect">
            <a:avLst/>
          </a:prstGeom>
          <a:solidFill>
            <a:srgbClr val="1F9AA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1591056" y="3496208"/>
            <a:ext cx="534924" cy="11521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РЕГІОН.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2208276" y="3509924"/>
            <a:ext cx="235131" cy="8778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2208276" y="3496208"/>
            <a:ext cx="235131" cy="11521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2443407" y="3509924"/>
            <a:ext cx="587828" cy="8778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2443407" y="3496208"/>
            <a:ext cx="587828" cy="11521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10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3086100" y="3461918"/>
            <a:ext cx="411480" cy="1837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6" b="1" i="0">
                <a:solidFill>
                  <a:srgbClr val="717890"/>
                </a:solidFill>
                <a:latin typeface="Segoe UI"/>
              </a:rPr>
              <a:t>14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5378557" y="3540099"/>
            <a:ext cx="777853" cy="27432"/>
          </a:xfrm>
          <a:prstGeom prst="rect">
            <a:avLst/>
          </a:prstGeom>
          <a:solidFill>
            <a:srgbClr val="A5ABB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3" name="Rounded Rectangle 172"/>
          <p:cNvSpPr/>
          <p:nvPr/>
        </p:nvSpPr>
        <p:spPr>
          <a:xfrm>
            <a:off x="5666269" y="3512667"/>
            <a:ext cx="82296" cy="82296"/>
          </a:xfrm>
          <a:prstGeom prst="roundRect">
            <a:avLst>
              <a:gd name="adj" fmla="val 50000"/>
            </a:avLst>
          </a:prstGeom>
          <a:solidFill>
            <a:srgbClr val="C4820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8311896" y="3461918"/>
            <a:ext cx="754380" cy="1837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56" b="1" i="0">
                <a:solidFill>
                  <a:srgbClr val="303A5D"/>
                </a:solidFill>
                <a:latin typeface="Segoe UI"/>
              </a:rPr>
              <a:t>49 ₴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425196" y="3645712"/>
            <a:ext cx="8298180" cy="183794"/>
          </a:xfrm>
          <a:prstGeom prst="rect">
            <a:avLst/>
          </a:prstGeom>
          <a:solidFill>
            <a:srgbClr val="F8F9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459486" y="3645712"/>
            <a:ext cx="1097280" cy="1837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6" b="1" i="0">
                <a:solidFill>
                  <a:srgbClr val="303A5D"/>
                </a:solidFill>
                <a:latin typeface="Segoe UI"/>
              </a:rPr>
              <a:t>ЧудоМаркет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1591056" y="3680002"/>
            <a:ext cx="534924" cy="115214"/>
          </a:xfrm>
          <a:prstGeom prst="rect">
            <a:avLst/>
          </a:prstGeom>
          <a:solidFill>
            <a:srgbClr val="1F9AA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1591056" y="3680002"/>
            <a:ext cx="534924" cy="11521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РЕГІОН.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2208276" y="3693718"/>
            <a:ext cx="529045" cy="8778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2208276" y="3680002"/>
            <a:ext cx="529045" cy="11521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9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2792185" y="3645712"/>
            <a:ext cx="411480" cy="1837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6" b="1" i="0">
                <a:solidFill>
                  <a:srgbClr val="717890"/>
                </a:solidFill>
                <a:latin typeface="Segoe UI"/>
              </a:rPr>
              <a:t>9</a:t>
            </a:r>
          </a:p>
        </p:txBody>
      </p:sp>
      <p:sp>
        <p:nvSpPr>
          <p:cNvPr id="182" name="Rectangle 181"/>
          <p:cNvSpPr/>
          <p:nvPr/>
        </p:nvSpPr>
        <p:spPr>
          <a:xfrm>
            <a:off x="5588584" y="3723894"/>
            <a:ext cx="157939" cy="27432"/>
          </a:xfrm>
          <a:prstGeom prst="rect">
            <a:avLst/>
          </a:prstGeom>
          <a:solidFill>
            <a:srgbClr val="A5ABB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3" name="Rounded Rectangle 182"/>
          <p:cNvSpPr/>
          <p:nvPr/>
        </p:nvSpPr>
        <p:spPr>
          <a:xfrm>
            <a:off x="5614644" y="3696462"/>
            <a:ext cx="82296" cy="82296"/>
          </a:xfrm>
          <a:prstGeom prst="roundRect">
            <a:avLst>
              <a:gd name="adj" fmla="val 50000"/>
            </a:avLst>
          </a:prstGeom>
          <a:solidFill>
            <a:srgbClr val="C4820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4" name="TextBox 183"/>
          <p:cNvSpPr txBox="1"/>
          <p:nvPr/>
        </p:nvSpPr>
        <p:spPr>
          <a:xfrm>
            <a:off x="8311896" y="3645712"/>
            <a:ext cx="754380" cy="1837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56" b="1" i="0">
                <a:solidFill>
                  <a:srgbClr val="303A5D"/>
                </a:solidFill>
                <a:latin typeface="Segoe UI"/>
              </a:rPr>
              <a:t>46 ₴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459486" y="3829507"/>
            <a:ext cx="1097280" cy="1837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6" b="1" i="0">
                <a:solidFill>
                  <a:srgbClr val="303A5D"/>
                </a:solidFill>
                <a:latin typeface="Segoe UI"/>
              </a:rPr>
              <a:t>Торба</a:t>
            </a:r>
          </a:p>
        </p:txBody>
      </p:sp>
      <p:sp>
        <p:nvSpPr>
          <p:cNvPr id="186" name="Rectangle 185"/>
          <p:cNvSpPr/>
          <p:nvPr/>
        </p:nvSpPr>
        <p:spPr>
          <a:xfrm>
            <a:off x="1591056" y="3863797"/>
            <a:ext cx="534924" cy="115214"/>
          </a:xfrm>
          <a:prstGeom prst="rect">
            <a:avLst/>
          </a:prstGeom>
          <a:solidFill>
            <a:srgbClr val="1F9AA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7" name="TextBox 186"/>
          <p:cNvSpPr txBox="1"/>
          <p:nvPr/>
        </p:nvSpPr>
        <p:spPr>
          <a:xfrm>
            <a:off x="1591056" y="3863797"/>
            <a:ext cx="534924" cy="11521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РЕГІОН.</a:t>
            </a:r>
          </a:p>
        </p:txBody>
      </p:sp>
      <p:sp>
        <p:nvSpPr>
          <p:cNvPr id="188" name="Rectangle 187"/>
          <p:cNvSpPr/>
          <p:nvPr/>
        </p:nvSpPr>
        <p:spPr>
          <a:xfrm>
            <a:off x="2208276" y="3877513"/>
            <a:ext cx="352697" cy="8778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9" name="TextBox 188"/>
          <p:cNvSpPr txBox="1"/>
          <p:nvPr/>
        </p:nvSpPr>
        <p:spPr>
          <a:xfrm>
            <a:off x="2208276" y="3863797"/>
            <a:ext cx="352697" cy="11521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190" name="Rectangle 189"/>
          <p:cNvSpPr/>
          <p:nvPr/>
        </p:nvSpPr>
        <p:spPr>
          <a:xfrm>
            <a:off x="2560973" y="3877513"/>
            <a:ext cx="58782" cy="8778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1" name="TextBox 190"/>
          <p:cNvSpPr txBox="1"/>
          <p:nvPr/>
        </p:nvSpPr>
        <p:spPr>
          <a:xfrm>
            <a:off x="2674620" y="3829507"/>
            <a:ext cx="411480" cy="1837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6" b="1" i="0">
                <a:solidFill>
                  <a:srgbClr val="717890"/>
                </a:solidFill>
                <a:latin typeface="Segoe UI"/>
              </a:rPr>
              <a:t>7</a:t>
            </a:r>
          </a:p>
        </p:txBody>
      </p:sp>
      <p:sp>
        <p:nvSpPr>
          <p:cNvPr id="192" name="Rectangle 191"/>
          <p:cNvSpPr/>
          <p:nvPr/>
        </p:nvSpPr>
        <p:spPr>
          <a:xfrm>
            <a:off x="5378557" y="3907688"/>
            <a:ext cx="210026" cy="27432"/>
          </a:xfrm>
          <a:prstGeom prst="rect">
            <a:avLst/>
          </a:prstGeom>
          <a:solidFill>
            <a:srgbClr val="A5ABB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3" name="Rounded Rectangle 192"/>
          <p:cNvSpPr/>
          <p:nvPr/>
        </p:nvSpPr>
        <p:spPr>
          <a:xfrm>
            <a:off x="5478547" y="3880256"/>
            <a:ext cx="82296" cy="82296"/>
          </a:xfrm>
          <a:prstGeom prst="roundRect">
            <a:avLst>
              <a:gd name="adj" fmla="val 50000"/>
            </a:avLst>
          </a:prstGeom>
          <a:solidFill>
            <a:srgbClr val="C4820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4" name="TextBox 193"/>
          <p:cNvSpPr txBox="1"/>
          <p:nvPr/>
        </p:nvSpPr>
        <p:spPr>
          <a:xfrm>
            <a:off x="8311896" y="3829507"/>
            <a:ext cx="754380" cy="1837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56" b="1" i="0">
                <a:solidFill>
                  <a:srgbClr val="303A5D"/>
                </a:solidFill>
                <a:latin typeface="Segoe UI"/>
              </a:rPr>
              <a:t>38 ₴</a:t>
            </a:r>
          </a:p>
        </p:txBody>
      </p:sp>
      <p:sp>
        <p:nvSpPr>
          <p:cNvPr id="195" name="Rectangle 194"/>
          <p:cNvSpPr/>
          <p:nvPr/>
        </p:nvSpPr>
        <p:spPr>
          <a:xfrm>
            <a:off x="425196" y="4013301"/>
            <a:ext cx="8298180" cy="183794"/>
          </a:xfrm>
          <a:prstGeom prst="rect">
            <a:avLst/>
          </a:prstGeom>
          <a:solidFill>
            <a:srgbClr val="F8F9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6" name="TextBox 195"/>
          <p:cNvSpPr txBox="1"/>
          <p:nvPr/>
        </p:nvSpPr>
        <p:spPr>
          <a:xfrm>
            <a:off x="459486" y="4013301"/>
            <a:ext cx="1097280" cy="1837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6" b="1" i="0">
                <a:solidFill>
                  <a:srgbClr val="303A5D"/>
                </a:solidFill>
                <a:latin typeface="Segoe UI"/>
              </a:rPr>
              <a:t>Grono</a:t>
            </a:r>
          </a:p>
        </p:txBody>
      </p:sp>
      <p:sp>
        <p:nvSpPr>
          <p:cNvPr id="197" name="Rectangle 196"/>
          <p:cNvSpPr/>
          <p:nvPr/>
        </p:nvSpPr>
        <p:spPr>
          <a:xfrm>
            <a:off x="1591056" y="4047591"/>
            <a:ext cx="534924" cy="115214"/>
          </a:xfrm>
          <a:prstGeom prst="rect">
            <a:avLst/>
          </a:prstGeom>
          <a:solidFill>
            <a:srgbClr val="1F9AA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8" name="TextBox 197"/>
          <p:cNvSpPr txBox="1"/>
          <p:nvPr/>
        </p:nvSpPr>
        <p:spPr>
          <a:xfrm>
            <a:off x="1591056" y="4047591"/>
            <a:ext cx="534924" cy="11521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РЕГІОН.</a:t>
            </a:r>
          </a:p>
        </p:txBody>
      </p:sp>
      <p:sp>
        <p:nvSpPr>
          <p:cNvPr id="199" name="Rectangle 198"/>
          <p:cNvSpPr/>
          <p:nvPr/>
        </p:nvSpPr>
        <p:spPr>
          <a:xfrm>
            <a:off x="2208276" y="4061307"/>
            <a:ext cx="176348" cy="8778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0" name="TextBox 199"/>
          <p:cNvSpPr txBox="1"/>
          <p:nvPr/>
        </p:nvSpPr>
        <p:spPr>
          <a:xfrm>
            <a:off x="2208276" y="4047591"/>
            <a:ext cx="176348" cy="11521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01" name="Rectangle 200"/>
          <p:cNvSpPr/>
          <p:nvPr/>
        </p:nvSpPr>
        <p:spPr>
          <a:xfrm>
            <a:off x="2384624" y="4061307"/>
            <a:ext cx="117565" cy="87782"/>
          </a:xfrm>
          <a:prstGeom prst="rect">
            <a:avLst/>
          </a:prstGeom>
          <a:solidFill>
            <a:srgbClr val="B23A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2" name="TextBox 201"/>
          <p:cNvSpPr txBox="1"/>
          <p:nvPr/>
        </p:nvSpPr>
        <p:spPr>
          <a:xfrm>
            <a:off x="2557054" y="4013301"/>
            <a:ext cx="411480" cy="1837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6" b="1" i="0">
                <a:solidFill>
                  <a:srgbClr val="717890"/>
                </a:solidFill>
                <a:latin typeface="Segoe UI"/>
              </a:rPr>
              <a:t>5</a:t>
            </a:r>
          </a:p>
        </p:txBody>
      </p:sp>
      <p:sp>
        <p:nvSpPr>
          <p:cNvPr id="203" name="Rectangle 202"/>
          <p:cNvSpPr/>
          <p:nvPr/>
        </p:nvSpPr>
        <p:spPr>
          <a:xfrm>
            <a:off x="5756605" y="4091482"/>
            <a:ext cx="1596199" cy="27432"/>
          </a:xfrm>
          <a:prstGeom prst="rect">
            <a:avLst/>
          </a:prstGeom>
          <a:solidFill>
            <a:srgbClr val="A5ABB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4" name="Rounded Rectangle 203"/>
          <p:cNvSpPr/>
          <p:nvPr/>
        </p:nvSpPr>
        <p:spPr>
          <a:xfrm>
            <a:off x="6308571" y="4064050"/>
            <a:ext cx="82296" cy="82296"/>
          </a:xfrm>
          <a:prstGeom prst="roundRect">
            <a:avLst>
              <a:gd name="adj" fmla="val 50000"/>
            </a:avLst>
          </a:prstGeom>
          <a:solidFill>
            <a:srgbClr val="C4820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5" name="TextBox 204"/>
          <p:cNvSpPr txBox="1"/>
          <p:nvPr/>
        </p:nvSpPr>
        <p:spPr>
          <a:xfrm>
            <a:off x="8311896" y="4013301"/>
            <a:ext cx="754380" cy="1837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56" b="1" i="0">
                <a:solidFill>
                  <a:srgbClr val="303A5D"/>
                </a:solidFill>
                <a:latin typeface="Segoe UI"/>
              </a:rPr>
              <a:t>87 ₴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459486" y="4197096"/>
            <a:ext cx="1097280" cy="1837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6" b="1" i="0">
                <a:solidFill>
                  <a:srgbClr val="303A5D"/>
                </a:solidFill>
                <a:latin typeface="Segoe UI"/>
              </a:rPr>
              <a:t>Таврія В</a:t>
            </a:r>
          </a:p>
        </p:txBody>
      </p:sp>
      <p:sp>
        <p:nvSpPr>
          <p:cNvPr id="207" name="Rectangle 206"/>
          <p:cNvSpPr/>
          <p:nvPr/>
        </p:nvSpPr>
        <p:spPr>
          <a:xfrm>
            <a:off x="1591056" y="4231386"/>
            <a:ext cx="534924" cy="115214"/>
          </a:xfrm>
          <a:prstGeom prst="rect">
            <a:avLst/>
          </a:prstGeom>
          <a:solidFill>
            <a:srgbClr val="1F9AA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8" name="TextBox 207"/>
          <p:cNvSpPr txBox="1"/>
          <p:nvPr/>
        </p:nvSpPr>
        <p:spPr>
          <a:xfrm>
            <a:off x="1591056" y="4231386"/>
            <a:ext cx="534924" cy="11521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РЕГІОН.</a:t>
            </a:r>
          </a:p>
        </p:txBody>
      </p:sp>
      <p:sp>
        <p:nvSpPr>
          <p:cNvPr id="209" name="Rectangle 208"/>
          <p:cNvSpPr/>
          <p:nvPr/>
        </p:nvSpPr>
        <p:spPr>
          <a:xfrm>
            <a:off x="2208276" y="4245102"/>
            <a:ext cx="58782" cy="8778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2267058" y="4245102"/>
            <a:ext cx="117565" cy="8778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1" name="TextBox 210"/>
          <p:cNvSpPr txBox="1"/>
          <p:nvPr/>
        </p:nvSpPr>
        <p:spPr>
          <a:xfrm>
            <a:off x="2439488" y="4197096"/>
            <a:ext cx="411480" cy="1837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56" b="1" i="0">
                <a:solidFill>
                  <a:srgbClr val="717890"/>
                </a:solidFill>
                <a:latin typeface="Segoe UI"/>
              </a:rPr>
              <a:t>3</a:t>
            </a:r>
          </a:p>
        </p:txBody>
      </p:sp>
      <p:sp>
        <p:nvSpPr>
          <p:cNvPr id="212" name="Rectangle 211"/>
          <p:cNvSpPr/>
          <p:nvPr/>
        </p:nvSpPr>
        <p:spPr>
          <a:xfrm>
            <a:off x="5580183" y="4275277"/>
            <a:ext cx="483900" cy="27432"/>
          </a:xfrm>
          <a:prstGeom prst="rect">
            <a:avLst/>
          </a:prstGeom>
          <a:solidFill>
            <a:srgbClr val="A5ABB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3" name="Rounded Rectangle 212"/>
          <p:cNvSpPr/>
          <p:nvPr/>
        </p:nvSpPr>
        <p:spPr>
          <a:xfrm>
            <a:off x="5981770" y="4247845"/>
            <a:ext cx="82296" cy="82296"/>
          </a:xfrm>
          <a:prstGeom prst="roundRect">
            <a:avLst>
              <a:gd name="adj" fmla="val 50000"/>
            </a:avLst>
          </a:prstGeom>
          <a:solidFill>
            <a:srgbClr val="C4820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4" name="TextBox 213"/>
          <p:cNvSpPr txBox="1"/>
          <p:nvPr/>
        </p:nvSpPr>
        <p:spPr>
          <a:xfrm>
            <a:off x="8311896" y="4197096"/>
            <a:ext cx="754380" cy="1837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56" b="1" i="0">
                <a:solidFill>
                  <a:srgbClr val="303A5D"/>
                </a:solidFill>
                <a:latin typeface="Segoe UI"/>
              </a:rPr>
              <a:t>68 ₴</a:t>
            </a:r>
          </a:p>
        </p:txBody>
      </p:sp>
      <p:sp>
        <p:nvSpPr>
          <p:cNvPr id="215" name="Rectangle 214"/>
          <p:cNvSpPr/>
          <p:nvPr/>
        </p:nvSpPr>
        <p:spPr>
          <a:xfrm>
            <a:off x="493776" y="4620920"/>
            <a:ext cx="96012" cy="9601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6" name="TextBox 215"/>
          <p:cNvSpPr txBox="1"/>
          <p:nvPr/>
        </p:nvSpPr>
        <p:spPr>
          <a:xfrm>
            <a:off x="644652" y="4600346"/>
            <a:ext cx="15087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1C2235"/>
                </a:solidFill>
                <a:latin typeface="Segoe UI"/>
              </a:rPr>
              <a:t>Норі-снек у міні-пакеті</a:t>
            </a:r>
          </a:p>
        </p:txBody>
      </p:sp>
      <p:sp>
        <p:nvSpPr>
          <p:cNvPr id="217" name="Rectangle 216"/>
          <p:cNvSpPr/>
          <p:nvPr/>
        </p:nvSpPr>
        <p:spPr>
          <a:xfrm>
            <a:off x="2139696" y="4620920"/>
            <a:ext cx="96012" cy="9601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8" name="TextBox 217"/>
          <p:cNvSpPr txBox="1"/>
          <p:nvPr/>
        </p:nvSpPr>
        <p:spPr>
          <a:xfrm>
            <a:off x="2290572" y="4600346"/>
            <a:ext cx="15087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1C2235"/>
                </a:solidFill>
                <a:latin typeface="Segoe UI"/>
              </a:rPr>
              <a:t>Норі-чипси та сендвічі</a:t>
            </a:r>
          </a:p>
        </p:txBody>
      </p:sp>
      <p:sp>
        <p:nvSpPr>
          <p:cNvPr id="219" name="Rectangle 218"/>
          <p:cNvSpPr/>
          <p:nvPr/>
        </p:nvSpPr>
        <p:spPr>
          <a:xfrm>
            <a:off x="3785616" y="4620920"/>
            <a:ext cx="96012" cy="96012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0" name="TextBox 219"/>
          <p:cNvSpPr txBox="1"/>
          <p:nvPr/>
        </p:nvSpPr>
        <p:spPr>
          <a:xfrm>
            <a:off x="3936492" y="4600346"/>
            <a:ext cx="15087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1C2235"/>
                </a:solidFill>
                <a:latin typeface="Segoe UI"/>
              </a:rPr>
              <a:t>Темпура та топінг</a:t>
            </a:r>
          </a:p>
        </p:txBody>
      </p:sp>
      <p:sp>
        <p:nvSpPr>
          <p:cNvPr id="221" name="Rectangle 220"/>
          <p:cNvSpPr/>
          <p:nvPr/>
        </p:nvSpPr>
        <p:spPr>
          <a:xfrm>
            <a:off x="5431536" y="4620920"/>
            <a:ext cx="96012" cy="96012"/>
          </a:xfrm>
          <a:prstGeom prst="rect">
            <a:avLst/>
          </a:prstGeom>
          <a:solidFill>
            <a:srgbClr val="B23A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2" name="TextBox 221"/>
          <p:cNvSpPr txBox="1"/>
          <p:nvPr/>
        </p:nvSpPr>
        <p:spPr>
          <a:xfrm>
            <a:off x="5582412" y="4600346"/>
            <a:ext cx="15087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1C2235"/>
                </a:solidFill>
                <a:latin typeface="Segoe UI"/>
              </a:rPr>
              <a:t>Рисові крекери</a:t>
            </a:r>
          </a:p>
        </p:txBody>
      </p:sp>
      <p:sp>
        <p:nvSpPr>
          <p:cNvPr id="223" name="TextBox 222"/>
          <p:cNvSpPr txBox="1"/>
          <p:nvPr/>
        </p:nvSpPr>
        <p:spPr>
          <a:xfrm>
            <a:off x="425196" y="4855464"/>
            <a:ext cx="829818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1">
                <a:solidFill>
                  <a:srgbClr val="717890"/>
                </a:solidFill>
                <a:latin typeface="Segoe UI"/>
              </a:rPr>
              <a:t>Каталоги мереж на zakaz.ua (METRO, NOVUS, Ашан, Зараз, МегаМаркет, Ultramarket, Епіцентр, Космос, Onde, Ідеал, Восторг, Клас, Таврія В, ЧудоМаркет, Торба, Grono) · 07.10.2026 · ціна — онлайн-полиця одного магазину мережі, діапазон — між мережами.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977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3977" cy="795528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95528"/>
            <a:ext cx="9143977" cy="41148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" y="178308"/>
            <a:ext cx="1042416" cy="4526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728216" y="205740"/>
            <a:ext cx="61722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1" i="0" spc="30">
                <a:solidFill>
                  <a:srgbClr val="FFC95C"/>
                </a:solidFill>
                <a:latin typeface="Segoe UI"/>
              </a:rPr>
              <a:t>КАНАЛИ ПРОДАЖУ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28216" y="377190"/>
            <a:ext cx="61722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20" b="1" i="0">
                <a:solidFill>
                  <a:srgbClr val="FFFFFF"/>
                </a:solidFill>
                <a:latin typeface="Segoe UI"/>
              </a:rPr>
              <a:t>Де продається категорія і кому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20990" y="301752"/>
            <a:ext cx="768096" cy="2263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360" b="1" i="0">
                <a:solidFill>
                  <a:srgbClr val="465382"/>
                </a:solidFill>
                <a:latin typeface="Segoe UI"/>
              </a:rPr>
              <a:t>31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5196" y="918972"/>
            <a:ext cx="8298180" cy="3086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88" b="0" i="0">
                <a:solidFill>
                  <a:srgbClr val="717890"/>
                </a:solidFill>
                <a:latin typeface="Segoe UI"/>
              </a:rPr>
              <a:t>Ліворуч — скільки позицій нори-снеків і рисових крекерів стоїть у кожній мережі; праворуч — чотири канали: що в них знайшли, за які гроші і що це означає для нашого асортименту.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" y="1337310"/>
            <a:ext cx="34290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 spc="40">
                <a:solidFill>
                  <a:srgbClr val="717890"/>
                </a:solidFill>
                <a:latin typeface="Segoe UI"/>
              </a:rPr>
              <a:t>ПОЗИЦІЙ У МЕРЕЖІ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5196" y="1543050"/>
            <a:ext cx="836676" cy="1843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72" b="0" i="0">
                <a:solidFill>
                  <a:srgbClr val="303A5D"/>
                </a:solidFill>
                <a:latin typeface="Segoe UI"/>
              </a:rPr>
              <a:t>Ашан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16736" y="1592813"/>
            <a:ext cx="2331720" cy="8478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96462" y="1543050"/>
            <a:ext cx="548640" cy="1843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72" b="1" i="0">
                <a:solidFill>
                  <a:srgbClr val="717890"/>
                </a:solidFill>
                <a:latin typeface="Segoe UI"/>
              </a:rPr>
              <a:t>35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5196" y="1727358"/>
            <a:ext cx="836676" cy="1843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72" b="0" i="0">
                <a:solidFill>
                  <a:srgbClr val="303A5D"/>
                </a:solidFill>
                <a:latin typeface="Segoe UI"/>
              </a:rPr>
              <a:t>Onde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316736" y="1777122"/>
            <a:ext cx="1798755" cy="84782"/>
          </a:xfrm>
          <a:prstGeom prst="rect">
            <a:avLst/>
          </a:prstGeom>
          <a:solidFill>
            <a:srgbClr val="1F9AA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63497" y="1727358"/>
            <a:ext cx="548640" cy="1843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72" b="1" i="0">
                <a:solidFill>
                  <a:srgbClr val="717890"/>
                </a:solidFill>
                <a:latin typeface="Segoe UI"/>
              </a:rPr>
              <a:t>27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5196" y="1911667"/>
            <a:ext cx="836676" cy="1843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72" b="0" i="0">
                <a:solidFill>
                  <a:srgbClr val="303A5D"/>
                </a:solidFill>
                <a:latin typeface="Segoe UI"/>
              </a:rPr>
              <a:t>Зараз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16736" y="1961430"/>
            <a:ext cx="1732134" cy="8478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096876" y="1911667"/>
            <a:ext cx="548640" cy="1843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72" b="1" i="0">
                <a:solidFill>
                  <a:srgbClr val="717890"/>
                </a:solidFill>
                <a:latin typeface="Segoe UI"/>
              </a:rPr>
              <a:t>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5196" y="2095976"/>
            <a:ext cx="836676" cy="1843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72" b="0" i="0">
                <a:solidFill>
                  <a:srgbClr val="303A5D"/>
                </a:solidFill>
                <a:latin typeface="Segoe UI"/>
              </a:rPr>
              <a:t>Космос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16736" y="2145739"/>
            <a:ext cx="1465652" cy="84782"/>
          </a:xfrm>
          <a:prstGeom prst="rect">
            <a:avLst/>
          </a:prstGeom>
          <a:solidFill>
            <a:srgbClr val="1F9AA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830394" y="2095976"/>
            <a:ext cx="548640" cy="1843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72" b="1" i="0">
                <a:solidFill>
                  <a:srgbClr val="717890"/>
                </a:solidFill>
                <a:latin typeface="Segoe UI"/>
              </a:rPr>
              <a:t>22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5196" y="2280285"/>
            <a:ext cx="836676" cy="1843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72" b="0" i="0">
                <a:solidFill>
                  <a:srgbClr val="303A5D"/>
                </a:solidFill>
                <a:latin typeface="Segoe UI"/>
              </a:rPr>
              <a:t>Епіцентр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316736" y="2330048"/>
            <a:ext cx="1265790" cy="8478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630532" y="2280285"/>
            <a:ext cx="548640" cy="1843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72" b="1" i="0">
                <a:solidFill>
                  <a:srgbClr val="717890"/>
                </a:solidFill>
                <a:latin typeface="Segoe UI"/>
              </a:rPr>
              <a:t>19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196" y="2464593"/>
            <a:ext cx="836676" cy="1843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72" b="0" i="0">
                <a:solidFill>
                  <a:srgbClr val="303A5D"/>
                </a:solidFill>
                <a:latin typeface="Segoe UI"/>
              </a:rPr>
              <a:t>Восторг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316736" y="2514357"/>
            <a:ext cx="1199170" cy="84782"/>
          </a:xfrm>
          <a:prstGeom prst="rect">
            <a:avLst/>
          </a:prstGeom>
          <a:solidFill>
            <a:srgbClr val="1F9AA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563912" y="2464593"/>
            <a:ext cx="548640" cy="1843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72" b="1" i="0">
                <a:solidFill>
                  <a:srgbClr val="717890"/>
                </a:solidFill>
                <a:latin typeface="Segoe UI"/>
              </a:rPr>
              <a:t>18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5196" y="2648902"/>
            <a:ext cx="836676" cy="1843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72" b="0" i="0">
                <a:solidFill>
                  <a:srgbClr val="303A5D"/>
                </a:solidFill>
                <a:latin typeface="Segoe UI"/>
              </a:rPr>
              <a:t>Клас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316736" y="2698665"/>
            <a:ext cx="1199170" cy="84782"/>
          </a:xfrm>
          <a:prstGeom prst="rect">
            <a:avLst/>
          </a:prstGeom>
          <a:solidFill>
            <a:srgbClr val="1F9AA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563912" y="2648902"/>
            <a:ext cx="548640" cy="1843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72" b="1" i="0">
                <a:solidFill>
                  <a:srgbClr val="717890"/>
                </a:solidFill>
                <a:latin typeface="Segoe UI"/>
              </a:rPr>
              <a:t>18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" y="2833211"/>
            <a:ext cx="836676" cy="1843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72" b="0" i="0">
                <a:solidFill>
                  <a:srgbClr val="303A5D"/>
                </a:solidFill>
                <a:latin typeface="Segoe UI"/>
              </a:rPr>
              <a:t>NOVUS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316736" y="2882974"/>
            <a:ext cx="999308" cy="8478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364050" y="2833211"/>
            <a:ext cx="548640" cy="1843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72" b="1" i="0">
                <a:solidFill>
                  <a:srgbClr val="717890"/>
                </a:solidFill>
                <a:latin typeface="Segoe UI"/>
              </a:rPr>
              <a:t>15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5196" y="3017520"/>
            <a:ext cx="836676" cy="1843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72" b="0" i="0">
                <a:solidFill>
                  <a:srgbClr val="303A5D"/>
                </a:solidFill>
                <a:latin typeface="Segoe UI"/>
              </a:rPr>
              <a:t>Ідеал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16736" y="3067283"/>
            <a:ext cx="932688" cy="84782"/>
          </a:xfrm>
          <a:prstGeom prst="rect">
            <a:avLst/>
          </a:prstGeom>
          <a:solidFill>
            <a:srgbClr val="1F9AA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297430" y="3017520"/>
            <a:ext cx="548640" cy="1843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72" b="1" i="0">
                <a:solidFill>
                  <a:srgbClr val="717890"/>
                </a:solidFill>
                <a:latin typeface="Segoe UI"/>
              </a:rPr>
              <a:t>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5196" y="3201828"/>
            <a:ext cx="836676" cy="1843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72" b="0" i="0">
                <a:solidFill>
                  <a:srgbClr val="303A5D"/>
                </a:solidFill>
                <a:latin typeface="Segoe UI"/>
              </a:rPr>
              <a:t>Ultramarket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316736" y="3251592"/>
            <a:ext cx="866067" cy="8478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230809" y="3201828"/>
            <a:ext cx="548640" cy="1843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72" b="1" i="0">
                <a:solidFill>
                  <a:srgbClr val="717890"/>
                </a:solidFill>
                <a:latin typeface="Segoe UI"/>
              </a:rPr>
              <a:t>13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25196" y="3386137"/>
            <a:ext cx="836676" cy="1843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72" b="0" i="0">
                <a:solidFill>
                  <a:srgbClr val="303A5D"/>
                </a:solidFill>
                <a:latin typeface="Segoe UI"/>
              </a:rPr>
              <a:t>МегаМаркет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316736" y="3435900"/>
            <a:ext cx="866067" cy="8478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230809" y="3386137"/>
            <a:ext cx="548640" cy="1843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72" b="1" i="0">
                <a:solidFill>
                  <a:srgbClr val="717890"/>
                </a:solidFill>
                <a:latin typeface="Segoe UI"/>
              </a:rPr>
              <a:t>13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5196" y="3570446"/>
            <a:ext cx="836676" cy="1843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72" b="0" i="0">
                <a:solidFill>
                  <a:srgbClr val="303A5D"/>
                </a:solidFill>
                <a:latin typeface="Segoe UI"/>
              </a:rPr>
              <a:t>ЧудоМаркет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316736" y="3620209"/>
            <a:ext cx="599585" cy="84782"/>
          </a:xfrm>
          <a:prstGeom prst="rect">
            <a:avLst/>
          </a:prstGeom>
          <a:solidFill>
            <a:srgbClr val="1F9AA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964327" y="3570446"/>
            <a:ext cx="548640" cy="1843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72" b="1" i="0">
                <a:solidFill>
                  <a:srgbClr val="717890"/>
                </a:solidFill>
                <a:latin typeface="Segoe UI"/>
              </a:rPr>
              <a:t>9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25196" y="3754755"/>
            <a:ext cx="836676" cy="1843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72" b="0" i="0">
                <a:solidFill>
                  <a:srgbClr val="303A5D"/>
                </a:solidFill>
                <a:latin typeface="Segoe UI"/>
              </a:rPr>
              <a:t>METRO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316736" y="3804518"/>
            <a:ext cx="532964" cy="8478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897706" y="3754755"/>
            <a:ext cx="548640" cy="1843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72" b="1" i="0">
                <a:solidFill>
                  <a:srgbClr val="717890"/>
                </a:solidFill>
                <a:latin typeface="Segoe UI"/>
              </a:rPr>
              <a:t>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25196" y="3939063"/>
            <a:ext cx="836676" cy="1843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72" b="0" i="0">
                <a:solidFill>
                  <a:srgbClr val="303A5D"/>
                </a:solidFill>
                <a:latin typeface="Segoe UI"/>
              </a:rPr>
              <a:t>Торба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316736" y="3988827"/>
            <a:ext cx="466344" cy="84782"/>
          </a:xfrm>
          <a:prstGeom prst="rect">
            <a:avLst/>
          </a:prstGeom>
          <a:solidFill>
            <a:srgbClr val="1F9AA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831086" y="3939063"/>
            <a:ext cx="548640" cy="1843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72" b="1" i="0">
                <a:solidFill>
                  <a:srgbClr val="717890"/>
                </a:solidFill>
                <a:latin typeface="Segoe UI"/>
              </a:rPr>
              <a:t>7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25196" y="4123372"/>
            <a:ext cx="836676" cy="1843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72" b="0" i="0">
                <a:solidFill>
                  <a:srgbClr val="303A5D"/>
                </a:solidFill>
                <a:latin typeface="Segoe UI"/>
              </a:rPr>
              <a:t>Grono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316736" y="4173135"/>
            <a:ext cx="333102" cy="84782"/>
          </a:xfrm>
          <a:prstGeom prst="rect">
            <a:avLst/>
          </a:prstGeom>
          <a:solidFill>
            <a:srgbClr val="1F9AA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697844" y="4123372"/>
            <a:ext cx="548640" cy="1843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72" b="1" i="0">
                <a:solidFill>
                  <a:srgbClr val="717890"/>
                </a:solidFill>
                <a:latin typeface="Segoe UI"/>
              </a:rP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25196" y="4307681"/>
            <a:ext cx="836676" cy="1843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72" b="0" i="0">
                <a:solidFill>
                  <a:srgbClr val="303A5D"/>
                </a:solidFill>
                <a:latin typeface="Segoe UI"/>
              </a:rPr>
              <a:t>Таврія В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316736" y="4357444"/>
            <a:ext cx="199861" cy="84782"/>
          </a:xfrm>
          <a:prstGeom prst="rect">
            <a:avLst/>
          </a:prstGeom>
          <a:solidFill>
            <a:srgbClr val="1F9AA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564603" y="4307681"/>
            <a:ext cx="548640" cy="1843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72" b="1" i="0">
                <a:solidFill>
                  <a:srgbClr val="717890"/>
                </a:solidFill>
                <a:latin typeface="Segoe UI"/>
              </a:rPr>
              <a:t>3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25196" y="4649724"/>
            <a:ext cx="89154" cy="8915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62356" y="4629150"/>
            <a:ext cx="10972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національні (7)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645920" y="4649724"/>
            <a:ext cx="89154" cy="89154"/>
          </a:xfrm>
          <a:prstGeom prst="rect">
            <a:avLst/>
          </a:prstGeom>
          <a:solidFill>
            <a:srgbClr val="1F9AA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783080" y="4629150"/>
            <a:ext cx="123444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регіональні (9)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183380" y="1337310"/>
            <a:ext cx="4539996" cy="111099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4183380" y="1337310"/>
            <a:ext cx="34290" cy="1110996"/>
          </a:xfrm>
          <a:prstGeom prst="rect">
            <a:avLst/>
          </a:prstGeom>
          <a:solidFill>
            <a:srgbClr val="B23A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320540" y="1392174"/>
            <a:ext cx="30861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4" b="1" i="0">
                <a:solidFill>
                  <a:srgbClr val="303A5D"/>
                </a:solidFill>
                <a:latin typeface="Segoe UI"/>
              </a:rPr>
              <a:t>Супермаркети · 16 мереж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509510" y="1405890"/>
            <a:ext cx="1131570" cy="150876"/>
          </a:xfrm>
          <a:prstGeom prst="rect">
            <a:avLst/>
          </a:prstGeom>
          <a:solidFill>
            <a:srgbClr val="B23A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509510" y="1405890"/>
            <a:ext cx="1131570" cy="1508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ЦІЛЬОВИЙ КАНАЛ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320540" y="1611630"/>
            <a:ext cx="42862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1C2235"/>
                </a:solidFill>
                <a:latin typeface="Segoe UI"/>
              </a:rPr>
              <a:t>•  Знайшли: мініпакети 4–5 г (42 ₴ типова), чипси 25 г (47–88 ₴), темпура Tao Kae Noi — лише Onde, Ашан, Зараз, рисові крекери Want Want mini 60 г (140–149 ₴) — Grono, Onde, Ашан.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320540" y="1899666"/>
            <a:ext cx="42862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1C2235"/>
                </a:solidFill>
                <a:latin typeface="Segoe UI"/>
              </a:rPr>
              <a:t>•  Постачальники за митною базою: Metro Cash &amp; Carry (Metro Chef), Норріс Груп, ТД ІТС (Haelove), Оріенталь Плюс (Akura).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320540" y="2187702"/>
            <a:ext cx="42862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1C2235"/>
                </a:solidFill>
                <a:latin typeface="Segoe UI"/>
              </a:rPr>
              <a:t>•  Для нас: через мережі йдуть мініпакети — це TMK ROLL / DOUBLE; ZEK й рисові крекери в мережах майже без конкурентів.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183380" y="2503170"/>
            <a:ext cx="4539996" cy="87782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4183380" y="2503170"/>
            <a:ext cx="34290" cy="877824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320540" y="2558034"/>
            <a:ext cx="30861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4" b="1" i="0">
                <a:solidFill>
                  <a:srgbClr val="303A5D"/>
                </a:solidFill>
                <a:latin typeface="Segoe UI"/>
              </a:rPr>
              <a:t>Азійські інтернет-магазини · Asia Foods, Японський Квартал, До Смаку, Суші Повар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509510" y="2571750"/>
            <a:ext cx="1131570" cy="15087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509510" y="2571750"/>
            <a:ext cx="1131570" cy="1508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ЦІЛЬОВИЙ КАНАЛ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320540" y="2832354"/>
            <a:ext cx="42862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1C2235"/>
                </a:solidFill>
                <a:latin typeface="Segoe UI"/>
              </a:rPr>
              <a:t>•  Знайшли: Tao Kae Noi Hot &amp; Spicy 15 г — 107 ₴, Wasabi 15 г — 78 ₴, Roll 6 × 3 г — 89 ₴; Kimnori 5 г — 55 ₴; Akura 4,5 г — 35 ₴; Want Want 160 г — 357 ₴.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320540" y="3120390"/>
            <a:ext cx="42862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1C2235"/>
                </a:solidFill>
                <a:latin typeface="Segoe UI"/>
              </a:rPr>
              <a:t>•  Для нас: тут стоять формати 15–160 г, яких немає в мережах, — місце для ZEK Tempura / Topping і рисових крекерів.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183380" y="3435858"/>
            <a:ext cx="4539996" cy="82296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4183380" y="3435858"/>
            <a:ext cx="34290" cy="822960"/>
          </a:xfrm>
          <a:prstGeom prst="rect">
            <a:avLst/>
          </a:prstGeom>
          <a:solidFill>
            <a:srgbClr val="1F9AA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320540" y="3490722"/>
            <a:ext cx="30861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4" b="1" i="0">
                <a:solidFill>
                  <a:srgbClr val="303A5D"/>
                </a:solidFill>
                <a:latin typeface="Segoe UI"/>
              </a:rPr>
              <a:t>Маркетплейси · Rozetka, Prom.ua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509510" y="3504438"/>
            <a:ext cx="1131570" cy="150876"/>
          </a:xfrm>
          <a:prstGeom prst="rect">
            <a:avLst/>
          </a:prstGeom>
          <a:solidFill>
            <a:srgbClr val="1F9AA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7509510" y="3504438"/>
            <a:ext cx="1131570" cy="1508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ВХІД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320540" y="3710178"/>
            <a:ext cx="42862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1C2235"/>
                </a:solidFill>
                <a:latin typeface="Segoe UI"/>
              </a:rPr>
              <a:t>•  Знайшли: Akura 3 × 4,5 г — 129 ₴ і 89 ₴ (Rozetka); Tao Kae Noi Big Roll 6 × 3 г — 154,85 ₴; Edward &amp; Sons 100 г — 351 ₴; опт Akura 72 × 4,5 г — 1 820 ₴ (Prom.ua).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320540" y="3998214"/>
            <a:ext cx="42862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1C2235"/>
                </a:solidFill>
                <a:latin typeface="Segoe UI"/>
              </a:rPr>
              <a:t>•  Для нас: ціни тут вищі за мережі, є опт і преміум — канал для невеликих партій.</a:t>
            </a:r>
          </a:p>
        </p:txBody>
      </p:sp>
      <p:sp>
        <p:nvSpPr>
          <p:cNvPr id="85" name="Rectangle 84"/>
          <p:cNvSpPr/>
          <p:nvPr/>
        </p:nvSpPr>
        <p:spPr>
          <a:xfrm>
            <a:off x="4183380" y="4313682"/>
            <a:ext cx="4539996" cy="521208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4183380" y="4313682"/>
            <a:ext cx="34290" cy="521208"/>
          </a:xfrm>
          <a:prstGeom prst="rect">
            <a:avLst/>
          </a:prstGeom>
          <a:solidFill>
            <a:srgbClr val="A5ABB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4320540" y="4368546"/>
            <a:ext cx="30861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4" b="1" i="0">
                <a:solidFill>
                  <a:srgbClr val="303A5D"/>
                </a:solidFill>
                <a:latin typeface="Segoe UI"/>
              </a:rPr>
              <a:t>HoReCa · суші-бари, азійські ресторани</a:t>
            </a:r>
          </a:p>
        </p:txBody>
      </p:sp>
      <p:sp>
        <p:nvSpPr>
          <p:cNvPr id="88" name="Rectangle 87"/>
          <p:cNvSpPr/>
          <p:nvPr/>
        </p:nvSpPr>
        <p:spPr>
          <a:xfrm>
            <a:off x="7509510" y="4382262"/>
            <a:ext cx="1131570" cy="150876"/>
          </a:xfrm>
          <a:prstGeom prst="rect">
            <a:avLst/>
          </a:prstGeom>
          <a:solidFill>
            <a:srgbClr val="A5ABB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7509510" y="4382262"/>
            <a:ext cx="1131570" cy="1508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НЕ ОХОПЛЕНО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320540" y="4588002"/>
            <a:ext cx="42862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1C2235"/>
                </a:solidFill>
                <a:latin typeface="Segoe UI"/>
              </a:rPr>
              <a:t>•  У каталогах мереж є листи норі для суші (Katana, JS, Hokkaido Club, Akura) — інша категорія, у зріз не входить. Окремий аудит HoReCa не проводили.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25196" y="4855464"/>
            <a:ext cx="829818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1">
                <a:solidFill>
                  <a:srgbClr val="717890"/>
                </a:solidFill>
                <a:latin typeface="Segoe UI"/>
              </a:rPr>
              <a:t>Мережі — каталоги zakaz.ua, 07.10.2026; імпортери — митна база. Онлайн-магазини й маркетплейси — оголошення, знайдені пошуком; повного аудиту цих каналів не проводили, ціни можуть змінитись.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977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3977" cy="795528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95528"/>
            <a:ext cx="9143977" cy="41148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" y="178308"/>
            <a:ext cx="1042416" cy="4526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728216" y="205740"/>
            <a:ext cx="61722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1" i="0" spc="30">
                <a:solidFill>
                  <a:srgbClr val="FFC95C"/>
                </a:solidFill>
                <a:latin typeface="Segoe UI"/>
              </a:rPr>
              <a:t>ЦІНОУТВОРЕННЯ · SINGHA KAMEDA, THAI-NICHI, TMK · KOKIRI · 1 З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28216" y="377190"/>
            <a:ext cx="61722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20" b="1" i="0">
                <a:solidFill>
                  <a:srgbClr val="FFFFFF"/>
                </a:solidFill>
                <a:latin typeface="Segoe UI"/>
              </a:rPr>
              <a:t>З чого складається ціна на полиці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20990" y="301752"/>
            <a:ext cx="768096" cy="2263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360" b="1" i="0">
                <a:solidFill>
                  <a:srgbClr val="465382"/>
                </a:solidFill>
                <a:latin typeface="Segoe UI"/>
              </a:rPr>
              <a:t>32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196" y="994410"/>
            <a:ext cx="8298180" cy="94640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2930" y="1069848"/>
            <a:ext cx="54864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 spc="40">
                <a:solidFill>
                  <a:srgbClr val="717890"/>
                </a:solidFill>
                <a:latin typeface="Segoe UI"/>
              </a:rPr>
              <a:t>ЦІНА ПАРТНЕРУ — ЗА НЕЇ МИ ПРОДАЄМО МЕРЕЖІ (100 %)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2930" y="1261872"/>
            <a:ext cx="2470349" cy="2606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2930" y="1261872"/>
            <a:ext cx="2490923" cy="2606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88" b="1" i="0">
                <a:solidFill>
                  <a:srgbClr val="FFFFFF"/>
                </a:solidFill>
                <a:latin typeface="Segoe UI"/>
              </a:rPr>
              <a:t>Собівартість 45 %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73853" y="1261872"/>
            <a:ext cx="1363272" cy="260604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73853" y="1261872"/>
            <a:ext cx="1383846" cy="2606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88" b="1" i="0">
                <a:solidFill>
                  <a:srgbClr val="FFFFFF"/>
                </a:solidFill>
                <a:latin typeface="Segoe UI"/>
              </a:rPr>
              <a:t>Бонус мережі 25 %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57700" y="1261872"/>
            <a:ext cx="1640041" cy="26060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57700" y="1261872"/>
            <a:ext cx="1660615" cy="2606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88" b="1" i="0">
                <a:solidFill>
                  <a:srgbClr val="1C2235"/>
                </a:solidFill>
                <a:latin typeface="Segoe UI"/>
              </a:rPr>
              <a:t>Наша маржа 30 %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18315" y="1261872"/>
            <a:ext cx="2193580" cy="260604"/>
          </a:xfrm>
          <a:prstGeom prst="rect">
            <a:avLst/>
          </a:prstGeom>
          <a:solidFill>
            <a:srgbClr val="A5ABB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18315" y="1261872"/>
            <a:ext cx="2214154" cy="2606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88" b="1" i="0">
                <a:solidFill>
                  <a:srgbClr val="FFFFFF"/>
                </a:solidFill>
                <a:latin typeface="Segoe UI"/>
              </a:rPr>
              <a:t>Націнка магазину +40 %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82930" y="1563624"/>
            <a:ext cx="5535385" cy="10287"/>
          </a:xfrm>
          <a:prstGeom prst="rect">
            <a:avLst/>
          </a:prstGeom>
          <a:solidFill>
            <a:srgbClr val="1C223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2930" y="1577340"/>
            <a:ext cx="5535385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24" b="1" i="0">
                <a:solidFill>
                  <a:srgbClr val="1C2235"/>
                </a:solidFill>
                <a:latin typeface="Segoe UI"/>
              </a:rPr>
              <a:t>= ціна партнеру (ціна, за якою купує мережа)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2930" y="1748790"/>
            <a:ext cx="7749540" cy="150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40" b="1" i="0">
                <a:solidFill>
                  <a:srgbClr val="303A5D"/>
                </a:solidFill>
                <a:latin typeface="Segoe UI"/>
              </a:rPr>
              <a:t>ПОЛИЦЯ (ціна покупцю) = ціна партнеру × 1,40 · ціна партнеру = собівартість ÷ 0,45 · бонус 25 % і маржа 30 % — частки ціни партнеру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5196" y="2043684"/>
            <a:ext cx="27432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 spc="40">
                <a:solidFill>
                  <a:srgbClr val="717890"/>
                </a:solidFill>
                <a:latin typeface="Segoe UI"/>
              </a:rPr>
              <a:t>ПОЗИЦІЯ (КОЖЕН SKU)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88820" y="2043684"/>
            <a:ext cx="34290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 spc="40">
                <a:solidFill>
                  <a:srgbClr val="717890"/>
                </a:solidFill>
                <a:latin typeface="Segoe UI"/>
              </a:rPr>
              <a:t>ІЗ ЧОГО СКЛАДАЄТЬСЯ ПОЛИЦЯ, ₴ ЗА УПАКОВКУ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43500" y="2043684"/>
            <a:ext cx="8229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00" b="1" i="0" spc="40">
                <a:solidFill>
                  <a:srgbClr val="717890"/>
                </a:solidFill>
                <a:latin typeface="Segoe UI"/>
              </a:rPr>
              <a:t>ЦІНА ПАРТНЕРУ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97880" y="2043684"/>
            <a:ext cx="8229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00" b="1" i="0" spc="40">
                <a:solidFill>
                  <a:srgbClr val="717890"/>
                </a:solidFill>
                <a:latin typeface="Segoe UI"/>
              </a:rPr>
              <a:t>FOB, $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52260" y="2043684"/>
            <a:ext cx="8229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00" b="1" i="0" spc="40">
                <a:solidFill>
                  <a:srgbClr val="717890"/>
                </a:solidFill>
                <a:latin typeface="Segoe UI"/>
              </a:rPr>
              <a:t>СС, $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86700" y="2043684"/>
            <a:ext cx="8229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00" b="1" i="0" spc="40">
                <a:solidFill>
                  <a:srgbClr val="717890"/>
                </a:solidFill>
                <a:latin typeface="Segoe UI"/>
              </a:rPr>
              <a:t>СС, ГРН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5196" y="2228850"/>
            <a:ext cx="8298180" cy="153325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25196" y="2228850"/>
            <a:ext cx="34290" cy="153325"/>
          </a:xfrm>
          <a:prstGeom prst="rect">
            <a:avLst/>
          </a:prstGeom>
          <a:solidFill>
            <a:srgbClr val="B3621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34924" y="2228850"/>
            <a:ext cx="1474470" cy="153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303A5D"/>
                </a:solidFill>
                <a:latin typeface="Segoe UI"/>
              </a:rPr>
              <a:t>Norimaki Original 42 г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023110" y="2256282"/>
            <a:ext cx="854061" cy="98461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023110" y="2242566"/>
            <a:ext cx="867777" cy="1258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55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890887" y="2256282"/>
            <a:ext cx="468382" cy="98461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890887" y="2242566"/>
            <a:ext cx="482098" cy="1258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30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372986" y="2256282"/>
            <a:ext cx="564802" cy="98461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372986" y="2242566"/>
            <a:ext cx="578518" cy="1258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1C2235"/>
                </a:solidFill>
                <a:latin typeface="Segoe UI"/>
              </a:rPr>
              <a:t>36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951505" y="2256282"/>
            <a:ext cx="757642" cy="98461"/>
          </a:xfrm>
          <a:prstGeom prst="rect">
            <a:avLst/>
          </a:prstGeom>
          <a:solidFill>
            <a:srgbClr val="A5ABB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951505" y="2242566"/>
            <a:ext cx="771358" cy="1258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49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77727" y="2228850"/>
            <a:ext cx="617220" cy="153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88" b="1" i="0">
                <a:solidFill>
                  <a:srgbClr val="1C2235"/>
                </a:solidFill>
                <a:latin typeface="Segoe UI"/>
              </a:rPr>
              <a:t>полиця 170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143500" y="2228850"/>
            <a:ext cx="822960" cy="153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4" b="1" i="0">
                <a:solidFill>
                  <a:srgbClr val="1C2235"/>
                </a:solidFill>
                <a:latin typeface="Segoe UI"/>
              </a:rPr>
              <a:t>121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97880" y="2228850"/>
            <a:ext cx="822960" cy="153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24" b="0" i="0">
                <a:solidFill>
                  <a:srgbClr val="717890"/>
                </a:solidFill>
                <a:latin typeface="Segoe UI"/>
              </a:rPr>
              <a:t>$0,770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52260" y="2228850"/>
            <a:ext cx="822960" cy="153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24" b="0" i="0">
                <a:solidFill>
                  <a:srgbClr val="717890"/>
                </a:solidFill>
                <a:latin typeface="Segoe UI"/>
              </a:rPr>
              <a:t>$1,215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86700" y="2228850"/>
            <a:ext cx="822960" cy="153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24" b="0" i="0">
                <a:solidFill>
                  <a:srgbClr val="717890"/>
                </a:solidFill>
                <a:latin typeface="Segoe UI"/>
              </a:rPr>
              <a:t>54,7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5196" y="2402749"/>
            <a:ext cx="8298180" cy="153325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25196" y="2402749"/>
            <a:ext cx="34290" cy="153325"/>
          </a:xfrm>
          <a:prstGeom prst="rect">
            <a:avLst/>
          </a:prstGeom>
          <a:solidFill>
            <a:srgbClr val="B3621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34924" y="2402749"/>
            <a:ext cx="1474470" cy="153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303A5D"/>
                </a:solidFill>
                <a:latin typeface="Segoe UI"/>
              </a:rPr>
              <a:t>Norimaki Wasabi 42 г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023110" y="2430181"/>
            <a:ext cx="854061" cy="98461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023110" y="2416465"/>
            <a:ext cx="867777" cy="1258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55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890887" y="2430181"/>
            <a:ext cx="468382" cy="98461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890887" y="2416465"/>
            <a:ext cx="482098" cy="1258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30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372986" y="2430181"/>
            <a:ext cx="564802" cy="98461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372986" y="2416465"/>
            <a:ext cx="578518" cy="1258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1C2235"/>
                </a:solidFill>
                <a:latin typeface="Segoe UI"/>
              </a:rPr>
              <a:t>36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951505" y="2430181"/>
            <a:ext cx="757642" cy="98461"/>
          </a:xfrm>
          <a:prstGeom prst="rect">
            <a:avLst/>
          </a:prstGeom>
          <a:solidFill>
            <a:srgbClr val="A5ABB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951505" y="2416465"/>
            <a:ext cx="771358" cy="1258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49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777727" y="2402749"/>
            <a:ext cx="617220" cy="153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88" b="1" i="0">
                <a:solidFill>
                  <a:srgbClr val="1C2235"/>
                </a:solidFill>
                <a:latin typeface="Segoe UI"/>
              </a:rPr>
              <a:t>полиця 170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143500" y="2402749"/>
            <a:ext cx="822960" cy="153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4" b="1" i="0">
                <a:solidFill>
                  <a:srgbClr val="1C2235"/>
                </a:solidFill>
                <a:latin typeface="Segoe UI"/>
              </a:rPr>
              <a:t>121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897880" y="2402749"/>
            <a:ext cx="822960" cy="153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24" b="0" i="0">
                <a:solidFill>
                  <a:srgbClr val="717890"/>
                </a:solidFill>
                <a:latin typeface="Segoe UI"/>
              </a:rPr>
              <a:t>$0,770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652260" y="2402749"/>
            <a:ext cx="822960" cy="153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24" b="0" i="0">
                <a:solidFill>
                  <a:srgbClr val="717890"/>
                </a:solidFill>
                <a:latin typeface="Segoe UI"/>
              </a:rPr>
              <a:t>$1,215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886700" y="2402749"/>
            <a:ext cx="822960" cy="153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24" b="0" i="0">
                <a:solidFill>
                  <a:srgbClr val="717890"/>
                </a:solidFill>
                <a:latin typeface="Segoe UI"/>
              </a:rPr>
              <a:t>54,7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25196" y="2576648"/>
            <a:ext cx="8298180" cy="153325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425196" y="2576648"/>
            <a:ext cx="34290" cy="153325"/>
          </a:xfrm>
          <a:prstGeom prst="rect">
            <a:avLst/>
          </a:prstGeom>
          <a:solidFill>
            <a:srgbClr val="1D5B6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34924" y="2576648"/>
            <a:ext cx="1474470" cy="153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303A5D"/>
                </a:solidFill>
                <a:latin typeface="Segoe UI"/>
              </a:rPr>
              <a:t>Norimaki Original 50 г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023110" y="2604080"/>
            <a:ext cx="661012" cy="98461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023110" y="2590364"/>
            <a:ext cx="674728" cy="1258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42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697838" y="2604080"/>
            <a:ext cx="361132" cy="98461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697838" y="2590364"/>
            <a:ext cx="374848" cy="1258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24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072687" y="2604080"/>
            <a:ext cx="436102" cy="98461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72687" y="2590364"/>
            <a:ext cx="449818" cy="1258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1C2235"/>
                </a:solidFill>
                <a:latin typeface="Segoe UI"/>
              </a:rPr>
              <a:t>28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522505" y="2604080"/>
            <a:ext cx="586042" cy="98461"/>
          </a:xfrm>
          <a:prstGeom prst="rect">
            <a:avLst/>
          </a:prstGeom>
          <a:solidFill>
            <a:srgbClr val="A5ABB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522505" y="2590364"/>
            <a:ext cx="599758" cy="1258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38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177128" y="2576648"/>
            <a:ext cx="617220" cy="153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88" b="1" i="0">
                <a:solidFill>
                  <a:srgbClr val="1C2235"/>
                </a:solidFill>
                <a:latin typeface="Segoe UI"/>
              </a:rPr>
              <a:t>полиця 132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143500" y="2576648"/>
            <a:ext cx="822960" cy="153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4" b="1" i="0">
                <a:solidFill>
                  <a:srgbClr val="1C2235"/>
                </a:solidFill>
                <a:latin typeface="Segoe UI"/>
              </a:rPr>
              <a:t>94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897880" y="2576648"/>
            <a:ext cx="822960" cy="153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24" b="0" i="0">
                <a:solidFill>
                  <a:srgbClr val="717890"/>
                </a:solidFill>
                <a:latin typeface="Segoe UI"/>
              </a:rPr>
              <a:t>$0,600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652260" y="2576648"/>
            <a:ext cx="822960" cy="153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24" b="0" i="0">
                <a:solidFill>
                  <a:srgbClr val="717890"/>
                </a:solidFill>
                <a:latin typeface="Segoe UI"/>
              </a:rPr>
              <a:t>$0,944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886700" y="2576648"/>
            <a:ext cx="822960" cy="153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24" b="0" i="0">
                <a:solidFill>
                  <a:srgbClr val="717890"/>
                </a:solidFill>
                <a:latin typeface="Segoe UI"/>
              </a:rPr>
              <a:t>42,5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25196" y="2750547"/>
            <a:ext cx="8298180" cy="153325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425196" y="2750547"/>
            <a:ext cx="34290" cy="153325"/>
          </a:xfrm>
          <a:prstGeom prst="rect">
            <a:avLst/>
          </a:prstGeom>
          <a:solidFill>
            <a:srgbClr val="1D5B6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34924" y="2750547"/>
            <a:ext cx="1474470" cy="153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303A5D"/>
                </a:solidFill>
                <a:latin typeface="Segoe UI"/>
              </a:rPr>
              <a:t>Norimaki Wasabi 55 г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023110" y="2777979"/>
            <a:ext cx="802321" cy="98461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2023110" y="2764263"/>
            <a:ext cx="816037" cy="1258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51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839147" y="2777979"/>
            <a:ext cx="439638" cy="98461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839147" y="2764263"/>
            <a:ext cx="453354" cy="1258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29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292501" y="2777979"/>
            <a:ext cx="530308" cy="98461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3292501" y="2764263"/>
            <a:ext cx="544024" cy="1258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1C2235"/>
                </a:solidFill>
                <a:latin typeface="Segoe UI"/>
              </a:rPr>
              <a:t>34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836526" y="2777979"/>
            <a:ext cx="711650" cy="98461"/>
          </a:xfrm>
          <a:prstGeom prst="rect">
            <a:avLst/>
          </a:prstGeom>
          <a:solidFill>
            <a:srgbClr val="A5ABB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836526" y="2764263"/>
            <a:ext cx="725366" cy="1258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46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616757" y="2750547"/>
            <a:ext cx="617220" cy="153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88" b="1" i="0">
                <a:solidFill>
                  <a:srgbClr val="1C2235"/>
                </a:solidFill>
                <a:latin typeface="Segoe UI"/>
              </a:rPr>
              <a:t>полиця 160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143500" y="2750547"/>
            <a:ext cx="822960" cy="153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4" b="1" i="0">
                <a:solidFill>
                  <a:srgbClr val="1C2235"/>
                </a:solidFill>
                <a:latin typeface="Segoe UI"/>
              </a:rPr>
              <a:t>114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897880" y="2750547"/>
            <a:ext cx="822960" cy="153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24" b="0" i="0">
                <a:solidFill>
                  <a:srgbClr val="717890"/>
                </a:solidFill>
                <a:latin typeface="Segoe UI"/>
              </a:rPr>
              <a:t>$0,750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652260" y="2750547"/>
            <a:ext cx="822960" cy="153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24" b="0" i="0">
                <a:solidFill>
                  <a:srgbClr val="717890"/>
                </a:solidFill>
                <a:latin typeface="Segoe UI"/>
              </a:rPr>
              <a:t>$1,142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886700" y="2750547"/>
            <a:ext cx="822960" cy="153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24" b="0" i="0">
                <a:solidFill>
                  <a:srgbClr val="717890"/>
                </a:solidFill>
                <a:latin typeface="Segoe UI"/>
              </a:rPr>
              <a:t>51,4</a:t>
            </a:r>
          </a:p>
        </p:txBody>
      </p:sp>
      <p:sp>
        <p:nvSpPr>
          <p:cNvPr id="92" name="Rectangle 91"/>
          <p:cNvSpPr/>
          <p:nvPr/>
        </p:nvSpPr>
        <p:spPr>
          <a:xfrm>
            <a:off x="425196" y="2924447"/>
            <a:ext cx="8298180" cy="153325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425196" y="2924447"/>
            <a:ext cx="34290" cy="153325"/>
          </a:xfrm>
          <a:prstGeom prst="rect">
            <a:avLst/>
          </a:prstGeom>
          <a:solidFill>
            <a:srgbClr val="2F7A3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534924" y="2924447"/>
            <a:ext cx="1474470" cy="153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303A5D"/>
                </a:solidFill>
                <a:latin typeface="Segoe UI"/>
              </a:rPr>
              <a:t>Wow ROLL Original 2,5 г</a:t>
            </a:r>
          </a:p>
        </p:txBody>
      </p:sp>
      <p:sp>
        <p:nvSpPr>
          <p:cNvPr id="95" name="Rectangle 94"/>
          <p:cNvSpPr/>
          <p:nvPr/>
        </p:nvSpPr>
        <p:spPr>
          <a:xfrm>
            <a:off x="2023110" y="2951879"/>
            <a:ext cx="137255" cy="98461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2174081" y="2951879"/>
            <a:ext cx="70157" cy="98461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2257955" y="2951879"/>
            <a:ext cx="86931" cy="98461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2358603" y="2951879"/>
            <a:ext cx="120481" cy="98461"/>
          </a:xfrm>
          <a:prstGeom prst="rect">
            <a:avLst/>
          </a:prstGeom>
          <a:solidFill>
            <a:srgbClr val="A5ABB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2547664" y="2924447"/>
            <a:ext cx="617220" cy="153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88" b="1" i="0">
                <a:solidFill>
                  <a:srgbClr val="1C2235"/>
                </a:solidFill>
                <a:latin typeface="Segoe UI"/>
              </a:rPr>
              <a:t>полиця 30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5143500" y="2924447"/>
            <a:ext cx="822960" cy="153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4" b="1" i="0">
                <a:solidFill>
                  <a:srgbClr val="1C2235"/>
                </a:solidFill>
                <a:latin typeface="Segoe UI"/>
              </a:rPr>
              <a:t>21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5897880" y="2924447"/>
            <a:ext cx="822960" cy="153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24" b="0" i="0">
                <a:solidFill>
                  <a:srgbClr val="717890"/>
                </a:solidFill>
                <a:latin typeface="Segoe UI"/>
              </a:rPr>
              <a:t>$0,122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652260" y="2924447"/>
            <a:ext cx="822960" cy="153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24" b="0" i="0">
                <a:solidFill>
                  <a:srgbClr val="717890"/>
                </a:solidFill>
                <a:latin typeface="Segoe UI"/>
              </a:rPr>
              <a:t>$0,211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886700" y="2924447"/>
            <a:ext cx="822960" cy="153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24" b="0" i="0">
                <a:solidFill>
                  <a:srgbClr val="717890"/>
                </a:solidFill>
                <a:latin typeface="Segoe UI"/>
              </a:rPr>
              <a:t>9,5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25196" y="3098346"/>
            <a:ext cx="8298180" cy="153325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425196" y="3098346"/>
            <a:ext cx="34290" cy="153325"/>
          </a:xfrm>
          <a:prstGeom prst="rect">
            <a:avLst/>
          </a:prstGeom>
          <a:solidFill>
            <a:srgbClr val="2F7A3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534924" y="3098346"/>
            <a:ext cx="1474470" cy="153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303A5D"/>
                </a:solidFill>
                <a:latin typeface="Segoe UI"/>
              </a:rPr>
              <a:t>Wow ROLL Hot Spicy 2,5 г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2023110" y="3125778"/>
            <a:ext cx="137255" cy="98461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2174081" y="3125778"/>
            <a:ext cx="70157" cy="98461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2257955" y="3125778"/>
            <a:ext cx="86931" cy="98461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2358603" y="3125778"/>
            <a:ext cx="120481" cy="98461"/>
          </a:xfrm>
          <a:prstGeom prst="rect">
            <a:avLst/>
          </a:prstGeom>
          <a:solidFill>
            <a:srgbClr val="A5ABB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2547664" y="3098346"/>
            <a:ext cx="617220" cy="153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88" b="1" i="0">
                <a:solidFill>
                  <a:srgbClr val="1C2235"/>
                </a:solidFill>
                <a:latin typeface="Segoe UI"/>
              </a:rPr>
              <a:t>полиця 30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5143500" y="3098346"/>
            <a:ext cx="822960" cy="153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4" b="1" i="0">
                <a:solidFill>
                  <a:srgbClr val="1C2235"/>
                </a:solidFill>
                <a:latin typeface="Segoe UI"/>
              </a:rPr>
              <a:t>21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5897880" y="3098346"/>
            <a:ext cx="822960" cy="153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24" b="0" i="0">
                <a:solidFill>
                  <a:srgbClr val="717890"/>
                </a:solidFill>
                <a:latin typeface="Segoe UI"/>
              </a:rPr>
              <a:t>$0,122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6652260" y="3098346"/>
            <a:ext cx="822960" cy="153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24" b="0" i="0">
                <a:solidFill>
                  <a:srgbClr val="717890"/>
                </a:solidFill>
                <a:latin typeface="Segoe UI"/>
              </a:rPr>
              <a:t>$0,211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7886700" y="3098346"/>
            <a:ext cx="822960" cy="153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24" b="0" i="0">
                <a:solidFill>
                  <a:srgbClr val="717890"/>
                </a:solidFill>
                <a:latin typeface="Segoe UI"/>
              </a:rPr>
              <a:t>9,5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425196" y="3272245"/>
            <a:ext cx="8298180" cy="153325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425196" y="3272245"/>
            <a:ext cx="34290" cy="153325"/>
          </a:xfrm>
          <a:prstGeom prst="rect">
            <a:avLst/>
          </a:prstGeom>
          <a:solidFill>
            <a:srgbClr val="2F7A3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534924" y="3272245"/>
            <a:ext cx="1474470" cy="153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303A5D"/>
                </a:solidFill>
                <a:latin typeface="Segoe UI"/>
              </a:rPr>
              <a:t>Wow ROLL Spicy Squid 2,5 г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2023110" y="3299677"/>
            <a:ext cx="137255" cy="98461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2174081" y="3299677"/>
            <a:ext cx="70157" cy="98461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2257955" y="3299677"/>
            <a:ext cx="86931" cy="98461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2358603" y="3299677"/>
            <a:ext cx="120481" cy="98461"/>
          </a:xfrm>
          <a:prstGeom prst="rect">
            <a:avLst/>
          </a:prstGeom>
          <a:solidFill>
            <a:srgbClr val="A5ABB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2547664" y="3272245"/>
            <a:ext cx="617220" cy="153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88" b="1" i="0">
                <a:solidFill>
                  <a:srgbClr val="1C2235"/>
                </a:solidFill>
                <a:latin typeface="Segoe UI"/>
              </a:rPr>
              <a:t>полиця 30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5143500" y="3272245"/>
            <a:ext cx="822960" cy="153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4" b="1" i="0">
                <a:solidFill>
                  <a:srgbClr val="1C2235"/>
                </a:solidFill>
                <a:latin typeface="Segoe UI"/>
              </a:rPr>
              <a:t>21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5897880" y="3272245"/>
            <a:ext cx="822960" cy="153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24" b="0" i="0">
                <a:solidFill>
                  <a:srgbClr val="717890"/>
                </a:solidFill>
                <a:latin typeface="Segoe UI"/>
              </a:rPr>
              <a:t>$0,122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6652260" y="3272245"/>
            <a:ext cx="822960" cy="153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24" b="0" i="0">
                <a:solidFill>
                  <a:srgbClr val="717890"/>
                </a:solidFill>
                <a:latin typeface="Segoe UI"/>
              </a:rPr>
              <a:t>$0,211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7886700" y="3272245"/>
            <a:ext cx="822960" cy="153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24" b="0" i="0">
                <a:solidFill>
                  <a:srgbClr val="717890"/>
                </a:solidFill>
                <a:latin typeface="Segoe UI"/>
              </a:rPr>
              <a:t>9,5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425196" y="3446145"/>
            <a:ext cx="8298180" cy="153325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425196" y="3446145"/>
            <a:ext cx="34290" cy="153325"/>
          </a:xfrm>
          <a:prstGeom prst="rect">
            <a:avLst/>
          </a:prstGeom>
          <a:solidFill>
            <a:srgbClr val="2F7A3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534924" y="3446145"/>
            <a:ext cx="1474470" cy="153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303A5D"/>
                </a:solidFill>
                <a:latin typeface="Segoe UI"/>
              </a:rPr>
              <a:t>Wow DOUBLE ROLL Original 5 г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2023110" y="3473577"/>
            <a:ext cx="257259" cy="98461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2023110" y="3459861"/>
            <a:ext cx="270975" cy="1258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17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2294085" y="3473577"/>
            <a:ext cx="136825" cy="98461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2444627" y="3473577"/>
            <a:ext cx="166934" cy="98461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2625277" y="3473577"/>
            <a:ext cx="227151" cy="98461"/>
          </a:xfrm>
          <a:prstGeom prst="rect">
            <a:avLst/>
          </a:prstGeom>
          <a:solidFill>
            <a:srgbClr val="A5ABB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2625277" y="3459861"/>
            <a:ext cx="240867" cy="1258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15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2921008" y="3446145"/>
            <a:ext cx="617220" cy="153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88" b="1" i="0">
                <a:solidFill>
                  <a:srgbClr val="1C2235"/>
                </a:solidFill>
                <a:latin typeface="Segoe UI"/>
              </a:rPr>
              <a:t>полиця 53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5143500" y="3446145"/>
            <a:ext cx="822960" cy="153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4" b="1" i="0">
                <a:solidFill>
                  <a:srgbClr val="1C2235"/>
                </a:solidFill>
                <a:latin typeface="Segoe UI"/>
              </a:rPr>
              <a:t>38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5897880" y="3446145"/>
            <a:ext cx="822960" cy="153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24" b="0" i="0">
                <a:solidFill>
                  <a:srgbClr val="717890"/>
                </a:solidFill>
                <a:latin typeface="Segoe UI"/>
              </a:rPr>
              <a:t>$0,218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6652260" y="3446145"/>
            <a:ext cx="822960" cy="153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24" b="0" i="0">
                <a:solidFill>
                  <a:srgbClr val="717890"/>
                </a:solidFill>
                <a:latin typeface="Segoe UI"/>
              </a:rPr>
              <a:t>$0,379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7886700" y="3446145"/>
            <a:ext cx="822960" cy="153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24" b="0" i="0">
                <a:solidFill>
                  <a:srgbClr val="717890"/>
                </a:solidFill>
                <a:latin typeface="Segoe UI"/>
              </a:rPr>
              <a:t>17,1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425196" y="3620044"/>
            <a:ext cx="8298180" cy="153325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425196" y="3620044"/>
            <a:ext cx="34290" cy="153325"/>
          </a:xfrm>
          <a:prstGeom prst="rect">
            <a:avLst/>
          </a:prstGeom>
          <a:solidFill>
            <a:srgbClr val="2F7A3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534924" y="3620044"/>
            <a:ext cx="1474470" cy="153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303A5D"/>
                </a:solidFill>
                <a:latin typeface="Segoe UI"/>
              </a:rPr>
              <a:t>Wow DOUBLE ROLL Hot Spicy 5 г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2023110" y="3647476"/>
            <a:ext cx="257259" cy="98461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2023110" y="3633760"/>
            <a:ext cx="270975" cy="1258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17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2294085" y="3647476"/>
            <a:ext cx="136825" cy="98461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2444627" y="3647476"/>
            <a:ext cx="166934" cy="98461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2625277" y="3647476"/>
            <a:ext cx="227151" cy="98461"/>
          </a:xfrm>
          <a:prstGeom prst="rect">
            <a:avLst/>
          </a:prstGeom>
          <a:solidFill>
            <a:srgbClr val="A5ABB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2625277" y="3633760"/>
            <a:ext cx="240867" cy="1258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15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2921008" y="3620044"/>
            <a:ext cx="617220" cy="153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88" b="1" i="0">
                <a:solidFill>
                  <a:srgbClr val="1C2235"/>
                </a:solidFill>
                <a:latin typeface="Segoe UI"/>
              </a:rPr>
              <a:t>полиця 53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5143500" y="3620044"/>
            <a:ext cx="822960" cy="153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4" b="1" i="0">
                <a:solidFill>
                  <a:srgbClr val="1C2235"/>
                </a:solidFill>
                <a:latin typeface="Segoe UI"/>
              </a:rPr>
              <a:t>38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5897880" y="3620044"/>
            <a:ext cx="822960" cy="153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24" b="0" i="0">
                <a:solidFill>
                  <a:srgbClr val="717890"/>
                </a:solidFill>
                <a:latin typeface="Segoe UI"/>
              </a:rPr>
              <a:t>$0,218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652260" y="3620044"/>
            <a:ext cx="822960" cy="153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24" b="0" i="0">
                <a:solidFill>
                  <a:srgbClr val="717890"/>
                </a:solidFill>
                <a:latin typeface="Segoe UI"/>
              </a:rPr>
              <a:t>$0,379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7886700" y="3620044"/>
            <a:ext cx="822960" cy="153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24" b="0" i="0">
                <a:solidFill>
                  <a:srgbClr val="717890"/>
                </a:solidFill>
                <a:latin typeface="Segoe UI"/>
              </a:rPr>
              <a:t>17,1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425196" y="3793943"/>
            <a:ext cx="8298180" cy="153325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425196" y="3793943"/>
            <a:ext cx="34290" cy="153325"/>
          </a:xfrm>
          <a:prstGeom prst="rect">
            <a:avLst/>
          </a:prstGeom>
          <a:solidFill>
            <a:srgbClr val="2F7A3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534924" y="3793943"/>
            <a:ext cx="1474470" cy="153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303A5D"/>
                </a:solidFill>
                <a:latin typeface="Segoe UI"/>
              </a:rPr>
              <a:t>Wow SEAWEED Original 12 г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2023110" y="3821375"/>
            <a:ext cx="539847" cy="98461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2023110" y="3807659"/>
            <a:ext cx="553563" cy="1258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35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2576673" y="3821375"/>
            <a:ext cx="293819" cy="98461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2576673" y="3807659"/>
            <a:ext cx="307535" cy="1258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19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2884208" y="3821375"/>
            <a:ext cx="355326" cy="98461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2884208" y="3807659"/>
            <a:ext cx="369042" cy="1258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1C2235"/>
                </a:solidFill>
                <a:latin typeface="Segoe UI"/>
              </a:rPr>
              <a:t>23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3253251" y="3821375"/>
            <a:ext cx="478340" cy="98461"/>
          </a:xfrm>
          <a:prstGeom prst="rect">
            <a:avLst/>
          </a:prstGeom>
          <a:solidFill>
            <a:srgbClr val="A5ABB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3253251" y="3807659"/>
            <a:ext cx="492056" cy="1258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31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3800171" y="3793943"/>
            <a:ext cx="617220" cy="153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88" b="1" i="0">
                <a:solidFill>
                  <a:srgbClr val="1C2235"/>
                </a:solidFill>
                <a:latin typeface="Segoe UI"/>
              </a:rPr>
              <a:t>полиця 108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5143500" y="3793943"/>
            <a:ext cx="822960" cy="153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4" b="1" i="0">
                <a:solidFill>
                  <a:srgbClr val="1C2235"/>
                </a:solidFill>
                <a:latin typeface="Segoe UI"/>
              </a:rPr>
              <a:t>77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5897880" y="3793943"/>
            <a:ext cx="822960" cy="153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24" b="0" i="0">
                <a:solidFill>
                  <a:srgbClr val="717890"/>
                </a:solidFill>
                <a:latin typeface="Segoe UI"/>
              </a:rPr>
              <a:t>$0,449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652260" y="3793943"/>
            <a:ext cx="822960" cy="153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24" b="0" i="0">
                <a:solidFill>
                  <a:srgbClr val="717890"/>
                </a:solidFill>
                <a:latin typeface="Segoe UI"/>
              </a:rPr>
              <a:t>$0,775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7886700" y="3793943"/>
            <a:ext cx="822960" cy="153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24" b="0" i="0">
                <a:solidFill>
                  <a:srgbClr val="717890"/>
                </a:solidFill>
                <a:latin typeface="Segoe UI"/>
              </a:rPr>
              <a:t>34,9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425196" y="3967842"/>
            <a:ext cx="8298180" cy="153325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425196" y="3967842"/>
            <a:ext cx="34290" cy="153325"/>
          </a:xfrm>
          <a:prstGeom prst="rect">
            <a:avLst/>
          </a:prstGeom>
          <a:solidFill>
            <a:srgbClr val="2F7A3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534924" y="3967842"/>
            <a:ext cx="1474470" cy="153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303A5D"/>
                </a:solidFill>
                <a:latin typeface="Segoe UI"/>
              </a:rPr>
              <a:t>Wow SEAWEED Spicy 12 г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2023110" y="3995274"/>
            <a:ext cx="539847" cy="98461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2023110" y="3981558"/>
            <a:ext cx="553563" cy="1258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35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2576673" y="3995274"/>
            <a:ext cx="293819" cy="98461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2576673" y="3981558"/>
            <a:ext cx="307535" cy="1258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19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2884208" y="3995274"/>
            <a:ext cx="355326" cy="98461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2884208" y="3981558"/>
            <a:ext cx="369042" cy="1258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1C2235"/>
                </a:solidFill>
                <a:latin typeface="Segoe UI"/>
              </a:rPr>
              <a:t>23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3253251" y="3995274"/>
            <a:ext cx="478340" cy="98461"/>
          </a:xfrm>
          <a:prstGeom prst="rect">
            <a:avLst/>
          </a:prstGeom>
          <a:solidFill>
            <a:srgbClr val="A5ABB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2" name="TextBox 181"/>
          <p:cNvSpPr txBox="1"/>
          <p:nvPr/>
        </p:nvSpPr>
        <p:spPr>
          <a:xfrm>
            <a:off x="3253251" y="3981558"/>
            <a:ext cx="492056" cy="1258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31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3800171" y="3967842"/>
            <a:ext cx="617220" cy="153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88" b="1" i="0">
                <a:solidFill>
                  <a:srgbClr val="1C2235"/>
                </a:solidFill>
                <a:latin typeface="Segoe UI"/>
              </a:rPr>
              <a:t>полиця 108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5143500" y="3967842"/>
            <a:ext cx="822960" cy="153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4" b="1" i="0">
                <a:solidFill>
                  <a:srgbClr val="1C2235"/>
                </a:solidFill>
                <a:latin typeface="Segoe UI"/>
              </a:rPr>
              <a:t>77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5897880" y="3967842"/>
            <a:ext cx="822960" cy="153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24" b="0" i="0">
                <a:solidFill>
                  <a:srgbClr val="717890"/>
                </a:solidFill>
                <a:latin typeface="Segoe UI"/>
              </a:rPr>
              <a:t>$0,449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6652260" y="3967842"/>
            <a:ext cx="822960" cy="153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24" b="0" i="0">
                <a:solidFill>
                  <a:srgbClr val="717890"/>
                </a:solidFill>
                <a:latin typeface="Segoe UI"/>
              </a:rPr>
              <a:t>$0,775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7886700" y="3967842"/>
            <a:ext cx="822960" cy="153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24" b="0" i="0">
                <a:solidFill>
                  <a:srgbClr val="717890"/>
                </a:solidFill>
                <a:latin typeface="Segoe UI"/>
              </a:rPr>
              <a:t>34,9</a:t>
            </a:r>
          </a:p>
        </p:txBody>
      </p:sp>
      <p:sp>
        <p:nvSpPr>
          <p:cNvPr id="188" name="Rectangle 187"/>
          <p:cNvSpPr/>
          <p:nvPr/>
        </p:nvSpPr>
        <p:spPr>
          <a:xfrm>
            <a:off x="425196" y="4141742"/>
            <a:ext cx="8298180" cy="153325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425196" y="4141742"/>
            <a:ext cx="34290" cy="153325"/>
          </a:xfrm>
          <a:prstGeom prst="rect">
            <a:avLst/>
          </a:prstGeom>
          <a:solidFill>
            <a:srgbClr val="2F7A3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0" name="TextBox 189"/>
          <p:cNvSpPr txBox="1"/>
          <p:nvPr/>
        </p:nvSpPr>
        <p:spPr>
          <a:xfrm>
            <a:off x="534924" y="4141742"/>
            <a:ext cx="1474470" cy="153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303A5D"/>
                </a:solidFill>
                <a:latin typeface="Segoe UI"/>
              </a:rPr>
              <a:t>Wow SEAWEED Squid 12 г</a:t>
            </a:r>
          </a:p>
        </p:txBody>
      </p:sp>
      <p:sp>
        <p:nvSpPr>
          <p:cNvPr id="191" name="Rectangle 190"/>
          <p:cNvSpPr/>
          <p:nvPr/>
        </p:nvSpPr>
        <p:spPr>
          <a:xfrm>
            <a:off x="2023110" y="4169174"/>
            <a:ext cx="539847" cy="98461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2023110" y="4155458"/>
            <a:ext cx="553563" cy="1258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35</a:t>
            </a:r>
          </a:p>
        </p:txBody>
      </p:sp>
      <p:sp>
        <p:nvSpPr>
          <p:cNvPr id="193" name="Rectangle 192"/>
          <p:cNvSpPr/>
          <p:nvPr/>
        </p:nvSpPr>
        <p:spPr>
          <a:xfrm>
            <a:off x="2576673" y="4169174"/>
            <a:ext cx="293819" cy="98461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4" name="TextBox 193"/>
          <p:cNvSpPr txBox="1"/>
          <p:nvPr/>
        </p:nvSpPr>
        <p:spPr>
          <a:xfrm>
            <a:off x="2576673" y="4155458"/>
            <a:ext cx="307535" cy="1258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19</a:t>
            </a:r>
          </a:p>
        </p:txBody>
      </p:sp>
      <p:sp>
        <p:nvSpPr>
          <p:cNvPr id="195" name="Rectangle 194"/>
          <p:cNvSpPr/>
          <p:nvPr/>
        </p:nvSpPr>
        <p:spPr>
          <a:xfrm>
            <a:off x="2884208" y="4169174"/>
            <a:ext cx="355326" cy="98461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6" name="TextBox 195"/>
          <p:cNvSpPr txBox="1"/>
          <p:nvPr/>
        </p:nvSpPr>
        <p:spPr>
          <a:xfrm>
            <a:off x="2884208" y="4155458"/>
            <a:ext cx="369042" cy="1258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1C2235"/>
                </a:solidFill>
                <a:latin typeface="Segoe UI"/>
              </a:rPr>
              <a:t>23</a:t>
            </a:r>
          </a:p>
        </p:txBody>
      </p:sp>
      <p:sp>
        <p:nvSpPr>
          <p:cNvPr id="197" name="Rectangle 196"/>
          <p:cNvSpPr/>
          <p:nvPr/>
        </p:nvSpPr>
        <p:spPr>
          <a:xfrm>
            <a:off x="3253251" y="4169174"/>
            <a:ext cx="478340" cy="98461"/>
          </a:xfrm>
          <a:prstGeom prst="rect">
            <a:avLst/>
          </a:prstGeom>
          <a:solidFill>
            <a:srgbClr val="A5ABB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8" name="TextBox 197"/>
          <p:cNvSpPr txBox="1"/>
          <p:nvPr/>
        </p:nvSpPr>
        <p:spPr>
          <a:xfrm>
            <a:off x="3253251" y="4155458"/>
            <a:ext cx="492056" cy="1258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31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3800171" y="4141742"/>
            <a:ext cx="617220" cy="153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88" b="1" i="0">
                <a:solidFill>
                  <a:srgbClr val="1C2235"/>
                </a:solidFill>
                <a:latin typeface="Segoe UI"/>
              </a:rPr>
              <a:t>полиця 108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5143500" y="4141742"/>
            <a:ext cx="822960" cy="153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4" b="1" i="0">
                <a:solidFill>
                  <a:srgbClr val="1C2235"/>
                </a:solidFill>
                <a:latin typeface="Segoe UI"/>
              </a:rPr>
              <a:t>77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5897880" y="4141742"/>
            <a:ext cx="822960" cy="153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24" b="0" i="0">
                <a:solidFill>
                  <a:srgbClr val="717890"/>
                </a:solidFill>
                <a:latin typeface="Segoe UI"/>
              </a:rPr>
              <a:t>$0,449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6652260" y="4141742"/>
            <a:ext cx="822960" cy="153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24" b="0" i="0">
                <a:solidFill>
                  <a:srgbClr val="717890"/>
                </a:solidFill>
                <a:latin typeface="Segoe UI"/>
              </a:rPr>
              <a:t>$0,775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7886700" y="4141742"/>
            <a:ext cx="822960" cy="153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24" b="0" i="0">
                <a:solidFill>
                  <a:srgbClr val="717890"/>
                </a:solidFill>
                <a:latin typeface="Segoe UI"/>
              </a:rPr>
              <a:t>34,9</a:t>
            </a:r>
          </a:p>
        </p:txBody>
      </p:sp>
      <p:sp>
        <p:nvSpPr>
          <p:cNvPr id="204" name="Rectangle 203"/>
          <p:cNvSpPr/>
          <p:nvPr/>
        </p:nvSpPr>
        <p:spPr>
          <a:xfrm>
            <a:off x="425196" y="4315641"/>
            <a:ext cx="8298180" cy="153325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425196" y="4315641"/>
            <a:ext cx="34290" cy="153325"/>
          </a:xfrm>
          <a:prstGeom prst="rect">
            <a:avLst/>
          </a:prstGeom>
          <a:solidFill>
            <a:srgbClr val="2F7A3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6" name="TextBox 205"/>
          <p:cNvSpPr txBox="1"/>
          <p:nvPr/>
        </p:nvSpPr>
        <p:spPr>
          <a:xfrm>
            <a:off x="534924" y="4315641"/>
            <a:ext cx="1474470" cy="153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303A5D"/>
                </a:solidFill>
                <a:latin typeface="Segoe UI"/>
              </a:rPr>
              <a:t>Wow MINI Original 10 г</a:t>
            </a:r>
          </a:p>
        </p:txBody>
      </p:sp>
      <p:sp>
        <p:nvSpPr>
          <p:cNvPr id="207" name="Rectangle 206"/>
          <p:cNvSpPr/>
          <p:nvPr/>
        </p:nvSpPr>
        <p:spPr>
          <a:xfrm>
            <a:off x="2023110" y="4343073"/>
            <a:ext cx="543718" cy="98461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8" name="TextBox 207"/>
          <p:cNvSpPr txBox="1"/>
          <p:nvPr/>
        </p:nvSpPr>
        <p:spPr>
          <a:xfrm>
            <a:off x="2023110" y="4329357"/>
            <a:ext cx="557434" cy="1258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35</a:t>
            </a:r>
          </a:p>
        </p:txBody>
      </p:sp>
      <p:sp>
        <p:nvSpPr>
          <p:cNvPr id="209" name="Rectangle 208"/>
          <p:cNvSpPr/>
          <p:nvPr/>
        </p:nvSpPr>
        <p:spPr>
          <a:xfrm>
            <a:off x="2580544" y="4343073"/>
            <a:ext cx="295969" cy="98461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0" name="TextBox 209"/>
          <p:cNvSpPr txBox="1"/>
          <p:nvPr/>
        </p:nvSpPr>
        <p:spPr>
          <a:xfrm>
            <a:off x="2580544" y="4329357"/>
            <a:ext cx="309685" cy="1258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20</a:t>
            </a:r>
          </a:p>
        </p:txBody>
      </p:sp>
      <p:sp>
        <p:nvSpPr>
          <p:cNvPr id="211" name="Rectangle 210"/>
          <p:cNvSpPr/>
          <p:nvPr/>
        </p:nvSpPr>
        <p:spPr>
          <a:xfrm>
            <a:off x="2890230" y="4343073"/>
            <a:ext cx="357907" cy="98461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2" name="TextBox 211"/>
          <p:cNvSpPr txBox="1"/>
          <p:nvPr/>
        </p:nvSpPr>
        <p:spPr>
          <a:xfrm>
            <a:off x="2890230" y="4329357"/>
            <a:ext cx="371623" cy="1258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1C2235"/>
                </a:solidFill>
                <a:latin typeface="Segoe UI"/>
              </a:rPr>
              <a:t>23</a:t>
            </a:r>
          </a:p>
        </p:txBody>
      </p:sp>
      <p:sp>
        <p:nvSpPr>
          <p:cNvPr id="213" name="Rectangle 212"/>
          <p:cNvSpPr/>
          <p:nvPr/>
        </p:nvSpPr>
        <p:spPr>
          <a:xfrm>
            <a:off x="3261853" y="4343073"/>
            <a:ext cx="481781" cy="98461"/>
          </a:xfrm>
          <a:prstGeom prst="rect">
            <a:avLst/>
          </a:prstGeom>
          <a:solidFill>
            <a:srgbClr val="A5ABB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4" name="TextBox 213"/>
          <p:cNvSpPr txBox="1"/>
          <p:nvPr/>
        </p:nvSpPr>
        <p:spPr>
          <a:xfrm>
            <a:off x="3261853" y="4329357"/>
            <a:ext cx="495497" cy="1258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31</a:t>
            </a:r>
          </a:p>
        </p:txBody>
      </p:sp>
      <p:sp>
        <p:nvSpPr>
          <p:cNvPr id="215" name="TextBox 214"/>
          <p:cNvSpPr txBox="1"/>
          <p:nvPr/>
        </p:nvSpPr>
        <p:spPr>
          <a:xfrm>
            <a:off x="3812214" y="4315641"/>
            <a:ext cx="617220" cy="153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88" b="1" i="0">
                <a:solidFill>
                  <a:srgbClr val="1C2235"/>
                </a:solidFill>
                <a:latin typeface="Segoe UI"/>
              </a:rPr>
              <a:t>полиця 109</a:t>
            </a:r>
          </a:p>
        </p:txBody>
      </p:sp>
      <p:sp>
        <p:nvSpPr>
          <p:cNvPr id="216" name="TextBox 215"/>
          <p:cNvSpPr txBox="1"/>
          <p:nvPr/>
        </p:nvSpPr>
        <p:spPr>
          <a:xfrm>
            <a:off x="5143500" y="4315641"/>
            <a:ext cx="822960" cy="153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4" b="1" i="0">
                <a:solidFill>
                  <a:srgbClr val="1C2235"/>
                </a:solidFill>
                <a:latin typeface="Segoe UI"/>
              </a:rPr>
              <a:t>78</a:t>
            </a:r>
          </a:p>
        </p:txBody>
      </p:sp>
      <p:sp>
        <p:nvSpPr>
          <p:cNvPr id="217" name="TextBox 216"/>
          <p:cNvSpPr txBox="1"/>
          <p:nvPr/>
        </p:nvSpPr>
        <p:spPr>
          <a:xfrm>
            <a:off x="5897880" y="4315641"/>
            <a:ext cx="822960" cy="153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24" b="0" i="0">
                <a:solidFill>
                  <a:srgbClr val="717890"/>
                </a:solidFill>
                <a:latin typeface="Segoe UI"/>
              </a:rPr>
              <a:t>$0,446</a:t>
            </a:r>
          </a:p>
        </p:txBody>
      </p:sp>
      <p:sp>
        <p:nvSpPr>
          <p:cNvPr id="218" name="TextBox 217"/>
          <p:cNvSpPr txBox="1"/>
          <p:nvPr/>
        </p:nvSpPr>
        <p:spPr>
          <a:xfrm>
            <a:off x="6652260" y="4315641"/>
            <a:ext cx="822960" cy="153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24" b="0" i="0">
                <a:solidFill>
                  <a:srgbClr val="717890"/>
                </a:solidFill>
                <a:latin typeface="Segoe UI"/>
              </a:rPr>
              <a:t>$0,780</a:t>
            </a:r>
          </a:p>
        </p:txBody>
      </p:sp>
      <p:sp>
        <p:nvSpPr>
          <p:cNvPr id="219" name="TextBox 218"/>
          <p:cNvSpPr txBox="1"/>
          <p:nvPr/>
        </p:nvSpPr>
        <p:spPr>
          <a:xfrm>
            <a:off x="7886700" y="4315641"/>
            <a:ext cx="822960" cy="153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24" b="0" i="0">
                <a:solidFill>
                  <a:srgbClr val="717890"/>
                </a:solidFill>
                <a:latin typeface="Segoe UI"/>
              </a:rPr>
              <a:t>35,1</a:t>
            </a:r>
          </a:p>
        </p:txBody>
      </p:sp>
      <p:sp>
        <p:nvSpPr>
          <p:cNvPr id="220" name="Rectangle 219"/>
          <p:cNvSpPr/>
          <p:nvPr/>
        </p:nvSpPr>
        <p:spPr>
          <a:xfrm>
            <a:off x="425196" y="4489540"/>
            <a:ext cx="8298180" cy="153325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425196" y="4489540"/>
            <a:ext cx="34290" cy="153325"/>
          </a:xfrm>
          <a:prstGeom prst="rect">
            <a:avLst/>
          </a:prstGeom>
          <a:solidFill>
            <a:srgbClr val="2F7A3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2" name="TextBox 221"/>
          <p:cNvSpPr txBox="1"/>
          <p:nvPr/>
        </p:nvSpPr>
        <p:spPr>
          <a:xfrm>
            <a:off x="534924" y="4489540"/>
            <a:ext cx="1474470" cy="153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303A5D"/>
                </a:solidFill>
                <a:latin typeface="Segoe UI"/>
              </a:rPr>
              <a:t>Wow MINI Hot Spicy 10 г</a:t>
            </a:r>
          </a:p>
        </p:txBody>
      </p:sp>
      <p:sp>
        <p:nvSpPr>
          <p:cNvPr id="223" name="Rectangle 222"/>
          <p:cNvSpPr/>
          <p:nvPr/>
        </p:nvSpPr>
        <p:spPr>
          <a:xfrm>
            <a:off x="2023110" y="4516972"/>
            <a:ext cx="543718" cy="98461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4" name="TextBox 223"/>
          <p:cNvSpPr txBox="1"/>
          <p:nvPr/>
        </p:nvSpPr>
        <p:spPr>
          <a:xfrm>
            <a:off x="2023110" y="4503256"/>
            <a:ext cx="557434" cy="1258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35</a:t>
            </a:r>
          </a:p>
        </p:txBody>
      </p:sp>
      <p:sp>
        <p:nvSpPr>
          <p:cNvPr id="225" name="Rectangle 224"/>
          <p:cNvSpPr/>
          <p:nvPr/>
        </p:nvSpPr>
        <p:spPr>
          <a:xfrm>
            <a:off x="2580544" y="4516972"/>
            <a:ext cx="295969" cy="98461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6" name="TextBox 225"/>
          <p:cNvSpPr txBox="1"/>
          <p:nvPr/>
        </p:nvSpPr>
        <p:spPr>
          <a:xfrm>
            <a:off x="2580544" y="4503256"/>
            <a:ext cx="309685" cy="1258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20</a:t>
            </a:r>
          </a:p>
        </p:txBody>
      </p:sp>
      <p:sp>
        <p:nvSpPr>
          <p:cNvPr id="227" name="Rectangle 226"/>
          <p:cNvSpPr/>
          <p:nvPr/>
        </p:nvSpPr>
        <p:spPr>
          <a:xfrm>
            <a:off x="2890230" y="4516972"/>
            <a:ext cx="357907" cy="98461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8" name="TextBox 227"/>
          <p:cNvSpPr txBox="1"/>
          <p:nvPr/>
        </p:nvSpPr>
        <p:spPr>
          <a:xfrm>
            <a:off x="2890230" y="4503256"/>
            <a:ext cx="371623" cy="1258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1C2235"/>
                </a:solidFill>
                <a:latin typeface="Segoe UI"/>
              </a:rPr>
              <a:t>23</a:t>
            </a:r>
          </a:p>
        </p:txBody>
      </p:sp>
      <p:sp>
        <p:nvSpPr>
          <p:cNvPr id="229" name="Rectangle 228"/>
          <p:cNvSpPr/>
          <p:nvPr/>
        </p:nvSpPr>
        <p:spPr>
          <a:xfrm>
            <a:off x="3261853" y="4516972"/>
            <a:ext cx="481781" cy="98461"/>
          </a:xfrm>
          <a:prstGeom prst="rect">
            <a:avLst/>
          </a:prstGeom>
          <a:solidFill>
            <a:srgbClr val="A5ABB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0" name="TextBox 229"/>
          <p:cNvSpPr txBox="1"/>
          <p:nvPr/>
        </p:nvSpPr>
        <p:spPr>
          <a:xfrm>
            <a:off x="3261853" y="4503256"/>
            <a:ext cx="495497" cy="1258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31</a:t>
            </a:r>
          </a:p>
        </p:txBody>
      </p:sp>
      <p:sp>
        <p:nvSpPr>
          <p:cNvPr id="231" name="TextBox 230"/>
          <p:cNvSpPr txBox="1"/>
          <p:nvPr/>
        </p:nvSpPr>
        <p:spPr>
          <a:xfrm>
            <a:off x="3812214" y="4489540"/>
            <a:ext cx="617220" cy="153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88" b="1" i="0">
                <a:solidFill>
                  <a:srgbClr val="1C2235"/>
                </a:solidFill>
                <a:latin typeface="Segoe UI"/>
              </a:rPr>
              <a:t>полиця 109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5143500" y="4489540"/>
            <a:ext cx="822960" cy="153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4" b="1" i="0">
                <a:solidFill>
                  <a:srgbClr val="1C2235"/>
                </a:solidFill>
                <a:latin typeface="Segoe UI"/>
              </a:rPr>
              <a:t>78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5897880" y="4489540"/>
            <a:ext cx="822960" cy="153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24" b="0" i="0">
                <a:solidFill>
                  <a:srgbClr val="717890"/>
                </a:solidFill>
                <a:latin typeface="Segoe UI"/>
              </a:rPr>
              <a:t>$0,446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6652260" y="4489540"/>
            <a:ext cx="822960" cy="153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24" b="0" i="0">
                <a:solidFill>
                  <a:srgbClr val="717890"/>
                </a:solidFill>
                <a:latin typeface="Segoe UI"/>
              </a:rPr>
              <a:t>$0,780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7886700" y="4489540"/>
            <a:ext cx="822960" cy="153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24" b="0" i="0">
                <a:solidFill>
                  <a:srgbClr val="717890"/>
                </a:solidFill>
                <a:latin typeface="Segoe UI"/>
              </a:rPr>
              <a:t>35,1</a:t>
            </a:r>
          </a:p>
        </p:txBody>
      </p:sp>
      <p:sp>
        <p:nvSpPr>
          <p:cNvPr id="236" name="Rectangle 235"/>
          <p:cNvSpPr/>
          <p:nvPr/>
        </p:nvSpPr>
        <p:spPr>
          <a:xfrm>
            <a:off x="480060" y="4718304"/>
            <a:ext cx="89154" cy="8915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7" name="TextBox 236"/>
          <p:cNvSpPr txBox="1"/>
          <p:nvPr/>
        </p:nvSpPr>
        <p:spPr>
          <a:xfrm>
            <a:off x="630936" y="4697730"/>
            <a:ext cx="13716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1C2235"/>
                </a:solidFill>
                <a:latin typeface="Segoe UI"/>
              </a:rPr>
              <a:t>Собівартість (СС)</a:t>
            </a:r>
          </a:p>
        </p:txBody>
      </p:sp>
      <p:sp>
        <p:nvSpPr>
          <p:cNvPr id="238" name="Rectangle 237"/>
          <p:cNvSpPr/>
          <p:nvPr/>
        </p:nvSpPr>
        <p:spPr>
          <a:xfrm>
            <a:off x="1988820" y="4718304"/>
            <a:ext cx="89154" cy="89154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9" name="TextBox 238"/>
          <p:cNvSpPr txBox="1"/>
          <p:nvPr/>
        </p:nvSpPr>
        <p:spPr>
          <a:xfrm>
            <a:off x="2139696" y="4697730"/>
            <a:ext cx="13716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1C2235"/>
                </a:solidFill>
                <a:latin typeface="Segoe UI"/>
              </a:rPr>
              <a:t>Бонус мережі</a:t>
            </a:r>
          </a:p>
        </p:txBody>
      </p:sp>
      <p:sp>
        <p:nvSpPr>
          <p:cNvPr id="240" name="Rectangle 239"/>
          <p:cNvSpPr/>
          <p:nvPr/>
        </p:nvSpPr>
        <p:spPr>
          <a:xfrm>
            <a:off x="3497580" y="4718304"/>
            <a:ext cx="89154" cy="8915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1" name="TextBox 240"/>
          <p:cNvSpPr txBox="1"/>
          <p:nvPr/>
        </p:nvSpPr>
        <p:spPr>
          <a:xfrm>
            <a:off x="3648456" y="4697730"/>
            <a:ext cx="13716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1C2235"/>
                </a:solidFill>
                <a:latin typeface="Segoe UI"/>
              </a:rPr>
              <a:t>Наша маржа</a:t>
            </a:r>
          </a:p>
        </p:txBody>
      </p:sp>
      <p:sp>
        <p:nvSpPr>
          <p:cNvPr id="242" name="Rectangle 241"/>
          <p:cNvSpPr/>
          <p:nvPr/>
        </p:nvSpPr>
        <p:spPr>
          <a:xfrm>
            <a:off x="5006340" y="4718304"/>
            <a:ext cx="89154" cy="89154"/>
          </a:xfrm>
          <a:prstGeom prst="rect">
            <a:avLst/>
          </a:prstGeom>
          <a:solidFill>
            <a:srgbClr val="A5ABB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3" name="TextBox 242"/>
          <p:cNvSpPr txBox="1"/>
          <p:nvPr/>
        </p:nvSpPr>
        <p:spPr>
          <a:xfrm>
            <a:off x="5157216" y="4697730"/>
            <a:ext cx="13716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1C2235"/>
                </a:solidFill>
                <a:latin typeface="Segoe UI"/>
              </a:rPr>
              <a:t>Націнка магазину</a:t>
            </a:r>
          </a:p>
        </p:txBody>
      </p:sp>
      <p:sp>
        <p:nvSpPr>
          <p:cNvPr id="244" name="TextBox 243"/>
          <p:cNvSpPr txBox="1"/>
          <p:nvPr/>
        </p:nvSpPr>
        <p:spPr>
          <a:xfrm>
            <a:off x="425196" y="4855464"/>
            <a:ext cx="829818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1">
                <a:solidFill>
                  <a:srgbClr val="717890"/>
                </a:solidFill>
                <a:latin typeface="Segoe UI"/>
              </a:rPr>
              <a:t>СС — «ИТОГО С/С» з Self-Cost_Snacks (FOB + мито + логістика + ПДВ), курс 45 ₴/$, найдешевший контейнер для SKU (переважно 40′). Повна модель по всіх контейнерах і маржах — SNACKS_FINMODEL_ALL_MARGINS.xlsx.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977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3977" cy="795528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95528"/>
            <a:ext cx="9143977" cy="41148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" y="178308"/>
            <a:ext cx="1042416" cy="4526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728216" y="205740"/>
            <a:ext cx="61722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1" i="0" spc="30">
                <a:solidFill>
                  <a:srgbClr val="FFC95C"/>
                </a:solidFill>
                <a:latin typeface="Segoe UI"/>
              </a:rPr>
              <a:t>ЦІНОУТВОРЕННЯ · HANJIN · ZEK · 2 З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28216" y="377190"/>
            <a:ext cx="61722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20" b="1" i="0">
                <a:solidFill>
                  <a:srgbClr val="FFFFFF"/>
                </a:solidFill>
                <a:latin typeface="Segoe UI"/>
              </a:rPr>
              <a:t>З чого складається ціна на полиці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20990" y="301752"/>
            <a:ext cx="768096" cy="2263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360" b="1" i="0">
                <a:solidFill>
                  <a:srgbClr val="465382"/>
                </a:solidFill>
                <a:latin typeface="Segoe UI"/>
              </a:rPr>
              <a:t>33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196" y="994410"/>
            <a:ext cx="8298180" cy="946404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2930" y="1069848"/>
            <a:ext cx="54864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 spc="40">
                <a:solidFill>
                  <a:srgbClr val="717890"/>
                </a:solidFill>
                <a:latin typeface="Segoe UI"/>
              </a:rPr>
              <a:t>ЦІНА ПАРТНЕРУ — ЗА НЕЇ МИ ПРОДАЄМО МЕРЕЖІ (100 %)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2930" y="1261872"/>
            <a:ext cx="2470349" cy="26060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2930" y="1261872"/>
            <a:ext cx="2490923" cy="2606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88" b="1" i="0">
                <a:solidFill>
                  <a:srgbClr val="FFFFFF"/>
                </a:solidFill>
                <a:latin typeface="Segoe UI"/>
              </a:rPr>
              <a:t>Собівартість 45 %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73853" y="1261872"/>
            <a:ext cx="1363272" cy="260604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73853" y="1261872"/>
            <a:ext cx="1383846" cy="2606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88" b="1" i="0">
                <a:solidFill>
                  <a:srgbClr val="FFFFFF"/>
                </a:solidFill>
                <a:latin typeface="Segoe UI"/>
              </a:rPr>
              <a:t>Бонус мережі 25 %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57700" y="1261872"/>
            <a:ext cx="1640041" cy="26060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57700" y="1261872"/>
            <a:ext cx="1660615" cy="2606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88" b="1" i="0">
                <a:solidFill>
                  <a:srgbClr val="1C2235"/>
                </a:solidFill>
                <a:latin typeface="Segoe UI"/>
              </a:rPr>
              <a:t>Наша маржа 30 %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18315" y="1261872"/>
            <a:ext cx="2193580" cy="260604"/>
          </a:xfrm>
          <a:prstGeom prst="rect">
            <a:avLst/>
          </a:prstGeom>
          <a:solidFill>
            <a:srgbClr val="A5ABB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18315" y="1261872"/>
            <a:ext cx="2214154" cy="2606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88" b="1" i="0">
                <a:solidFill>
                  <a:srgbClr val="FFFFFF"/>
                </a:solidFill>
                <a:latin typeface="Segoe UI"/>
              </a:rPr>
              <a:t>Націнка магазину +40 %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82930" y="1563624"/>
            <a:ext cx="5535385" cy="10287"/>
          </a:xfrm>
          <a:prstGeom prst="rect">
            <a:avLst/>
          </a:prstGeom>
          <a:solidFill>
            <a:srgbClr val="1C223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2930" y="1577340"/>
            <a:ext cx="5535385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24" b="1" i="0">
                <a:solidFill>
                  <a:srgbClr val="1C2235"/>
                </a:solidFill>
                <a:latin typeface="Segoe UI"/>
              </a:rPr>
              <a:t>= ціна партнеру (ціна, за якою купує мережа)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2930" y="1748790"/>
            <a:ext cx="7749540" cy="150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40" b="1" i="0">
                <a:solidFill>
                  <a:srgbClr val="303A5D"/>
                </a:solidFill>
                <a:latin typeface="Segoe UI"/>
              </a:rPr>
              <a:t>ПОЛИЦЯ (ціна покупцю) = ціна партнеру × 1,40 · ціна партнеру = собівартість ÷ 0,45 · бонус 25 % і маржа 30 % — частки ціни партнеру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5196" y="2043684"/>
            <a:ext cx="27432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 spc="40">
                <a:solidFill>
                  <a:srgbClr val="717890"/>
                </a:solidFill>
                <a:latin typeface="Segoe UI"/>
              </a:rPr>
              <a:t>ПОЗИЦІЯ (КОЖЕН SKU)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88820" y="2043684"/>
            <a:ext cx="34290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 spc="40">
                <a:solidFill>
                  <a:srgbClr val="717890"/>
                </a:solidFill>
                <a:latin typeface="Segoe UI"/>
              </a:rPr>
              <a:t>ІЗ ЧОГО СКЛАДАЄТЬСЯ ПОЛИЦЯ, ₴ ЗА УПАКОВКУ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43500" y="2043684"/>
            <a:ext cx="8229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00" b="1" i="0" spc="40">
                <a:solidFill>
                  <a:srgbClr val="717890"/>
                </a:solidFill>
                <a:latin typeface="Segoe UI"/>
              </a:rPr>
              <a:t>ЦІНА ПАРТНЕРУ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97880" y="2043684"/>
            <a:ext cx="8229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00" b="1" i="0" spc="40">
                <a:solidFill>
                  <a:srgbClr val="717890"/>
                </a:solidFill>
                <a:latin typeface="Segoe UI"/>
              </a:rPr>
              <a:t>FOB, $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52260" y="2043684"/>
            <a:ext cx="8229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00" b="1" i="0" spc="40">
                <a:solidFill>
                  <a:srgbClr val="717890"/>
                </a:solidFill>
                <a:latin typeface="Segoe UI"/>
              </a:rPr>
              <a:t>СС, $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86700" y="2043684"/>
            <a:ext cx="8229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00" b="1" i="0" spc="40">
                <a:solidFill>
                  <a:srgbClr val="717890"/>
                </a:solidFill>
                <a:latin typeface="Segoe UI"/>
              </a:rPr>
              <a:t>СС, ГРН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5196" y="2228850"/>
            <a:ext cx="8298180" cy="153325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25196" y="2228850"/>
            <a:ext cx="34290" cy="153325"/>
          </a:xfrm>
          <a:prstGeom prst="rect">
            <a:avLst/>
          </a:prstGeom>
          <a:solidFill>
            <a:srgbClr val="B23A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34924" y="2228850"/>
            <a:ext cx="1474470" cy="153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303A5D"/>
                </a:solidFill>
                <a:latin typeface="Segoe UI"/>
              </a:rPr>
              <a:t>Tempura Corn 30 г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023110" y="2256282"/>
            <a:ext cx="524584" cy="98461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023110" y="2242566"/>
            <a:ext cx="538300" cy="1258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34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561410" y="2256282"/>
            <a:ext cx="285339" cy="98461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561410" y="2242566"/>
            <a:ext cx="299055" cy="1258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19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860466" y="2256282"/>
            <a:ext cx="345150" cy="98461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860466" y="2242566"/>
            <a:ext cx="358866" cy="1258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1C2235"/>
                </a:solidFill>
                <a:latin typeface="Segoe UI"/>
              </a:rPr>
              <a:t>23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19332" y="2256282"/>
            <a:ext cx="464773" cy="98461"/>
          </a:xfrm>
          <a:prstGeom prst="rect">
            <a:avLst/>
          </a:prstGeom>
          <a:solidFill>
            <a:srgbClr val="A5ABB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219332" y="2242566"/>
            <a:ext cx="478489" cy="1258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30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752686" y="2228850"/>
            <a:ext cx="617220" cy="153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88" b="1" i="0">
                <a:solidFill>
                  <a:srgbClr val="1C2235"/>
                </a:solidFill>
                <a:latin typeface="Segoe UI"/>
              </a:rPr>
              <a:t>полиця 105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143500" y="2228850"/>
            <a:ext cx="822960" cy="153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4" b="1" i="0">
                <a:solidFill>
                  <a:srgbClr val="1C2235"/>
                </a:solidFill>
                <a:latin typeface="Segoe UI"/>
              </a:rPr>
              <a:t>75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97880" y="2228850"/>
            <a:ext cx="822960" cy="153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24" b="0" i="0">
                <a:solidFill>
                  <a:srgbClr val="717890"/>
                </a:solidFill>
                <a:latin typeface="Segoe UI"/>
              </a:rPr>
              <a:t>$0,430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52260" y="2228850"/>
            <a:ext cx="822960" cy="153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24" b="0" i="0">
                <a:solidFill>
                  <a:srgbClr val="717890"/>
                </a:solidFill>
                <a:latin typeface="Segoe UI"/>
              </a:rPr>
              <a:t>$0,753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86700" y="2228850"/>
            <a:ext cx="822960" cy="153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24" b="0" i="0">
                <a:solidFill>
                  <a:srgbClr val="717890"/>
                </a:solidFill>
                <a:latin typeface="Segoe UI"/>
              </a:rPr>
              <a:t>33,9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5196" y="2402749"/>
            <a:ext cx="8298180" cy="153325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25196" y="2402749"/>
            <a:ext cx="34290" cy="153325"/>
          </a:xfrm>
          <a:prstGeom prst="rect">
            <a:avLst/>
          </a:prstGeom>
          <a:solidFill>
            <a:srgbClr val="B23A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34924" y="2402749"/>
            <a:ext cx="1474470" cy="153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303A5D"/>
                </a:solidFill>
                <a:latin typeface="Segoe UI"/>
              </a:rPr>
              <a:t>Tempura Wasabi 30 г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023110" y="2430181"/>
            <a:ext cx="524584" cy="98461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023110" y="2416465"/>
            <a:ext cx="538300" cy="1258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34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561410" y="2430181"/>
            <a:ext cx="285339" cy="98461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561410" y="2416465"/>
            <a:ext cx="299055" cy="1258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19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860466" y="2430181"/>
            <a:ext cx="345150" cy="98461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860466" y="2416465"/>
            <a:ext cx="358866" cy="1258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1C2235"/>
                </a:solidFill>
                <a:latin typeface="Segoe UI"/>
              </a:rPr>
              <a:t>23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219332" y="2430181"/>
            <a:ext cx="464773" cy="98461"/>
          </a:xfrm>
          <a:prstGeom prst="rect">
            <a:avLst/>
          </a:prstGeom>
          <a:solidFill>
            <a:srgbClr val="A5ABB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219332" y="2416465"/>
            <a:ext cx="478489" cy="1258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30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752686" y="2402749"/>
            <a:ext cx="617220" cy="153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88" b="1" i="0">
                <a:solidFill>
                  <a:srgbClr val="1C2235"/>
                </a:solidFill>
                <a:latin typeface="Segoe UI"/>
              </a:rPr>
              <a:t>полиця 105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143500" y="2402749"/>
            <a:ext cx="822960" cy="153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4" b="1" i="0">
                <a:solidFill>
                  <a:srgbClr val="1C2235"/>
                </a:solidFill>
                <a:latin typeface="Segoe UI"/>
              </a:rPr>
              <a:t>75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897880" y="2402749"/>
            <a:ext cx="822960" cy="153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24" b="0" i="0">
                <a:solidFill>
                  <a:srgbClr val="717890"/>
                </a:solidFill>
                <a:latin typeface="Segoe UI"/>
              </a:rPr>
              <a:t>$0,430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652260" y="2402749"/>
            <a:ext cx="822960" cy="153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24" b="0" i="0">
                <a:solidFill>
                  <a:srgbClr val="717890"/>
                </a:solidFill>
                <a:latin typeface="Segoe UI"/>
              </a:rPr>
              <a:t>$0,753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886700" y="2402749"/>
            <a:ext cx="822960" cy="153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24" b="0" i="0">
                <a:solidFill>
                  <a:srgbClr val="717890"/>
                </a:solidFill>
                <a:latin typeface="Segoe UI"/>
              </a:rPr>
              <a:t>33,9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25196" y="2576648"/>
            <a:ext cx="8298180" cy="153325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425196" y="2576648"/>
            <a:ext cx="34290" cy="153325"/>
          </a:xfrm>
          <a:prstGeom prst="rect">
            <a:avLst/>
          </a:prstGeom>
          <a:solidFill>
            <a:srgbClr val="B23A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34924" y="2576648"/>
            <a:ext cx="1474470" cy="153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303A5D"/>
                </a:solidFill>
                <a:latin typeface="Segoe UI"/>
              </a:rPr>
              <a:t>Tempura Mala Crawfish 30 г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023110" y="2604080"/>
            <a:ext cx="524584" cy="98461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023110" y="2590364"/>
            <a:ext cx="538300" cy="1258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34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561410" y="2604080"/>
            <a:ext cx="285339" cy="98461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561410" y="2590364"/>
            <a:ext cx="299055" cy="1258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19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860466" y="2604080"/>
            <a:ext cx="345150" cy="98461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860466" y="2590364"/>
            <a:ext cx="358866" cy="1258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1C2235"/>
                </a:solidFill>
                <a:latin typeface="Segoe UI"/>
              </a:rPr>
              <a:t>23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219332" y="2604080"/>
            <a:ext cx="464773" cy="98461"/>
          </a:xfrm>
          <a:prstGeom prst="rect">
            <a:avLst/>
          </a:prstGeom>
          <a:solidFill>
            <a:srgbClr val="A5ABB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219332" y="2590364"/>
            <a:ext cx="478489" cy="1258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30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752686" y="2576648"/>
            <a:ext cx="617220" cy="153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88" b="1" i="0">
                <a:solidFill>
                  <a:srgbClr val="1C2235"/>
                </a:solidFill>
                <a:latin typeface="Segoe UI"/>
              </a:rPr>
              <a:t>полиця 105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143500" y="2576648"/>
            <a:ext cx="822960" cy="153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4" b="1" i="0">
                <a:solidFill>
                  <a:srgbClr val="1C2235"/>
                </a:solidFill>
                <a:latin typeface="Segoe UI"/>
              </a:rPr>
              <a:t>75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897880" y="2576648"/>
            <a:ext cx="822960" cy="153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24" b="0" i="0">
                <a:solidFill>
                  <a:srgbClr val="717890"/>
                </a:solidFill>
                <a:latin typeface="Segoe UI"/>
              </a:rPr>
              <a:t>$0,430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652260" y="2576648"/>
            <a:ext cx="822960" cy="153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24" b="0" i="0">
                <a:solidFill>
                  <a:srgbClr val="717890"/>
                </a:solidFill>
                <a:latin typeface="Segoe UI"/>
              </a:rPr>
              <a:t>$0,753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886700" y="2576648"/>
            <a:ext cx="822960" cy="153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24" b="0" i="0">
                <a:solidFill>
                  <a:srgbClr val="717890"/>
                </a:solidFill>
                <a:latin typeface="Segoe UI"/>
              </a:rPr>
              <a:t>33,9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25196" y="2750547"/>
            <a:ext cx="8298180" cy="153325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425196" y="2750547"/>
            <a:ext cx="34290" cy="153325"/>
          </a:xfrm>
          <a:prstGeom prst="rect">
            <a:avLst/>
          </a:prstGeom>
          <a:solidFill>
            <a:srgbClr val="B23A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34924" y="2750547"/>
            <a:ext cx="1474470" cy="153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303A5D"/>
                </a:solidFill>
                <a:latin typeface="Segoe UI"/>
              </a:rPr>
              <a:t>Tempura Corn 50 г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023110" y="2777979"/>
            <a:ext cx="799991" cy="98461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2023110" y="2764263"/>
            <a:ext cx="813707" cy="1258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51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836817" y="2777979"/>
            <a:ext cx="438343" cy="98461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836817" y="2764263"/>
            <a:ext cx="452059" cy="1258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28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288877" y="2777979"/>
            <a:ext cx="528755" cy="98461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3288877" y="2764263"/>
            <a:ext cx="542471" cy="1258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1C2235"/>
                </a:solidFill>
                <a:latin typeface="Segoe UI"/>
              </a:rPr>
              <a:t>34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831349" y="2777979"/>
            <a:ext cx="709579" cy="98461"/>
          </a:xfrm>
          <a:prstGeom prst="rect">
            <a:avLst/>
          </a:prstGeom>
          <a:solidFill>
            <a:srgbClr val="A5ABB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831349" y="2764263"/>
            <a:ext cx="723295" cy="1258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46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609509" y="2750547"/>
            <a:ext cx="617220" cy="153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88" b="1" i="0">
                <a:solidFill>
                  <a:srgbClr val="1C2235"/>
                </a:solidFill>
                <a:latin typeface="Segoe UI"/>
              </a:rPr>
              <a:t>полиця 159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143500" y="2750547"/>
            <a:ext cx="822960" cy="153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4" b="1" i="0">
                <a:solidFill>
                  <a:srgbClr val="1C2235"/>
                </a:solidFill>
                <a:latin typeface="Segoe UI"/>
              </a:rPr>
              <a:t>114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897880" y="2750547"/>
            <a:ext cx="822960" cy="153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24" b="0" i="0">
                <a:solidFill>
                  <a:srgbClr val="717890"/>
                </a:solidFill>
                <a:latin typeface="Segoe UI"/>
              </a:rPr>
              <a:t>$0,650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652260" y="2750547"/>
            <a:ext cx="822960" cy="153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24" b="0" i="0">
                <a:solidFill>
                  <a:srgbClr val="717890"/>
                </a:solidFill>
                <a:latin typeface="Segoe UI"/>
              </a:rPr>
              <a:t>$1,139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886700" y="2750547"/>
            <a:ext cx="822960" cy="153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24" b="0" i="0">
                <a:solidFill>
                  <a:srgbClr val="717890"/>
                </a:solidFill>
                <a:latin typeface="Segoe UI"/>
              </a:rPr>
              <a:t>51,2</a:t>
            </a:r>
          </a:p>
        </p:txBody>
      </p:sp>
      <p:sp>
        <p:nvSpPr>
          <p:cNvPr id="92" name="Rectangle 91"/>
          <p:cNvSpPr/>
          <p:nvPr/>
        </p:nvSpPr>
        <p:spPr>
          <a:xfrm>
            <a:off x="425196" y="2924447"/>
            <a:ext cx="8298180" cy="153325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425196" y="2924447"/>
            <a:ext cx="34290" cy="153325"/>
          </a:xfrm>
          <a:prstGeom prst="rect">
            <a:avLst/>
          </a:prstGeom>
          <a:solidFill>
            <a:srgbClr val="B23A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534924" y="2924447"/>
            <a:ext cx="1474470" cy="153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303A5D"/>
                </a:solidFill>
                <a:latin typeface="Segoe UI"/>
              </a:rPr>
              <a:t>Tempura Wasabi 50 г</a:t>
            </a:r>
          </a:p>
        </p:txBody>
      </p:sp>
      <p:sp>
        <p:nvSpPr>
          <p:cNvPr id="95" name="Rectangle 94"/>
          <p:cNvSpPr/>
          <p:nvPr/>
        </p:nvSpPr>
        <p:spPr>
          <a:xfrm>
            <a:off x="2023110" y="2951879"/>
            <a:ext cx="799991" cy="98461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2023110" y="2938163"/>
            <a:ext cx="813707" cy="1258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51</a:t>
            </a:r>
          </a:p>
        </p:txBody>
      </p:sp>
      <p:sp>
        <p:nvSpPr>
          <p:cNvPr id="97" name="Rectangle 96"/>
          <p:cNvSpPr/>
          <p:nvPr/>
        </p:nvSpPr>
        <p:spPr>
          <a:xfrm>
            <a:off x="2836817" y="2951879"/>
            <a:ext cx="438343" cy="98461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2836817" y="2938163"/>
            <a:ext cx="452059" cy="1258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28</a:t>
            </a:r>
          </a:p>
        </p:txBody>
      </p:sp>
      <p:sp>
        <p:nvSpPr>
          <p:cNvPr id="99" name="Rectangle 98"/>
          <p:cNvSpPr/>
          <p:nvPr/>
        </p:nvSpPr>
        <p:spPr>
          <a:xfrm>
            <a:off x="3288877" y="2951879"/>
            <a:ext cx="528755" cy="98461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3288877" y="2938163"/>
            <a:ext cx="542471" cy="1258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1C2235"/>
                </a:solidFill>
                <a:latin typeface="Segoe UI"/>
              </a:rPr>
              <a:t>34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3831349" y="2951879"/>
            <a:ext cx="709579" cy="98461"/>
          </a:xfrm>
          <a:prstGeom prst="rect">
            <a:avLst/>
          </a:prstGeom>
          <a:solidFill>
            <a:srgbClr val="A5ABB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3831349" y="2938163"/>
            <a:ext cx="723295" cy="1258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46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4609509" y="2924447"/>
            <a:ext cx="617220" cy="153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88" b="1" i="0">
                <a:solidFill>
                  <a:srgbClr val="1C2235"/>
                </a:solidFill>
                <a:latin typeface="Segoe UI"/>
              </a:rPr>
              <a:t>полиця 159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5143500" y="2924447"/>
            <a:ext cx="822960" cy="153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4" b="1" i="0">
                <a:solidFill>
                  <a:srgbClr val="1C2235"/>
                </a:solidFill>
                <a:latin typeface="Segoe UI"/>
              </a:rPr>
              <a:t>114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5897880" y="2924447"/>
            <a:ext cx="822960" cy="153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24" b="0" i="0">
                <a:solidFill>
                  <a:srgbClr val="717890"/>
                </a:solidFill>
                <a:latin typeface="Segoe UI"/>
              </a:rPr>
              <a:t>$0,650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6652260" y="2924447"/>
            <a:ext cx="822960" cy="153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24" b="0" i="0">
                <a:solidFill>
                  <a:srgbClr val="717890"/>
                </a:solidFill>
                <a:latin typeface="Segoe UI"/>
              </a:rPr>
              <a:t>$1,139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7886700" y="2924447"/>
            <a:ext cx="822960" cy="153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24" b="0" i="0">
                <a:solidFill>
                  <a:srgbClr val="717890"/>
                </a:solidFill>
                <a:latin typeface="Segoe UI"/>
              </a:rPr>
              <a:t>51,2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425196" y="3098346"/>
            <a:ext cx="8298180" cy="153325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425196" y="3098346"/>
            <a:ext cx="34290" cy="153325"/>
          </a:xfrm>
          <a:prstGeom prst="rect">
            <a:avLst/>
          </a:prstGeom>
          <a:solidFill>
            <a:srgbClr val="B23A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534924" y="3098346"/>
            <a:ext cx="1474470" cy="153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303A5D"/>
                </a:solidFill>
                <a:latin typeface="Segoe UI"/>
              </a:rPr>
              <a:t>Tempura Mala 50 г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2023110" y="3125778"/>
            <a:ext cx="799991" cy="98461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2023110" y="3112062"/>
            <a:ext cx="813707" cy="1258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51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2836817" y="3125778"/>
            <a:ext cx="438343" cy="98461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2836817" y="3112062"/>
            <a:ext cx="452059" cy="1258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28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3288877" y="3125778"/>
            <a:ext cx="528755" cy="98461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3288877" y="3112062"/>
            <a:ext cx="542471" cy="1258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1C2235"/>
                </a:solidFill>
                <a:latin typeface="Segoe UI"/>
              </a:rPr>
              <a:t>34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3831349" y="3125778"/>
            <a:ext cx="709579" cy="98461"/>
          </a:xfrm>
          <a:prstGeom prst="rect">
            <a:avLst/>
          </a:prstGeom>
          <a:solidFill>
            <a:srgbClr val="A5ABB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3831349" y="3112062"/>
            <a:ext cx="723295" cy="1258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46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4609509" y="3098346"/>
            <a:ext cx="617220" cy="153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88" b="1" i="0">
                <a:solidFill>
                  <a:srgbClr val="1C2235"/>
                </a:solidFill>
                <a:latin typeface="Segoe UI"/>
              </a:rPr>
              <a:t>полиця 159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5143500" y="3098346"/>
            <a:ext cx="822960" cy="153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4" b="1" i="0">
                <a:solidFill>
                  <a:srgbClr val="1C2235"/>
                </a:solidFill>
                <a:latin typeface="Segoe UI"/>
              </a:rPr>
              <a:t>114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5897880" y="3098346"/>
            <a:ext cx="822960" cy="153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24" b="0" i="0">
                <a:solidFill>
                  <a:srgbClr val="717890"/>
                </a:solidFill>
                <a:latin typeface="Segoe UI"/>
              </a:rPr>
              <a:t>$0,650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6652260" y="3098346"/>
            <a:ext cx="822960" cy="153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24" b="0" i="0">
                <a:solidFill>
                  <a:srgbClr val="717890"/>
                </a:solidFill>
                <a:latin typeface="Segoe UI"/>
              </a:rPr>
              <a:t>$1,139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7886700" y="3098346"/>
            <a:ext cx="822960" cy="153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24" b="0" i="0">
                <a:solidFill>
                  <a:srgbClr val="717890"/>
                </a:solidFill>
                <a:latin typeface="Segoe UI"/>
              </a:rPr>
              <a:t>51,2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425196" y="3272245"/>
            <a:ext cx="8298180" cy="153325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425196" y="3272245"/>
            <a:ext cx="34290" cy="153325"/>
          </a:xfrm>
          <a:prstGeom prst="rect">
            <a:avLst/>
          </a:prstGeom>
          <a:solidFill>
            <a:srgbClr val="B23A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534924" y="3272245"/>
            <a:ext cx="1474470" cy="153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303A5D"/>
                </a:solidFill>
                <a:latin typeface="Segoe UI"/>
              </a:rPr>
              <a:t>Sandwich Meat Floss 25 г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2023110" y="3299677"/>
            <a:ext cx="390932" cy="98461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2023110" y="3285961"/>
            <a:ext cx="404648" cy="1258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25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2427758" y="3299677"/>
            <a:ext cx="211088" cy="98461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2652563" y="3299677"/>
            <a:ext cx="256049" cy="98461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2652563" y="3285961"/>
            <a:ext cx="269765" cy="1258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1C2235"/>
                </a:solidFill>
                <a:latin typeface="Segoe UI"/>
              </a:rPr>
              <a:t>17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2922329" y="3299677"/>
            <a:ext cx="345971" cy="98461"/>
          </a:xfrm>
          <a:prstGeom prst="rect">
            <a:avLst/>
          </a:prstGeom>
          <a:solidFill>
            <a:srgbClr val="A5ABB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2922329" y="3285961"/>
            <a:ext cx="359687" cy="1258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23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3336881" y="3272245"/>
            <a:ext cx="617220" cy="153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88" b="1" i="0">
                <a:solidFill>
                  <a:srgbClr val="1C2235"/>
                </a:solidFill>
                <a:latin typeface="Segoe UI"/>
              </a:rPr>
              <a:t>полиця 79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5143500" y="3272245"/>
            <a:ext cx="822960" cy="153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4" b="1" i="0">
                <a:solidFill>
                  <a:srgbClr val="1C2235"/>
                </a:solidFill>
                <a:latin typeface="Segoe UI"/>
              </a:rPr>
              <a:t>57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5897880" y="3272245"/>
            <a:ext cx="822960" cy="153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24" b="0" i="0">
                <a:solidFill>
                  <a:srgbClr val="717890"/>
                </a:solidFill>
                <a:latin typeface="Segoe UI"/>
              </a:rPr>
              <a:t>$0,310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6652260" y="3272245"/>
            <a:ext cx="822960" cy="153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24" b="0" i="0">
                <a:solidFill>
                  <a:srgbClr val="717890"/>
                </a:solidFill>
                <a:latin typeface="Segoe UI"/>
              </a:rPr>
              <a:t>$0,566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7886700" y="3272245"/>
            <a:ext cx="822960" cy="153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24" b="0" i="0">
                <a:solidFill>
                  <a:srgbClr val="717890"/>
                </a:solidFill>
                <a:latin typeface="Segoe UI"/>
              </a:rPr>
              <a:t>25,5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425196" y="3446145"/>
            <a:ext cx="8298180" cy="153325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425196" y="3446145"/>
            <a:ext cx="34290" cy="153325"/>
          </a:xfrm>
          <a:prstGeom prst="rect">
            <a:avLst/>
          </a:prstGeom>
          <a:solidFill>
            <a:srgbClr val="B23A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534924" y="3446145"/>
            <a:ext cx="1474470" cy="153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303A5D"/>
                </a:solidFill>
                <a:latin typeface="Segoe UI"/>
              </a:rPr>
              <a:t>Sandwich Sesame 25 г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2023110" y="3473577"/>
            <a:ext cx="390932" cy="98461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2023110" y="3459861"/>
            <a:ext cx="404648" cy="1258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25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2427758" y="3473577"/>
            <a:ext cx="211088" cy="98461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2652563" y="3473577"/>
            <a:ext cx="256049" cy="98461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2652563" y="3459861"/>
            <a:ext cx="269765" cy="1258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1C2235"/>
                </a:solidFill>
                <a:latin typeface="Segoe UI"/>
              </a:rPr>
              <a:t>17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2922329" y="3473577"/>
            <a:ext cx="345971" cy="98461"/>
          </a:xfrm>
          <a:prstGeom prst="rect">
            <a:avLst/>
          </a:prstGeom>
          <a:solidFill>
            <a:srgbClr val="A5ABB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2922329" y="3459861"/>
            <a:ext cx="359687" cy="1258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23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3336881" y="3446145"/>
            <a:ext cx="617220" cy="153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88" b="1" i="0">
                <a:solidFill>
                  <a:srgbClr val="1C2235"/>
                </a:solidFill>
                <a:latin typeface="Segoe UI"/>
              </a:rPr>
              <a:t>полиця 79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5143500" y="3446145"/>
            <a:ext cx="822960" cy="153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4" b="1" i="0">
                <a:solidFill>
                  <a:srgbClr val="1C2235"/>
                </a:solidFill>
                <a:latin typeface="Segoe UI"/>
              </a:rPr>
              <a:t>57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5897880" y="3446145"/>
            <a:ext cx="822960" cy="153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24" b="0" i="0">
                <a:solidFill>
                  <a:srgbClr val="717890"/>
                </a:solidFill>
                <a:latin typeface="Segoe UI"/>
              </a:rPr>
              <a:t>$0,310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6652260" y="3446145"/>
            <a:ext cx="822960" cy="153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24" b="0" i="0">
                <a:solidFill>
                  <a:srgbClr val="717890"/>
                </a:solidFill>
                <a:latin typeface="Segoe UI"/>
              </a:rPr>
              <a:t>$0,566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7886700" y="3446145"/>
            <a:ext cx="822960" cy="153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24" b="0" i="0">
                <a:solidFill>
                  <a:srgbClr val="717890"/>
                </a:solidFill>
                <a:latin typeface="Segoe UI"/>
              </a:rPr>
              <a:t>25,5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425196" y="3620044"/>
            <a:ext cx="8298180" cy="153325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425196" y="3620044"/>
            <a:ext cx="34290" cy="153325"/>
          </a:xfrm>
          <a:prstGeom prst="rect">
            <a:avLst/>
          </a:prstGeom>
          <a:solidFill>
            <a:srgbClr val="B23A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534924" y="3620044"/>
            <a:ext cx="1474470" cy="153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303A5D"/>
                </a:solidFill>
                <a:latin typeface="Segoe UI"/>
              </a:rPr>
              <a:t>Topping Chicken Floss 35 г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2023110" y="3647476"/>
            <a:ext cx="508411" cy="98461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2023110" y="3633760"/>
            <a:ext cx="522127" cy="1258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33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2545237" y="3647476"/>
            <a:ext cx="276354" cy="98461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2545237" y="3633760"/>
            <a:ext cx="290070" cy="1258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18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2835308" y="3647476"/>
            <a:ext cx="334368" cy="98461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2835308" y="3633760"/>
            <a:ext cx="348084" cy="1258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1C2235"/>
                </a:solidFill>
                <a:latin typeface="Segoe UI"/>
              </a:rPr>
              <a:t>22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3183392" y="3647476"/>
            <a:ext cx="450397" cy="98461"/>
          </a:xfrm>
          <a:prstGeom prst="rect">
            <a:avLst/>
          </a:prstGeom>
          <a:solidFill>
            <a:srgbClr val="A5ABB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3183392" y="3633760"/>
            <a:ext cx="464113" cy="1258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29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3702370" y="3620044"/>
            <a:ext cx="617220" cy="153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88" b="1" i="0">
                <a:solidFill>
                  <a:srgbClr val="1C2235"/>
                </a:solidFill>
                <a:latin typeface="Segoe UI"/>
              </a:rPr>
              <a:t>полиця 102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5143500" y="3620044"/>
            <a:ext cx="822960" cy="153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4" b="1" i="0">
                <a:solidFill>
                  <a:srgbClr val="1C2235"/>
                </a:solidFill>
                <a:latin typeface="Segoe UI"/>
              </a:rPr>
              <a:t>73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5897880" y="3620044"/>
            <a:ext cx="822960" cy="153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24" b="0" i="0">
                <a:solidFill>
                  <a:srgbClr val="717890"/>
                </a:solidFill>
                <a:latin typeface="Segoe UI"/>
              </a:rPr>
              <a:t>$0,400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6652260" y="3620044"/>
            <a:ext cx="822960" cy="153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24" b="0" i="0">
                <a:solidFill>
                  <a:srgbClr val="717890"/>
                </a:solidFill>
                <a:latin typeface="Segoe UI"/>
              </a:rPr>
              <a:t>$0,731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7886700" y="3620044"/>
            <a:ext cx="822960" cy="153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24" b="0" i="0">
                <a:solidFill>
                  <a:srgbClr val="717890"/>
                </a:solidFill>
                <a:latin typeface="Segoe UI"/>
              </a:rPr>
              <a:t>32,9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425196" y="3793943"/>
            <a:ext cx="8298180" cy="153325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425196" y="3793943"/>
            <a:ext cx="34290" cy="153325"/>
          </a:xfrm>
          <a:prstGeom prst="rect">
            <a:avLst/>
          </a:prstGeom>
          <a:solidFill>
            <a:srgbClr val="B23A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534924" y="3793943"/>
            <a:ext cx="1474470" cy="153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303A5D"/>
                </a:solidFill>
                <a:latin typeface="Segoe UI"/>
              </a:rPr>
              <a:t>Topping Vegetables 35 г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2023110" y="3821375"/>
            <a:ext cx="487028" cy="98461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2023110" y="3807659"/>
            <a:ext cx="500744" cy="1258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32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2523854" y="3821375"/>
            <a:ext cx="264475" cy="98461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2523854" y="3807659"/>
            <a:ext cx="278191" cy="1258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18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2802046" y="3821375"/>
            <a:ext cx="320113" cy="98461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2802046" y="3807659"/>
            <a:ext cx="333829" cy="1258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1C2235"/>
                </a:solidFill>
                <a:latin typeface="Segoe UI"/>
              </a:rPr>
              <a:t>21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3135876" y="3821375"/>
            <a:ext cx="431390" cy="98461"/>
          </a:xfrm>
          <a:prstGeom prst="rect">
            <a:avLst/>
          </a:prstGeom>
          <a:solidFill>
            <a:srgbClr val="A5ABB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3135876" y="3807659"/>
            <a:ext cx="445106" cy="1258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28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3635846" y="3793943"/>
            <a:ext cx="617220" cy="153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88" b="1" i="0">
                <a:solidFill>
                  <a:srgbClr val="1C2235"/>
                </a:solidFill>
                <a:latin typeface="Segoe UI"/>
              </a:rPr>
              <a:t>полиця 98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5143500" y="3793943"/>
            <a:ext cx="822960" cy="153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4" b="1" i="0">
                <a:solidFill>
                  <a:srgbClr val="1C2235"/>
                </a:solidFill>
                <a:latin typeface="Segoe UI"/>
              </a:rPr>
              <a:t>70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5897880" y="3793943"/>
            <a:ext cx="822960" cy="153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24" b="0" i="0">
                <a:solidFill>
                  <a:srgbClr val="717890"/>
                </a:solidFill>
                <a:latin typeface="Segoe UI"/>
              </a:rPr>
              <a:t>$0,400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6652260" y="3793943"/>
            <a:ext cx="822960" cy="153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24" b="0" i="0">
                <a:solidFill>
                  <a:srgbClr val="717890"/>
                </a:solidFill>
                <a:latin typeface="Segoe UI"/>
              </a:rPr>
              <a:t>$0,701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7886700" y="3793943"/>
            <a:ext cx="822960" cy="153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24" b="0" i="0">
                <a:solidFill>
                  <a:srgbClr val="717890"/>
                </a:solidFill>
                <a:latin typeface="Segoe UI"/>
              </a:rPr>
              <a:t>31,5</a:t>
            </a:r>
          </a:p>
        </p:txBody>
      </p:sp>
      <p:sp>
        <p:nvSpPr>
          <p:cNvPr id="186" name="Rectangle 185"/>
          <p:cNvSpPr/>
          <p:nvPr/>
        </p:nvSpPr>
        <p:spPr>
          <a:xfrm>
            <a:off x="425196" y="3967842"/>
            <a:ext cx="8298180" cy="153325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425196" y="3967842"/>
            <a:ext cx="34290" cy="153325"/>
          </a:xfrm>
          <a:prstGeom prst="rect">
            <a:avLst/>
          </a:prstGeom>
          <a:solidFill>
            <a:srgbClr val="B23A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8" name="TextBox 187"/>
          <p:cNvSpPr txBox="1"/>
          <p:nvPr/>
        </p:nvSpPr>
        <p:spPr>
          <a:xfrm>
            <a:off x="534924" y="3967842"/>
            <a:ext cx="1474470" cy="153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303A5D"/>
                </a:solidFill>
                <a:latin typeface="Segoe UI"/>
              </a:rPr>
              <a:t>Topping Sesame 35 г</a:t>
            </a:r>
          </a:p>
        </p:txBody>
      </p:sp>
      <p:sp>
        <p:nvSpPr>
          <p:cNvPr id="189" name="Rectangle 188"/>
          <p:cNvSpPr/>
          <p:nvPr/>
        </p:nvSpPr>
        <p:spPr>
          <a:xfrm>
            <a:off x="2023110" y="3995274"/>
            <a:ext cx="487028" cy="98461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0" name="TextBox 189"/>
          <p:cNvSpPr txBox="1"/>
          <p:nvPr/>
        </p:nvSpPr>
        <p:spPr>
          <a:xfrm>
            <a:off x="2023110" y="3981558"/>
            <a:ext cx="500744" cy="1258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32</a:t>
            </a:r>
          </a:p>
        </p:txBody>
      </p:sp>
      <p:sp>
        <p:nvSpPr>
          <p:cNvPr id="191" name="Rectangle 190"/>
          <p:cNvSpPr/>
          <p:nvPr/>
        </p:nvSpPr>
        <p:spPr>
          <a:xfrm>
            <a:off x="2523854" y="3995274"/>
            <a:ext cx="264475" cy="98461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2523854" y="3981558"/>
            <a:ext cx="278191" cy="1258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18</a:t>
            </a:r>
          </a:p>
        </p:txBody>
      </p:sp>
      <p:sp>
        <p:nvSpPr>
          <p:cNvPr id="193" name="Rectangle 192"/>
          <p:cNvSpPr/>
          <p:nvPr/>
        </p:nvSpPr>
        <p:spPr>
          <a:xfrm>
            <a:off x="2802046" y="3995274"/>
            <a:ext cx="320113" cy="98461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4" name="TextBox 193"/>
          <p:cNvSpPr txBox="1"/>
          <p:nvPr/>
        </p:nvSpPr>
        <p:spPr>
          <a:xfrm>
            <a:off x="2802046" y="3981558"/>
            <a:ext cx="333829" cy="1258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1C2235"/>
                </a:solidFill>
                <a:latin typeface="Segoe UI"/>
              </a:rPr>
              <a:t>21</a:t>
            </a:r>
          </a:p>
        </p:txBody>
      </p:sp>
      <p:sp>
        <p:nvSpPr>
          <p:cNvPr id="195" name="Rectangle 194"/>
          <p:cNvSpPr/>
          <p:nvPr/>
        </p:nvSpPr>
        <p:spPr>
          <a:xfrm>
            <a:off x="3135876" y="3995274"/>
            <a:ext cx="431390" cy="98461"/>
          </a:xfrm>
          <a:prstGeom prst="rect">
            <a:avLst/>
          </a:prstGeom>
          <a:solidFill>
            <a:srgbClr val="A5ABB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6" name="TextBox 195"/>
          <p:cNvSpPr txBox="1"/>
          <p:nvPr/>
        </p:nvSpPr>
        <p:spPr>
          <a:xfrm>
            <a:off x="3135876" y="3981558"/>
            <a:ext cx="445106" cy="1258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28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3635846" y="3967842"/>
            <a:ext cx="617220" cy="153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88" b="1" i="0">
                <a:solidFill>
                  <a:srgbClr val="1C2235"/>
                </a:solidFill>
                <a:latin typeface="Segoe UI"/>
              </a:rPr>
              <a:t>полиця 98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5143500" y="3967842"/>
            <a:ext cx="822960" cy="153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4" b="1" i="0">
                <a:solidFill>
                  <a:srgbClr val="1C2235"/>
                </a:solidFill>
                <a:latin typeface="Segoe UI"/>
              </a:rPr>
              <a:t>70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5897880" y="3967842"/>
            <a:ext cx="822960" cy="153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24" b="0" i="0">
                <a:solidFill>
                  <a:srgbClr val="717890"/>
                </a:solidFill>
                <a:latin typeface="Segoe UI"/>
              </a:rPr>
              <a:t>$0,400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6652260" y="3967842"/>
            <a:ext cx="822960" cy="153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24" b="0" i="0">
                <a:solidFill>
                  <a:srgbClr val="717890"/>
                </a:solidFill>
                <a:latin typeface="Segoe UI"/>
              </a:rPr>
              <a:t>$0,701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7886700" y="3967842"/>
            <a:ext cx="822960" cy="153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24" b="0" i="0">
                <a:solidFill>
                  <a:srgbClr val="717890"/>
                </a:solidFill>
                <a:latin typeface="Segoe UI"/>
              </a:rPr>
              <a:t>31,5</a:t>
            </a:r>
          </a:p>
        </p:txBody>
      </p:sp>
      <p:sp>
        <p:nvSpPr>
          <p:cNvPr id="202" name="Rectangle 201"/>
          <p:cNvSpPr/>
          <p:nvPr/>
        </p:nvSpPr>
        <p:spPr>
          <a:xfrm>
            <a:off x="425196" y="4141742"/>
            <a:ext cx="8298180" cy="153325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425196" y="4141742"/>
            <a:ext cx="34290" cy="153325"/>
          </a:xfrm>
          <a:prstGeom prst="rect">
            <a:avLst/>
          </a:prstGeom>
          <a:solidFill>
            <a:srgbClr val="B23A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4" name="TextBox 203"/>
          <p:cNvSpPr txBox="1"/>
          <p:nvPr/>
        </p:nvSpPr>
        <p:spPr>
          <a:xfrm>
            <a:off x="534924" y="4141742"/>
            <a:ext cx="1474470" cy="153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303A5D"/>
                </a:solidFill>
                <a:latin typeface="Segoe UI"/>
              </a:rPr>
              <a:t>Topping Vegetables 70 г</a:t>
            </a:r>
          </a:p>
        </p:txBody>
      </p:sp>
      <p:sp>
        <p:nvSpPr>
          <p:cNvPr id="205" name="Rectangle 204"/>
          <p:cNvSpPr/>
          <p:nvPr/>
        </p:nvSpPr>
        <p:spPr>
          <a:xfrm>
            <a:off x="2023110" y="4169174"/>
            <a:ext cx="1000288" cy="98461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6" name="TextBox 205"/>
          <p:cNvSpPr txBox="1"/>
          <p:nvPr/>
        </p:nvSpPr>
        <p:spPr>
          <a:xfrm>
            <a:off x="2023110" y="4155458"/>
            <a:ext cx="1014004" cy="1258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64</a:t>
            </a:r>
          </a:p>
        </p:txBody>
      </p:sp>
      <p:sp>
        <p:nvSpPr>
          <p:cNvPr id="207" name="Rectangle 206"/>
          <p:cNvSpPr/>
          <p:nvPr/>
        </p:nvSpPr>
        <p:spPr>
          <a:xfrm>
            <a:off x="3037114" y="4169174"/>
            <a:ext cx="549619" cy="98461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8" name="TextBox 207"/>
          <p:cNvSpPr txBox="1"/>
          <p:nvPr/>
        </p:nvSpPr>
        <p:spPr>
          <a:xfrm>
            <a:off x="3037114" y="4155458"/>
            <a:ext cx="563335" cy="1258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35</a:t>
            </a:r>
          </a:p>
        </p:txBody>
      </p:sp>
      <p:sp>
        <p:nvSpPr>
          <p:cNvPr id="209" name="Rectangle 208"/>
          <p:cNvSpPr/>
          <p:nvPr/>
        </p:nvSpPr>
        <p:spPr>
          <a:xfrm>
            <a:off x="3600450" y="4169174"/>
            <a:ext cx="662286" cy="98461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0" name="TextBox 209"/>
          <p:cNvSpPr txBox="1"/>
          <p:nvPr/>
        </p:nvSpPr>
        <p:spPr>
          <a:xfrm>
            <a:off x="3600450" y="4155458"/>
            <a:ext cx="676002" cy="1258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1C2235"/>
                </a:solidFill>
                <a:latin typeface="Segoe UI"/>
              </a:rPr>
              <a:t>43</a:t>
            </a:r>
          </a:p>
        </p:txBody>
      </p:sp>
      <p:sp>
        <p:nvSpPr>
          <p:cNvPr id="211" name="Rectangle 210"/>
          <p:cNvSpPr/>
          <p:nvPr/>
        </p:nvSpPr>
        <p:spPr>
          <a:xfrm>
            <a:off x="4276452" y="4169174"/>
            <a:ext cx="887621" cy="98461"/>
          </a:xfrm>
          <a:prstGeom prst="rect">
            <a:avLst/>
          </a:prstGeom>
          <a:solidFill>
            <a:srgbClr val="A5ABB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2" name="TextBox 211"/>
          <p:cNvSpPr txBox="1"/>
          <p:nvPr/>
        </p:nvSpPr>
        <p:spPr>
          <a:xfrm>
            <a:off x="4276452" y="4155458"/>
            <a:ext cx="901337" cy="1258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57</a:t>
            </a:r>
          </a:p>
        </p:txBody>
      </p:sp>
      <p:sp>
        <p:nvSpPr>
          <p:cNvPr id="213" name="TextBox 212"/>
          <p:cNvSpPr txBox="1"/>
          <p:nvPr/>
        </p:nvSpPr>
        <p:spPr>
          <a:xfrm>
            <a:off x="5232654" y="4141742"/>
            <a:ext cx="617220" cy="153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88" b="1" i="0">
                <a:solidFill>
                  <a:srgbClr val="1C2235"/>
                </a:solidFill>
                <a:latin typeface="Segoe UI"/>
              </a:rPr>
              <a:t>полиця 199</a:t>
            </a:r>
          </a:p>
        </p:txBody>
      </p:sp>
      <p:sp>
        <p:nvSpPr>
          <p:cNvPr id="214" name="TextBox 213"/>
          <p:cNvSpPr txBox="1"/>
          <p:nvPr/>
        </p:nvSpPr>
        <p:spPr>
          <a:xfrm>
            <a:off x="5143500" y="4141742"/>
            <a:ext cx="822960" cy="153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4" b="1" i="0">
                <a:solidFill>
                  <a:srgbClr val="1C2235"/>
                </a:solidFill>
                <a:latin typeface="Segoe UI"/>
              </a:rPr>
              <a:t>142</a:t>
            </a:r>
          </a:p>
        </p:txBody>
      </p:sp>
      <p:sp>
        <p:nvSpPr>
          <p:cNvPr id="215" name="TextBox 214"/>
          <p:cNvSpPr txBox="1"/>
          <p:nvPr/>
        </p:nvSpPr>
        <p:spPr>
          <a:xfrm>
            <a:off x="5897880" y="4141742"/>
            <a:ext cx="822960" cy="153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24" b="0" i="0">
                <a:solidFill>
                  <a:srgbClr val="717890"/>
                </a:solidFill>
                <a:latin typeface="Segoe UI"/>
              </a:rPr>
              <a:t>$0,810</a:t>
            </a:r>
          </a:p>
        </p:txBody>
      </p:sp>
      <p:sp>
        <p:nvSpPr>
          <p:cNvPr id="216" name="TextBox 215"/>
          <p:cNvSpPr txBox="1"/>
          <p:nvPr/>
        </p:nvSpPr>
        <p:spPr>
          <a:xfrm>
            <a:off x="6652260" y="4141742"/>
            <a:ext cx="822960" cy="153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24" b="0" i="0">
                <a:solidFill>
                  <a:srgbClr val="717890"/>
                </a:solidFill>
                <a:latin typeface="Segoe UI"/>
              </a:rPr>
              <a:t>$1,419</a:t>
            </a:r>
          </a:p>
        </p:txBody>
      </p:sp>
      <p:sp>
        <p:nvSpPr>
          <p:cNvPr id="217" name="TextBox 216"/>
          <p:cNvSpPr txBox="1"/>
          <p:nvPr/>
        </p:nvSpPr>
        <p:spPr>
          <a:xfrm>
            <a:off x="7886700" y="4141742"/>
            <a:ext cx="822960" cy="153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24" b="0" i="0">
                <a:solidFill>
                  <a:srgbClr val="717890"/>
                </a:solidFill>
                <a:latin typeface="Segoe UI"/>
              </a:rPr>
              <a:t>63,9</a:t>
            </a:r>
          </a:p>
        </p:txBody>
      </p:sp>
      <p:sp>
        <p:nvSpPr>
          <p:cNvPr id="218" name="Rectangle 217"/>
          <p:cNvSpPr/>
          <p:nvPr/>
        </p:nvSpPr>
        <p:spPr>
          <a:xfrm>
            <a:off x="425196" y="4315641"/>
            <a:ext cx="8298180" cy="153325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425196" y="4315641"/>
            <a:ext cx="34290" cy="153325"/>
          </a:xfrm>
          <a:prstGeom prst="rect">
            <a:avLst/>
          </a:prstGeom>
          <a:solidFill>
            <a:srgbClr val="B23A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0" name="TextBox 219"/>
          <p:cNvSpPr txBox="1"/>
          <p:nvPr/>
        </p:nvSpPr>
        <p:spPr>
          <a:xfrm>
            <a:off x="534924" y="4315641"/>
            <a:ext cx="1474470" cy="153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303A5D"/>
                </a:solidFill>
                <a:latin typeface="Segoe UI"/>
              </a:rPr>
              <a:t>Topping Sesame 70 г</a:t>
            </a:r>
          </a:p>
        </p:txBody>
      </p:sp>
      <p:sp>
        <p:nvSpPr>
          <p:cNvPr id="221" name="Rectangle 220"/>
          <p:cNvSpPr/>
          <p:nvPr/>
        </p:nvSpPr>
        <p:spPr>
          <a:xfrm>
            <a:off x="2023110" y="4343073"/>
            <a:ext cx="1000288" cy="98461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2" name="TextBox 221"/>
          <p:cNvSpPr txBox="1"/>
          <p:nvPr/>
        </p:nvSpPr>
        <p:spPr>
          <a:xfrm>
            <a:off x="2023110" y="4329357"/>
            <a:ext cx="1014004" cy="1258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64</a:t>
            </a:r>
          </a:p>
        </p:txBody>
      </p:sp>
      <p:sp>
        <p:nvSpPr>
          <p:cNvPr id="223" name="Rectangle 222"/>
          <p:cNvSpPr/>
          <p:nvPr/>
        </p:nvSpPr>
        <p:spPr>
          <a:xfrm>
            <a:off x="3037114" y="4343073"/>
            <a:ext cx="549619" cy="98461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4" name="TextBox 223"/>
          <p:cNvSpPr txBox="1"/>
          <p:nvPr/>
        </p:nvSpPr>
        <p:spPr>
          <a:xfrm>
            <a:off x="3037114" y="4329357"/>
            <a:ext cx="563335" cy="1258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35</a:t>
            </a:r>
          </a:p>
        </p:txBody>
      </p:sp>
      <p:sp>
        <p:nvSpPr>
          <p:cNvPr id="225" name="Rectangle 224"/>
          <p:cNvSpPr/>
          <p:nvPr/>
        </p:nvSpPr>
        <p:spPr>
          <a:xfrm>
            <a:off x="3600450" y="4343073"/>
            <a:ext cx="662286" cy="98461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6" name="TextBox 225"/>
          <p:cNvSpPr txBox="1"/>
          <p:nvPr/>
        </p:nvSpPr>
        <p:spPr>
          <a:xfrm>
            <a:off x="3600450" y="4329357"/>
            <a:ext cx="676002" cy="1258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1C2235"/>
                </a:solidFill>
                <a:latin typeface="Segoe UI"/>
              </a:rPr>
              <a:t>43</a:t>
            </a:r>
          </a:p>
        </p:txBody>
      </p:sp>
      <p:sp>
        <p:nvSpPr>
          <p:cNvPr id="227" name="Rectangle 226"/>
          <p:cNvSpPr/>
          <p:nvPr/>
        </p:nvSpPr>
        <p:spPr>
          <a:xfrm>
            <a:off x="4276452" y="4343073"/>
            <a:ext cx="887621" cy="98461"/>
          </a:xfrm>
          <a:prstGeom prst="rect">
            <a:avLst/>
          </a:prstGeom>
          <a:solidFill>
            <a:srgbClr val="A5ABB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8" name="TextBox 227"/>
          <p:cNvSpPr txBox="1"/>
          <p:nvPr/>
        </p:nvSpPr>
        <p:spPr>
          <a:xfrm>
            <a:off x="4276452" y="4329357"/>
            <a:ext cx="901337" cy="1258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57</a:t>
            </a:r>
          </a:p>
        </p:txBody>
      </p:sp>
      <p:sp>
        <p:nvSpPr>
          <p:cNvPr id="229" name="TextBox 228"/>
          <p:cNvSpPr txBox="1"/>
          <p:nvPr/>
        </p:nvSpPr>
        <p:spPr>
          <a:xfrm>
            <a:off x="5232654" y="4315641"/>
            <a:ext cx="617220" cy="153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88" b="1" i="0">
                <a:solidFill>
                  <a:srgbClr val="1C2235"/>
                </a:solidFill>
                <a:latin typeface="Segoe UI"/>
              </a:rPr>
              <a:t>полиця 199</a:t>
            </a:r>
          </a:p>
        </p:txBody>
      </p:sp>
      <p:sp>
        <p:nvSpPr>
          <p:cNvPr id="230" name="TextBox 229"/>
          <p:cNvSpPr txBox="1"/>
          <p:nvPr/>
        </p:nvSpPr>
        <p:spPr>
          <a:xfrm>
            <a:off x="5143500" y="4315641"/>
            <a:ext cx="822960" cy="153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4" b="1" i="0">
                <a:solidFill>
                  <a:srgbClr val="1C2235"/>
                </a:solidFill>
                <a:latin typeface="Segoe UI"/>
              </a:rPr>
              <a:t>142</a:t>
            </a:r>
          </a:p>
        </p:txBody>
      </p:sp>
      <p:sp>
        <p:nvSpPr>
          <p:cNvPr id="231" name="TextBox 230"/>
          <p:cNvSpPr txBox="1"/>
          <p:nvPr/>
        </p:nvSpPr>
        <p:spPr>
          <a:xfrm>
            <a:off x="5897880" y="4315641"/>
            <a:ext cx="822960" cy="153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24" b="0" i="0">
                <a:solidFill>
                  <a:srgbClr val="717890"/>
                </a:solidFill>
                <a:latin typeface="Segoe UI"/>
              </a:rPr>
              <a:t>$0,810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6652260" y="4315641"/>
            <a:ext cx="822960" cy="153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24" b="0" i="0">
                <a:solidFill>
                  <a:srgbClr val="717890"/>
                </a:solidFill>
                <a:latin typeface="Segoe UI"/>
              </a:rPr>
              <a:t>$1,419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7886700" y="4315641"/>
            <a:ext cx="822960" cy="153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24" b="0" i="0">
                <a:solidFill>
                  <a:srgbClr val="717890"/>
                </a:solidFill>
                <a:latin typeface="Segoe UI"/>
              </a:rPr>
              <a:t>63,9</a:t>
            </a:r>
          </a:p>
        </p:txBody>
      </p:sp>
      <p:sp>
        <p:nvSpPr>
          <p:cNvPr id="234" name="Rectangle 233"/>
          <p:cNvSpPr/>
          <p:nvPr/>
        </p:nvSpPr>
        <p:spPr>
          <a:xfrm>
            <a:off x="425196" y="4489540"/>
            <a:ext cx="8298180" cy="153325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425196" y="4489540"/>
            <a:ext cx="34290" cy="153325"/>
          </a:xfrm>
          <a:prstGeom prst="rect">
            <a:avLst/>
          </a:prstGeom>
          <a:solidFill>
            <a:srgbClr val="B23A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6" name="TextBox 235"/>
          <p:cNvSpPr txBox="1"/>
          <p:nvPr/>
        </p:nvSpPr>
        <p:spPr>
          <a:xfrm>
            <a:off x="534924" y="4489540"/>
            <a:ext cx="1474470" cy="153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303A5D"/>
                </a:solidFill>
                <a:latin typeface="Segoe UI"/>
              </a:rPr>
              <a:t>Topping Chicken 70 г</a:t>
            </a:r>
          </a:p>
        </p:txBody>
      </p:sp>
      <p:sp>
        <p:nvSpPr>
          <p:cNvPr id="237" name="Rectangle 236"/>
          <p:cNvSpPr/>
          <p:nvPr/>
        </p:nvSpPr>
        <p:spPr>
          <a:xfrm>
            <a:off x="2023110" y="4516972"/>
            <a:ext cx="1000288" cy="98461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8" name="TextBox 237"/>
          <p:cNvSpPr txBox="1"/>
          <p:nvPr/>
        </p:nvSpPr>
        <p:spPr>
          <a:xfrm>
            <a:off x="2023110" y="4503256"/>
            <a:ext cx="1014004" cy="1258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64</a:t>
            </a:r>
          </a:p>
        </p:txBody>
      </p:sp>
      <p:sp>
        <p:nvSpPr>
          <p:cNvPr id="239" name="Rectangle 238"/>
          <p:cNvSpPr/>
          <p:nvPr/>
        </p:nvSpPr>
        <p:spPr>
          <a:xfrm>
            <a:off x="3037114" y="4516972"/>
            <a:ext cx="549619" cy="98461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0" name="TextBox 239"/>
          <p:cNvSpPr txBox="1"/>
          <p:nvPr/>
        </p:nvSpPr>
        <p:spPr>
          <a:xfrm>
            <a:off x="3037114" y="4503256"/>
            <a:ext cx="563335" cy="1258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35</a:t>
            </a:r>
          </a:p>
        </p:txBody>
      </p:sp>
      <p:sp>
        <p:nvSpPr>
          <p:cNvPr id="241" name="Rectangle 240"/>
          <p:cNvSpPr/>
          <p:nvPr/>
        </p:nvSpPr>
        <p:spPr>
          <a:xfrm>
            <a:off x="3600450" y="4516972"/>
            <a:ext cx="662286" cy="98461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2" name="TextBox 241"/>
          <p:cNvSpPr txBox="1"/>
          <p:nvPr/>
        </p:nvSpPr>
        <p:spPr>
          <a:xfrm>
            <a:off x="3600450" y="4503256"/>
            <a:ext cx="676002" cy="1258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1C2235"/>
                </a:solidFill>
                <a:latin typeface="Segoe UI"/>
              </a:rPr>
              <a:t>43</a:t>
            </a:r>
          </a:p>
        </p:txBody>
      </p:sp>
      <p:sp>
        <p:nvSpPr>
          <p:cNvPr id="243" name="Rectangle 242"/>
          <p:cNvSpPr/>
          <p:nvPr/>
        </p:nvSpPr>
        <p:spPr>
          <a:xfrm>
            <a:off x="4276452" y="4516972"/>
            <a:ext cx="887621" cy="98461"/>
          </a:xfrm>
          <a:prstGeom prst="rect">
            <a:avLst/>
          </a:prstGeom>
          <a:solidFill>
            <a:srgbClr val="A5ABB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4" name="TextBox 243"/>
          <p:cNvSpPr txBox="1"/>
          <p:nvPr/>
        </p:nvSpPr>
        <p:spPr>
          <a:xfrm>
            <a:off x="4276452" y="4503256"/>
            <a:ext cx="901337" cy="1258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57</a:t>
            </a:r>
          </a:p>
        </p:txBody>
      </p:sp>
      <p:sp>
        <p:nvSpPr>
          <p:cNvPr id="245" name="TextBox 244"/>
          <p:cNvSpPr txBox="1"/>
          <p:nvPr/>
        </p:nvSpPr>
        <p:spPr>
          <a:xfrm>
            <a:off x="5232654" y="4489540"/>
            <a:ext cx="617220" cy="153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88" b="1" i="0">
                <a:solidFill>
                  <a:srgbClr val="1C2235"/>
                </a:solidFill>
                <a:latin typeface="Segoe UI"/>
              </a:rPr>
              <a:t>полиця 199</a:t>
            </a:r>
          </a:p>
        </p:txBody>
      </p:sp>
      <p:sp>
        <p:nvSpPr>
          <p:cNvPr id="246" name="TextBox 245"/>
          <p:cNvSpPr txBox="1"/>
          <p:nvPr/>
        </p:nvSpPr>
        <p:spPr>
          <a:xfrm>
            <a:off x="5143500" y="4489540"/>
            <a:ext cx="822960" cy="153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04" b="1" i="0">
                <a:solidFill>
                  <a:srgbClr val="1C2235"/>
                </a:solidFill>
                <a:latin typeface="Segoe UI"/>
              </a:rPr>
              <a:t>142</a:t>
            </a:r>
          </a:p>
        </p:txBody>
      </p:sp>
      <p:sp>
        <p:nvSpPr>
          <p:cNvPr id="247" name="TextBox 246"/>
          <p:cNvSpPr txBox="1"/>
          <p:nvPr/>
        </p:nvSpPr>
        <p:spPr>
          <a:xfrm>
            <a:off x="5897880" y="4489540"/>
            <a:ext cx="822960" cy="153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24" b="0" i="0">
                <a:solidFill>
                  <a:srgbClr val="717890"/>
                </a:solidFill>
                <a:latin typeface="Segoe UI"/>
              </a:rPr>
              <a:t>$0,810</a:t>
            </a:r>
          </a:p>
        </p:txBody>
      </p:sp>
      <p:sp>
        <p:nvSpPr>
          <p:cNvPr id="248" name="TextBox 247"/>
          <p:cNvSpPr txBox="1"/>
          <p:nvPr/>
        </p:nvSpPr>
        <p:spPr>
          <a:xfrm>
            <a:off x="6652260" y="4489540"/>
            <a:ext cx="822960" cy="153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24" b="0" i="0">
                <a:solidFill>
                  <a:srgbClr val="717890"/>
                </a:solidFill>
                <a:latin typeface="Segoe UI"/>
              </a:rPr>
              <a:t>$1,419</a:t>
            </a:r>
          </a:p>
        </p:txBody>
      </p:sp>
      <p:sp>
        <p:nvSpPr>
          <p:cNvPr id="249" name="TextBox 248"/>
          <p:cNvSpPr txBox="1"/>
          <p:nvPr/>
        </p:nvSpPr>
        <p:spPr>
          <a:xfrm>
            <a:off x="7886700" y="4489540"/>
            <a:ext cx="822960" cy="1533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24" b="0" i="0">
                <a:solidFill>
                  <a:srgbClr val="717890"/>
                </a:solidFill>
                <a:latin typeface="Segoe UI"/>
              </a:rPr>
              <a:t>63,9</a:t>
            </a:r>
          </a:p>
        </p:txBody>
      </p:sp>
      <p:sp>
        <p:nvSpPr>
          <p:cNvPr id="250" name="Rectangle 249"/>
          <p:cNvSpPr/>
          <p:nvPr/>
        </p:nvSpPr>
        <p:spPr>
          <a:xfrm>
            <a:off x="480060" y="4718304"/>
            <a:ext cx="89154" cy="8915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1" name="TextBox 250"/>
          <p:cNvSpPr txBox="1"/>
          <p:nvPr/>
        </p:nvSpPr>
        <p:spPr>
          <a:xfrm>
            <a:off x="630936" y="4697730"/>
            <a:ext cx="13716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1C2235"/>
                </a:solidFill>
                <a:latin typeface="Segoe UI"/>
              </a:rPr>
              <a:t>Собівартість (СС)</a:t>
            </a:r>
          </a:p>
        </p:txBody>
      </p:sp>
      <p:sp>
        <p:nvSpPr>
          <p:cNvPr id="252" name="Rectangle 251"/>
          <p:cNvSpPr/>
          <p:nvPr/>
        </p:nvSpPr>
        <p:spPr>
          <a:xfrm>
            <a:off x="1988820" y="4718304"/>
            <a:ext cx="89154" cy="89154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3" name="TextBox 252"/>
          <p:cNvSpPr txBox="1"/>
          <p:nvPr/>
        </p:nvSpPr>
        <p:spPr>
          <a:xfrm>
            <a:off x="2139696" y="4697730"/>
            <a:ext cx="13716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1C2235"/>
                </a:solidFill>
                <a:latin typeface="Segoe UI"/>
              </a:rPr>
              <a:t>Бонус мережі</a:t>
            </a:r>
          </a:p>
        </p:txBody>
      </p:sp>
      <p:sp>
        <p:nvSpPr>
          <p:cNvPr id="254" name="Rectangle 253"/>
          <p:cNvSpPr/>
          <p:nvPr/>
        </p:nvSpPr>
        <p:spPr>
          <a:xfrm>
            <a:off x="3497580" y="4718304"/>
            <a:ext cx="89154" cy="89154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5" name="TextBox 254"/>
          <p:cNvSpPr txBox="1"/>
          <p:nvPr/>
        </p:nvSpPr>
        <p:spPr>
          <a:xfrm>
            <a:off x="3648456" y="4697730"/>
            <a:ext cx="13716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1C2235"/>
                </a:solidFill>
                <a:latin typeface="Segoe UI"/>
              </a:rPr>
              <a:t>Наша маржа</a:t>
            </a:r>
          </a:p>
        </p:txBody>
      </p:sp>
      <p:sp>
        <p:nvSpPr>
          <p:cNvPr id="256" name="Rectangle 255"/>
          <p:cNvSpPr/>
          <p:nvPr/>
        </p:nvSpPr>
        <p:spPr>
          <a:xfrm>
            <a:off x="5006340" y="4718304"/>
            <a:ext cx="89154" cy="89154"/>
          </a:xfrm>
          <a:prstGeom prst="rect">
            <a:avLst/>
          </a:prstGeom>
          <a:solidFill>
            <a:srgbClr val="A5ABB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7" name="TextBox 256"/>
          <p:cNvSpPr txBox="1"/>
          <p:nvPr/>
        </p:nvSpPr>
        <p:spPr>
          <a:xfrm>
            <a:off x="5157216" y="4697730"/>
            <a:ext cx="13716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1C2235"/>
                </a:solidFill>
                <a:latin typeface="Segoe UI"/>
              </a:rPr>
              <a:t>Націнка магазину</a:t>
            </a:r>
          </a:p>
        </p:txBody>
      </p:sp>
      <p:sp>
        <p:nvSpPr>
          <p:cNvPr id="258" name="TextBox 257"/>
          <p:cNvSpPr txBox="1"/>
          <p:nvPr/>
        </p:nvSpPr>
        <p:spPr>
          <a:xfrm>
            <a:off x="425196" y="4855464"/>
            <a:ext cx="829818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1">
                <a:solidFill>
                  <a:srgbClr val="717890"/>
                </a:solidFill>
                <a:latin typeface="Segoe UI"/>
              </a:rPr>
              <a:t>СС — «ИТОГО С/С» з Self-Cost_Snacks (FOB + мито + логістика + ПДВ), курс 45 ₴/$, найдешевший контейнер для SKU (переважно 40′). Повна модель по всіх контейнерах і маржах — SNACKS_FINMODEL_ALL_MARGINS.xlsx.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977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3977" cy="795528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95528"/>
            <a:ext cx="9143977" cy="41148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" y="178308"/>
            <a:ext cx="1042416" cy="4526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728216" y="205740"/>
            <a:ext cx="61722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1" i="0" spc="30">
                <a:solidFill>
                  <a:srgbClr val="FFC95C"/>
                </a:solidFill>
                <a:latin typeface="Segoe UI"/>
              </a:rPr>
              <a:t>ПОЛИЦЯ · SINGHA KAMEDA І THAI-NICHI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28216" y="377190"/>
            <a:ext cx="61722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20" b="1" i="0">
                <a:solidFill>
                  <a:srgbClr val="FFFFFF"/>
                </a:solidFill>
                <a:latin typeface="Segoe UI"/>
              </a:rPr>
              <a:t>Наша ціна на полиці: Singha Kameda і Thai-Nichi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20990" y="301752"/>
            <a:ext cx="768096" cy="2263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360" b="1" i="0">
                <a:solidFill>
                  <a:srgbClr val="465382"/>
                </a:solidFill>
                <a:latin typeface="Segoe UI"/>
              </a:rPr>
              <a:t>34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5196" y="918972"/>
            <a:ext cx="829818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72" b="0" i="0">
                <a:solidFill>
                  <a:srgbClr val="717890"/>
                </a:solidFill>
                <a:latin typeface="Segoe UI"/>
              </a:rPr>
              <a:t>Як рахується: ціна мережі = собівартість ÷ 0,45 (собівартість — 45 % ціни мережі, бонус мережі — 25 %, наша маржа — 30 %); полиця = ціна мережі × 1,40. Праворуч — із чим порівнюється наша полиця на ринку.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5196" y="1323594"/>
            <a:ext cx="8298180" cy="205740"/>
          </a:xfrm>
          <a:prstGeom prst="rect">
            <a:avLst/>
          </a:prstGeom>
          <a:solidFill>
            <a:srgbClr val="B3621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9546" y="1357884"/>
            <a:ext cx="1714500" cy="1508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ПОЗИЦІЯ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9726" y="1357884"/>
            <a:ext cx="411480" cy="1508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ВАГА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25496" y="1357884"/>
            <a:ext cx="480060" cy="1508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FOB, $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9846" y="1357884"/>
            <a:ext cx="514350" cy="1508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СС, ГРН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22776" y="1357884"/>
            <a:ext cx="582930" cy="1508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КОНТЕЙНЕР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39996" y="1357884"/>
            <a:ext cx="617220" cy="1508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ЦІНА МЕРЕЖІ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25796" y="1357884"/>
            <a:ext cx="582930" cy="1508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ПОЛИЦЯ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80176" y="1357884"/>
            <a:ext cx="1783080" cy="1508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РИНОК ПОРУЧ · ТИПОВА ЦІНА ПАКЕТА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26096" y="1357884"/>
            <a:ext cx="1097280" cy="1508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РІЗНИЦЯ ДО РИНКУ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5196" y="1597914"/>
            <a:ext cx="8298180" cy="288036"/>
          </a:xfrm>
          <a:prstGeom prst="rect">
            <a:avLst/>
          </a:prstGeom>
          <a:solidFill>
            <a:srgbClr val="F8F9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5196" y="1597914"/>
            <a:ext cx="34290" cy="288036"/>
          </a:xfrm>
          <a:prstGeom prst="rect">
            <a:avLst/>
          </a:prstGeom>
          <a:solidFill>
            <a:srgbClr val="B3621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2" name="Picture 21" descr="sk_orig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138" y="1611630"/>
            <a:ext cx="206174" cy="26060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39546" y="1597914"/>
            <a:ext cx="1371600" cy="2880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40" b="1" i="0">
                <a:solidFill>
                  <a:srgbClr val="303A5D"/>
                </a:solidFill>
                <a:latin typeface="Segoe UI"/>
              </a:rPr>
              <a:t>Norimaki Original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79726" y="1597914"/>
            <a:ext cx="411480" cy="2880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24" b="0" i="0">
                <a:solidFill>
                  <a:srgbClr val="717890"/>
                </a:solidFill>
                <a:latin typeface="Segoe UI"/>
              </a:rPr>
              <a:t>42 г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25496" y="1597914"/>
            <a:ext cx="480060" cy="2880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24" b="0" i="0">
                <a:solidFill>
                  <a:srgbClr val="717890"/>
                </a:solidFill>
                <a:latin typeface="Segoe UI"/>
              </a:rPr>
              <a:t>$0,770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39846" y="1597914"/>
            <a:ext cx="514350" cy="2880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24" b="0" i="0">
                <a:solidFill>
                  <a:srgbClr val="717890"/>
                </a:solidFill>
                <a:latin typeface="Segoe UI"/>
              </a:rPr>
              <a:t>54,7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22776" y="1597914"/>
            <a:ext cx="582930" cy="2880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24" b="0" i="0">
                <a:solidFill>
                  <a:srgbClr val="717890"/>
                </a:solidFill>
                <a:latin typeface="Segoe UI"/>
              </a:rPr>
              <a:t>40′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39996" y="1597914"/>
            <a:ext cx="617220" cy="2880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24" b="1" i="0">
                <a:solidFill>
                  <a:srgbClr val="1C2235"/>
                </a:solidFill>
                <a:latin typeface="Segoe UI"/>
              </a:rPr>
              <a:t>121 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25796" y="1597914"/>
            <a:ext cx="582930" cy="2880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52" b="1" i="0">
                <a:solidFill>
                  <a:srgbClr val="1C2235"/>
                </a:solidFill>
                <a:latin typeface="Segoe UI"/>
              </a:rPr>
              <a:t>170 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80176" y="1611630"/>
            <a:ext cx="1714500" cy="1584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52" b="1" i="0">
                <a:solidFill>
                  <a:srgbClr val="1C2235"/>
                </a:solidFill>
                <a:latin typeface="Segoe UI"/>
              </a:rPr>
              <a:t>148 ₴</a:t>
            </a:r>
            <a:r>
              <a:rPr sz="600" b="0" i="0">
                <a:solidFill>
                  <a:srgbClr val="717890"/>
                </a:solidFill>
                <a:latin typeface="Segoe UI"/>
              </a:rPr>
              <a:t>   типова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80176" y="1747692"/>
            <a:ext cx="1714500" cy="129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9 поз. · 50–60 г · 126–148 ₴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26096" y="1597914"/>
            <a:ext cx="1097280" cy="2880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52" b="1" i="0">
                <a:solidFill>
                  <a:srgbClr val="C4820A"/>
                </a:solidFill>
                <a:latin typeface="Segoe UI"/>
              </a:rPr>
              <a:t>+22 ₴</a:t>
            </a:r>
            <a:r>
              <a:rPr sz="608" b="0" i="0">
                <a:solidFill>
                  <a:srgbClr val="C4820A"/>
                </a:solidFill>
                <a:latin typeface="Segoe UI"/>
              </a:rPr>
              <a:t>  +15 %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5196" y="1885950"/>
            <a:ext cx="34290" cy="288036"/>
          </a:xfrm>
          <a:prstGeom prst="rect">
            <a:avLst/>
          </a:prstGeom>
          <a:solidFill>
            <a:srgbClr val="B3621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4" name="Picture 33" descr="sk_wasab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322" y="1899666"/>
            <a:ext cx="197807" cy="260604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939546" y="1885950"/>
            <a:ext cx="1371600" cy="2880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40" b="1" i="0">
                <a:solidFill>
                  <a:srgbClr val="303A5D"/>
                </a:solidFill>
                <a:latin typeface="Segoe UI"/>
              </a:rPr>
              <a:t>Norimaki Wasabi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9726" y="1885950"/>
            <a:ext cx="411480" cy="2880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24" b="0" i="0">
                <a:solidFill>
                  <a:srgbClr val="717890"/>
                </a:solidFill>
                <a:latin typeface="Segoe UI"/>
              </a:rPr>
              <a:t>42 г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825496" y="1885950"/>
            <a:ext cx="480060" cy="2880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24" b="0" i="0">
                <a:solidFill>
                  <a:srgbClr val="717890"/>
                </a:solidFill>
                <a:latin typeface="Segoe UI"/>
              </a:rPr>
              <a:t>$0,770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339846" y="1885950"/>
            <a:ext cx="514350" cy="2880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24" b="0" i="0">
                <a:solidFill>
                  <a:srgbClr val="717890"/>
                </a:solidFill>
                <a:latin typeface="Segoe UI"/>
              </a:rPr>
              <a:t>54,7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922776" y="1885950"/>
            <a:ext cx="582930" cy="2880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24" b="0" i="0">
                <a:solidFill>
                  <a:srgbClr val="717890"/>
                </a:solidFill>
                <a:latin typeface="Segoe UI"/>
              </a:rPr>
              <a:t>40′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39996" y="1885950"/>
            <a:ext cx="617220" cy="2880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24" b="1" i="0">
                <a:solidFill>
                  <a:srgbClr val="1C2235"/>
                </a:solidFill>
                <a:latin typeface="Segoe UI"/>
              </a:rPr>
              <a:t>121 ₴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225796" y="1885950"/>
            <a:ext cx="582930" cy="2880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52" b="1" i="0">
                <a:solidFill>
                  <a:srgbClr val="1C2235"/>
                </a:solidFill>
                <a:latin typeface="Segoe UI"/>
              </a:rPr>
              <a:t>170 ₴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80176" y="1899666"/>
            <a:ext cx="1714500" cy="1584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52" b="1" i="0">
                <a:solidFill>
                  <a:srgbClr val="1C2235"/>
                </a:solidFill>
                <a:latin typeface="Segoe UI"/>
              </a:rPr>
              <a:t>148 ₴</a:t>
            </a:r>
            <a:r>
              <a:rPr sz="600" b="0" i="0">
                <a:solidFill>
                  <a:srgbClr val="717890"/>
                </a:solidFill>
                <a:latin typeface="Segoe UI"/>
              </a:rPr>
              <a:t>   типова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80176" y="2035728"/>
            <a:ext cx="1714500" cy="129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9 поз. · 50–60 г · 126–148 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26096" y="1885950"/>
            <a:ext cx="1097280" cy="2880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52" b="1" i="0">
                <a:solidFill>
                  <a:srgbClr val="C4820A"/>
                </a:solidFill>
                <a:latin typeface="Segoe UI"/>
              </a:rPr>
              <a:t>+22 ₴</a:t>
            </a:r>
            <a:r>
              <a:rPr sz="608" b="0" i="0">
                <a:solidFill>
                  <a:srgbClr val="C4820A"/>
                </a:solidFill>
                <a:latin typeface="Segoe UI"/>
              </a:rPr>
              <a:t>  +15 %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25196" y="2173986"/>
            <a:ext cx="8298180" cy="288036"/>
          </a:xfrm>
          <a:prstGeom prst="rect">
            <a:avLst/>
          </a:prstGeom>
          <a:solidFill>
            <a:srgbClr val="F8F9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25196" y="2173986"/>
            <a:ext cx="34290" cy="288036"/>
          </a:xfrm>
          <a:prstGeom prst="rect">
            <a:avLst/>
          </a:prstGeom>
          <a:solidFill>
            <a:srgbClr val="1D5B6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7" name="Picture 46" descr="tn_origin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6814" y="2187702"/>
            <a:ext cx="216822" cy="260604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939546" y="2173986"/>
            <a:ext cx="1371600" cy="2880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40" b="1" i="0">
                <a:solidFill>
                  <a:srgbClr val="303A5D"/>
                </a:solidFill>
                <a:latin typeface="Segoe UI"/>
              </a:rPr>
              <a:t>Norimaki Original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379726" y="2173986"/>
            <a:ext cx="411480" cy="2880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24" b="0" i="0">
                <a:solidFill>
                  <a:srgbClr val="717890"/>
                </a:solidFill>
                <a:latin typeface="Segoe UI"/>
              </a:rPr>
              <a:t>50 г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825496" y="2173986"/>
            <a:ext cx="480060" cy="2880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24" b="0" i="0">
                <a:solidFill>
                  <a:srgbClr val="717890"/>
                </a:solidFill>
                <a:latin typeface="Segoe UI"/>
              </a:rPr>
              <a:t>$0,600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39846" y="2173986"/>
            <a:ext cx="514350" cy="2880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24" b="0" i="0">
                <a:solidFill>
                  <a:srgbClr val="717890"/>
                </a:solidFill>
                <a:latin typeface="Segoe UI"/>
              </a:rPr>
              <a:t>42,5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922776" y="2173986"/>
            <a:ext cx="582930" cy="2880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24" b="0" i="0">
                <a:solidFill>
                  <a:srgbClr val="717890"/>
                </a:solidFill>
                <a:latin typeface="Segoe UI"/>
              </a:rPr>
              <a:t>40′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39996" y="2173986"/>
            <a:ext cx="617220" cy="2880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24" b="1" i="0">
                <a:solidFill>
                  <a:srgbClr val="1C2235"/>
                </a:solidFill>
                <a:latin typeface="Segoe UI"/>
              </a:rPr>
              <a:t>94 ₴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225796" y="2173986"/>
            <a:ext cx="582930" cy="2880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52" b="1" i="0">
                <a:solidFill>
                  <a:srgbClr val="1C2235"/>
                </a:solidFill>
                <a:latin typeface="Segoe UI"/>
              </a:rPr>
              <a:t>132 ₴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980176" y="2187702"/>
            <a:ext cx="1714500" cy="1584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52" b="1" i="0">
                <a:solidFill>
                  <a:srgbClr val="1C2235"/>
                </a:solidFill>
                <a:latin typeface="Segoe UI"/>
              </a:rPr>
              <a:t>148 ₴</a:t>
            </a:r>
            <a:r>
              <a:rPr sz="600" b="0" i="0">
                <a:solidFill>
                  <a:srgbClr val="717890"/>
                </a:solidFill>
                <a:latin typeface="Segoe UI"/>
              </a:rPr>
              <a:t>   типова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980176" y="2323764"/>
            <a:ext cx="1714500" cy="129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9 поз. · 50–60 г · 126–148 ₴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626096" y="2173986"/>
            <a:ext cx="1097280" cy="2880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52" b="1" i="0">
                <a:solidFill>
                  <a:srgbClr val="C4820A"/>
                </a:solidFill>
                <a:latin typeface="Segoe UI"/>
              </a:rPr>
              <a:t>−15 ₴</a:t>
            </a:r>
            <a:r>
              <a:rPr sz="608" b="0" i="0">
                <a:solidFill>
                  <a:srgbClr val="C4820A"/>
                </a:solidFill>
                <a:latin typeface="Segoe UI"/>
              </a:rPr>
              <a:t>  -10 %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25196" y="2462022"/>
            <a:ext cx="34290" cy="288036"/>
          </a:xfrm>
          <a:prstGeom prst="rect">
            <a:avLst/>
          </a:prstGeom>
          <a:solidFill>
            <a:srgbClr val="1D5B6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59" name="Picture 58" descr="tn_wasabi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8100" y="2475738"/>
            <a:ext cx="214251" cy="260604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939546" y="2462022"/>
            <a:ext cx="1371600" cy="2880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40" b="1" i="0">
                <a:solidFill>
                  <a:srgbClr val="303A5D"/>
                </a:solidFill>
                <a:latin typeface="Segoe UI"/>
              </a:rPr>
              <a:t>Norimaki Wasabi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379726" y="2462022"/>
            <a:ext cx="411480" cy="2880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24" b="0" i="0">
                <a:solidFill>
                  <a:srgbClr val="717890"/>
                </a:solidFill>
                <a:latin typeface="Segoe UI"/>
              </a:rPr>
              <a:t>55 г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825496" y="2462022"/>
            <a:ext cx="480060" cy="2880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24" b="0" i="0">
                <a:solidFill>
                  <a:srgbClr val="717890"/>
                </a:solidFill>
                <a:latin typeface="Segoe UI"/>
              </a:rPr>
              <a:t>$0,750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339846" y="2462022"/>
            <a:ext cx="514350" cy="2880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24" b="0" i="0">
                <a:solidFill>
                  <a:srgbClr val="717890"/>
                </a:solidFill>
                <a:latin typeface="Segoe UI"/>
              </a:rPr>
              <a:t>51,4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922776" y="2462022"/>
            <a:ext cx="582930" cy="2880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24" b="0" i="0">
                <a:solidFill>
                  <a:srgbClr val="717890"/>
                </a:solidFill>
                <a:latin typeface="Segoe UI"/>
              </a:rPr>
              <a:t>40′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539996" y="2462022"/>
            <a:ext cx="617220" cy="2880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24" b="1" i="0">
                <a:solidFill>
                  <a:srgbClr val="1C2235"/>
                </a:solidFill>
                <a:latin typeface="Segoe UI"/>
              </a:rPr>
              <a:t>114 ₴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225796" y="2462022"/>
            <a:ext cx="582930" cy="2880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52" b="1" i="0">
                <a:solidFill>
                  <a:srgbClr val="1C2235"/>
                </a:solidFill>
                <a:latin typeface="Segoe UI"/>
              </a:rPr>
              <a:t>160 ₴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980176" y="2475738"/>
            <a:ext cx="1714500" cy="1584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52" b="1" i="0">
                <a:solidFill>
                  <a:srgbClr val="1C2235"/>
                </a:solidFill>
                <a:latin typeface="Segoe UI"/>
              </a:rPr>
              <a:t>148 ₴</a:t>
            </a:r>
            <a:r>
              <a:rPr sz="600" b="0" i="0">
                <a:solidFill>
                  <a:srgbClr val="717890"/>
                </a:solidFill>
                <a:latin typeface="Segoe UI"/>
              </a:rPr>
              <a:t>   типова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980176" y="2611800"/>
            <a:ext cx="1714500" cy="129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9 поз. · 50–60 г · 126–148 ₴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626096" y="2462022"/>
            <a:ext cx="1097280" cy="2880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52" b="1" i="0">
                <a:solidFill>
                  <a:srgbClr val="C4820A"/>
                </a:solidFill>
                <a:latin typeface="Segoe UI"/>
              </a:rPr>
              <a:t>+12 ₴</a:t>
            </a:r>
            <a:r>
              <a:rPr sz="608" b="0" i="0">
                <a:solidFill>
                  <a:srgbClr val="C4820A"/>
                </a:solidFill>
                <a:latin typeface="Segoe UI"/>
              </a:rPr>
              <a:t>  +8 %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25196" y="2887218"/>
            <a:ext cx="27432" cy="144018"/>
          </a:xfrm>
          <a:prstGeom prst="rect">
            <a:avLst/>
          </a:prstGeom>
          <a:solidFill>
            <a:srgbClr val="B23A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34924" y="2900934"/>
            <a:ext cx="5486400" cy="10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 spc="30">
                <a:solidFill>
                  <a:srgbClr val="B23A3A"/>
                </a:solidFill>
                <a:latin typeface="Segoe UI"/>
              </a:rPr>
              <a:t>ЩО СТОЇТЬ ПОРУЧ НА ПОЛИЦІ МЕРЕЖ · РИСОВІ КРЕКЕРИ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25196" y="3106674"/>
            <a:ext cx="2708910" cy="137160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425196" y="3106674"/>
            <a:ext cx="2708910" cy="34290"/>
          </a:xfrm>
          <a:prstGeom prst="rect">
            <a:avLst/>
          </a:prstGeom>
          <a:solidFill>
            <a:srgbClr val="B23A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521208" y="3216402"/>
            <a:ext cx="1028700" cy="1028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75" name="Picture 74" descr="05021554984146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3243834"/>
            <a:ext cx="973836" cy="973836"/>
          </a:xfrm>
          <a:prstGeom prst="rect">
            <a:avLst/>
          </a:prstGeom>
        </p:spPr>
      </p:pic>
      <p:sp>
        <p:nvSpPr>
          <p:cNvPr id="76" name="TextBox 75"/>
          <p:cNvSpPr txBox="1"/>
          <p:nvPr/>
        </p:nvSpPr>
        <p:spPr>
          <a:xfrm>
            <a:off x="1659636" y="3230118"/>
            <a:ext cx="140589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1C2235"/>
                </a:solidFill>
                <a:latin typeface="Segoe UI"/>
              </a:rPr>
              <a:t>Clearspring · 50 г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659636" y="3573018"/>
            <a:ext cx="140589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80" b="1" i="0">
                <a:solidFill>
                  <a:srgbClr val="1C2235"/>
                </a:solidFill>
                <a:latin typeface="Segoe UI"/>
              </a:rPr>
              <a:t>126 ₴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659636" y="3915918"/>
            <a:ext cx="140589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0" i="0">
                <a:solidFill>
                  <a:srgbClr val="717890"/>
                </a:solidFill>
                <a:latin typeface="Segoe UI"/>
              </a:rPr>
              <a:t>Мережі: Grono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236976" y="3106674"/>
            <a:ext cx="2708910" cy="137160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3236976" y="3106674"/>
            <a:ext cx="2708910" cy="34290"/>
          </a:xfrm>
          <a:prstGeom prst="rect">
            <a:avLst/>
          </a:prstGeom>
          <a:solidFill>
            <a:srgbClr val="B23A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3332988" y="3216402"/>
            <a:ext cx="1028700" cy="1028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82" name="Picture 81" descr="04710144900154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60420" y="3243834"/>
            <a:ext cx="973836" cy="973836"/>
          </a:xfrm>
          <a:prstGeom prst="rect">
            <a:avLst/>
          </a:prstGeom>
        </p:spPr>
      </p:pic>
      <p:sp>
        <p:nvSpPr>
          <p:cNvPr id="83" name="TextBox 82"/>
          <p:cNvSpPr txBox="1"/>
          <p:nvPr/>
        </p:nvSpPr>
        <p:spPr>
          <a:xfrm>
            <a:off x="4471416" y="3230118"/>
            <a:ext cx="140589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1C2235"/>
                </a:solidFill>
                <a:latin typeface="Segoe UI"/>
              </a:rPr>
              <a:t>Want Want · 60 г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471416" y="3573018"/>
            <a:ext cx="140589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80" b="1" i="0">
                <a:solidFill>
                  <a:srgbClr val="1C2235"/>
                </a:solidFill>
                <a:latin typeface="Segoe UI"/>
              </a:rPr>
              <a:t>140–149 ₴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471416" y="3915918"/>
            <a:ext cx="140589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0" i="0">
                <a:solidFill>
                  <a:srgbClr val="717890"/>
                </a:solidFill>
                <a:latin typeface="Segoe UI"/>
              </a:rPr>
              <a:t>Мережі: Ашан · Grono · Onde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048756" y="3106674"/>
            <a:ext cx="2708910" cy="137160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6048756" y="3106674"/>
            <a:ext cx="2708910" cy="34290"/>
          </a:xfrm>
          <a:prstGeom prst="rect">
            <a:avLst/>
          </a:prstGeom>
          <a:solidFill>
            <a:srgbClr val="B23A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6144768" y="3216402"/>
            <a:ext cx="1028700" cy="10287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89" name="Picture 88" descr="03770027194767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72200" y="3243834"/>
            <a:ext cx="973836" cy="973836"/>
          </a:xfrm>
          <a:prstGeom prst="rect">
            <a:avLst/>
          </a:prstGeom>
        </p:spPr>
      </p:pic>
      <p:sp>
        <p:nvSpPr>
          <p:cNvPr id="90" name="TextBox 89"/>
          <p:cNvSpPr txBox="1"/>
          <p:nvPr/>
        </p:nvSpPr>
        <p:spPr>
          <a:xfrm>
            <a:off x="7283196" y="3230118"/>
            <a:ext cx="140589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1C2235"/>
                </a:solidFill>
                <a:latin typeface="Segoe UI"/>
              </a:rPr>
              <a:t>Ultra Pop · 60 г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283196" y="3573018"/>
            <a:ext cx="140589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80" b="1" i="0">
                <a:solidFill>
                  <a:srgbClr val="1C2235"/>
                </a:solidFill>
                <a:latin typeface="Segoe UI"/>
              </a:rPr>
              <a:t>148 ₴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83196" y="3915918"/>
            <a:ext cx="140589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0" i="0">
                <a:solidFill>
                  <a:srgbClr val="717890"/>
                </a:solidFill>
                <a:latin typeface="Segoe UI"/>
              </a:rPr>
              <a:t>Мережі: Космос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25196" y="4855464"/>
            <a:ext cx="829818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1">
                <a:solidFill>
                  <a:srgbClr val="717890"/>
                </a:solidFill>
                <a:latin typeface="Segoe UI"/>
              </a:rPr>
              <a:t>«Типова ціна» — медіана цін позицій того ж сегмента з близькою вагою (±45 %); «Різниця до ринку» = наша полиця − типова ціна. Розрахунок: курс 45 ₴/$, бонус мережі 25 %, наша маржа 30 %. СС з Self-Cost включає імпортний ПДВ (≈16 % СС).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977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3977" cy="795528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95528"/>
            <a:ext cx="9143977" cy="41148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" y="178308"/>
            <a:ext cx="1042416" cy="4526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728216" y="205740"/>
            <a:ext cx="61722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1" i="0" spc="30">
                <a:solidFill>
                  <a:srgbClr val="FFC95C"/>
                </a:solidFill>
                <a:latin typeface="Segoe UI"/>
              </a:rPr>
              <a:t>ПОЛИЦЯ · TMK · KOKIRI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28216" y="377190"/>
            <a:ext cx="61722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20" b="1" i="0">
                <a:solidFill>
                  <a:srgbClr val="FFFFFF"/>
                </a:solidFill>
                <a:latin typeface="Segoe UI"/>
              </a:rPr>
              <a:t>Наша ціна на полиці: TMK · KOKIRI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20990" y="301752"/>
            <a:ext cx="768096" cy="2263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360" b="1" i="0">
                <a:solidFill>
                  <a:srgbClr val="465382"/>
                </a:solidFill>
                <a:latin typeface="Segoe UI"/>
              </a:rPr>
              <a:t>35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5196" y="918972"/>
            <a:ext cx="829818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72" b="0" i="0">
                <a:solidFill>
                  <a:srgbClr val="717890"/>
                </a:solidFill>
                <a:latin typeface="Segoe UI"/>
              </a:rPr>
              <a:t>Як рахується: ціна мережі = собівартість ÷ 0,45 (собівартість — 45 % ціни мережі, бонус мережі — 25 %, наша маржа — 30 %); полиця = ціна мережі × 1,40. Праворуч — із чим порівнюється наша полиця на ринку.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5196" y="1323594"/>
            <a:ext cx="8298180" cy="205740"/>
          </a:xfrm>
          <a:prstGeom prst="rect">
            <a:avLst/>
          </a:prstGeom>
          <a:solidFill>
            <a:srgbClr val="2F7A3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9546" y="1357884"/>
            <a:ext cx="1714500" cy="1508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ПОЗИЦІЯ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9726" y="1357884"/>
            <a:ext cx="411480" cy="1508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ВАГА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25496" y="1357884"/>
            <a:ext cx="480060" cy="1508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FOB, $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9846" y="1357884"/>
            <a:ext cx="514350" cy="1508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СС, ГРН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22776" y="1357884"/>
            <a:ext cx="582930" cy="1508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КОНТЕЙНЕР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39996" y="1357884"/>
            <a:ext cx="617220" cy="1508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ЦІНА МЕРЕЖІ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25796" y="1357884"/>
            <a:ext cx="582930" cy="1508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ПОЛИЦЯ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80176" y="1357884"/>
            <a:ext cx="1783080" cy="1508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РИНОК ПОРУЧ · ТИПОВА ЦІНА ПАКЕТА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26096" y="1357884"/>
            <a:ext cx="1097280" cy="1508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РІЗНИЦЯ ДО РИНКУ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5196" y="1597914"/>
            <a:ext cx="8298180" cy="288036"/>
          </a:xfrm>
          <a:prstGeom prst="rect">
            <a:avLst/>
          </a:prstGeom>
          <a:solidFill>
            <a:srgbClr val="F8F9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5196" y="1597914"/>
            <a:ext cx="34290" cy="288036"/>
          </a:xfrm>
          <a:prstGeom prst="rect">
            <a:avLst/>
          </a:prstGeom>
          <a:solidFill>
            <a:srgbClr val="2F7A3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2" name="Picture 21" descr="tmk_roll_ori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079" y="1611630"/>
            <a:ext cx="86292" cy="26060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39546" y="1597914"/>
            <a:ext cx="1371600" cy="2880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40" b="1" i="0">
                <a:solidFill>
                  <a:srgbClr val="303A5D"/>
                </a:solidFill>
                <a:latin typeface="Segoe UI"/>
              </a:rPr>
              <a:t>Wow ROLL Original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79726" y="1597914"/>
            <a:ext cx="411480" cy="2880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24" b="0" i="0">
                <a:solidFill>
                  <a:srgbClr val="717890"/>
                </a:solidFill>
                <a:latin typeface="Segoe UI"/>
              </a:rPr>
              <a:t>2,5 г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25496" y="1597914"/>
            <a:ext cx="480060" cy="2880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24" b="0" i="0">
                <a:solidFill>
                  <a:srgbClr val="717890"/>
                </a:solidFill>
                <a:latin typeface="Segoe UI"/>
              </a:rPr>
              <a:t>$0,122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39846" y="1597914"/>
            <a:ext cx="514350" cy="2880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24" b="0" i="0">
                <a:solidFill>
                  <a:srgbClr val="717890"/>
                </a:solidFill>
                <a:latin typeface="Segoe UI"/>
              </a:rPr>
              <a:t>9,5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22776" y="1597914"/>
            <a:ext cx="582930" cy="2880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24" b="0" i="0">
                <a:solidFill>
                  <a:srgbClr val="717890"/>
                </a:solidFill>
                <a:latin typeface="Segoe UI"/>
              </a:rPr>
              <a:t>40′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39996" y="1597914"/>
            <a:ext cx="617220" cy="2880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24" b="1" i="0">
                <a:solidFill>
                  <a:srgbClr val="1C2235"/>
                </a:solidFill>
                <a:latin typeface="Segoe UI"/>
              </a:rPr>
              <a:t>21 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25796" y="1597914"/>
            <a:ext cx="582930" cy="2880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52" b="1" i="0">
                <a:solidFill>
                  <a:srgbClr val="1C2235"/>
                </a:solidFill>
                <a:latin typeface="Segoe UI"/>
              </a:rPr>
              <a:t>30 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80176" y="1611630"/>
            <a:ext cx="1714500" cy="1584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52" b="1" i="0">
                <a:solidFill>
                  <a:srgbClr val="1C2235"/>
                </a:solidFill>
                <a:latin typeface="Segoe UI"/>
              </a:rPr>
              <a:t>51 ₴</a:t>
            </a:r>
            <a:r>
              <a:rPr sz="600" b="0" i="0">
                <a:solidFill>
                  <a:srgbClr val="717890"/>
                </a:solidFill>
                <a:latin typeface="Segoe UI"/>
              </a:rPr>
              <a:t>   типова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80176" y="1747692"/>
            <a:ext cx="1714500" cy="129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3 поз. · 2,7–3 г · 30–51 ₴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26096" y="1597914"/>
            <a:ext cx="1097280" cy="2880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52" b="1" i="0">
                <a:solidFill>
                  <a:srgbClr val="3E8E5A"/>
                </a:solidFill>
                <a:latin typeface="Segoe UI"/>
              </a:rPr>
              <a:t>−22 ₴</a:t>
            </a:r>
            <a:r>
              <a:rPr sz="608" b="0" i="0">
                <a:solidFill>
                  <a:srgbClr val="3E8E5A"/>
                </a:solidFill>
                <a:latin typeface="Segoe UI"/>
              </a:rPr>
              <a:t>  -42 %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5196" y="1885950"/>
            <a:ext cx="34290" cy="288036"/>
          </a:xfrm>
          <a:prstGeom prst="rect">
            <a:avLst/>
          </a:prstGeom>
          <a:solidFill>
            <a:srgbClr val="2F7A3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4" name="Picture 33" descr="tmk_roll_spic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551" y="1899666"/>
            <a:ext cx="89349" cy="260604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939546" y="1885950"/>
            <a:ext cx="1371600" cy="2880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40" b="1" i="0">
                <a:solidFill>
                  <a:srgbClr val="303A5D"/>
                </a:solidFill>
                <a:latin typeface="Segoe UI"/>
              </a:rPr>
              <a:t>Wow ROLL Hot Spicy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9726" y="1885950"/>
            <a:ext cx="411480" cy="2880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24" b="0" i="0">
                <a:solidFill>
                  <a:srgbClr val="717890"/>
                </a:solidFill>
                <a:latin typeface="Segoe UI"/>
              </a:rPr>
              <a:t>2,5 г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825496" y="1885950"/>
            <a:ext cx="480060" cy="2880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24" b="0" i="0">
                <a:solidFill>
                  <a:srgbClr val="717890"/>
                </a:solidFill>
                <a:latin typeface="Segoe UI"/>
              </a:rPr>
              <a:t>$0,122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339846" y="1885950"/>
            <a:ext cx="514350" cy="2880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24" b="0" i="0">
                <a:solidFill>
                  <a:srgbClr val="717890"/>
                </a:solidFill>
                <a:latin typeface="Segoe UI"/>
              </a:rPr>
              <a:t>9,5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922776" y="1885950"/>
            <a:ext cx="582930" cy="2880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24" b="0" i="0">
                <a:solidFill>
                  <a:srgbClr val="717890"/>
                </a:solidFill>
                <a:latin typeface="Segoe UI"/>
              </a:rPr>
              <a:t>40′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39996" y="1885950"/>
            <a:ext cx="617220" cy="2880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24" b="1" i="0">
                <a:solidFill>
                  <a:srgbClr val="1C2235"/>
                </a:solidFill>
                <a:latin typeface="Segoe UI"/>
              </a:rPr>
              <a:t>21 ₴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225796" y="1885950"/>
            <a:ext cx="582930" cy="2880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52" b="1" i="0">
                <a:solidFill>
                  <a:srgbClr val="1C2235"/>
                </a:solidFill>
                <a:latin typeface="Segoe UI"/>
              </a:rPr>
              <a:t>30 ₴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80176" y="1899666"/>
            <a:ext cx="1714500" cy="1584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52" b="1" i="0">
                <a:solidFill>
                  <a:srgbClr val="1C2235"/>
                </a:solidFill>
                <a:latin typeface="Segoe UI"/>
              </a:rPr>
              <a:t>51 ₴</a:t>
            </a:r>
            <a:r>
              <a:rPr sz="600" b="0" i="0">
                <a:solidFill>
                  <a:srgbClr val="717890"/>
                </a:solidFill>
                <a:latin typeface="Segoe UI"/>
              </a:rPr>
              <a:t>   типова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80176" y="2035728"/>
            <a:ext cx="1714500" cy="129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3 поз. · 2,7–3 г · 30–51 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26096" y="1885950"/>
            <a:ext cx="1097280" cy="2880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52" b="1" i="0">
                <a:solidFill>
                  <a:srgbClr val="3E8E5A"/>
                </a:solidFill>
                <a:latin typeface="Segoe UI"/>
              </a:rPr>
              <a:t>−22 ₴</a:t>
            </a:r>
            <a:r>
              <a:rPr sz="608" b="0" i="0">
                <a:solidFill>
                  <a:srgbClr val="3E8E5A"/>
                </a:solidFill>
                <a:latin typeface="Segoe UI"/>
              </a:rPr>
              <a:t>  -42 %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25196" y="2173986"/>
            <a:ext cx="8298180" cy="288036"/>
          </a:xfrm>
          <a:prstGeom prst="rect">
            <a:avLst/>
          </a:prstGeom>
          <a:solidFill>
            <a:srgbClr val="F8F9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25196" y="2173986"/>
            <a:ext cx="34290" cy="288036"/>
          </a:xfrm>
          <a:prstGeom prst="rect">
            <a:avLst/>
          </a:prstGeom>
          <a:solidFill>
            <a:srgbClr val="2F7A3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7" name="Picture 46" descr="tmk_roll_squi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9342" y="2187702"/>
            <a:ext cx="131766" cy="260604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939546" y="2173986"/>
            <a:ext cx="1371600" cy="2880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40" b="1" i="0">
                <a:solidFill>
                  <a:srgbClr val="303A5D"/>
                </a:solidFill>
                <a:latin typeface="Segoe UI"/>
              </a:rPr>
              <a:t>Wow ROLL Spicy Squid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379726" y="2173986"/>
            <a:ext cx="411480" cy="2880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24" b="0" i="0">
                <a:solidFill>
                  <a:srgbClr val="717890"/>
                </a:solidFill>
                <a:latin typeface="Segoe UI"/>
              </a:rPr>
              <a:t>2,5 г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825496" y="2173986"/>
            <a:ext cx="480060" cy="2880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24" b="0" i="0">
                <a:solidFill>
                  <a:srgbClr val="717890"/>
                </a:solidFill>
                <a:latin typeface="Segoe UI"/>
              </a:rPr>
              <a:t>$0,122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39846" y="2173986"/>
            <a:ext cx="514350" cy="2880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24" b="0" i="0">
                <a:solidFill>
                  <a:srgbClr val="717890"/>
                </a:solidFill>
                <a:latin typeface="Segoe UI"/>
              </a:rPr>
              <a:t>9,5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922776" y="2173986"/>
            <a:ext cx="582930" cy="2880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24" b="0" i="0">
                <a:solidFill>
                  <a:srgbClr val="717890"/>
                </a:solidFill>
                <a:latin typeface="Segoe UI"/>
              </a:rPr>
              <a:t>40′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39996" y="2173986"/>
            <a:ext cx="617220" cy="2880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24" b="1" i="0">
                <a:solidFill>
                  <a:srgbClr val="1C2235"/>
                </a:solidFill>
                <a:latin typeface="Segoe UI"/>
              </a:rPr>
              <a:t>21 ₴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225796" y="2173986"/>
            <a:ext cx="582930" cy="2880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52" b="1" i="0">
                <a:solidFill>
                  <a:srgbClr val="1C2235"/>
                </a:solidFill>
                <a:latin typeface="Segoe UI"/>
              </a:rPr>
              <a:t>30 ₴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980176" y="2187702"/>
            <a:ext cx="1714500" cy="1584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52" b="1" i="0">
                <a:solidFill>
                  <a:srgbClr val="1C2235"/>
                </a:solidFill>
                <a:latin typeface="Segoe UI"/>
              </a:rPr>
              <a:t>51 ₴</a:t>
            </a:r>
            <a:r>
              <a:rPr sz="600" b="0" i="0">
                <a:solidFill>
                  <a:srgbClr val="717890"/>
                </a:solidFill>
                <a:latin typeface="Segoe UI"/>
              </a:rPr>
              <a:t>   типова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980176" y="2323764"/>
            <a:ext cx="1714500" cy="129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3 поз. · 2,7–3 г · 30–51 ₴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626096" y="2173986"/>
            <a:ext cx="1097280" cy="2880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52" b="1" i="0">
                <a:solidFill>
                  <a:srgbClr val="3E8E5A"/>
                </a:solidFill>
                <a:latin typeface="Segoe UI"/>
              </a:rPr>
              <a:t>−22 ₴</a:t>
            </a:r>
            <a:r>
              <a:rPr sz="608" b="0" i="0">
                <a:solidFill>
                  <a:srgbClr val="3E8E5A"/>
                </a:solidFill>
                <a:latin typeface="Segoe UI"/>
              </a:rPr>
              <a:t>  -42 %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25196" y="2462022"/>
            <a:ext cx="34290" cy="288036"/>
          </a:xfrm>
          <a:prstGeom prst="rect">
            <a:avLst/>
          </a:prstGeom>
          <a:solidFill>
            <a:srgbClr val="2F7A3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59" name="Picture 58" descr="tmk_dbl_ori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1847" y="2475738"/>
            <a:ext cx="146756" cy="260604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939546" y="2462022"/>
            <a:ext cx="1371600" cy="2880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40" b="1" i="0">
                <a:solidFill>
                  <a:srgbClr val="303A5D"/>
                </a:solidFill>
                <a:latin typeface="Segoe UI"/>
              </a:rPr>
              <a:t>Wow DOUBLE ROLL Original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379726" y="2462022"/>
            <a:ext cx="411480" cy="2880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24" b="0" i="0">
                <a:solidFill>
                  <a:srgbClr val="717890"/>
                </a:solidFill>
                <a:latin typeface="Segoe UI"/>
              </a:rPr>
              <a:t>5 г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825496" y="2462022"/>
            <a:ext cx="480060" cy="2880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24" b="0" i="0">
                <a:solidFill>
                  <a:srgbClr val="717890"/>
                </a:solidFill>
                <a:latin typeface="Segoe UI"/>
              </a:rPr>
              <a:t>$0,218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339846" y="2462022"/>
            <a:ext cx="514350" cy="2880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24" b="0" i="0">
                <a:solidFill>
                  <a:srgbClr val="717890"/>
                </a:solidFill>
                <a:latin typeface="Segoe UI"/>
              </a:rPr>
              <a:t>17,1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922776" y="2462022"/>
            <a:ext cx="582930" cy="2880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24" b="0" i="0">
                <a:solidFill>
                  <a:srgbClr val="717890"/>
                </a:solidFill>
                <a:latin typeface="Segoe UI"/>
              </a:rPr>
              <a:t>40′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539996" y="2462022"/>
            <a:ext cx="617220" cy="2880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24" b="1" i="0">
                <a:solidFill>
                  <a:srgbClr val="1C2235"/>
                </a:solidFill>
                <a:latin typeface="Segoe UI"/>
              </a:rPr>
              <a:t>38 ₴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225796" y="2462022"/>
            <a:ext cx="582930" cy="2880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52" b="1" i="0">
                <a:solidFill>
                  <a:srgbClr val="1C2235"/>
                </a:solidFill>
                <a:latin typeface="Segoe UI"/>
              </a:rPr>
              <a:t>53 ₴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980176" y="2475738"/>
            <a:ext cx="1714500" cy="1584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52" b="1" i="0">
                <a:solidFill>
                  <a:srgbClr val="1C2235"/>
                </a:solidFill>
                <a:latin typeface="Segoe UI"/>
              </a:rPr>
              <a:t>42 ₴</a:t>
            </a:r>
            <a:r>
              <a:rPr sz="600" b="0" i="0">
                <a:solidFill>
                  <a:srgbClr val="717890"/>
                </a:solidFill>
                <a:latin typeface="Segoe UI"/>
              </a:rPr>
              <a:t>   типова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980176" y="2611800"/>
            <a:ext cx="1714500" cy="129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47 поз. · 3–5 г · 30–89 ₴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626096" y="2462022"/>
            <a:ext cx="1097280" cy="2880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52" b="1" i="0">
                <a:solidFill>
                  <a:srgbClr val="B23A3A"/>
                </a:solidFill>
                <a:latin typeface="Segoe UI"/>
              </a:rPr>
              <a:t>+11 ₴</a:t>
            </a:r>
            <a:r>
              <a:rPr sz="608" b="0" i="0">
                <a:solidFill>
                  <a:srgbClr val="B23A3A"/>
                </a:solidFill>
                <a:latin typeface="Segoe UI"/>
              </a:rPr>
              <a:t>  +26 %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25196" y="2750058"/>
            <a:ext cx="8298180" cy="288036"/>
          </a:xfrm>
          <a:prstGeom prst="rect">
            <a:avLst/>
          </a:prstGeom>
          <a:solidFill>
            <a:srgbClr val="F8F9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425196" y="2750058"/>
            <a:ext cx="34290" cy="288036"/>
          </a:xfrm>
          <a:prstGeom prst="rect">
            <a:avLst/>
          </a:prstGeom>
          <a:solidFill>
            <a:srgbClr val="2F7A3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72" name="Picture 71" descr="tmk_dbl_spic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1847" y="2763774"/>
            <a:ext cx="146756" cy="260604"/>
          </a:xfrm>
          <a:prstGeom prst="rect">
            <a:avLst/>
          </a:prstGeom>
        </p:spPr>
      </p:pic>
      <p:sp>
        <p:nvSpPr>
          <p:cNvPr id="73" name="TextBox 72"/>
          <p:cNvSpPr txBox="1"/>
          <p:nvPr/>
        </p:nvSpPr>
        <p:spPr>
          <a:xfrm>
            <a:off x="939546" y="2750058"/>
            <a:ext cx="1371600" cy="2880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40" b="1" i="0">
                <a:solidFill>
                  <a:srgbClr val="303A5D"/>
                </a:solidFill>
                <a:latin typeface="Segoe UI"/>
              </a:rPr>
              <a:t>Wow DOUBLE ROLL Hot Spicy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379726" y="2750058"/>
            <a:ext cx="411480" cy="2880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24" b="0" i="0">
                <a:solidFill>
                  <a:srgbClr val="717890"/>
                </a:solidFill>
                <a:latin typeface="Segoe UI"/>
              </a:rPr>
              <a:t>5 г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825496" y="2750058"/>
            <a:ext cx="480060" cy="2880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24" b="0" i="0">
                <a:solidFill>
                  <a:srgbClr val="717890"/>
                </a:solidFill>
                <a:latin typeface="Segoe UI"/>
              </a:rPr>
              <a:t>$0,218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339846" y="2750058"/>
            <a:ext cx="514350" cy="2880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24" b="0" i="0">
                <a:solidFill>
                  <a:srgbClr val="717890"/>
                </a:solidFill>
                <a:latin typeface="Segoe UI"/>
              </a:rPr>
              <a:t>17,1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922776" y="2750058"/>
            <a:ext cx="582930" cy="2880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24" b="0" i="0">
                <a:solidFill>
                  <a:srgbClr val="717890"/>
                </a:solidFill>
                <a:latin typeface="Segoe UI"/>
              </a:rPr>
              <a:t>40′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39996" y="2750058"/>
            <a:ext cx="617220" cy="2880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24" b="1" i="0">
                <a:solidFill>
                  <a:srgbClr val="1C2235"/>
                </a:solidFill>
                <a:latin typeface="Segoe UI"/>
              </a:rPr>
              <a:t>38 ₴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225796" y="2750058"/>
            <a:ext cx="582930" cy="2880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52" b="1" i="0">
                <a:solidFill>
                  <a:srgbClr val="1C2235"/>
                </a:solidFill>
                <a:latin typeface="Segoe UI"/>
              </a:rPr>
              <a:t>53 ₴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980176" y="2763774"/>
            <a:ext cx="1714500" cy="1584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52" b="1" i="0">
                <a:solidFill>
                  <a:srgbClr val="1C2235"/>
                </a:solidFill>
                <a:latin typeface="Segoe UI"/>
              </a:rPr>
              <a:t>42 ₴</a:t>
            </a:r>
            <a:r>
              <a:rPr sz="600" b="0" i="0">
                <a:solidFill>
                  <a:srgbClr val="717890"/>
                </a:solidFill>
                <a:latin typeface="Segoe UI"/>
              </a:rPr>
              <a:t>   типова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980176" y="2899836"/>
            <a:ext cx="1714500" cy="129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47 поз. · 3–5 г · 30–89 ₴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626096" y="2750058"/>
            <a:ext cx="1097280" cy="2880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52" b="1" i="0">
                <a:solidFill>
                  <a:srgbClr val="B23A3A"/>
                </a:solidFill>
                <a:latin typeface="Segoe UI"/>
              </a:rPr>
              <a:t>+11 ₴</a:t>
            </a:r>
            <a:r>
              <a:rPr sz="608" b="0" i="0">
                <a:solidFill>
                  <a:srgbClr val="B23A3A"/>
                </a:solidFill>
                <a:latin typeface="Segoe UI"/>
              </a:rPr>
              <a:t>  +26 %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25196" y="3038094"/>
            <a:ext cx="34290" cy="288036"/>
          </a:xfrm>
          <a:prstGeom prst="rect">
            <a:avLst/>
          </a:prstGeom>
          <a:solidFill>
            <a:srgbClr val="2F7A3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84" name="Picture 83" descr="tmk_sw_orig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5184" y="3051810"/>
            <a:ext cx="200083" cy="260604"/>
          </a:xfrm>
          <a:prstGeom prst="rect">
            <a:avLst/>
          </a:prstGeom>
        </p:spPr>
      </p:pic>
      <p:sp>
        <p:nvSpPr>
          <p:cNvPr id="85" name="TextBox 84"/>
          <p:cNvSpPr txBox="1"/>
          <p:nvPr/>
        </p:nvSpPr>
        <p:spPr>
          <a:xfrm>
            <a:off x="939546" y="3038094"/>
            <a:ext cx="1371600" cy="2880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40" b="1" i="0">
                <a:solidFill>
                  <a:srgbClr val="303A5D"/>
                </a:solidFill>
                <a:latin typeface="Segoe UI"/>
              </a:rPr>
              <a:t>Wow SEAWEED Original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379726" y="3038094"/>
            <a:ext cx="411480" cy="2880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24" b="0" i="0">
                <a:solidFill>
                  <a:srgbClr val="717890"/>
                </a:solidFill>
                <a:latin typeface="Segoe UI"/>
              </a:rPr>
              <a:t>12 г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825496" y="3038094"/>
            <a:ext cx="480060" cy="2880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24" b="0" i="0">
                <a:solidFill>
                  <a:srgbClr val="717890"/>
                </a:solidFill>
                <a:latin typeface="Segoe UI"/>
              </a:rPr>
              <a:t>$0,449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339846" y="3038094"/>
            <a:ext cx="514350" cy="2880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24" b="0" i="0">
                <a:solidFill>
                  <a:srgbClr val="717890"/>
                </a:solidFill>
                <a:latin typeface="Segoe UI"/>
              </a:rPr>
              <a:t>34,9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922776" y="3038094"/>
            <a:ext cx="582930" cy="2880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24" b="0" i="0">
                <a:solidFill>
                  <a:srgbClr val="717890"/>
                </a:solidFill>
                <a:latin typeface="Segoe UI"/>
              </a:rPr>
              <a:t>40′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539996" y="3038094"/>
            <a:ext cx="617220" cy="2880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24" b="1" i="0">
                <a:solidFill>
                  <a:srgbClr val="1C2235"/>
                </a:solidFill>
                <a:latin typeface="Segoe UI"/>
              </a:rPr>
              <a:t>77 ₴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225796" y="3038094"/>
            <a:ext cx="582930" cy="2880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52" b="1" i="0">
                <a:solidFill>
                  <a:srgbClr val="1C2235"/>
                </a:solidFill>
                <a:latin typeface="Segoe UI"/>
              </a:rPr>
              <a:t>108 ₴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980176" y="3051810"/>
            <a:ext cx="1714500" cy="1584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52" b="1" i="0">
                <a:solidFill>
                  <a:srgbClr val="1C2235"/>
                </a:solidFill>
                <a:latin typeface="Segoe UI"/>
              </a:rPr>
              <a:t>33 ₴</a:t>
            </a:r>
            <a:r>
              <a:rPr sz="600" b="0" i="0">
                <a:solidFill>
                  <a:srgbClr val="717890"/>
                </a:solidFill>
                <a:latin typeface="Segoe UI"/>
              </a:rPr>
              <a:t>   типова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980176" y="3187872"/>
            <a:ext cx="1714500" cy="129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5 поз. · 8–15 г · 30–96 ₴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626096" y="3038094"/>
            <a:ext cx="1097280" cy="2880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52" b="1" i="0">
                <a:solidFill>
                  <a:srgbClr val="B23A3A"/>
                </a:solidFill>
                <a:latin typeface="Segoe UI"/>
              </a:rPr>
              <a:t>+75 ₴</a:t>
            </a:r>
            <a:r>
              <a:rPr sz="608" b="0" i="0">
                <a:solidFill>
                  <a:srgbClr val="B23A3A"/>
                </a:solidFill>
                <a:latin typeface="Segoe UI"/>
              </a:rPr>
              <a:t>  +226 %</a:t>
            </a:r>
          </a:p>
        </p:txBody>
      </p:sp>
      <p:sp>
        <p:nvSpPr>
          <p:cNvPr id="95" name="Rectangle 94"/>
          <p:cNvSpPr/>
          <p:nvPr/>
        </p:nvSpPr>
        <p:spPr>
          <a:xfrm>
            <a:off x="425196" y="3326130"/>
            <a:ext cx="8298180" cy="288036"/>
          </a:xfrm>
          <a:prstGeom prst="rect">
            <a:avLst/>
          </a:prstGeom>
          <a:solidFill>
            <a:srgbClr val="F8F9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425196" y="3326130"/>
            <a:ext cx="34290" cy="288036"/>
          </a:xfrm>
          <a:prstGeom prst="rect">
            <a:avLst/>
          </a:prstGeom>
          <a:solidFill>
            <a:srgbClr val="2F7A3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97" name="Picture 96" descr="tmk_sw_spicy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4485" y="3339846"/>
            <a:ext cx="201481" cy="260604"/>
          </a:xfrm>
          <a:prstGeom prst="rect">
            <a:avLst/>
          </a:prstGeom>
        </p:spPr>
      </p:pic>
      <p:sp>
        <p:nvSpPr>
          <p:cNvPr id="98" name="TextBox 97"/>
          <p:cNvSpPr txBox="1"/>
          <p:nvPr/>
        </p:nvSpPr>
        <p:spPr>
          <a:xfrm>
            <a:off x="939546" y="3326130"/>
            <a:ext cx="1371600" cy="2880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40" b="1" i="0">
                <a:solidFill>
                  <a:srgbClr val="303A5D"/>
                </a:solidFill>
                <a:latin typeface="Segoe UI"/>
              </a:rPr>
              <a:t>Wow SEAWEED Spicy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2379726" y="3326130"/>
            <a:ext cx="411480" cy="2880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24" b="0" i="0">
                <a:solidFill>
                  <a:srgbClr val="717890"/>
                </a:solidFill>
                <a:latin typeface="Segoe UI"/>
              </a:rPr>
              <a:t>12 г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2825496" y="3326130"/>
            <a:ext cx="480060" cy="2880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24" b="0" i="0">
                <a:solidFill>
                  <a:srgbClr val="717890"/>
                </a:solidFill>
                <a:latin typeface="Segoe UI"/>
              </a:rPr>
              <a:t>$0,449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3339846" y="3326130"/>
            <a:ext cx="514350" cy="2880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24" b="0" i="0">
                <a:solidFill>
                  <a:srgbClr val="717890"/>
                </a:solidFill>
                <a:latin typeface="Segoe UI"/>
              </a:rPr>
              <a:t>34,9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3922776" y="3326130"/>
            <a:ext cx="582930" cy="2880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24" b="0" i="0">
                <a:solidFill>
                  <a:srgbClr val="717890"/>
                </a:solidFill>
                <a:latin typeface="Segoe UI"/>
              </a:rPr>
              <a:t>40′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4539996" y="3326130"/>
            <a:ext cx="617220" cy="2880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24" b="1" i="0">
                <a:solidFill>
                  <a:srgbClr val="1C2235"/>
                </a:solidFill>
                <a:latin typeface="Segoe UI"/>
              </a:rPr>
              <a:t>77 ₴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5225796" y="3326130"/>
            <a:ext cx="582930" cy="2880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52" b="1" i="0">
                <a:solidFill>
                  <a:srgbClr val="1C2235"/>
                </a:solidFill>
                <a:latin typeface="Segoe UI"/>
              </a:rPr>
              <a:t>108 ₴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5980176" y="3339846"/>
            <a:ext cx="1714500" cy="1584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52" b="1" i="0">
                <a:solidFill>
                  <a:srgbClr val="1C2235"/>
                </a:solidFill>
                <a:latin typeface="Segoe UI"/>
              </a:rPr>
              <a:t>33 ₴</a:t>
            </a:r>
            <a:r>
              <a:rPr sz="600" b="0" i="0">
                <a:solidFill>
                  <a:srgbClr val="717890"/>
                </a:solidFill>
                <a:latin typeface="Segoe UI"/>
              </a:rPr>
              <a:t>   типова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5980176" y="3475908"/>
            <a:ext cx="1714500" cy="129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5 поз. · 8–15 г · 30–96 ₴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7626096" y="3326130"/>
            <a:ext cx="1097280" cy="2880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52" b="1" i="0">
                <a:solidFill>
                  <a:srgbClr val="B23A3A"/>
                </a:solidFill>
                <a:latin typeface="Segoe UI"/>
              </a:rPr>
              <a:t>+75 ₴</a:t>
            </a:r>
            <a:r>
              <a:rPr sz="608" b="0" i="0">
                <a:solidFill>
                  <a:srgbClr val="B23A3A"/>
                </a:solidFill>
                <a:latin typeface="Segoe UI"/>
              </a:rPr>
              <a:t>  +226 %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425196" y="3614166"/>
            <a:ext cx="34290" cy="288036"/>
          </a:xfrm>
          <a:prstGeom prst="rect">
            <a:avLst/>
          </a:prstGeom>
          <a:solidFill>
            <a:srgbClr val="2F7A3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09" name="Picture 108" descr="tmk_sw_squi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7278" y="3627882"/>
            <a:ext cx="195895" cy="260604"/>
          </a:xfrm>
          <a:prstGeom prst="rect">
            <a:avLst/>
          </a:prstGeom>
        </p:spPr>
      </p:pic>
      <p:sp>
        <p:nvSpPr>
          <p:cNvPr id="110" name="TextBox 109"/>
          <p:cNvSpPr txBox="1"/>
          <p:nvPr/>
        </p:nvSpPr>
        <p:spPr>
          <a:xfrm>
            <a:off x="939546" y="3614166"/>
            <a:ext cx="1371600" cy="2880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40" b="1" i="0">
                <a:solidFill>
                  <a:srgbClr val="303A5D"/>
                </a:solidFill>
                <a:latin typeface="Segoe UI"/>
              </a:rPr>
              <a:t>Wow SEAWEED Squid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2379726" y="3614166"/>
            <a:ext cx="411480" cy="2880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24" b="0" i="0">
                <a:solidFill>
                  <a:srgbClr val="717890"/>
                </a:solidFill>
                <a:latin typeface="Segoe UI"/>
              </a:rPr>
              <a:t>12 г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2825496" y="3614166"/>
            <a:ext cx="480060" cy="2880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24" b="0" i="0">
                <a:solidFill>
                  <a:srgbClr val="717890"/>
                </a:solidFill>
                <a:latin typeface="Segoe UI"/>
              </a:rPr>
              <a:t>$0,449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3339846" y="3614166"/>
            <a:ext cx="514350" cy="2880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24" b="0" i="0">
                <a:solidFill>
                  <a:srgbClr val="717890"/>
                </a:solidFill>
                <a:latin typeface="Segoe UI"/>
              </a:rPr>
              <a:t>34,9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3922776" y="3614166"/>
            <a:ext cx="582930" cy="2880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24" b="0" i="0">
                <a:solidFill>
                  <a:srgbClr val="717890"/>
                </a:solidFill>
                <a:latin typeface="Segoe UI"/>
              </a:rPr>
              <a:t>40′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4539996" y="3614166"/>
            <a:ext cx="617220" cy="2880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24" b="1" i="0">
                <a:solidFill>
                  <a:srgbClr val="1C2235"/>
                </a:solidFill>
                <a:latin typeface="Segoe UI"/>
              </a:rPr>
              <a:t>77 ₴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5225796" y="3614166"/>
            <a:ext cx="582930" cy="2880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52" b="1" i="0">
                <a:solidFill>
                  <a:srgbClr val="1C2235"/>
                </a:solidFill>
                <a:latin typeface="Segoe UI"/>
              </a:rPr>
              <a:t>108 ₴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5980176" y="3627882"/>
            <a:ext cx="1714500" cy="1584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52" b="1" i="0">
                <a:solidFill>
                  <a:srgbClr val="1C2235"/>
                </a:solidFill>
                <a:latin typeface="Segoe UI"/>
              </a:rPr>
              <a:t>33 ₴</a:t>
            </a:r>
            <a:r>
              <a:rPr sz="600" b="0" i="0">
                <a:solidFill>
                  <a:srgbClr val="717890"/>
                </a:solidFill>
                <a:latin typeface="Segoe UI"/>
              </a:rPr>
              <a:t>   типова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5980176" y="3763944"/>
            <a:ext cx="1714500" cy="129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5 поз. · 8–15 г · 30–96 ₴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7626096" y="3614166"/>
            <a:ext cx="1097280" cy="2880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52" b="1" i="0">
                <a:solidFill>
                  <a:srgbClr val="B23A3A"/>
                </a:solidFill>
                <a:latin typeface="Segoe UI"/>
              </a:rPr>
              <a:t>+75 ₴</a:t>
            </a:r>
            <a:r>
              <a:rPr sz="608" b="0" i="0">
                <a:solidFill>
                  <a:srgbClr val="B23A3A"/>
                </a:solidFill>
                <a:latin typeface="Segoe UI"/>
              </a:rPr>
              <a:t>  +226 %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425196" y="3902202"/>
            <a:ext cx="8298180" cy="288036"/>
          </a:xfrm>
          <a:prstGeom prst="rect">
            <a:avLst/>
          </a:prstGeom>
          <a:solidFill>
            <a:srgbClr val="F8F9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425196" y="3902202"/>
            <a:ext cx="34290" cy="288036"/>
          </a:xfrm>
          <a:prstGeom prst="rect">
            <a:avLst/>
          </a:prstGeom>
          <a:solidFill>
            <a:srgbClr val="2F7A3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22" name="Picture 121" descr="tmk_mini_orig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3776" y="3955458"/>
            <a:ext cx="342900" cy="181522"/>
          </a:xfrm>
          <a:prstGeom prst="rect">
            <a:avLst/>
          </a:prstGeom>
        </p:spPr>
      </p:pic>
      <p:sp>
        <p:nvSpPr>
          <p:cNvPr id="123" name="TextBox 122"/>
          <p:cNvSpPr txBox="1"/>
          <p:nvPr/>
        </p:nvSpPr>
        <p:spPr>
          <a:xfrm>
            <a:off x="939546" y="3902202"/>
            <a:ext cx="1371600" cy="2880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40" b="1" i="0">
                <a:solidFill>
                  <a:srgbClr val="303A5D"/>
                </a:solidFill>
                <a:latin typeface="Segoe UI"/>
              </a:rPr>
              <a:t>Wow MINI Original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2379726" y="3902202"/>
            <a:ext cx="411480" cy="2880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24" b="0" i="0">
                <a:solidFill>
                  <a:srgbClr val="717890"/>
                </a:solidFill>
                <a:latin typeface="Segoe UI"/>
              </a:rPr>
              <a:t>10 г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2825496" y="3902202"/>
            <a:ext cx="480060" cy="2880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24" b="0" i="0">
                <a:solidFill>
                  <a:srgbClr val="717890"/>
                </a:solidFill>
                <a:latin typeface="Segoe UI"/>
              </a:rPr>
              <a:t>$0,446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3339846" y="3902202"/>
            <a:ext cx="514350" cy="2880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24" b="0" i="0">
                <a:solidFill>
                  <a:srgbClr val="717890"/>
                </a:solidFill>
                <a:latin typeface="Segoe UI"/>
              </a:rPr>
              <a:t>35,1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3922776" y="3902202"/>
            <a:ext cx="582930" cy="2880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24" b="0" i="0">
                <a:solidFill>
                  <a:srgbClr val="717890"/>
                </a:solidFill>
                <a:latin typeface="Segoe UI"/>
              </a:rPr>
              <a:t>40′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4539996" y="3902202"/>
            <a:ext cx="617220" cy="2880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24" b="1" i="0">
                <a:solidFill>
                  <a:srgbClr val="1C2235"/>
                </a:solidFill>
                <a:latin typeface="Segoe UI"/>
              </a:rPr>
              <a:t>78 ₴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5225796" y="3902202"/>
            <a:ext cx="582930" cy="2880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52" b="1" i="0">
                <a:solidFill>
                  <a:srgbClr val="1C2235"/>
                </a:solidFill>
                <a:latin typeface="Segoe UI"/>
              </a:rPr>
              <a:t>109 ₴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5980176" y="3915918"/>
            <a:ext cx="1714500" cy="1584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52" b="1" i="0">
                <a:solidFill>
                  <a:srgbClr val="1C2235"/>
                </a:solidFill>
                <a:latin typeface="Segoe UI"/>
              </a:rPr>
              <a:t>32 ₴</a:t>
            </a:r>
            <a:r>
              <a:rPr sz="600" b="0" i="0">
                <a:solidFill>
                  <a:srgbClr val="717890"/>
                </a:solidFill>
                <a:latin typeface="Segoe UI"/>
              </a:rPr>
              <a:t>   типова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5980176" y="4051980"/>
            <a:ext cx="1714500" cy="129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4 поз. · 8–10 г · 30–34 ₴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7626096" y="3902202"/>
            <a:ext cx="1097280" cy="2880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52" b="1" i="0">
                <a:solidFill>
                  <a:srgbClr val="B23A3A"/>
                </a:solidFill>
                <a:latin typeface="Segoe UI"/>
              </a:rPr>
              <a:t>+77 ₴</a:t>
            </a:r>
            <a:r>
              <a:rPr sz="608" b="0" i="0">
                <a:solidFill>
                  <a:srgbClr val="B23A3A"/>
                </a:solidFill>
                <a:latin typeface="Segoe UI"/>
              </a:rPr>
              <a:t>  +240 %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425196" y="4190238"/>
            <a:ext cx="34290" cy="288036"/>
          </a:xfrm>
          <a:prstGeom prst="rect">
            <a:avLst/>
          </a:prstGeom>
          <a:solidFill>
            <a:srgbClr val="2F7A3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34" name="Picture 133" descr="tmk_mini_spicy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93776" y="4243494"/>
            <a:ext cx="342900" cy="181522"/>
          </a:xfrm>
          <a:prstGeom prst="rect">
            <a:avLst/>
          </a:prstGeom>
        </p:spPr>
      </p:pic>
      <p:sp>
        <p:nvSpPr>
          <p:cNvPr id="135" name="TextBox 134"/>
          <p:cNvSpPr txBox="1"/>
          <p:nvPr/>
        </p:nvSpPr>
        <p:spPr>
          <a:xfrm>
            <a:off x="939546" y="4190238"/>
            <a:ext cx="1371600" cy="2880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40" b="1" i="0">
                <a:solidFill>
                  <a:srgbClr val="303A5D"/>
                </a:solidFill>
                <a:latin typeface="Segoe UI"/>
              </a:rPr>
              <a:t>Wow MINI Hot Spicy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379726" y="4190238"/>
            <a:ext cx="411480" cy="2880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24" b="0" i="0">
                <a:solidFill>
                  <a:srgbClr val="717890"/>
                </a:solidFill>
                <a:latin typeface="Segoe UI"/>
              </a:rPr>
              <a:t>10 г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2825496" y="4190238"/>
            <a:ext cx="480060" cy="2880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24" b="0" i="0">
                <a:solidFill>
                  <a:srgbClr val="717890"/>
                </a:solidFill>
                <a:latin typeface="Segoe UI"/>
              </a:rPr>
              <a:t>$0,446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3339846" y="4190238"/>
            <a:ext cx="514350" cy="2880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24" b="0" i="0">
                <a:solidFill>
                  <a:srgbClr val="717890"/>
                </a:solidFill>
                <a:latin typeface="Segoe UI"/>
              </a:rPr>
              <a:t>35,1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3922776" y="4190238"/>
            <a:ext cx="582930" cy="2880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24" b="0" i="0">
                <a:solidFill>
                  <a:srgbClr val="717890"/>
                </a:solidFill>
                <a:latin typeface="Segoe UI"/>
              </a:rPr>
              <a:t>40′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4539996" y="4190238"/>
            <a:ext cx="617220" cy="2880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24" b="1" i="0">
                <a:solidFill>
                  <a:srgbClr val="1C2235"/>
                </a:solidFill>
                <a:latin typeface="Segoe UI"/>
              </a:rPr>
              <a:t>78 ₴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5225796" y="4190238"/>
            <a:ext cx="582930" cy="2880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52" b="1" i="0">
                <a:solidFill>
                  <a:srgbClr val="1C2235"/>
                </a:solidFill>
                <a:latin typeface="Segoe UI"/>
              </a:rPr>
              <a:t>109 ₴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5980176" y="4203954"/>
            <a:ext cx="1714500" cy="1584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52" b="1" i="0">
                <a:solidFill>
                  <a:srgbClr val="1C2235"/>
                </a:solidFill>
                <a:latin typeface="Segoe UI"/>
              </a:rPr>
              <a:t>32 ₴</a:t>
            </a:r>
            <a:r>
              <a:rPr sz="600" b="0" i="0">
                <a:solidFill>
                  <a:srgbClr val="717890"/>
                </a:solidFill>
                <a:latin typeface="Segoe UI"/>
              </a:rPr>
              <a:t>   типова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5980176" y="4340016"/>
            <a:ext cx="1714500" cy="129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4 поз. · 8–10 г · 30–34 ₴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7626096" y="4190238"/>
            <a:ext cx="1097280" cy="2880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52" b="1" i="0">
                <a:solidFill>
                  <a:srgbClr val="B23A3A"/>
                </a:solidFill>
                <a:latin typeface="Segoe UI"/>
              </a:rPr>
              <a:t>+77 ₴</a:t>
            </a:r>
            <a:r>
              <a:rPr sz="608" b="0" i="0">
                <a:solidFill>
                  <a:srgbClr val="B23A3A"/>
                </a:solidFill>
                <a:latin typeface="Segoe UI"/>
              </a:rPr>
              <a:t>  +240 %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425196" y="4855464"/>
            <a:ext cx="829818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1">
                <a:solidFill>
                  <a:srgbClr val="717890"/>
                </a:solidFill>
                <a:latin typeface="Segoe UI"/>
              </a:rPr>
              <a:t>«Типова ціна» — медіана цін позицій того ж сегмента з близькою вагою (±45 %); «Різниця до ринку» = наша полиця − типова ціна. Розрахунок: курс 45 ₴/$, бонус мережі 25 %, наша маржа 30 %. СС з Self-Cost включає імпортний ПДВ (≈16 % СС).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977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3977" cy="795528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95528"/>
            <a:ext cx="9143977" cy="41148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" y="178308"/>
            <a:ext cx="1042416" cy="4526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728216" y="205740"/>
            <a:ext cx="61722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1" i="0" spc="30">
                <a:solidFill>
                  <a:srgbClr val="FFC95C"/>
                </a:solidFill>
                <a:latin typeface="Segoe UI"/>
              </a:rPr>
              <a:t>ПОЛИЦЯ · HANJIN · ZEK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28216" y="377190"/>
            <a:ext cx="61722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20" b="1" i="0">
                <a:solidFill>
                  <a:srgbClr val="FFFFFF"/>
                </a:solidFill>
                <a:latin typeface="Segoe UI"/>
              </a:rPr>
              <a:t>Наша ціна на полиці: HanJin · ZEK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20990" y="301752"/>
            <a:ext cx="768096" cy="2263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360" b="1" i="0">
                <a:solidFill>
                  <a:srgbClr val="465382"/>
                </a:solidFill>
                <a:latin typeface="Segoe UI"/>
              </a:rPr>
              <a:t>36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5196" y="918972"/>
            <a:ext cx="829818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72" b="0" i="0">
                <a:solidFill>
                  <a:srgbClr val="717890"/>
                </a:solidFill>
                <a:latin typeface="Segoe UI"/>
              </a:rPr>
              <a:t>Як рахується: ціна мережі = собівартість ÷ 0,45 (собівартість — 45 % ціни мережі, бонус мережі — 25 %, наша маржа — 30 %); полиця = ціна мережі × 1,40. Праворуч — із чим порівнюється наша полиця на ринку.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5196" y="1323594"/>
            <a:ext cx="8298180" cy="205740"/>
          </a:xfrm>
          <a:prstGeom prst="rect">
            <a:avLst/>
          </a:prstGeom>
          <a:solidFill>
            <a:srgbClr val="B23A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9546" y="1357884"/>
            <a:ext cx="1714500" cy="1508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ПОЗИЦІЯ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9726" y="1357884"/>
            <a:ext cx="411480" cy="1508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ВАГА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25496" y="1357884"/>
            <a:ext cx="480060" cy="1508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FOB, $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9846" y="1357884"/>
            <a:ext cx="514350" cy="1508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СС, ГРН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22776" y="1357884"/>
            <a:ext cx="582930" cy="1508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КОНТЕЙНЕР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39996" y="1357884"/>
            <a:ext cx="617220" cy="1508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ЦІНА МЕРЕЖІ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25796" y="1357884"/>
            <a:ext cx="582930" cy="1508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ПОЛИЦЯ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80176" y="1357884"/>
            <a:ext cx="1783080" cy="1508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РИНОК ПОРУЧ · ТИПОВА ЦІНА ПАКЕТА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26096" y="1357884"/>
            <a:ext cx="1097280" cy="1508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РІЗНИЦЯ ДО РИНКУ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5196" y="1597914"/>
            <a:ext cx="8298180" cy="216516"/>
          </a:xfrm>
          <a:prstGeom prst="rect">
            <a:avLst/>
          </a:prstGeom>
          <a:solidFill>
            <a:srgbClr val="F8F9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5196" y="1597914"/>
            <a:ext cx="34290" cy="216516"/>
          </a:xfrm>
          <a:prstGeom prst="rect">
            <a:avLst/>
          </a:prstGeom>
          <a:solidFill>
            <a:srgbClr val="B23A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2" name="Picture 21" descr="zek_tempura_corn3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613" y="1611630"/>
            <a:ext cx="145224" cy="18908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39546" y="1597914"/>
            <a:ext cx="1371600" cy="2165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40" b="1" i="0">
                <a:solidFill>
                  <a:srgbClr val="303A5D"/>
                </a:solidFill>
                <a:latin typeface="Segoe UI"/>
              </a:rPr>
              <a:t>Tempura Corn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79726" y="1597914"/>
            <a:ext cx="411480" cy="2165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24" b="0" i="0">
                <a:solidFill>
                  <a:srgbClr val="717890"/>
                </a:solidFill>
                <a:latin typeface="Segoe UI"/>
              </a:rPr>
              <a:t>30 г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25496" y="1597914"/>
            <a:ext cx="480060" cy="2165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24" b="0" i="0">
                <a:solidFill>
                  <a:srgbClr val="717890"/>
                </a:solidFill>
                <a:latin typeface="Segoe UI"/>
              </a:rPr>
              <a:t>$0,430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39846" y="1597914"/>
            <a:ext cx="514350" cy="2165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24" b="0" i="0">
                <a:solidFill>
                  <a:srgbClr val="717890"/>
                </a:solidFill>
                <a:latin typeface="Segoe UI"/>
              </a:rPr>
              <a:t>33,9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22776" y="1597914"/>
            <a:ext cx="582930" cy="2165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24" b="0" i="0">
                <a:solidFill>
                  <a:srgbClr val="717890"/>
                </a:solidFill>
                <a:latin typeface="Segoe UI"/>
              </a:rPr>
              <a:t>40′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39996" y="1597914"/>
            <a:ext cx="617220" cy="2165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24" b="1" i="0">
                <a:solidFill>
                  <a:srgbClr val="1C2235"/>
                </a:solidFill>
                <a:latin typeface="Segoe UI"/>
              </a:rPr>
              <a:t>75 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25796" y="1597914"/>
            <a:ext cx="582930" cy="2165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52" b="1" i="0">
                <a:solidFill>
                  <a:srgbClr val="1C2235"/>
                </a:solidFill>
                <a:latin typeface="Segoe UI"/>
              </a:rPr>
              <a:t>105 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80176" y="1611630"/>
            <a:ext cx="1714500" cy="1190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52" b="1" i="0">
                <a:solidFill>
                  <a:srgbClr val="1C2235"/>
                </a:solidFill>
                <a:latin typeface="Segoe UI"/>
              </a:rPr>
              <a:t>111 ₴</a:t>
            </a:r>
            <a:r>
              <a:rPr sz="600" b="0" i="0">
                <a:solidFill>
                  <a:srgbClr val="717890"/>
                </a:solidFill>
                <a:latin typeface="Segoe UI"/>
              </a:rPr>
              <a:t>   типова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80176" y="1710502"/>
            <a:ext cx="1714500" cy="974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4 поз. · 25–40 г · 81–193 ₴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26096" y="1597914"/>
            <a:ext cx="1097280" cy="2165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52" b="1" i="0">
                <a:solidFill>
                  <a:srgbClr val="C4820A"/>
                </a:solidFill>
                <a:latin typeface="Segoe UI"/>
              </a:rPr>
              <a:t>−6 ₴</a:t>
            </a:r>
            <a:r>
              <a:rPr sz="608" b="0" i="0">
                <a:solidFill>
                  <a:srgbClr val="C4820A"/>
                </a:solidFill>
                <a:latin typeface="Segoe UI"/>
              </a:rPr>
              <a:t>  -5 %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5196" y="1814430"/>
            <a:ext cx="34290" cy="216516"/>
          </a:xfrm>
          <a:prstGeom prst="rect">
            <a:avLst/>
          </a:prstGeom>
          <a:solidFill>
            <a:srgbClr val="B23A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4" name="Picture 33" descr="zek_tempura_wasabi3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100" y="1828146"/>
            <a:ext cx="144250" cy="189084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939546" y="1814430"/>
            <a:ext cx="1371600" cy="2165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40" b="1" i="0">
                <a:solidFill>
                  <a:srgbClr val="303A5D"/>
                </a:solidFill>
                <a:latin typeface="Segoe UI"/>
              </a:rPr>
              <a:t>Tempura Wasabi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79726" y="1814430"/>
            <a:ext cx="411480" cy="2165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24" b="0" i="0">
                <a:solidFill>
                  <a:srgbClr val="717890"/>
                </a:solidFill>
                <a:latin typeface="Segoe UI"/>
              </a:rPr>
              <a:t>30 г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825496" y="1814430"/>
            <a:ext cx="480060" cy="2165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24" b="0" i="0">
                <a:solidFill>
                  <a:srgbClr val="717890"/>
                </a:solidFill>
                <a:latin typeface="Segoe UI"/>
              </a:rPr>
              <a:t>$0,430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339846" y="1814430"/>
            <a:ext cx="514350" cy="2165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24" b="0" i="0">
                <a:solidFill>
                  <a:srgbClr val="717890"/>
                </a:solidFill>
                <a:latin typeface="Segoe UI"/>
              </a:rPr>
              <a:t>33,9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922776" y="1814430"/>
            <a:ext cx="582930" cy="2165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24" b="0" i="0">
                <a:solidFill>
                  <a:srgbClr val="717890"/>
                </a:solidFill>
                <a:latin typeface="Segoe UI"/>
              </a:rPr>
              <a:t>40′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39996" y="1814430"/>
            <a:ext cx="617220" cy="2165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24" b="1" i="0">
                <a:solidFill>
                  <a:srgbClr val="1C2235"/>
                </a:solidFill>
                <a:latin typeface="Segoe UI"/>
              </a:rPr>
              <a:t>75 ₴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225796" y="1814430"/>
            <a:ext cx="582930" cy="2165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52" b="1" i="0">
                <a:solidFill>
                  <a:srgbClr val="1C2235"/>
                </a:solidFill>
                <a:latin typeface="Segoe UI"/>
              </a:rPr>
              <a:t>105 ₴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80176" y="1828146"/>
            <a:ext cx="1714500" cy="1190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52" b="1" i="0">
                <a:solidFill>
                  <a:srgbClr val="1C2235"/>
                </a:solidFill>
                <a:latin typeface="Segoe UI"/>
              </a:rPr>
              <a:t>111 ₴</a:t>
            </a:r>
            <a:r>
              <a:rPr sz="600" b="0" i="0">
                <a:solidFill>
                  <a:srgbClr val="717890"/>
                </a:solidFill>
                <a:latin typeface="Segoe UI"/>
              </a:rPr>
              <a:t>   типова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80176" y="1927019"/>
            <a:ext cx="1714500" cy="974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4 поз. · 25–40 г · 81–193 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26096" y="1814430"/>
            <a:ext cx="1097280" cy="2165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52" b="1" i="0">
                <a:solidFill>
                  <a:srgbClr val="C4820A"/>
                </a:solidFill>
                <a:latin typeface="Segoe UI"/>
              </a:rPr>
              <a:t>−6 ₴</a:t>
            </a:r>
            <a:r>
              <a:rPr sz="608" b="0" i="0">
                <a:solidFill>
                  <a:srgbClr val="C4820A"/>
                </a:solidFill>
                <a:latin typeface="Segoe UI"/>
              </a:rPr>
              <a:t>  -5 %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25196" y="2030947"/>
            <a:ext cx="8298180" cy="216516"/>
          </a:xfrm>
          <a:prstGeom prst="rect">
            <a:avLst/>
          </a:prstGeom>
          <a:solidFill>
            <a:srgbClr val="F8F9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25196" y="2030947"/>
            <a:ext cx="34290" cy="216516"/>
          </a:xfrm>
          <a:prstGeom prst="rect">
            <a:avLst/>
          </a:prstGeom>
          <a:solidFill>
            <a:srgbClr val="B23A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7" name="Picture 46" descr="zek_tempura_mala3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2613" y="2044663"/>
            <a:ext cx="145224" cy="189084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939546" y="2030947"/>
            <a:ext cx="1371600" cy="2165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40" b="1" i="0">
                <a:solidFill>
                  <a:srgbClr val="303A5D"/>
                </a:solidFill>
                <a:latin typeface="Segoe UI"/>
              </a:rPr>
              <a:t>Tempura Mala Crawfish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379726" y="2030947"/>
            <a:ext cx="411480" cy="2165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24" b="0" i="0">
                <a:solidFill>
                  <a:srgbClr val="717890"/>
                </a:solidFill>
                <a:latin typeface="Segoe UI"/>
              </a:rPr>
              <a:t>30 г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825496" y="2030947"/>
            <a:ext cx="480060" cy="2165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24" b="0" i="0">
                <a:solidFill>
                  <a:srgbClr val="717890"/>
                </a:solidFill>
                <a:latin typeface="Segoe UI"/>
              </a:rPr>
              <a:t>$0,430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39846" y="2030947"/>
            <a:ext cx="514350" cy="2165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24" b="0" i="0">
                <a:solidFill>
                  <a:srgbClr val="717890"/>
                </a:solidFill>
                <a:latin typeface="Segoe UI"/>
              </a:rPr>
              <a:t>33,9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922776" y="2030947"/>
            <a:ext cx="582930" cy="2165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24" b="0" i="0">
                <a:solidFill>
                  <a:srgbClr val="717890"/>
                </a:solidFill>
                <a:latin typeface="Segoe UI"/>
              </a:rPr>
              <a:t>40′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39996" y="2030947"/>
            <a:ext cx="617220" cy="2165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24" b="1" i="0">
                <a:solidFill>
                  <a:srgbClr val="1C2235"/>
                </a:solidFill>
                <a:latin typeface="Segoe UI"/>
              </a:rPr>
              <a:t>75 ₴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225796" y="2030947"/>
            <a:ext cx="582930" cy="2165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52" b="1" i="0">
                <a:solidFill>
                  <a:srgbClr val="1C2235"/>
                </a:solidFill>
                <a:latin typeface="Segoe UI"/>
              </a:rPr>
              <a:t>105 ₴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980176" y="2044663"/>
            <a:ext cx="1714500" cy="1190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52" b="1" i="0">
                <a:solidFill>
                  <a:srgbClr val="1C2235"/>
                </a:solidFill>
                <a:latin typeface="Segoe UI"/>
              </a:rPr>
              <a:t>111 ₴</a:t>
            </a:r>
            <a:r>
              <a:rPr sz="600" b="0" i="0">
                <a:solidFill>
                  <a:srgbClr val="717890"/>
                </a:solidFill>
                <a:latin typeface="Segoe UI"/>
              </a:rPr>
              <a:t>   типова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980176" y="2143536"/>
            <a:ext cx="1714500" cy="974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4 поз. · 25–40 г · 81–193 ₴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626096" y="2030947"/>
            <a:ext cx="1097280" cy="2165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52" b="1" i="0">
                <a:solidFill>
                  <a:srgbClr val="C4820A"/>
                </a:solidFill>
                <a:latin typeface="Segoe UI"/>
              </a:rPr>
              <a:t>−6 ₴</a:t>
            </a:r>
            <a:r>
              <a:rPr sz="608" b="0" i="0">
                <a:solidFill>
                  <a:srgbClr val="C4820A"/>
                </a:solidFill>
                <a:latin typeface="Segoe UI"/>
              </a:rPr>
              <a:t>  -5 %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25196" y="2247464"/>
            <a:ext cx="34290" cy="216516"/>
          </a:xfrm>
          <a:prstGeom prst="rect">
            <a:avLst/>
          </a:prstGeom>
          <a:solidFill>
            <a:srgbClr val="B23A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59" name="Picture 58" descr="zek_tempura_corn5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2126" y="2261180"/>
            <a:ext cx="146199" cy="189084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939546" y="2247464"/>
            <a:ext cx="1371600" cy="2165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40" b="1" i="0">
                <a:solidFill>
                  <a:srgbClr val="303A5D"/>
                </a:solidFill>
                <a:latin typeface="Segoe UI"/>
              </a:rPr>
              <a:t>Tempura Corn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379726" y="2247464"/>
            <a:ext cx="411480" cy="2165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24" b="0" i="0">
                <a:solidFill>
                  <a:srgbClr val="717890"/>
                </a:solidFill>
                <a:latin typeface="Segoe UI"/>
              </a:rPr>
              <a:t>50 г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825496" y="2247464"/>
            <a:ext cx="480060" cy="2165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24" b="0" i="0">
                <a:solidFill>
                  <a:srgbClr val="717890"/>
                </a:solidFill>
                <a:latin typeface="Segoe UI"/>
              </a:rPr>
              <a:t>$0,650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339846" y="2247464"/>
            <a:ext cx="514350" cy="2165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24" b="0" i="0">
                <a:solidFill>
                  <a:srgbClr val="717890"/>
                </a:solidFill>
                <a:latin typeface="Segoe UI"/>
              </a:rPr>
              <a:t>51,2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922776" y="2247464"/>
            <a:ext cx="582930" cy="2165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24" b="0" i="0">
                <a:solidFill>
                  <a:srgbClr val="717890"/>
                </a:solidFill>
                <a:latin typeface="Segoe UI"/>
              </a:rPr>
              <a:t>40′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539996" y="2247464"/>
            <a:ext cx="617220" cy="2165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24" b="1" i="0">
                <a:solidFill>
                  <a:srgbClr val="1C2235"/>
                </a:solidFill>
                <a:latin typeface="Segoe UI"/>
              </a:rPr>
              <a:t>114 ₴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225796" y="2247464"/>
            <a:ext cx="582930" cy="2165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52" b="1" i="0">
                <a:solidFill>
                  <a:srgbClr val="1C2235"/>
                </a:solidFill>
                <a:latin typeface="Segoe UI"/>
              </a:rPr>
              <a:t>159 ₴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980176" y="2261180"/>
            <a:ext cx="1714500" cy="1190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52" b="1" i="0">
                <a:solidFill>
                  <a:srgbClr val="1C2235"/>
                </a:solidFill>
                <a:latin typeface="Segoe UI"/>
              </a:rPr>
              <a:t>135 ₴</a:t>
            </a:r>
            <a:r>
              <a:rPr sz="600" b="0" i="0">
                <a:solidFill>
                  <a:srgbClr val="717890"/>
                </a:solidFill>
                <a:latin typeface="Segoe UI"/>
              </a:rPr>
              <a:t>   типова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980176" y="2360053"/>
            <a:ext cx="1714500" cy="974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5 поз. · 25–59 г · 81–528 ₴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626096" y="2247464"/>
            <a:ext cx="1097280" cy="2165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52" b="1" i="0">
                <a:solidFill>
                  <a:srgbClr val="C4820A"/>
                </a:solidFill>
                <a:latin typeface="Segoe UI"/>
              </a:rPr>
              <a:t>+24 ₴</a:t>
            </a:r>
            <a:r>
              <a:rPr sz="608" b="0" i="0">
                <a:solidFill>
                  <a:srgbClr val="C4820A"/>
                </a:solidFill>
                <a:latin typeface="Segoe UI"/>
              </a:rPr>
              <a:t>  +18 %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25196" y="2463981"/>
            <a:ext cx="8298180" cy="216516"/>
          </a:xfrm>
          <a:prstGeom prst="rect">
            <a:avLst/>
          </a:prstGeom>
          <a:solidFill>
            <a:srgbClr val="F8F9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425196" y="2463981"/>
            <a:ext cx="34290" cy="216516"/>
          </a:xfrm>
          <a:prstGeom prst="rect">
            <a:avLst/>
          </a:prstGeom>
          <a:solidFill>
            <a:srgbClr val="B23A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72" name="Picture 71" descr="zek_tempura_wasabi5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2613" y="2477697"/>
            <a:ext cx="145224" cy="189084"/>
          </a:xfrm>
          <a:prstGeom prst="rect">
            <a:avLst/>
          </a:prstGeom>
        </p:spPr>
      </p:pic>
      <p:sp>
        <p:nvSpPr>
          <p:cNvPr id="73" name="TextBox 72"/>
          <p:cNvSpPr txBox="1"/>
          <p:nvPr/>
        </p:nvSpPr>
        <p:spPr>
          <a:xfrm>
            <a:off x="939546" y="2463981"/>
            <a:ext cx="1371600" cy="2165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40" b="1" i="0">
                <a:solidFill>
                  <a:srgbClr val="303A5D"/>
                </a:solidFill>
                <a:latin typeface="Segoe UI"/>
              </a:rPr>
              <a:t>Tempura Wasabi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379726" y="2463981"/>
            <a:ext cx="411480" cy="2165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24" b="0" i="0">
                <a:solidFill>
                  <a:srgbClr val="717890"/>
                </a:solidFill>
                <a:latin typeface="Segoe UI"/>
              </a:rPr>
              <a:t>50 г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825496" y="2463981"/>
            <a:ext cx="480060" cy="2165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24" b="0" i="0">
                <a:solidFill>
                  <a:srgbClr val="717890"/>
                </a:solidFill>
                <a:latin typeface="Segoe UI"/>
              </a:rPr>
              <a:t>$0,650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339846" y="2463981"/>
            <a:ext cx="514350" cy="2165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24" b="0" i="0">
                <a:solidFill>
                  <a:srgbClr val="717890"/>
                </a:solidFill>
                <a:latin typeface="Segoe UI"/>
              </a:rPr>
              <a:t>51,2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922776" y="2463981"/>
            <a:ext cx="582930" cy="2165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24" b="0" i="0">
                <a:solidFill>
                  <a:srgbClr val="717890"/>
                </a:solidFill>
                <a:latin typeface="Segoe UI"/>
              </a:rPr>
              <a:t>40′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39996" y="2463981"/>
            <a:ext cx="617220" cy="2165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24" b="1" i="0">
                <a:solidFill>
                  <a:srgbClr val="1C2235"/>
                </a:solidFill>
                <a:latin typeface="Segoe UI"/>
              </a:rPr>
              <a:t>114 ₴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225796" y="2463981"/>
            <a:ext cx="582930" cy="2165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52" b="1" i="0">
                <a:solidFill>
                  <a:srgbClr val="1C2235"/>
                </a:solidFill>
                <a:latin typeface="Segoe UI"/>
              </a:rPr>
              <a:t>159 ₴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980176" y="2477697"/>
            <a:ext cx="1714500" cy="1190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52" b="1" i="0">
                <a:solidFill>
                  <a:srgbClr val="1C2235"/>
                </a:solidFill>
                <a:latin typeface="Segoe UI"/>
              </a:rPr>
              <a:t>135 ₴</a:t>
            </a:r>
            <a:r>
              <a:rPr sz="600" b="0" i="0">
                <a:solidFill>
                  <a:srgbClr val="717890"/>
                </a:solidFill>
                <a:latin typeface="Segoe UI"/>
              </a:rPr>
              <a:t>   типова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980176" y="2576570"/>
            <a:ext cx="1714500" cy="974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5 поз. · 25–59 г · 81–528 ₴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626096" y="2463981"/>
            <a:ext cx="1097280" cy="2165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52" b="1" i="0">
                <a:solidFill>
                  <a:srgbClr val="C4820A"/>
                </a:solidFill>
                <a:latin typeface="Segoe UI"/>
              </a:rPr>
              <a:t>+24 ₴</a:t>
            </a:r>
            <a:r>
              <a:rPr sz="608" b="0" i="0">
                <a:solidFill>
                  <a:srgbClr val="C4820A"/>
                </a:solidFill>
                <a:latin typeface="Segoe UI"/>
              </a:rPr>
              <a:t>  +18 %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25196" y="2680498"/>
            <a:ext cx="34290" cy="216516"/>
          </a:xfrm>
          <a:prstGeom prst="rect">
            <a:avLst/>
          </a:prstGeom>
          <a:solidFill>
            <a:srgbClr val="B23A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84" name="Picture 83" descr="zek_tempura_mala5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3588" y="2694214"/>
            <a:ext cx="143275" cy="189084"/>
          </a:xfrm>
          <a:prstGeom prst="rect">
            <a:avLst/>
          </a:prstGeom>
        </p:spPr>
      </p:pic>
      <p:sp>
        <p:nvSpPr>
          <p:cNvPr id="85" name="TextBox 84"/>
          <p:cNvSpPr txBox="1"/>
          <p:nvPr/>
        </p:nvSpPr>
        <p:spPr>
          <a:xfrm>
            <a:off x="939546" y="2680498"/>
            <a:ext cx="1371600" cy="2165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40" b="1" i="0">
                <a:solidFill>
                  <a:srgbClr val="303A5D"/>
                </a:solidFill>
                <a:latin typeface="Segoe UI"/>
              </a:rPr>
              <a:t>Tempura Mala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379726" y="2680498"/>
            <a:ext cx="411480" cy="2165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24" b="0" i="0">
                <a:solidFill>
                  <a:srgbClr val="717890"/>
                </a:solidFill>
                <a:latin typeface="Segoe UI"/>
              </a:rPr>
              <a:t>50 г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825496" y="2680498"/>
            <a:ext cx="480060" cy="2165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24" b="0" i="0">
                <a:solidFill>
                  <a:srgbClr val="717890"/>
                </a:solidFill>
                <a:latin typeface="Segoe UI"/>
              </a:rPr>
              <a:t>$0,650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339846" y="2680498"/>
            <a:ext cx="514350" cy="2165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24" b="0" i="0">
                <a:solidFill>
                  <a:srgbClr val="717890"/>
                </a:solidFill>
                <a:latin typeface="Segoe UI"/>
              </a:rPr>
              <a:t>51,2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922776" y="2680498"/>
            <a:ext cx="582930" cy="2165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24" b="0" i="0">
                <a:solidFill>
                  <a:srgbClr val="717890"/>
                </a:solidFill>
                <a:latin typeface="Segoe UI"/>
              </a:rPr>
              <a:t>40′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539996" y="2680498"/>
            <a:ext cx="617220" cy="2165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24" b="1" i="0">
                <a:solidFill>
                  <a:srgbClr val="1C2235"/>
                </a:solidFill>
                <a:latin typeface="Segoe UI"/>
              </a:rPr>
              <a:t>114 ₴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225796" y="2680498"/>
            <a:ext cx="582930" cy="2165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52" b="1" i="0">
                <a:solidFill>
                  <a:srgbClr val="1C2235"/>
                </a:solidFill>
                <a:latin typeface="Segoe UI"/>
              </a:rPr>
              <a:t>159 ₴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980176" y="2694214"/>
            <a:ext cx="1714500" cy="1190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52" b="1" i="0">
                <a:solidFill>
                  <a:srgbClr val="1C2235"/>
                </a:solidFill>
                <a:latin typeface="Segoe UI"/>
              </a:rPr>
              <a:t>135 ₴</a:t>
            </a:r>
            <a:r>
              <a:rPr sz="600" b="0" i="0">
                <a:solidFill>
                  <a:srgbClr val="717890"/>
                </a:solidFill>
                <a:latin typeface="Segoe UI"/>
              </a:rPr>
              <a:t>   типова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980176" y="2793087"/>
            <a:ext cx="1714500" cy="974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5 поз. · 25–59 г · 81–528 ₴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626096" y="2680498"/>
            <a:ext cx="1097280" cy="2165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52" b="1" i="0">
                <a:solidFill>
                  <a:srgbClr val="C4820A"/>
                </a:solidFill>
                <a:latin typeface="Segoe UI"/>
              </a:rPr>
              <a:t>+24 ₴</a:t>
            </a:r>
            <a:r>
              <a:rPr sz="608" b="0" i="0">
                <a:solidFill>
                  <a:srgbClr val="C4820A"/>
                </a:solidFill>
                <a:latin typeface="Segoe UI"/>
              </a:rPr>
              <a:t>  +18 %</a:t>
            </a:r>
          </a:p>
        </p:txBody>
      </p:sp>
      <p:sp>
        <p:nvSpPr>
          <p:cNvPr id="95" name="Rectangle 94"/>
          <p:cNvSpPr/>
          <p:nvPr/>
        </p:nvSpPr>
        <p:spPr>
          <a:xfrm>
            <a:off x="425196" y="2897015"/>
            <a:ext cx="8298180" cy="216516"/>
          </a:xfrm>
          <a:prstGeom prst="rect">
            <a:avLst/>
          </a:prstGeom>
          <a:solidFill>
            <a:srgbClr val="F8F9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425196" y="2897015"/>
            <a:ext cx="34290" cy="216516"/>
          </a:xfrm>
          <a:prstGeom prst="rect">
            <a:avLst/>
          </a:prstGeom>
          <a:solidFill>
            <a:srgbClr val="B23A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97" name="Picture 96" descr="zek_sandwich_meat25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4811" y="2910731"/>
            <a:ext cx="140828" cy="189084"/>
          </a:xfrm>
          <a:prstGeom prst="rect">
            <a:avLst/>
          </a:prstGeom>
        </p:spPr>
      </p:pic>
      <p:sp>
        <p:nvSpPr>
          <p:cNvPr id="98" name="TextBox 97"/>
          <p:cNvSpPr txBox="1"/>
          <p:nvPr/>
        </p:nvSpPr>
        <p:spPr>
          <a:xfrm>
            <a:off x="939546" y="2897015"/>
            <a:ext cx="1371600" cy="2165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40" b="1" i="0">
                <a:solidFill>
                  <a:srgbClr val="303A5D"/>
                </a:solidFill>
                <a:latin typeface="Segoe UI"/>
              </a:rPr>
              <a:t>Sandwich Meat Floss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2379726" y="2897015"/>
            <a:ext cx="411480" cy="2165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24" b="0" i="0">
                <a:solidFill>
                  <a:srgbClr val="717890"/>
                </a:solidFill>
                <a:latin typeface="Segoe UI"/>
              </a:rPr>
              <a:t>25 г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2825496" y="2897015"/>
            <a:ext cx="480060" cy="2165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24" b="0" i="0">
                <a:solidFill>
                  <a:srgbClr val="717890"/>
                </a:solidFill>
                <a:latin typeface="Segoe UI"/>
              </a:rPr>
              <a:t>$0,310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3339846" y="2897015"/>
            <a:ext cx="514350" cy="2165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24" b="0" i="0">
                <a:solidFill>
                  <a:srgbClr val="717890"/>
                </a:solidFill>
                <a:latin typeface="Segoe UI"/>
              </a:rPr>
              <a:t>25,5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3922776" y="2897015"/>
            <a:ext cx="582930" cy="2165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24" b="0" i="0">
                <a:solidFill>
                  <a:srgbClr val="717890"/>
                </a:solidFill>
                <a:latin typeface="Segoe UI"/>
              </a:rPr>
              <a:t>40′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4539996" y="2897015"/>
            <a:ext cx="617220" cy="2165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24" b="1" i="0">
                <a:solidFill>
                  <a:srgbClr val="1C2235"/>
                </a:solidFill>
                <a:latin typeface="Segoe UI"/>
              </a:rPr>
              <a:t>57 ₴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5225796" y="2897015"/>
            <a:ext cx="582930" cy="2165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52" b="1" i="0">
                <a:solidFill>
                  <a:srgbClr val="1C2235"/>
                </a:solidFill>
                <a:latin typeface="Segoe UI"/>
              </a:rPr>
              <a:t>79 ₴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5980176" y="2910731"/>
            <a:ext cx="1714500" cy="1190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52" b="1" i="0">
                <a:solidFill>
                  <a:srgbClr val="1C2235"/>
                </a:solidFill>
                <a:latin typeface="Segoe UI"/>
              </a:rPr>
              <a:t>72 ₴</a:t>
            </a:r>
            <a:r>
              <a:rPr sz="600" b="0" i="0">
                <a:solidFill>
                  <a:srgbClr val="717890"/>
                </a:solidFill>
                <a:latin typeface="Segoe UI"/>
              </a:rPr>
              <a:t>   типова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5980176" y="3009603"/>
            <a:ext cx="1714500" cy="974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11 поз. · 15–25 г · 58–145 ₴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7626096" y="2897015"/>
            <a:ext cx="1097280" cy="2165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52" b="1" i="0">
                <a:solidFill>
                  <a:srgbClr val="C4820A"/>
                </a:solidFill>
                <a:latin typeface="Segoe UI"/>
              </a:rPr>
              <a:t>+7 ₴</a:t>
            </a:r>
            <a:r>
              <a:rPr sz="608" b="0" i="0">
                <a:solidFill>
                  <a:srgbClr val="C4820A"/>
                </a:solidFill>
                <a:latin typeface="Segoe UI"/>
              </a:rPr>
              <a:t>  +10 %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425196" y="3113532"/>
            <a:ext cx="34290" cy="216516"/>
          </a:xfrm>
          <a:prstGeom prst="rect">
            <a:avLst/>
          </a:prstGeom>
          <a:solidFill>
            <a:srgbClr val="B23A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09" name="Picture 108" descr="zek_sandwich_sesame25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6195" y="3127248"/>
            <a:ext cx="138061" cy="189084"/>
          </a:xfrm>
          <a:prstGeom prst="rect">
            <a:avLst/>
          </a:prstGeom>
        </p:spPr>
      </p:pic>
      <p:sp>
        <p:nvSpPr>
          <p:cNvPr id="110" name="TextBox 109"/>
          <p:cNvSpPr txBox="1"/>
          <p:nvPr/>
        </p:nvSpPr>
        <p:spPr>
          <a:xfrm>
            <a:off x="939546" y="3113532"/>
            <a:ext cx="1371600" cy="2165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40" b="1" i="0">
                <a:solidFill>
                  <a:srgbClr val="303A5D"/>
                </a:solidFill>
                <a:latin typeface="Segoe UI"/>
              </a:rPr>
              <a:t>Sandwich Sesame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2379726" y="3113532"/>
            <a:ext cx="411480" cy="2165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24" b="0" i="0">
                <a:solidFill>
                  <a:srgbClr val="717890"/>
                </a:solidFill>
                <a:latin typeface="Segoe UI"/>
              </a:rPr>
              <a:t>25 г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2825496" y="3113532"/>
            <a:ext cx="480060" cy="2165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24" b="0" i="0">
                <a:solidFill>
                  <a:srgbClr val="717890"/>
                </a:solidFill>
                <a:latin typeface="Segoe UI"/>
              </a:rPr>
              <a:t>$0,310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3339846" y="3113532"/>
            <a:ext cx="514350" cy="2165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24" b="0" i="0">
                <a:solidFill>
                  <a:srgbClr val="717890"/>
                </a:solidFill>
                <a:latin typeface="Segoe UI"/>
              </a:rPr>
              <a:t>25,5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3922776" y="3113532"/>
            <a:ext cx="582930" cy="2165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24" b="0" i="0">
                <a:solidFill>
                  <a:srgbClr val="717890"/>
                </a:solidFill>
                <a:latin typeface="Segoe UI"/>
              </a:rPr>
              <a:t>40′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4539996" y="3113532"/>
            <a:ext cx="617220" cy="2165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24" b="1" i="0">
                <a:solidFill>
                  <a:srgbClr val="1C2235"/>
                </a:solidFill>
                <a:latin typeface="Segoe UI"/>
              </a:rPr>
              <a:t>57 ₴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5225796" y="3113532"/>
            <a:ext cx="582930" cy="2165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52" b="1" i="0">
                <a:solidFill>
                  <a:srgbClr val="1C2235"/>
                </a:solidFill>
                <a:latin typeface="Segoe UI"/>
              </a:rPr>
              <a:t>79 ₴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5980176" y="3127248"/>
            <a:ext cx="1714500" cy="1190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52" b="1" i="0">
                <a:solidFill>
                  <a:srgbClr val="1C2235"/>
                </a:solidFill>
                <a:latin typeface="Segoe UI"/>
              </a:rPr>
              <a:t>72 ₴</a:t>
            </a:r>
            <a:r>
              <a:rPr sz="600" b="0" i="0">
                <a:solidFill>
                  <a:srgbClr val="717890"/>
                </a:solidFill>
                <a:latin typeface="Segoe UI"/>
              </a:rPr>
              <a:t>   типова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5980176" y="3226120"/>
            <a:ext cx="1714500" cy="974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11 поз. · 15–25 г · 58–145 ₴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7626096" y="3113532"/>
            <a:ext cx="1097280" cy="2165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52" b="1" i="0">
                <a:solidFill>
                  <a:srgbClr val="C4820A"/>
                </a:solidFill>
                <a:latin typeface="Segoe UI"/>
              </a:rPr>
              <a:t>+7 ₴</a:t>
            </a:r>
            <a:r>
              <a:rPr sz="608" b="0" i="0">
                <a:solidFill>
                  <a:srgbClr val="C4820A"/>
                </a:solidFill>
                <a:latin typeface="Segoe UI"/>
              </a:rPr>
              <a:t>  +10 %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425196" y="3330048"/>
            <a:ext cx="8298180" cy="216516"/>
          </a:xfrm>
          <a:prstGeom prst="rect">
            <a:avLst/>
          </a:prstGeom>
          <a:solidFill>
            <a:srgbClr val="F8F9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425196" y="3330048"/>
            <a:ext cx="34290" cy="216516"/>
          </a:xfrm>
          <a:prstGeom prst="rect">
            <a:avLst/>
          </a:prstGeom>
          <a:solidFill>
            <a:srgbClr val="B23A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22" name="Picture 121" descr="zek_topping_chicken35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95176" y="3343764"/>
            <a:ext cx="140099" cy="189084"/>
          </a:xfrm>
          <a:prstGeom prst="rect">
            <a:avLst/>
          </a:prstGeom>
        </p:spPr>
      </p:pic>
      <p:sp>
        <p:nvSpPr>
          <p:cNvPr id="123" name="TextBox 122"/>
          <p:cNvSpPr txBox="1"/>
          <p:nvPr/>
        </p:nvSpPr>
        <p:spPr>
          <a:xfrm>
            <a:off x="939546" y="3330048"/>
            <a:ext cx="1371600" cy="2165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40" b="1" i="0">
                <a:solidFill>
                  <a:srgbClr val="303A5D"/>
                </a:solidFill>
                <a:latin typeface="Segoe UI"/>
              </a:rPr>
              <a:t>Topping Chicken Floss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2379726" y="3330048"/>
            <a:ext cx="411480" cy="2165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24" b="0" i="0">
                <a:solidFill>
                  <a:srgbClr val="717890"/>
                </a:solidFill>
                <a:latin typeface="Segoe UI"/>
              </a:rPr>
              <a:t>35 г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2825496" y="3330048"/>
            <a:ext cx="480060" cy="2165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24" b="0" i="0">
                <a:solidFill>
                  <a:srgbClr val="717890"/>
                </a:solidFill>
                <a:latin typeface="Segoe UI"/>
              </a:rPr>
              <a:t>$0,400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3339846" y="3330048"/>
            <a:ext cx="514350" cy="2165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24" b="0" i="0">
                <a:solidFill>
                  <a:srgbClr val="717890"/>
                </a:solidFill>
                <a:latin typeface="Segoe UI"/>
              </a:rPr>
              <a:t>32,9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3922776" y="3330048"/>
            <a:ext cx="582930" cy="2165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24" b="0" i="0">
                <a:solidFill>
                  <a:srgbClr val="717890"/>
                </a:solidFill>
                <a:latin typeface="Segoe UI"/>
              </a:rPr>
              <a:t>40′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4539996" y="3330048"/>
            <a:ext cx="617220" cy="2165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24" b="1" i="0">
                <a:solidFill>
                  <a:srgbClr val="1C2235"/>
                </a:solidFill>
                <a:latin typeface="Segoe UI"/>
              </a:rPr>
              <a:t>73 ₴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5225796" y="3330048"/>
            <a:ext cx="582930" cy="2165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52" b="1" i="0">
                <a:solidFill>
                  <a:srgbClr val="1C2235"/>
                </a:solidFill>
                <a:latin typeface="Segoe UI"/>
              </a:rPr>
              <a:t>102 ₴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5980176" y="3343764"/>
            <a:ext cx="1714500" cy="1190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52" b="1" i="0">
                <a:solidFill>
                  <a:srgbClr val="1C2235"/>
                </a:solidFill>
                <a:latin typeface="Segoe UI"/>
              </a:rPr>
              <a:t>186 ₴</a:t>
            </a:r>
            <a:r>
              <a:rPr sz="600" b="0" i="0">
                <a:solidFill>
                  <a:srgbClr val="717890"/>
                </a:solidFill>
                <a:latin typeface="Segoe UI"/>
              </a:rPr>
              <a:t>   типова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5980176" y="3442637"/>
            <a:ext cx="1714500" cy="974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3 поз. · 30–70 г · 105–232 ₴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7626096" y="3330048"/>
            <a:ext cx="1097280" cy="2165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52" b="1" i="0">
                <a:solidFill>
                  <a:srgbClr val="3E8E5A"/>
                </a:solidFill>
                <a:latin typeface="Segoe UI"/>
              </a:rPr>
              <a:t>−83 ₴</a:t>
            </a:r>
            <a:r>
              <a:rPr sz="608" b="0" i="0">
                <a:solidFill>
                  <a:srgbClr val="3E8E5A"/>
                </a:solidFill>
                <a:latin typeface="Segoe UI"/>
              </a:rPr>
              <a:t>  -45 %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425196" y="3546565"/>
            <a:ext cx="34290" cy="216516"/>
          </a:xfrm>
          <a:prstGeom prst="rect">
            <a:avLst/>
          </a:prstGeom>
          <a:solidFill>
            <a:srgbClr val="B23A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34" name="Picture 133" descr="zek_topping_veg35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95303" y="3560281"/>
            <a:ext cx="139844" cy="189084"/>
          </a:xfrm>
          <a:prstGeom prst="rect">
            <a:avLst/>
          </a:prstGeom>
        </p:spPr>
      </p:pic>
      <p:sp>
        <p:nvSpPr>
          <p:cNvPr id="135" name="TextBox 134"/>
          <p:cNvSpPr txBox="1"/>
          <p:nvPr/>
        </p:nvSpPr>
        <p:spPr>
          <a:xfrm>
            <a:off x="939546" y="3546565"/>
            <a:ext cx="1371600" cy="2165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40" b="1" i="0">
                <a:solidFill>
                  <a:srgbClr val="303A5D"/>
                </a:solidFill>
                <a:latin typeface="Segoe UI"/>
              </a:rPr>
              <a:t>Topping Vegetables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379726" y="3546565"/>
            <a:ext cx="411480" cy="2165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24" b="0" i="0">
                <a:solidFill>
                  <a:srgbClr val="717890"/>
                </a:solidFill>
                <a:latin typeface="Segoe UI"/>
              </a:rPr>
              <a:t>35 г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2825496" y="3546565"/>
            <a:ext cx="480060" cy="2165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24" b="0" i="0">
                <a:solidFill>
                  <a:srgbClr val="717890"/>
                </a:solidFill>
                <a:latin typeface="Segoe UI"/>
              </a:rPr>
              <a:t>$0,400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3339846" y="3546565"/>
            <a:ext cx="514350" cy="2165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24" b="0" i="0">
                <a:solidFill>
                  <a:srgbClr val="717890"/>
                </a:solidFill>
                <a:latin typeface="Segoe UI"/>
              </a:rPr>
              <a:t>31,5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3922776" y="3546565"/>
            <a:ext cx="582930" cy="2165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24" b="0" i="0">
                <a:solidFill>
                  <a:srgbClr val="717890"/>
                </a:solidFill>
                <a:latin typeface="Segoe UI"/>
              </a:rPr>
              <a:t>40′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4539996" y="3546565"/>
            <a:ext cx="617220" cy="2165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24" b="1" i="0">
                <a:solidFill>
                  <a:srgbClr val="1C2235"/>
                </a:solidFill>
                <a:latin typeface="Segoe UI"/>
              </a:rPr>
              <a:t>70 ₴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5225796" y="3546565"/>
            <a:ext cx="582930" cy="2165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52" b="1" i="0">
                <a:solidFill>
                  <a:srgbClr val="1C2235"/>
                </a:solidFill>
                <a:latin typeface="Segoe UI"/>
              </a:rPr>
              <a:t>98 ₴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5980176" y="3560281"/>
            <a:ext cx="1714500" cy="1190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52" b="1" i="0">
                <a:solidFill>
                  <a:srgbClr val="1C2235"/>
                </a:solidFill>
                <a:latin typeface="Segoe UI"/>
              </a:rPr>
              <a:t>186 ₴</a:t>
            </a:r>
            <a:r>
              <a:rPr sz="600" b="0" i="0">
                <a:solidFill>
                  <a:srgbClr val="717890"/>
                </a:solidFill>
                <a:latin typeface="Segoe UI"/>
              </a:rPr>
              <a:t>   типова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5980176" y="3659154"/>
            <a:ext cx="1714500" cy="974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3 поз. · 30–70 г · 105–232 ₴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7626096" y="3546565"/>
            <a:ext cx="1097280" cy="2165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52" b="1" i="0">
                <a:solidFill>
                  <a:srgbClr val="3E8E5A"/>
                </a:solidFill>
                <a:latin typeface="Segoe UI"/>
              </a:rPr>
              <a:t>−88 ₴</a:t>
            </a:r>
            <a:r>
              <a:rPr sz="608" b="0" i="0">
                <a:solidFill>
                  <a:srgbClr val="3E8E5A"/>
                </a:solidFill>
                <a:latin typeface="Segoe UI"/>
              </a:rPr>
              <a:t>  -47 %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425196" y="3763082"/>
            <a:ext cx="8298180" cy="216516"/>
          </a:xfrm>
          <a:prstGeom prst="rect">
            <a:avLst/>
          </a:prstGeom>
          <a:solidFill>
            <a:srgbClr val="F8F9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425196" y="3763082"/>
            <a:ext cx="34290" cy="216516"/>
          </a:xfrm>
          <a:prstGeom prst="rect">
            <a:avLst/>
          </a:prstGeom>
          <a:solidFill>
            <a:srgbClr val="B23A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47" name="Picture 146" descr="zek_topping_sesame35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96024" y="3776798"/>
            <a:ext cx="138402" cy="189084"/>
          </a:xfrm>
          <a:prstGeom prst="rect">
            <a:avLst/>
          </a:prstGeom>
        </p:spPr>
      </p:pic>
      <p:sp>
        <p:nvSpPr>
          <p:cNvPr id="148" name="TextBox 147"/>
          <p:cNvSpPr txBox="1"/>
          <p:nvPr/>
        </p:nvSpPr>
        <p:spPr>
          <a:xfrm>
            <a:off x="939546" y="3763082"/>
            <a:ext cx="1371600" cy="2165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40" b="1" i="0">
                <a:solidFill>
                  <a:srgbClr val="303A5D"/>
                </a:solidFill>
                <a:latin typeface="Segoe UI"/>
              </a:rPr>
              <a:t>Topping Sesame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379726" y="3763082"/>
            <a:ext cx="411480" cy="2165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24" b="0" i="0">
                <a:solidFill>
                  <a:srgbClr val="717890"/>
                </a:solidFill>
                <a:latin typeface="Segoe UI"/>
              </a:rPr>
              <a:t>35 г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2825496" y="3763082"/>
            <a:ext cx="480060" cy="2165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24" b="0" i="0">
                <a:solidFill>
                  <a:srgbClr val="717890"/>
                </a:solidFill>
                <a:latin typeface="Segoe UI"/>
              </a:rPr>
              <a:t>$0,400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3339846" y="3763082"/>
            <a:ext cx="514350" cy="2165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24" b="0" i="0">
                <a:solidFill>
                  <a:srgbClr val="717890"/>
                </a:solidFill>
                <a:latin typeface="Segoe UI"/>
              </a:rPr>
              <a:t>31,5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3922776" y="3763082"/>
            <a:ext cx="582930" cy="2165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24" b="0" i="0">
                <a:solidFill>
                  <a:srgbClr val="717890"/>
                </a:solidFill>
                <a:latin typeface="Segoe UI"/>
              </a:rPr>
              <a:t>40′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4539996" y="3763082"/>
            <a:ext cx="617220" cy="2165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24" b="1" i="0">
                <a:solidFill>
                  <a:srgbClr val="1C2235"/>
                </a:solidFill>
                <a:latin typeface="Segoe UI"/>
              </a:rPr>
              <a:t>70 ₴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5225796" y="3763082"/>
            <a:ext cx="582930" cy="2165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52" b="1" i="0">
                <a:solidFill>
                  <a:srgbClr val="1C2235"/>
                </a:solidFill>
                <a:latin typeface="Segoe UI"/>
              </a:rPr>
              <a:t>98 ₴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5980176" y="3776798"/>
            <a:ext cx="1714500" cy="1190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52" b="1" i="0">
                <a:solidFill>
                  <a:srgbClr val="1C2235"/>
                </a:solidFill>
                <a:latin typeface="Segoe UI"/>
              </a:rPr>
              <a:t>186 ₴</a:t>
            </a:r>
            <a:r>
              <a:rPr sz="600" b="0" i="0">
                <a:solidFill>
                  <a:srgbClr val="717890"/>
                </a:solidFill>
                <a:latin typeface="Segoe UI"/>
              </a:rPr>
              <a:t>   типова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5980176" y="3875671"/>
            <a:ext cx="1714500" cy="974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3 поз. · 30–70 г · 105–232 ₴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7626096" y="3763082"/>
            <a:ext cx="1097280" cy="2165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52" b="1" i="0">
                <a:solidFill>
                  <a:srgbClr val="3E8E5A"/>
                </a:solidFill>
                <a:latin typeface="Segoe UI"/>
              </a:rPr>
              <a:t>−88 ₴</a:t>
            </a:r>
            <a:r>
              <a:rPr sz="608" b="0" i="0">
                <a:solidFill>
                  <a:srgbClr val="3E8E5A"/>
                </a:solidFill>
                <a:latin typeface="Segoe UI"/>
              </a:rPr>
              <a:t>  -47 %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425196" y="3979599"/>
            <a:ext cx="34290" cy="216516"/>
          </a:xfrm>
          <a:prstGeom prst="rect">
            <a:avLst/>
          </a:prstGeom>
          <a:solidFill>
            <a:srgbClr val="B23A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59" name="Picture 158" descr="zek_topping_veg70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99923" y="3993315"/>
            <a:ext cx="130605" cy="189084"/>
          </a:xfrm>
          <a:prstGeom prst="rect">
            <a:avLst/>
          </a:prstGeom>
        </p:spPr>
      </p:pic>
      <p:sp>
        <p:nvSpPr>
          <p:cNvPr id="160" name="TextBox 159"/>
          <p:cNvSpPr txBox="1"/>
          <p:nvPr/>
        </p:nvSpPr>
        <p:spPr>
          <a:xfrm>
            <a:off x="939546" y="3979599"/>
            <a:ext cx="1371600" cy="2165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40" b="1" i="0">
                <a:solidFill>
                  <a:srgbClr val="303A5D"/>
                </a:solidFill>
                <a:latin typeface="Segoe UI"/>
              </a:rPr>
              <a:t>Topping Vegetables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2379726" y="3979599"/>
            <a:ext cx="411480" cy="2165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24" b="0" i="0">
                <a:solidFill>
                  <a:srgbClr val="717890"/>
                </a:solidFill>
                <a:latin typeface="Segoe UI"/>
              </a:rPr>
              <a:t>70 г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2825496" y="3979599"/>
            <a:ext cx="480060" cy="2165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24" b="0" i="0">
                <a:solidFill>
                  <a:srgbClr val="717890"/>
                </a:solidFill>
                <a:latin typeface="Segoe UI"/>
              </a:rPr>
              <a:t>$0,810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3339846" y="3979599"/>
            <a:ext cx="514350" cy="2165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24" b="0" i="0">
                <a:solidFill>
                  <a:srgbClr val="717890"/>
                </a:solidFill>
                <a:latin typeface="Segoe UI"/>
              </a:rPr>
              <a:t>63,9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3922776" y="3979599"/>
            <a:ext cx="582930" cy="2165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24" b="0" i="0">
                <a:solidFill>
                  <a:srgbClr val="717890"/>
                </a:solidFill>
                <a:latin typeface="Segoe UI"/>
              </a:rPr>
              <a:t>40′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4539996" y="3979599"/>
            <a:ext cx="617220" cy="2165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24" b="1" i="0">
                <a:solidFill>
                  <a:srgbClr val="1C2235"/>
                </a:solidFill>
                <a:latin typeface="Segoe UI"/>
              </a:rPr>
              <a:t>142 ₴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5225796" y="3979599"/>
            <a:ext cx="582930" cy="2165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52" b="1" i="0">
                <a:solidFill>
                  <a:srgbClr val="1C2235"/>
                </a:solidFill>
                <a:latin typeface="Segoe UI"/>
              </a:rPr>
              <a:t>199 ₴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5980176" y="3993315"/>
            <a:ext cx="1714500" cy="1190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52" b="1" i="0">
                <a:solidFill>
                  <a:srgbClr val="1C2235"/>
                </a:solidFill>
                <a:latin typeface="Segoe UI"/>
              </a:rPr>
              <a:t>186 ₴</a:t>
            </a:r>
            <a:r>
              <a:rPr sz="600" b="0" i="0">
                <a:solidFill>
                  <a:srgbClr val="717890"/>
                </a:solidFill>
                <a:latin typeface="Segoe UI"/>
              </a:rPr>
              <a:t>   типова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5980176" y="4092188"/>
            <a:ext cx="1714500" cy="974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3 поз. · 30–70 г · 105–232 ₴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7626096" y="3979599"/>
            <a:ext cx="1097280" cy="2165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52" b="1" i="0">
                <a:solidFill>
                  <a:srgbClr val="C4820A"/>
                </a:solidFill>
                <a:latin typeface="Segoe UI"/>
              </a:rPr>
              <a:t>+13 ₴</a:t>
            </a:r>
            <a:r>
              <a:rPr sz="608" b="0" i="0">
                <a:solidFill>
                  <a:srgbClr val="C4820A"/>
                </a:solidFill>
                <a:latin typeface="Segoe UI"/>
              </a:rPr>
              <a:t>  +7 %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425196" y="4196116"/>
            <a:ext cx="8298180" cy="216516"/>
          </a:xfrm>
          <a:prstGeom prst="rect">
            <a:avLst/>
          </a:prstGeom>
          <a:solidFill>
            <a:srgbClr val="F8F9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425196" y="4196116"/>
            <a:ext cx="34290" cy="216516"/>
          </a:xfrm>
          <a:prstGeom prst="rect">
            <a:avLst/>
          </a:prstGeom>
          <a:solidFill>
            <a:srgbClr val="B23A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72" name="Picture 171" descr="zek_topping_sesame70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99436" y="4209832"/>
            <a:ext cx="131579" cy="189084"/>
          </a:xfrm>
          <a:prstGeom prst="rect">
            <a:avLst/>
          </a:prstGeom>
        </p:spPr>
      </p:pic>
      <p:sp>
        <p:nvSpPr>
          <p:cNvPr id="173" name="TextBox 172"/>
          <p:cNvSpPr txBox="1"/>
          <p:nvPr/>
        </p:nvSpPr>
        <p:spPr>
          <a:xfrm>
            <a:off x="939546" y="4196116"/>
            <a:ext cx="1371600" cy="2165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40" b="1" i="0">
                <a:solidFill>
                  <a:srgbClr val="303A5D"/>
                </a:solidFill>
                <a:latin typeface="Segoe UI"/>
              </a:rPr>
              <a:t>Topping Sesame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2379726" y="4196116"/>
            <a:ext cx="411480" cy="2165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24" b="0" i="0">
                <a:solidFill>
                  <a:srgbClr val="717890"/>
                </a:solidFill>
                <a:latin typeface="Segoe UI"/>
              </a:rPr>
              <a:t>70 г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2825496" y="4196116"/>
            <a:ext cx="480060" cy="2165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24" b="0" i="0">
                <a:solidFill>
                  <a:srgbClr val="717890"/>
                </a:solidFill>
                <a:latin typeface="Segoe UI"/>
              </a:rPr>
              <a:t>$0,810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3339846" y="4196116"/>
            <a:ext cx="514350" cy="2165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24" b="0" i="0">
                <a:solidFill>
                  <a:srgbClr val="717890"/>
                </a:solidFill>
                <a:latin typeface="Segoe UI"/>
              </a:rPr>
              <a:t>63,9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3922776" y="4196116"/>
            <a:ext cx="582930" cy="2165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24" b="0" i="0">
                <a:solidFill>
                  <a:srgbClr val="717890"/>
                </a:solidFill>
                <a:latin typeface="Segoe UI"/>
              </a:rPr>
              <a:t>40′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4539996" y="4196116"/>
            <a:ext cx="617220" cy="2165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24" b="1" i="0">
                <a:solidFill>
                  <a:srgbClr val="1C2235"/>
                </a:solidFill>
                <a:latin typeface="Segoe UI"/>
              </a:rPr>
              <a:t>142 ₴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5225796" y="4196116"/>
            <a:ext cx="582930" cy="2165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52" b="1" i="0">
                <a:solidFill>
                  <a:srgbClr val="1C2235"/>
                </a:solidFill>
                <a:latin typeface="Segoe UI"/>
              </a:rPr>
              <a:t>199 ₴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5980176" y="4209832"/>
            <a:ext cx="1714500" cy="1190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52" b="1" i="0">
                <a:solidFill>
                  <a:srgbClr val="1C2235"/>
                </a:solidFill>
                <a:latin typeface="Segoe UI"/>
              </a:rPr>
              <a:t>186 ₴</a:t>
            </a:r>
            <a:r>
              <a:rPr sz="600" b="0" i="0">
                <a:solidFill>
                  <a:srgbClr val="717890"/>
                </a:solidFill>
                <a:latin typeface="Segoe UI"/>
              </a:rPr>
              <a:t>   типова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5980176" y="4308705"/>
            <a:ext cx="1714500" cy="974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3 поз. · 30–70 г · 105–232 ₴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7626096" y="4196116"/>
            <a:ext cx="1097280" cy="2165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52" b="1" i="0">
                <a:solidFill>
                  <a:srgbClr val="C4820A"/>
                </a:solidFill>
                <a:latin typeface="Segoe UI"/>
              </a:rPr>
              <a:t>+13 ₴</a:t>
            </a:r>
            <a:r>
              <a:rPr sz="608" b="0" i="0">
                <a:solidFill>
                  <a:srgbClr val="C4820A"/>
                </a:solidFill>
                <a:latin typeface="Segoe UI"/>
              </a:rPr>
              <a:t>  +7 %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425196" y="4412633"/>
            <a:ext cx="34290" cy="216516"/>
          </a:xfrm>
          <a:prstGeom prst="rect">
            <a:avLst/>
          </a:prstGeom>
          <a:solidFill>
            <a:srgbClr val="B23A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84" name="Picture 183" descr="zek_topping_chicken70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99436" y="4426349"/>
            <a:ext cx="131579" cy="189084"/>
          </a:xfrm>
          <a:prstGeom prst="rect">
            <a:avLst/>
          </a:prstGeom>
        </p:spPr>
      </p:pic>
      <p:sp>
        <p:nvSpPr>
          <p:cNvPr id="185" name="TextBox 184"/>
          <p:cNvSpPr txBox="1"/>
          <p:nvPr/>
        </p:nvSpPr>
        <p:spPr>
          <a:xfrm>
            <a:off x="939546" y="4412633"/>
            <a:ext cx="1371600" cy="2165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40" b="1" i="0">
                <a:solidFill>
                  <a:srgbClr val="303A5D"/>
                </a:solidFill>
                <a:latin typeface="Segoe UI"/>
              </a:rPr>
              <a:t>Topping Chicken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2379726" y="4412633"/>
            <a:ext cx="411480" cy="2165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24" b="0" i="0">
                <a:solidFill>
                  <a:srgbClr val="717890"/>
                </a:solidFill>
                <a:latin typeface="Segoe UI"/>
              </a:rPr>
              <a:t>70 г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2825496" y="4412633"/>
            <a:ext cx="480060" cy="2165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24" b="0" i="0">
                <a:solidFill>
                  <a:srgbClr val="717890"/>
                </a:solidFill>
                <a:latin typeface="Segoe UI"/>
              </a:rPr>
              <a:t>$0,810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3339846" y="4412633"/>
            <a:ext cx="514350" cy="2165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24" b="0" i="0">
                <a:solidFill>
                  <a:srgbClr val="717890"/>
                </a:solidFill>
                <a:latin typeface="Segoe UI"/>
              </a:rPr>
              <a:t>63,9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3922776" y="4412633"/>
            <a:ext cx="582930" cy="2165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24" b="0" i="0">
                <a:solidFill>
                  <a:srgbClr val="717890"/>
                </a:solidFill>
                <a:latin typeface="Segoe UI"/>
              </a:rPr>
              <a:t>40′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4539996" y="4412633"/>
            <a:ext cx="617220" cy="2165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24" b="1" i="0">
                <a:solidFill>
                  <a:srgbClr val="1C2235"/>
                </a:solidFill>
                <a:latin typeface="Segoe UI"/>
              </a:rPr>
              <a:t>142 ₴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5225796" y="4412633"/>
            <a:ext cx="582930" cy="2165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52" b="1" i="0">
                <a:solidFill>
                  <a:srgbClr val="1C2235"/>
                </a:solidFill>
                <a:latin typeface="Segoe UI"/>
              </a:rPr>
              <a:t>199 ₴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5980176" y="4426349"/>
            <a:ext cx="1714500" cy="1190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52" b="1" i="0">
                <a:solidFill>
                  <a:srgbClr val="1C2235"/>
                </a:solidFill>
                <a:latin typeface="Segoe UI"/>
              </a:rPr>
              <a:t>186 ₴</a:t>
            </a:r>
            <a:r>
              <a:rPr sz="600" b="0" i="0">
                <a:solidFill>
                  <a:srgbClr val="717890"/>
                </a:solidFill>
                <a:latin typeface="Segoe UI"/>
              </a:rPr>
              <a:t>   типова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5980176" y="4525221"/>
            <a:ext cx="1714500" cy="974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3 поз. · 30–70 г · 105–232 ₴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7626096" y="4412633"/>
            <a:ext cx="1097280" cy="2165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752" b="1" i="0">
                <a:solidFill>
                  <a:srgbClr val="C4820A"/>
                </a:solidFill>
                <a:latin typeface="Segoe UI"/>
              </a:rPr>
              <a:t>+13 ₴</a:t>
            </a:r>
            <a:r>
              <a:rPr sz="608" b="0" i="0">
                <a:solidFill>
                  <a:srgbClr val="C4820A"/>
                </a:solidFill>
                <a:latin typeface="Segoe UI"/>
              </a:rPr>
              <a:t>  +7 %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425196" y="4855464"/>
            <a:ext cx="829818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1">
                <a:solidFill>
                  <a:srgbClr val="717890"/>
                </a:solidFill>
                <a:latin typeface="Segoe UI"/>
              </a:rPr>
              <a:t>«Типова ціна» — медіана цін позицій того ж сегмента з близькою вагою (±45 %); «Різниця до ринку» = наша полиця − типова ціна. Розрахунок: курс 45 ₴/$, бонус мережі 25 %, наша маржа 30 %. СС з Self-Cost включає імпортний ПДВ (≈16 % СС).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977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3977" cy="795528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95528"/>
            <a:ext cx="9143977" cy="41148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" y="178308"/>
            <a:ext cx="1042416" cy="4526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728216" y="205740"/>
            <a:ext cx="61722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1" i="0" spc="30">
                <a:solidFill>
                  <a:srgbClr val="FFC95C"/>
                </a:solidFill>
                <a:latin typeface="Segoe UI"/>
              </a:rPr>
              <a:t>ПЕРЕВІРКА РОЗРАХУНКУ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28216" y="377190"/>
            <a:ext cx="61722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20" b="1" i="0">
                <a:solidFill>
                  <a:srgbClr val="FFFFFF"/>
                </a:solidFill>
                <a:latin typeface="Segoe UI"/>
              </a:rPr>
              <a:t>Перевірка: як з FOB виходить полиця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20990" y="301752"/>
            <a:ext cx="768096" cy="2263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360" b="1" i="0">
                <a:solidFill>
                  <a:srgbClr val="465382"/>
                </a:solidFill>
                <a:latin typeface="Segoe UI"/>
              </a:rPr>
              <a:t>37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5196" y="918972"/>
            <a:ext cx="8298180" cy="3086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72" b="0" i="0">
                <a:solidFill>
                  <a:srgbClr val="717890"/>
                </a:solidFill>
                <a:latin typeface="Segoe UI"/>
              </a:rPr>
              <a:t>Усі числа взято з вашого Self-Cost_Snacks (контейнер 40′, рядок вказано під назвою) і перераховано: собівартість = FOB + мито + імпортний ПДВ + транспорт + кредитні гроші; ціна мережі = собівартість ÷ 0,45; полиця = ціна мережі × 1,40.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5196" y="1337310"/>
            <a:ext cx="2023110" cy="246888"/>
          </a:xfrm>
          <a:prstGeom prst="rect">
            <a:avLst/>
          </a:prstGeom>
          <a:solidFill>
            <a:srgbClr val="B3621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7492" y="1392174"/>
            <a:ext cx="1885950" cy="150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SINGHA · NORIMAKI ORIGINAL 42 Г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5196" y="1584198"/>
            <a:ext cx="2023110" cy="323697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1208" y="1645920"/>
            <a:ext cx="1831086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 spc="20">
                <a:solidFill>
                  <a:srgbClr val="B36214"/>
                </a:solidFill>
                <a:latin typeface="Segoe UI"/>
              </a:rPr>
              <a:t>СОБІВАРТІСТЬ УПАКОВКИ · рядок 15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" y="1796796"/>
            <a:ext cx="7543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1C2235"/>
                </a:solidFill>
                <a:latin typeface="Segoe UI"/>
              </a:rPr>
              <a:t>FOB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82446" y="1824228"/>
            <a:ext cx="217396" cy="89154"/>
          </a:xfrm>
          <a:prstGeom prst="rect">
            <a:avLst/>
          </a:prstGeom>
          <a:solidFill>
            <a:srgbClr val="B3621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34132" y="1796796"/>
            <a:ext cx="9601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$0,770 · 34,65 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" y="1961388"/>
            <a:ext cx="7543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1C2235"/>
                </a:solidFill>
                <a:latin typeface="Segoe UI"/>
              </a:rPr>
              <a:t>Мито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282446" y="1988820"/>
            <a:ext cx="24387" cy="89154"/>
          </a:xfrm>
          <a:prstGeom prst="rect">
            <a:avLst/>
          </a:prstGeom>
          <a:solidFill>
            <a:srgbClr val="DDB89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41124" y="1961388"/>
            <a:ext cx="9601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$0,086 · 3,89 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" y="2125980"/>
            <a:ext cx="7543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1C2235"/>
                </a:solidFill>
                <a:latin typeface="Segoe UI"/>
              </a:rPr>
              <a:t>Імпортний ПДВ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282446" y="2153412"/>
            <a:ext cx="53653" cy="89154"/>
          </a:xfrm>
          <a:prstGeom prst="rect">
            <a:avLst/>
          </a:prstGeom>
          <a:solidFill>
            <a:srgbClr val="DDB89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70389" y="2125980"/>
            <a:ext cx="9601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$0,190 · 8,55 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8" y="2290572"/>
            <a:ext cx="7543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1C2235"/>
                </a:solidFill>
                <a:latin typeface="Segoe UI"/>
              </a:rPr>
              <a:t>Транспорт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282446" y="2318004"/>
            <a:ext cx="39097" cy="89154"/>
          </a:xfrm>
          <a:prstGeom prst="rect">
            <a:avLst/>
          </a:prstGeom>
          <a:solidFill>
            <a:srgbClr val="DDB89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55834" y="2290572"/>
            <a:ext cx="9601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$0,138 · 6,23 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1208" y="2455164"/>
            <a:ext cx="7543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1C2235"/>
                </a:solidFill>
                <a:latin typeface="Segoe UI"/>
              </a:rPr>
              <a:t>Кредитні гроші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282446" y="2482596"/>
            <a:ext cx="20574" cy="89154"/>
          </a:xfrm>
          <a:prstGeom prst="rect">
            <a:avLst/>
          </a:prstGeom>
          <a:solidFill>
            <a:srgbClr val="DDB89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25099" y="2455164"/>
            <a:ext cx="9601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$0,030 · 1,33 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21208" y="2640330"/>
            <a:ext cx="1831086" cy="8229"/>
          </a:xfrm>
          <a:prstGeom prst="rect">
            <a:avLst/>
          </a:prstGeom>
          <a:solidFill>
            <a:srgbClr val="1C223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1208" y="2674620"/>
            <a:ext cx="183108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4" b="1" i="0">
                <a:solidFill>
                  <a:srgbClr val="1C2235"/>
                </a:solidFill>
                <a:latin typeface="Segoe UI"/>
              </a:rPr>
              <a:t>СС = $1,2145 × 45 = 54,65 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1208" y="2962656"/>
            <a:ext cx="6858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1C2235"/>
                </a:solidFill>
                <a:latin typeface="Segoe UI"/>
              </a:rPr>
              <a:t>Ціна мережі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0996" y="2962656"/>
            <a:ext cx="124129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00" b="1" i="0">
                <a:solidFill>
                  <a:srgbClr val="1C2235"/>
                </a:solidFill>
                <a:latin typeface="Segoe UI"/>
              </a:rPr>
              <a:t>54,65 ÷ 0,45 = 121,45 ₴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1208" y="3134106"/>
            <a:ext cx="6858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1C2235"/>
                </a:solidFill>
                <a:latin typeface="Segoe UI"/>
              </a:rPr>
              <a:t>Бонус 25 %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0996" y="3134106"/>
            <a:ext cx="124129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00" b="0" i="0">
                <a:solidFill>
                  <a:srgbClr val="1C2235"/>
                </a:solidFill>
                <a:latin typeface="Segoe UI"/>
              </a:rPr>
              <a:t>30,36 ₴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1208" y="3305556"/>
            <a:ext cx="6858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1C2235"/>
                </a:solidFill>
                <a:latin typeface="Segoe UI"/>
              </a:rPr>
              <a:t>Маржа 30 %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0996" y="3305556"/>
            <a:ext cx="124129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00" b="0" i="0">
                <a:solidFill>
                  <a:srgbClr val="1C2235"/>
                </a:solidFill>
                <a:latin typeface="Segoe UI"/>
              </a:rPr>
              <a:t>36,44 ₴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1208" y="3477006"/>
            <a:ext cx="6858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1C2235"/>
                </a:solidFill>
                <a:latin typeface="Segoe UI"/>
              </a:rPr>
              <a:t>Собівартість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0996" y="3477006"/>
            <a:ext cx="124129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00" b="0" i="0">
                <a:solidFill>
                  <a:srgbClr val="1C2235"/>
                </a:solidFill>
                <a:latin typeface="Segoe UI"/>
              </a:rPr>
              <a:t>54,65 ₴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8" y="3648456"/>
            <a:ext cx="6858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1C2235"/>
                </a:solidFill>
                <a:latin typeface="Segoe UI"/>
              </a:rPr>
              <a:t>Сума (перевірка)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10996" y="3648456"/>
            <a:ext cx="124129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00" b="0" i="0">
                <a:solidFill>
                  <a:srgbClr val="1C2235"/>
                </a:solidFill>
                <a:latin typeface="Segoe UI"/>
              </a:rPr>
              <a:t>121,45 ₴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21208" y="3888486"/>
            <a:ext cx="1831086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62356" y="3915918"/>
            <a:ext cx="174879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717890"/>
                </a:solidFill>
                <a:latin typeface="Segoe UI"/>
              </a:rPr>
              <a:t>ПОЛИЦЯ = 121,45 × 1,40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2356" y="4053078"/>
            <a:ext cx="1748790" cy="2331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80" b="1" i="0">
                <a:solidFill>
                  <a:srgbClr val="B36214"/>
                </a:solidFill>
                <a:latin typeface="Segoe UI"/>
              </a:rPr>
              <a:t>170,03 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21208" y="4382262"/>
            <a:ext cx="183108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ПДВ у собівартості: 16 % СС. Полиця / FOB = ×4,9.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523744" y="1337310"/>
            <a:ext cx="2023110" cy="246888"/>
          </a:xfrm>
          <a:prstGeom prst="rect">
            <a:avLst/>
          </a:prstGeom>
          <a:solidFill>
            <a:srgbClr val="1D5B6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606040" y="1392174"/>
            <a:ext cx="1885950" cy="150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THAI-NICHI · NORIMAKI ORIGINAL 50 Г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523744" y="1584198"/>
            <a:ext cx="2023110" cy="323697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619756" y="1645920"/>
            <a:ext cx="1831086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 spc="20">
                <a:solidFill>
                  <a:srgbClr val="1D5B63"/>
                </a:solidFill>
                <a:latin typeface="Segoe UI"/>
              </a:rPr>
              <a:t>СОБІВАРТІСТЬ УПАКОВКИ · рядок 15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619756" y="1796796"/>
            <a:ext cx="7543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1C2235"/>
                </a:solidFill>
                <a:latin typeface="Segoe UI"/>
              </a:rPr>
              <a:t>FOB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380994" y="1824228"/>
            <a:ext cx="217868" cy="89154"/>
          </a:xfrm>
          <a:prstGeom prst="rect">
            <a:avLst/>
          </a:prstGeom>
          <a:solidFill>
            <a:srgbClr val="1D5B6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633152" y="1796796"/>
            <a:ext cx="9601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$0,600 · 27,00 ₴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619756" y="1961388"/>
            <a:ext cx="7543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1C2235"/>
                </a:solidFill>
                <a:latin typeface="Segoe UI"/>
              </a:rPr>
              <a:t>Мито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380994" y="1988820"/>
            <a:ext cx="24400" cy="89154"/>
          </a:xfrm>
          <a:prstGeom prst="rect">
            <a:avLst/>
          </a:prstGeom>
          <a:solidFill>
            <a:srgbClr val="99B5B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439684" y="1961388"/>
            <a:ext cx="9601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$0,067 · 3,02 ₴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619756" y="2125980"/>
            <a:ext cx="7543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1C2235"/>
                </a:solidFill>
                <a:latin typeface="Segoe UI"/>
              </a:rPr>
              <a:t>Імпортний ПДВ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380994" y="2153412"/>
            <a:ext cx="53681" cy="89154"/>
          </a:xfrm>
          <a:prstGeom prst="rect">
            <a:avLst/>
          </a:prstGeom>
          <a:solidFill>
            <a:srgbClr val="99B5B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468965" y="2125980"/>
            <a:ext cx="9601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$0,148 · 6,65 ₴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619756" y="2290572"/>
            <a:ext cx="7543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1C2235"/>
                </a:solidFill>
                <a:latin typeface="Segoe UI"/>
              </a:rPr>
              <a:t>Транспорт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380994" y="2318004"/>
            <a:ext cx="38586" cy="89154"/>
          </a:xfrm>
          <a:prstGeom prst="rect">
            <a:avLst/>
          </a:prstGeom>
          <a:solidFill>
            <a:srgbClr val="99B5B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453870" y="2290572"/>
            <a:ext cx="9601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$0,106 · 4,78 ₴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619756" y="2455164"/>
            <a:ext cx="7543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1C2235"/>
                </a:solidFill>
                <a:latin typeface="Segoe UI"/>
              </a:rPr>
              <a:t>Кредитні гроші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380994" y="2482596"/>
            <a:ext cx="20574" cy="89154"/>
          </a:xfrm>
          <a:prstGeom prst="rect">
            <a:avLst/>
          </a:prstGeom>
          <a:solidFill>
            <a:srgbClr val="99B5B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423647" y="2455164"/>
            <a:ext cx="9601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$0,023 · 1,04 ₴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619756" y="2640330"/>
            <a:ext cx="1831086" cy="8229"/>
          </a:xfrm>
          <a:prstGeom prst="rect">
            <a:avLst/>
          </a:prstGeom>
          <a:solidFill>
            <a:srgbClr val="1C223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619756" y="2674620"/>
            <a:ext cx="183108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4" b="1" i="0">
                <a:solidFill>
                  <a:srgbClr val="1C2235"/>
                </a:solidFill>
                <a:latin typeface="Segoe UI"/>
              </a:rPr>
              <a:t>СС = $0,9443 × 45 = 42,49 ₴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619756" y="2962656"/>
            <a:ext cx="6858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1C2235"/>
                </a:solidFill>
                <a:latin typeface="Segoe UI"/>
              </a:rPr>
              <a:t>Ціна мережі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209544" y="2962656"/>
            <a:ext cx="124129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00" b="1" i="0">
                <a:solidFill>
                  <a:srgbClr val="1C2235"/>
                </a:solidFill>
                <a:latin typeface="Segoe UI"/>
              </a:rPr>
              <a:t>42,49 ÷ 0,45 = 94,43 ₴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619756" y="3134106"/>
            <a:ext cx="6858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1C2235"/>
                </a:solidFill>
                <a:latin typeface="Segoe UI"/>
              </a:rPr>
              <a:t>Бонус 25 %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209544" y="3134106"/>
            <a:ext cx="124129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00" b="0" i="0">
                <a:solidFill>
                  <a:srgbClr val="1C2235"/>
                </a:solidFill>
                <a:latin typeface="Segoe UI"/>
              </a:rPr>
              <a:t>23,61 ₴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619756" y="3305556"/>
            <a:ext cx="6858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1C2235"/>
                </a:solidFill>
                <a:latin typeface="Segoe UI"/>
              </a:rPr>
              <a:t>Маржа 30 %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209544" y="3305556"/>
            <a:ext cx="124129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00" b="0" i="0">
                <a:solidFill>
                  <a:srgbClr val="1C2235"/>
                </a:solidFill>
                <a:latin typeface="Segoe UI"/>
              </a:rPr>
              <a:t>28,33 ₴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619756" y="3477006"/>
            <a:ext cx="6858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1C2235"/>
                </a:solidFill>
                <a:latin typeface="Segoe UI"/>
              </a:rPr>
              <a:t>Собівартість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209544" y="3477006"/>
            <a:ext cx="124129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00" b="0" i="0">
                <a:solidFill>
                  <a:srgbClr val="1C2235"/>
                </a:solidFill>
                <a:latin typeface="Segoe UI"/>
              </a:rPr>
              <a:t>42,49 ₴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619756" y="3648456"/>
            <a:ext cx="6858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1C2235"/>
                </a:solidFill>
                <a:latin typeface="Segoe UI"/>
              </a:rPr>
              <a:t>Сума (перевірка)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209544" y="3648456"/>
            <a:ext cx="124129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00" b="0" i="0">
                <a:solidFill>
                  <a:srgbClr val="1C2235"/>
                </a:solidFill>
                <a:latin typeface="Segoe UI"/>
              </a:rPr>
              <a:t>94,43 ₴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619756" y="3888486"/>
            <a:ext cx="1831086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2660904" y="3915918"/>
            <a:ext cx="174879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717890"/>
                </a:solidFill>
                <a:latin typeface="Segoe UI"/>
              </a:rPr>
              <a:t>ПОЛИЦЯ = 94,43 × 1,40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660904" y="4053078"/>
            <a:ext cx="1748790" cy="2331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80" b="1" i="0">
                <a:solidFill>
                  <a:srgbClr val="1D5B63"/>
                </a:solidFill>
                <a:latin typeface="Segoe UI"/>
              </a:rPr>
              <a:t>132,21 ₴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619756" y="4382262"/>
            <a:ext cx="183108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ПДВ у собівартості: 16 % СС. Полиця / FOB = ×4,9.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622292" y="1337310"/>
            <a:ext cx="2023110" cy="246888"/>
          </a:xfrm>
          <a:prstGeom prst="rect">
            <a:avLst/>
          </a:prstGeom>
          <a:solidFill>
            <a:srgbClr val="2F7A3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704588" y="1392174"/>
            <a:ext cx="1885950" cy="150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TMK · WOW ROLL ORIGINAL 2,5 Г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622292" y="1584198"/>
            <a:ext cx="2023110" cy="323697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4718304" y="1645920"/>
            <a:ext cx="1831086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 spc="20">
                <a:solidFill>
                  <a:srgbClr val="2F7A3E"/>
                </a:solidFill>
                <a:latin typeface="Segoe UI"/>
              </a:rPr>
              <a:t>СОБІВАРТІСТЬ УПАКОВКИ · рядок 22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718304" y="1796796"/>
            <a:ext cx="7543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1C2235"/>
                </a:solidFill>
                <a:latin typeface="Segoe UI"/>
              </a:rPr>
              <a:t>FOB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479542" y="1824228"/>
            <a:ext cx="189871" cy="89154"/>
          </a:xfrm>
          <a:prstGeom prst="rect">
            <a:avLst/>
          </a:prstGeom>
          <a:solidFill>
            <a:srgbClr val="2F7A3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5703703" y="1796796"/>
            <a:ext cx="9601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$0,117 · 5,26 ₴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718304" y="1961388"/>
            <a:ext cx="7543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1C2235"/>
                </a:solidFill>
                <a:latin typeface="Segoe UI"/>
              </a:rPr>
              <a:t>Мито</a:t>
            </a:r>
          </a:p>
        </p:txBody>
      </p:sp>
      <p:sp>
        <p:nvSpPr>
          <p:cNvPr id="88" name="Rectangle 87"/>
          <p:cNvSpPr/>
          <p:nvPr/>
        </p:nvSpPr>
        <p:spPr>
          <a:xfrm>
            <a:off x="5479542" y="1988820"/>
            <a:ext cx="34340" cy="89154"/>
          </a:xfrm>
          <a:prstGeom prst="rect">
            <a:avLst/>
          </a:prstGeom>
          <a:solidFill>
            <a:srgbClr val="A1C3A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5548172" y="1961388"/>
            <a:ext cx="9601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$0,021 · 0,95 ₴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718304" y="2125980"/>
            <a:ext cx="7543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1C2235"/>
                </a:solidFill>
                <a:latin typeface="Segoe UI"/>
              </a:rPr>
              <a:t>Імпортний ПДВ</a:t>
            </a:r>
          </a:p>
        </p:txBody>
      </p:sp>
      <p:sp>
        <p:nvSpPr>
          <p:cNvPr id="91" name="Rectangle 90"/>
          <p:cNvSpPr/>
          <p:nvPr/>
        </p:nvSpPr>
        <p:spPr>
          <a:xfrm>
            <a:off x="5479542" y="2153412"/>
            <a:ext cx="52656" cy="89154"/>
          </a:xfrm>
          <a:prstGeom prst="rect">
            <a:avLst/>
          </a:prstGeom>
          <a:solidFill>
            <a:srgbClr val="A1C3A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5566488" y="2125980"/>
            <a:ext cx="9601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$0,032 · 1,46 ₴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718304" y="2290572"/>
            <a:ext cx="7543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1C2235"/>
                </a:solidFill>
                <a:latin typeface="Segoe UI"/>
              </a:rPr>
              <a:t>Транспорт</a:t>
            </a:r>
          </a:p>
        </p:txBody>
      </p:sp>
      <p:sp>
        <p:nvSpPr>
          <p:cNvPr id="94" name="Rectangle 93"/>
          <p:cNvSpPr/>
          <p:nvPr/>
        </p:nvSpPr>
        <p:spPr>
          <a:xfrm>
            <a:off x="5479542" y="2318004"/>
            <a:ext cx="57668" cy="89154"/>
          </a:xfrm>
          <a:prstGeom prst="rect">
            <a:avLst/>
          </a:prstGeom>
          <a:solidFill>
            <a:srgbClr val="A1C3A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5571500" y="2290572"/>
            <a:ext cx="9601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$0,036 · 1,60 ₴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718304" y="2455164"/>
            <a:ext cx="7543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1C2235"/>
                </a:solidFill>
                <a:latin typeface="Segoe UI"/>
              </a:rPr>
              <a:t>Кредитні гроші</a:t>
            </a:r>
          </a:p>
        </p:txBody>
      </p:sp>
      <p:sp>
        <p:nvSpPr>
          <p:cNvPr id="97" name="Rectangle 96"/>
          <p:cNvSpPr/>
          <p:nvPr/>
        </p:nvSpPr>
        <p:spPr>
          <a:xfrm>
            <a:off x="5479542" y="2482596"/>
            <a:ext cx="20574" cy="89154"/>
          </a:xfrm>
          <a:prstGeom prst="rect">
            <a:avLst/>
          </a:prstGeom>
          <a:solidFill>
            <a:srgbClr val="A1C3A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5522195" y="2455164"/>
            <a:ext cx="9601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$0,005 · 0,23 ₴</a:t>
            </a:r>
          </a:p>
        </p:txBody>
      </p:sp>
      <p:sp>
        <p:nvSpPr>
          <p:cNvPr id="99" name="Rectangle 98"/>
          <p:cNvSpPr/>
          <p:nvPr/>
        </p:nvSpPr>
        <p:spPr>
          <a:xfrm>
            <a:off x="4718304" y="2640330"/>
            <a:ext cx="1831086" cy="8229"/>
          </a:xfrm>
          <a:prstGeom prst="rect">
            <a:avLst/>
          </a:prstGeom>
          <a:solidFill>
            <a:srgbClr val="1C223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4718304" y="2674620"/>
            <a:ext cx="183108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4" b="1" i="0">
                <a:solidFill>
                  <a:srgbClr val="1C2235"/>
                </a:solidFill>
                <a:latin typeface="Segoe UI"/>
              </a:rPr>
              <a:t>СС = $0,2113 × 45 = 9,51 ₴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718304" y="2962656"/>
            <a:ext cx="6858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1C2235"/>
                </a:solidFill>
                <a:latin typeface="Segoe UI"/>
              </a:rPr>
              <a:t>Ціна мережі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5308092" y="2962656"/>
            <a:ext cx="124129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00" b="1" i="0">
                <a:solidFill>
                  <a:srgbClr val="1C2235"/>
                </a:solidFill>
                <a:latin typeface="Segoe UI"/>
              </a:rPr>
              <a:t>9,51 ÷ 0,45 = 21,13 ₴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4718304" y="3134106"/>
            <a:ext cx="6858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1C2235"/>
                </a:solidFill>
                <a:latin typeface="Segoe UI"/>
              </a:rPr>
              <a:t>Бонус 25 %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5308092" y="3134106"/>
            <a:ext cx="124129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00" b="0" i="0">
                <a:solidFill>
                  <a:srgbClr val="1C2235"/>
                </a:solidFill>
                <a:latin typeface="Segoe UI"/>
              </a:rPr>
              <a:t>5,28 ₴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4718304" y="3305556"/>
            <a:ext cx="6858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1C2235"/>
                </a:solidFill>
                <a:latin typeface="Segoe UI"/>
              </a:rPr>
              <a:t>Маржа 30 %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5308092" y="3305556"/>
            <a:ext cx="124129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00" b="0" i="0">
                <a:solidFill>
                  <a:srgbClr val="1C2235"/>
                </a:solidFill>
                <a:latin typeface="Segoe UI"/>
              </a:rPr>
              <a:t>6,34 ₴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4718304" y="3477006"/>
            <a:ext cx="6858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1C2235"/>
                </a:solidFill>
                <a:latin typeface="Segoe UI"/>
              </a:rPr>
              <a:t>Собівартість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5308092" y="3477006"/>
            <a:ext cx="124129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00" b="0" i="0">
                <a:solidFill>
                  <a:srgbClr val="1C2235"/>
                </a:solidFill>
                <a:latin typeface="Segoe UI"/>
              </a:rPr>
              <a:t>9,51 ₴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4718304" y="3648456"/>
            <a:ext cx="6858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1C2235"/>
                </a:solidFill>
                <a:latin typeface="Segoe UI"/>
              </a:rPr>
              <a:t>Сума (перевірка)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5308092" y="3648456"/>
            <a:ext cx="124129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00" b="0" i="0">
                <a:solidFill>
                  <a:srgbClr val="1C2235"/>
                </a:solidFill>
                <a:latin typeface="Segoe UI"/>
              </a:rPr>
              <a:t>21,13 ₴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4718304" y="3888486"/>
            <a:ext cx="1831086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4759452" y="3915918"/>
            <a:ext cx="174879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717890"/>
                </a:solidFill>
                <a:latin typeface="Segoe UI"/>
              </a:rPr>
              <a:t>ПОЛИЦЯ = 21,13 × 1,40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759452" y="4053078"/>
            <a:ext cx="1748790" cy="2331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80" b="1" i="0">
                <a:solidFill>
                  <a:srgbClr val="2F7A3E"/>
                </a:solidFill>
                <a:latin typeface="Segoe UI"/>
              </a:rPr>
              <a:t>29,58 ₴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4718304" y="4382262"/>
            <a:ext cx="183108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ПДВ у собівартості: 15 % СС. Полиця / FOB = ×5,6.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6720840" y="1337310"/>
            <a:ext cx="2023110" cy="246888"/>
          </a:xfrm>
          <a:prstGeom prst="rect">
            <a:avLst/>
          </a:prstGeom>
          <a:solidFill>
            <a:srgbClr val="B23A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6803136" y="1392174"/>
            <a:ext cx="1885950" cy="150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ZEK · TEMPURA CORN 30 Г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6720840" y="1584198"/>
            <a:ext cx="2023110" cy="3236976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6816852" y="1645920"/>
            <a:ext cx="1831086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 spc="20">
                <a:solidFill>
                  <a:srgbClr val="B23A22"/>
                </a:solidFill>
                <a:latin typeface="Segoe UI"/>
              </a:rPr>
              <a:t>СОБІВАРТІСТЬ УПАКОВКИ · рядок 26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6816852" y="1796796"/>
            <a:ext cx="7543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1C2235"/>
                </a:solidFill>
                <a:latin typeface="Segoe UI"/>
              </a:rPr>
              <a:t>FOB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7578090" y="1824228"/>
            <a:ext cx="195710" cy="89154"/>
          </a:xfrm>
          <a:prstGeom prst="rect">
            <a:avLst/>
          </a:prstGeom>
          <a:solidFill>
            <a:srgbClr val="B23A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7808090" y="1796796"/>
            <a:ext cx="9601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$0,430 · 19,35 ₴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6816852" y="1961388"/>
            <a:ext cx="7543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1C2235"/>
                </a:solidFill>
                <a:latin typeface="Segoe UI"/>
              </a:rPr>
              <a:t>Мито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7578090" y="1988820"/>
            <a:ext cx="23806" cy="89154"/>
          </a:xfrm>
          <a:prstGeom prst="rect">
            <a:avLst/>
          </a:prstGeom>
          <a:solidFill>
            <a:srgbClr val="DCA69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7636186" y="1961388"/>
            <a:ext cx="9601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$0,052 · 2,35 ₴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6816852" y="2125980"/>
            <a:ext cx="7543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1C2235"/>
                </a:solidFill>
                <a:latin typeface="Segoe UI"/>
              </a:rPr>
              <a:t>Імпортний ПДВ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7578090" y="2153412"/>
            <a:ext cx="52377" cy="89154"/>
          </a:xfrm>
          <a:prstGeom prst="rect">
            <a:avLst/>
          </a:prstGeom>
          <a:solidFill>
            <a:srgbClr val="DCA69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7664757" y="2125980"/>
            <a:ext cx="9601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$0,115 · 5,18 ₴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816852" y="2290572"/>
            <a:ext cx="7543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1C2235"/>
                </a:solidFill>
                <a:latin typeface="Segoe UI"/>
              </a:rPr>
              <a:t>Транспорт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7578090" y="2318004"/>
            <a:ext cx="62642" cy="89154"/>
          </a:xfrm>
          <a:prstGeom prst="rect">
            <a:avLst/>
          </a:prstGeom>
          <a:solidFill>
            <a:srgbClr val="DCA69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7675022" y="2290572"/>
            <a:ext cx="9601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$0,138 · 6,19 ₴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6816852" y="2455164"/>
            <a:ext cx="7543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1C2235"/>
                </a:solidFill>
                <a:latin typeface="Segoe UI"/>
              </a:rPr>
              <a:t>Кредитні гроші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7578090" y="2482596"/>
            <a:ext cx="20574" cy="89154"/>
          </a:xfrm>
          <a:prstGeom prst="rect">
            <a:avLst/>
          </a:prstGeom>
          <a:solidFill>
            <a:srgbClr val="DCA69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7620743" y="2455164"/>
            <a:ext cx="9601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$0,018 · 0,83 ₴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6816852" y="2640330"/>
            <a:ext cx="1831086" cy="8229"/>
          </a:xfrm>
          <a:prstGeom prst="rect">
            <a:avLst/>
          </a:prstGeom>
          <a:solidFill>
            <a:srgbClr val="1C223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6816852" y="2674620"/>
            <a:ext cx="183108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4" b="1" i="0">
                <a:solidFill>
                  <a:srgbClr val="1C2235"/>
                </a:solidFill>
                <a:latin typeface="Segoe UI"/>
              </a:rPr>
              <a:t>СС = $0,7534 × 45 = 33,90 ₴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6816852" y="2962656"/>
            <a:ext cx="6858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1C2235"/>
                </a:solidFill>
                <a:latin typeface="Segoe UI"/>
              </a:rPr>
              <a:t>Ціна мережі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7406640" y="2962656"/>
            <a:ext cx="124129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00" b="1" i="0">
                <a:solidFill>
                  <a:srgbClr val="1C2235"/>
                </a:solidFill>
                <a:latin typeface="Segoe UI"/>
              </a:rPr>
              <a:t>33,90 ÷ 0,45 = 75,34 ₴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6816852" y="3134106"/>
            <a:ext cx="6858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1C2235"/>
                </a:solidFill>
                <a:latin typeface="Segoe UI"/>
              </a:rPr>
              <a:t>Бонус 25 %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7406640" y="3134106"/>
            <a:ext cx="124129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00" b="0" i="0">
                <a:solidFill>
                  <a:srgbClr val="1C2235"/>
                </a:solidFill>
                <a:latin typeface="Segoe UI"/>
              </a:rPr>
              <a:t>18,83 ₴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6816852" y="3305556"/>
            <a:ext cx="6858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1C2235"/>
                </a:solidFill>
                <a:latin typeface="Segoe UI"/>
              </a:rPr>
              <a:t>Маржа 30 %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7406640" y="3305556"/>
            <a:ext cx="124129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00" b="0" i="0">
                <a:solidFill>
                  <a:srgbClr val="1C2235"/>
                </a:solidFill>
                <a:latin typeface="Segoe UI"/>
              </a:rPr>
              <a:t>22,60 ₴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816852" y="3477006"/>
            <a:ext cx="6858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1C2235"/>
                </a:solidFill>
                <a:latin typeface="Segoe UI"/>
              </a:rPr>
              <a:t>Собівартість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406640" y="3477006"/>
            <a:ext cx="124129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00" b="0" i="0">
                <a:solidFill>
                  <a:srgbClr val="1C2235"/>
                </a:solidFill>
                <a:latin typeface="Segoe UI"/>
              </a:rPr>
              <a:t>33,90 ₴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6816852" y="3648456"/>
            <a:ext cx="6858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1C2235"/>
                </a:solidFill>
                <a:latin typeface="Segoe UI"/>
              </a:rPr>
              <a:t>Сума (перевірка)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7406640" y="3648456"/>
            <a:ext cx="124129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00" b="0" i="0">
                <a:solidFill>
                  <a:srgbClr val="1C2235"/>
                </a:solidFill>
                <a:latin typeface="Segoe UI"/>
              </a:rPr>
              <a:t>75,34 ₴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6816852" y="3888486"/>
            <a:ext cx="1831086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6858000" y="3915918"/>
            <a:ext cx="174879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717890"/>
                </a:solidFill>
                <a:latin typeface="Segoe UI"/>
              </a:rPr>
              <a:t>ПОЛИЦЯ = 75,34 × 1,40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6858000" y="4053078"/>
            <a:ext cx="1748790" cy="2331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80" b="1" i="0">
                <a:solidFill>
                  <a:srgbClr val="B23A22"/>
                </a:solidFill>
                <a:latin typeface="Segoe UI"/>
              </a:rPr>
              <a:t>105,47 ₴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6816852" y="4382262"/>
            <a:ext cx="183108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ПДВ у собівартості: 15 % СС. Полиця / FOB = ×5,5.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425196" y="4855464"/>
            <a:ext cx="829818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1">
                <a:solidFill>
                  <a:srgbClr val="717890"/>
                </a:solidFill>
                <a:latin typeface="Segoe UI"/>
              </a:rPr>
              <a:t>Імпортний ПДВ входить у собівартість за методикою Self-Cost (так само, як у фінмоделі рису); ціна мережі і полиця — вже з ПДВ.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977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3977" cy="795528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95528"/>
            <a:ext cx="9143977" cy="41148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" y="178308"/>
            <a:ext cx="1042416" cy="4526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728216" y="205740"/>
            <a:ext cx="61722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1" i="0" spc="30">
                <a:solidFill>
                  <a:srgbClr val="FFC95C"/>
                </a:solidFill>
                <a:latin typeface="Segoe UI"/>
              </a:rPr>
              <a:t>ПЕРЕВІРКА РОЗРАХУНКУ · КОНТЕЙНЕРИ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28216" y="377190"/>
            <a:ext cx="61722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20" b="1" i="0">
                <a:solidFill>
                  <a:srgbClr val="FFFFFF"/>
                </a:solidFill>
                <a:latin typeface="Segoe UI"/>
              </a:rPr>
              <a:t>Полиця за сценаріями поставки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20990" y="301752"/>
            <a:ext cx="768096" cy="2263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360" b="1" i="0">
                <a:solidFill>
                  <a:srgbClr val="465382"/>
                </a:solidFill>
                <a:latin typeface="Segoe UI"/>
              </a:rPr>
              <a:t>38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5196" y="918972"/>
            <a:ext cx="8298180" cy="3086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72" b="0" i="0">
                <a:solidFill>
                  <a:srgbClr val="717890"/>
                </a:solidFill>
                <a:latin typeface="Segoe UI"/>
              </a:rPr>
              <a:t>Полиця при марже 30 % для кожного сценарію поставки з Self-Cost. У презентації для кожного SKU береться найдешевший (виділено); «Retail + Bulk» — той самий товар у змішаному контейнері з навалом, де собівартість нижча.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5196" y="1337310"/>
            <a:ext cx="8298180" cy="20574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" y="1337310"/>
            <a:ext cx="2057400" cy="2057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ПОЗИЦІЯ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51176" y="1337310"/>
            <a:ext cx="480060" cy="2057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FOB, $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34106" y="1337310"/>
            <a:ext cx="548640" cy="2057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СС 20′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17036" y="1337310"/>
            <a:ext cx="548640" cy="2057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СС 40′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9966" y="1337310"/>
            <a:ext cx="548640" cy="2057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СС LCL 17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82896" y="1337310"/>
            <a:ext cx="548640" cy="2057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СС LCL 34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68696" y="1337310"/>
            <a:ext cx="720090" cy="2057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ПОЛИЦЯ 20′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7366" y="1337310"/>
            <a:ext cx="720090" cy="2057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ПОЛИЦЯ 40′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46036" y="1337310"/>
            <a:ext cx="720090" cy="2057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ПОЛИЦЯ LCL 17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34706" y="1337310"/>
            <a:ext cx="720090" cy="2057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ПОЛИЦЯ LCL 34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5196" y="1570482"/>
            <a:ext cx="8298180" cy="219456"/>
          </a:xfrm>
          <a:prstGeom prst="rect">
            <a:avLst/>
          </a:prstGeom>
          <a:solidFill>
            <a:srgbClr val="F8F9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5196" y="1570482"/>
            <a:ext cx="34290" cy="219456"/>
          </a:xfrm>
          <a:prstGeom prst="rect">
            <a:avLst/>
          </a:prstGeom>
          <a:solidFill>
            <a:srgbClr val="B3621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4924" y="1570482"/>
            <a:ext cx="20574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303A5D"/>
                </a:solidFill>
                <a:latin typeface="Segoe UI"/>
              </a:rPr>
              <a:t>Norimaki Original 42 г · 2 смаки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51176" y="1570482"/>
            <a:ext cx="48006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$0,770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34106" y="1570482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61,2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68696" y="1570482"/>
            <a:ext cx="72009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56" b="0" i="0">
                <a:solidFill>
                  <a:srgbClr val="1C2235"/>
                </a:solidFill>
                <a:latin typeface="Segoe UI"/>
              </a:rPr>
              <a:t>190 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17036" y="1570482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54,7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25946" y="1591056"/>
            <a:ext cx="651510" cy="178308"/>
          </a:xfrm>
          <a:prstGeom prst="rect">
            <a:avLst/>
          </a:prstGeom>
          <a:solidFill>
            <a:srgbClr val="FDE0A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7366" y="1570482"/>
            <a:ext cx="72009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56" b="1" i="0">
                <a:solidFill>
                  <a:srgbClr val="1C2235"/>
                </a:solidFill>
                <a:latin typeface="Segoe UI"/>
              </a:rPr>
              <a:t>170 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99966" y="1570482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62,0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46036" y="1570482"/>
            <a:ext cx="72009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56" b="0" i="0">
                <a:solidFill>
                  <a:srgbClr val="1C2235"/>
                </a:solidFill>
                <a:latin typeface="Segoe UI"/>
              </a:rPr>
              <a:t>193 ₴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82896" y="1570482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56,5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34706" y="1570482"/>
            <a:ext cx="72009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56" b="0" i="0">
                <a:solidFill>
                  <a:srgbClr val="1C2235"/>
                </a:solidFill>
                <a:latin typeface="Segoe UI"/>
              </a:rPr>
              <a:t>176 ₴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25196" y="1789938"/>
            <a:ext cx="34290" cy="219456"/>
          </a:xfrm>
          <a:prstGeom prst="rect">
            <a:avLst/>
          </a:prstGeom>
          <a:solidFill>
            <a:srgbClr val="1D5B6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4924" y="1789938"/>
            <a:ext cx="20574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303A5D"/>
                </a:solidFill>
                <a:latin typeface="Segoe UI"/>
              </a:rPr>
              <a:t>Norimaki Original 50 г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551176" y="1789938"/>
            <a:ext cx="48006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$0,600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134106" y="1789938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48,9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568696" y="1789938"/>
            <a:ext cx="72009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56" b="0" i="0">
                <a:solidFill>
                  <a:srgbClr val="1C2235"/>
                </a:solidFill>
                <a:latin typeface="Segoe UI"/>
              </a:rPr>
              <a:t>152 ₴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717036" y="1789938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42,5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25946" y="1810512"/>
            <a:ext cx="651510" cy="178308"/>
          </a:xfrm>
          <a:prstGeom prst="rect">
            <a:avLst/>
          </a:prstGeom>
          <a:solidFill>
            <a:srgbClr val="FDE0A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57366" y="1789938"/>
            <a:ext cx="72009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56" b="1" i="0">
                <a:solidFill>
                  <a:srgbClr val="1C2235"/>
                </a:solidFill>
                <a:latin typeface="Segoe UI"/>
              </a:rPr>
              <a:t>132 ₴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99966" y="1789938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48,0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46036" y="1789938"/>
            <a:ext cx="72009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56" b="0" i="0">
                <a:solidFill>
                  <a:srgbClr val="1C2235"/>
                </a:solidFill>
                <a:latin typeface="Segoe UI"/>
              </a:rPr>
              <a:t>149 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882896" y="1789938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43,9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934706" y="1789938"/>
            <a:ext cx="72009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56" b="0" i="0">
                <a:solidFill>
                  <a:srgbClr val="1C2235"/>
                </a:solidFill>
                <a:latin typeface="Segoe UI"/>
              </a:rPr>
              <a:t>137 ₴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25196" y="2009394"/>
            <a:ext cx="8298180" cy="219456"/>
          </a:xfrm>
          <a:prstGeom prst="rect">
            <a:avLst/>
          </a:prstGeom>
          <a:solidFill>
            <a:srgbClr val="F8F9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25196" y="2009394"/>
            <a:ext cx="34290" cy="219456"/>
          </a:xfrm>
          <a:prstGeom prst="rect">
            <a:avLst/>
          </a:prstGeom>
          <a:solidFill>
            <a:srgbClr val="1D5B6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34924" y="2009394"/>
            <a:ext cx="20574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303A5D"/>
                </a:solidFill>
                <a:latin typeface="Segoe UI"/>
              </a:rPr>
              <a:t>Norimaki Wasabi 55 г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551176" y="2009394"/>
            <a:ext cx="48006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$0,750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134106" y="2009394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61,2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568696" y="2009394"/>
            <a:ext cx="72009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56" b="0" i="0">
                <a:solidFill>
                  <a:srgbClr val="1C2235"/>
                </a:solidFill>
                <a:latin typeface="Segoe UI"/>
              </a:rPr>
              <a:t>190 ₴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717036" y="2009394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51,4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425946" y="2029968"/>
            <a:ext cx="651510" cy="178308"/>
          </a:xfrm>
          <a:prstGeom prst="rect">
            <a:avLst/>
          </a:prstGeom>
          <a:solidFill>
            <a:srgbClr val="FDE0A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357366" y="2009394"/>
            <a:ext cx="72009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56" b="1" i="0">
                <a:solidFill>
                  <a:srgbClr val="1C2235"/>
                </a:solidFill>
                <a:latin typeface="Segoe UI"/>
              </a:rPr>
              <a:t>160 ₴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299966" y="2009394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60,0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146036" y="2009394"/>
            <a:ext cx="72009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56" b="0" i="0">
                <a:solidFill>
                  <a:srgbClr val="1C2235"/>
                </a:solidFill>
                <a:latin typeface="Segoe UI"/>
              </a:rPr>
              <a:t>187 ₴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882896" y="2009394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54,9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34706" y="2009394"/>
            <a:ext cx="72009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56" b="0" i="0">
                <a:solidFill>
                  <a:srgbClr val="1C2235"/>
                </a:solidFill>
                <a:latin typeface="Segoe UI"/>
              </a:rPr>
              <a:t>171 ₴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25196" y="2228850"/>
            <a:ext cx="34290" cy="219456"/>
          </a:xfrm>
          <a:prstGeom prst="rect">
            <a:avLst/>
          </a:prstGeom>
          <a:solidFill>
            <a:srgbClr val="2F7A3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34924" y="2228850"/>
            <a:ext cx="20574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303A5D"/>
                </a:solidFill>
                <a:latin typeface="Segoe UI"/>
              </a:rPr>
              <a:t>Wow ROLL Original 2,5 г · 3 смаки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551176" y="2228850"/>
            <a:ext cx="48006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$0,122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134106" y="2228850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12,0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568696" y="2228850"/>
            <a:ext cx="72009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56" b="0" i="0">
                <a:solidFill>
                  <a:srgbClr val="1C2235"/>
                </a:solidFill>
                <a:latin typeface="Segoe UI"/>
              </a:rPr>
              <a:t>37 ₴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717036" y="2228850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9,5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425946" y="2249424"/>
            <a:ext cx="651510" cy="178308"/>
          </a:xfrm>
          <a:prstGeom prst="rect">
            <a:avLst/>
          </a:prstGeom>
          <a:solidFill>
            <a:srgbClr val="FDE0A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357366" y="2228850"/>
            <a:ext cx="72009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56" b="1" i="0">
                <a:solidFill>
                  <a:srgbClr val="1C2235"/>
                </a:solidFill>
                <a:latin typeface="Segoe UI"/>
              </a:rPr>
              <a:t>30 ₴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299966" y="2228850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12,1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146036" y="2228850"/>
            <a:ext cx="72009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56" b="0" i="0">
                <a:solidFill>
                  <a:srgbClr val="1C2235"/>
                </a:solidFill>
                <a:latin typeface="Segoe UI"/>
              </a:rPr>
              <a:t>38 ₴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882896" y="2228850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10,6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934706" y="2228850"/>
            <a:ext cx="72009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56" b="0" i="0">
                <a:solidFill>
                  <a:srgbClr val="1C2235"/>
                </a:solidFill>
                <a:latin typeface="Segoe UI"/>
              </a:rPr>
              <a:t>33 ₴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25196" y="2448306"/>
            <a:ext cx="8298180" cy="219456"/>
          </a:xfrm>
          <a:prstGeom prst="rect">
            <a:avLst/>
          </a:prstGeom>
          <a:solidFill>
            <a:srgbClr val="F8F9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425196" y="2448306"/>
            <a:ext cx="34290" cy="219456"/>
          </a:xfrm>
          <a:prstGeom prst="rect">
            <a:avLst/>
          </a:prstGeom>
          <a:solidFill>
            <a:srgbClr val="2F7A3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34924" y="2448306"/>
            <a:ext cx="20574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303A5D"/>
                </a:solidFill>
                <a:latin typeface="Segoe UI"/>
              </a:rPr>
              <a:t>Wow DOUBLE ROLL Original 5 г · 2 смаки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551176" y="2448306"/>
            <a:ext cx="48006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$0,218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134106" y="2448306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21,4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568696" y="2448306"/>
            <a:ext cx="72009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56" b="0" i="0">
                <a:solidFill>
                  <a:srgbClr val="1C2235"/>
                </a:solidFill>
                <a:latin typeface="Segoe UI"/>
              </a:rPr>
              <a:t>67 ₴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717036" y="2448306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17,1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425946" y="2468880"/>
            <a:ext cx="651510" cy="178308"/>
          </a:xfrm>
          <a:prstGeom prst="rect">
            <a:avLst/>
          </a:prstGeom>
          <a:solidFill>
            <a:srgbClr val="FDE0A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357366" y="2448306"/>
            <a:ext cx="72009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56" b="1" i="0">
                <a:solidFill>
                  <a:srgbClr val="1C2235"/>
                </a:solidFill>
                <a:latin typeface="Segoe UI"/>
              </a:rPr>
              <a:t>53 ₴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299966" y="2448306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21,6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146036" y="2448306"/>
            <a:ext cx="72009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56" b="0" i="0">
                <a:solidFill>
                  <a:srgbClr val="1C2235"/>
                </a:solidFill>
                <a:latin typeface="Segoe UI"/>
              </a:rPr>
              <a:t>67 ₴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882896" y="2448306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19,0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934706" y="2448306"/>
            <a:ext cx="72009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56" b="0" i="0">
                <a:solidFill>
                  <a:srgbClr val="1C2235"/>
                </a:solidFill>
                <a:latin typeface="Segoe UI"/>
              </a:rPr>
              <a:t>59 ₴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25196" y="2667762"/>
            <a:ext cx="34290" cy="219456"/>
          </a:xfrm>
          <a:prstGeom prst="rect">
            <a:avLst/>
          </a:prstGeom>
          <a:solidFill>
            <a:srgbClr val="2F7A3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534924" y="2667762"/>
            <a:ext cx="20574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303A5D"/>
                </a:solidFill>
                <a:latin typeface="Segoe UI"/>
              </a:rPr>
              <a:t>Wow SEAWEED Original 12 г · 3 смаки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551176" y="2667762"/>
            <a:ext cx="48006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$0,449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134106" y="2667762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44,1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568696" y="2667762"/>
            <a:ext cx="72009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56" b="0" i="0">
                <a:solidFill>
                  <a:srgbClr val="1C2235"/>
                </a:solidFill>
                <a:latin typeface="Segoe UI"/>
              </a:rPr>
              <a:t>137 ₴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717036" y="2667762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34,9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425946" y="2688336"/>
            <a:ext cx="651510" cy="178308"/>
          </a:xfrm>
          <a:prstGeom prst="rect">
            <a:avLst/>
          </a:prstGeom>
          <a:solidFill>
            <a:srgbClr val="FDE0A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357366" y="2667762"/>
            <a:ext cx="72009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56" b="1" i="0">
                <a:solidFill>
                  <a:srgbClr val="1C2235"/>
                </a:solidFill>
                <a:latin typeface="Segoe UI"/>
              </a:rPr>
              <a:t>108 ₴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299966" y="2667762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44,6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146036" y="2667762"/>
            <a:ext cx="72009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56" b="0" i="0">
                <a:solidFill>
                  <a:srgbClr val="1C2235"/>
                </a:solidFill>
                <a:latin typeface="Segoe UI"/>
              </a:rPr>
              <a:t>139 ₴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882896" y="2667762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39,1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934706" y="2667762"/>
            <a:ext cx="72009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56" b="0" i="0">
                <a:solidFill>
                  <a:srgbClr val="1C2235"/>
                </a:solidFill>
                <a:latin typeface="Segoe UI"/>
              </a:rPr>
              <a:t>122 ₴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25196" y="2887218"/>
            <a:ext cx="8298180" cy="219456"/>
          </a:xfrm>
          <a:prstGeom prst="rect">
            <a:avLst/>
          </a:prstGeom>
          <a:solidFill>
            <a:srgbClr val="F8F9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425196" y="2887218"/>
            <a:ext cx="34290" cy="219456"/>
          </a:xfrm>
          <a:prstGeom prst="rect">
            <a:avLst/>
          </a:prstGeom>
          <a:solidFill>
            <a:srgbClr val="2F7A3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534924" y="2887218"/>
            <a:ext cx="20574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303A5D"/>
                </a:solidFill>
                <a:latin typeface="Segoe UI"/>
              </a:rPr>
              <a:t>Wow MINI Original 10 г · 2 смаки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2551176" y="2887218"/>
            <a:ext cx="48006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$0,446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3134106" y="2887218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43,8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5568696" y="2887218"/>
            <a:ext cx="72009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56" b="0" i="0">
                <a:solidFill>
                  <a:srgbClr val="1C2235"/>
                </a:solidFill>
                <a:latin typeface="Segoe UI"/>
              </a:rPr>
              <a:t>136 ₴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3717036" y="2887218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35,1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6425946" y="2907792"/>
            <a:ext cx="651510" cy="178308"/>
          </a:xfrm>
          <a:prstGeom prst="rect">
            <a:avLst/>
          </a:prstGeom>
          <a:solidFill>
            <a:srgbClr val="FDE0A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6357366" y="2887218"/>
            <a:ext cx="72009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56" b="1" i="0">
                <a:solidFill>
                  <a:srgbClr val="1C2235"/>
                </a:solidFill>
                <a:latin typeface="Segoe UI"/>
              </a:rPr>
              <a:t>109 ₴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4299966" y="2887218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44,3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146036" y="2887218"/>
            <a:ext cx="72009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56" b="0" i="0">
                <a:solidFill>
                  <a:srgbClr val="1C2235"/>
                </a:solidFill>
                <a:latin typeface="Segoe UI"/>
              </a:rPr>
              <a:t>138 ₴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4882896" y="2887218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38,8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7934706" y="2887218"/>
            <a:ext cx="72009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56" b="0" i="0">
                <a:solidFill>
                  <a:srgbClr val="1C2235"/>
                </a:solidFill>
                <a:latin typeface="Segoe UI"/>
              </a:rPr>
              <a:t>121 ₴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425196" y="3106674"/>
            <a:ext cx="34290" cy="219456"/>
          </a:xfrm>
          <a:prstGeom prst="rect">
            <a:avLst/>
          </a:prstGeom>
          <a:solidFill>
            <a:srgbClr val="B23A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534924" y="3106674"/>
            <a:ext cx="20574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303A5D"/>
                </a:solidFill>
                <a:latin typeface="Segoe UI"/>
              </a:rPr>
              <a:t>Tempura Corn 30 г · 3 смаки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2551176" y="3106674"/>
            <a:ext cx="48006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$0,430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3134106" y="3106674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41,6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5568696" y="3106674"/>
            <a:ext cx="72009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56" b="0" i="0">
                <a:solidFill>
                  <a:srgbClr val="1C2235"/>
                </a:solidFill>
                <a:latin typeface="Segoe UI"/>
              </a:rPr>
              <a:t>129 ₴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3717036" y="3106674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33,9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6425946" y="3127248"/>
            <a:ext cx="651510" cy="178308"/>
          </a:xfrm>
          <a:prstGeom prst="rect">
            <a:avLst/>
          </a:prstGeom>
          <a:solidFill>
            <a:srgbClr val="FDE0A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6357366" y="3106674"/>
            <a:ext cx="72009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56" b="1" i="0">
                <a:solidFill>
                  <a:srgbClr val="1C2235"/>
                </a:solidFill>
                <a:latin typeface="Segoe UI"/>
              </a:rPr>
              <a:t>105 ₴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299966" y="3106674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38,1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7146036" y="3106674"/>
            <a:ext cx="72009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56" b="0" i="0">
                <a:solidFill>
                  <a:srgbClr val="1C2235"/>
                </a:solidFill>
                <a:latin typeface="Segoe UI"/>
              </a:rPr>
              <a:t>119 ₴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4882896" y="3106674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36,2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7934706" y="3106674"/>
            <a:ext cx="72009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56" b="0" i="0">
                <a:solidFill>
                  <a:srgbClr val="1C2235"/>
                </a:solidFill>
                <a:latin typeface="Segoe UI"/>
              </a:rPr>
              <a:t>113 ₴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425196" y="3326130"/>
            <a:ext cx="8298180" cy="219456"/>
          </a:xfrm>
          <a:prstGeom prst="rect">
            <a:avLst/>
          </a:prstGeom>
          <a:solidFill>
            <a:srgbClr val="F8F9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425196" y="3326130"/>
            <a:ext cx="34290" cy="219456"/>
          </a:xfrm>
          <a:prstGeom prst="rect">
            <a:avLst/>
          </a:prstGeom>
          <a:solidFill>
            <a:srgbClr val="B23A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534924" y="3326130"/>
            <a:ext cx="20574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303A5D"/>
                </a:solidFill>
                <a:latin typeface="Segoe UI"/>
              </a:rPr>
              <a:t>Tempura Corn 50 г · 3 смаки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2551176" y="3326130"/>
            <a:ext cx="48006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$0,650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3134106" y="3326130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62,8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5568696" y="3326130"/>
            <a:ext cx="72009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56" b="0" i="0">
                <a:solidFill>
                  <a:srgbClr val="1C2235"/>
                </a:solidFill>
                <a:latin typeface="Segoe UI"/>
              </a:rPr>
              <a:t>195 ₴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3717036" y="3326130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51,2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6425946" y="3346704"/>
            <a:ext cx="651510" cy="178308"/>
          </a:xfrm>
          <a:prstGeom prst="rect">
            <a:avLst/>
          </a:prstGeom>
          <a:solidFill>
            <a:srgbClr val="FDE0A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6357366" y="3326130"/>
            <a:ext cx="72009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56" b="1" i="0">
                <a:solidFill>
                  <a:srgbClr val="1C2235"/>
                </a:solidFill>
                <a:latin typeface="Segoe UI"/>
              </a:rPr>
              <a:t>159 ₴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4299966" y="3326130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57,6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7146036" y="3326130"/>
            <a:ext cx="72009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56" b="0" i="0">
                <a:solidFill>
                  <a:srgbClr val="1C2235"/>
                </a:solidFill>
                <a:latin typeface="Segoe UI"/>
              </a:rPr>
              <a:t>179 ₴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4882896" y="3326130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54,7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7934706" y="3326130"/>
            <a:ext cx="72009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56" b="0" i="0">
                <a:solidFill>
                  <a:srgbClr val="1C2235"/>
                </a:solidFill>
                <a:latin typeface="Segoe UI"/>
              </a:rPr>
              <a:t>170 ₴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425196" y="3545586"/>
            <a:ext cx="34290" cy="219456"/>
          </a:xfrm>
          <a:prstGeom prst="rect">
            <a:avLst/>
          </a:prstGeom>
          <a:solidFill>
            <a:srgbClr val="B23A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534924" y="3545586"/>
            <a:ext cx="20574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303A5D"/>
                </a:solidFill>
                <a:latin typeface="Segoe UI"/>
              </a:rPr>
              <a:t>Sandwich Meat Floss 25 г · 2 смаки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551176" y="3545586"/>
            <a:ext cx="48006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$0,310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134106" y="3545586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31,2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5568696" y="3545586"/>
            <a:ext cx="72009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56" b="0" i="0">
                <a:solidFill>
                  <a:srgbClr val="1C2235"/>
                </a:solidFill>
                <a:latin typeface="Segoe UI"/>
              </a:rPr>
              <a:t>97 ₴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3717036" y="3545586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25,5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6425946" y="3566160"/>
            <a:ext cx="651510" cy="178308"/>
          </a:xfrm>
          <a:prstGeom prst="rect">
            <a:avLst/>
          </a:prstGeom>
          <a:solidFill>
            <a:srgbClr val="FDE0A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6357366" y="3545586"/>
            <a:ext cx="72009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56" b="1" i="0">
                <a:solidFill>
                  <a:srgbClr val="1C2235"/>
                </a:solidFill>
                <a:latin typeface="Segoe UI"/>
              </a:rPr>
              <a:t>79 ₴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4299966" y="3545586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27,5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146036" y="3545586"/>
            <a:ext cx="72009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56" b="0" i="0">
                <a:solidFill>
                  <a:srgbClr val="1C2235"/>
                </a:solidFill>
                <a:latin typeface="Segoe UI"/>
              </a:rPr>
              <a:t>86 ₴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4882896" y="3545586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27,2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7934706" y="3545586"/>
            <a:ext cx="72009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56" b="0" i="0">
                <a:solidFill>
                  <a:srgbClr val="1C2235"/>
                </a:solidFill>
                <a:latin typeface="Segoe UI"/>
              </a:rPr>
              <a:t>85 ₴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425196" y="3765042"/>
            <a:ext cx="8298180" cy="219456"/>
          </a:xfrm>
          <a:prstGeom prst="rect">
            <a:avLst/>
          </a:prstGeom>
          <a:solidFill>
            <a:srgbClr val="F8F9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425196" y="3765042"/>
            <a:ext cx="34290" cy="219456"/>
          </a:xfrm>
          <a:prstGeom prst="rect">
            <a:avLst/>
          </a:prstGeom>
          <a:solidFill>
            <a:srgbClr val="B23A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534924" y="3765042"/>
            <a:ext cx="20574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303A5D"/>
                </a:solidFill>
                <a:latin typeface="Segoe UI"/>
              </a:rPr>
              <a:t>Topping Chicken Floss 35 г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551176" y="3765042"/>
            <a:ext cx="48006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$0,400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134106" y="3765042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40,2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5568696" y="3765042"/>
            <a:ext cx="72009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56" b="0" i="0">
                <a:solidFill>
                  <a:srgbClr val="1C2235"/>
                </a:solidFill>
                <a:latin typeface="Segoe UI"/>
              </a:rPr>
              <a:t>125 ₴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3717036" y="3765042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32,9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6425946" y="3785616"/>
            <a:ext cx="651510" cy="178308"/>
          </a:xfrm>
          <a:prstGeom prst="rect">
            <a:avLst/>
          </a:prstGeom>
          <a:solidFill>
            <a:srgbClr val="FDE0A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6357366" y="3765042"/>
            <a:ext cx="72009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56" b="1" i="0">
                <a:solidFill>
                  <a:srgbClr val="1C2235"/>
                </a:solidFill>
                <a:latin typeface="Segoe UI"/>
              </a:rPr>
              <a:t>102 ₴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4299966" y="3765042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35,5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146036" y="3765042"/>
            <a:ext cx="72009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56" b="0" i="0">
                <a:solidFill>
                  <a:srgbClr val="1C2235"/>
                </a:solidFill>
                <a:latin typeface="Segoe UI"/>
              </a:rPr>
              <a:t>110 ₴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4882896" y="3765042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35,1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7934706" y="3765042"/>
            <a:ext cx="72009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56" b="0" i="0">
                <a:solidFill>
                  <a:srgbClr val="1C2235"/>
                </a:solidFill>
                <a:latin typeface="Segoe UI"/>
              </a:rPr>
              <a:t>109 ₴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425196" y="3984498"/>
            <a:ext cx="34290" cy="219456"/>
          </a:xfrm>
          <a:prstGeom prst="rect">
            <a:avLst/>
          </a:prstGeom>
          <a:solidFill>
            <a:srgbClr val="B23A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534924" y="3984498"/>
            <a:ext cx="20574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303A5D"/>
                </a:solidFill>
                <a:latin typeface="Segoe UI"/>
              </a:rPr>
              <a:t>Topping Vegetables 35 г · 2 смаки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2551176" y="3984498"/>
            <a:ext cx="48006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$0,400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3134106" y="3984498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40,2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5568696" y="3984498"/>
            <a:ext cx="72009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56" b="0" i="0">
                <a:solidFill>
                  <a:srgbClr val="1C2235"/>
                </a:solidFill>
                <a:latin typeface="Segoe UI"/>
              </a:rPr>
              <a:t>125 ₴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3717036" y="3984498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31,5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425946" y="4005072"/>
            <a:ext cx="651510" cy="178308"/>
          </a:xfrm>
          <a:prstGeom prst="rect">
            <a:avLst/>
          </a:prstGeom>
          <a:solidFill>
            <a:srgbClr val="FDE0A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357366" y="3984498"/>
            <a:ext cx="72009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56" b="1" i="0">
                <a:solidFill>
                  <a:srgbClr val="1C2235"/>
                </a:solidFill>
                <a:latin typeface="Segoe UI"/>
              </a:rPr>
              <a:t>98 ₴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4299966" y="3984498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35,5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7146036" y="3984498"/>
            <a:ext cx="72009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56" b="0" i="0">
                <a:solidFill>
                  <a:srgbClr val="1C2235"/>
                </a:solidFill>
                <a:latin typeface="Segoe UI"/>
              </a:rPr>
              <a:t>110 ₴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4882896" y="3984498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35,1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7934706" y="3984498"/>
            <a:ext cx="72009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56" b="0" i="0">
                <a:solidFill>
                  <a:srgbClr val="1C2235"/>
                </a:solidFill>
                <a:latin typeface="Segoe UI"/>
              </a:rPr>
              <a:t>109 ₴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425196" y="4203954"/>
            <a:ext cx="8298180" cy="219456"/>
          </a:xfrm>
          <a:prstGeom prst="rect">
            <a:avLst/>
          </a:prstGeom>
          <a:solidFill>
            <a:srgbClr val="F8F9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425196" y="4203954"/>
            <a:ext cx="34290" cy="219456"/>
          </a:xfrm>
          <a:prstGeom prst="rect">
            <a:avLst/>
          </a:prstGeom>
          <a:solidFill>
            <a:srgbClr val="B23A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534924" y="4203954"/>
            <a:ext cx="20574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303A5D"/>
                </a:solidFill>
                <a:latin typeface="Segoe UI"/>
              </a:rPr>
              <a:t>Topping Vegetables 70 г · 3 смаки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2551176" y="4203954"/>
            <a:ext cx="48006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$0,810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3134106" y="4203954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81,5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5568696" y="4203954"/>
            <a:ext cx="72009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56" b="0" i="0">
                <a:solidFill>
                  <a:srgbClr val="1C2235"/>
                </a:solidFill>
                <a:latin typeface="Segoe UI"/>
              </a:rPr>
              <a:t>254 ₴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3717036" y="4203954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63,9</a:t>
            </a:r>
          </a:p>
        </p:txBody>
      </p:sp>
      <p:sp>
        <p:nvSpPr>
          <p:cNvPr id="178" name="Rectangle 177"/>
          <p:cNvSpPr/>
          <p:nvPr/>
        </p:nvSpPr>
        <p:spPr>
          <a:xfrm>
            <a:off x="6425946" y="4224528"/>
            <a:ext cx="651510" cy="178308"/>
          </a:xfrm>
          <a:prstGeom prst="rect">
            <a:avLst/>
          </a:prstGeom>
          <a:solidFill>
            <a:srgbClr val="FDE0A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9" name="TextBox 178"/>
          <p:cNvSpPr txBox="1"/>
          <p:nvPr/>
        </p:nvSpPr>
        <p:spPr>
          <a:xfrm>
            <a:off x="6357366" y="4203954"/>
            <a:ext cx="72009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56" b="1" i="0">
                <a:solidFill>
                  <a:srgbClr val="1C2235"/>
                </a:solidFill>
                <a:latin typeface="Segoe UI"/>
              </a:rPr>
              <a:t>199 ₴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4299966" y="4203954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71,8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7146036" y="4203954"/>
            <a:ext cx="72009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56" b="0" i="0">
                <a:solidFill>
                  <a:srgbClr val="1C2235"/>
                </a:solidFill>
                <a:latin typeface="Segoe UI"/>
              </a:rPr>
              <a:t>223 ₴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4882896" y="4203954"/>
            <a:ext cx="54864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71,1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7934706" y="4203954"/>
            <a:ext cx="72009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56" b="0" i="0">
                <a:solidFill>
                  <a:srgbClr val="1C2235"/>
                </a:solidFill>
                <a:latin typeface="Segoe UI"/>
              </a:rPr>
              <a:t>221 ₴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425196" y="4491990"/>
            <a:ext cx="829818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0" i="0">
                <a:solidFill>
                  <a:srgbClr val="717890"/>
                </a:solidFill>
                <a:latin typeface="Segoe UI"/>
              </a:rPr>
              <a:t>Для порівняння: у файлі Retail + Bulk собівартість того ж товару в 40′ нижча — Singha Original 42 г: 50,3 ₴ → полиця 156 ₴; Thai-Nichi Original 50 г: 40,3 ₴ → 125 ₴ (у таблиці Retail: 54,7 ₴ і 42,5 ₴). Для презентації взято таблицю Retail, як у каталозі постачальників.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425196" y="4855464"/>
            <a:ext cx="829818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1">
                <a:solidFill>
                  <a:srgbClr val="717890"/>
                </a:solidFill>
                <a:latin typeface="Segoe UI"/>
              </a:rPr>
              <a:t>Self-Cost_Snacks: «ИТОГО С/С, UAH ед. товара»; собівартість у таблиці = $ × 45. Ціна мережі = СС ÷ 0,45; полиця = ціна мережі × 1,40.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977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3977" cy="795528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95528"/>
            <a:ext cx="9143977" cy="41148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" y="178308"/>
            <a:ext cx="1042416" cy="4526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728216" y="205740"/>
            <a:ext cx="61722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1" i="0" spc="30">
                <a:solidFill>
                  <a:srgbClr val="FFC95C"/>
                </a:solidFill>
                <a:latin typeface="Segoe UI"/>
              </a:rPr>
              <a:t>ЧУТЛИВІСТЬ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28216" y="377190"/>
            <a:ext cx="61722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20" b="1" i="0">
                <a:solidFill>
                  <a:srgbClr val="FFFFFF"/>
                </a:solidFill>
                <a:latin typeface="Segoe UI"/>
              </a:rPr>
              <a:t>Полиця при різній марже: усі маржі на одному слайді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20990" y="301752"/>
            <a:ext cx="768096" cy="2263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360" b="1" i="0">
                <a:solidFill>
                  <a:srgbClr val="465382"/>
                </a:solidFill>
                <a:latin typeface="Segoe UI"/>
              </a:rPr>
              <a:t>39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5196" y="918972"/>
            <a:ext cx="8298180" cy="3086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72" b="0" i="0">
                <a:solidFill>
                  <a:srgbClr val="717890"/>
                </a:solidFill>
                <a:latin typeface="Segoe UI"/>
              </a:rPr>
              <a:t>Наша маржа 35 → 15 % ціни партнеру (бонус мережі 25 %, націнка ×1,40). Основна колонка — маржа 30 % (жирним). Зелена клітинка — полиця не вище за типову ціну близьких за вагою позицій ринку; червона — вище за весь їхній діапазон.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5196" y="1220724"/>
            <a:ext cx="8298180" cy="20574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4924" y="1220724"/>
            <a:ext cx="2400300" cy="2057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ТОВАР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37460" y="1220724"/>
            <a:ext cx="1371600" cy="2057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РИНОК ПОРУЧ · МЕДІАНА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83380" y="1220724"/>
            <a:ext cx="822960" cy="2057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МАРЖА 35 %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74920" y="1220724"/>
            <a:ext cx="822960" cy="2057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МАРЖА 30 %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66460" y="1220724"/>
            <a:ext cx="822960" cy="2057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МАРЖА 25 %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1220724"/>
            <a:ext cx="822960" cy="2057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МАРЖА 20 %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49540" y="1220724"/>
            <a:ext cx="822960" cy="2057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МАРЖА 15 %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5196" y="1453896"/>
            <a:ext cx="8298180" cy="233172"/>
          </a:xfrm>
          <a:prstGeom prst="rect">
            <a:avLst/>
          </a:prstGeom>
          <a:solidFill>
            <a:srgbClr val="F8F9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5196" y="1453896"/>
            <a:ext cx="34290" cy="233172"/>
          </a:xfrm>
          <a:prstGeom prst="rect">
            <a:avLst/>
          </a:prstGeom>
          <a:solidFill>
            <a:srgbClr val="B3621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4924" y="1453896"/>
            <a:ext cx="2057400" cy="2331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1" i="0">
                <a:solidFill>
                  <a:srgbClr val="303A5D"/>
                </a:solidFill>
                <a:latin typeface="Segoe UI"/>
              </a:rPr>
              <a:t>Norimaki Original 42 г · 2 смаки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37460" y="1453896"/>
            <a:ext cx="1371600" cy="2331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08" b="0" i="0">
                <a:solidFill>
                  <a:srgbClr val="717890"/>
                </a:solidFill>
                <a:latin typeface="Segoe UI"/>
              </a:rPr>
              <a:t>148 ₴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97096" y="1474470"/>
            <a:ext cx="822960" cy="192024"/>
          </a:xfrm>
          <a:prstGeom prst="rect">
            <a:avLst/>
          </a:prstGeom>
          <a:solidFill>
            <a:srgbClr val="ECCE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83380" y="1453896"/>
            <a:ext cx="754380" cy="2331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56" b="0" i="0">
                <a:solidFill>
                  <a:srgbClr val="1C2235"/>
                </a:solidFill>
                <a:latin typeface="Segoe UI"/>
              </a:rPr>
              <a:t>191 ₴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88636" y="1474470"/>
            <a:ext cx="822960" cy="192024"/>
          </a:xfrm>
          <a:prstGeom prst="rect">
            <a:avLst/>
          </a:prstGeom>
          <a:solidFill>
            <a:srgbClr val="ECCE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74920" y="1453896"/>
            <a:ext cx="754380" cy="2331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56" b="1" i="0">
                <a:solidFill>
                  <a:srgbClr val="1C2235"/>
                </a:solidFill>
                <a:latin typeface="Segoe UI"/>
              </a:rPr>
              <a:t>170 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80176" y="1474470"/>
            <a:ext cx="822960" cy="192024"/>
          </a:xfrm>
          <a:prstGeom prst="rect">
            <a:avLst/>
          </a:prstGeom>
          <a:solidFill>
            <a:srgbClr val="ECCE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66460" y="1453896"/>
            <a:ext cx="754380" cy="2331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56" b="0" i="0">
                <a:solidFill>
                  <a:srgbClr val="1C2235"/>
                </a:solidFill>
                <a:latin typeface="Segoe UI"/>
              </a:rPr>
              <a:t>153 ₴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71716" y="1474470"/>
            <a:ext cx="822960" cy="192024"/>
          </a:xfrm>
          <a:prstGeom prst="rect">
            <a:avLst/>
          </a:prstGeom>
          <a:solidFill>
            <a:srgbClr val="D5E6D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0" y="1453896"/>
            <a:ext cx="754380" cy="2331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56" b="0" i="0">
                <a:solidFill>
                  <a:srgbClr val="1C2235"/>
                </a:solidFill>
                <a:latin typeface="Segoe UI"/>
              </a:rPr>
              <a:t>139 ₴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63256" y="1474470"/>
            <a:ext cx="822960" cy="192024"/>
          </a:xfrm>
          <a:prstGeom prst="rect">
            <a:avLst/>
          </a:prstGeom>
          <a:solidFill>
            <a:srgbClr val="D5E6D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49540" y="1453896"/>
            <a:ext cx="754380" cy="2331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56" b="0" i="0">
                <a:solidFill>
                  <a:srgbClr val="1C2235"/>
                </a:solidFill>
                <a:latin typeface="Segoe UI"/>
              </a:rPr>
              <a:t>128 ₴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5196" y="1687068"/>
            <a:ext cx="34290" cy="233172"/>
          </a:xfrm>
          <a:prstGeom prst="rect">
            <a:avLst/>
          </a:prstGeom>
          <a:solidFill>
            <a:srgbClr val="1D5B6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4924" y="1687068"/>
            <a:ext cx="2057400" cy="2331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1" i="0">
                <a:solidFill>
                  <a:srgbClr val="303A5D"/>
                </a:solidFill>
                <a:latin typeface="Segoe UI"/>
              </a:rPr>
              <a:t>Norimaki Original 50 г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537460" y="1687068"/>
            <a:ext cx="1371600" cy="2331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08" b="0" i="0">
                <a:solidFill>
                  <a:srgbClr val="717890"/>
                </a:solidFill>
                <a:latin typeface="Segoe UI"/>
              </a:rPr>
              <a:t>148 ₴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83380" y="1687068"/>
            <a:ext cx="754380" cy="2331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56" b="0" i="0">
                <a:solidFill>
                  <a:srgbClr val="1C2235"/>
                </a:solidFill>
                <a:latin typeface="Segoe UI"/>
              </a:rPr>
              <a:t>149 ₴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88636" y="1707642"/>
            <a:ext cx="822960" cy="192024"/>
          </a:xfrm>
          <a:prstGeom prst="rect">
            <a:avLst/>
          </a:prstGeom>
          <a:solidFill>
            <a:srgbClr val="D5E6D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74920" y="1687068"/>
            <a:ext cx="754380" cy="2331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56" b="1" i="0">
                <a:solidFill>
                  <a:srgbClr val="1C2235"/>
                </a:solidFill>
                <a:latin typeface="Segoe UI"/>
              </a:rPr>
              <a:t>132 ₴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980176" y="1707642"/>
            <a:ext cx="822960" cy="192024"/>
          </a:xfrm>
          <a:prstGeom prst="rect">
            <a:avLst/>
          </a:prstGeom>
          <a:solidFill>
            <a:srgbClr val="D5E6D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966460" y="1687068"/>
            <a:ext cx="754380" cy="2331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56" b="0" i="0">
                <a:solidFill>
                  <a:srgbClr val="1C2235"/>
                </a:solidFill>
                <a:latin typeface="Segoe UI"/>
              </a:rPr>
              <a:t>119 ₴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871716" y="1707642"/>
            <a:ext cx="822960" cy="192024"/>
          </a:xfrm>
          <a:prstGeom prst="rect">
            <a:avLst/>
          </a:prstGeom>
          <a:solidFill>
            <a:srgbClr val="D5E6D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58000" y="1687068"/>
            <a:ext cx="754380" cy="2331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56" b="0" i="0">
                <a:solidFill>
                  <a:srgbClr val="1C2235"/>
                </a:solidFill>
                <a:latin typeface="Segoe UI"/>
              </a:rPr>
              <a:t>108 ₴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763256" y="1707642"/>
            <a:ext cx="822960" cy="192024"/>
          </a:xfrm>
          <a:prstGeom prst="rect">
            <a:avLst/>
          </a:prstGeom>
          <a:solidFill>
            <a:srgbClr val="D5E6D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749540" y="1687068"/>
            <a:ext cx="754380" cy="2331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56" b="0" i="0">
                <a:solidFill>
                  <a:srgbClr val="1C2235"/>
                </a:solidFill>
                <a:latin typeface="Segoe UI"/>
              </a:rPr>
              <a:t>99 ₴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5196" y="1920240"/>
            <a:ext cx="8298180" cy="233172"/>
          </a:xfrm>
          <a:prstGeom prst="rect">
            <a:avLst/>
          </a:prstGeom>
          <a:solidFill>
            <a:srgbClr val="F8F9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25196" y="1920240"/>
            <a:ext cx="34290" cy="233172"/>
          </a:xfrm>
          <a:prstGeom prst="rect">
            <a:avLst/>
          </a:prstGeom>
          <a:solidFill>
            <a:srgbClr val="1D5B6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34924" y="1920240"/>
            <a:ext cx="2057400" cy="2331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1" i="0">
                <a:solidFill>
                  <a:srgbClr val="303A5D"/>
                </a:solidFill>
                <a:latin typeface="Segoe UI"/>
              </a:rPr>
              <a:t>Norimaki Wasabi 55 г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537460" y="1920240"/>
            <a:ext cx="1371600" cy="2331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08" b="0" i="0">
                <a:solidFill>
                  <a:srgbClr val="717890"/>
                </a:solidFill>
                <a:latin typeface="Segoe UI"/>
              </a:rPr>
              <a:t>148 ₴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197096" y="1940814"/>
            <a:ext cx="822960" cy="192024"/>
          </a:xfrm>
          <a:prstGeom prst="rect">
            <a:avLst/>
          </a:prstGeom>
          <a:solidFill>
            <a:srgbClr val="ECCE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183380" y="1920240"/>
            <a:ext cx="754380" cy="2331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56" b="0" i="0">
                <a:solidFill>
                  <a:srgbClr val="1C2235"/>
                </a:solidFill>
                <a:latin typeface="Segoe UI"/>
              </a:rPr>
              <a:t>180 ₴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088636" y="1940814"/>
            <a:ext cx="822960" cy="192024"/>
          </a:xfrm>
          <a:prstGeom prst="rect">
            <a:avLst/>
          </a:prstGeom>
          <a:solidFill>
            <a:srgbClr val="ECCEC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074920" y="1920240"/>
            <a:ext cx="754380" cy="2331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56" b="1" i="0">
                <a:solidFill>
                  <a:srgbClr val="1C2235"/>
                </a:solidFill>
                <a:latin typeface="Segoe UI"/>
              </a:rPr>
              <a:t>160 ₴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980176" y="1940814"/>
            <a:ext cx="822960" cy="192024"/>
          </a:xfrm>
          <a:prstGeom prst="rect">
            <a:avLst/>
          </a:prstGeom>
          <a:solidFill>
            <a:srgbClr val="D5E6D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966460" y="1920240"/>
            <a:ext cx="754380" cy="2331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56" b="0" i="0">
                <a:solidFill>
                  <a:srgbClr val="1C2235"/>
                </a:solidFill>
                <a:latin typeface="Segoe UI"/>
              </a:rPr>
              <a:t>144 ₴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871716" y="1940814"/>
            <a:ext cx="822960" cy="192024"/>
          </a:xfrm>
          <a:prstGeom prst="rect">
            <a:avLst/>
          </a:prstGeom>
          <a:solidFill>
            <a:srgbClr val="D5E6D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858000" y="1920240"/>
            <a:ext cx="754380" cy="2331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56" b="0" i="0">
                <a:solidFill>
                  <a:srgbClr val="1C2235"/>
                </a:solidFill>
                <a:latin typeface="Segoe UI"/>
              </a:rPr>
              <a:t>131 ₴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763256" y="1940814"/>
            <a:ext cx="822960" cy="192024"/>
          </a:xfrm>
          <a:prstGeom prst="rect">
            <a:avLst/>
          </a:prstGeom>
          <a:solidFill>
            <a:srgbClr val="D5E6D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749540" y="1920240"/>
            <a:ext cx="754380" cy="2331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56" b="0" i="0">
                <a:solidFill>
                  <a:srgbClr val="1C2235"/>
                </a:solidFill>
                <a:latin typeface="Segoe UI"/>
              </a:rPr>
              <a:t>120 ₴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25196" y="2153412"/>
            <a:ext cx="34290" cy="233172"/>
          </a:xfrm>
          <a:prstGeom prst="rect">
            <a:avLst/>
          </a:prstGeom>
          <a:solidFill>
            <a:srgbClr val="2F7A3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34924" y="2153412"/>
            <a:ext cx="2057400" cy="2331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1" i="0">
                <a:solidFill>
                  <a:srgbClr val="303A5D"/>
                </a:solidFill>
                <a:latin typeface="Segoe UI"/>
              </a:rPr>
              <a:t>Wow ROLL Original 2,5 г · 3 смаки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537460" y="2153412"/>
            <a:ext cx="1371600" cy="2331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08" b="0" i="0">
                <a:solidFill>
                  <a:srgbClr val="717890"/>
                </a:solidFill>
                <a:latin typeface="Segoe UI"/>
              </a:rPr>
              <a:t>42 ₴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197096" y="2173986"/>
            <a:ext cx="822960" cy="192024"/>
          </a:xfrm>
          <a:prstGeom prst="rect">
            <a:avLst/>
          </a:prstGeom>
          <a:solidFill>
            <a:srgbClr val="D5E6D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183380" y="2153412"/>
            <a:ext cx="754380" cy="2331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56" b="0" i="0">
                <a:solidFill>
                  <a:srgbClr val="1C2235"/>
                </a:solidFill>
                <a:latin typeface="Segoe UI"/>
              </a:rPr>
              <a:t>33 ₴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088636" y="2173986"/>
            <a:ext cx="822960" cy="192024"/>
          </a:xfrm>
          <a:prstGeom prst="rect">
            <a:avLst/>
          </a:prstGeom>
          <a:solidFill>
            <a:srgbClr val="D5E6D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074920" y="2153412"/>
            <a:ext cx="754380" cy="2331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56" b="1" i="0">
                <a:solidFill>
                  <a:srgbClr val="1C2235"/>
                </a:solidFill>
                <a:latin typeface="Segoe UI"/>
              </a:rPr>
              <a:t>30 ₴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980176" y="2173986"/>
            <a:ext cx="822960" cy="192024"/>
          </a:xfrm>
          <a:prstGeom prst="rect">
            <a:avLst/>
          </a:prstGeom>
          <a:solidFill>
            <a:srgbClr val="D5E6D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966460" y="2153412"/>
            <a:ext cx="754380" cy="2331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56" b="0" i="0">
                <a:solidFill>
                  <a:srgbClr val="1C2235"/>
                </a:solidFill>
                <a:latin typeface="Segoe UI"/>
              </a:rPr>
              <a:t>27 ₴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871716" y="2173986"/>
            <a:ext cx="822960" cy="192024"/>
          </a:xfrm>
          <a:prstGeom prst="rect">
            <a:avLst/>
          </a:prstGeom>
          <a:solidFill>
            <a:srgbClr val="D5E6D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858000" y="2153412"/>
            <a:ext cx="754380" cy="2331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56" b="0" i="0">
                <a:solidFill>
                  <a:srgbClr val="1C2235"/>
                </a:solidFill>
                <a:latin typeface="Segoe UI"/>
              </a:rPr>
              <a:t>24 ₴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763256" y="2173986"/>
            <a:ext cx="822960" cy="192024"/>
          </a:xfrm>
          <a:prstGeom prst="rect">
            <a:avLst/>
          </a:prstGeom>
          <a:solidFill>
            <a:srgbClr val="D5E6D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749540" y="2153412"/>
            <a:ext cx="754380" cy="2331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56" b="0" i="0">
                <a:solidFill>
                  <a:srgbClr val="1C2235"/>
                </a:solidFill>
                <a:latin typeface="Segoe UI"/>
              </a:rPr>
              <a:t>22 ₴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25196" y="2386584"/>
            <a:ext cx="8298180" cy="233172"/>
          </a:xfrm>
          <a:prstGeom prst="rect">
            <a:avLst/>
          </a:prstGeom>
          <a:solidFill>
            <a:srgbClr val="F8F9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425196" y="2386584"/>
            <a:ext cx="34290" cy="233172"/>
          </a:xfrm>
          <a:prstGeom prst="rect">
            <a:avLst/>
          </a:prstGeom>
          <a:solidFill>
            <a:srgbClr val="2F7A3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34924" y="2386584"/>
            <a:ext cx="2057400" cy="2331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1" i="0">
                <a:solidFill>
                  <a:srgbClr val="303A5D"/>
                </a:solidFill>
                <a:latin typeface="Segoe UI"/>
              </a:rPr>
              <a:t>Wow DOUBLE ROLL Original 5 г · 2 смаки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537460" y="2386584"/>
            <a:ext cx="1371600" cy="2331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08" b="0" i="0">
                <a:solidFill>
                  <a:srgbClr val="717890"/>
                </a:solidFill>
                <a:latin typeface="Segoe UI"/>
              </a:rPr>
              <a:t>42 ₴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183380" y="2386584"/>
            <a:ext cx="754380" cy="2331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56" b="0" i="0">
                <a:solidFill>
                  <a:srgbClr val="1C2235"/>
                </a:solidFill>
                <a:latin typeface="Segoe UI"/>
              </a:rPr>
              <a:t>60 ₴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074920" y="2386584"/>
            <a:ext cx="754380" cy="2331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56" b="1" i="0">
                <a:solidFill>
                  <a:srgbClr val="1C2235"/>
                </a:solidFill>
                <a:latin typeface="Segoe UI"/>
              </a:rPr>
              <a:t>53 ₴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966460" y="2386584"/>
            <a:ext cx="754380" cy="2331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56" b="0" i="0">
                <a:solidFill>
                  <a:srgbClr val="1C2235"/>
                </a:solidFill>
                <a:latin typeface="Segoe UI"/>
              </a:rPr>
              <a:t>48 ₴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858000" y="2386584"/>
            <a:ext cx="754380" cy="2331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56" b="0" i="0">
                <a:solidFill>
                  <a:srgbClr val="1C2235"/>
                </a:solidFill>
                <a:latin typeface="Segoe UI"/>
              </a:rPr>
              <a:t>43 ₴</a:t>
            </a:r>
          </a:p>
        </p:txBody>
      </p:sp>
      <p:sp>
        <p:nvSpPr>
          <p:cNvPr id="79" name="Rectangle 78"/>
          <p:cNvSpPr/>
          <p:nvPr/>
        </p:nvSpPr>
        <p:spPr>
          <a:xfrm>
            <a:off x="7763256" y="2407158"/>
            <a:ext cx="822960" cy="192024"/>
          </a:xfrm>
          <a:prstGeom prst="rect">
            <a:avLst/>
          </a:prstGeom>
          <a:solidFill>
            <a:srgbClr val="D5E6D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7749540" y="2386584"/>
            <a:ext cx="754380" cy="2331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56" b="0" i="0">
                <a:solidFill>
                  <a:srgbClr val="1C2235"/>
                </a:solidFill>
                <a:latin typeface="Segoe UI"/>
              </a:rPr>
              <a:t>40 ₴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25196" y="2619756"/>
            <a:ext cx="34290" cy="233172"/>
          </a:xfrm>
          <a:prstGeom prst="rect">
            <a:avLst/>
          </a:prstGeom>
          <a:solidFill>
            <a:srgbClr val="2F7A3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34924" y="2619756"/>
            <a:ext cx="2057400" cy="2331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1" i="0">
                <a:solidFill>
                  <a:srgbClr val="303A5D"/>
                </a:solidFill>
                <a:latin typeface="Segoe UI"/>
              </a:rPr>
              <a:t>Wow SEAWEED Original 12 г · 3 смаки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537460" y="2619756"/>
            <a:ext cx="1371600" cy="2331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08" b="0" i="0">
                <a:solidFill>
                  <a:srgbClr val="717890"/>
                </a:solidFill>
                <a:latin typeface="Segoe UI"/>
              </a:rPr>
              <a:t>33 ₴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183380" y="2619756"/>
            <a:ext cx="754380" cy="2331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56" b="0" i="0">
                <a:solidFill>
                  <a:srgbClr val="1C2235"/>
                </a:solidFill>
                <a:latin typeface="Segoe UI"/>
              </a:rPr>
              <a:t>122 ₴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074920" y="2619756"/>
            <a:ext cx="754380" cy="2331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56" b="1" i="0">
                <a:solidFill>
                  <a:srgbClr val="1C2235"/>
                </a:solidFill>
                <a:latin typeface="Segoe UI"/>
              </a:rPr>
              <a:t>108 ₴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966460" y="2619756"/>
            <a:ext cx="754380" cy="2331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56" b="0" i="0">
                <a:solidFill>
                  <a:srgbClr val="1C2235"/>
                </a:solidFill>
                <a:latin typeface="Segoe UI"/>
              </a:rPr>
              <a:t>98 ₴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858000" y="2619756"/>
            <a:ext cx="754380" cy="2331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56" b="0" i="0">
                <a:solidFill>
                  <a:srgbClr val="1C2235"/>
                </a:solidFill>
                <a:latin typeface="Segoe UI"/>
              </a:rPr>
              <a:t>89 ₴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749540" y="2619756"/>
            <a:ext cx="754380" cy="2331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56" b="0" i="0">
                <a:solidFill>
                  <a:srgbClr val="1C2235"/>
                </a:solidFill>
                <a:latin typeface="Segoe UI"/>
              </a:rPr>
              <a:t>81 ₴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25196" y="2852928"/>
            <a:ext cx="8298180" cy="233172"/>
          </a:xfrm>
          <a:prstGeom prst="rect">
            <a:avLst/>
          </a:prstGeom>
          <a:solidFill>
            <a:srgbClr val="F8F9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425196" y="2852928"/>
            <a:ext cx="34290" cy="233172"/>
          </a:xfrm>
          <a:prstGeom prst="rect">
            <a:avLst/>
          </a:prstGeom>
          <a:solidFill>
            <a:srgbClr val="2F7A3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534924" y="2852928"/>
            <a:ext cx="2057400" cy="2331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1" i="0">
                <a:solidFill>
                  <a:srgbClr val="303A5D"/>
                </a:solidFill>
                <a:latin typeface="Segoe UI"/>
              </a:rPr>
              <a:t>Wow MINI Original 10 г · 2 смаки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537460" y="2852928"/>
            <a:ext cx="1371600" cy="2331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08" b="0" i="0">
                <a:solidFill>
                  <a:srgbClr val="717890"/>
                </a:solidFill>
                <a:latin typeface="Segoe UI"/>
              </a:rPr>
              <a:t>33 ₴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183380" y="2852928"/>
            <a:ext cx="754380" cy="2331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56" b="0" i="0">
                <a:solidFill>
                  <a:srgbClr val="1C2235"/>
                </a:solidFill>
                <a:latin typeface="Segoe UI"/>
              </a:rPr>
              <a:t>123 ₴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074920" y="2852928"/>
            <a:ext cx="754380" cy="2331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56" b="1" i="0">
                <a:solidFill>
                  <a:srgbClr val="1C2235"/>
                </a:solidFill>
                <a:latin typeface="Segoe UI"/>
              </a:rPr>
              <a:t>109 ₴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966460" y="2852928"/>
            <a:ext cx="754380" cy="2331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56" b="0" i="0">
                <a:solidFill>
                  <a:srgbClr val="1C2235"/>
                </a:solidFill>
                <a:latin typeface="Segoe UI"/>
              </a:rPr>
              <a:t>98 ₴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858000" y="2852928"/>
            <a:ext cx="754380" cy="2331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56" b="0" i="0">
                <a:solidFill>
                  <a:srgbClr val="1C2235"/>
                </a:solidFill>
                <a:latin typeface="Segoe UI"/>
              </a:rPr>
              <a:t>89 ₴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7749540" y="2852928"/>
            <a:ext cx="754380" cy="2331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56" b="0" i="0">
                <a:solidFill>
                  <a:srgbClr val="1C2235"/>
                </a:solidFill>
                <a:latin typeface="Segoe UI"/>
              </a:rPr>
              <a:t>82 ₴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25196" y="3086100"/>
            <a:ext cx="34290" cy="233172"/>
          </a:xfrm>
          <a:prstGeom prst="rect">
            <a:avLst/>
          </a:prstGeom>
          <a:solidFill>
            <a:srgbClr val="B23A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534924" y="3086100"/>
            <a:ext cx="2057400" cy="2331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1" i="0">
                <a:solidFill>
                  <a:srgbClr val="303A5D"/>
                </a:solidFill>
                <a:latin typeface="Segoe UI"/>
              </a:rPr>
              <a:t>Tempura Corn 30 г · 3 смаки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2537460" y="3086100"/>
            <a:ext cx="1371600" cy="2331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08" b="0" i="0">
                <a:solidFill>
                  <a:srgbClr val="717890"/>
                </a:solidFill>
                <a:latin typeface="Segoe UI"/>
              </a:rPr>
              <a:t>104 ₴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183380" y="3086100"/>
            <a:ext cx="754380" cy="2331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56" b="0" i="0">
                <a:solidFill>
                  <a:srgbClr val="1C2235"/>
                </a:solidFill>
                <a:latin typeface="Segoe UI"/>
              </a:rPr>
              <a:t>119 ₴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5074920" y="3086100"/>
            <a:ext cx="754380" cy="2331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56" b="1" i="0">
                <a:solidFill>
                  <a:srgbClr val="1C2235"/>
                </a:solidFill>
                <a:latin typeface="Segoe UI"/>
              </a:rPr>
              <a:t>105 ₴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5980176" y="3106674"/>
            <a:ext cx="822960" cy="192024"/>
          </a:xfrm>
          <a:prstGeom prst="rect">
            <a:avLst/>
          </a:prstGeom>
          <a:solidFill>
            <a:srgbClr val="D5E6D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966460" y="3086100"/>
            <a:ext cx="754380" cy="2331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56" b="0" i="0">
                <a:solidFill>
                  <a:srgbClr val="1C2235"/>
                </a:solidFill>
                <a:latin typeface="Segoe UI"/>
              </a:rPr>
              <a:t>95 ₴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6871716" y="3106674"/>
            <a:ext cx="822960" cy="192024"/>
          </a:xfrm>
          <a:prstGeom prst="rect">
            <a:avLst/>
          </a:prstGeom>
          <a:solidFill>
            <a:srgbClr val="D5E6D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6858000" y="3086100"/>
            <a:ext cx="754380" cy="2331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56" b="0" i="0">
                <a:solidFill>
                  <a:srgbClr val="1C2235"/>
                </a:solidFill>
                <a:latin typeface="Segoe UI"/>
              </a:rPr>
              <a:t>86 ₴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7763256" y="3106674"/>
            <a:ext cx="822960" cy="192024"/>
          </a:xfrm>
          <a:prstGeom prst="rect">
            <a:avLst/>
          </a:prstGeom>
          <a:solidFill>
            <a:srgbClr val="D5E6D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7749540" y="3086100"/>
            <a:ext cx="754380" cy="2331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56" b="0" i="0">
                <a:solidFill>
                  <a:srgbClr val="1C2235"/>
                </a:solidFill>
                <a:latin typeface="Segoe UI"/>
              </a:rPr>
              <a:t>79 ₴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425196" y="3319272"/>
            <a:ext cx="8298180" cy="233172"/>
          </a:xfrm>
          <a:prstGeom prst="rect">
            <a:avLst/>
          </a:prstGeom>
          <a:solidFill>
            <a:srgbClr val="F8F9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425196" y="3319272"/>
            <a:ext cx="34290" cy="233172"/>
          </a:xfrm>
          <a:prstGeom prst="rect">
            <a:avLst/>
          </a:prstGeom>
          <a:solidFill>
            <a:srgbClr val="B23A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534924" y="3319272"/>
            <a:ext cx="2057400" cy="2331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1" i="0">
                <a:solidFill>
                  <a:srgbClr val="303A5D"/>
                </a:solidFill>
                <a:latin typeface="Segoe UI"/>
              </a:rPr>
              <a:t>Tempura Corn 50 г · 3 смаки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2537460" y="3319272"/>
            <a:ext cx="1371600" cy="2331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08" b="0" i="0">
                <a:solidFill>
                  <a:srgbClr val="717890"/>
                </a:solidFill>
                <a:latin typeface="Segoe UI"/>
              </a:rPr>
              <a:t>160 ₴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183380" y="3319272"/>
            <a:ext cx="754380" cy="2331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56" b="0" i="0">
                <a:solidFill>
                  <a:srgbClr val="1C2235"/>
                </a:solidFill>
                <a:latin typeface="Segoe UI"/>
              </a:rPr>
              <a:t>179 ₴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5088636" y="3339846"/>
            <a:ext cx="822960" cy="192024"/>
          </a:xfrm>
          <a:prstGeom prst="rect">
            <a:avLst/>
          </a:prstGeom>
          <a:solidFill>
            <a:srgbClr val="D5E6D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5074920" y="3319272"/>
            <a:ext cx="754380" cy="2331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56" b="1" i="0">
                <a:solidFill>
                  <a:srgbClr val="1C2235"/>
                </a:solidFill>
                <a:latin typeface="Segoe UI"/>
              </a:rPr>
              <a:t>159 ₴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5980176" y="3339846"/>
            <a:ext cx="822960" cy="192024"/>
          </a:xfrm>
          <a:prstGeom prst="rect">
            <a:avLst/>
          </a:prstGeom>
          <a:solidFill>
            <a:srgbClr val="D5E6D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5966460" y="3319272"/>
            <a:ext cx="754380" cy="2331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56" b="0" i="0">
                <a:solidFill>
                  <a:srgbClr val="1C2235"/>
                </a:solidFill>
                <a:latin typeface="Segoe UI"/>
              </a:rPr>
              <a:t>143 ₴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6871716" y="3339846"/>
            <a:ext cx="822960" cy="192024"/>
          </a:xfrm>
          <a:prstGeom prst="rect">
            <a:avLst/>
          </a:prstGeom>
          <a:solidFill>
            <a:srgbClr val="D5E6D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6858000" y="3319272"/>
            <a:ext cx="754380" cy="2331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56" b="0" i="0">
                <a:solidFill>
                  <a:srgbClr val="1C2235"/>
                </a:solidFill>
                <a:latin typeface="Segoe UI"/>
              </a:rPr>
              <a:t>130 ₴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7763256" y="3339846"/>
            <a:ext cx="822960" cy="192024"/>
          </a:xfrm>
          <a:prstGeom prst="rect">
            <a:avLst/>
          </a:prstGeom>
          <a:solidFill>
            <a:srgbClr val="D5E6D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7749540" y="3319272"/>
            <a:ext cx="754380" cy="2331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56" b="0" i="0">
                <a:solidFill>
                  <a:srgbClr val="1C2235"/>
                </a:solidFill>
                <a:latin typeface="Segoe UI"/>
              </a:rPr>
              <a:t>120 ₴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425196" y="3552444"/>
            <a:ext cx="34290" cy="233172"/>
          </a:xfrm>
          <a:prstGeom prst="rect">
            <a:avLst/>
          </a:prstGeom>
          <a:solidFill>
            <a:srgbClr val="B23A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534924" y="3552444"/>
            <a:ext cx="2057400" cy="2331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1" i="0">
                <a:solidFill>
                  <a:srgbClr val="303A5D"/>
                </a:solidFill>
                <a:latin typeface="Segoe UI"/>
              </a:rPr>
              <a:t>Sandwich Meat Floss 25 г · 2 смаки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2537460" y="3552444"/>
            <a:ext cx="1371600" cy="2331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08" b="0" i="0">
                <a:solidFill>
                  <a:srgbClr val="717890"/>
                </a:solidFill>
                <a:latin typeface="Segoe UI"/>
              </a:rPr>
              <a:t>96 ₴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4197096" y="3573018"/>
            <a:ext cx="822960" cy="192024"/>
          </a:xfrm>
          <a:prstGeom prst="rect">
            <a:avLst/>
          </a:prstGeom>
          <a:solidFill>
            <a:srgbClr val="D5E6D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4183380" y="3552444"/>
            <a:ext cx="754380" cy="2331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56" b="0" i="0">
                <a:solidFill>
                  <a:srgbClr val="1C2235"/>
                </a:solidFill>
                <a:latin typeface="Segoe UI"/>
              </a:rPr>
              <a:t>89 ₴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5088636" y="3573018"/>
            <a:ext cx="822960" cy="192024"/>
          </a:xfrm>
          <a:prstGeom prst="rect">
            <a:avLst/>
          </a:prstGeom>
          <a:solidFill>
            <a:srgbClr val="D5E6D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5074920" y="3552444"/>
            <a:ext cx="754380" cy="2331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56" b="1" i="0">
                <a:solidFill>
                  <a:srgbClr val="1C2235"/>
                </a:solidFill>
                <a:latin typeface="Segoe UI"/>
              </a:rPr>
              <a:t>79 ₴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5980176" y="3573018"/>
            <a:ext cx="822960" cy="192024"/>
          </a:xfrm>
          <a:prstGeom prst="rect">
            <a:avLst/>
          </a:prstGeom>
          <a:solidFill>
            <a:srgbClr val="D5E6D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5966460" y="3552444"/>
            <a:ext cx="754380" cy="2331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56" b="0" i="0">
                <a:solidFill>
                  <a:srgbClr val="1C2235"/>
                </a:solidFill>
                <a:latin typeface="Segoe UI"/>
              </a:rPr>
              <a:t>71 ₴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6871716" y="3573018"/>
            <a:ext cx="822960" cy="192024"/>
          </a:xfrm>
          <a:prstGeom prst="rect">
            <a:avLst/>
          </a:prstGeom>
          <a:solidFill>
            <a:srgbClr val="D5E6D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6858000" y="3552444"/>
            <a:ext cx="754380" cy="2331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56" b="0" i="0">
                <a:solidFill>
                  <a:srgbClr val="1C2235"/>
                </a:solidFill>
                <a:latin typeface="Segoe UI"/>
              </a:rPr>
              <a:t>65 ₴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7763256" y="3573018"/>
            <a:ext cx="822960" cy="192024"/>
          </a:xfrm>
          <a:prstGeom prst="rect">
            <a:avLst/>
          </a:prstGeom>
          <a:solidFill>
            <a:srgbClr val="D5E6D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7749540" y="3552444"/>
            <a:ext cx="754380" cy="2331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56" b="0" i="0">
                <a:solidFill>
                  <a:srgbClr val="1C2235"/>
                </a:solidFill>
                <a:latin typeface="Segoe UI"/>
              </a:rPr>
              <a:t>59 ₴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425196" y="3785616"/>
            <a:ext cx="8298180" cy="233172"/>
          </a:xfrm>
          <a:prstGeom prst="rect">
            <a:avLst/>
          </a:prstGeom>
          <a:solidFill>
            <a:srgbClr val="F8F9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425196" y="3785616"/>
            <a:ext cx="34290" cy="233172"/>
          </a:xfrm>
          <a:prstGeom prst="rect">
            <a:avLst/>
          </a:prstGeom>
          <a:solidFill>
            <a:srgbClr val="B23A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534924" y="3785616"/>
            <a:ext cx="2057400" cy="2331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1" i="0">
                <a:solidFill>
                  <a:srgbClr val="303A5D"/>
                </a:solidFill>
                <a:latin typeface="Segoe UI"/>
              </a:rPr>
              <a:t>Topping Chicken Floss 35 г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2537460" y="3785616"/>
            <a:ext cx="1371600" cy="2331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08" b="0" i="0">
                <a:solidFill>
                  <a:srgbClr val="717890"/>
                </a:solidFill>
                <a:latin typeface="Segoe UI"/>
              </a:rPr>
              <a:t>160 ₴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4197096" y="3806190"/>
            <a:ext cx="822960" cy="192024"/>
          </a:xfrm>
          <a:prstGeom prst="rect">
            <a:avLst/>
          </a:prstGeom>
          <a:solidFill>
            <a:srgbClr val="D5E6D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4183380" y="3785616"/>
            <a:ext cx="754380" cy="2331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56" b="0" i="0">
                <a:solidFill>
                  <a:srgbClr val="1C2235"/>
                </a:solidFill>
                <a:latin typeface="Segoe UI"/>
              </a:rPr>
              <a:t>115 ₴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5088636" y="3806190"/>
            <a:ext cx="822960" cy="192024"/>
          </a:xfrm>
          <a:prstGeom prst="rect">
            <a:avLst/>
          </a:prstGeom>
          <a:solidFill>
            <a:srgbClr val="D5E6D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5074920" y="3785616"/>
            <a:ext cx="754380" cy="2331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56" b="1" i="0">
                <a:solidFill>
                  <a:srgbClr val="1C2235"/>
                </a:solidFill>
                <a:latin typeface="Segoe UI"/>
              </a:rPr>
              <a:t>102 ₴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5980176" y="3806190"/>
            <a:ext cx="822960" cy="192024"/>
          </a:xfrm>
          <a:prstGeom prst="rect">
            <a:avLst/>
          </a:prstGeom>
          <a:solidFill>
            <a:srgbClr val="D5E6D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5966460" y="3785616"/>
            <a:ext cx="754380" cy="2331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56" b="0" i="0">
                <a:solidFill>
                  <a:srgbClr val="1C2235"/>
                </a:solidFill>
                <a:latin typeface="Segoe UI"/>
              </a:rPr>
              <a:t>92 ₴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6871716" y="3806190"/>
            <a:ext cx="822960" cy="192024"/>
          </a:xfrm>
          <a:prstGeom prst="rect">
            <a:avLst/>
          </a:prstGeom>
          <a:solidFill>
            <a:srgbClr val="D5E6D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6858000" y="3785616"/>
            <a:ext cx="754380" cy="2331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56" b="0" i="0">
                <a:solidFill>
                  <a:srgbClr val="1C2235"/>
                </a:solidFill>
                <a:latin typeface="Segoe UI"/>
              </a:rPr>
              <a:t>84 ₴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7763256" y="3806190"/>
            <a:ext cx="822960" cy="192024"/>
          </a:xfrm>
          <a:prstGeom prst="rect">
            <a:avLst/>
          </a:prstGeom>
          <a:solidFill>
            <a:srgbClr val="D5E6D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7749540" y="3785616"/>
            <a:ext cx="754380" cy="2331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56" b="0" i="0">
                <a:solidFill>
                  <a:srgbClr val="1C2235"/>
                </a:solidFill>
                <a:latin typeface="Segoe UI"/>
              </a:rPr>
              <a:t>77 ₴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425196" y="4018788"/>
            <a:ext cx="34290" cy="233172"/>
          </a:xfrm>
          <a:prstGeom prst="rect">
            <a:avLst/>
          </a:prstGeom>
          <a:solidFill>
            <a:srgbClr val="B23A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534924" y="4018788"/>
            <a:ext cx="2057400" cy="2331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1" i="0">
                <a:solidFill>
                  <a:srgbClr val="303A5D"/>
                </a:solidFill>
                <a:latin typeface="Segoe UI"/>
              </a:rPr>
              <a:t>Topping Vegetables 35 г · 2 смаки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2537460" y="4018788"/>
            <a:ext cx="1371600" cy="2331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08" b="0" i="0">
                <a:solidFill>
                  <a:srgbClr val="717890"/>
                </a:solidFill>
                <a:latin typeface="Segoe UI"/>
              </a:rPr>
              <a:t>160 ₴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4197096" y="4039362"/>
            <a:ext cx="822960" cy="192024"/>
          </a:xfrm>
          <a:prstGeom prst="rect">
            <a:avLst/>
          </a:prstGeom>
          <a:solidFill>
            <a:srgbClr val="D5E6D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4183380" y="4018788"/>
            <a:ext cx="754380" cy="2331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56" b="0" i="0">
                <a:solidFill>
                  <a:srgbClr val="1C2235"/>
                </a:solidFill>
                <a:latin typeface="Segoe UI"/>
              </a:rPr>
              <a:t>110 ₴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5088636" y="4039362"/>
            <a:ext cx="822960" cy="192024"/>
          </a:xfrm>
          <a:prstGeom prst="rect">
            <a:avLst/>
          </a:prstGeom>
          <a:solidFill>
            <a:srgbClr val="D5E6D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5074920" y="4018788"/>
            <a:ext cx="754380" cy="2331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56" b="1" i="0">
                <a:solidFill>
                  <a:srgbClr val="1C2235"/>
                </a:solidFill>
                <a:latin typeface="Segoe UI"/>
              </a:rPr>
              <a:t>98 ₴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5980176" y="4039362"/>
            <a:ext cx="822960" cy="192024"/>
          </a:xfrm>
          <a:prstGeom prst="rect">
            <a:avLst/>
          </a:prstGeom>
          <a:solidFill>
            <a:srgbClr val="D5E6D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5966460" y="4018788"/>
            <a:ext cx="754380" cy="2331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56" b="0" i="0">
                <a:solidFill>
                  <a:srgbClr val="1C2235"/>
                </a:solidFill>
                <a:latin typeface="Segoe UI"/>
              </a:rPr>
              <a:t>88 ₴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6871716" y="4039362"/>
            <a:ext cx="822960" cy="192024"/>
          </a:xfrm>
          <a:prstGeom prst="rect">
            <a:avLst/>
          </a:prstGeom>
          <a:solidFill>
            <a:srgbClr val="D5E6D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6858000" y="4018788"/>
            <a:ext cx="754380" cy="2331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56" b="0" i="0">
                <a:solidFill>
                  <a:srgbClr val="1C2235"/>
                </a:solidFill>
                <a:latin typeface="Segoe UI"/>
              </a:rPr>
              <a:t>80 ₴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7763256" y="4039362"/>
            <a:ext cx="822960" cy="192024"/>
          </a:xfrm>
          <a:prstGeom prst="rect">
            <a:avLst/>
          </a:prstGeom>
          <a:solidFill>
            <a:srgbClr val="D5E6D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7749540" y="4018788"/>
            <a:ext cx="754380" cy="2331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56" b="0" i="0">
                <a:solidFill>
                  <a:srgbClr val="1C2235"/>
                </a:solidFill>
                <a:latin typeface="Segoe UI"/>
              </a:rPr>
              <a:t>74 ₴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425196" y="4251960"/>
            <a:ext cx="8298180" cy="233172"/>
          </a:xfrm>
          <a:prstGeom prst="rect">
            <a:avLst/>
          </a:prstGeom>
          <a:solidFill>
            <a:srgbClr val="F8F9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425196" y="4251960"/>
            <a:ext cx="34290" cy="233172"/>
          </a:xfrm>
          <a:prstGeom prst="rect">
            <a:avLst/>
          </a:prstGeom>
          <a:solidFill>
            <a:srgbClr val="B23A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534924" y="4251960"/>
            <a:ext cx="2057400" cy="2331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1" i="0">
                <a:solidFill>
                  <a:srgbClr val="303A5D"/>
                </a:solidFill>
                <a:latin typeface="Segoe UI"/>
              </a:rPr>
              <a:t>Topping Vegetables 70 г · 3 смаки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2537460" y="4251960"/>
            <a:ext cx="1371600" cy="2331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08" b="0" i="0">
                <a:solidFill>
                  <a:srgbClr val="717890"/>
                </a:solidFill>
                <a:latin typeface="Segoe UI"/>
              </a:rPr>
              <a:t>209 ₴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4183380" y="4251960"/>
            <a:ext cx="754380" cy="2331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56" b="0" i="0">
                <a:solidFill>
                  <a:srgbClr val="1C2235"/>
                </a:solidFill>
                <a:latin typeface="Segoe UI"/>
              </a:rPr>
              <a:t>224 ₴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5088636" y="4272534"/>
            <a:ext cx="822960" cy="192024"/>
          </a:xfrm>
          <a:prstGeom prst="rect">
            <a:avLst/>
          </a:prstGeom>
          <a:solidFill>
            <a:srgbClr val="D5E6D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5074920" y="4251960"/>
            <a:ext cx="754380" cy="2331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56" b="1" i="0">
                <a:solidFill>
                  <a:srgbClr val="1C2235"/>
                </a:solidFill>
                <a:latin typeface="Segoe UI"/>
              </a:rPr>
              <a:t>199 ₴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5980176" y="4272534"/>
            <a:ext cx="822960" cy="192024"/>
          </a:xfrm>
          <a:prstGeom prst="rect">
            <a:avLst/>
          </a:prstGeom>
          <a:solidFill>
            <a:srgbClr val="D5E6D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5966460" y="4251960"/>
            <a:ext cx="754380" cy="2331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56" b="0" i="0">
                <a:solidFill>
                  <a:srgbClr val="1C2235"/>
                </a:solidFill>
                <a:latin typeface="Segoe UI"/>
              </a:rPr>
              <a:t>179 ₴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6871716" y="4272534"/>
            <a:ext cx="822960" cy="192024"/>
          </a:xfrm>
          <a:prstGeom prst="rect">
            <a:avLst/>
          </a:prstGeom>
          <a:solidFill>
            <a:srgbClr val="D5E6D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6858000" y="4251960"/>
            <a:ext cx="754380" cy="2331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56" b="0" i="0">
                <a:solidFill>
                  <a:srgbClr val="1C2235"/>
                </a:solidFill>
                <a:latin typeface="Segoe UI"/>
              </a:rPr>
              <a:t>163 ₴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7763256" y="4272534"/>
            <a:ext cx="822960" cy="192024"/>
          </a:xfrm>
          <a:prstGeom prst="rect">
            <a:avLst/>
          </a:prstGeom>
          <a:solidFill>
            <a:srgbClr val="D5E6D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7749540" y="4251960"/>
            <a:ext cx="754380" cy="2331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56" b="0" i="0">
                <a:solidFill>
                  <a:srgbClr val="1C2235"/>
                </a:solidFill>
                <a:latin typeface="Segoe UI"/>
              </a:rPr>
              <a:t>149 ₴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425196" y="4855464"/>
            <a:ext cx="829818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1">
                <a:solidFill>
                  <a:srgbClr val="717890"/>
                </a:solidFill>
                <a:latin typeface="Segoe UI"/>
              </a:rPr>
              <a:t>Близькі за вагою позиції — той самий сегмент, вага ×0,5–×2 від нашої. Excel SNACKS_FINMODEL_ALL_MARGINS.xlsx: базова маржа в клітинці D5 — 35 %%, значення при 30 %% — блок «МАРЖА 30 %%» (колонка U).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977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3977" cy="795528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95528"/>
            <a:ext cx="9143977" cy="41148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" y="178308"/>
            <a:ext cx="1042416" cy="4526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728216" y="205740"/>
            <a:ext cx="61722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1" i="0" spc="30">
                <a:solidFill>
                  <a:srgbClr val="FFC95C"/>
                </a:solidFill>
                <a:latin typeface="Segoe UI"/>
              </a:rPr>
              <a:t>ЦІНА ЗА ОДНУ УПАКОВКУ · РИНОК І НАШІ SKU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28216" y="377190"/>
            <a:ext cx="61722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20" b="1" i="0">
                <a:solidFill>
                  <a:srgbClr val="FFFFFF"/>
                </a:solidFill>
                <a:latin typeface="Segoe UI"/>
              </a:rPr>
              <a:t>Ціна упаковки: наша полиця проти ринку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20990" y="301752"/>
            <a:ext cx="768096" cy="2263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360" b="1" i="0">
                <a:solidFill>
                  <a:srgbClr val="465382"/>
                </a:solidFill>
                <a:latin typeface="Segoe UI"/>
              </a:rPr>
              <a:t>40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" y="980694"/>
            <a:ext cx="96012" cy="96012"/>
          </a:xfrm>
          <a:prstGeom prst="roundRect">
            <a:avLst>
              <a:gd name="adj" fmla="val 50000"/>
            </a:avLst>
          </a:prstGeom>
          <a:solidFill>
            <a:srgbClr val="2F7A3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2356" y="960120"/>
            <a:ext cx="10972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1" i="0">
                <a:solidFill>
                  <a:srgbClr val="1C2235"/>
                </a:solidFill>
                <a:latin typeface="Segoe UI"/>
              </a:rPr>
              <a:t>TMK · KOKIRI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728216" y="980694"/>
            <a:ext cx="96012" cy="96012"/>
          </a:xfrm>
          <a:prstGeom prst="roundRect">
            <a:avLst>
              <a:gd name="adj" fmla="val 50000"/>
            </a:avLst>
          </a:prstGeom>
          <a:solidFill>
            <a:srgbClr val="B23A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65376" y="960120"/>
            <a:ext cx="10972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1" i="0">
                <a:solidFill>
                  <a:srgbClr val="1C2235"/>
                </a:solidFill>
                <a:latin typeface="Segoe UI"/>
              </a:rPr>
              <a:t>HanJin · ZEK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31236" y="980694"/>
            <a:ext cx="96012" cy="96012"/>
          </a:xfrm>
          <a:prstGeom prst="roundRect">
            <a:avLst>
              <a:gd name="adj" fmla="val 50000"/>
            </a:avLst>
          </a:prstGeom>
          <a:solidFill>
            <a:srgbClr val="B3621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68396" y="960120"/>
            <a:ext cx="10972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1" i="0">
                <a:solidFill>
                  <a:srgbClr val="1C2235"/>
                </a:solidFill>
                <a:latin typeface="Segoe UI"/>
              </a:rPr>
              <a:t>Singha Kameda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34256" y="980694"/>
            <a:ext cx="96012" cy="96012"/>
          </a:xfrm>
          <a:prstGeom prst="roundRect">
            <a:avLst>
              <a:gd name="adj" fmla="val 50000"/>
            </a:avLst>
          </a:prstGeom>
          <a:solidFill>
            <a:srgbClr val="1D5B6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71416" y="960120"/>
            <a:ext cx="10972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1" i="0">
                <a:solidFill>
                  <a:srgbClr val="1C2235"/>
                </a:solidFill>
                <a:latin typeface="Segoe UI"/>
              </a:rPr>
              <a:t>Thai-Nichi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74436" y="1008126"/>
            <a:ext cx="274320" cy="41148"/>
          </a:xfrm>
          <a:prstGeom prst="rect">
            <a:avLst/>
          </a:prstGeom>
          <a:solidFill>
            <a:srgbClr val="B7BAC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03620" y="960120"/>
            <a:ext cx="9601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діапазон ринку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46036" y="994410"/>
            <a:ext cx="61722" cy="6172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48906" y="960120"/>
            <a:ext cx="8229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лінійка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00416" y="966978"/>
            <a:ext cx="16459" cy="123444"/>
          </a:xfrm>
          <a:prstGeom prst="rect">
            <a:avLst/>
          </a:prstGeom>
          <a:solidFill>
            <a:srgbClr val="1C223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55280" y="960120"/>
            <a:ext cx="82296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медіана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002536" y="1234440"/>
            <a:ext cx="6858" cy="3106674"/>
          </a:xfrm>
          <a:prstGeom prst="rect">
            <a:avLst/>
          </a:prstGeom>
          <a:solidFill>
            <a:srgbClr val="D9DE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796796" y="4361688"/>
            <a:ext cx="411480" cy="1234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015409" y="1234440"/>
            <a:ext cx="6858" cy="3106674"/>
          </a:xfrm>
          <a:prstGeom prst="rect">
            <a:avLst/>
          </a:prstGeom>
          <a:solidFill>
            <a:srgbClr val="D9DE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809669" y="4361688"/>
            <a:ext cx="411480" cy="1234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40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028283" y="1234440"/>
            <a:ext cx="6858" cy="3106674"/>
          </a:xfrm>
          <a:prstGeom prst="rect">
            <a:avLst/>
          </a:prstGeom>
          <a:solidFill>
            <a:srgbClr val="D9DE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22543" y="4361688"/>
            <a:ext cx="411480" cy="1234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80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41157" y="1234440"/>
            <a:ext cx="6858" cy="3106674"/>
          </a:xfrm>
          <a:prstGeom prst="rect">
            <a:avLst/>
          </a:prstGeom>
          <a:solidFill>
            <a:srgbClr val="D9DE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35417" y="4361688"/>
            <a:ext cx="411480" cy="1234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120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54031" y="1234440"/>
            <a:ext cx="6858" cy="3106674"/>
          </a:xfrm>
          <a:prstGeom prst="rect">
            <a:avLst/>
          </a:prstGeom>
          <a:solidFill>
            <a:srgbClr val="D9DE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848291" y="4361688"/>
            <a:ext cx="411480" cy="1234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160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066905" y="1234440"/>
            <a:ext cx="6858" cy="3106674"/>
          </a:xfrm>
          <a:prstGeom prst="rect">
            <a:avLst/>
          </a:prstGeom>
          <a:solidFill>
            <a:srgbClr val="D9DE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61165" y="4361688"/>
            <a:ext cx="411480" cy="1234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200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79779" y="1234440"/>
            <a:ext cx="6858" cy="3106674"/>
          </a:xfrm>
          <a:prstGeom prst="rect">
            <a:avLst/>
          </a:prstGeom>
          <a:solidFill>
            <a:srgbClr val="D9DE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874039" y="4361688"/>
            <a:ext cx="411480" cy="1234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240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5196" y="1234440"/>
            <a:ext cx="8298180" cy="768096"/>
          </a:xfrm>
          <a:prstGeom prst="rect">
            <a:avLst/>
          </a:prstGeom>
          <a:solidFill>
            <a:srgbClr val="F8F9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93776" y="1316736"/>
            <a:ext cx="1440180" cy="150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72" b="1" i="0">
                <a:solidFill>
                  <a:srgbClr val="303A5D"/>
                </a:solidFill>
                <a:latin typeface="Segoe UI"/>
              </a:rPr>
              <a:t>Норі-снек у міні-пакеті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3776" y="1481328"/>
            <a:ext cx="14401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16 лінійок · 49 SKU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медіана 42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74852" y="1476664"/>
            <a:ext cx="1445877" cy="68580"/>
          </a:xfrm>
          <a:prstGeom prst="rect">
            <a:avLst/>
          </a:prstGeom>
          <a:solidFill>
            <a:srgbClr val="B7BAC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743991" y="1480093"/>
            <a:ext cx="61722" cy="6172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749055" y="1480093"/>
            <a:ext cx="61722" cy="6172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791469" y="1480093"/>
            <a:ext cx="61722" cy="6172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2807295" y="1480093"/>
            <a:ext cx="61722" cy="6172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895922" y="1480093"/>
            <a:ext cx="61722" cy="6172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2982016" y="1480093"/>
            <a:ext cx="61722" cy="6172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2987081" y="1480093"/>
            <a:ext cx="61722" cy="6172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035192" y="1480093"/>
            <a:ext cx="61722" cy="6172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035192" y="1480093"/>
            <a:ext cx="61722" cy="6172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055450" y="1480093"/>
            <a:ext cx="61722" cy="6172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136479" y="1480093"/>
            <a:ext cx="61722" cy="6172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3218775" y="1480093"/>
            <a:ext cx="61722" cy="6172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3273217" y="1480093"/>
            <a:ext cx="61722" cy="6172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3280814" y="1480093"/>
            <a:ext cx="61722" cy="6172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3984761" y="1480093"/>
            <a:ext cx="61722" cy="6172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189868" y="1480093"/>
            <a:ext cx="61722" cy="61722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3057823" y="1428658"/>
            <a:ext cx="16459" cy="164592"/>
          </a:xfrm>
          <a:prstGeom prst="rect">
            <a:avLst/>
          </a:prstGeom>
          <a:solidFill>
            <a:srgbClr val="1C223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2693302" y="1633849"/>
            <a:ext cx="116586" cy="116586"/>
          </a:xfrm>
          <a:prstGeom prst="roundRect">
            <a:avLst>
              <a:gd name="adj" fmla="val 50000"/>
            </a:avLst>
          </a:prstGeom>
          <a:solidFill>
            <a:srgbClr val="2F7A3E"/>
          </a:solidFill>
          <a:ln w="1270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408695" y="1764151"/>
            <a:ext cx="6858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2F7A3E"/>
                </a:solidFill>
                <a:latin typeface="Segoe UI"/>
              </a:rPr>
              <a:t>30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3288708" y="1633849"/>
            <a:ext cx="116586" cy="116586"/>
          </a:xfrm>
          <a:prstGeom prst="roundRect">
            <a:avLst>
              <a:gd name="adj" fmla="val 50000"/>
            </a:avLst>
          </a:prstGeom>
          <a:solidFill>
            <a:srgbClr val="2F7A3E"/>
          </a:solidFill>
          <a:ln w="1270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004101" y="1764151"/>
            <a:ext cx="6858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2F7A3E"/>
                </a:solidFill>
                <a:latin typeface="Segoe UI"/>
              </a:rPr>
              <a:t>53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93776" y="2084832"/>
            <a:ext cx="1440180" cy="150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72" b="1" i="0">
                <a:solidFill>
                  <a:srgbClr val="C4820A"/>
                </a:solidFill>
                <a:latin typeface="Segoe UI"/>
              </a:rPr>
              <a:t>Норі-чипси та сендвічі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93776" y="2249424"/>
            <a:ext cx="14401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8 лінійок · 19 SKU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медіана 83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787513" y="2244760"/>
            <a:ext cx="2893020" cy="68580"/>
          </a:xfrm>
          <a:prstGeom prst="rect">
            <a:avLst/>
          </a:prstGeom>
          <a:solidFill>
            <a:srgbClr val="EAD3A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2756652" y="2248189"/>
            <a:ext cx="61722" cy="6172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2813499" y="2248189"/>
            <a:ext cx="61722" cy="6172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3446545" y="2248189"/>
            <a:ext cx="61722" cy="6172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3774590" y="2248189"/>
            <a:ext cx="61722" cy="6172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4389911" y="2248189"/>
            <a:ext cx="61722" cy="6172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4782399" y="2248189"/>
            <a:ext cx="61722" cy="6172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5148300" y="2248189"/>
            <a:ext cx="61722" cy="6172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5649673" y="2248189"/>
            <a:ext cx="61722" cy="61722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4104882" y="2196754"/>
            <a:ext cx="16459" cy="164592"/>
          </a:xfrm>
          <a:prstGeom prst="rect">
            <a:avLst/>
          </a:prstGeom>
          <a:solidFill>
            <a:srgbClr val="1C223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4690791" y="2401945"/>
            <a:ext cx="116586" cy="116586"/>
          </a:xfrm>
          <a:prstGeom prst="roundRect">
            <a:avLst>
              <a:gd name="adj" fmla="val 50000"/>
            </a:avLst>
          </a:prstGeom>
          <a:solidFill>
            <a:srgbClr val="2F7A3E"/>
          </a:solidFill>
          <a:ln w="1270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406184" y="2532247"/>
            <a:ext cx="6858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2F7A3E"/>
                </a:solidFill>
                <a:latin typeface="Segoe UI"/>
              </a:rPr>
              <a:t>108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4709998" y="2401945"/>
            <a:ext cx="116586" cy="116586"/>
          </a:xfrm>
          <a:prstGeom prst="roundRect">
            <a:avLst>
              <a:gd name="adj" fmla="val 50000"/>
            </a:avLst>
          </a:prstGeom>
          <a:solidFill>
            <a:srgbClr val="2F7A3E"/>
          </a:solidFill>
          <a:ln w="1270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425391" y="2648833"/>
            <a:ext cx="6858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2F7A3E"/>
                </a:solidFill>
                <a:latin typeface="Segoe UI"/>
              </a:rPr>
              <a:t>109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3951939" y="2401945"/>
            <a:ext cx="116586" cy="116586"/>
          </a:xfrm>
          <a:prstGeom prst="roundRect">
            <a:avLst>
              <a:gd name="adj" fmla="val 50000"/>
            </a:avLst>
          </a:prstGeom>
          <a:solidFill>
            <a:srgbClr val="B23A22"/>
          </a:solidFill>
          <a:ln w="1270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667332" y="2532247"/>
            <a:ext cx="6858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B23A22"/>
                </a:solidFill>
                <a:latin typeface="Segoe UI"/>
              </a:rPr>
              <a:t>79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25196" y="2770632"/>
            <a:ext cx="8298180" cy="768096"/>
          </a:xfrm>
          <a:prstGeom prst="rect">
            <a:avLst/>
          </a:prstGeom>
          <a:solidFill>
            <a:srgbClr val="F8F9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93776" y="2852928"/>
            <a:ext cx="1440180" cy="150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72" b="1" i="0">
                <a:solidFill>
                  <a:srgbClr val="5D4B96"/>
                </a:solidFill>
                <a:latin typeface="Segoe UI"/>
              </a:rPr>
              <a:t>Темпура та топінг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93776" y="3017520"/>
            <a:ext cx="14401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7 лінійок · 11 SKU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медіана 135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945987" y="3012856"/>
            <a:ext cx="4640228" cy="68580"/>
          </a:xfrm>
          <a:prstGeom prst="rect">
            <a:avLst/>
          </a:prstGeom>
          <a:solidFill>
            <a:srgbClr val="C6C0D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3915126" y="3016285"/>
            <a:ext cx="61722" cy="61722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4187336" y="3016285"/>
            <a:ext cx="61722" cy="61722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4630468" y="3016285"/>
            <a:ext cx="61722" cy="61722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5390124" y="3016285"/>
            <a:ext cx="61722" cy="61722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6676474" y="3016285"/>
            <a:ext cx="61722" cy="61722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7851407" y="3016285"/>
            <a:ext cx="61722" cy="61722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555355" y="3016285"/>
            <a:ext cx="61722" cy="61722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5412755" y="2964850"/>
            <a:ext cx="16459" cy="164592"/>
          </a:xfrm>
          <a:prstGeom prst="rect">
            <a:avLst/>
          </a:prstGeom>
          <a:solidFill>
            <a:srgbClr val="1C223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8209026" y="2841406"/>
            <a:ext cx="48006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600" b="1" i="0">
                <a:solidFill>
                  <a:srgbClr val="5D4B96"/>
                </a:solidFill>
                <a:latin typeface="Segoe UI"/>
              </a:rPr>
              <a:t>528 →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4615062" y="3170041"/>
            <a:ext cx="116586" cy="116586"/>
          </a:xfrm>
          <a:prstGeom prst="roundRect">
            <a:avLst>
              <a:gd name="adj" fmla="val 50000"/>
            </a:avLst>
          </a:prstGeom>
          <a:solidFill>
            <a:srgbClr val="B23A22"/>
          </a:solidFill>
          <a:ln w="1270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4330455" y="3300343"/>
            <a:ext cx="6858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B23A22"/>
                </a:solidFill>
                <a:latin typeface="Segoe UI"/>
              </a:rPr>
              <a:t>105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5981518" y="3170041"/>
            <a:ext cx="116586" cy="116586"/>
          </a:xfrm>
          <a:prstGeom prst="roundRect">
            <a:avLst>
              <a:gd name="adj" fmla="val 50000"/>
            </a:avLst>
          </a:prstGeom>
          <a:solidFill>
            <a:srgbClr val="B23A22"/>
          </a:solidFill>
          <a:ln w="1270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5696911" y="3300343"/>
            <a:ext cx="6858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B23A22"/>
                </a:solidFill>
                <a:latin typeface="Segoe UI"/>
              </a:rPr>
              <a:t>159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4534818" y="3170041"/>
            <a:ext cx="116586" cy="116586"/>
          </a:xfrm>
          <a:prstGeom prst="roundRect">
            <a:avLst>
              <a:gd name="adj" fmla="val 50000"/>
            </a:avLst>
          </a:prstGeom>
          <a:solidFill>
            <a:srgbClr val="B23A22"/>
          </a:solidFill>
          <a:ln w="1270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4250211" y="3416929"/>
            <a:ext cx="6858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B23A22"/>
                </a:solidFill>
                <a:latin typeface="Segoe UI"/>
              </a:rPr>
              <a:t>102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6975304" y="3170041"/>
            <a:ext cx="116586" cy="116586"/>
          </a:xfrm>
          <a:prstGeom prst="roundRect">
            <a:avLst>
              <a:gd name="adj" fmla="val 50000"/>
            </a:avLst>
          </a:prstGeom>
          <a:solidFill>
            <a:srgbClr val="B23A22"/>
          </a:solidFill>
          <a:ln w="1270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6690697" y="3300343"/>
            <a:ext cx="6858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B23A22"/>
                </a:solidFill>
                <a:latin typeface="Segoe UI"/>
              </a:rPr>
              <a:t>199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93776" y="3621024"/>
            <a:ext cx="1440180" cy="150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72" b="1" i="0">
                <a:solidFill>
                  <a:srgbClr val="B23A3A"/>
                </a:solidFill>
                <a:latin typeface="Segoe UI"/>
              </a:rPr>
              <a:t>Рисові крекери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493776" y="3785616"/>
            <a:ext cx="14401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3 лінійок · 9 SKU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медіана 145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5193088" y="3780952"/>
            <a:ext cx="546951" cy="68580"/>
          </a:xfrm>
          <a:prstGeom prst="rect">
            <a:avLst/>
          </a:prstGeom>
          <a:solidFill>
            <a:srgbClr val="E4BAB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5162227" y="3784381"/>
            <a:ext cx="61722" cy="61722"/>
          </a:xfrm>
          <a:prstGeom prst="rect">
            <a:avLst/>
          </a:prstGeom>
          <a:solidFill>
            <a:srgbClr val="B23A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5644608" y="3784381"/>
            <a:ext cx="61722" cy="61722"/>
          </a:xfrm>
          <a:prstGeom prst="rect">
            <a:avLst/>
          </a:prstGeom>
          <a:solidFill>
            <a:srgbClr val="B23A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5709179" y="3784381"/>
            <a:ext cx="61722" cy="61722"/>
          </a:xfrm>
          <a:prstGeom prst="rect">
            <a:avLst/>
          </a:prstGeom>
          <a:solidFill>
            <a:srgbClr val="B23A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5667240" y="3732946"/>
            <a:ext cx="16459" cy="164592"/>
          </a:xfrm>
          <a:prstGeom prst="rect">
            <a:avLst/>
          </a:prstGeom>
          <a:solidFill>
            <a:srgbClr val="1C223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" name="Rounded Rectangle 107"/>
          <p:cNvSpPr/>
          <p:nvPr/>
        </p:nvSpPr>
        <p:spPr>
          <a:xfrm>
            <a:off x="6249790" y="3938137"/>
            <a:ext cx="116586" cy="116586"/>
          </a:xfrm>
          <a:prstGeom prst="roundRect">
            <a:avLst>
              <a:gd name="adj" fmla="val 50000"/>
            </a:avLst>
          </a:prstGeom>
          <a:solidFill>
            <a:srgbClr val="B36214"/>
          </a:solidFill>
          <a:ln w="1270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5965183" y="4068439"/>
            <a:ext cx="6858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B36214"/>
                </a:solidFill>
                <a:latin typeface="Segoe UI"/>
              </a:rPr>
              <a:t>170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5291959" y="3938137"/>
            <a:ext cx="116586" cy="116586"/>
          </a:xfrm>
          <a:prstGeom prst="roundRect">
            <a:avLst>
              <a:gd name="adj" fmla="val 50000"/>
            </a:avLst>
          </a:prstGeom>
          <a:solidFill>
            <a:srgbClr val="1D5B63"/>
          </a:solidFill>
          <a:ln w="1270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5007352" y="4068439"/>
            <a:ext cx="6858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1D5B63"/>
                </a:solidFill>
                <a:latin typeface="Segoe UI"/>
              </a:rPr>
              <a:t>132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5993076" y="3938137"/>
            <a:ext cx="116586" cy="116586"/>
          </a:xfrm>
          <a:prstGeom prst="roundRect">
            <a:avLst>
              <a:gd name="adj" fmla="val 50000"/>
            </a:avLst>
          </a:prstGeom>
          <a:solidFill>
            <a:srgbClr val="1D5B63"/>
          </a:solidFill>
          <a:ln w="1270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5708469" y="4185025"/>
            <a:ext cx="68580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1D5B63"/>
                </a:solidFill>
                <a:latin typeface="Segoe UI"/>
              </a:rPr>
              <a:t>160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425196" y="4526280"/>
            <a:ext cx="82981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24" b="0" i="0">
                <a:solidFill>
                  <a:srgbClr val="717890"/>
                </a:solidFill>
                <a:latin typeface="Segoe UI"/>
              </a:rPr>
              <a:t>Кольорові кружки — наша полиця (₴ за упаковку), смуга — діапазон цін ринку в сегменті, квадрати — лінійки брендів, риска — типова ціна (медіана). Tao Kae Noi 59 г коштує 528 ₴ в Onde — за шкалою. Рисові чипси — не наш формат, не показано.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425196" y="4855464"/>
            <a:ext cx="829818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1">
                <a:solidFill>
                  <a:srgbClr val="717890"/>
                </a:solidFill>
                <a:latin typeface="Segoe UI"/>
              </a:rPr>
              <a:t>Каталоги мереж на zakaz.ua (METRO, NOVUS, Ашан, Зараз, МегаМаркет, Ultramarket, Епіцентр, Космос, Onde, Ідеал, Восторг, Клас, Таврія В, ЧудоМаркет, Торба, Grono) · 07.10.2026 · ціна — онлайн-полиця одного магазину мережі, діапазон — між мережами.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977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3977" cy="795528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95528"/>
            <a:ext cx="9143977" cy="41148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" y="178308"/>
            <a:ext cx="1042416" cy="4526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728216" y="205740"/>
            <a:ext cx="61722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1" i="0" spc="30">
                <a:solidFill>
                  <a:srgbClr val="FFC95C"/>
                </a:solidFill>
                <a:latin typeface="Segoe UI"/>
              </a:rPr>
              <a:t>ХТО З КИМ СТОЇТЬ · МІНІ-ПАКЕТ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28216" y="377190"/>
            <a:ext cx="61722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20" b="1" i="0">
                <a:solidFill>
                  <a:srgbClr val="FFFFFF"/>
                </a:solidFill>
                <a:latin typeface="Segoe UI"/>
              </a:rPr>
              <a:t>Де ми стоїмо: міні-пакет 4–5 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20990" y="301752"/>
            <a:ext cx="768096" cy="2263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360" b="1" i="0">
                <a:solidFill>
                  <a:srgbClr val="465382"/>
                </a:solidFill>
                <a:latin typeface="Segoe UI"/>
              </a:rPr>
              <a:t>41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5196" y="918972"/>
            <a:ext cx="8298180" cy="3771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6" b="0" i="0">
                <a:solidFill>
                  <a:srgbClr val="717890"/>
                </a:solidFill>
                <a:latin typeface="Segoe UI"/>
              </a:rPr>
              <a:t>TMK ROLL 2,5 г — 30 ₴, DOUBLE ROLL 5 г — 53 ₴. Найходовіша упаковка ринку — 4,5 г, типова ціна 42 ₴.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5196" y="1330452"/>
            <a:ext cx="8298180" cy="20574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" y="1357884"/>
            <a:ext cx="2743200" cy="1508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ЛІНІЙКА · ВІД ДЕШЕВИХ ДО ДОРОГИХ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25496" y="1357884"/>
            <a:ext cx="548640" cy="1508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ВАГА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79876" y="1357884"/>
            <a:ext cx="342900" cy="1508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SKU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27398" y="1536192"/>
            <a:ext cx="2104720" cy="2983230"/>
          </a:xfrm>
          <a:prstGeom prst="rect">
            <a:avLst/>
          </a:prstGeom>
          <a:solidFill>
            <a:srgbClr val="FFF3D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14800" y="1536192"/>
            <a:ext cx="5486" cy="2983230"/>
          </a:xfrm>
          <a:prstGeom prst="rect">
            <a:avLst/>
          </a:prstGeom>
          <a:solidFill>
            <a:srgbClr val="D9DE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09060" y="4512564"/>
            <a:ext cx="41148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20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77790" y="1536192"/>
            <a:ext cx="5486" cy="2983230"/>
          </a:xfrm>
          <a:prstGeom prst="rect">
            <a:avLst/>
          </a:prstGeom>
          <a:solidFill>
            <a:srgbClr val="D9DE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72050" y="4512564"/>
            <a:ext cx="41148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40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40780" y="1536192"/>
            <a:ext cx="5486" cy="2983230"/>
          </a:xfrm>
          <a:prstGeom prst="rect">
            <a:avLst/>
          </a:prstGeom>
          <a:solidFill>
            <a:srgbClr val="D9DE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35040" y="4512564"/>
            <a:ext cx="41148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60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03770" y="1536192"/>
            <a:ext cx="5486" cy="2983230"/>
          </a:xfrm>
          <a:prstGeom prst="rect">
            <a:avLst/>
          </a:prstGeom>
          <a:solidFill>
            <a:srgbClr val="D9DE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98030" y="4512564"/>
            <a:ext cx="41148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80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366760" y="1536192"/>
            <a:ext cx="5486" cy="2983230"/>
          </a:xfrm>
          <a:prstGeom prst="rect">
            <a:avLst/>
          </a:prstGeom>
          <a:solidFill>
            <a:srgbClr val="D9DE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61020" y="4512564"/>
            <a:ext cx="41148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100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5196" y="1563624"/>
            <a:ext cx="8298180" cy="163830"/>
          </a:xfrm>
          <a:prstGeom prst="rect">
            <a:avLst/>
          </a:prstGeom>
          <a:solidFill>
            <a:srgbClr val="FFEB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0060" y="1563624"/>
            <a:ext cx="2674620" cy="1638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24" b="1" i="0">
                <a:solidFill>
                  <a:srgbClr val="1C2235"/>
                </a:solidFill>
                <a:latin typeface="Segoe UI"/>
              </a:rPr>
              <a:t>НАШ · TMK · ROLL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80360" y="1563624"/>
            <a:ext cx="548640" cy="1638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2,5 г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1563624"/>
            <a:ext cx="342900" cy="1638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3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81144" y="1580388"/>
            <a:ext cx="130302" cy="130302"/>
          </a:xfrm>
          <a:prstGeom prst="roundRect">
            <a:avLst>
              <a:gd name="adj" fmla="val 50000"/>
            </a:avLst>
          </a:prstGeom>
          <a:solidFill>
            <a:srgbClr val="2F7A3E"/>
          </a:solidFill>
          <a:ln w="12700">
            <a:solidFill>
              <a:srgbClr val="1C223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42307" y="1563624"/>
            <a:ext cx="685800" cy="1638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1" i="0">
                <a:solidFill>
                  <a:srgbClr val="1C2235"/>
                </a:solidFill>
                <a:latin typeface="Segoe UI"/>
              </a:rPr>
              <a:t>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0060" y="1727454"/>
            <a:ext cx="2674620" cy="1638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24" b="1" i="0">
                <a:solidFill>
                  <a:srgbClr val="1C2235"/>
                </a:solidFill>
                <a:latin typeface="Segoe UI"/>
              </a:rPr>
              <a:t>Norris · 3 г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80360" y="1727454"/>
            <a:ext cx="548640" cy="1638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3 г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0" y="1727454"/>
            <a:ext cx="342900" cy="1638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625035" y="1792224"/>
            <a:ext cx="153602" cy="34290"/>
          </a:xfrm>
          <a:prstGeom prst="rect">
            <a:avLst/>
          </a:prstGeom>
          <a:solidFill>
            <a:srgbClr val="ACB0B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4597603" y="1781937"/>
            <a:ext cx="54864" cy="548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303A5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4751205" y="1781937"/>
            <a:ext cx="54864" cy="548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303A5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4624863" y="1761363"/>
            <a:ext cx="96012" cy="96012"/>
          </a:xfrm>
          <a:prstGeom prst="roundRect">
            <a:avLst>
              <a:gd name="adj" fmla="val 50000"/>
            </a:avLst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874649" y="1727454"/>
            <a:ext cx="685800" cy="1638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1" i="0">
                <a:solidFill>
                  <a:srgbClr val="1C2235"/>
                </a:solidFill>
                <a:latin typeface="Segoe UI"/>
              </a:rPr>
              <a:t>30–32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0060" y="1891284"/>
            <a:ext cx="2674620" cy="1638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24" b="1" i="0">
                <a:solidFill>
                  <a:srgbClr val="1C2235"/>
                </a:solidFill>
                <a:latin typeface="Segoe UI"/>
              </a:rPr>
              <a:t>Metro Chef · 4,5 г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880360" y="1891284"/>
            <a:ext cx="548640" cy="1638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4,5 г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66160" y="1891284"/>
            <a:ext cx="342900" cy="1638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4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635493" y="1925193"/>
            <a:ext cx="96012" cy="96012"/>
          </a:xfrm>
          <a:prstGeom prst="roundRect">
            <a:avLst>
              <a:gd name="adj" fmla="val 50000"/>
            </a:avLst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779511" y="1891284"/>
            <a:ext cx="685800" cy="1638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1" i="0">
                <a:solidFill>
                  <a:srgbClr val="1C2235"/>
                </a:solidFill>
                <a:latin typeface="Segoe UI"/>
              </a:rPr>
              <a:t>31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80060" y="2055114"/>
            <a:ext cx="2674620" cy="1638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24" b="1" i="0">
                <a:solidFill>
                  <a:srgbClr val="1C2235"/>
                </a:solidFill>
                <a:latin typeface="Segoe UI"/>
              </a:rPr>
              <a:t>Ock Dong Ja · 4 г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880360" y="2055114"/>
            <a:ext cx="548640" cy="1638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4 г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566160" y="2055114"/>
            <a:ext cx="342900" cy="1638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93145" y="2119884"/>
            <a:ext cx="1084249" cy="34290"/>
          </a:xfrm>
          <a:prstGeom prst="rect">
            <a:avLst/>
          </a:prstGeom>
          <a:solidFill>
            <a:srgbClr val="ACB0B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4565713" y="2109597"/>
            <a:ext cx="54864" cy="548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303A5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5649963" y="2109597"/>
            <a:ext cx="54864" cy="548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303A5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4724519" y="2089023"/>
            <a:ext cx="96012" cy="96012"/>
          </a:xfrm>
          <a:prstGeom prst="roundRect">
            <a:avLst>
              <a:gd name="adj" fmla="val 50000"/>
            </a:avLst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773407" y="2055114"/>
            <a:ext cx="685800" cy="1638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1" i="0">
                <a:solidFill>
                  <a:srgbClr val="1C2235"/>
                </a:solidFill>
                <a:latin typeface="Segoe UI"/>
              </a:rPr>
              <a:t>29–49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80060" y="2218944"/>
            <a:ext cx="2674620" cy="1638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24" b="1" i="0">
                <a:solidFill>
                  <a:srgbClr val="1C2235"/>
                </a:solidFill>
                <a:latin typeface="Segoe UI"/>
              </a:rPr>
              <a:t>Ock Dong Ja · 4,5 г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880360" y="2218944"/>
            <a:ext cx="548640" cy="1638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4,5 г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566160" y="2218944"/>
            <a:ext cx="342900" cy="1638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5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93145" y="2283714"/>
            <a:ext cx="775982" cy="34290"/>
          </a:xfrm>
          <a:prstGeom prst="rect">
            <a:avLst/>
          </a:prstGeom>
          <a:solidFill>
            <a:srgbClr val="ACB0B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4565713" y="2273427"/>
            <a:ext cx="54864" cy="548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303A5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5341696" y="2273427"/>
            <a:ext cx="54864" cy="548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303A5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4757737" y="2252853"/>
            <a:ext cx="96012" cy="96012"/>
          </a:xfrm>
          <a:prstGeom prst="roundRect">
            <a:avLst>
              <a:gd name="adj" fmla="val 50000"/>
            </a:avLst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465140" y="2218944"/>
            <a:ext cx="685800" cy="1638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1" i="0">
                <a:solidFill>
                  <a:srgbClr val="1C2235"/>
                </a:solidFill>
                <a:latin typeface="Segoe UI"/>
              </a:rPr>
              <a:t>29–44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80060" y="2382774"/>
            <a:ext cx="2674620" cy="1638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24" b="1" i="0">
                <a:solidFill>
                  <a:srgbClr val="1C2235"/>
                </a:solidFill>
                <a:latin typeface="Segoe UI"/>
              </a:rPr>
              <a:t>Norris · 4,5 г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880360" y="2382774"/>
            <a:ext cx="548640" cy="1638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4,5 г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566160" y="2382774"/>
            <a:ext cx="342900" cy="1638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3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805743" y="2447544"/>
            <a:ext cx="733463" cy="34290"/>
          </a:xfrm>
          <a:prstGeom prst="rect">
            <a:avLst/>
          </a:prstGeom>
          <a:solidFill>
            <a:srgbClr val="ACB0B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4778311" y="2437257"/>
            <a:ext cx="54864" cy="548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303A5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5511774" y="2437257"/>
            <a:ext cx="54864" cy="548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303A5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4943760" y="2416683"/>
            <a:ext cx="96012" cy="96012"/>
          </a:xfrm>
          <a:prstGeom prst="roundRect">
            <a:avLst>
              <a:gd name="adj" fmla="val 50000"/>
            </a:avLst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635218" y="2382774"/>
            <a:ext cx="685800" cy="1638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1" i="0">
                <a:solidFill>
                  <a:srgbClr val="1C2235"/>
                </a:solidFill>
                <a:latin typeface="Segoe UI"/>
              </a:rPr>
              <a:t>33–47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80060" y="2546604"/>
            <a:ext cx="2674620" cy="1638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24" b="1" i="0">
                <a:solidFill>
                  <a:srgbClr val="1C2235"/>
                </a:solidFill>
                <a:latin typeface="Segoe UI"/>
              </a:rPr>
              <a:t>Royal Tiger · 4 г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880360" y="2546604"/>
            <a:ext cx="548640" cy="1638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4 г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566160" y="2546604"/>
            <a:ext cx="342900" cy="1638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2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5124469" y="2580513"/>
            <a:ext cx="96012" cy="96012"/>
          </a:xfrm>
          <a:prstGeom prst="roundRect">
            <a:avLst>
              <a:gd name="adj" fmla="val 50000"/>
            </a:avLst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268487" y="2546604"/>
            <a:ext cx="685800" cy="1638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1" i="0">
                <a:solidFill>
                  <a:srgbClr val="1C2235"/>
                </a:solidFill>
                <a:latin typeface="Segoe UI"/>
              </a:rPr>
              <a:t>40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80060" y="2710434"/>
            <a:ext cx="2674620" cy="1638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24" b="1" i="0">
                <a:solidFill>
                  <a:srgbClr val="1C2235"/>
                </a:solidFill>
                <a:latin typeface="Segoe UI"/>
              </a:rPr>
              <a:t>Humanwell · 4 г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880360" y="2710434"/>
            <a:ext cx="548640" cy="1638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4 г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566160" y="2710434"/>
            <a:ext cx="342900" cy="1638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3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151215" y="2775204"/>
            <a:ext cx="148818" cy="34290"/>
          </a:xfrm>
          <a:prstGeom prst="rect">
            <a:avLst/>
          </a:prstGeom>
          <a:solidFill>
            <a:srgbClr val="ACB0B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5123783" y="2764917"/>
            <a:ext cx="54864" cy="548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303A5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5272601" y="2764917"/>
            <a:ext cx="54864" cy="548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303A5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Rounded Rectangle 78"/>
          <p:cNvSpPr/>
          <p:nvPr/>
        </p:nvSpPr>
        <p:spPr>
          <a:xfrm>
            <a:off x="5135098" y="2744343"/>
            <a:ext cx="96012" cy="96012"/>
          </a:xfrm>
          <a:prstGeom prst="roundRect">
            <a:avLst>
              <a:gd name="adj" fmla="val 50000"/>
            </a:avLst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396045" y="2710434"/>
            <a:ext cx="685800" cy="1638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1" i="0">
                <a:solidFill>
                  <a:srgbClr val="1C2235"/>
                </a:solidFill>
                <a:latin typeface="Segoe UI"/>
              </a:rPr>
              <a:t>40–42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80060" y="2874264"/>
            <a:ext cx="2674620" cy="1638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24" b="1" i="0">
                <a:solidFill>
                  <a:srgbClr val="1C2235"/>
                </a:solidFill>
                <a:latin typeface="Segoe UI"/>
              </a:rPr>
              <a:t>Akura · 4 г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880360" y="2874264"/>
            <a:ext cx="548640" cy="1638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4 г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566160" y="2874264"/>
            <a:ext cx="342900" cy="1638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1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5236083" y="2908173"/>
            <a:ext cx="96012" cy="96012"/>
          </a:xfrm>
          <a:prstGeom prst="roundRect">
            <a:avLst>
              <a:gd name="adj" fmla="val 50000"/>
            </a:avLst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5380101" y="2874264"/>
            <a:ext cx="685800" cy="1638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1" i="0">
                <a:solidFill>
                  <a:srgbClr val="1C2235"/>
                </a:solidFill>
                <a:latin typeface="Segoe UI"/>
              </a:rPr>
              <a:t>42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80060" y="3038094"/>
            <a:ext cx="2674620" cy="1638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24" b="1" i="0">
                <a:solidFill>
                  <a:srgbClr val="1C2235"/>
                </a:solidFill>
                <a:latin typeface="Segoe UI"/>
              </a:rPr>
              <a:t>Akura · 4,5 г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880360" y="3038094"/>
            <a:ext cx="548640" cy="1638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4,5 г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566160" y="3038094"/>
            <a:ext cx="342900" cy="1638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5</a:t>
            </a:r>
          </a:p>
        </p:txBody>
      </p:sp>
      <p:sp>
        <p:nvSpPr>
          <p:cNvPr id="89" name="Rectangle 88"/>
          <p:cNvSpPr/>
          <p:nvPr/>
        </p:nvSpPr>
        <p:spPr>
          <a:xfrm>
            <a:off x="5028971" y="3102864"/>
            <a:ext cx="387991" cy="34290"/>
          </a:xfrm>
          <a:prstGeom prst="rect">
            <a:avLst/>
          </a:prstGeom>
          <a:solidFill>
            <a:srgbClr val="ACB0B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" name="Rounded Rectangle 89"/>
          <p:cNvSpPr/>
          <p:nvPr/>
        </p:nvSpPr>
        <p:spPr>
          <a:xfrm>
            <a:off x="5001539" y="3092577"/>
            <a:ext cx="54864" cy="548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303A5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" name="Rounded Rectangle 90"/>
          <p:cNvSpPr/>
          <p:nvPr/>
        </p:nvSpPr>
        <p:spPr>
          <a:xfrm>
            <a:off x="5389530" y="3092577"/>
            <a:ext cx="54864" cy="548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303A5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" name="Rounded Rectangle 91"/>
          <p:cNvSpPr/>
          <p:nvPr/>
        </p:nvSpPr>
        <p:spPr>
          <a:xfrm>
            <a:off x="5236083" y="3072003"/>
            <a:ext cx="96012" cy="96012"/>
          </a:xfrm>
          <a:prstGeom prst="roundRect">
            <a:avLst>
              <a:gd name="adj" fmla="val 50000"/>
            </a:avLst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5512974" y="3038094"/>
            <a:ext cx="685800" cy="1638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1" i="0">
                <a:solidFill>
                  <a:srgbClr val="1C2235"/>
                </a:solidFill>
                <a:latin typeface="Segoe UI"/>
              </a:rPr>
              <a:t>37–44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80060" y="3201924"/>
            <a:ext cx="2674620" cy="1638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24" b="1" i="0">
                <a:solidFill>
                  <a:srgbClr val="1C2235"/>
                </a:solidFill>
                <a:latin typeface="Segoe UI"/>
              </a:rPr>
              <a:t>Haelove · 4,5 г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2880360" y="3201924"/>
            <a:ext cx="548640" cy="1638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4,5 г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3566160" y="3201924"/>
            <a:ext cx="342900" cy="1638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4</a:t>
            </a:r>
          </a:p>
        </p:txBody>
      </p:sp>
      <p:sp>
        <p:nvSpPr>
          <p:cNvPr id="97" name="Rectangle 96"/>
          <p:cNvSpPr/>
          <p:nvPr/>
        </p:nvSpPr>
        <p:spPr>
          <a:xfrm>
            <a:off x="4582515" y="3266694"/>
            <a:ext cx="940746" cy="34290"/>
          </a:xfrm>
          <a:prstGeom prst="rect">
            <a:avLst/>
          </a:prstGeom>
          <a:solidFill>
            <a:srgbClr val="ACB0B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8" name="Rounded Rectangle 97"/>
          <p:cNvSpPr/>
          <p:nvPr/>
        </p:nvSpPr>
        <p:spPr>
          <a:xfrm>
            <a:off x="4555083" y="3256407"/>
            <a:ext cx="54864" cy="548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303A5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9" name="Rounded Rectangle 98"/>
          <p:cNvSpPr/>
          <p:nvPr/>
        </p:nvSpPr>
        <p:spPr>
          <a:xfrm>
            <a:off x="5495829" y="3256407"/>
            <a:ext cx="54864" cy="548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303A5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" name="Rounded Rectangle 99"/>
          <p:cNvSpPr/>
          <p:nvPr/>
        </p:nvSpPr>
        <p:spPr>
          <a:xfrm>
            <a:off x="5278602" y="3235833"/>
            <a:ext cx="96012" cy="96012"/>
          </a:xfrm>
          <a:prstGeom prst="roundRect">
            <a:avLst>
              <a:gd name="adj" fmla="val 50000"/>
            </a:avLst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5619273" y="3201924"/>
            <a:ext cx="685800" cy="1638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1" i="0">
                <a:solidFill>
                  <a:srgbClr val="1C2235"/>
                </a:solidFill>
                <a:latin typeface="Segoe UI"/>
              </a:rPr>
              <a:t>29–46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480060" y="3365754"/>
            <a:ext cx="2674620" cy="1638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24" b="1" i="0">
                <a:solidFill>
                  <a:srgbClr val="1C2235"/>
                </a:solidFill>
                <a:latin typeface="Segoe UI"/>
              </a:rPr>
              <a:t>Ямчан · 4,5 г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2880360" y="3365754"/>
            <a:ext cx="548640" cy="1638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4,5 г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3566160" y="3365754"/>
            <a:ext cx="342900" cy="1638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4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5395702" y="3430524"/>
            <a:ext cx="201968" cy="34290"/>
          </a:xfrm>
          <a:prstGeom prst="rect">
            <a:avLst/>
          </a:prstGeom>
          <a:solidFill>
            <a:srgbClr val="ACB0B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" name="Rounded Rectangle 105"/>
          <p:cNvSpPr/>
          <p:nvPr/>
        </p:nvSpPr>
        <p:spPr>
          <a:xfrm>
            <a:off x="5368270" y="3420237"/>
            <a:ext cx="54864" cy="548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303A5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" name="Rounded Rectangle 106"/>
          <p:cNvSpPr/>
          <p:nvPr/>
        </p:nvSpPr>
        <p:spPr>
          <a:xfrm>
            <a:off x="5570239" y="3420237"/>
            <a:ext cx="54864" cy="548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303A5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" name="Rounded Rectangle 107"/>
          <p:cNvSpPr/>
          <p:nvPr/>
        </p:nvSpPr>
        <p:spPr>
          <a:xfrm>
            <a:off x="5448681" y="3399663"/>
            <a:ext cx="96012" cy="96012"/>
          </a:xfrm>
          <a:prstGeom prst="roundRect">
            <a:avLst>
              <a:gd name="adj" fmla="val 50000"/>
            </a:avLst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5693683" y="3365754"/>
            <a:ext cx="685800" cy="1638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1" i="0">
                <a:solidFill>
                  <a:srgbClr val="1C2235"/>
                </a:solidFill>
                <a:latin typeface="Segoe UI"/>
              </a:rPr>
              <a:t>44–48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480060" y="3529584"/>
            <a:ext cx="2674620" cy="1638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24" b="1" i="0">
                <a:solidFill>
                  <a:srgbClr val="1C2235"/>
                </a:solidFill>
                <a:latin typeface="Segoe UI"/>
              </a:rPr>
              <a:t>Sempio · 5 г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2880360" y="3529584"/>
            <a:ext cx="548640" cy="1638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5 г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3566160" y="3529584"/>
            <a:ext cx="342900" cy="1638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4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5523261" y="3594354"/>
            <a:ext cx="292322" cy="34290"/>
          </a:xfrm>
          <a:prstGeom prst="rect">
            <a:avLst/>
          </a:prstGeom>
          <a:solidFill>
            <a:srgbClr val="ACB0B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" name="Rounded Rectangle 113"/>
          <p:cNvSpPr/>
          <p:nvPr/>
        </p:nvSpPr>
        <p:spPr>
          <a:xfrm>
            <a:off x="5495829" y="3584067"/>
            <a:ext cx="54864" cy="548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303A5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" name="Rounded Rectangle 114"/>
          <p:cNvSpPr/>
          <p:nvPr/>
        </p:nvSpPr>
        <p:spPr>
          <a:xfrm>
            <a:off x="5788152" y="3584067"/>
            <a:ext cx="54864" cy="548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303A5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" name="Rounded Rectangle 115"/>
          <p:cNvSpPr/>
          <p:nvPr/>
        </p:nvSpPr>
        <p:spPr>
          <a:xfrm>
            <a:off x="5621416" y="3563493"/>
            <a:ext cx="96012" cy="96012"/>
          </a:xfrm>
          <a:prstGeom prst="roundRect">
            <a:avLst>
              <a:gd name="adj" fmla="val 50000"/>
            </a:avLst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5911596" y="3529584"/>
            <a:ext cx="685800" cy="1638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1" i="0">
                <a:solidFill>
                  <a:srgbClr val="1C2235"/>
                </a:solidFill>
                <a:latin typeface="Segoe UI"/>
              </a:rPr>
              <a:t>46–52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480060" y="3693414"/>
            <a:ext cx="2674620" cy="1638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24" b="1" i="0">
                <a:solidFill>
                  <a:srgbClr val="1C2235"/>
                </a:solidFill>
                <a:latin typeface="Segoe UI"/>
              </a:rPr>
              <a:t>Dong Won · 2,7 г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2880360" y="3693414"/>
            <a:ext cx="548640" cy="1638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2,7 г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566160" y="3693414"/>
            <a:ext cx="342900" cy="1638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2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5735688" y="3727323"/>
            <a:ext cx="96012" cy="96012"/>
          </a:xfrm>
          <a:prstGeom prst="roundRect">
            <a:avLst>
              <a:gd name="adj" fmla="val 50000"/>
            </a:avLst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5879706" y="3693414"/>
            <a:ext cx="685800" cy="1638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1" i="0">
                <a:solidFill>
                  <a:srgbClr val="1C2235"/>
                </a:solidFill>
                <a:latin typeface="Segoe UI"/>
              </a:rPr>
              <a:t>51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480060" y="3857244"/>
            <a:ext cx="2674620" cy="1638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24" b="1" i="0">
                <a:solidFill>
                  <a:srgbClr val="1C2235"/>
                </a:solidFill>
                <a:latin typeface="Segoe UI"/>
              </a:rPr>
              <a:t>Paldo · 5 г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2880360" y="3857244"/>
            <a:ext cx="548640" cy="1638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5 г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3566160" y="3857244"/>
            <a:ext cx="342900" cy="1638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1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5751633" y="3891153"/>
            <a:ext cx="96012" cy="96012"/>
          </a:xfrm>
          <a:prstGeom prst="roundRect">
            <a:avLst>
              <a:gd name="adj" fmla="val 50000"/>
            </a:avLst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5895651" y="3857244"/>
            <a:ext cx="685800" cy="1638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1" i="0">
                <a:solidFill>
                  <a:srgbClr val="1C2235"/>
                </a:solidFill>
                <a:latin typeface="Segoe UI"/>
              </a:rPr>
              <a:t>52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425196" y="4021074"/>
            <a:ext cx="8298180" cy="163830"/>
          </a:xfrm>
          <a:prstGeom prst="rect">
            <a:avLst/>
          </a:prstGeom>
          <a:solidFill>
            <a:srgbClr val="FFEB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480060" y="4021074"/>
            <a:ext cx="2674620" cy="1638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24" b="1" i="0">
                <a:solidFill>
                  <a:srgbClr val="1C2235"/>
                </a:solidFill>
                <a:latin typeface="Segoe UI"/>
              </a:rPr>
              <a:t>НАШ · TMK · DOUBLE ROLL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2880360" y="4021074"/>
            <a:ext cx="548640" cy="1638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5 г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3566160" y="4021074"/>
            <a:ext cx="342900" cy="1638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2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5803582" y="4037838"/>
            <a:ext cx="130302" cy="130302"/>
          </a:xfrm>
          <a:prstGeom prst="roundRect">
            <a:avLst>
              <a:gd name="adj" fmla="val 50000"/>
            </a:avLst>
          </a:prstGeom>
          <a:solidFill>
            <a:srgbClr val="2F7A3E"/>
          </a:solidFill>
          <a:ln w="12700">
            <a:solidFill>
              <a:srgbClr val="1C223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5964745" y="4021074"/>
            <a:ext cx="685800" cy="1638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1" i="0">
                <a:solidFill>
                  <a:srgbClr val="1C2235"/>
                </a:solidFill>
                <a:latin typeface="Segoe UI"/>
              </a:rPr>
              <a:t>53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480060" y="4184904"/>
            <a:ext cx="2674620" cy="1638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24" b="1" i="0">
                <a:solidFill>
                  <a:srgbClr val="1C2235"/>
                </a:solidFill>
                <a:latin typeface="Segoe UI"/>
              </a:rPr>
              <a:t>Kimnori · 4 г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880360" y="4184904"/>
            <a:ext cx="548640" cy="1638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4 г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3566160" y="4184904"/>
            <a:ext cx="342900" cy="1638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3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7165581" y="4249674"/>
            <a:ext cx="1068304" cy="34290"/>
          </a:xfrm>
          <a:prstGeom prst="rect">
            <a:avLst/>
          </a:prstGeom>
          <a:solidFill>
            <a:srgbClr val="ACB0B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8" name="Rounded Rectangle 137"/>
          <p:cNvSpPr/>
          <p:nvPr/>
        </p:nvSpPr>
        <p:spPr>
          <a:xfrm>
            <a:off x="7138149" y="4239387"/>
            <a:ext cx="54864" cy="548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303A5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9" name="Rounded Rectangle 138"/>
          <p:cNvSpPr/>
          <p:nvPr/>
        </p:nvSpPr>
        <p:spPr>
          <a:xfrm>
            <a:off x="8206454" y="4239387"/>
            <a:ext cx="54864" cy="548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303A5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0" name="Rounded Rectangle 139"/>
          <p:cNvSpPr/>
          <p:nvPr/>
        </p:nvSpPr>
        <p:spPr>
          <a:xfrm>
            <a:off x="7229189" y="4218813"/>
            <a:ext cx="96012" cy="96012"/>
          </a:xfrm>
          <a:prstGeom prst="roundRect">
            <a:avLst>
              <a:gd name="adj" fmla="val 50000"/>
            </a:avLst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6376911" y="4184904"/>
            <a:ext cx="685800" cy="1638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08" b="1" i="0">
                <a:solidFill>
                  <a:srgbClr val="1C2235"/>
                </a:solidFill>
                <a:latin typeface="Segoe UI"/>
              </a:rPr>
              <a:t>77–98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480060" y="4348734"/>
            <a:ext cx="2674620" cy="1638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24" b="1" i="0">
                <a:solidFill>
                  <a:srgbClr val="1C2235"/>
                </a:solidFill>
                <a:latin typeface="Segoe UI"/>
              </a:rPr>
              <a:t>Clearspring · 4 г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2880360" y="4348734"/>
            <a:ext cx="548640" cy="1638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4 г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3566160" y="4348734"/>
            <a:ext cx="342900" cy="1638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5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7516368" y="4413504"/>
            <a:ext cx="265747" cy="34290"/>
          </a:xfrm>
          <a:prstGeom prst="rect">
            <a:avLst/>
          </a:prstGeom>
          <a:solidFill>
            <a:srgbClr val="ACB0B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6" name="Rounded Rectangle 145"/>
          <p:cNvSpPr/>
          <p:nvPr/>
        </p:nvSpPr>
        <p:spPr>
          <a:xfrm>
            <a:off x="7488936" y="4403217"/>
            <a:ext cx="54864" cy="548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303A5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7" name="Rounded Rectangle 146"/>
          <p:cNvSpPr/>
          <p:nvPr/>
        </p:nvSpPr>
        <p:spPr>
          <a:xfrm>
            <a:off x="7754683" y="4403217"/>
            <a:ext cx="54864" cy="548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303A5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8" name="Rounded Rectangle 147"/>
          <p:cNvSpPr/>
          <p:nvPr/>
        </p:nvSpPr>
        <p:spPr>
          <a:xfrm>
            <a:off x="7659700" y="4382643"/>
            <a:ext cx="96012" cy="96012"/>
          </a:xfrm>
          <a:prstGeom prst="roundRect">
            <a:avLst>
              <a:gd name="adj" fmla="val 50000"/>
            </a:avLst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6727698" y="4348734"/>
            <a:ext cx="685800" cy="1638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08" b="1" i="0">
                <a:solidFill>
                  <a:srgbClr val="1C2235"/>
                </a:solidFill>
                <a:latin typeface="Segoe UI"/>
              </a:rPr>
              <a:t>84–89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425196" y="4690872"/>
            <a:ext cx="82981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Грн за упаковку · велика точка — медіана, малі — межі діапазону між мережами; золота зона — наша полиця ±20 %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25196" y="4855464"/>
            <a:ext cx="829818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1">
                <a:solidFill>
                  <a:srgbClr val="717890"/>
                </a:solidFill>
                <a:latin typeface="Segoe UI"/>
              </a:rPr>
              <a:t>Каталоги мереж на zakaz.ua (METRO, NOVUS, Ашан, Зараз, МегаМаркет, Ultramarket, Епіцентр, Космос, Onde, Ідеал, Восторг, Клас, Таврія В, ЧудоМаркет, Торба, Grono) · 07.10.2026 · ціна — онлайн-полиця одного магазину мережі, діапазон — між мережами.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977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3977" cy="795528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95528"/>
            <a:ext cx="9143977" cy="41148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" y="178308"/>
            <a:ext cx="1042416" cy="4526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728216" y="205740"/>
            <a:ext cx="61722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1" i="0" spc="30">
                <a:solidFill>
                  <a:srgbClr val="FFC95C"/>
                </a:solidFill>
                <a:latin typeface="Segoe UI"/>
              </a:rPr>
              <a:t>ХТО З КИМ СТОЇТЬ · ЧИПСИ ТА СЕНДВІЧІ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28216" y="377190"/>
            <a:ext cx="61722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20" b="1" i="0">
                <a:solidFill>
                  <a:srgbClr val="FFFFFF"/>
                </a:solidFill>
                <a:latin typeface="Segoe UI"/>
              </a:rPr>
              <a:t>Де ми стоїмо: чипси та сендвічі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20990" y="301752"/>
            <a:ext cx="768096" cy="2263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360" b="1" i="0">
                <a:solidFill>
                  <a:srgbClr val="465382"/>
                </a:solidFill>
                <a:latin typeface="Segoe UI"/>
              </a:rPr>
              <a:t>42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5196" y="918972"/>
            <a:ext cx="8298180" cy="3771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20" b="0" i="0">
                <a:solidFill>
                  <a:srgbClr val="717890"/>
                </a:solidFill>
                <a:latin typeface="Segoe UI"/>
              </a:rPr>
              <a:t>ZEK Sandwich 25 г — 79 ₴ (між Norris і Ock Dong Ja); TMK SEAWEED / MINI 10–12 г — 108–109 ₴: на рівні 40-грамових чипсів Ocean Snack (111 ₴).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5196" y="1165860"/>
            <a:ext cx="8298180" cy="205740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" y="1193292"/>
            <a:ext cx="2743200" cy="1508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ЛІНІЙКА · ВІД ДЕШЕВИХ ДО ДОРОГИХ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25496" y="1193292"/>
            <a:ext cx="548640" cy="1508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ВАГА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79876" y="1193292"/>
            <a:ext cx="342900" cy="1508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SKU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94324" y="1371600"/>
            <a:ext cx="1796453" cy="2184273"/>
          </a:xfrm>
          <a:prstGeom prst="rect">
            <a:avLst/>
          </a:prstGeom>
          <a:solidFill>
            <a:srgbClr val="FFF3D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14800" y="1371600"/>
            <a:ext cx="5486" cy="2184273"/>
          </a:xfrm>
          <a:prstGeom prst="rect">
            <a:avLst/>
          </a:prstGeom>
          <a:solidFill>
            <a:srgbClr val="D9DE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09060" y="3549015"/>
            <a:ext cx="41148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77790" y="1371600"/>
            <a:ext cx="5486" cy="2184273"/>
          </a:xfrm>
          <a:prstGeom prst="rect">
            <a:avLst/>
          </a:prstGeom>
          <a:solidFill>
            <a:srgbClr val="D9DE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72050" y="3549015"/>
            <a:ext cx="41148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40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40780" y="1371600"/>
            <a:ext cx="5486" cy="2184273"/>
          </a:xfrm>
          <a:prstGeom prst="rect">
            <a:avLst/>
          </a:prstGeom>
          <a:solidFill>
            <a:srgbClr val="D9DE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35040" y="3549015"/>
            <a:ext cx="41148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80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03770" y="1371600"/>
            <a:ext cx="5486" cy="2184273"/>
          </a:xfrm>
          <a:prstGeom prst="rect">
            <a:avLst/>
          </a:prstGeom>
          <a:solidFill>
            <a:srgbClr val="D9DE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98030" y="3549015"/>
            <a:ext cx="41148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120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366760" y="1371600"/>
            <a:ext cx="5486" cy="2184273"/>
          </a:xfrm>
          <a:prstGeom prst="rect">
            <a:avLst/>
          </a:prstGeom>
          <a:solidFill>
            <a:srgbClr val="D9DE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61020" y="3549015"/>
            <a:ext cx="41148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160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0060" y="1399032"/>
            <a:ext cx="2674620" cy="19545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24" b="1" i="0">
                <a:solidFill>
                  <a:srgbClr val="1C2235"/>
                </a:solidFill>
                <a:latin typeface="Segoe UI"/>
              </a:rPr>
              <a:t>Norris · 10 г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80360" y="1399032"/>
            <a:ext cx="548640" cy="19545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10 г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0" y="1399032"/>
            <a:ext cx="342900" cy="19545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909385" y="1479613"/>
            <a:ext cx="29232" cy="34290"/>
          </a:xfrm>
          <a:prstGeom prst="rect">
            <a:avLst/>
          </a:prstGeom>
          <a:solidFill>
            <a:srgbClr val="E7CD9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881953" y="1469326"/>
            <a:ext cx="54864" cy="548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4820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911185" y="1469326"/>
            <a:ext cx="54864" cy="548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4820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890611" y="1448752"/>
            <a:ext cx="96012" cy="96012"/>
          </a:xfrm>
          <a:prstGeom prst="roundRect">
            <a:avLst>
              <a:gd name="adj" fmla="val 50000"/>
            </a:avLst>
          </a:prstGeom>
          <a:solidFill>
            <a:srgbClr val="C4820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34629" y="1399032"/>
            <a:ext cx="685800" cy="19545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1" i="0">
                <a:solidFill>
                  <a:srgbClr val="1C2235"/>
                </a:solidFill>
                <a:latin typeface="Segoe UI"/>
              </a:rPr>
              <a:t>30–31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0060" y="1594485"/>
            <a:ext cx="2674620" cy="19545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24" b="1" i="0">
                <a:solidFill>
                  <a:srgbClr val="1C2235"/>
                </a:solidFill>
                <a:latin typeface="Segoe UI"/>
              </a:rPr>
              <a:t>Norris · 8 г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880360" y="1594485"/>
            <a:ext cx="548640" cy="19545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8 г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66160" y="1594485"/>
            <a:ext cx="342900" cy="19545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3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67554" y="1675066"/>
            <a:ext cx="350520" cy="34290"/>
          </a:xfrm>
          <a:prstGeom prst="rect">
            <a:avLst/>
          </a:prstGeom>
          <a:solidFill>
            <a:srgbClr val="E7CD9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4640122" y="1664779"/>
            <a:ext cx="54864" cy="548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4820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4990643" y="1664779"/>
            <a:ext cx="54864" cy="548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4820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4950271" y="1644205"/>
            <a:ext cx="96012" cy="96012"/>
          </a:xfrm>
          <a:prstGeom prst="roundRect">
            <a:avLst>
              <a:gd name="adj" fmla="val 50000"/>
            </a:avLst>
          </a:prstGeom>
          <a:solidFill>
            <a:srgbClr val="C4820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14087" y="1594485"/>
            <a:ext cx="685800" cy="19545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1" i="0">
                <a:solidFill>
                  <a:srgbClr val="1C2235"/>
                </a:solidFill>
                <a:latin typeface="Segoe UI"/>
              </a:rPr>
              <a:t>21–34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80060" y="1789938"/>
            <a:ext cx="2674620" cy="19545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24" b="1" i="0">
                <a:solidFill>
                  <a:srgbClr val="1C2235"/>
                </a:solidFill>
                <a:latin typeface="Segoe UI"/>
              </a:rPr>
              <a:t>Hokkaido Club · 25 г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880360" y="1789938"/>
            <a:ext cx="548640" cy="19545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25 г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66160" y="1789938"/>
            <a:ext cx="342900" cy="19545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3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70112" y="1870519"/>
            <a:ext cx="534152" cy="34290"/>
          </a:xfrm>
          <a:prstGeom prst="rect">
            <a:avLst/>
          </a:prstGeom>
          <a:solidFill>
            <a:srgbClr val="E7CD9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5442680" y="1860232"/>
            <a:ext cx="54864" cy="548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4820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5976832" y="1860232"/>
            <a:ext cx="54864" cy="548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4820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5614640" y="1839658"/>
            <a:ext cx="96012" cy="96012"/>
          </a:xfrm>
          <a:prstGeom prst="roundRect">
            <a:avLst>
              <a:gd name="adj" fmla="val 50000"/>
            </a:avLst>
          </a:prstGeom>
          <a:solidFill>
            <a:srgbClr val="C4820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100276" y="1789938"/>
            <a:ext cx="685800" cy="19545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1" i="0">
                <a:solidFill>
                  <a:srgbClr val="1C2235"/>
                </a:solidFill>
                <a:latin typeface="Segoe UI"/>
              </a:rPr>
              <a:t>51–71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80060" y="1985391"/>
            <a:ext cx="2674620" cy="19545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24" b="1" i="0">
                <a:solidFill>
                  <a:srgbClr val="1C2235"/>
                </a:solidFill>
                <a:latin typeface="Segoe UI"/>
              </a:rPr>
              <a:t>Norris · 25 г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880360" y="1985391"/>
            <a:ext cx="548640" cy="19545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25 г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566160" y="1985391"/>
            <a:ext cx="342900" cy="19545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4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363813" y="2065972"/>
            <a:ext cx="1092222" cy="34290"/>
          </a:xfrm>
          <a:prstGeom prst="rect">
            <a:avLst/>
          </a:prstGeom>
          <a:solidFill>
            <a:srgbClr val="E7CD9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5336381" y="2055685"/>
            <a:ext cx="54864" cy="548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4820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6428603" y="2055685"/>
            <a:ext cx="54864" cy="548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4820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5958916" y="2035111"/>
            <a:ext cx="96012" cy="96012"/>
          </a:xfrm>
          <a:prstGeom prst="roundRect">
            <a:avLst>
              <a:gd name="adj" fmla="val 50000"/>
            </a:avLst>
          </a:prstGeom>
          <a:solidFill>
            <a:srgbClr val="C4820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552047" y="1985391"/>
            <a:ext cx="685800" cy="19545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1" i="0">
                <a:solidFill>
                  <a:srgbClr val="1C2235"/>
                </a:solidFill>
                <a:latin typeface="Segoe UI"/>
              </a:rPr>
              <a:t>47–88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25196" y="2180844"/>
            <a:ext cx="8298180" cy="195453"/>
          </a:xfrm>
          <a:prstGeom prst="rect">
            <a:avLst/>
          </a:prstGeom>
          <a:solidFill>
            <a:srgbClr val="FFEB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80060" y="2180844"/>
            <a:ext cx="2674620" cy="19545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24" b="1" i="0">
                <a:solidFill>
                  <a:srgbClr val="1C2235"/>
                </a:solidFill>
                <a:latin typeface="Segoe UI"/>
              </a:rPr>
              <a:t>НАШ · ZEK · Sandwich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880360" y="2180844"/>
            <a:ext cx="548640" cy="19545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25 г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566160" y="2180844"/>
            <a:ext cx="342900" cy="19545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2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149054" y="2213419"/>
            <a:ext cx="130302" cy="130302"/>
          </a:xfrm>
          <a:prstGeom prst="roundRect">
            <a:avLst>
              <a:gd name="adj" fmla="val 50000"/>
            </a:avLst>
          </a:prstGeom>
          <a:solidFill>
            <a:srgbClr val="B23A22"/>
          </a:solidFill>
          <a:ln w="12700">
            <a:solidFill>
              <a:srgbClr val="1C223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310217" y="2180844"/>
            <a:ext cx="685800" cy="19545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1" i="0">
                <a:solidFill>
                  <a:srgbClr val="1C2235"/>
                </a:solidFill>
                <a:latin typeface="Segoe UI"/>
              </a:rPr>
              <a:t>79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80060" y="2376297"/>
            <a:ext cx="2674620" cy="19545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24" b="1" i="0">
                <a:solidFill>
                  <a:srgbClr val="1C2235"/>
                </a:solidFill>
                <a:latin typeface="Segoe UI"/>
              </a:rPr>
              <a:t>Ock Dong Ja · 15 г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880360" y="2376297"/>
            <a:ext cx="548640" cy="19545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15 г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566160" y="2376297"/>
            <a:ext cx="342900" cy="19545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1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254067" y="2456878"/>
            <a:ext cx="1145371" cy="34290"/>
          </a:xfrm>
          <a:prstGeom prst="rect">
            <a:avLst/>
          </a:prstGeom>
          <a:solidFill>
            <a:srgbClr val="E7CD9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6226635" y="2446591"/>
            <a:ext cx="54864" cy="548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4820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7372007" y="2446591"/>
            <a:ext cx="54864" cy="548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4820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6604682" y="2426017"/>
            <a:ext cx="96012" cy="96012"/>
          </a:xfrm>
          <a:prstGeom prst="roundRect">
            <a:avLst>
              <a:gd name="adj" fmla="val 50000"/>
            </a:avLst>
          </a:prstGeom>
          <a:solidFill>
            <a:srgbClr val="C4820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495451" y="2376297"/>
            <a:ext cx="685800" cy="19545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1" i="0">
                <a:solidFill>
                  <a:srgbClr val="1C2235"/>
                </a:solidFill>
                <a:latin typeface="Segoe UI"/>
              </a:rPr>
              <a:t>80–124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25196" y="2571750"/>
            <a:ext cx="8298180" cy="195453"/>
          </a:xfrm>
          <a:prstGeom prst="rect">
            <a:avLst/>
          </a:prstGeom>
          <a:solidFill>
            <a:srgbClr val="FFEB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80060" y="2571750"/>
            <a:ext cx="2674620" cy="19545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24" b="1" i="0">
                <a:solidFill>
                  <a:srgbClr val="1C2235"/>
                </a:solidFill>
                <a:latin typeface="Segoe UI"/>
              </a:rPr>
              <a:t>НАШ · TMK · SEAWEED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880360" y="2571750"/>
            <a:ext cx="548640" cy="19545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12 г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566160" y="2571750"/>
            <a:ext cx="342900" cy="19545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3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6919722" y="2604325"/>
            <a:ext cx="130302" cy="130302"/>
          </a:xfrm>
          <a:prstGeom prst="roundRect">
            <a:avLst>
              <a:gd name="adj" fmla="val 50000"/>
            </a:avLst>
          </a:prstGeom>
          <a:solidFill>
            <a:srgbClr val="2F7A3E"/>
          </a:solidFill>
          <a:ln w="12700">
            <a:solidFill>
              <a:srgbClr val="1C223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080885" y="2571750"/>
            <a:ext cx="685800" cy="19545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1" i="0">
                <a:solidFill>
                  <a:srgbClr val="1C2235"/>
                </a:solidFill>
                <a:latin typeface="Segoe UI"/>
              </a:rPr>
              <a:t>108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25196" y="2767203"/>
            <a:ext cx="8298180" cy="195453"/>
          </a:xfrm>
          <a:prstGeom prst="rect">
            <a:avLst/>
          </a:prstGeom>
          <a:solidFill>
            <a:srgbClr val="FFEB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80060" y="2767203"/>
            <a:ext cx="2674620" cy="19545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24" b="1" i="0">
                <a:solidFill>
                  <a:srgbClr val="1C2235"/>
                </a:solidFill>
                <a:latin typeface="Segoe UI"/>
              </a:rPr>
              <a:t>НАШ · TMK · MINI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880360" y="2767203"/>
            <a:ext cx="548640" cy="19545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10 г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566160" y="2767203"/>
            <a:ext cx="342900" cy="19545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2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6946296" y="2799778"/>
            <a:ext cx="130302" cy="130302"/>
          </a:xfrm>
          <a:prstGeom prst="roundRect">
            <a:avLst>
              <a:gd name="adj" fmla="val 50000"/>
            </a:avLst>
          </a:prstGeom>
          <a:solidFill>
            <a:srgbClr val="2F7A3E"/>
          </a:solidFill>
          <a:ln w="12700">
            <a:solidFill>
              <a:srgbClr val="1C223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7107459" y="2767203"/>
            <a:ext cx="685800" cy="19545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1" i="0">
                <a:solidFill>
                  <a:srgbClr val="1C2235"/>
                </a:solidFill>
                <a:latin typeface="Segoe UI"/>
              </a:rPr>
              <a:t>109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80060" y="2962656"/>
            <a:ext cx="2674620" cy="19545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24" b="1" i="0">
                <a:solidFill>
                  <a:srgbClr val="1C2235"/>
                </a:solidFill>
                <a:latin typeface="Segoe UI"/>
              </a:rPr>
              <a:t>Ocean Snack · 40 г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880360" y="2962656"/>
            <a:ext cx="548640" cy="19545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40 г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566160" y="2962656"/>
            <a:ext cx="342900" cy="19545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4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7016591" y="3012376"/>
            <a:ext cx="96012" cy="96012"/>
          </a:xfrm>
          <a:prstGeom prst="roundRect">
            <a:avLst>
              <a:gd name="adj" fmla="val 50000"/>
            </a:avLst>
          </a:prstGeom>
          <a:solidFill>
            <a:srgbClr val="C4820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160609" y="2962656"/>
            <a:ext cx="685800" cy="19545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1" i="0">
                <a:solidFill>
                  <a:srgbClr val="1C2235"/>
                </a:solidFill>
                <a:latin typeface="Segoe UI"/>
              </a:rPr>
              <a:t>111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80060" y="3158109"/>
            <a:ext cx="2674620" cy="19545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24" b="1" i="0">
                <a:solidFill>
                  <a:srgbClr val="1C2235"/>
                </a:solidFill>
                <a:latin typeface="Segoe UI"/>
              </a:rPr>
              <a:t>Ock Dong Ja · 25 г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880360" y="3158109"/>
            <a:ext cx="548640" cy="19545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25 г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566160" y="3158109"/>
            <a:ext cx="342900" cy="19545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2</a:t>
            </a:r>
          </a:p>
        </p:txBody>
      </p:sp>
      <p:sp>
        <p:nvSpPr>
          <p:cNvPr id="91" name="Rectangle 90"/>
          <p:cNvSpPr/>
          <p:nvPr/>
        </p:nvSpPr>
        <p:spPr>
          <a:xfrm>
            <a:off x="7077884" y="3238690"/>
            <a:ext cx="1052360" cy="34290"/>
          </a:xfrm>
          <a:prstGeom prst="rect">
            <a:avLst/>
          </a:prstGeom>
          <a:solidFill>
            <a:srgbClr val="E7CD9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" name="Rounded Rectangle 91"/>
          <p:cNvSpPr/>
          <p:nvPr/>
        </p:nvSpPr>
        <p:spPr>
          <a:xfrm>
            <a:off x="7050452" y="3228403"/>
            <a:ext cx="54864" cy="548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4820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" name="Rounded Rectangle 92"/>
          <p:cNvSpPr/>
          <p:nvPr/>
        </p:nvSpPr>
        <p:spPr>
          <a:xfrm>
            <a:off x="8102812" y="3228403"/>
            <a:ext cx="54864" cy="548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4820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4" name="Rounded Rectangle 93"/>
          <p:cNvSpPr/>
          <p:nvPr/>
        </p:nvSpPr>
        <p:spPr>
          <a:xfrm>
            <a:off x="7400596" y="3207829"/>
            <a:ext cx="96012" cy="96012"/>
          </a:xfrm>
          <a:prstGeom prst="roundRect">
            <a:avLst>
              <a:gd name="adj" fmla="val 50000"/>
            </a:avLst>
          </a:prstGeom>
          <a:solidFill>
            <a:srgbClr val="C4820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289214" y="3158109"/>
            <a:ext cx="685800" cy="19545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08" b="1" i="0">
                <a:solidFill>
                  <a:srgbClr val="1C2235"/>
                </a:solidFill>
                <a:latin typeface="Segoe UI"/>
              </a:rPr>
              <a:t>112–151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80060" y="3353562"/>
            <a:ext cx="2674620" cy="19545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24" b="1" i="0">
                <a:solidFill>
                  <a:srgbClr val="1C2235"/>
                </a:solidFill>
                <a:latin typeface="Segoe UI"/>
              </a:rPr>
              <a:t>Ock Dong Ja · 20 г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2880360" y="3353562"/>
            <a:ext cx="548640" cy="19545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20 г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3566160" y="3353562"/>
            <a:ext cx="342900" cy="19545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1</a:t>
            </a:r>
          </a:p>
        </p:txBody>
      </p:sp>
      <p:sp>
        <p:nvSpPr>
          <p:cNvPr id="99" name="Rectangle 98"/>
          <p:cNvSpPr/>
          <p:nvPr/>
        </p:nvSpPr>
        <p:spPr>
          <a:xfrm>
            <a:off x="7819320" y="3434143"/>
            <a:ext cx="310924" cy="34290"/>
          </a:xfrm>
          <a:prstGeom prst="rect">
            <a:avLst/>
          </a:prstGeom>
          <a:solidFill>
            <a:srgbClr val="E7CD9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" name="Rounded Rectangle 99"/>
          <p:cNvSpPr/>
          <p:nvPr/>
        </p:nvSpPr>
        <p:spPr>
          <a:xfrm>
            <a:off x="7791888" y="3423856"/>
            <a:ext cx="54864" cy="548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4820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" name="Rounded Rectangle 100"/>
          <p:cNvSpPr/>
          <p:nvPr/>
        </p:nvSpPr>
        <p:spPr>
          <a:xfrm>
            <a:off x="8102812" y="3423856"/>
            <a:ext cx="54864" cy="548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4820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" name="Rounded Rectangle 101"/>
          <p:cNvSpPr/>
          <p:nvPr/>
        </p:nvSpPr>
        <p:spPr>
          <a:xfrm>
            <a:off x="7926776" y="3403282"/>
            <a:ext cx="96012" cy="96012"/>
          </a:xfrm>
          <a:prstGeom prst="roundRect">
            <a:avLst>
              <a:gd name="adj" fmla="val 50000"/>
            </a:avLst>
          </a:prstGeom>
          <a:solidFill>
            <a:srgbClr val="C4820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030650" y="3353562"/>
            <a:ext cx="685800" cy="19545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08" b="1" i="0">
                <a:solidFill>
                  <a:srgbClr val="1C2235"/>
                </a:solidFill>
                <a:latin typeface="Segoe UI"/>
              </a:rPr>
              <a:t>139–151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425196" y="3727323"/>
            <a:ext cx="82981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Грн за упаковку · велика точка — медіана, малі — межі діапазону між мережами; золота зона — наша полиця ±20 %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425196" y="3967353"/>
            <a:ext cx="4066794" cy="68580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425196" y="3967353"/>
            <a:ext cx="27432" cy="685800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562356" y="4035933"/>
            <a:ext cx="380619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 spc="20">
                <a:solidFill>
                  <a:srgbClr val="C4820A"/>
                </a:solidFill>
                <a:latin typeface="Segoe UI"/>
              </a:rPr>
              <a:t>ZEK SANDWICH 25 Г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562356" y="4186809"/>
            <a:ext cx="380619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88" b="0" i="0">
                <a:solidFill>
                  <a:srgbClr val="1C2235"/>
                </a:solidFill>
                <a:latin typeface="Segoe UI"/>
              </a:rPr>
              <a:t>79 ₴ — вище за Norris 25 г (71 ₴) і Hokkaido Club 25 г (58 ₴), нижче за Ock Dong Ja 25 г (125 ₴).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4574286" y="3967353"/>
            <a:ext cx="4066794" cy="68580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4574286" y="3967353"/>
            <a:ext cx="27432" cy="685800"/>
          </a:xfrm>
          <a:prstGeom prst="rect">
            <a:avLst/>
          </a:prstGeom>
          <a:solidFill>
            <a:srgbClr val="B23A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4711446" y="4035933"/>
            <a:ext cx="380619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 spc="20">
                <a:solidFill>
                  <a:srgbClr val="B23A3A"/>
                </a:solidFill>
                <a:latin typeface="Segoe UI"/>
              </a:rPr>
              <a:t>TMK SEAWEED / MINI 10–12 Г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4711446" y="4186809"/>
            <a:ext cx="380619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88" b="0" i="0">
                <a:solidFill>
                  <a:srgbClr val="1C2235"/>
                </a:solidFill>
                <a:latin typeface="Segoe UI"/>
              </a:rPr>
              <a:t>108 ₴ за пакет 10–12 г — на рівні Ocean Snack 40 г (111 ₴). Сусіди за вагою: Norris 8–10 г — 31–33 ₴, Ock Dong Ja 15 г — 96 ₴.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425196" y="4855464"/>
            <a:ext cx="829818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1">
                <a:solidFill>
                  <a:srgbClr val="717890"/>
                </a:solidFill>
                <a:latin typeface="Segoe UI"/>
              </a:rPr>
              <a:t>Каталоги мереж на zakaz.ua (METRO, NOVUS, Ашан, Зараз, МегаМаркет, Ultramarket, Епіцентр, Космос, Onde, Ідеал, Восторг, Клас, Таврія В, ЧудоМаркет, Торба, Grono) · 07.10.2026 · ціна — онлайн-полиця одного магазину мережі, діапазон — між мережами.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977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3977" cy="795528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95528"/>
            <a:ext cx="9143977" cy="41148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" y="178308"/>
            <a:ext cx="1042416" cy="4526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728216" y="205740"/>
            <a:ext cx="61722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1" i="0" spc="30">
                <a:solidFill>
                  <a:srgbClr val="FFC95C"/>
                </a:solidFill>
                <a:latin typeface="Segoe UI"/>
              </a:rPr>
              <a:t>ХТО З КИМ СТОЇТЬ · ТЕМПУРА Й ТОПІНГ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28216" y="377190"/>
            <a:ext cx="61722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20" b="1" i="0">
                <a:solidFill>
                  <a:srgbClr val="FFFFFF"/>
                </a:solidFill>
                <a:latin typeface="Segoe UI"/>
              </a:rPr>
              <a:t>Де ми стоїмо: темпура й топінг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20990" y="301752"/>
            <a:ext cx="768096" cy="2263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360" b="1" i="0">
                <a:solidFill>
                  <a:srgbClr val="465382"/>
                </a:solidFill>
                <a:latin typeface="Segoe UI"/>
              </a:rPr>
              <a:t>43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5196" y="918972"/>
            <a:ext cx="8298180" cy="3771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20" b="0" i="0">
                <a:solidFill>
                  <a:srgbClr val="717890"/>
                </a:solidFill>
                <a:latin typeface="Segoe UI"/>
              </a:rPr>
              <a:t>ZEK Tempura 30 г — 105 ₴ і 50 г — 159 ₴ поряд із Tao Kae Noi 25 г (88 ₴) і 40 г (135 ₴); ZEK Topping 35 / 70 г — 98 / 199 ₴.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5196" y="1165860"/>
            <a:ext cx="8298180" cy="205740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" y="1193292"/>
            <a:ext cx="2743200" cy="1508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ЛІНІЙКА · ВІД ДЕШЕВИХ ДО ДОРОГИХ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25496" y="1193292"/>
            <a:ext cx="548640" cy="1508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ВАГА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79876" y="1193292"/>
            <a:ext cx="342900" cy="1508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SKU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05980" y="1371600"/>
            <a:ext cx="3410071" cy="2242566"/>
          </a:xfrm>
          <a:prstGeom prst="rect">
            <a:avLst/>
          </a:prstGeom>
          <a:solidFill>
            <a:srgbClr val="FFF3D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14800" y="1371600"/>
            <a:ext cx="5486" cy="2242566"/>
          </a:xfrm>
          <a:prstGeom prst="rect">
            <a:avLst/>
          </a:prstGeom>
          <a:solidFill>
            <a:srgbClr val="D9DE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09060" y="3607308"/>
            <a:ext cx="41148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60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65192" y="1371600"/>
            <a:ext cx="5486" cy="2242566"/>
          </a:xfrm>
          <a:prstGeom prst="rect">
            <a:avLst/>
          </a:prstGeom>
          <a:solidFill>
            <a:srgbClr val="D9DE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9452" y="3607308"/>
            <a:ext cx="41148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100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815584" y="1371600"/>
            <a:ext cx="5486" cy="2242566"/>
          </a:xfrm>
          <a:prstGeom prst="rect">
            <a:avLst/>
          </a:prstGeom>
          <a:solidFill>
            <a:srgbClr val="D9DE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09844" y="3607308"/>
            <a:ext cx="41148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140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65976" y="1371600"/>
            <a:ext cx="5486" cy="2242566"/>
          </a:xfrm>
          <a:prstGeom prst="rect">
            <a:avLst/>
          </a:prstGeom>
          <a:solidFill>
            <a:srgbClr val="D9DE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60236" y="3607308"/>
            <a:ext cx="41148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180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516368" y="1371600"/>
            <a:ext cx="5486" cy="2242566"/>
          </a:xfrm>
          <a:prstGeom prst="rect">
            <a:avLst/>
          </a:prstGeom>
          <a:solidFill>
            <a:srgbClr val="D9DE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0628" y="3607308"/>
            <a:ext cx="41148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220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366760" y="1371600"/>
            <a:ext cx="5486" cy="2242566"/>
          </a:xfrm>
          <a:prstGeom prst="rect">
            <a:avLst/>
          </a:prstGeom>
          <a:solidFill>
            <a:srgbClr val="D9DE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61020" y="3607308"/>
            <a:ext cx="41148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260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0060" y="1399032"/>
            <a:ext cx="2674620" cy="1840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24" b="1" i="0">
                <a:solidFill>
                  <a:srgbClr val="1C2235"/>
                </a:solidFill>
                <a:latin typeface="Segoe UI"/>
              </a:rPr>
              <a:t>Tao Kae Noi · 15 г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80360" y="1399032"/>
            <a:ext cx="548640" cy="1840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15 г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0" y="1399032"/>
            <a:ext cx="342900" cy="1840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38027" y="1473898"/>
            <a:ext cx="999210" cy="34290"/>
          </a:xfrm>
          <a:prstGeom prst="rect">
            <a:avLst/>
          </a:prstGeom>
          <a:solidFill>
            <a:srgbClr val="BEB7D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310595" y="1463611"/>
            <a:ext cx="54864" cy="548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5D4B9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5309806" y="1463611"/>
            <a:ext cx="54864" cy="548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5D4B9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422895" y="1443037"/>
            <a:ext cx="96012" cy="96012"/>
          </a:xfrm>
          <a:prstGeom prst="roundRect">
            <a:avLst>
              <a:gd name="adj" fmla="val 50000"/>
            </a:avLst>
          </a:prstGeom>
          <a:solidFill>
            <a:srgbClr val="5D4B9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33250" y="1399032"/>
            <a:ext cx="685800" cy="1840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1" i="0">
                <a:solidFill>
                  <a:srgbClr val="1C2235"/>
                </a:solidFill>
                <a:latin typeface="Segoe UI"/>
              </a:rPr>
              <a:t>70–118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0060" y="1583055"/>
            <a:ext cx="2674620" cy="1840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24" b="1" i="0">
                <a:solidFill>
                  <a:srgbClr val="1C2235"/>
                </a:solidFill>
                <a:latin typeface="Segoe UI"/>
              </a:rPr>
              <a:t>Tao Kae Noi · 25 г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880360" y="1583055"/>
            <a:ext cx="548640" cy="1840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25 г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0" y="1583055"/>
            <a:ext cx="342900" cy="1840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3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423067" y="1657921"/>
            <a:ext cx="2517160" cy="34290"/>
          </a:xfrm>
          <a:prstGeom prst="rect">
            <a:avLst/>
          </a:prstGeom>
          <a:solidFill>
            <a:srgbClr val="BEB7D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4395635" y="1647634"/>
            <a:ext cx="54864" cy="548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5D4B9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912795" y="1647634"/>
            <a:ext cx="54864" cy="548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5D4B9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4651438" y="1627060"/>
            <a:ext cx="96012" cy="96012"/>
          </a:xfrm>
          <a:prstGeom prst="roundRect">
            <a:avLst>
              <a:gd name="adj" fmla="val 50000"/>
            </a:avLst>
          </a:prstGeom>
          <a:solidFill>
            <a:srgbClr val="5D4B9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036239" y="1583055"/>
            <a:ext cx="685800" cy="1840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1" i="0">
                <a:solidFill>
                  <a:srgbClr val="1C2235"/>
                </a:solidFill>
                <a:latin typeface="Segoe UI"/>
              </a:rPr>
              <a:t>74–193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25196" y="1767078"/>
            <a:ext cx="8298180" cy="184023"/>
          </a:xfrm>
          <a:prstGeom prst="rect">
            <a:avLst/>
          </a:prstGeom>
          <a:solidFill>
            <a:srgbClr val="FFEB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80060" y="1767078"/>
            <a:ext cx="2674620" cy="1840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24" b="1" i="0">
                <a:solidFill>
                  <a:srgbClr val="1C2235"/>
                </a:solidFill>
                <a:latin typeface="Segoe UI"/>
              </a:rPr>
              <a:t>НАШ · ZEK · Topping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880360" y="1767078"/>
            <a:ext cx="548640" cy="1840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35 г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566160" y="1767078"/>
            <a:ext cx="342900" cy="1840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2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857521" y="1793938"/>
            <a:ext cx="130302" cy="130302"/>
          </a:xfrm>
          <a:prstGeom prst="roundRect">
            <a:avLst>
              <a:gd name="adj" fmla="val 50000"/>
            </a:avLst>
          </a:prstGeom>
          <a:solidFill>
            <a:srgbClr val="B23A22"/>
          </a:solidFill>
          <a:ln w="12700">
            <a:solidFill>
              <a:srgbClr val="1C223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018684" y="1767078"/>
            <a:ext cx="685800" cy="1840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1" i="0">
                <a:solidFill>
                  <a:srgbClr val="1C2235"/>
                </a:solidFill>
                <a:latin typeface="Segoe UI"/>
              </a:rPr>
              <a:t>98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25196" y="1951101"/>
            <a:ext cx="8298180" cy="184023"/>
          </a:xfrm>
          <a:prstGeom prst="rect">
            <a:avLst/>
          </a:prstGeom>
          <a:solidFill>
            <a:srgbClr val="FFEB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80060" y="1951101"/>
            <a:ext cx="2674620" cy="1840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24" b="1" i="0">
                <a:solidFill>
                  <a:srgbClr val="1C2235"/>
                </a:solidFill>
                <a:latin typeface="Segoe UI"/>
              </a:rPr>
              <a:t>НАШ · ZEK · Topping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880360" y="1951101"/>
            <a:ext cx="548640" cy="1840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35 г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566160" y="1951101"/>
            <a:ext cx="342900" cy="1840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1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942560" y="1977961"/>
            <a:ext cx="130302" cy="130302"/>
          </a:xfrm>
          <a:prstGeom prst="roundRect">
            <a:avLst>
              <a:gd name="adj" fmla="val 50000"/>
            </a:avLst>
          </a:prstGeom>
          <a:solidFill>
            <a:srgbClr val="B23A22"/>
          </a:solidFill>
          <a:ln w="12700">
            <a:solidFill>
              <a:srgbClr val="1C223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103723" y="1951101"/>
            <a:ext cx="685800" cy="1840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1" i="0">
                <a:solidFill>
                  <a:srgbClr val="1C2235"/>
                </a:solidFill>
                <a:latin typeface="Segoe UI"/>
              </a:rPr>
              <a:t>102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80060" y="2135124"/>
            <a:ext cx="2674620" cy="1840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24" b="1" i="0">
                <a:solidFill>
                  <a:srgbClr val="1C2235"/>
                </a:solidFill>
                <a:latin typeface="Segoe UI"/>
              </a:rPr>
              <a:t>Metro Chef · 30 г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880360" y="2135124"/>
            <a:ext cx="548640" cy="1840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30 г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566160" y="2135124"/>
            <a:ext cx="342900" cy="1840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1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023485" y="2179129"/>
            <a:ext cx="96012" cy="96012"/>
          </a:xfrm>
          <a:prstGeom prst="roundRect">
            <a:avLst>
              <a:gd name="adj" fmla="val 50000"/>
            </a:avLst>
          </a:prstGeom>
          <a:solidFill>
            <a:srgbClr val="5D4B9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167503" y="2135124"/>
            <a:ext cx="685800" cy="1840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1" i="0">
                <a:solidFill>
                  <a:srgbClr val="1C2235"/>
                </a:solidFill>
                <a:latin typeface="Segoe UI"/>
              </a:rPr>
              <a:t>105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25196" y="2319147"/>
            <a:ext cx="8298180" cy="184023"/>
          </a:xfrm>
          <a:prstGeom prst="rect">
            <a:avLst/>
          </a:prstGeom>
          <a:solidFill>
            <a:srgbClr val="FFEB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80060" y="2319147"/>
            <a:ext cx="2674620" cy="1840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24" b="1" i="0">
                <a:solidFill>
                  <a:srgbClr val="1C2235"/>
                </a:solidFill>
                <a:latin typeface="Segoe UI"/>
              </a:rPr>
              <a:t>НАШ · ZEK · Tempura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880360" y="2319147"/>
            <a:ext cx="548640" cy="1840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30 г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566160" y="2319147"/>
            <a:ext cx="342900" cy="1840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3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5006340" y="2346007"/>
            <a:ext cx="130302" cy="130302"/>
          </a:xfrm>
          <a:prstGeom prst="roundRect">
            <a:avLst>
              <a:gd name="adj" fmla="val 50000"/>
            </a:avLst>
          </a:prstGeom>
          <a:solidFill>
            <a:srgbClr val="B23A22"/>
          </a:solidFill>
          <a:ln w="12700">
            <a:solidFill>
              <a:srgbClr val="1C223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167503" y="2319147"/>
            <a:ext cx="685800" cy="1840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1" i="0">
                <a:solidFill>
                  <a:srgbClr val="1C2235"/>
                </a:solidFill>
                <a:latin typeface="Segoe UI"/>
              </a:rPr>
              <a:t>105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80060" y="2503170"/>
            <a:ext cx="2674620" cy="1840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24" b="1" i="0">
                <a:solidFill>
                  <a:srgbClr val="1C2235"/>
                </a:solidFill>
                <a:latin typeface="Segoe UI"/>
              </a:rPr>
              <a:t>Tao Kae Noi · 40 г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880360" y="2503170"/>
            <a:ext cx="548640" cy="1840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40 г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566160" y="2503170"/>
            <a:ext cx="342900" cy="1840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1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528576" y="2578036"/>
            <a:ext cx="361416" cy="34290"/>
          </a:xfrm>
          <a:prstGeom prst="rect">
            <a:avLst/>
          </a:prstGeom>
          <a:solidFill>
            <a:srgbClr val="BEB7D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5501144" y="2567749"/>
            <a:ext cx="54864" cy="548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5D4B9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5862561" y="2567749"/>
            <a:ext cx="54864" cy="548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5D4B9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5661279" y="2547175"/>
            <a:ext cx="96012" cy="96012"/>
          </a:xfrm>
          <a:prstGeom prst="roundRect">
            <a:avLst>
              <a:gd name="adj" fmla="val 50000"/>
            </a:avLst>
          </a:prstGeom>
          <a:solidFill>
            <a:srgbClr val="5D4B9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986005" y="2503170"/>
            <a:ext cx="685800" cy="1840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1" i="0">
                <a:solidFill>
                  <a:srgbClr val="1C2235"/>
                </a:solidFill>
                <a:latin typeface="Segoe UI"/>
              </a:rPr>
              <a:t>126–144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25196" y="2687193"/>
            <a:ext cx="8298180" cy="184023"/>
          </a:xfrm>
          <a:prstGeom prst="rect">
            <a:avLst/>
          </a:prstGeom>
          <a:solidFill>
            <a:srgbClr val="FFEB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80060" y="2687193"/>
            <a:ext cx="2674620" cy="1840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24" b="1" i="0">
                <a:solidFill>
                  <a:srgbClr val="1C2235"/>
                </a:solidFill>
                <a:latin typeface="Segoe UI"/>
              </a:rPr>
              <a:t>НАШ · ZEK · Tempura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880360" y="2687193"/>
            <a:ext cx="548640" cy="1840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50 г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566160" y="2687193"/>
            <a:ext cx="342900" cy="1840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3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6154369" y="2714053"/>
            <a:ext cx="130302" cy="130302"/>
          </a:xfrm>
          <a:prstGeom prst="roundRect">
            <a:avLst>
              <a:gd name="adj" fmla="val 50000"/>
            </a:avLst>
          </a:prstGeom>
          <a:solidFill>
            <a:srgbClr val="B23A22"/>
          </a:solidFill>
          <a:ln w="12700">
            <a:solidFill>
              <a:srgbClr val="1C223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315532" y="2687193"/>
            <a:ext cx="685800" cy="1840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1" i="0">
                <a:solidFill>
                  <a:srgbClr val="1C2235"/>
                </a:solidFill>
                <a:latin typeface="Segoe UI"/>
              </a:rPr>
              <a:t>159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80060" y="2871216"/>
            <a:ext cx="2674620" cy="1840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24" b="1" i="0">
                <a:solidFill>
                  <a:srgbClr val="1C2235"/>
                </a:solidFill>
                <a:latin typeface="Segoe UI"/>
              </a:rPr>
              <a:t>Ock Dong Ja · 35 г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880360" y="2871216"/>
            <a:ext cx="548640" cy="1840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35 г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566160" y="2871216"/>
            <a:ext cx="342900" cy="1840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1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6741276" y="2915221"/>
            <a:ext cx="96012" cy="96012"/>
          </a:xfrm>
          <a:prstGeom prst="roundRect">
            <a:avLst>
              <a:gd name="adj" fmla="val 50000"/>
            </a:avLst>
          </a:prstGeom>
          <a:solidFill>
            <a:srgbClr val="5D4B9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885294" y="2871216"/>
            <a:ext cx="685800" cy="1840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1" i="0">
                <a:solidFill>
                  <a:srgbClr val="1C2235"/>
                </a:solidFill>
                <a:latin typeface="Segoe UI"/>
              </a:rPr>
              <a:t>186</a:t>
            </a:r>
          </a:p>
        </p:txBody>
      </p:sp>
      <p:sp>
        <p:nvSpPr>
          <p:cNvPr id="85" name="Rectangle 84"/>
          <p:cNvSpPr/>
          <p:nvPr/>
        </p:nvSpPr>
        <p:spPr>
          <a:xfrm>
            <a:off x="425196" y="3055239"/>
            <a:ext cx="8298180" cy="184023"/>
          </a:xfrm>
          <a:prstGeom prst="rect">
            <a:avLst/>
          </a:prstGeom>
          <a:solidFill>
            <a:srgbClr val="FFEB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480060" y="3055239"/>
            <a:ext cx="2674620" cy="1840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24" b="1" i="0">
                <a:solidFill>
                  <a:srgbClr val="1C2235"/>
                </a:solidFill>
                <a:latin typeface="Segoe UI"/>
              </a:rPr>
              <a:t>НАШ · ZEK · Topping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880360" y="3055239"/>
            <a:ext cx="548640" cy="1840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70 г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566160" y="3055239"/>
            <a:ext cx="342900" cy="1840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3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7004761" y="3082099"/>
            <a:ext cx="130302" cy="130302"/>
          </a:xfrm>
          <a:prstGeom prst="roundRect">
            <a:avLst>
              <a:gd name="adj" fmla="val 50000"/>
            </a:avLst>
          </a:prstGeom>
          <a:solidFill>
            <a:srgbClr val="B23A22"/>
          </a:solidFill>
          <a:ln w="12700">
            <a:solidFill>
              <a:srgbClr val="1C223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7165924" y="3055239"/>
            <a:ext cx="685800" cy="1840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1" i="0">
                <a:solidFill>
                  <a:srgbClr val="1C2235"/>
                </a:solidFill>
                <a:latin typeface="Segoe UI"/>
              </a:rPr>
              <a:t>199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80060" y="3239262"/>
            <a:ext cx="2674620" cy="1840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24" b="1" i="0">
                <a:solidFill>
                  <a:srgbClr val="1C2235"/>
                </a:solidFill>
                <a:latin typeface="Segoe UI"/>
              </a:rPr>
              <a:t>Ock Dong Ja · 70 г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880360" y="3239262"/>
            <a:ext cx="548640" cy="1840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70 г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566160" y="3239262"/>
            <a:ext cx="342900" cy="1840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1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7727731" y="3283267"/>
            <a:ext cx="96012" cy="96012"/>
          </a:xfrm>
          <a:prstGeom prst="roundRect">
            <a:avLst>
              <a:gd name="adj" fmla="val 50000"/>
            </a:avLst>
          </a:prstGeom>
          <a:solidFill>
            <a:srgbClr val="5D4B9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987067" y="3239262"/>
            <a:ext cx="685800" cy="1840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08" b="1" i="0">
                <a:solidFill>
                  <a:srgbClr val="1C2235"/>
                </a:solidFill>
                <a:latin typeface="Segoe UI"/>
              </a:rPr>
              <a:t>232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80060" y="3423285"/>
            <a:ext cx="2674620" cy="1840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24" b="1" i="0">
                <a:solidFill>
                  <a:srgbClr val="1C2235"/>
                </a:solidFill>
                <a:latin typeface="Segoe UI"/>
              </a:rPr>
              <a:t>Tao Kae Noi · 59 г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2880360" y="3423285"/>
            <a:ext cx="548640" cy="1840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59 г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3566160" y="3423285"/>
            <a:ext cx="342900" cy="1840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1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8318754" y="3467290"/>
            <a:ext cx="96012" cy="96012"/>
          </a:xfrm>
          <a:prstGeom prst="roundRect">
            <a:avLst>
              <a:gd name="adj" fmla="val 50000"/>
            </a:avLst>
          </a:prstGeom>
          <a:solidFill>
            <a:srgbClr val="5D4B9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7578090" y="3423285"/>
            <a:ext cx="685800" cy="1840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608" b="1" i="0">
                <a:solidFill>
                  <a:srgbClr val="1C2235"/>
                </a:solidFill>
                <a:latin typeface="Segoe UI"/>
              </a:rPr>
              <a:t>528 →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25196" y="3785616"/>
            <a:ext cx="82981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Грн за упаковку · велика точка — медіана, малі — межі діапазону між мережами; золота зона — наша полиця ±20 %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425196" y="4025646"/>
            <a:ext cx="4066794" cy="68580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425196" y="4025646"/>
            <a:ext cx="27432" cy="685800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562356" y="4094226"/>
            <a:ext cx="380619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 spc="20">
                <a:solidFill>
                  <a:srgbClr val="5D4B96"/>
                </a:solidFill>
                <a:latin typeface="Segoe UI"/>
              </a:rPr>
              <a:t>ZEK TEMPURA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562356" y="4245102"/>
            <a:ext cx="380619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88" b="0" i="0">
                <a:solidFill>
                  <a:srgbClr val="1C2235"/>
                </a:solidFill>
                <a:latin typeface="Segoe UI"/>
              </a:rPr>
              <a:t>30 г — 105 ₴: між Tao Kae Noi 25 г (88 ₴) і 40 г (135 ₴). 50 г — 159 ₴: дорожче за Tao Kae Noi 40 г.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574286" y="4025646"/>
            <a:ext cx="4066794" cy="68580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4574286" y="4025646"/>
            <a:ext cx="27432" cy="685800"/>
          </a:xfrm>
          <a:prstGeom prst="rect">
            <a:avLst/>
          </a:prstGeom>
          <a:solidFill>
            <a:srgbClr val="1F9AA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4711446" y="4094226"/>
            <a:ext cx="380619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 spc="20">
                <a:solidFill>
                  <a:srgbClr val="1F9AA6"/>
                </a:solidFill>
                <a:latin typeface="Segoe UI"/>
              </a:rPr>
              <a:t>ZEK TOPPING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4711446" y="4245102"/>
            <a:ext cx="380619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88" b="0" i="0">
                <a:solidFill>
                  <a:srgbClr val="1C2235"/>
                </a:solidFill>
                <a:latin typeface="Segoe UI"/>
              </a:rPr>
              <a:t>35 г — 98 ₴, 70 г — 199 ₴. Ock Dong Ja: 35 г — 186 ₴, 70 г — 232 ₴; Metro Chef 30 г — 105 ₴. ZEK дешевший.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425196" y="4855464"/>
            <a:ext cx="829818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1">
                <a:solidFill>
                  <a:srgbClr val="717890"/>
                </a:solidFill>
                <a:latin typeface="Segoe UI"/>
              </a:rPr>
              <a:t>Каталоги мереж на zakaz.ua (METRO, NOVUS, Ашан, Зараз, МегаМаркет, Ultramarket, Епіцентр, Космос, Onde, Ідеал, Восторг, Клас, Таврія В, ЧудоМаркет, Торба, Grono) · 07.10.2026 · ціна — онлайн-полиця одного магазину мережі, діапазон — між мережами.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977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3977" cy="795528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95528"/>
            <a:ext cx="9143977" cy="41148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" y="178308"/>
            <a:ext cx="1042416" cy="4526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728216" y="205740"/>
            <a:ext cx="61722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1" i="0" spc="30">
                <a:solidFill>
                  <a:srgbClr val="FFC95C"/>
                </a:solidFill>
                <a:latin typeface="Segoe UI"/>
              </a:rPr>
              <a:t>ХТО З КИМ СТОЇТЬ · РИСОВІ КРЕКЕРИ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28216" y="377190"/>
            <a:ext cx="61722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20" b="1" i="0">
                <a:solidFill>
                  <a:srgbClr val="FFFFFF"/>
                </a:solidFill>
                <a:latin typeface="Segoe UI"/>
              </a:rPr>
              <a:t>Де ми стоїмо: рисові крекери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20990" y="301752"/>
            <a:ext cx="768096" cy="2263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360" b="1" i="0">
                <a:solidFill>
                  <a:srgbClr val="465382"/>
                </a:solidFill>
                <a:latin typeface="Segoe UI"/>
              </a:rPr>
              <a:t>44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5196" y="918972"/>
            <a:ext cx="8298180" cy="3771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20" b="0" i="0">
                <a:solidFill>
                  <a:srgbClr val="717890"/>
                </a:solidFill>
                <a:latin typeface="Segoe UI"/>
              </a:rPr>
              <a:t>Thai-Nichi 50 г — 132 ₴, 55 г — 160 ₴; Singha 42 г — 170 ₴. Єдиний аналог у мережах — Want Want mini 60 г: 145 ₴.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5196" y="1165860"/>
            <a:ext cx="8298180" cy="205740"/>
          </a:xfrm>
          <a:prstGeom prst="rect">
            <a:avLst/>
          </a:prstGeom>
          <a:solidFill>
            <a:srgbClr val="B23A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" y="1193292"/>
            <a:ext cx="2743200" cy="1508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ЛІНІЙКА · ВІД ДЕШЕВИХ ДО ДОРОГИХ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25496" y="1193292"/>
            <a:ext cx="548640" cy="1508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ВАГА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79876" y="1193292"/>
            <a:ext cx="342900" cy="1508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SKU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13224" y="1371600"/>
            <a:ext cx="3486607" cy="1762506"/>
          </a:xfrm>
          <a:prstGeom prst="rect">
            <a:avLst/>
          </a:prstGeom>
          <a:solidFill>
            <a:srgbClr val="FFF3D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14800" y="1371600"/>
            <a:ext cx="5486" cy="1762506"/>
          </a:xfrm>
          <a:prstGeom prst="rect">
            <a:avLst/>
          </a:prstGeom>
          <a:solidFill>
            <a:srgbClr val="D9DE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09060" y="3127248"/>
            <a:ext cx="41148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100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823460" y="1371600"/>
            <a:ext cx="5486" cy="1762506"/>
          </a:xfrm>
          <a:prstGeom prst="rect">
            <a:avLst/>
          </a:prstGeom>
          <a:solidFill>
            <a:srgbClr val="D9DE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3127248"/>
            <a:ext cx="41148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120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32120" y="1371600"/>
            <a:ext cx="5486" cy="1762506"/>
          </a:xfrm>
          <a:prstGeom prst="rect">
            <a:avLst/>
          </a:prstGeom>
          <a:solidFill>
            <a:srgbClr val="D9DE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26380" y="3127248"/>
            <a:ext cx="41148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140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40780" y="1371600"/>
            <a:ext cx="5486" cy="1762506"/>
          </a:xfrm>
          <a:prstGeom prst="rect">
            <a:avLst/>
          </a:prstGeom>
          <a:solidFill>
            <a:srgbClr val="D9DE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35040" y="3127248"/>
            <a:ext cx="41148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160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949440" y="1371600"/>
            <a:ext cx="5486" cy="1762506"/>
          </a:xfrm>
          <a:prstGeom prst="rect">
            <a:avLst/>
          </a:prstGeom>
          <a:solidFill>
            <a:srgbClr val="D9DE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43700" y="3127248"/>
            <a:ext cx="41148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180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58100" y="1371600"/>
            <a:ext cx="5486" cy="1762506"/>
          </a:xfrm>
          <a:prstGeom prst="rect">
            <a:avLst/>
          </a:prstGeom>
          <a:solidFill>
            <a:srgbClr val="D9DE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52360" y="3127248"/>
            <a:ext cx="41148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200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366760" y="1371600"/>
            <a:ext cx="5486" cy="1762506"/>
          </a:xfrm>
          <a:prstGeom prst="rect">
            <a:avLst/>
          </a:prstGeom>
          <a:solidFill>
            <a:srgbClr val="D9DE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61020" y="3127248"/>
            <a:ext cx="41148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220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0060" y="1399032"/>
            <a:ext cx="2674620" cy="2880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24" b="1" i="0">
                <a:solidFill>
                  <a:srgbClr val="1C2235"/>
                </a:solidFill>
                <a:latin typeface="Segoe UI"/>
              </a:rPr>
              <a:t>Clearspring · 50 г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80360" y="1399032"/>
            <a:ext cx="548640" cy="2880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50 г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0" y="1399032"/>
            <a:ext cx="342900" cy="2880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1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988052" y="1495044"/>
            <a:ext cx="96012" cy="96012"/>
          </a:xfrm>
          <a:prstGeom prst="roundRect">
            <a:avLst>
              <a:gd name="adj" fmla="val 50000"/>
            </a:avLst>
          </a:prstGeom>
          <a:solidFill>
            <a:srgbClr val="B23A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132070" y="1399032"/>
            <a:ext cx="685800" cy="2880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1" i="0">
                <a:solidFill>
                  <a:srgbClr val="1C2235"/>
                </a:solidFill>
                <a:latin typeface="Segoe UI"/>
              </a:rPr>
              <a:t>126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25196" y="1687068"/>
            <a:ext cx="8298180" cy="288036"/>
          </a:xfrm>
          <a:prstGeom prst="rect">
            <a:avLst/>
          </a:prstGeom>
          <a:solidFill>
            <a:srgbClr val="FFEB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0060" y="1687068"/>
            <a:ext cx="2674620" cy="2880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24" b="1" i="0">
                <a:solidFill>
                  <a:srgbClr val="1C2235"/>
                </a:solidFill>
                <a:latin typeface="Segoe UI"/>
              </a:rPr>
              <a:t>НАШ · Thai-Nichi · Norimaki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880360" y="1687068"/>
            <a:ext cx="548640" cy="2880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50 г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0" y="1687068"/>
            <a:ext cx="342900" cy="2880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1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183505" y="1765935"/>
            <a:ext cx="130302" cy="130302"/>
          </a:xfrm>
          <a:prstGeom prst="roundRect">
            <a:avLst>
              <a:gd name="adj" fmla="val 50000"/>
            </a:avLst>
          </a:prstGeom>
          <a:solidFill>
            <a:srgbClr val="1D5B63"/>
          </a:solidFill>
          <a:ln w="12700">
            <a:solidFill>
              <a:srgbClr val="1C223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344668" y="1687068"/>
            <a:ext cx="685800" cy="2880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1" i="0">
                <a:solidFill>
                  <a:srgbClr val="1C2235"/>
                </a:solidFill>
                <a:latin typeface="Segoe UI"/>
              </a:rPr>
              <a:t>132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0060" y="1975104"/>
            <a:ext cx="2674620" cy="2880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24" b="1" i="0">
                <a:solidFill>
                  <a:srgbClr val="1C2235"/>
                </a:solidFill>
                <a:latin typeface="Segoe UI"/>
              </a:rPr>
              <a:t>Want Want · 60 г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880360" y="1975104"/>
            <a:ext cx="548640" cy="2880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60 г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66160" y="1975104"/>
            <a:ext cx="342900" cy="2880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3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532120" y="2101977"/>
            <a:ext cx="318897" cy="34290"/>
          </a:xfrm>
          <a:prstGeom prst="rect">
            <a:avLst/>
          </a:prstGeom>
          <a:solidFill>
            <a:srgbClr val="E0B0B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5504688" y="2091690"/>
            <a:ext cx="54864" cy="548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23A3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5823585" y="2091690"/>
            <a:ext cx="54864" cy="548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23A3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5663050" y="2071116"/>
            <a:ext cx="96012" cy="96012"/>
          </a:xfrm>
          <a:prstGeom prst="roundRect">
            <a:avLst>
              <a:gd name="adj" fmla="val 50000"/>
            </a:avLst>
          </a:prstGeom>
          <a:solidFill>
            <a:srgbClr val="B23A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947029" y="1975104"/>
            <a:ext cx="685800" cy="2880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1" i="0">
                <a:solidFill>
                  <a:srgbClr val="1C2235"/>
                </a:solidFill>
                <a:latin typeface="Segoe UI"/>
              </a:rPr>
              <a:t>140–149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80060" y="2263140"/>
            <a:ext cx="2674620" cy="2880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24" b="1" i="0">
                <a:solidFill>
                  <a:srgbClr val="1C2235"/>
                </a:solidFill>
                <a:latin typeface="Segoe UI"/>
              </a:rPr>
              <a:t>Ultra Pop · 60 г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880360" y="2263140"/>
            <a:ext cx="548640" cy="2880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60 г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566160" y="2263140"/>
            <a:ext cx="342900" cy="2880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5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753404" y="2359152"/>
            <a:ext cx="96012" cy="96012"/>
          </a:xfrm>
          <a:prstGeom prst="roundRect">
            <a:avLst>
              <a:gd name="adj" fmla="val 50000"/>
            </a:avLst>
          </a:prstGeom>
          <a:solidFill>
            <a:srgbClr val="B23A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897422" y="2263140"/>
            <a:ext cx="685800" cy="2880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1" i="0">
                <a:solidFill>
                  <a:srgbClr val="1C2235"/>
                </a:solidFill>
                <a:latin typeface="Segoe UI"/>
              </a:rPr>
              <a:t>148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25196" y="2551176"/>
            <a:ext cx="8298180" cy="288036"/>
          </a:xfrm>
          <a:prstGeom prst="rect">
            <a:avLst/>
          </a:prstGeom>
          <a:solidFill>
            <a:srgbClr val="FFEB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80060" y="2551176"/>
            <a:ext cx="2674620" cy="2880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24" b="1" i="0">
                <a:solidFill>
                  <a:srgbClr val="1C2235"/>
                </a:solidFill>
                <a:latin typeface="Segoe UI"/>
              </a:rPr>
              <a:t>НАШ · Thai-Nichi · Norimaki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880360" y="2551176"/>
            <a:ext cx="548640" cy="2880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55 г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566160" y="2551176"/>
            <a:ext cx="342900" cy="2880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1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175629" y="2630043"/>
            <a:ext cx="130302" cy="130302"/>
          </a:xfrm>
          <a:prstGeom prst="roundRect">
            <a:avLst>
              <a:gd name="adj" fmla="val 50000"/>
            </a:avLst>
          </a:prstGeom>
          <a:solidFill>
            <a:srgbClr val="1D5B63"/>
          </a:solidFill>
          <a:ln w="12700">
            <a:solidFill>
              <a:srgbClr val="1C223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336792" y="2551176"/>
            <a:ext cx="685800" cy="2880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1" i="0">
                <a:solidFill>
                  <a:srgbClr val="1C2235"/>
                </a:solidFill>
                <a:latin typeface="Segoe UI"/>
              </a:rPr>
              <a:t>160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25196" y="2839212"/>
            <a:ext cx="8298180" cy="288036"/>
          </a:xfrm>
          <a:prstGeom prst="rect">
            <a:avLst/>
          </a:prstGeom>
          <a:solidFill>
            <a:srgbClr val="FFEBC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80060" y="2839212"/>
            <a:ext cx="2674620" cy="2880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24" b="1" i="0">
                <a:solidFill>
                  <a:srgbClr val="1C2235"/>
                </a:solidFill>
                <a:latin typeface="Segoe UI"/>
              </a:rPr>
              <a:t>НАШ · Singha · Norimaki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880360" y="2839212"/>
            <a:ext cx="548640" cy="2880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42 г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566160" y="2839212"/>
            <a:ext cx="342900" cy="2880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2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529959" y="2918079"/>
            <a:ext cx="130302" cy="130302"/>
          </a:xfrm>
          <a:prstGeom prst="roundRect">
            <a:avLst>
              <a:gd name="adj" fmla="val 50000"/>
            </a:avLst>
          </a:prstGeom>
          <a:solidFill>
            <a:srgbClr val="B36214"/>
          </a:solidFill>
          <a:ln w="12700">
            <a:solidFill>
              <a:srgbClr val="1C223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691122" y="2839212"/>
            <a:ext cx="685800" cy="2880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8" b="1" i="0">
                <a:solidFill>
                  <a:srgbClr val="1C2235"/>
                </a:solidFill>
                <a:latin typeface="Segoe UI"/>
              </a:rPr>
              <a:t>170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25196" y="3305556"/>
            <a:ext cx="82981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717890"/>
                </a:solidFill>
                <a:latin typeface="Segoe UI"/>
              </a:rPr>
              <a:t>Грн за упаковку · велика точка — медіана, малі — межі діапазону між мережами; золота зона — наша полиця ±20 %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25196" y="3545586"/>
            <a:ext cx="2683764" cy="68580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425196" y="3545586"/>
            <a:ext cx="27432" cy="685800"/>
          </a:xfrm>
          <a:prstGeom prst="rect">
            <a:avLst/>
          </a:prstGeom>
          <a:solidFill>
            <a:srgbClr val="B23A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62356" y="3614166"/>
            <a:ext cx="242316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 spc="20">
                <a:solidFill>
                  <a:srgbClr val="B23A3A"/>
                </a:solidFill>
                <a:latin typeface="Segoe UI"/>
              </a:rPr>
              <a:t>THAI-NICHI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62356" y="3765042"/>
            <a:ext cx="2423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88" b="0" i="0">
                <a:solidFill>
                  <a:srgbClr val="1C2235"/>
                </a:solidFill>
                <a:latin typeface="Segoe UI"/>
              </a:rPr>
              <a:t>50 г — 132 ₴ і 55 г — 160 ₴ проти Want Want 60 г — 145 ₴: різниця -13 і +15 ₴.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191256" y="3545586"/>
            <a:ext cx="2683764" cy="68580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3191256" y="3545586"/>
            <a:ext cx="27432" cy="685800"/>
          </a:xfrm>
          <a:prstGeom prst="rect">
            <a:avLst/>
          </a:prstGeom>
          <a:solidFill>
            <a:srgbClr val="B23A3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328416" y="3614166"/>
            <a:ext cx="242316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 spc="20">
                <a:solidFill>
                  <a:srgbClr val="B23A3A"/>
                </a:solidFill>
                <a:latin typeface="Segoe UI"/>
              </a:rPr>
              <a:t>SINGHA KAMEDA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328416" y="3765042"/>
            <a:ext cx="2423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88" b="0" i="0">
                <a:solidFill>
                  <a:srgbClr val="1C2235"/>
                </a:solidFill>
                <a:latin typeface="Segoe UI"/>
              </a:rPr>
              <a:t>42 г — 170 ₴: на 22 ₴ (15 %) вище за найдорожчий крекер у мережах (Ultra Pop 60 г — 148 ₴) і на 25 ₴ вище за Want Want.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957316" y="3545586"/>
            <a:ext cx="2683764" cy="68580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5957316" y="3545586"/>
            <a:ext cx="27432" cy="685800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094476" y="3614166"/>
            <a:ext cx="242316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 spc="20">
                <a:solidFill>
                  <a:srgbClr val="303A5D"/>
                </a:solidFill>
                <a:latin typeface="Segoe UI"/>
              </a:rPr>
              <a:t>ЩО ВАЖЛИВО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094476" y="3765042"/>
            <a:ext cx="24231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88" b="0" i="0">
                <a:solidFill>
                  <a:srgbClr val="1C2235"/>
                </a:solidFill>
                <a:latin typeface="Segoe UI"/>
              </a:rPr>
              <a:t>Це єдині аналоги, які знайшлися в мережах: Want Want mini — 3 мережі. Арарe/норімакі на кшталт наших не знайдено — полицю варто перевірити наживо.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25196" y="4855464"/>
            <a:ext cx="829818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1">
                <a:solidFill>
                  <a:srgbClr val="717890"/>
                </a:solidFill>
                <a:latin typeface="Segoe UI"/>
              </a:rPr>
              <a:t>Каталоги мереж на zakaz.ua (METRO, NOVUS, Ашан, Зараз, МегаМаркет, Ultramarket, Епіцентр, Космос, Onde, Ідеал, Восторг, Клас, Таврія В, ЧудоМаркет, Торба, Grono) · 07.10.2026 · ціна — онлайн-полиця одного магазину мережі, діапазон — між мережами.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977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3977" cy="795528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95528"/>
            <a:ext cx="9143977" cy="41148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" y="178308"/>
            <a:ext cx="1042416" cy="4526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728216" y="205740"/>
            <a:ext cx="61722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1" i="0" spc="30">
                <a:solidFill>
                  <a:srgbClr val="FFC95C"/>
                </a:solidFill>
                <a:latin typeface="Segoe UI"/>
              </a:rPr>
              <a:t>ХТО З КИМ СТОЇТЬ · СУСІДИ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28216" y="377190"/>
            <a:ext cx="61722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20" b="1" i="0">
                <a:solidFill>
                  <a:srgbClr val="FFFFFF"/>
                </a:solidFill>
                <a:latin typeface="Segoe UI"/>
              </a:rPr>
              <a:t>Найближчі за ціною до кожного нашого товару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20990" y="301752"/>
            <a:ext cx="768096" cy="2263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360" b="1" i="0">
                <a:solidFill>
                  <a:srgbClr val="465382"/>
                </a:solidFill>
                <a:latin typeface="Segoe UI"/>
              </a:rPr>
              <a:t>45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5196" y="932688"/>
            <a:ext cx="8298180" cy="150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20" b="0" i="0">
                <a:solidFill>
                  <a:srgbClr val="717890"/>
                </a:solidFill>
                <a:latin typeface="Segoe UI"/>
              </a:rPr>
              <a:t>Для кожної нашої позиції (смаки з однаковою ціною — одним рядком) — три найближчі за ціною упаковки ринку з того самого сегмента.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5196" y="1207008"/>
            <a:ext cx="8298180" cy="192024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" y="1207008"/>
            <a:ext cx="1714500" cy="192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НАШ ТОВАР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76856" y="1207008"/>
            <a:ext cx="548640" cy="192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ПОЛИЦЯ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96946" y="1207008"/>
            <a:ext cx="1920240" cy="192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СУСІД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85766" y="1207008"/>
            <a:ext cx="1920240" cy="192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СУСІД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74586" y="1207008"/>
            <a:ext cx="1920240" cy="192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FFFFFF"/>
                </a:solidFill>
                <a:latin typeface="Segoe UI"/>
              </a:rPr>
              <a:t>СУСІД 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5196" y="1426464"/>
            <a:ext cx="8298180" cy="246380"/>
          </a:xfrm>
          <a:prstGeom prst="rect">
            <a:avLst/>
          </a:prstGeom>
          <a:solidFill>
            <a:srgbClr val="F8F9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5196" y="1426464"/>
            <a:ext cx="34290" cy="246380"/>
          </a:xfrm>
          <a:prstGeom prst="rect">
            <a:avLst/>
          </a:prstGeom>
          <a:solidFill>
            <a:srgbClr val="B3621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4924" y="1426464"/>
            <a:ext cx="1783080" cy="2463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303A5D"/>
                </a:solidFill>
                <a:latin typeface="Segoe UI"/>
              </a:rPr>
              <a:t>Norimaki Original 42 г · 2 смаки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76856" y="1426464"/>
            <a:ext cx="548640" cy="2463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20" b="1" i="0">
                <a:solidFill>
                  <a:srgbClr val="1C2235"/>
                </a:solidFill>
                <a:latin typeface="Segoe UI"/>
              </a:rPr>
              <a:t>170 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96946" y="1426464"/>
            <a:ext cx="1954530" cy="2463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303A5D"/>
                </a:solidFill>
                <a:latin typeface="Segoe UI"/>
              </a:rPr>
              <a:t>Ultra Pop 60 г  </a:t>
            </a:r>
            <a:r>
              <a:rPr sz="600" b="1" i="0">
                <a:solidFill>
                  <a:srgbClr val="1C2235"/>
                </a:solidFill>
                <a:latin typeface="Segoe UI"/>
              </a:rPr>
              <a:t>148 ₴</a:t>
            </a:r>
            <a:r>
              <a:rPr sz="600" b="1" i="0">
                <a:solidFill>
                  <a:srgbClr val="3E8E5A"/>
                </a:solidFill>
                <a:latin typeface="Segoe UI"/>
              </a:rPr>
              <a:t>  -13 %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85766" y="1426464"/>
            <a:ext cx="1954530" cy="2463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303A5D"/>
                </a:solidFill>
                <a:latin typeface="Segoe UI"/>
              </a:rPr>
              <a:t>Want Want 60 г  </a:t>
            </a:r>
            <a:r>
              <a:rPr sz="600" b="1" i="0">
                <a:solidFill>
                  <a:srgbClr val="1C2235"/>
                </a:solidFill>
                <a:latin typeface="Segoe UI"/>
              </a:rPr>
              <a:t>145 ₴</a:t>
            </a:r>
            <a:r>
              <a:rPr sz="600" b="1" i="0">
                <a:solidFill>
                  <a:srgbClr val="3E8E5A"/>
                </a:solidFill>
                <a:latin typeface="Segoe UI"/>
              </a:rPr>
              <a:t>  -15 %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74586" y="1426464"/>
            <a:ext cx="1954530" cy="2463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303A5D"/>
                </a:solidFill>
                <a:latin typeface="Segoe UI"/>
              </a:rPr>
              <a:t>Clearspring 50 г  </a:t>
            </a:r>
            <a:r>
              <a:rPr sz="600" b="1" i="0">
                <a:solidFill>
                  <a:srgbClr val="1C2235"/>
                </a:solidFill>
                <a:latin typeface="Segoe UI"/>
              </a:rPr>
              <a:t>126 ₴</a:t>
            </a:r>
            <a:r>
              <a:rPr sz="600" b="1" i="0">
                <a:solidFill>
                  <a:srgbClr val="B23A3A"/>
                </a:solidFill>
                <a:latin typeface="Segoe UI"/>
              </a:rPr>
              <a:t>  -26 %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5196" y="1672844"/>
            <a:ext cx="34290" cy="246380"/>
          </a:xfrm>
          <a:prstGeom prst="rect">
            <a:avLst/>
          </a:prstGeom>
          <a:solidFill>
            <a:srgbClr val="1D5B6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4924" y="1672844"/>
            <a:ext cx="1783080" cy="2463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303A5D"/>
                </a:solidFill>
                <a:latin typeface="Segoe UI"/>
              </a:rPr>
              <a:t>Norimaki Original 50 г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76856" y="1672844"/>
            <a:ext cx="548640" cy="2463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20" b="1" i="0">
                <a:solidFill>
                  <a:srgbClr val="1C2235"/>
                </a:solidFill>
                <a:latin typeface="Segoe UI"/>
              </a:rPr>
              <a:t>132 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96946" y="1672844"/>
            <a:ext cx="1954530" cy="2463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303A5D"/>
                </a:solidFill>
                <a:latin typeface="Segoe UI"/>
              </a:rPr>
              <a:t>Clearspring 50 г  </a:t>
            </a:r>
            <a:r>
              <a:rPr sz="600" b="1" i="0">
                <a:solidFill>
                  <a:srgbClr val="1C2235"/>
                </a:solidFill>
                <a:latin typeface="Segoe UI"/>
              </a:rPr>
              <a:t>126 ₴</a:t>
            </a:r>
            <a:r>
              <a:rPr sz="600" b="1" i="0">
                <a:solidFill>
                  <a:srgbClr val="3E8E5A"/>
                </a:solidFill>
                <a:latin typeface="Segoe UI"/>
              </a:rPr>
              <a:t>  -5 %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85766" y="1672844"/>
            <a:ext cx="1954530" cy="2463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303A5D"/>
                </a:solidFill>
                <a:latin typeface="Segoe UI"/>
              </a:rPr>
              <a:t>Want Want 60 г  </a:t>
            </a:r>
            <a:r>
              <a:rPr sz="600" b="1" i="0">
                <a:solidFill>
                  <a:srgbClr val="1C2235"/>
                </a:solidFill>
                <a:latin typeface="Segoe UI"/>
              </a:rPr>
              <a:t>145 ₴</a:t>
            </a:r>
            <a:r>
              <a:rPr sz="600" b="1" i="0">
                <a:solidFill>
                  <a:srgbClr val="3E8E5A"/>
                </a:solidFill>
                <a:latin typeface="Segoe UI"/>
              </a:rPr>
              <a:t>  +10 %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74586" y="1672844"/>
            <a:ext cx="1954530" cy="2463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303A5D"/>
                </a:solidFill>
                <a:latin typeface="Segoe UI"/>
              </a:rPr>
              <a:t>Ultra Pop 60 г  </a:t>
            </a:r>
            <a:r>
              <a:rPr sz="600" b="1" i="0">
                <a:solidFill>
                  <a:srgbClr val="1C2235"/>
                </a:solidFill>
                <a:latin typeface="Segoe UI"/>
              </a:rPr>
              <a:t>148 ₴</a:t>
            </a:r>
            <a:r>
              <a:rPr sz="600" b="1" i="0">
                <a:solidFill>
                  <a:srgbClr val="3E8E5A"/>
                </a:solidFill>
                <a:latin typeface="Segoe UI"/>
              </a:rPr>
              <a:t>  +12 %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5196" y="1919224"/>
            <a:ext cx="8298180" cy="246380"/>
          </a:xfrm>
          <a:prstGeom prst="rect">
            <a:avLst/>
          </a:prstGeom>
          <a:solidFill>
            <a:srgbClr val="F8F9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25196" y="1919224"/>
            <a:ext cx="34290" cy="246380"/>
          </a:xfrm>
          <a:prstGeom prst="rect">
            <a:avLst/>
          </a:prstGeom>
          <a:solidFill>
            <a:srgbClr val="1D5B6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4924" y="1919224"/>
            <a:ext cx="1783080" cy="2463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303A5D"/>
                </a:solidFill>
                <a:latin typeface="Segoe UI"/>
              </a:rPr>
              <a:t>Norimaki Wasabi 55 г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76856" y="1919224"/>
            <a:ext cx="548640" cy="2463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20" b="1" i="0">
                <a:solidFill>
                  <a:srgbClr val="1C2235"/>
                </a:solidFill>
                <a:latin typeface="Segoe UI"/>
              </a:rPr>
              <a:t>160 ₴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96946" y="1919224"/>
            <a:ext cx="1954530" cy="2463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303A5D"/>
                </a:solidFill>
                <a:latin typeface="Segoe UI"/>
              </a:rPr>
              <a:t>Ultra Pop 60 г  </a:t>
            </a:r>
            <a:r>
              <a:rPr sz="600" b="1" i="0">
                <a:solidFill>
                  <a:srgbClr val="1C2235"/>
                </a:solidFill>
                <a:latin typeface="Segoe UI"/>
              </a:rPr>
              <a:t>148 ₴</a:t>
            </a:r>
            <a:r>
              <a:rPr sz="600" b="1" i="0">
                <a:solidFill>
                  <a:srgbClr val="3E8E5A"/>
                </a:solidFill>
                <a:latin typeface="Segoe UI"/>
              </a:rPr>
              <a:t>  -8 %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85766" y="1919224"/>
            <a:ext cx="1954530" cy="2463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303A5D"/>
                </a:solidFill>
                <a:latin typeface="Segoe UI"/>
              </a:rPr>
              <a:t>Want Want 60 г  </a:t>
            </a:r>
            <a:r>
              <a:rPr sz="600" b="1" i="0">
                <a:solidFill>
                  <a:srgbClr val="1C2235"/>
                </a:solidFill>
                <a:latin typeface="Segoe UI"/>
              </a:rPr>
              <a:t>145 ₴</a:t>
            </a:r>
            <a:r>
              <a:rPr sz="600" b="1" i="0">
                <a:solidFill>
                  <a:srgbClr val="3E8E5A"/>
                </a:solidFill>
                <a:latin typeface="Segoe UI"/>
              </a:rPr>
              <a:t>  -9 %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74586" y="1919224"/>
            <a:ext cx="1954530" cy="2463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303A5D"/>
                </a:solidFill>
                <a:latin typeface="Segoe UI"/>
              </a:rPr>
              <a:t>Clearspring 50 г  </a:t>
            </a:r>
            <a:r>
              <a:rPr sz="600" b="1" i="0">
                <a:solidFill>
                  <a:srgbClr val="1C2235"/>
                </a:solidFill>
                <a:latin typeface="Segoe UI"/>
              </a:rPr>
              <a:t>126 ₴</a:t>
            </a:r>
            <a:r>
              <a:rPr sz="600" b="1" i="0">
                <a:solidFill>
                  <a:srgbClr val="B23A3A"/>
                </a:solidFill>
                <a:latin typeface="Segoe UI"/>
              </a:rPr>
              <a:t>  -21 %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25196" y="2165604"/>
            <a:ext cx="34290" cy="246380"/>
          </a:xfrm>
          <a:prstGeom prst="rect">
            <a:avLst/>
          </a:prstGeom>
          <a:solidFill>
            <a:srgbClr val="2F7A3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34924" y="2165604"/>
            <a:ext cx="1783080" cy="2463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303A5D"/>
                </a:solidFill>
                <a:latin typeface="Segoe UI"/>
              </a:rPr>
              <a:t>Wow ROLL Original 2,5 г · 3 смаки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76856" y="2165604"/>
            <a:ext cx="548640" cy="2463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20" b="1" i="0">
                <a:solidFill>
                  <a:srgbClr val="1C2235"/>
                </a:solidFill>
                <a:latin typeface="Segoe UI"/>
              </a:rPr>
              <a:t>30 ₴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996946" y="2165604"/>
            <a:ext cx="1954530" cy="2463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303A5D"/>
                </a:solidFill>
                <a:latin typeface="Segoe UI"/>
              </a:rPr>
              <a:t>Norris 3 г  </a:t>
            </a:r>
            <a:r>
              <a:rPr sz="600" b="1" i="0">
                <a:solidFill>
                  <a:srgbClr val="1C2235"/>
                </a:solidFill>
                <a:latin typeface="Segoe UI"/>
              </a:rPr>
              <a:t>30 ₴</a:t>
            </a:r>
            <a:r>
              <a:rPr sz="600" b="1" i="0">
                <a:solidFill>
                  <a:srgbClr val="3E8E5A"/>
                </a:solidFill>
                <a:latin typeface="Segoe UI"/>
              </a:rPr>
              <a:t>  +3 %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985766" y="2165604"/>
            <a:ext cx="1954530" cy="2463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303A5D"/>
                </a:solidFill>
                <a:latin typeface="Segoe UI"/>
              </a:rPr>
              <a:t>Metro Chef 4,5 г  </a:t>
            </a:r>
            <a:r>
              <a:rPr sz="600" b="1" i="0">
                <a:solidFill>
                  <a:srgbClr val="1C2235"/>
                </a:solidFill>
                <a:latin typeface="Segoe UI"/>
              </a:rPr>
              <a:t>31 ₴</a:t>
            </a:r>
            <a:r>
              <a:rPr sz="600" b="1" i="0">
                <a:solidFill>
                  <a:srgbClr val="3E8E5A"/>
                </a:solidFill>
                <a:latin typeface="Segoe UI"/>
              </a:rPr>
              <a:t>  +4 %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74586" y="2165604"/>
            <a:ext cx="1954530" cy="2463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303A5D"/>
                </a:solidFill>
                <a:latin typeface="Segoe UI"/>
              </a:rPr>
              <a:t>Ock Dong Ja 4 г  </a:t>
            </a:r>
            <a:r>
              <a:rPr sz="600" b="1" i="0">
                <a:solidFill>
                  <a:srgbClr val="1C2235"/>
                </a:solidFill>
                <a:latin typeface="Segoe UI"/>
              </a:rPr>
              <a:t>32 ₴</a:t>
            </a:r>
            <a:r>
              <a:rPr sz="600" b="1" i="0">
                <a:solidFill>
                  <a:srgbClr val="3E8E5A"/>
                </a:solidFill>
                <a:latin typeface="Segoe UI"/>
              </a:rPr>
              <a:t>  +9 %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25196" y="2411984"/>
            <a:ext cx="8298180" cy="246380"/>
          </a:xfrm>
          <a:prstGeom prst="rect">
            <a:avLst/>
          </a:prstGeom>
          <a:solidFill>
            <a:srgbClr val="F8F9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25196" y="2411984"/>
            <a:ext cx="34290" cy="246380"/>
          </a:xfrm>
          <a:prstGeom prst="rect">
            <a:avLst/>
          </a:prstGeom>
          <a:solidFill>
            <a:srgbClr val="2F7A3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34924" y="2411984"/>
            <a:ext cx="1783080" cy="2463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303A5D"/>
                </a:solidFill>
                <a:latin typeface="Segoe UI"/>
              </a:rPr>
              <a:t>Wow DOUBLE ROLL Original 5 г · 2 смаки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276856" y="2411984"/>
            <a:ext cx="548640" cy="2463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20" b="1" i="0">
                <a:solidFill>
                  <a:srgbClr val="1C2235"/>
                </a:solidFill>
                <a:latin typeface="Segoe UI"/>
              </a:rPr>
              <a:t>53 ₴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996946" y="2411984"/>
            <a:ext cx="1954530" cy="2463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303A5D"/>
                </a:solidFill>
                <a:latin typeface="Segoe UI"/>
              </a:rPr>
              <a:t>Paldo 5 г  </a:t>
            </a:r>
            <a:r>
              <a:rPr sz="600" b="1" i="0">
                <a:solidFill>
                  <a:srgbClr val="1C2235"/>
                </a:solidFill>
                <a:latin typeface="Segoe UI"/>
              </a:rPr>
              <a:t>52 ₴</a:t>
            </a:r>
            <a:r>
              <a:rPr sz="600" b="1" i="0">
                <a:solidFill>
                  <a:srgbClr val="3E8E5A"/>
                </a:solidFill>
                <a:latin typeface="Segoe UI"/>
              </a:rPr>
              <a:t>  -3 %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985766" y="2411984"/>
            <a:ext cx="1954530" cy="2463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303A5D"/>
                </a:solidFill>
                <a:latin typeface="Segoe UI"/>
              </a:rPr>
              <a:t>Dong Won 2,7 г  </a:t>
            </a:r>
            <a:r>
              <a:rPr sz="600" b="1" i="0">
                <a:solidFill>
                  <a:srgbClr val="1C2235"/>
                </a:solidFill>
                <a:latin typeface="Segoe UI"/>
              </a:rPr>
              <a:t>51 ₴</a:t>
            </a:r>
            <a:r>
              <a:rPr sz="600" b="1" i="0">
                <a:solidFill>
                  <a:srgbClr val="3E8E5A"/>
                </a:solidFill>
                <a:latin typeface="Segoe UI"/>
              </a:rPr>
              <a:t>  -3 %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74586" y="2411984"/>
            <a:ext cx="1954530" cy="2463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303A5D"/>
                </a:solidFill>
                <a:latin typeface="Segoe UI"/>
              </a:rPr>
              <a:t>Sempio 5 г  </a:t>
            </a:r>
            <a:r>
              <a:rPr sz="600" b="1" i="0">
                <a:solidFill>
                  <a:srgbClr val="1C2235"/>
                </a:solidFill>
                <a:latin typeface="Segoe UI"/>
              </a:rPr>
              <a:t>49 ₴</a:t>
            </a:r>
            <a:r>
              <a:rPr sz="600" b="1" i="0">
                <a:solidFill>
                  <a:srgbClr val="3E8E5A"/>
                </a:solidFill>
                <a:latin typeface="Segoe UI"/>
              </a:rPr>
              <a:t>  -7 %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25196" y="2658364"/>
            <a:ext cx="34290" cy="246380"/>
          </a:xfrm>
          <a:prstGeom prst="rect">
            <a:avLst/>
          </a:prstGeom>
          <a:solidFill>
            <a:srgbClr val="2F7A3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34924" y="2658364"/>
            <a:ext cx="1783080" cy="2463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303A5D"/>
                </a:solidFill>
                <a:latin typeface="Segoe UI"/>
              </a:rPr>
              <a:t>Wow SEAWEED Original 12 г · 3 смаки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276856" y="2658364"/>
            <a:ext cx="548640" cy="2463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20" b="1" i="0">
                <a:solidFill>
                  <a:srgbClr val="1C2235"/>
                </a:solidFill>
                <a:latin typeface="Segoe UI"/>
              </a:rPr>
              <a:t>108 ₴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996946" y="2658364"/>
            <a:ext cx="1954530" cy="2463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303A5D"/>
                </a:solidFill>
                <a:latin typeface="Segoe UI"/>
              </a:rPr>
              <a:t>Ock Dong Ja 15 г  </a:t>
            </a:r>
            <a:r>
              <a:rPr sz="600" b="1" i="0">
                <a:solidFill>
                  <a:srgbClr val="1C2235"/>
                </a:solidFill>
                <a:latin typeface="Segoe UI"/>
              </a:rPr>
              <a:t>96 ₴</a:t>
            </a:r>
            <a:r>
              <a:rPr sz="600" b="1" i="0">
                <a:solidFill>
                  <a:srgbClr val="3E8E5A"/>
                </a:solidFill>
                <a:latin typeface="Segoe UI"/>
              </a:rPr>
              <a:t>  -12 %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985766" y="2658364"/>
            <a:ext cx="1954530" cy="2463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303A5D"/>
                </a:solidFill>
                <a:latin typeface="Segoe UI"/>
              </a:rPr>
              <a:t>Ock Dong Ja 25 г  </a:t>
            </a:r>
            <a:r>
              <a:rPr sz="600" b="1" i="0">
                <a:solidFill>
                  <a:srgbClr val="1C2235"/>
                </a:solidFill>
                <a:latin typeface="Segoe UI"/>
              </a:rPr>
              <a:t>125 ₴</a:t>
            </a:r>
            <a:r>
              <a:rPr sz="600" b="1" i="0">
                <a:solidFill>
                  <a:srgbClr val="3E8E5A"/>
                </a:solidFill>
                <a:latin typeface="Segoe UI"/>
              </a:rPr>
              <a:t>  +16 %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974586" y="2658364"/>
            <a:ext cx="1954530" cy="2463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303A5D"/>
                </a:solidFill>
                <a:latin typeface="Segoe UI"/>
              </a:rPr>
              <a:t>Ock Dong Ja 20 г  </a:t>
            </a:r>
            <a:r>
              <a:rPr sz="600" b="1" i="0">
                <a:solidFill>
                  <a:srgbClr val="1C2235"/>
                </a:solidFill>
                <a:latin typeface="Segoe UI"/>
              </a:rPr>
              <a:t>145 ₴</a:t>
            </a:r>
            <a:r>
              <a:rPr sz="600" b="1" i="0">
                <a:solidFill>
                  <a:srgbClr val="B23A3A"/>
                </a:solidFill>
                <a:latin typeface="Segoe UI"/>
              </a:rPr>
              <a:t>  +34 %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25196" y="2904744"/>
            <a:ext cx="8298180" cy="246380"/>
          </a:xfrm>
          <a:prstGeom prst="rect">
            <a:avLst/>
          </a:prstGeom>
          <a:solidFill>
            <a:srgbClr val="F8F9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25196" y="2904744"/>
            <a:ext cx="34290" cy="246380"/>
          </a:xfrm>
          <a:prstGeom prst="rect">
            <a:avLst/>
          </a:prstGeom>
          <a:solidFill>
            <a:srgbClr val="2F7A3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34924" y="2904744"/>
            <a:ext cx="1783080" cy="2463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303A5D"/>
                </a:solidFill>
                <a:latin typeface="Segoe UI"/>
              </a:rPr>
              <a:t>Wow MINI Original 10 г · 2 смаки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276856" y="2904744"/>
            <a:ext cx="548640" cy="2463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20" b="1" i="0">
                <a:solidFill>
                  <a:srgbClr val="1C2235"/>
                </a:solidFill>
                <a:latin typeface="Segoe UI"/>
              </a:rPr>
              <a:t>109 ₴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996946" y="2904744"/>
            <a:ext cx="1954530" cy="2463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303A5D"/>
                </a:solidFill>
                <a:latin typeface="Segoe UI"/>
              </a:rPr>
              <a:t>Ock Dong Ja 15 г  </a:t>
            </a:r>
            <a:r>
              <a:rPr sz="600" b="1" i="0">
                <a:solidFill>
                  <a:srgbClr val="1C2235"/>
                </a:solidFill>
                <a:latin typeface="Segoe UI"/>
              </a:rPr>
              <a:t>96 ₴</a:t>
            </a:r>
            <a:r>
              <a:rPr sz="600" b="1" i="0">
                <a:solidFill>
                  <a:srgbClr val="3E8E5A"/>
                </a:solidFill>
                <a:latin typeface="Segoe UI"/>
              </a:rPr>
              <a:t>  -13 %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985766" y="2904744"/>
            <a:ext cx="1954530" cy="2463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303A5D"/>
                </a:solidFill>
                <a:latin typeface="Segoe UI"/>
              </a:rPr>
              <a:t>Ock Dong Ja 25 г  </a:t>
            </a:r>
            <a:r>
              <a:rPr sz="600" b="1" i="0">
                <a:solidFill>
                  <a:srgbClr val="1C2235"/>
                </a:solidFill>
                <a:latin typeface="Segoe UI"/>
              </a:rPr>
              <a:t>125 ₴</a:t>
            </a:r>
            <a:r>
              <a:rPr sz="600" b="1" i="0">
                <a:solidFill>
                  <a:srgbClr val="3E8E5A"/>
                </a:solidFill>
                <a:latin typeface="Segoe UI"/>
              </a:rPr>
              <a:t>  +15 %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974586" y="2904744"/>
            <a:ext cx="1954530" cy="2463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303A5D"/>
                </a:solidFill>
                <a:latin typeface="Segoe UI"/>
              </a:rPr>
              <a:t>Ock Dong Ja 20 г  </a:t>
            </a:r>
            <a:r>
              <a:rPr sz="600" b="1" i="0">
                <a:solidFill>
                  <a:srgbClr val="1C2235"/>
                </a:solidFill>
                <a:latin typeface="Segoe UI"/>
              </a:rPr>
              <a:t>145 ₴</a:t>
            </a:r>
            <a:r>
              <a:rPr sz="600" b="1" i="0">
                <a:solidFill>
                  <a:srgbClr val="B23A3A"/>
                </a:solidFill>
                <a:latin typeface="Segoe UI"/>
              </a:rPr>
              <a:t>  +33 %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25196" y="3151124"/>
            <a:ext cx="34290" cy="246380"/>
          </a:xfrm>
          <a:prstGeom prst="rect">
            <a:avLst/>
          </a:prstGeom>
          <a:solidFill>
            <a:srgbClr val="B23A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34924" y="3151124"/>
            <a:ext cx="1783080" cy="2463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303A5D"/>
                </a:solidFill>
                <a:latin typeface="Segoe UI"/>
              </a:rPr>
              <a:t>Tempura Corn 30 г · 3 смаки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276856" y="3151124"/>
            <a:ext cx="548640" cy="2463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20" b="1" i="0">
                <a:solidFill>
                  <a:srgbClr val="1C2235"/>
                </a:solidFill>
                <a:latin typeface="Segoe UI"/>
              </a:rPr>
              <a:t>105 ₴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996946" y="3151124"/>
            <a:ext cx="1954530" cy="2463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303A5D"/>
                </a:solidFill>
                <a:latin typeface="Segoe UI"/>
              </a:rPr>
              <a:t>Metro Chef 30 г  </a:t>
            </a:r>
            <a:r>
              <a:rPr sz="600" b="1" i="0">
                <a:solidFill>
                  <a:srgbClr val="1C2235"/>
                </a:solidFill>
                <a:latin typeface="Segoe UI"/>
              </a:rPr>
              <a:t>105 ₴</a:t>
            </a:r>
            <a:r>
              <a:rPr sz="600" b="1" i="0">
                <a:solidFill>
                  <a:srgbClr val="3E8E5A"/>
                </a:solidFill>
                <a:latin typeface="Segoe UI"/>
              </a:rPr>
              <a:t>  +0 %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985766" y="3151124"/>
            <a:ext cx="1954530" cy="2463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303A5D"/>
                </a:solidFill>
                <a:latin typeface="Segoe UI"/>
              </a:rPr>
              <a:t>Tao Kae Noi 25 г  </a:t>
            </a:r>
            <a:r>
              <a:rPr sz="600" b="1" i="0">
                <a:solidFill>
                  <a:srgbClr val="1C2235"/>
                </a:solidFill>
                <a:latin typeface="Segoe UI"/>
              </a:rPr>
              <a:t>88 ₴</a:t>
            </a:r>
            <a:r>
              <a:rPr sz="600" b="1" i="0">
                <a:solidFill>
                  <a:srgbClr val="3E8E5A"/>
                </a:solidFill>
                <a:latin typeface="Segoe UI"/>
              </a:rPr>
              <a:t>  -17 %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974586" y="3151124"/>
            <a:ext cx="1954530" cy="2463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303A5D"/>
                </a:solidFill>
                <a:latin typeface="Segoe UI"/>
              </a:rPr>
              <a:t>Tao Kae Noi 15 г  </a:t>
            </a:r>
            <a:r>
              <a:rPr sz="600" b="1" i="0">
                <a:solidFill>
                  <a:srgbClr val="1C2235"/>
                </a:solidFill>
                <a:latin typeface="Segoe UI"/>
              </a:rPr>
              <a:t>77 ₴</a:t>
            </a:r>
            <a:r>
              <a:rPr sz="600" b="1" i="0">
                <a:solidFill>
                  <a:srgbClr val="B23A3A"/>
                </a:solidFill>
                <a:latin typeface="Segoe UI"/>
              </a:rPr>
              <a:t>  -27 %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25196" y="3397504"/>
            <a:ext cx="8298180" cy="246380"/>
          </a:xfrm>
          <a:prstGeom prst="rect">
            <a:avLst/>
          </a:prstGeom>
          <a:solidFill>
            <a:srgbClr val="F8F9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425196" y="3397504"/>
            <a:ext cx="34290" cy="246380"/>
          </a:xfrm>
          <a:prstGeom prst="rect">
            <a:avLst/>
          </a:prstGeom>
          <a:solidFill>
            <a:srgbClr val="B23A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34924" y="3397504"/>
            <a:ext cx="1783080" cy="2463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303A5D"/>
                </a:solidFill>
                <a:latin typeface="Segoe UI"/>
              </a:rPr>
              <a:t>Tempura Corn 50 г · 3 смаки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276856" y="3397504"/>
            <a:ext cx="548640" cy="2463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20" b="1" i="0">
                <a:solidFill>
                  <a:srgbClr val="1C2235"/>
                </a:solidFill>
                <a:latin typeface="Segoe UI"/>
              </a:rPr>
              <a:t>159 ₴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996946" y="3397504"/>
            <a:ext cx="1954530" cy="2463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303A5D"/>
                </a:solidFill>
                <a:latin typeface="Segoe UI"/>
              </a:rPr>
              <a:t>Tao Kae Noi 40 г  </a:t>
            </a:r>
            <a:r>
              <a:rPr sz="600" b="1" i="0">
                <a:solidFill>
                  <a:srgbClr val="1C2235"/>
                </a:solidFill>
                <a:latin typeface="Segoe UI"/>
              </a:rPr>
              <a:t>135 ₴</a:t>
            </a:r>
            <a:r>
              <a:rPr sz="600" b="1" i="0">
                <a:solidFill>
                  <a:srgbClr val="3E8E5A"/>
                </a:solidFill>
                <a:latin typeface="Segoe UI"/>
              </a:rPr>
              <a:t>  -15 %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985766" y="3397504"/>
            <a:ext cx="1954530" cy="2463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303A5D"/>
                </a:solidFill>
                <a:latin typeface="Segoe UI"/>
              </a:rPr>
              <a:t>Ock Dong Ja 35 г  </a:t>
            </a:r>
            <a:r>
              <a:rPr sz="600" b="1" i="0">
                <a:solidFill>
                  <a:srgbClr val="1C2235"/>
                </a:solidFill>
                <a:latin typeface="Segoe UI"/>
              </a:rPr>
              <a:t>186 ₴</a:t>
            </a:r>
            <a:r>
              <a:rPr sz="600" b="1" i="0">
                <a:solidFill>
                  <a:srgbClr val="3E8E5A"/>
                </a:solidFill>
                <a:latin typeface="Segoe UI"/>
              </a:rPr>
              <a:t>  +17 %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974586" y="3397504"/>
            <a:ext cx="1954530" cy="2463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303A5D"/>
                </a:solidFill>
                <a:latin typeface="Segoe UI"/>
              </a:rPr>
              <a:t>Metro Chef 30 г  </a:t>
            </a:r>
            <a:r>
              <a:rPr sz="600" b="1" i="0">
                <a:solidFill>
                  <a:srgbClr val="1C2235"/>
                </a:solidFill>
                <a:latin typeface="Segoe UI"/>
              </a:rPr>
              <a:t>105 ₴</a:t>
            </a:r>
            <a:r>
              <a:rPr sz="600" b="1" i="0">
                <a:solidFill>
                  <a:srgbClr val="B23A3A"/>
                </a:solidFill>
                <a:latin typeface="Segoe UI"/>
              </a:rPr>
              <a:t>  -34 %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25196" y="3643884"/>
            <a:ext cx="34290" cy="246380"/>
          </a:xfrm>
          <a:prstGeom prst="rect">
            <a:avLst/>
          </a:prstGeom>
          <a:solidFill>
            <a:srgbClr val="B23A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34924" y="3643884"/>
            <a:ext cx="1783080" cy="2463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303A5D"/>
                </a:solidFill>
                <a:latin typeface="Segoe UI"/>
              </a:rPr>
              <a:t>Sandwich Meat Floss 25 г · 2 смаки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276856" y="3643884"/>
            <a:ext cx="548640" cy="2463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20" b="1" i="0">
                <a:solidFill>
                  <a:srgbClr val="1C2235"/>
                </a:solidFill>
                <a:latin typeface="Segoe UI"/>
              </a:rPr>
              <a:t>79 ₴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996946" y="3643884"/>
            <a:ext cx="1954530" cy="2463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303A5D"/>
                </a:solidFill>
                <a:latin typeface="Segoe UI"/>
              </a:rPr>
              <a:t>Norris 25 г  </a:t>
            </a:r>
            <a:r>
              <a:rPr sz="600" b="1" i="0">
                <a:solidFill>
                  <a:srgbClr val="1C2235"/>
                </a:solidFill>
                <a:latin typeface="Segoe UI"/>
              </a:rPr>
              <a:t>71 ₴</a:t>
            </a:r>
            <a:r>
              <a:rPr sz="600" b="1" i="0">
                <a:solidFill>
                  <a:srgbClr val="3E8E5A"/>
                </a:solidFill>
                <a:latin typeface="Segoe UI"/>
              </a:rPr>
              <a:t>  -10 %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985766" y="3643884"/>
            <a:ext cx="1954530" cy="2463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303A5D"/>
                </a:solidFill>
                <a:latin typeface="Segoe UI"/>
              </a:rPr>
              <a:t>Ock Dong Ja 15 г  </a:t>
            </a:r>
            <a:r>
              <a:rPr sz="600" b="1" i="0">
                <a:solidFill>
                  <a:srgbClr val="1C2235"/>
                </a:solidFill>
                <a:latin typeface="Segoe UI"/>
              </a:rPr>
              <a:t>96 ₴</a:t>
            </a:r>
            <a:r>
              <a:rPr sz="600" b="1" i="0">
                <a:solidFill>
                  <a:srgbClr val="B23A3A"/>
                </a:solidFill>
                <a:latin typeface="Segoe UI"/>
              </a:rPr>
              <a:t>  +20 %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974586" y="3643884"/>
            <a:ext cx="1954530" cy="2463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303A5D"/>
                </a:solidFill>
                <a:latin typeface="Segoe UI"/>
              </a:rPr>
              <a:t>Hokkaido Club 25 г  </a:t>
            </a:r>
            <a:r>
              <a:rPr sz="600" b="1" i="0">
                <a:solidFill>
                  <a:srgbClr val="1C2235"/>
                </a:solidFill>
                <a:latin typeface="Segoe UI"/>
              </a:rPr>
              <a:t>58 ₴</a:t>
            </a:r>
            <a:r>
              <a:rPr sz="600" b="1" i="0">
                <a:solidFill>
                  <a:srgbClr val="B23A3A"/>
                </a:solidFill>
                <a:latin typeface="Segoe UI"/>
              </a:rPr>
              <a:t>  -27 %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25196" y="3890264"/>
            <a:ext cx="8298180" cy="246380"/>
          </a:xfrm>
          <a:prstGeom prst="rect">
            <a:avLst/>
          </a:prstGeom>
          <a:solidFill>
            <a:srgbClr val="F8F9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425196" y="3890264"/>
            <a:ext cx="34290" cy="246380"/>
          </a:xfrm>
          <a:prstGeom prst="rect">
            <a:avLst/>
          </a:prstGeom>
          <a:solidFill>
            <a:srgbClr val="B23A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534924" y="3890264"/>
            <a:ext cx="1783080" cy="2463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303A5D"/>
                </a:solidFill>
                <a:latin typeface="Segoe UI"/>
              </a:rPr>
              <a:t>Topping Chicken Floss 35 г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276856" y="3890264"/>
            <a:ext cx="548640" cy="2463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20" b="1" i="0">
                <a:solidFill>
                  <a:srgbClr val="1C2235"/>
                </a:solidFill>
                <a:latin typeface="Segoe UI"/>
              </a:rPr>
              <a:t>102 ₴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996946" y="3890264"/>
            <a:ext cx="1954530" cy="2463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303A5D"/>
                </a:solidFill>
                <a:latin typeface="Segoe UI"/>
              </a:rPr>
              <a:t>Metro Chef 30 г  </a:t>
            </a:r>
            <a:r>
              <a:rPr sz="600" b="1" i="0">
                <a:solidFill>
                  <a:srgbClr val="1C2235"/>
                </a:solidFill>
                <a:latin typeface="Segoe UI"/>
              </a:rPr>
              <a:t>105 ₴</a:t>
            </a:r>
            <a:r>
              <a:rPr sz="600" b="1" i="0">
                <a:solidFill>
                  <a:srgbClr val="3E8E5A"/>
                </a:solidFill>
                <a:latin typeface="Segoe UI"/>
              </a:rPr>
              <a:t>  +3 %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985766" y="3890264"/>
            <a:ext cx="1954530" cy="2463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303A5D"/>
                </a:solidFill>
                <a:latin typeface="Segoe UI"/>
              </a:rPr>
              <a:t>Tao Kae Noi 25 г  </a:t>
            </a:r>
            <a:r>
              <a:rPr sz="600" b="1" i="0">
                <a:solidFill>
                  <a:srgbClr val="1C2235"/>
                </a:solidFill>
                <a:latin typeface="Segoe UI"/>
              </a:rPr>
              <a:t>88 ₴</a:t>
            </a:r>
            <a:r>
              <a:rPr sz="600" b="1" i="0">
                <a:solidFill>
                  <a:srgbClr val="3E8E5A"/>
                </a:solidFill>
                <a:latin typeface="Segoe UI"/>
              </a:rPr>
              <a:t>  -14 %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974586" y="3890264"/>
            <a:ext cx="1954530" cy="2463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303A5D"/>
                </a:solidFill>
                <a:latin typeface="Segoe UI"/>
              </a:rPr>
              <a:t>Tao Kae Noi 15 г  </a:t>
            </a:r>
            <a:r>
              <a:rPr sz="600" b="1" i="0">
                <a:solidFill>
                  <a:srgbClr val="1C2235"/>
                </a:solidFill>
                <a:latin typeface="Segoe UI"/>
              </a:rPr>
              <a:t>77 ₴</a:t>
            </a:r>
            <a:r>
              <a:rPr sz="600" b="1" i="0">
                <a:solidFill>
                  <a:srgbClr val="B23A3A"/>
                </a:solidFill>
                <a:latin typeface="Segoe UI"/>
              </a:rPr>
              <a:t>  -25 %</a:t>
            </a:r>
          </a:p>
        </p:txBody>
      </p:sp>
      <p:sp>
        <p:nvSpPr>
          <p:cNvPr id="88" name="Rectangle 87"/>
          <p:cNvSpPr/>
          <p:nvPr/>
        </p:nvSpPr>
        <p:spPr>
          <a:xfrm>
            <a:off x="425196" y="4136644"/>
            <a:ext cx="34290" cy="246380"/>
          </a:xfrm>
          <a:prstGeom prst="rect">
            <a:avLst/>
          </a:prstGeom>
          <a:solidFill>
            <a:srgbClr val="B23A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534924" y="4136644"/>
            <a:ext cx="1783080" cy="2463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303A5D"/>
                </a:solidFill>
                <a:latin typeface="Segoe UI"/>
              </a:rPr>
              <a:t>Topping Vegetables 35 г · 2 смаки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276856" y="4136644"/>
            <a:ext cx="548640" cy="2463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20" b="1" i="0">
                <a:solidFill>
                  <a:srgbClr val="1C2235"/>
                </a:solidFill>
                <a:latin typeface="Segoe UI"/>
              </a:rPr>
              <a:t>98 ₴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996946" y="4136644"/>
            <a:ext cx="1954530" cy="2463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303A5D"/>
                </a:solidFill>
                <a:latin typeface="Segoe UI"/>
              </a:rPr>
              <a:t>Metro Chef 30 г  </a:t>
            </a:r>
            <a:r>
              <a:rPr sz="600" b="1" i="0">
                <a:solidFill>
                  <a:srgbClr val="1C2235"/>
                </a:solidFill>
                <a:latin typeface="Segoe UI"/>
              </a:rPr>
              <a:t>105 ₴</a:t>
            </a:r>
            <a:r>
              <a:rPr sz="600" b="1" i="0">
                <a:solidFill>
                  <a:srgbClr val="3E8E5A"/>
                </a:solidFill>
                <a:latin typeface="Segoe UI"/>
              </a:rPr>
              <a:t>  +7 %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985766" y="4136644"/>
            <a:ext cx="1954530" cy="2463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303A5D"/>
                </a:solidFill>
                <a:latin typeface="Segoe UI"/>
              </a:rPr>
              <a:t>Tao Kae Noi 25 г  </a:t>
            </a:r>
            <a:r>
              <a:rPr sz="600" b="1" i="0">
                <a:solidFill>
                  <a:srgbClr val="1C2235"/>
                </a:solidFill>
                <a:latin typeface="Segoe UI"/>
              </a:rPr>
              <a:t>88 ₴</a:t>
            </a:r>
            <a:r>
              <a:rPr sz="600" b="1" i="0">
                <a:solidFill>
                  <a:srgbClr val="3E8E5A"/>
                </a:solidFill>
                <a:latin typeface="Segoe UI"/>
              </a:rPr>
              <a:t>  -11 %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974586" y="4136644"/>
            <a:ext cx="1954530" cy="2463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303A5D"/>
                </a:solidFill>
                <a:latin typeface="Segoe UI"/>
              </a:rPr>
              <a:t>Tao Kae Noi 15 г  </a:t>
            </a:r>
            <a:r>
              <a:rPr sz="600" b="1" i="0">
                <a:solidFill>
                  <a:srgbClr val="1C2235"/>
                </a:solidFill>
                <a:latin typeface="Segoe UI"/>
              </a:rPr>
              <a:t>77 ₴</a:t>
            </a:r>
            <a:r>
              <a:rPr sz="600" b="1" i="0">
                <a:solidFill>
                  <a:srgbClr val="B23A3A"/>
                </a:solidFill>
                <a:latin typeface="Segoe UI"/>
              </a:rPr>
              <a:t>  -22 %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25196" y="4383024"/>
            <a:ext cx="8298180" cy="246380"/>
          </a:xfrm>
          <a:prstGeom prst="rect">
            <a:avLst/>
          </a:prstGeom>
          <a:solidFill>
            <a:srgbClr val="F8F9F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425196" y="4383024"/>
            <a:ext cx="34290" cy="246380"/>
          </a:xfrm>
          <a:prstGeom prst="rect">
            <a:avLst/>
          </a:prstGeom>
          <a:solidFill>
            <a:srgbClr val="B23A2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534924" y="4383024"/>
            <a:ext cx="1783080" cy="2463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303A5D"/>
                </a:solidFill>
                <a:latin typeface="Segoe UI"/>
              </a:rPr>
              <a:t>Topping Vegetables 70 г · 3 смаки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2276856" y="4383024"/>
            <a:ext cx="548640" cy="2463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720" b="1" i="0">
                <a:solidFill>
                  <a:srgbClr val="1C2235"/>
                </a:solidFill>
                <a:latin typeface="Segoe UI"/>
              </a:rPr>
              <a:t>199 ₴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2996946" y="4383024"/>
            <a:ext cx="1954530" cy="2463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303A5D"/>
                </a:solidFill>
                <a:latin typeface="Segoe UI"/>
              </a:rPr>
              <a:t>Ock Dong Ja 35 г  </a:t>
            </a:r>
            <a:r>
              <a:rPr sz="600" b="1" i="0">
                <a:solidFill>
                  <a:srgbClr val="1C2235"/>
                </a:solidFill>
                <a:latin typeface="Segoe UI"/>
              </a:rPr>
              <a:t>186 ₴</a:t>
            </a:r>
            <a:r>
              <a:rPr sz="600" b="1" i="0">
                <a:solidFill>
                  <a:srgbClr val="3E8E5A"/>
                </a:solidFill>
                <a:latin typeface="Segoe UI"/>
              </a:rPr>
              <a:t>  -6 %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4985766" y="4383024"/>
            <a:ext cx="1954530" cy="2463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303A5D"/>
                </a:solidFill>
                <a:latin typeface="Segoe UI"/>
              </a:rPr>
              <a:t>Ock Dong Ja 70 г  </a:t>
            </a:r>
            <a:r>
              <a:rPr sz="600" b="1" i="0">
                <a:solidFill>
                  <a:srgbClr val="1C2235"/>
                </a:solidFill>
                <a:latin typeface="Segoe UI"/>
              </a:rPr>
              <a:t>232 ₴</a:t>
            </a:r>
            <a:r>
              <a:rPr sz="600" b="1" i="0">
                <a:solidFill>
                  <a:srgbClr val="3E8E5A"/>
                </a:solidFill>
                <a:latin typeface="Segoe UI"/>
              </a:rPr>
              <a:t>  +17 %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974586" y="4383024"/>
            <a:ext cx="1954530" cy="2463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303A5D"/>
                </a:solidFill>
                <a:latin typeface="Segoe UI"/>
              </a:rPr>
              <a:t>Tao Kae Noi 40 г  </a:t>
            </a:r>
            <a:r>
              <a:rPr sz="600" b="1" i="0">
                <a:solidFill>
                  <a:srgbClr val="1C2235"/>
                </a:solidFill>
                <a:latin typeface="Segoe UI"/>
              </a:rPr>
              <a:t>135 ₴</a:t>
            </a:r>
            <a:r>
              <a:rPr sz="600" b="1" i="0">
                <a:solidFill>
                  <a:srgbClr val="B23A3A"/>
                </a:solidFill>
                <a:latin typeface="Segoe UI"/>
              </a:rPr>
              <a:t>  -32 %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25196" y="4855464"/>
            <a:ext cx="8298180" cy="205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 i="1">
                <a:solidFill>
                  <a:srgbClr val="717890"/>
                </a:solidFill>
                <a:latin typeface="Segoe UI"/>
              </a:rPr>
              <a:t>Відсоток біля сусіда — на скільки його упаковка дорожча (+) або дешевша (−) за нашу полицю. Зелений — у межах ±20 % від нашої ціни, червоний — далі. Вага упаковок може відрізнятися.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977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3977" cy="795528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95528"/>
            <a:ext cx="9143977" cy="41148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" y="178308"/>
            <a:ext cx="1042416" cy="4526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728216" y="205740"/>
            <a:ext cx="61722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1" i="0" spc="30">
                <a:solidFill>
                  <a:srgbClr val="FFC95C"/>
                </a:solidFill>
                <a:latin typeface="Segoe UI"/>
              </a:rPr>
              <a:t>ВИСНОВКИ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28216" y="377190"/>
            <a:ext cx="61722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20" b="1" i="0">
                <a:solidFill>
                  <a:srgbClr val="FFFFFF"/>
                </a:solidFill>
                <a:latin typeface="Segoe UI"/>
              </a:rPr>
              <a:t>Що показав зріз ринку і де ми стоїмо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20990" y="301752"/>
            <a:ext cx="768096" cy="2263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360" b="1" i="0">
                <a:solidFill>
                  <a:srgbClr val="465382"/>
                </a:solidFill>
                <a:latin typeface="Segoe UI"/>
              </a:rPr>
              <a:t>46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5196" y="918972"/>
            <a:ext cx="8298180" cy="3086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72" b="0" i="0">
                <a:solidFill>
                  <a:srgbClr val="717890"/>
                </a:solidFill>
                <a:latin typeface="Segoe UI"/>
              </a:rPr>
              <a:t>Ціни нашої полиці — за формулою рису: бонус мережі 25 %, наша маржа 30 % ціни партнеру, націнка магазину +40 %; ринок — онлайн-каталоги мереж на 07.10.2026 і митна база 2025–2026.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5196" y="1268730"/>
            <a:ext cx="2023110" cy="246888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1208" y="1316736"/>
            <a:ext cx="1885950" cy="150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6" b="1" i="0" spc="20">
                <a:solidFill>
                  <a:srgbClr val="FFFFFF"/>
                </a:solidFill>
                <a:latin typeface="Segoe UI"/>
              </a:rPr>
              <a:t>ЩО КАЖЕ РИНОК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5196" y="1515618"/>
            <a:ext cx="2023110" cy="332613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21208" y="1659636"/>
            <a:ext cx="48006" cy="4800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" y="1611630"/>
            <a:ext cx="1735074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2" b="0" i="0">
                <a:solidFill>
                  <a:srgbClr val="1C2235"/>
                </a:solidFill>
                <a:latin typeface="Segoe UI"/>
              </a:rPr>
              <a:t>Полиця мереж — це міні-пакет: 49 SKU, 13 брендів. Найходовіша упаковка — 4,5 г (64 % присутності), типова ціна 40 ₴.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21208" y="2359152"/>
            <a:ext cx="48006" cy="4800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" y="2311146"/>
            <a:ext cx="1735074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2" b="0" i="0">
                <a:solidFill>
                  <a:srgbClr val="1C2235"/>
                </a:solidFill>
                <a:latin typeface="Segoe UI"/>
              </a:rPr>
              <a:t>Чипси 8–40 г — лише 4 бренди (Norris, Hokkaido Club, Ock Dong Ja, Ocean Snack); найходовіша — 25 г, 47–88 ₴.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21208" y="3058668"/>
            <a:ext cx="48006" cy="4800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" y="3010662"/>
            <a:ext cx="1735074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2" b="0" i="0">
                <a:solidFill>
                  <a:srgbClr val="1C2235"/>
                </a:solidFill>
                <a:latin typeface="Segoe UI"/>
              </a:rPr>
              <a:t>Темпура — практично один бренд, Tao Kae Noi: 25 г — 88 ₴, 40 г — 135 ₴.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21208" y="3758184"/>
            <a:ext cx="48006" cy="4800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" y="3710178"/>
            <a:ext cx="1735074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2" b="0" i="0">
                <a:solidFill>
                  <a:srgbClr val="1C2235"/>
                </a:solidFill>
                <a:latin typeface="Segoe UI"/>
              </a:rPr>
              <a:t>Рисові крекери в мережах — лише Want Want mini 60 г (145 ₴, 3 мережі) та Ultra Pop.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21208" y="4457700"/>
            <a:ext cx="48006" cy="48006"/>
          </a:xfrm>
          <a:prstGeom prst="rect">
            <a:avLst/>
          </a:prstGeom>
          <a:solidFill>
            <a:srgbClr val="303A5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" y="4409694"/>
            <a:ext cx="1735074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2" b="0" i="0">
                <a:solidFill>
                  <a:srgbClr val="1C2235"/>
                </a:solidFill>
                <a:latin typeface="Segoe UI"/>
              </a:rPr>
              <a:t>Митна база: 109,5 т нори-снеків за 17 місяців, 81 % з Кореї, $31,7/кг; рисових крекерів у коді 1905 90 55 00 — лише 0,3 т.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516886" y="1268730"/>
            <a:ext cx="2023110" cy="246888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612898" y="1316736"/>
            <a:ext cx="1885950" cy="150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6" b="1" i="0" spc="20">
                <a:solidFill>
                  <a:srgbClr val="FFFFFF"/>
                </a:solidFill>
                <a:latin typeface="Segoe UI"/>
              </a:rPr>
              <a:t>ДЕ МИ В ЦІНІ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516886" y="1515618"/>
            <a:ext cx="2023110" cy="332613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612898" y="1659636"/>
            <a:ext cx="48006" cy="4800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22626" y="1611630"/>
            <a:ext cx="1735074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1C2235"/>
                </a:solidFill>
                <a:latin typeface="Segoe UI"/>
              </a:rPr>
              <a:t>ZEK Tempura 30 г — 105 ₴ (між Tao Kae Noi 25 г за 88 ₴ і 40 г за 135 ₴), 50 г — 159 ₴. Topping 35 / 70 г — 98 / 199 ₴, нижче за Ock Dong Ja.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612898" y="2537460"/>
            <a:ext cx="48006" cy="4800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22626" y="2489454"/>
            <a:ext cx="1735074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1C2235"/>
                </a:solidFill>
                <a:latin typeface="Segoe UI"/>
              </a:rPr>
              <a:t>ZEK Sandwich 25 г — 79 ₴: вище за Norris 25 г (71 ₴), нижче за Ock Dong Ja 25 г (125 ₴).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612898" y="3415284"/>
            <a:ext cx="48006" cy="4800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22626" y="3367278"/>
            <a:ext cx="1735074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1C2235"/>
                </a:solidFill>
                <a:latin typeface="Segoe UI"/>
              </a:rPr>
              <a:t>TMK ROLL 2,5 г — 30 ₴, DOUBLE 5 г — 53 ₴: у ціновому коридорі мініпакетів (типова 42 ₴). SEAWEED / MINI 10–12 г — 108–109 ₴: дорожче за всіх сусідів за вагою.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612898" y="4293108"/>
            <a:ext cx="48006" cy="48006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22626" y="4245102"/>
            <a:ext cx="1735074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1C2235"/>
                </a:solidFill>
                <a:latin typeface="Segoe UI"/>
              </a:rPr>
              <a:t>Thai-Nichi 50 / 55 г — 132 / 160 ₴, Singha 42 г — 170 ₴ проти Want Want 60 г — 145 ₴.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608576" y="1268730"/>
            <a:ext cx="2023110" cy="246888"/>
          </a:xfrm>
          <a:prstGeom prst="rect">
            <a:avLst/>
          </a:prstGeom>
          <a:solidFill>
            <a:srgbClr val="3E8E5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04588" y="1316736"/>
            <a:ext cx="1885950" cy="150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6" b="1" i="0" spc="20">
                <a:solidFill>
                  <a:srgbClr val="FFFFFF"/>
                </a:solidFill>
                <a:latin typeface="Segoe UI"/>
              </a:rPr>
              <a:t>ЩО З ЦИМ РОБИТИ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08576" y="1515618"/>
            <a:ext cx="2023110" cy="332613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704588" y="1659636"/>
            <a:ext cx="48006" cy="48006"/>
          </a:xfrm>
          <a:prstGeom prst="rect">
            <a:avLst/>
          </a:prstGeom>
          <a:solidFill>
            <a:srgbClr val="3E8E5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814316" y="1611630"/>
            <a:ext cx="1735074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1C2235"/>
                </a:solidFill>
                <a:latin typeface="Segoe UI"/>
              </a:rPr>
              <a:t>ZEK: темпура й топінг мають найчистіше позиціонування — ціна в коридорі ринку, прямий конкурент один.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704588" y="2537460"/>
            <a:ext cx="48006" cy="48006"/>
          </a:xfrm>
          <a:prstGeom prst="rect">
            <a:avLst/>
          </a:prstGeom>
          <a:solidFill>
            <a:srgbClr val="3E8E5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814316" y="2489454"/>
            <a:ext cx="1735074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1C2235"/>
                </a:solidFill>
                <a:latin typeface="Segoe UI"/>
              </a:rPr>
              <a:t>TMK: ROLL і DOUBLE можна виводити; SEAWEED / MINI 10–12 г перерахувати — навіть при марже 15 % полиця 81–82 ₴ (див. чутливість).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704588" y="3415284"/>
            <a:ext cx="48006" cy="48006"/>
          </a:xfrm>
          <a:prstGeom prst="rect">
            <a:avLst/>
          </a:prstGeom>
          <a:solidFill>
            <a:srgbClr val="3E8E5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814316" y="3367278"/>
            <a:ext cx="1735074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1C2235"/>
                </a:solidFill>
                <a:latin typeface="Segoe UI"/>
              </a:rPr>
              <a:t>Thai-Nichi 50 г (132 ₴) — нижче Want Want (145 ₴); Thai-Nichi 55 г (160 ₴) і Singha (170 ₴) — вище: шукати дешевший контейнер або знижувати маржу.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704588" y="4293108"/>
            <a:ext cx="48006" cy="48006"/>
          </a:xfrm>
          <a:prstGeom prst="rect">
            <a:avLst/>
          </a:prstGeom>
          <a:solidFill>
            <a:srgbClr val="3E8E5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814316" y="4245102"/>
            <a:ext cx="1735074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1C2235"/>
                </a:solidFill>
                <a:latin typeface="Segoe UI"/>
              </a:rPr>
              <a:t>Для всіх: перед замовленням підтвердити ціну на живій полиці й окремо в азійських магазинах.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700266" y="1268730"/>
            <a:ext cx="2023110" cy="246888"/>
          </a:xfrm>
          <a:prstGeom prst="rect">
            <a:avLst/>
          </a:prstGeom>
          <a:solidFill>
            <a:srgbClr val="71789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796278" y="1316736"/>
            <a:ext cx="1885950" cy="150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6" b="1" i="0" spc="20">
                <a:solidFill>
                  <a:srgbClr val="FFFFFF"/>
                </a:solidFill>
                <a:latin typeface="Segoe UI"/>
              </a:rPr>
              <a:t>ОБМЕЖЕННЯ ЗРІЗУ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700266" y="1515618"/>
            <a:ext cx="2023110" cy="3326130"/>
          </a:xfrm>
          <a:prstGeom prst="rect">
            <a:avLst/>
          </a:prstGeom>
          <a:solidFill>
            <a:srgbClr val="F1F4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796278" y="1659636"/>
            <a:ext cx="48006" cy="48006"/>
          </a:xfrm>
          <a:prstGeom prst="rect">
            <a:avLst/>
          </a:prstGeom>
          <a:solidFill>
            <a:srgbClr val="71789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906006" y="1611630"/>
            <a:ext cx="1735074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1C2235"/>
                </a:solidFill>
                <a:latin typeface="Segoe UI"/>
              </a:rPr>
              <a:t>Митна база охоплює лише 4 коди УКТ ЗЕД і не розбита на SKU: товари під іншими кодами (наприклад, Want Want) у ній не видно.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796278" y="2537460"/>
            <a:ext cx="48006" cy="48006"/>
          </a:xfrm>
          <a:prstGeom prst="rect">
            <a:avLst/>
          </a:prstGeom>
          <a:solidFill>
            <a:srgbClr val="71789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906006" y="2489454"/>
            <a:ext cx="1735074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1C2235"/>
                </a:solidFill>
                <a:latin typeface="Segoe UI"/>
              </a:rPr>
              <a:t>Ціни — онлайн-каталоги одного магазину кожної мережі; офлайн-акцій і знижок «в залі» немає.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796278" y="3415284"/>
            <a:ext cx="48006" cy="48006"/>
          </a:xfrm>
          <a:prstGeom prst="rect">
            <a:avLst/>
          </a:prstGeom>
          <a:solidFill>
            <a:srgbClr val="71789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906006" y="3367278"/>
            <a:ext cx="1735074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1C2235"/>
                </a:solidFill>
                <a:latin typeface="Segoe UI"/>
              </a:rPr>
              <a:t>Арарe/норімакі не знайдено в мережах — це «не знайдено в каталогах», а не доказ відсутності.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796278" y="4293108"/>
            <a:ext cx="48006" cy="48006"/>
          </a:xfrm>
          <a:prstGeom prst="rect">
            <a:avLst/>
          </a:prstGeom>
          <a:solidFill>
            <a:srgbClr val="71789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906006" y="4245102"/>
            <a:ext cx="1735074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1C2235"/>
                </a:solidFill>
                <a:latin typeface="Segoe UI"/>
              </a:rPr>
              <a:t>Фінмодель — за формулою рису: бонус мережі 25 %, наша маржа 30 %, полиця = ціна партнеру × 1,40; реальні умови мереж можуть відрізнятись.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