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5.jpg"/><Relationship Id="rId8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.jpg"/><Relationship Id="rId8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Relationship Id="rId4" Type="http://schemas.openxmlformats.org/officeDocument/2006/relationships/image" Target="../media/image24.jpg"/><Relationship Id="rId5" Type="http://schemas.openxmlformats.org/officeDocument/2006/relationships/image" Target="../media/image20.jpg"/><Relationship Id="rId6" Type="http://schemas.openxmlformats.org/officeDocument/2006/relationships/image" Target="../media/image15.jpg"/><Relationship Id="rId7" Type="http://schemas.openxmlformats.org/officeDocument/2006/relationships/image" Target="../media/image21.jpg"/><Relationship Id="rId8" Type="http://schemas.openxmlformats.org/officeDocument/2006/relationships/image" Target="../media/image25.jpg"/><Relationship Id="rId9" Type="http://schemas.openxmlformats.org/officeDocument/2006/relationships/image" Target="../media/image22.jpg"/><Relationship Id="rId10" Type="http://schemas.openxmlformats.org/officeDocument/2006/relationships/image" Target="../media/image26.jpg"/><Relationship Id="rId11" Type="http://schemas.openxmlformats.org/officeDocument/2006/relationships/image" Target="../media/image2.jpg"/><Relationship Id="rId12" Type="http://schemas.openxmlformats.org/officeDocument/2006/relationships/image" Target="../media/image6.jpg"/><Relationship Id="rId13" Type="http://schemas.openxmlformats.org/officeDocument/2006/relationships/image" Target="../media/image23.jpg"/><Relationship Id="rId14" Type="http://schemas.openxmlformats.org/officeDocument/2006/relationships/image" Target="../media/image2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3.jpg"/><Relationship Id="rId8" Type="http://schemas.openxmlformats.org/officeDocument/2006/relationships/image" Target="../media/image3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Relationship Id="rId4" Type="http://schemas.openxmlformats.org/officeDocument/2006/relationships/image" Target="../media/image8.jpg"/><Relationship Id="rId5" Type="http://schemas.openxmlformats.org/officeDocument/2006/relationships/image" Target="../media/image37.jpg"/><Relationship Id="rId6" Type="http://schemas.openxmlformats.org/officeDocument/2006/relationships/image" Target="../media/image4.jpg"/><Relationship Id="rId7" Type="http://schemas.openxmlformats.org/officeDocument/2006/relationships/image" Target="../media/image38.jpg"/><Relationship Id="rId8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jpg"/><Relationship Id="rId4" Type="http://schemas.openxmlformats.org/officeDocument/2006/relationships/image" Target="../media/image8.jpg"/><Relationship Id="rId5" Type="http://schemas.openxmlformats.org/officeDocument/2006/relationships/image" Target="../media/image37.jpg"/><Relationship Id="rId6" Type="http://schemas.openxmlformats.org/officeDocument/2006/relationships/image" Target="../media/image4.jpg"/><Relationship Id="rId7" Type="http://schemas.openxmlformats.org/officeDocument/2006/relationships/image" Target="../media/image38.jpg"/><Relationship Id="rId8" Type="http://schemas.openxmlformats.org/officeDocument/2006/relationships/image" Target="../media/image9.jpg"/><Relationship Id="rId9" Type="http://schemas.openxmlformats.org/officeDocument/2006/relationships/image" Target="../media/image3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Relationship Id="rId4" Type="http://schemas.openxmlformats.org/officeDocument/2006/relationships/image" Target="../media/image5.jpg"/><Relationship Id="rId5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Relationship Id="rId4" Type="http://schemas.openxmlformats.org/officeDocument/2006/relationships/image" Target="../media/image5.jpg"/><Relationship Id="rId5" Type="http://schemas.openxmlformats.org/officeDocument/2006/relationships/image" Target="../media/image18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image" Target="../media/image43.jpg"/><Relationship Id="rId9" Type="http://schemas.openxmlformats.org/officeDocument/2006/relationships/image" Target="../media/image44.jpg"/><Relationship Id="rId10" Type="http://schemas.openxmlformats.org/officeDocument/2006/relationships/image" Target="../media/image45.jpg"/><Relationship Id="rId11" Type="http://schemas.openxmlformats.org/officeDocument/2006/relationships/image" Target="../media/image10.jpg"/><Relationship Id="rId12" Type="http://schemas.openxmlformats.org/officeDocument/2006/relationships/image" Target="../media/image4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7.png"/><Relationship Id="rId5" Type="http://schemas.openxmlformats.org/officeDocument/2006/relationships/image" Target="../media/image12.png"/><Relationship Id="rId6" Type="http://schemas.openxmlformats.org/officeDocument/2006/relationships/image" Target="../media/image48.png"/><Relationship Id="rId7" Type="http://schemas.openxmlformats.org/officeDocument/2006/relationships/image" Target="../media/image40.jpg"/><Relationship Id="rId8" Type="http://schemas.openxmlformats.org/officeDocument/2006/relationships/image" Target="../media/image5.jpg"/><Relationship Id="rId9" Type="http://schemas.openxmlformats.org/officeDocument/2006/relationships/image" Target="../media/image18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Relationship Id="rId13" Type="http://schemas.openxmlformats.org/officeDocument/2006/relationships/image" Target="../media/image67.png"/><Relationship Id="rId14" Type="http://schemas.openxmlformats.org/officeDocument/2006/relationships/image" Target="../media/image68.png"/><Relationship Id="rId15" Type="http://schemas.openxmlformats.org/officeDocument/2006/relationships/image" Target="../media/image69.png"/><Relationship Id="rId16" Type="http://schemas.openxmlformats.org/officeDocument/2006/relationships/image" Target="../media/image7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97880" y="0"/>
            <a:ext cx="3246097" cy="51435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0" y="2674620"/>
            <a:ext cx="2468880" cy="2468880"/>
          </a:xfrm>
          <a:prstGeom prst="roundRect">
            <a:avLst>
              <a:gd name="adj" fmla="val 50000"/>
            </a:avLst>
          </a:prstGeom>
          <a:solidFill>
            <a:srgbClr val="FFB8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48640"/>
            <a:ext cx="1508760" cy="672084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17220"/>
            <a:ext cx="1234440" cy="534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057400"/>
            <a:ext cx="5143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C4820A"/>
                </a:solidFill>
                <a:latin typeface="Segoe UI"/>
              </a:rPr>
              <a:t>ПОСТАЧАЛЬНИКИ · ЗРІЗ РИНКУ · ЦІНА НА ПОЛИЦІ · ЖОВТЕНЬ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Норі-снеки</a:t>
            </a:r>
          </a:p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та рисові крекери</a:t>
            </a:r>
          </a:p>
          <a:p>
            <a:pPr algn="l">
              <a:lnSpc>
                <a:spcPct val="100000"/>
              </a:lnSpc>
            </a:pPr>
            <a:r>
              <a:rPr sz="3040" b="1" i="0">
                <a:solidFill>
                  <a:srgbClr val="303A5D"/>
                </a:solidFill>
                <a:latin typeface="Segoe UI"/>
              </a:rPr>
              <a:t>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930" y="4114800"/>
            <a:ext cx="960120" cy="4800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0508" y="36347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0861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59073818965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528066"/>
            <a:ext cx="1138428" cy="11384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584948" y="115214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43800" y="109728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088090948430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1316736"/>
            <a:ext cx="1138428" cy="113842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50508" y="218084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12598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88587024281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2345436"/>
            <a:ext cx="1138428" cy="11384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584948" y="3140964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E08F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43800" y="3086100"/>
            <a:ext cx="1303020" cy="15773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047101449001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096" y="3305556"/>
            <a:ext cx="1138428" cy="11384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МЕТОДОЛОГІЯ · ДЖЕРЕЛА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перевірили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Онлайн-каталоги 18 мереж на zakaz.ua: ціна — поточна ціна на онлайн-полиці одного магазину мережі, грн за упаковку; діапазон показує різницю між мережами та акціями. Позиція = унікальний штрихкод.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27432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ДОСЛІДЖЕННІ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107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унікальні штрихкоди (EAN) нори-снеків і рисових снеків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36976" y="1337310"/>
            <a:ext cx="27432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528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МЕРЕЖ ІЗ ПОЗИЦІЯМИ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528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16 з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528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національних · 9 регіональних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8756" y="1337310"/>
            <a:ext cx="2674620" cy="8915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8756" y="1337310"/>
            <a:ext cx="27432" cy="8915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1453896"/>
            <a:ext cx="24003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1611630"/>
            <a:ext cx="24003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7064" y="2023110"/>
            <a:ext cx="24003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без обліку приватних марок мереж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243459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" y="2448306"/>
            <a:ext cx="82981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НАЦІОНАЛЬНІ МЕРЕЖІ · ЧИСЛО ПОЗИЦІЙ У МЕРЕЖІ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" y="2743200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743200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6132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6132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08760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04772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1513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1513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67762" y="2743200"/>
            <a:ext cx="1289304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63774" y="2743200"/>
            <a:ext cx="843534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00450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0450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53078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9090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9452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9452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12080" y="2743200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8092" y="2743200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1845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1845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1082" y="2743200"/>
            <a:ext cx="1515618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7094" y="2743200"/>
            <a:ext cx="1069848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30084" y="2804922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30084" y="2804922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5196" y="3168396"/>
            <a:ext cx="1440180" cy="31546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3168396"/>
            <a:ext cx="99441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8760" y="323011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08760" y="323011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5196" y="3682746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4924" y="3696462"/>
            <a:ext cx="82981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РЕГІОНАЛЬНІ МЕРЕЖІ · ЧИСЛО ПОЗИЦІЙ У МЕРЕЖІ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5196" y="3991356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" y="3991356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5613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613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508760" y="3991356"/>
            <a:ext cx="1138428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04772" y="3991356"/>
            <a:ext cx="692658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9057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9057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743200" y="3991356"/>
            <a:ext cx="1213866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839212" y="3991356"/>
            <a:ext cx="768096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00450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00450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053078" y="3991356"/>
            <a:ext cx="987552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9090" y="3991356"/>
            <a:ext cx="541782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84014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84014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136642" y="3991356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32654" y="3991356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843016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843016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95644" y="3991356"/>
            <a:ext cx="1289304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91656" y="3991356"/>
            <a:ext cx="843534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8332" y="4053078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28332" y="4053078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25196" y="4416552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1208" y="4416552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131570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31570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584198" y="4416552"/>
            <a:ext cx="144018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680210" y="4416552"/>
            <a:ext cx="99441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667762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67762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120390" y="4416552"/>
            <a:ext cx="1062990" cy="315468"/>
          </a:xfrm>
          <a:prstGeom prst="roundRect">
            <a:avLst>
              <a:gd name="adj" fmla="val 25000"/>
            </a:avLst>
          </a:prstGeom>
          <a:solidFill>
            <a:srgbClr val="E6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16402" y="4416552"/>
            <a:ext cx="617220" cy="3154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826764" y="4478274"/>
            <a:ext cx="288036" cy="192024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826764" y="4478274"/>
            <a:ext cx="288036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04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ЩО ЦЕ ЗА ПРОДУКТИ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Формати категорії: що саме лежить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Опис — за митними описами товарів (графа 31 декларації) та написами на упаковках. Фото — продукти, які ми знайшли в мережах.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2708910" cy="3429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749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880915190923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" y="1570482"/>
            <a:ext cx="836676" cy="8366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8818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2B3453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818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Тонкі листи морської водорості норі, підсмажені з олією, сіллю й спеціями; у пакетику 1–2 аркуші по 4–5 г. Їдять як хрусткі чипси або загортають у них рис.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Haelove · 4,5 г · типова ціна 43 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TMK ROLL і DOUBLE ROLL (рулончик 2,5 і 5 г)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3697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36976" y="1337310"/>
            <a:ext cx="2708910" cy="3429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927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8201724429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570482"/>
            <a:ext cx="836676" cy="8366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9996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9A6A15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996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Хрусткі квадрати норі в пакеті 25 г (Hokkaido Club, Norris) і «сендвіч» — два листи норі, склеєні начинкою з рису, кунжуту, насіння чи м’ясної стружки.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298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Hokkaido Club · 25 г · типова ціна 58 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3298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785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Sandwich 25 г і TMK SEAWEED / MINI 10–12 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48756" y="1337310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48756" y="1337310"/>
            <a:ext cx="2708910" cy="342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31052" y="1474470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5870240219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8484" y="1570482"/>
            <a:ext cx="836676" cy="8366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111746" y="1460754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4D417E"/>
                </a:solidFill>
                <a:latin typeface="Segoe UI"/>
              </a:rPr>
              <a:t>Темпура з норі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1746" y="1831086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 в хрусткому клярі темпура — як чипси, але товстіші, з гострими й васабі-смаками. Одного бренду в мережах — Tao Kae Noi. У ZEK — рисовий снек із сушеною водорістю.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2558034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Tao Kae Noi · 25 г · типова ціна 88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44768" y="2708910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2" y="2708910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Tempura 30 і 50 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" y="3134106"/>
            <a:ext cx="2708910" cy="3429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749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0909484719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" y="3367278"/>
            <a:ext cx="836676" cy="83667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8818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4D417E"/>
                </a:solidFill>
                <a:latin typeface="Segoe UI"/>
              </a:rPr>
              <a:t>Топінг із норі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818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Подрібнена водорість із олією, цукром і начинкою (кунжут, овочі, курячa стружка). Не снек, а посипка для рису, локшини, супів і салатів.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Ock Dong Ja · 70 г · типова ціна 232 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ZEK Topping 35 і 70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3697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36976" y="3134106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1927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7101449001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367278"/>
            <a:ext cx="836676" cy="83667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9996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8C3439"/>
                </a:solidFill>
                <a:latin typeface="Segoe UI"/>
              </a:rPr>
              <a:t>Рисовий крекер із норі (арарe / норімакі)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996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Обсмажений рисовий крекер із соєвим соусом, обгорнутий або присипаний смаженою норі. Основа — клейкий рис (близько 75–80 %).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3298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Want Want · 60 г · типова ціна 145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3298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8785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Тут: Singha Kameda Norimaki 42 г, Thai-Nichi Mizuho Norimaki 50–55 г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48756" y="3134106"/>
            <a:ext cx="2708910" cy="17145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48756" y="3134106"/>
            <a:ext cx="2708910" cy="3429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31052" y="3271266"/>
            <a:ext cx="89154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380023307014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484" y="3367278"/>
            <a:ext cx="836676" cy="83667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111746" y="3257550"/>
            <a:ext cx="15773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83899B"/>
                </a:solidFill>
                <a:latin typeface="Segoe UI"/>
              </a:rPr>
              <a:t>Рисові чипси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1746" y="3627882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Тонкі хрусткі рисові чипси зі смаком сиру, паприки чи сметани. Суміжний формат, не наш: ціна 40–70 ₴ за пакет.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44768" y="4354830"/>
            <a:ext cx="25374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Rice Up! · 60 г · типова ціна 63 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44768" y="4505706"/>
            <a:ext cx="2516886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2" y="4505706"/>
            <a:ext cx="24345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У нашому асортименті аналогів немає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Джерела: митні описи товарів (графа 31 МД) постачальників; каталоги мереж zakaz.ua, 07.10.2026.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ЩО ЦЕ ЗА ПРОДУКТИ · НАШ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Паспорт продукту: що саме ми пропонуємо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За вашою таблицею УКТ ЗЕД: класифікація, мито та склад продуктів кожного постачальника. Мито — пільгове / повне.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2023110" cy="2743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SINGHA KAMEDA · ARARE NORIMAKI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23" y="1687068"/>
            <a:ext cx="689055" cy="8709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1208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ЩО ЦЕ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Рисовий крекер, обсмажений / екструдований: клейкий рис 75–80 %, соєвий соус (у Original — соєво-рибний з екстрактом боніто), смажена норі 3,5–4 %. Роздріб — пакет-стойка 42 г; також навал 3 кг.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КРАЇНА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СМАКИ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Wasabi (у таблиці ще Squid Chili, Mala)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УКТ ЗЕД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36214"/>
                </a:solidFill>
                <a:latin typeface="Segoe UI"/>
              </a:rPr>
              <a:t>МИТО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23744" y="1303020"/>
            <a:ext cx="2023110" cy="2743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THAI-NICHI · MIZUHO NORIMAKI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23744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06040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2977" y="1687068"/>
            <a:ext cx="724643" cy="87096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19756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ЩО ЦЕ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9756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Рисовий крекер, обсмажений / екструдований, із соєвим соусом і сушеною смаженою норі. Алюмінієвий пакет з азотним наповненням; 50 і 55 г.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19756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КРАЇНА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9756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19756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СМАКИ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19756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19756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УКТ ЗЕД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19756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9756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1D5B63"/>
                </a:solidFill>
                <a:latin typeface="Segoe UI"/>
              </a:rPr>
              <a:t>МИТО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9756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22292" y="1303020"/>
            <a:ext cx="2023110" cy="2743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4588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TMK · KOKIRI WOW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2292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04588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647" y="1687068"/>
            <a:ext cx="288399" cy="87096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18304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ЩО ЦЕ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4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Смажена норі (корейська, 75–95 %) зі смаковою приправою 5 %. ROLL — рулончик 2,5 г; DOUBLE ROLL — подвійний 2 × 2,5 г; MINI — дрібні рулончики 10 г; SEAWEED — хрустка норі, смажена в пальмовій олії, 12 г.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18304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8304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Таїланд (сировина з Кореї)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18304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СМАКИ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18304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Original · Hot Spicy · Squid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18304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УКТ ЗЕД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2008 99 99 90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18304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2F7A3E"/>
                </a:solidFill>
                <a:latin typeface="Segoe UI"/>
              </a:rPr>
              <a:t>МИТО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18304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15 %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20840" y="1303020"/>
            <a:ext cx="2023110" cy="2743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3136" y="1364742"/>
            <a:ext cx="188595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15">
                <a:solidFill>
                  <a:srgbClr val="FFFFFF"/>
                </a:solidFill>
                <a:latin typeface="Segoe UI"/>
              </a:rPr>
              <a:t>HANJIN · ZEK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720840" y="1577340"/>
            <a:ext cx="2023110" cy="325755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03136" y="1659636"/>
            <a:ext cx="1858518" cy="9258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zek_tempura_corn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7926" y="1687068"/>
            <a:ext cx="668937" cy="87096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16852" y="26746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ЩО ЦЕ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6852" y="2791206"/>
            <a:ext cx="183108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Tempura 30 / 50 г — рисовий снек із сушеною норі, крохмалем і приправою (1905). Sandwich 25 г — листи норі з начинкою (мальтоза, м’ясна стружка / кунжут). Topping 35 / 70 г — подрібнена норі з олією, цукром і начинкою (2008).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16852" y="346329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16852" y="3579876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16852" y="3778758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СМАКИ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6852" y="3895344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Corn · Wasabi · Mala · Meat Floss · Sesame · Vegetables · Chicken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6852" y="4094226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УКТ ЗЕД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16852" y="4210812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1905 90 55 00 · 2008 99 99 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16852" y="4409694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22"/>
                </a:solidFill>
                <a:latin typeface="Segoe UI"/>
              </a:rPr>
              <a:t>МИТО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6852" y="4526280"/>
            <a:ext cx="183108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10 % / 10 % · 10 % / 15 %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Джерело: таблиця УКТ ЗЕД постачальників (опис до графи 31 МД). Класифікацію підтверджує митний брокер; мито — за вашою таблицею.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показує митна база за нашими кодами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Чотири точні коди УКТ ЗЕД за 2025 рік і січень–травень 2026 (5 місяців). Кольорова смужка зліва — коди, під якими оформлюються наші продукти; сірі — локшина й готовий рис із попередніх досліджень, для масштабу.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37310"/>
            <a:ext cx="41148" cy="82296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646" y="1405890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2008 99 99 90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646" y="1611630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Морські водорості приготовані (нори-снеки, топінг, сендвічі)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646" y="1940814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77 імпортерів · 824 декларацій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1405890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2 794 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88336" y="1652778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$9,7 млн · $3,5/кг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183108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МД Євротрейд — 55 %; головна країна Китай — 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5796" y="1474470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14466" y="1501902"/>
            <a:ext cx="664123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3453" y="147447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1 474 т · 123 т/міс.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5796" y="1817370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14466" y="1844802"/>
            <a:ext cx="1427395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6725" y="1817370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1 320 т · 264 т/міс.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215134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" y="2215134"/>
            <a:ext cx="41148" cy="82296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646" y="2283714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1905 90 55 00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646" y="2489454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Екструдовані / експандовані снеки (рисові крекери, темпура)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646" y="2818638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113 імпортерів · 2509 декларацій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88336" y="2283714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4 592 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88336" y="2530602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$27,5 млн · $6,0/кг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88336" y="270891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ПрАТ САВ ОРБІКО — 31 %; головна країна Країни ЄС — 52 %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5796" y="2352294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14466" y="2379726"/>
            <a:ext cx="1451959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21289" y="235229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3 222 т · 269 т/міс.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25796" y="2695194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4466" y="2722626"/>
            <a:ext cx="1481328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0658" y="269519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1 370 т · 274 т/міс.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3092958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5196" y="3092958"/>
            <a:ext cx="41148" cy="82296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646" y="3161538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1902 30 10 00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646" y="3367278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Локшина швидкого приготування (рис)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6646" y="3696462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 імпортерів · 397 декларацій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88336" y="3161538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1 944 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88336" y="3408426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$8,6 млн · $4,4/кг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88336" y="358673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Євро Фуд Сервіс — 42 %; головна країна В'єтнам — 33 %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5796" y="3230118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14466" y="3257550"/>
            <a:ext cx="419556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88886" y="3230118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931 т · 78 т/міс.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25796" y="3573018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4466" y="3600450"/>
            <a:ext cx="1095843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5173" y="3573018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1 013 т · 203 т/міс.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" y="3970782"/>
            <a:ext cx="829818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5196" y="3970782"/>
            <a:ext cx="41148" cy="82296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6646" y="4039362"/>
            <a:ext cx="198882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303A5D"/>
                </a:solidFill>
                <a:latin typeface="Segoe UI"/>
              </a:rPr>
              <a:t>1904 90 10 00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6646" y="4245102"/>
            <a:ext cx="19888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Готовий рис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46" y="4574286"/>
            <a:ext cx="198882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імпортерів · 639 декларацій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8336" y="4039362"/>
            <a:ext cx="21945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250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88336" y="4286250"/>
            <a:ext cx="21945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$0,8 млн · $3,4/кг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88336" y="446455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найбільший імпортер АТБ-маркет — 50 %; головна країна Країни ЄС — 54 %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796" y="4107942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2025 · 12 міс.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14466" y="4135374"/>
            <a:ext cx="82741" cy="150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2071" y="4107942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184 т · 15,3 т/міс.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25796" y="4450842"/>
            <a:ext cx="7543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2026 · січ–трав.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4466" y="4478274"/>
            <a:ext cx="72099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41429" y="4450842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303A5D"/>
                </a:solidFill>
                <a:latin typeface="Segoe UI"/>
              </a:rPr>
              <a:t>67 т · 13,3 т/міс.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НОРИ-СНЕКИ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Нори-снеки: скільки і звідки ввозять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Нори-снеки виділено серед усього коду 2008 99 99 90 за описом товару (смажені / хрусткі водорості, снек, чипси, топінг, рол). Решта коду — фрукти, соуси, водорості для салатів — не рахується.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УСЬОГО · 17 МІСЯЦІВ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109,5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$3,47 млн · $31,7/кг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3744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23744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052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2025 РІК · 12 МІСЯЦІВ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052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67,7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2052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5,6 т на місяць · $2,17 млн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2292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22292" y="1303020"/>
            <a:ext cx="27432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2026 · СІЧЕНЬ–ТРАВЕНЬ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41,8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8,4 т на місяць · $1,30 млн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20840" y="1303020"/>
            <a:ext cx="27432" cy="822960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9148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ЗМІНА ТЕМПУ ІМПОРТУ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9148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E8E5A"/>
                </a:solidFill>
                <a:latin typeface="Segoe UI"/>
              </a:rPr>
              <a:t>+48 %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9148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т/міс.: 2026 проти 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" y="226314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227685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ІМПОРТ ПОМІСЯЧНО, ТОНН · ТЕМНО — ЧИСТІ СНЕКИ, СВІТЛО — ЗМІШАНІ ДЕКЛАРАЦІЇ (СНЕКИ + ЛИСТИ ДЛЯ СУШІ)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" y="4159749"/>
            <a:ext cx="277547" cy="1950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5196" y="3975753"/>
            <a:ext cx="277547" cy="183996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383859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3,4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0749" y="4079944"/>
            <a:ext cx="277547" cy="27488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69" y="3942784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2,5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6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76302" y="4280566"/>
            <a:ext cx="277547" cy="7426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7722" y="414340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0,7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772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01855" y="4155315"/>
            <a:ext cx="277547" cy="1995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401855" y="3771805"/>
            <a:ext cx="277547" cy="38351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33275" y="3634645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5,3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3327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27409" y="3778456"/>
            <a:ext cx="277547" cy="57637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27409" y="3717493"/>
            <a:ext cx="277547" cy="60962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8829" y="358033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5,8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5882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2962" y="3787323"/>
            <a:ext cx="277547" cy="5675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52962" y="3447041"/>
            <a:ext cx="277547" cy="340282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84382" y="3309881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8438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чер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8515" y="3828334"/>
            <a:ext cx="277547" cy="52649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8515" y="3243093"/>
            <a:ext cx="277547" cy="585241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9935" y="310593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10,0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993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лип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04069" y="4015656"/>
            <a:ext cx="277547" cy="33917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35489" y="387849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3,1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35489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сер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29622" y="3635471"/>
            <a:ext cx="277547" cy="71935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29622" y="3401596"/>
            <a:ext cx="277547" cy="233874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61042" y="326443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6104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вер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55175" y="3619953"/>
            <a:ext cx="277547" cy="73487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55175" y="3496919"/>
            <a:ext cx="277547" cy="123033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86595" y="3359759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8659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жов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80728" y="3727469"/>
            <a:ext cx="277547" cy="62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80728" y="3503570"/>
            <a:ext cx="277547" cy="223899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2148" y="3366410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214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лис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006282" y="3945826"/>
            <a:ext cx="277547" cy="409003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06282" y="3823901"/>
            <a:ext cx="277547" cy="121925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37702" y="3686741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4,8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770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гру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31835" y="3318465"/>
            <a:ext cx="277547" cy="103636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331835" y="2743200"/>
            <a:ext cx="277547" cy="575265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63255" y="2606040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14,5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6325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57388" y="3587809"/>
            <a:ext cx="277547" cy="7670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657388" y="3464775"/>
            <a:ext cx="277547" cy="123033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88808" y="3327615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8,0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8880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82942" y="3813925"/>
            <a:ext cx="277547" cy="5409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82942" y="3588917"/>
            <a:ext cx="277547" cy="225007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14362" y="3451757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6,9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14362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495" y="3854936"/>
            <a:ext cx="277547" cy="499893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39915" y="3717776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4,5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39915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34048" y="3946934"/>
            <a:ext cx="277547" cy="40789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34048" y="3486943"/>
            <a:ext cx="277547" cy="4599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65468" y="3349783"/>
            <a:ext cx="414707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7,8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565468" y="4382262"/>
            <a:ext cx="41470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5196" y="4533138"/>
            <a:ext cx="3855204" cy="17830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5196" y="4533138"/>
            <a:ext cx="3855204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FFFFFF"/>
                </a:solidFill>
                <a:latin typeface="Segoe UI"/>
              </a:rPr>
              <a:t>2025 · 67,7 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335264" y="4533138"/>
            <a:ext cx="1576331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35264" y="4533138"/>
            <a:ext cx="1576331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FFFFFF"/>
                </a:solidFill>
                <a:latin typeface="Segoe UI"/>
              </a:rPr>
              <a:t>2026 · 41,8 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37910" y="226314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47638" y="2276856"/>
            <a:ext cx="27432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КРАЇНА ПОХОДЖЕННЯ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37910" y="2537460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23710" y="2564892"/>
            <a:ext cx="1508760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87334" y="2537460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89,0 т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37910" y="2784348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81 % · 2025: 55,8 т · 2026: 33,1 т · $34,9/кг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37910" y="3072384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823710" y="3099816"/>
            <a:ext cx="321185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99759" y="3072384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18,9 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37910" y="3319272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17 % · 2025: 11,0 т · 2026: 7,9 т · $16,6/кг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37910" y="3607308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23710" y="3634740"/>
            <a:ext cx="27432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901007" y="3607308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1,3 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37910" y="3854196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1 % · 2025: 0,6 т · 2026: 0,7 т · $28,5/кг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7910" y="4142232"/>
            <a:ext cx="6858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Туніс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823710" y="4169664"/>
            <a:ext cx="27432" cy="1783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82993" y="4142232"/>
            <a:ext cx="6858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0,3 т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7910" y="4389120"/>
            <a:ext cx="2606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0 % · 2025: 0,2 т · 2026: 0,1 т · $61,1/кг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ХТО ЗАВОЗИТЬ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Хто завозить нори-снеки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Імпортери нори-снеків (код 2008 99 99 90) за 17 місяців; бренди — ті, що названо в описах декларацій. Це ті самі бренди, що ми бачили на полицях мереж.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68730"/>
            <a:ext cx="4114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4620" y="126873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ТОНН ЗА 17 МІСЯЦІВ І ЧАСТКА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268730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2025,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4980" y="1268730"/>
            <a:ext cx="8915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2026 СІЧ–ТРАВ.,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268730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МИТНА ЦІНА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0930" y="126873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" y="145389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350" y="1453896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4620" y="1529334"/>
            <a:ext cx="1303020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32504" y="1453896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26,1 т · 24 %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45389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18,4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4980" y="1453896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7,7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6550" y="145389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$34,3/кг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40930" y="1453896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" y="1741932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Метро Кеш Енд Кері Україна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4620" y="1817370"/>
            <a:ext cx="1033331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62815" y="1741932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20,7 т · 19 %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7419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4980" y="1741932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9,8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6550" y="17419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$24,4/кг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0930" y="1741932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6" y="2029968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350" y="2029968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ОРІЄНТАЛЬ ПЛЮС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74620" y="2105406"/>
            <a:ext cx="961609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093" y="2029968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19,2 т · 18 %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0299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13,2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4980" y="2029968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6,1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86550" y="20299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$48,4/кг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30" y="2029968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Akura, Royal Tiger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" y="2318004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НОРРІС ГРУП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74620" y="2393442"/>
            <a:ext cx="946203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75687" y="2318004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18,9 т · 17 %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23180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11,0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4980" y="2318004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7,9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86550" y="23180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$16,6/кг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0930" y="2318004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606040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350" y="2606040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Торговий дім ІТС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4620" y="2681478"/>
            <a:ext cx="692614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2098" y="2606040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13,9 т · 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060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8,4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54980" y="2606040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5,5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6550" y="26060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$34,0/кг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0930" y="2606040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Haelove / Delisse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350" y="2894076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ОРІЄНТАЛ МЕРЧАНТ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4620" y="2969514"/>
            <a:ext cx="262557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92041" y="2894076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5,3 т · 5 %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28940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4,0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980" y="2894076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1,3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86550" y="28940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$29,6/кг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0930" y="2894076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Tao Kae Noi, Ock Dong Ja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182112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4350" y="3182112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ДРАЙЗЕР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74620" y="3257550"/>
            <a:ext cx="151072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80556" y="3182112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3,0 т · 3 %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1821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0,9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4980" y="3182112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2,2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86550" y="31821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$39,9/кг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40930" y="3182112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4350" y="3470148"/>
            <a:ext cx="21259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АЗІАТІК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674620" y="3545586"/>
            <a:ext cx="34652" cy="1371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64136" y="3470148"/>
            <a:ext cx="11658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0,7 т · 1 %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00600" y="347014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1C2235"/>
                </a:solidFill>
                <a:latin typeface="Segoe UI"/>
              </a:rPr>
              <a:t>0,0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54980" y="3470148"/>
            <a:ext cx="8915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0,7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86550" y="347014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$27,8/кг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40930" y="3470148"/>
            <a:ext cx="13030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3895344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4924" y="3909060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ВИРОБНИКИ ЗА ОПИСАМИ ДЕКЛАРАЦІЙ (КОРЕЯ, КИТАЙ, ТАЇЛАНД)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19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Godbawee Food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377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25,8 т · $34,0/кг · Корея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6250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3108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Haesarang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3108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22,3 т · $25,1/кг · Корея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09981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6839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Solmoi F C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6839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13,4 т · $47,7/кг · Корея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3712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0570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Jiangsu Lingxian Food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570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12,7 т · $17,4/кг · Китай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77443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4301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Solmoi F C 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4301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5,2 т · $50,3/кг · Корея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111746" y="4101084"/>
            <a:ext cx="1282446" cy="4251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80326" y="4128516"/>
            <a:ext cx="11658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Hyosung Food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80326" y="4334256"/>
            <a:ext cx="11658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3,9 т · $30,4/кг · Корея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МИТНА БАЗА · РИСОВІ СНЕКИ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 з норі: імпорту майже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Код 1905 90 55 00 — екструдовані й експандовані снеки; під ним оформлюють і наші Singha Kameda, Thai-Nichi та ZEK Tempura. Дивимось, хто і що завозить за цим кодом.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303020"/>
            <a:ext cx="27432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УВЕСЬ КОД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4 592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2025: 3 222 т · 2026 (5 міс.): 1 370 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23744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23744" y="1303020"/>
            <a:ext cx="27432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052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РИСОВІ СНЕКИ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052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101,3 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2052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2025: 75,5 т · 2026: 25,8 т · $9,1/кг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22292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22292" y="1303020"/>
            <a:ext cx="27432" cy="8229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РИСОВІ КРЕКЕРИ В ОПИСАХ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0,30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 декларацій з 2 509 у коді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1303020"/>
            <a:ext cx="198882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720840" y="1303020"/>
            <a:ext cx="27432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9148" y="1419606"/>
            <a:ext cx="17145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З ВОДОРОСТЯМИ (НОРІ)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9148" y="1577340"/>
            <a:ext cx="1714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12,6 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9148" y="1920240"/>
            <a:ext cx="17145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будь-які снеки з водоростями в коді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6" y="226314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2276856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ХТО ЗАВОЗИТЬ РИСОВІ СНЕКИ · ТОНН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" y="250317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АЗІЯФУДС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33956" y="2577236"/>
            <a:ext cx="2125980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07942" y="250317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36,1 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" y="277749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ІНГАР ГРУП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33956" y="2851556"/>
            <a:ext cx="829925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11887" y="277749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14,1 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" y="305181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УП-ГРУП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3956" y="3125876"/>
            <a:ext cx="716934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8896" y="305181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12,2 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" y="332613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ФОЗЗІ КОММЕРЦ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33956" y="3400196"/>
            <a:ext cx="649218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31180" y="332613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11,0 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" y="360045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Метро Кеш Енд Кері Україна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33956" y="3674516"/>
            <a:ext cx="634515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6477" y="360045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10,8 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3874770"/>
            <a:ext cx="14538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РОСТІМ АГРО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33956" y="3948836"/>
            <a:ext cx="541969" cy="126187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23931" y="3874770"/>
            <a:ext cx="6172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9,2 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32020" y="226314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41748" y="2276856"/>
            <a:ext cx="41148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ВИРОБНИКИ · КРАЇНА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32020" y="2503170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00600" y="2503170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Виробника в описі не вказано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3740" y="2503170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62,5 т · В'єтнам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2020" y="2791206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00600" y="2791206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Nuhealth Jsc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63740" y="2791206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18,7 т · Країни ЄС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32020" y="3079242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00600" y="3079242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Mafin Srl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3740" y="3079242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5,7 т · Країни ЄС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32020" y="3367278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00600" y="3367278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Pph Okruszek Sp Z O 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63740" y="3367278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3,3 т · Польща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32020" y="3655314"/>
            <a:ext cx="3977640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00600" y="3655314"/>
            <a:ext cx="24003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1C2235"/>
                </a:solidFill>
                <a:latin typeface="Segoe UI"/>
              </a:rPr>
              <a:t>Eat Real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63740" y="3655314"/>
            <a:ext cx="15773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2,3 т · Сполучене Королівство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25196" y="4354830"/>
            <a:ext cx="8298180" cy="42519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5196" y="4354830"/>
            <a:ext cx="27432" cy="4251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2930" y="4389120"/>
            <a:ext cx="80238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1C2235"/>
                </a:solidFill>
                <a:latin typeface="Segoe UI"/>
              </a:rPr>
              <a:t>Висновок: рисових крекерів у стилі арарe/норімакі в цьому коді практично немає — це вільна ніша. Застереження: в мережах є Want Want mini, а в базі його не видно — його, ймовірно, ввозять за іншим кодом УКТ ЗЕД, якого немає у вашій вибірці.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Митна база: імпорт в Україну за УКТ ЗЕД, 2025 рік і січень–травень 2026 (17 місяців), фактурна вартість USD без імпортного ПДВ. Декларації не розбито на SKU, тому нори-снеки виділено за описом товару.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Сегментація за форматом упаковки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Усі знайдені в мережах позиції розкладено за форматом упаковки й вагою — так, як їх бачить покупець на полиці. У кожній картці: скільки позицій, яка упаковка найходовіша, типова ціна і діапазон.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2674620" cy="24688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90948424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98" y="1645920"/>
            <a:ext cx="68580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8531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303A5D"/>
                </a:solidFill>
                <a:latin typeface="Segoe UI"/>
              </a:rPr>
              <a:t>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31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46 % зрізу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531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3–5 г · один–два аркуші в пакетику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679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2,7–5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679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9679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4,5 г · 64 % присутності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9679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29–98 ₴ · 13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36976" y="1268730"/>
            <a:ext cx="2674620" cy="2468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298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6440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3298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48202655501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78" y="1645920"/>
            <a:ext cx="685800" cy="685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19709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C4820A"/>
                </a:solidFill>
                <a:latin typeface="Segoe UI"/>
              </a:rPr>
              <a:t>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9709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18 % зрізу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8–40 г · мультипак, чипси, сендвіч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298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0857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8–40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298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857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72 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298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0857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25 г · 58 % присутності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3298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857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21–151 ₴ ·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756" y="1268730"/>
            <a:ext cx="2674620" cy="2468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44768" y="1316736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76188" y="1543050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44768" y="1611630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0885710723077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9058" y="1645920"/>
            <a:ext cx="685800" cy="685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008876" y="1570482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8876" y="194081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10 % зрізу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08876" y="2091690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15–70 г · у клярі, подрібнені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44768" y="243459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0356" y="242087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15–70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58203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20356" y="256832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105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4768" y="2729484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20356" y="2715768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15 г · 33 % присутності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2876931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0356" y="2863215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70–528 ₴ · 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3065526"/>
            <a:ext cx="2674620" cy="24688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3113532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2628" y="3339846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" y="3408426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0377002719476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498" y="3442716"/>
            <a:ext cx="685800" cy="6858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385316" y="3367278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B23A3A"/>
                </a:solidFill>
                <a:latin typeface="Segoe UI"/>
              </a:rP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85316" y="373761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8 % зрізу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85316" y="3888486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50–60 г · арарe, сенбей, міні-крекер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" y="4231386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96796" y="421767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50–60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208" y="4378833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6796" y="4365117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148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" y="452628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6796" y="451256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г · 92 % присутності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1208" y="467372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96796" y="466001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126–149 ₴ ·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36976" y="3065526"/>
            <a:ext cx="2674620" cy="246888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332988" y="3113532"/>
            <a:ext cx="25374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 spc="20">
                <a:solidFill>
                  <a:srgbClr val="FFFFFF"/>
                </a:solidFill>
                <a:latin typeface="Segoe UI"/>
              </a:rPr>
              <a:t>РИСОВІ ЧИПСИ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64408" y="3339846"/>
            <a:ext cx="2619756" cy="14401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32988" y="3408426"/>
            <a:ext cx="754380" cy="7543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0380023307014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7278" y="3442716"/>
            <a:ext cx="685800" cy="68580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4197096" y="3367278"/>
            <a:ext cx="8915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80" b="1" i="0">
                <a:solidFill>
                  <a:srgbClr val="A5ABBD"/>
                </a:solidFill>
                <a:latin typeface="Segoe UI"/>
              </a:rP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97096" y="373761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позицій · 18 % зрізу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97096" y="3888486"/>
            <a:ext cx="16802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50–150 г · суміжний, не наш формат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2988" y="4231386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08576" y="421767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50–150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32988" y="4378833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 ЗА УПАКОВКУ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8576" y="4365117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32988" y="4526280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08576" y="4512564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60 г · 43 % присутності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2988" y="4673727"/>
            <a:ext cx="15773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ДІАПАЗОН · БРЕНДІВ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8576" y="4660011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88" b="1" i="0">
                <a:solidFill>
                  <a:srgbClr val="303A5D"/>
                </a:solidFill>
                <a:latin typeface="Segoe UI"/>
              </a:rPr>
              <a:t>20–135 ₴ · 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48756" y="3065526"/>
            <a:ext cx="2674620" cy="171450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048756" y="3065526"/>
            <a:ext cx="27432" cy="17145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20206" y="3188970"/>
            <a:ext cx="2331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C4820A"/>
                </a:solidFill>
                <a:latin typeface="Segoe UI"/>
              </a:rPr>
              <a:t>ДЕ НАШІ ПОСТАЧАЛЬНИКИ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20206" y="3442716"/>
            <a:ext cx="13716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46520" y="3435858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TMK · KOKIRI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46520" y="3573018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міні-пакет · чипси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20206" y="3771900"/>
            <a:ext cx="13716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3765042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HanJin · ZEK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46520" y="3902202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темпура · топінг · сендвіч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20206" y="4101084"/>
            <a:ext cx="137160" cy="23317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46520" y="4094226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Singha Kameda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46520" y="4231386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20206" y="4430268"/>
            <a:ext cx="13716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46520" y="44234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Thai-Nichi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46520" y="4560570"/>
            <a:ext cx="205740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 4–5 г: найбільший сегмент, медіана 42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Основа полиці: один–два аркуші в пакетику, ціна упаковки в усіх брендів близька. Сюди потрапляють наші TMK ROLL і DOUBLE ROLL.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 лінійок · 13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29–98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303A5D"/>
                </a:solidFill>
                <a:latin typeface="Segoe UI"/>
              </a:rPr>
              <a:t>4,5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64 % присутності на полицях · медіана 40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03A5D"/>
                </a:solidFill>
                <a:latin typeface="Segoe UI"/>
              </a:rPr>
              <a:t>2,7–5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2116182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18084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1763485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65387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828925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" y="2872439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2690" y="2828925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" y="2990088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53896" y="3033602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12690" y="2990088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" y="3151251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53896" y="3194765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2690" y="3151251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" y="3312414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53896" y="3355928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12690" y="3312414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" y="3473577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3896" y="3517091"/>
            <a:ext cx="1410788" cy="7413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12690" y="3473577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32020" y="2489454"/>
            <a:ext cx="605790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6344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35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06390" y="2935224"/>
            <a:ext cx="605790" cy="44577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7810" y="280492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35–40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2489454"/>
            <a:ext cx="605790" cy="8915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218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40–45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55130" y="2563749"/>
            <a:ext cx="605790" cy="81724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86550" y="243344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45–55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29500" y="3158109"/>
            <a:ext cx="605790" cy="22288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6092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55–80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03870" y="3009519"/>
            <a:ext cx="605790" cy="371475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35290" y="287921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048202655503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 · 1 смак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· Восторг +1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088090948421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32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048202655503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36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3 смаки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Onde · Ідеал +4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0880917881508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Humanwell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Космос · Таврія В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0590738189656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42 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Восторг · Клас +2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0893618166079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Ямчан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46 ₴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ЧудоМаркет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4,5 г — найходовіша, 64 % присутності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8028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8028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4,5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69364"/>
            <a:ext cx="1577340" cy="24536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88 · 64 %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25 ·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29–48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3362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3362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1587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302764"/>
            <a:ext cx="699048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39228" y="21587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39 · 28 %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1587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16 ·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1587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1587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29–98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1587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61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6921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8696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8696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6921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836164"/>
            <a:ext cx="89621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9801" y="26921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 · 4 %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6921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5 ·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6921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6921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46–52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6921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52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34030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34030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32255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3369564"/>
            <a:ext cx="71697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11877" y="32255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 · 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32255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32255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32255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30–32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32255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758946"/>
            <a:ext cx="6446520" cy="53340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93649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93649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758946"/>
            <a:ext cx="65151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2,7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902964"/>
            <a:ext cx="35848" cy="245364"/>
          </a:xfrm>
          <a:prstGeom prst="rect">
            <a:avLst/>
          </a:prstGeom>
          <a:solidFill>
            <a:srgbClr val="8D93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476028" y="37589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1 %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758946"/>
            <a:ext cx="6858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758946"/>
            <a:ext cx="4114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758946"/>
            <a:ext cx="109728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51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758946"/>
            <a:ext cx="82296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51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ROLL Original · 2,5 г  ×3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30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51 ₴ → наша нижча на 22 ₴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DOUBLE ROLL Original · 5 г  ×2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53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47 поз., типова 42 ₴ → наша вища на 11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каталог 1 з 2 — 29–52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48202655503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Рол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30–32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091519094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Традиційні, з оливковою олією, зі смаком кімчі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0909484211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Shin-Ock-Dong-Ja оригінальний смак, чорниця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29–49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0909484246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Гострий, з оливковою олією, з васабі +2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82026555033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Теріякі, класичні, з васабі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33–47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3 смаки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Onde +5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482017846447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Royal Tiger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Традиційний, зі смаком васабі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2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Ідеал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091788150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Humanwell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Зелений чай, гострий кімчі, дитячі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40–42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Космос +1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590738189651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Том Ям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42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1 смак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23260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23260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78124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5" name="Picture 84" descr="0590738189656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9574" y="3202686"/>
            <a:ext cx="864108" cy="86410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291840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Akura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91840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смак український борщ, tрадиційний +3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840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37–44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40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5 смаків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91840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Епіцентр · Восторг +3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22292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22292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677156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0880915190923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8606" y="3202686"/>
            <a:ext cx="864108" cy="864108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4690872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Haelove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90872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кімчі, традиційний, зі смаком васабі +1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90872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29–46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90872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90872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Ultramarket +5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021324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21324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76188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3" name="Picture 102" descr="0893618166079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7638" y="3202686"/>
            <a:ext cx="864108" cy="86410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6089904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Ямчан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89904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Original, kimchi, teriyaki +1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89904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44–48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89904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 · 4 смаки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89904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ЧудоМаркет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42035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20356" y="3099816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47522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2" name="Picture 111" descr="0880100519816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46670" y="3202686"/>
            <a:ext cx="864108" cy="86410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48893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Sempio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8893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Parae Gim солоний, jaerae gim в прянощах +2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8893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46–52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8893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 · 4 смаки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8893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49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каталог 2 з 2 — 51–98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08832986179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Dong Won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Kimmy зі смаком кімчі, kimmy зі смаком васабі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51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2,7 г · 2 смаки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ЧудоМаркет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011285425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Roasted Seaweed оригінальний смак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52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 · 1 смак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88093957500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Kimnori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Kwang Original, spicy, teriyaki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77–98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3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Ultramarket · Ашан +3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502155400531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морських водоростей чилі органічні 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84–89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 · 5 смаків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Ultramarket · Зараз +3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НОРІ-СНЕК У МІНІ-ПАКЕТІ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Міні-пакет: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593949"/>
            <a:ext cx="10287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59337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Ock Dong Ja 6, Haelove 4, Humanwell 3, Kimnori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648920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31–80 ₴ · типова 41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746646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797546"/>
            <a:ext cx="8572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9726" y="1746646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762934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Ock Dong Ja 7, Haelove 4, Clearspring 3, Kimnori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852517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31–89 ₴ · типова 40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1950243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950243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001142"/>
            <a:ext cx="8001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2576" y="1950243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1966531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Ock Dong Ja 4, Haelove 3, Clearspring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056114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30–88 ₴ · типова 38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153840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204739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93976" y="2153840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170128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Kimnori 3, Clearspring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259711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40–89 ₴ · типова 80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357437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357437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2408336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93976" y="2357437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373725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Kimnori 3, Clearspring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2463307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40–89 ₴ · типова 80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561034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2611933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3976" y="2561034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2577322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Ямчан 4, Kimnori 3, Norris 2, Humanwell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666904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36–80 ₴ · типова 46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764631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2764631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2815530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93976" y="2764631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2780919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Akura 6, Norris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2870501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30–42 ₴ · типова 42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2968228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3019127"/>
            <a:ext cx="5715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93976" y="2968228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984515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Akura 6, Norris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3074098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30–42 ₴ · типова 42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171825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3171825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3222724"/>
            <a:ext cx="5143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36826" y="3171825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3188112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Akura 3, Norris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3277695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36–45 ₴ · типова 42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3375421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74470" y="3426321"/>
            <a:ext cx="5143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36826" y="3375421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80360" y="3391709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Ямчан 4, Akura 3, Dong Won 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481292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42–51 ₴ · типова 46 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579018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3579018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74470" y="3629917"/>
            <a:ext cx="3429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65376" y="3579018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80360" y="3595306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3, Akura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3684889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34–42 ₴ · типова 40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" y="3782615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74470" y="3833514"/>
            <a:ext cx="2857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08226" y="3782615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798903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Haelove 4, Norris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80360" y="3888486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30–45 ₴ · типова 43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5196" y="3986212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3776" y="3986212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74470" y="4037111"/>
            <a:ext cx="2286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51076" y="3986212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80360" y="4002500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Chef 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4092082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 ₴ · типова 31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4189809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74470" y="4240708"/>
            <a:ext cx="22860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751076" y="4189809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0360" y="4206097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2, Royal Tiger 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295679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36–40 ₴ · типова 39 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25196" y="4393406"/>
            <a:ext cx="4800600" cy="2035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3776" y="4393406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74470" y="4444305"/>
            <a:ext cx="1714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693926" y="4393406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80360" y="4409694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Sempio 2, Clearspring 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4499276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52–87 ₴ · типова 52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93776" y="4597003"/>
            <a:ext cx="96012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474470" y="4647902"/>
            <a:ext cx="57150" cy="10179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79626" y="4597003"/>
            <a:ext cx="342900" cy="2035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613290"/>
            <a:ext cx="2331720" cy="101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Humanwell 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80360" y="4702873"/>
            <a:ext cx="2331720" cy="814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 ₴ · типова 42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17820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72684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59982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14846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158380" y="1625346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13244" y="1639062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049920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049920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17820" y="1872234"/>
            <a:ext cx="116723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684" y="1885950"/>
            <a:ext cx="89291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65595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65595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653631" y="1872234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708495" y="1885950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432700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432700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720736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775600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331098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331098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417820" y="2119122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72684" y="2132838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028182" y="2146554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8182" y="214655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417820" y="253060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417820" y="254431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417820" y="2818638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72684" y="2832354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971946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71946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59982" y="2818638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14846" y="2832354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926580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926580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214616" y="2818638"/>
            <a:ext cx="94228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269480" y="2832354"/>
            <a:ext cx="66796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937449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937449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17820" y="306552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72684" y="307924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59982" y="3065526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14846" y="3079242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151522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1522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439558" y="306552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494422" y="307924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8049920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049920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417820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472684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16218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1082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926580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26580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214616" y="3312414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69480" y="3326130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993684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993684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417820" y="3723894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417820" y="3737610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2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417820" y="4011930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472684" y="4025646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5998006" y="4011930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052870" y="4025646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19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 8–40 г: 19 позицій, медіана 72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Чипси Hokkaido Club і Norris 25 г, сендвічі Norris 8 г, Ock Dong Ja 15–25 г, Ocean Snack 40 г. Сюди ставимо ZEK Sandwich і TMK SEAWEED/MINI.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19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лінійок · 4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72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21–151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4820A"/>
                </a:solidFill>
                <a:latin typeface="Segoe UI"/>
              </a:rPr>
              <a:t>25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58 % присутності на полицях · медіана 70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820A"/>
                </a:solidFill>
                <a:latin typeface="Segoe UI"/>
              </a:rPr>
              <a:t>8–40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123444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36342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123444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36342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828925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Hokkaido Club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" y="2872439"/>
            <a:ext cx="925830" cy="7413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27732" y="2828925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2020" y="2871542"/>
            <a:ext cx="605790" cy="50945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63440" y="2741240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781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35–55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2489454"/>
            <a:ext cx="605790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1218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55–80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55130" y="3253631"/>
            <a:ext cx="605790" cy="12736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8655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80–110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29500" y="2489454"/>
            <a:ext cx="605790" cy="8915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92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110–150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3529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6" name="Picture 65" descr="048202655503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 · 1 смак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 · Восторг · Клас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048202655502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 · 3 смаки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· Ідеал +4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2" name="Picture 81" descr="048201724429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Hokkaido Club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NOVUS · Ultramarket +5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048202655501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71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4 смаки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· Onde +3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90948430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96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1 смак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048202989000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Ocean Snack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4 смаки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Чипси: 25 г — найходовіша, 58 % присутності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66357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66357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49635"/>
            <a:ext cx="1577340" cy="211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49 · 58 %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9 ·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47–151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226689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226689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85677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8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209967"/>
            <a:ext cx="61162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1801" y="2085677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19 · 23 %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85677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85677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85677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21–34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85677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546009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687020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687020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546009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670298"/>
            <a:ext cx="257524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97704" y="2546009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 · 10 %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546009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546009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546009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111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546009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3147352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3147352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3006340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10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3130630"/>
            <a:ext cx="9657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36751" y="3006340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 · 4 %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3006340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3006340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3006340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30–31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3006340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31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466672"/>
            <a:ext cx="6446520" cy="460331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607683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607683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466672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590961"/>
            <a:ext cx="9657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6751" y="3466672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 · 4 %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466672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466672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466672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80–124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466672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96 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2628" y="4068015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4068015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927003"/>
            <a:ext cx="65151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20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4051293"/>
            <a:ext cx="64381" cy="211752"/>
          </a:xfrm>
          <a:prstGeom prst="rect">
            <a:avLst/>
          </a:prstGeom>
          <a:solidFill>
            <a:srgbClr val="DFBA7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04561" y="3927003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2 %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927003"/>
            <a:ext cx="68580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927003"/>
            <a:ext cx="4114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927003"/>
            <a:ext cx="109728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139–151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927003"/>
            <a:ext cx="822960" cy="4603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145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SEAWEED Original · 12 г  ×3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108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5 поз., типова 33 ₴ → наша вища на 75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Wow MINI Original · 10 г  ×2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2F7A3E"/>
                </a:solidFill>
                <a:latin typeface="Segoe UI"/>
              </a:rPr>
              <a:t>наша полиця 109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 поз., типова 32 ₴ → наша вища на 77 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Sandwich Meat Floss · 25 г  ×2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79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11 поз., типова 72 ₴ → наша вища на 7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19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сендвічі: каталог — 21–151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48202655503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фруктами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30–31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 · Восторг +1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8202655502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Сендвіч з кунжутом, сендвіч з гарбузовим насінням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21–34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+5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01724429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Hokkaido Club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Солоні, сир, васабі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51–71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NOVUS +6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48202655501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Norris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васабі, з сіллю, з сиром +1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47–88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4 смаки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Епіцентр +4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90948430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кунжутною олією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80–124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1 смак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48202989000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Ocean Snack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арахісом, з кунжутом, з мигдалем та кунжутом +1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4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Восторг · Клас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0909484106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оливковою олією, з кунжутною олією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112–151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2 смаки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88090948450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кунжутною олією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139–151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г · 1 смак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НОРІ-ЧИПСИ ТА СЕНДВІЧІ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Чипси та сендвічі: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01220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61664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664044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775732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833902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1176" y="1775732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794346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896726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008414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008414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066584"/>
            <a:ext cx="102870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51176" y="2008414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027028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7, Hokkaido Club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129409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58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241096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299266"/>
            <a:ext cx="82296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45436" y="2241096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59711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Ocean Snack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362091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30–111 ₴ · типова 72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473778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473778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2531949"/>
            <a:ext cx="82296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45436" y="2473778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492393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Ocean Snack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2594773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30–111 ₴ · типова 72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706460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2764631"/>
            <a:ext cx="72009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42566" y="2706460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2725075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4, Ock Dong Ja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827455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31–145 ₴ · типова 72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939142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2939142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2997313"/>
            <a:ext cx="72009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42566" y="2939142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2957757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3060137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30–76 ₴ · типова 68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3171825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3229995"/>
            <a:ext cx="61722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39696" y="3171825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3190439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3, Ock Dong Ja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3292819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58–145 ₴ · типова 77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404507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3404507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3462677"/>
            <a:ext cx="61722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39696" y="3404507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3423121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3, Ock Dong Ja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3525501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58–139 ₴ · типова 77 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3637189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74470" y="3695359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31086" y="3637189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80360" y="3655803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758184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869871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3869871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74470" y="3928041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31086" y="3869871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80360" y="3888486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3990866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" y="4102553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74470" y="4160724"/>
            <a:ext cx="30861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31086" y="4102553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4121168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Hokkaido Club 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80360" y="4223548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58 ₴ · типова 58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5196" y="4335235"/>
            <a:ext cx="4800600" cy="23268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3776" y="4335235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74470" y="4393406"/>
            <a:ext cx="20574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28216" y="4335235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80360" y="4353850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4456230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68–70 ₴ · типова 69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4567917"/>
            <a:ext cx="96012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74470" y="4626088"/>
            <a:ext cx="102870" cy="11634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25346" y="4567917"/>
            <a:ext cx="342900" cy="2326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0360" y="4586532"/>
            <a:ext cx="2331720" cy="116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Norris 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688912"/>
            <a:ext cx="2331720" cy="93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₴ · типова 30 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1782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7268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16218" y="1625346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71082" y="163906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9528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09528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383322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438186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937449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37449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17820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472684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028182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028182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16218" y="187223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71082" y="188595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926580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26580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14616" y="1872234"/>
            <a:ext cx="111099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269480" y="1885950"/>
            <a:ext cx="83667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06156" y="1899666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06156" y="189966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17820" y="2119122"/>
            <a:ext cx="116723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472684" y="2132838"/>
            <a:ext cx="89291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65595" y="2146554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65595" y="214655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17820" y="253060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17820" y="254431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543800" y="254431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417820" y="2818638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472684" y="2832354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028182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028182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16218" y="2818638"/>
            <a:ext cx="94228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371082" y="2832354"/>
            <a:ext cx="66796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39051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039051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27087" y="2818638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81951" y="2832354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1213" y="2846070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81213" y="2846070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417820" y="306552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472684" y="307924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971946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259982" y="3065526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314846" y="3079242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926580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926580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214616" y="3065526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269480" y="3079242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993684" y="3092958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993684" y="309295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17820" y="3312414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72684" y="3326130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028182" y="3339846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17820" y="3723894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17820" y="3737610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543800" y="3737610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5417820" y="4011930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472684" y="4025646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391656" y="4011930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446520" y="4025646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084314" y="4011930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139178" y="4025646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64500" y="4011930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19364" y="4025646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ТА ТОПІНГ ·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11 позицій, медіана 105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Tao Kae Noi — єдиний бренд темпури в мережах; топінг — подрібнені норі Ock Dong Ja і Metro Chef. Конкуренти ZEK Tempura й Topping.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11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лінійок · 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105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70–528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5D4B96"/>
                </a:solidFill>
                <a:latin typeface="Segoe UI"/>
              </a:rPr>
              <a:t>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33 % присутності на полицях · медіана 77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D4B96"/>
                </a:solidFill>
                <a:latin typeface="Segoe UI"/>
              </a:rPr>
              <a:t>15–70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61722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9122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308610" cy="7413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10512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2020" y="2935224"/>
            <a:ext cx="605790" cy="44577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280492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06390" y="2489454"/>
            <a:ext cx="605790" cy="8915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781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80–110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1218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110–130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55130" y="3158109"/>
            <a:ext cx="605790" cy="22288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8655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130–160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29500" y="2712339"/>
            <a:ext cx="605790" cy="66865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60920" y="258203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160–250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3870" y="3158109"/>
            <a:ext cx="605790" cy="22288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35290" y="3027807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250+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5D4B96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4" name="Picture 63" descr="088571072307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3 смаки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088587024021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· Onde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048202931226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 · 1 смак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22292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22292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670298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8" name="Picture 87" descr="08858702428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14" y="3977640"/>
            <a:ext cx="521208" cy="52120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5266944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66944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135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90872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1 смак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90872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021324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021324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069330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6" name="Picture 95" descr="088090948471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046" y="3977640"/>
            <a:ext cx="521208" cy="52120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6665976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65976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9904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 · 1 смак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89904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2035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20356" y="38953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6836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4" name="Picture 103" descr="088090948471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2078" y="3977640"/>
            <a:ext cx="521208" cy="52120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06500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6500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8893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1 смак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8893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15 г — найходовіша, 33 %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3862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3862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34660"/>
            <a:ext cx="1577340" cy="1862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 · 33 %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70–118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14349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14349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3021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25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139530"/>
            <a:ext cx="157734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03021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6 · 33 %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3021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3021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3021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74–193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3021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43508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2628" y="254836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" y="254836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43508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40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5316" y="2544400"/>
            <a:ext cx="52578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65960" y="243508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2 · 11 %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79876" y="243508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6" y="243508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316" y="243508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126–144 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11596" y="243508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135 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2628" y="295323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295323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283995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59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294927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03070" y="283995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283995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283995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283995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528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283995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528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24482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628" y="335810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" y="335810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" y="324482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30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85316" y="335414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03070" y="324482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79876" y="324482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4256" y="324482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14316" y="324482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105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11596" y="324482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2628" y="376297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376297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64969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35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375901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703070" y="364969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64969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64969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64969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186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64969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4054565"/>
            <a:ext cx="6446520" cy="404869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52628" y="416784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2628" y="416784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516" y="4054565"/>
            <a:ext cx="65151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85316" y="4163880"/>
            <a:ext cx="262890" cy="186240"/>
          </a:xfrm>
          <a:prstGeom prst="rect">
            <a:avLst/>
          </a:prstGeom>
          <a:solidFill>
            <a:srgbClr val="A69CC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703070" y="405456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6 %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79876" y="4054565"/>
            <a:ext cx="68580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34256" y="4054565"/>
            <a:ext cx="4114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14316" y="4054565"/>
            <a:ext cx="109728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232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11596" y="4054565"/>
            <a:ext cx="822960" cy="4048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Tempura Corn · 30 г  ×3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105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4 поз., типова 111 ₴ → наша нижча на 6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Tempura Corn · 50 г  ×3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159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5 поз., типова 135 ₴ → наша вища на 24 ₴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Chicken Floss · 35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102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нижча на 83 ₴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95160" y="3525012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995160" y="3525012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091172" y="355244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Vegetables · 35 г  ×2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091172" y="369646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98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091172" y="3847338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нижча на 88 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95160" y="4197096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995160" y="4197096"/>
            <a:ext cx="34290" cy="6172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091172" y="422452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Topping Vegetables · 70 г  ×3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91172" y="436854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23A22"/>
                </a:solidFill>
                <a:latin typeface="Segoe UI"/>
              </a:rPr>
              <a:t>наша полиця 199 ₴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091172" y="4519422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3 поз., типова 186 ₴ → наша вища на 13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каталог — 70–528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88571072307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Том Ям, зі смаком васабі 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70–118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 · 3 смаки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88587024021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Hi Tempura гострі 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74–193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 +1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029312263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Metro Chef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Нарізані смажені з кунжутом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 · 1 смак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8858702428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Смажені Hi Tempura барбекю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126–144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 · 1 смак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909484718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Подрібнені з кунжутом і зеленим чаєм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186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 · 1 смак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880909484719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Ock Dong 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Подрібнені зі смаком барбекю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232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1 смак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885870242196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Tao Kae Noi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Гострі в темпурі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528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59 г · 1 смак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ТЕМПУРА Й ТОПІНГ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Темпура й топінг: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53492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76781"/>
            <a:ext cx="1028700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85843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6, Ock Dong Ja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821210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70–232 ₴ · типова 95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2077974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2211705"/>
            <a:ext cx="642937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65413" y="2077974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120767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356134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77–135 ₴ · типова 88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612898"/>
            <a:ext cx="4800600" cy="53492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612898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746629"/>
            <a:ext cx="514350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6826" y="2612898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655691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Tao Kae Noi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891058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88–528 ₴ · типова 148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3147822"/>
            <a:ext cx="96012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3281553"/>
            <a:ext cx="128587" cy="26746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51063" y="3147822"/>
            <a:ext cx="342900" cy="5349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190615"/>
            <a:ext cx="2331720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Chef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3425982"/>
            <a:ext cx="2331720" cy="2139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105 ₴ · типова 105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17820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72684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71946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9982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4846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5838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1324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17820" y="2036826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17820" y="2050542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17820" y="2324862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72684" y="2338578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71946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71946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7820" y="2736342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7820" y="2750058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43800" y="2750058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2750058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7820" y="3024378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72684" y="3038094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10478" y="3024378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65342" y="3038094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84314" y="3024378"/>
            <a:ext cx="96149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9178" y="3038094"/>
            <a:ext cx="6871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17820" y="3271266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72684" y="3284982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66713" y="3271266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21577" y="3284982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28078" y="3271266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82942" y="3284982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20736" y="3271266"/>
            <a:ext cx="73654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5600" y="3284982"/>
            <a:ext cx="4622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17820" y="3518154"/>
            <a:ext cx="56784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72684" y="3531870"/>
            <a:ext cx="29352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54242" y="3518154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09106" y="3531870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915607" y="3518154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70471" y="3531870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89443" y="3518154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944307" y="3531870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17820" y="3765042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72684" y="3778758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10478" y="3765042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65342" y="3778758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90664" y="3765042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45528" y="3778758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· 9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крекери: 9 позицій, медіана 148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Сегмент Singha Kameda і Thai-Nichi. Прямий аналог у мережах — Want Want mini 60 г; решта — Ultra Pop (аніме-серія) й органічні Clearspring.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9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лінійок · 3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60904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60904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9212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МЕДІАНА УПАКОВКИ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9212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148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9212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126–149 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6612" y="1193292"/>
            <a:ext cx="2125980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6612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309878"/>
            <a:ext cx="18516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НАЙХОДОВІША УПАКОВКА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1467612"/>
            <a:ext cx="185166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B23A3A"/>
                </a:solidFill>
                <a:latin typeface="Segoe UI"/>
              </a:rPr>
              <a:t>60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1796796"/>
            <a:ext cx="18516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92 % присутності на полицях · медіана 148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193292"/>
            <a:ext cx="1591056" cy="8092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1193292"/>
            <a:ext cx="27432" cy="80924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0628" y="1309878"/>
            <a:ext cx="131673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 spc="4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0628" y="1467612"/>
            <a:ext cx="131673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23A3A"/>
                </a:solidFill>
                <a:latin typeface="Segoe UI"/>
              </a:rPr>
              <a:t>50–60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212598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" y="2345436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53896" y="2388950"/>
            <a:ext cx="2468880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0782" y="2345436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" y="2506599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Want Want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53896" y="2550113"/>
            <a:ext cx="1481328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83230" y="2506599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6" y="2667762"/>
            <a:ext cx="973836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53896" y="2711276"/>
            <a:ext cx="493776" cy="74134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95678" y="2667762"/>
            <a:ext cx="548640" cy="1611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32020" y="212598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1748" y="2139696"/>
            <a:ext cx="3429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ПОЗИЦІЇ ЗА ЦІНОЮ УПАКОВКИ ·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6344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2915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до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781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100–125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253631"/>
            <a:ext cx="605790" cy="12736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1218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7789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125–135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55130" y="3253631"/>
            <a:ext cx="605790" cy="12736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86550" y="3123329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5226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135–145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29500" y="2489454"/>
            <a:ext cx="605790" cy="8915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0920" y="235915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663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145–150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35290" y="3250692"/>
            <a:ext cx="742950" cy="116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1000" y="3408426"/>
            <a:ext cx="81153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150+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3669030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4924" y="3682746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ПРЕДСТАВНИКИ СЕГМЕНТА · ВІД НАЙДЕШЕВШОЇ ДО НАЙДОРОЖЧОЇ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25196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73202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050215549841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" y="3977640"/>
            <a:ext cx="521208" cy="5212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69848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9848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776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3776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4228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24228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872234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69" descr="04710144900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3977640"/>
            <a:ext cx="521208" cy="52120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468880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Want Want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68880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145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92808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92808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23260" y="3895344"/>
            <a:ext cx="131673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23260" y="38953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71266" y="3963924"/>
            <a:ext cx="548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0377002719476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4982" y="3977640"/>
            <a:ext cx="521208" cy="521208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867912" y="3991356"/>
            <a:ext cx="65151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Ultra Pop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7912" y="4320540"/>
            <a:ext cx="6515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91840" y="4581144"/>
            <a:ext cx="121386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5 смаків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91840" y="4732020"/>
            <a:ext cx="1213866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Рис: ходові упаковки крекерів і чипсів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46404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Популярність — це присутність упаковки на полицях: кількість позицій × мереж, де вона стоїть (даних про продажі немає). Справа — наша полиця проти типової ціни пакетів близької ваги.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6446520" cy="2057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289304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" y="1495044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5316" y="1495044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9876" y="1495044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1495044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4316" y="149504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11596" y="1495044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" y="1625346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2628" y="1731565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" y="1731565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" y="1625346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60 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5316" y="1730847"/>
            <a:ext cx="1577340" cy="179743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625346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11 · 92 %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9876" y="1625346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8 ·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1625346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4316" y="1625346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140–149 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1596" y="1625346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" y="2122311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4BA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" y="2122311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" y="2016092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85316" y="2121594"/>
            <a:ext cx="143394" cy="179743"/>
          </a:xfrm>
          <a:prstGeom prst="rect">
            <a:avLst/>
          </a:prstGeom>
          <a:solidFill>
            <a:srgbClr val="D5939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83574" y="2016092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 · 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9876" y="2016092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 ·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6" y="2016092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316" y="2016092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126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11596" y="2016092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" y="2489135"/>
            <a:ext cx="6446520" cy="205740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" y="2509709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FFFFFF"/>
                </a:solidFill>
                <a:latin typeface="Segoe UI"/>
              </a:rPr>
              <a:t>РИСОВІ ЧИПСИ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" y="2715449"/>
            <a:ext cx="58293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" y="2715449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85316" y="2715449"/>
            <a:ext cx="24688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ПРИСУТНІСТЬ · ПОЗИЦІЙ × МЕРЕЖ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9876" y="2715449"/>
            <a:ext cx="10287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SKU ·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2715449"/>
            <a:ext cx="7543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316" y="2715449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ЦІНА, ₴ · МІН.–МАКС.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11596" y="2715449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" y="2845751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2628" y="2951970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628" y="2951970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" y="2845751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60 г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5316" y="2951252"/>
            <a:ext cx="1577340" cy="179743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2845751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15 · 43 %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9876" y="2845751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8 ·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6" y="2845751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4316" y="2845751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55–71 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11596" y="2845751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61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2628" y="3342716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2628" y="3342716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" y="3236497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50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85316" y="3341999"/>
            <a:ext cx="841248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281428" y="3236497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8 · 23 %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79876" y="3236497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34256" y="3236497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4316" y="3236497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20–42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11596" y="3236497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39 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" y="3627244"/>
            <a:ext cx="6446520" cy="39074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2628" y="3733463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2628" y="3733463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" y="3627244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85316" y="3732745"/>
            <a:ext cx="736092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76272" y="3627244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7 · 20 %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79876" y="3627244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 ·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34256" y="3627244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14316" y="3627244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50–58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911596" y="3627244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54 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628" y="4124209"/>
            <a:ext cx="178308" cy="178308"/>
          </a:xfrm>
          <a:prstGeom prst="roundRect">
            <a:avLst>
              <a:gd name="adj" fmla="val 50000"/>
            </a:avLst>
          </a:prstGeom>
          <a:solidFill>
            <a:srgbClr val="E0E2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2628" y="4124209"/>
            <a:ext cx="178308" cy="178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8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9516" y="4017990"/>
            <a:ext cx="65151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 i="0">
                <a:solidFill>
                  <a:srgbClr val="303A5D"/>
                </a:solidFill>
                <a:latin typeface="Segoe UI"/>
              </a:rPr>
              <a:t>150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85316" y="4123492"/>
            <a:ext cx="525780" cy="179743"/>
          </a:xfrm>
          <a:prstGeom prst="rect">
            <a:avLst/>
          </a:prstGeom>
          <a:solidFill>
            <a:srgbClr val="CED1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965960" y="4017990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717890"/>
                </a:solidFill>
                <a:latin typeface="Segoe UI"/>
              </a:rPr>
              <a:t>5 · 14 %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79876" y="4017990"/>
            <a:ext cx="68580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4 ·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34256" y="4017990"/>
            <a:ext cx="4114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14316" y="4017990"/>
            <a:ext cx="109728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0" i="0">
                <a:solidFill>
                  <a:srgbClr val="717890"/>
                </a:solidFill>
                <a:latin typeface="Segoe UI"/>
              </a:rPr>
              <a:t>73–135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11596" y="4017990"/>
            <a:ext cx="822960" cy="390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80" b="1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95160" y="1268730"/>
            <a:ext cx="27432" cy="14401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04888" y="1282446"/>
            <a:ext cx="17145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C4820A"/>
                </a:solidFill>
                <a:latin typeface="Segoe UI"/>
              </a:rPr>
              <a:t>НАША ПОЛИЦЯ ПРОТИ РИНКУ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995160" y="1508760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995160" y="1508760"/>
            <a:ext cx="34290" cy="6172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91172" y="1536192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Original · 42 г  ×2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91172" y="168021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B36214"/>
                </a:solidFill>
                <a:latin typeface="Segoe UI"/>
              </a:rPr>
              <a:t>наша полиця 170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91172" y="1831086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вища на 22 ₴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995160" y="2180844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95160" y="2180844"/>
            <a:ext cx="34290" cy="6172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1172" y="2208276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Original · 50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91172" y="2352294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D5B63"/>
                </a:solidFill>
                <a:latin typeface="Segoe UI"/>
              </a:rPr>
              <a:t>наша полиця 132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91172" y="2503170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нижча на 15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95160" y="2852928"/>
            <a:ext cx="1728216" cy="6172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995160" y="2852928"/>
            <a:ext cx="34290" cy="6172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91172" y="2880360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Norimaki Wasabi · 55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91172" y="3024378"/>
            <a:ext cx="15773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D5B63"/>
                </a:solidFill>
                <a:latin typeface="Segoe UI"/>
              </a:rPr>
              <a:t>наша полиця 160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91172" y="3175254"/>
            <a:ext cx="157734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ринок поруч: 9 поз., типова 148 ₴ → наша вища на 12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28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Рис: крекери та чипси: каталог — 20–149 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Картка = лінійка бренда (бренд + вага пакета). Ціна — діапазон по мережах, де лінійка знайдена; смаки з однаковою упаковкою згруповано, кількість смаків — під ціною.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050215549841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" y="1255014"/>
            <a:ext cx="864108" cy="8641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77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 соусом Тамарі органічні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4228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4228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9092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04710144900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0542" y="1255014"/>
            <a:ext cx="864108" cy="8641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92808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Want Want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808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Mini зі смаком водоростей, mini з гострим смаком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140–149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Ашан · Grono +1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3260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23260" y="1152144"/>
            <a:ext cx="1316736" cy="2743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78124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0377002719476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574" y="1255014"/>
            <a:ext cx="864108" cy="86410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291840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Ultra Pop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One Piece Барбекю, one piece кетчуп +3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5 смаків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22292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22292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77156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0594119400544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606" y="1255014"/>
            <a:ext cx="864108" cy="8641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690872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Croco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0872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Snaks Pizza зі смаком піцци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0872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20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0872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1 смак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0872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Ідеал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21324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21324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76188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0482012228430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638" y="1255014"/>
            <a:ext cx="864108" cy="8641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089904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Pikolo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томатів спайсі +2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38–42 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9904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 · 3 смаки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9904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NOVUS · Onde 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20356" y="1152144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20356" y="1152144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75220" y="1234440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0380023309116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6670" y="1255014"/>
            <a:ext cx="864108" cy="86410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488936" y="2194560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B.yond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8936" y="2331720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сиру Чеддер і томатний Чатні +2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88936" y="2571750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50–58 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88936" y="2770632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 · 3 смаки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88936" y="2894076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Космос +1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5196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80060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0380023309162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" y="3202686"/>
            <a:ext cx="864108" cy="8641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93776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Livity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Техаський барбекю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1 смак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824228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4228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879092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6" name="Picture 75" descr="0482017968367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0542" y="3202686"/>
            <a:ext cx="864108" cy="86410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92808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Trapeza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сиру, зі смаком цибулі зі сметаною +1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92808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59–62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92808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3 смаки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892808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23260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23260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278124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5" name="Picture 84" descr="0380023307014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49574" y="3202686"/>
            <a:ext cx="864108" cy="864108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3291840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Rice Up!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91840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Сир, паприка, сметана і зелена цибуля +1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91840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55–71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40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 · 4 смаки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91840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METRO · Onde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22292" y="3099816"/>
            <a:ext cx="1316736" cy="19065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22292" y="3099816"/>
            <a:ext cx="131673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677156" y="3182112"/>
            <a:ext cx="1207008" cy="9052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05902510403621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8606" y="3202686"/>
            <a:ext cx="864108" cy="864108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4690872" y="4142232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Cornellis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90872" y="4279392"/>
            <a:ext cx="1179576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Зі смаком барбекю, зі смаком сметани, зі смаком сиру +1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90872" y="4519422"/>
            <a:ext cx="11795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40" b="1" i="0">
                <a:solidFill>
                  <a:srgbClr val="1C2235"/>
                </a:solidFill>
                <a:latin typeface="Segoe UI"/>
              </a:rPr>
              <a:t>73–135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690872" y="4718304"/>
            <a:ext cx="1179576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 г · 4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90872" y="4841748"/>
            <a:ext cx="11795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СЕГМЕНТ · РИСОВІ КРЕКЕРИ ТА ЧИПСИ · ДЕ ПРОДАЄТЬСЯ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Рисові крекери та чипси: де продається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Скільки позицій цього сегмента стоїть у кожній мережі, які бренди та за яку ціну упаковки; праворуч — мережі за типом: національні — головний цільовий канал, регіональні — вхід, без позицій — вільна полиця.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447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337310"/>
            <a:ext cx="2057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БРЕНДИ · ЦІНА УПАКОВКИ, 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" y="15430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5430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470" y="1633537"/>
            <a:ext cx="10287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1176" y="15430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5720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 Pop 5, Trapeza 3, Cornellis 3, B.yond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7312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50–148 ₴ · типова 120 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9050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1995487"/>
            <a:ext cx="7715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94001" y="19050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9339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Rice Up! 4, Pikolo 3, Want Want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0932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39–145 ₴ · типова 63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" y="22669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22669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74470" y="2357437"/>
            <a:ext cx="6858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08276" y="22669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2959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Rice Up! 4, B.yond 3, Livity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4551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50–63 ₴ · типова 60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26289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74470" y="2719387"/>
            <a:ext cx="68580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08276" y="26289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6578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B.yond 3, Trapeza 3, Cornellis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28171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50–135 ₴ · типова 60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" y="29908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9908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74470" y="3081337"/>
            <a:ext cx="25717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79651" y="29908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30198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Want Want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31790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144–147 ₴ · типова 145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33528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4470" y="3443287"/>
            <a:ext cx="25717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79651" y="33528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33817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Pikolo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35410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 ₴ · типова 39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37147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37147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74470" y="3805237"/>
            <a:ext cx="171450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93926" y="37147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37437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Clearspring 1, Want Want 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39029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126–147 ₴ · типова 136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407670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470" y="4167187"/>
            <a:ext cx="857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08201" y="407670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410565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Pikolo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426491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 ₴ · типова 39 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4438650"/>
            <a:ext cx="4800600" cy="36195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" y="4438650"/>
            <a:ext cx="96012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68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74470" y="4529137"/>
            <a:ext cx="85725" cy="180975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08201" y="4438650"/>
            <a:ext cx="3429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4467606"/>
            <a:ext cx="233172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Croco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4626864"/>
            <a:ext cx="2331720" cy="144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₴ · типова 20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17820" y="133731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17820" y="135102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Національні мережі · 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543800" y="135102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1782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7268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2818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16218" y="1625346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71082" y="1639062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70344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58380" y="1625346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13244" y="1639062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768742" y="1652778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7820" y="2036826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17820" y="2050542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Регіональні мережі · 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43800" y="2050542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РЕГІОНАЛЬНИЙ ВХІД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17820" y="2324862"/>
            <a:ext cx="88605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72684" y="2338578"/>
            <a:ext cx="61173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Космос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084417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084417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72453" y="2324862"/>
            <a:ext cx="77358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7317" y="2338578"/>
            <a:ext cx="49926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26580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26580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14616" y="2324862"/>
            <a:ext cx="99852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69480" y="2338578"/>
            <a:ext cx="72420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Таврія 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993684" y="2352294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993684" y="2352294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17820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72684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Торба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28182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028182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16218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71082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Grono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26580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26580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214616" y="2571750"/>
            <a:ext cx="82981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69480" y="2585466"/>
            <a:ext cx="55549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Ідеал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824978" y="2599182"/>
            <a:ext cx="178308" cy="1371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824978" y="2599182"/>
            <a:ext cx="17830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417820" y="2983230"/>
            <a:ext cx="3291840" cy="2057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417820" y="2996946"/>
            <a:ext cx="219456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Без позицій сегмента ·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43800" y="2996946"/>
            <a:ext cx="1165860" cy="16459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43800" y="2996946"/>
            <a:ext cx="11658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ВІЛЬНА ПОЛИЦЯ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417820" y="3271266"/>
            <a:ext cx="624078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72684" y="3284982"/>
            <a:ext cx="34975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Зараз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10478" y="3271266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65342" y="3284982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МегаМаркет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4314" y="3271266"/>
            <a:ext cx="961491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39178" y="3284982"/>
            <a:ext cx="687171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Ultramarket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17820" y="3518154"/>
            <a:ext cx="792784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684" y="3531870"/>
            <a:ext cx="518464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Епіцентр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279184" y="3518154"/>
            <a:ext cx="736549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334048" y="3531870"/>
            <a:ext cx="462229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Восторг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084314" y="3518154"/>
            <a:ext cx="567842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9178" y="3531870"/>
            <a:ext cx="29352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Клас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720736" y="3518154"/>
            <a:ext cx="90525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775600" y="3531870"/>
            <a:ext cx="63093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ЧудоМаркет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417820" y="3765042"/>
            <a:ext cx="511606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72684" y="3778758"/>
            <a:ext cx="237286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ЕКО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998006" y="3765042"/>
            <a:ext cx="680313" cy="192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052870" y="3778758"/>
            <a:ext cx="405993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Біотус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ЗВЕДЕННЯ · БРЕНДИ ×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Який бренд у якій мережі і за 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У клітинці — типова ціна упаковки цього бренду в цій мережі, ₴. Тире — бренду там немає. Чим темніше, тим більше позицій бренду. Під назвою бренду — що саме він продає (формат і вага); хто бренд і хто його завозить — на наступному слайді.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4802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31086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Ашан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5421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1705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Зараз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2324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Епі-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центр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86659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2943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METRO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7278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3562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NOVUS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7897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4181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Ultra-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market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28516" y="1337310"/>
            <a:ext cx="353187" cy="2880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Мега-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Маркет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09135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5419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89754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6038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Космос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70373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6657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Вос-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торг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50992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7276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Клас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1611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17895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Ідеал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2230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8514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Таврія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92849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79133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Торба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3468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9752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Чудо-</a:t>
            </a:r>
          </a:p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Маркет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54087" y="1337310"/>
            <a:ext cx="353187" cy="28803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0371" y="1351026"/>
            <a:ext cx="380619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Grono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62138" y="1337310"/>
            <a:ext cx="370332" cy="2880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62138" y="1351026"/>
            <a:ext cx="370332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46186" y="1337310"/>
            <a:ext cx="370332" cy="2880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6186" y="1351026"/>
            <a:ext cx="370332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МЕРЕЖ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" y="168021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179336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/ 4,5 г; Чипси 15 / 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44802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086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25421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11705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06040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92324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86659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72943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67278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53562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7897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34181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28516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0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09135" y="1680210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95419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889754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76038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70373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56657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50992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37276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1611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17895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12230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98514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92849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79133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73468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59752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54087" y="168021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40371" y="166649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62138" y="166649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46186" y="166649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5196" y="193395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196" y="204711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3 / 4,5 г; Чипси 8 / 10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44802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31086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25421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211705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06040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92324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986659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72943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7278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353562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747897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734181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28516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14800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509135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495419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89754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76038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270373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6657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50992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37276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031611" y="1933956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017895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12230" y="1933956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98514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792849" y="1933956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779133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73468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59752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54087" y="193395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540371" y="192024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62138" y="192024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46186" y="192024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5196" y="2187702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5196" y="2300859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Темпура / топінг 15 / 25 / 40 / 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844802" y="2187702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31086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225421" y="2187702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211705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606040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92324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986659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72943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67278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353562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747897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34181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28516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114800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509135" y="218770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95419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148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889754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4876038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270373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56657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50992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37276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031611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017895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12230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398514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792849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779133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173468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159752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554087" y="218770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40371" y="217398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62138" y="217398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346186" y="217398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5196" y="2441448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25196" y="2554605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/ 4,5 г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844802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31086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225421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211705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606040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592324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86659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72943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367278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353562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747897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734181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128516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114800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09135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495419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889754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876038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270373" y="2441448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256657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50992" y="2441448"/>
            <a:ext cx="353187" cy="226314"/>
          </a:xfrm>
          <a:prstGeom prst="rect">
            <a:avLst/>
          </a:prstGeom>
          <a:solidFill>
            <a:srgbClr val="424C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637276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031611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017895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412230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398514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6792849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779133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173468" y="2441448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159752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554087" y="244144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540371" y="242773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962138" y="242773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46186" y="242773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25196" y="2695194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25196" y="2808351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г; Рис. крекери 50 г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44802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31086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225421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211705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2606040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592324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2986659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2972943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3367278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353562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3747897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3734181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4128516" y="2695194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114800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89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4509135" y="269519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4495419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87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4889754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4876038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270373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5256657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650992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637276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031611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017895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6412230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6398514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792849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779133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173468" y="269519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159752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554087" y="269519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540371" y="268147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107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7962138" y="268147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8346186" y="268147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25196" y="294894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25196" y="306209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г; Темпура / топінг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844802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831086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225421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211705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2606040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592324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2986659" y="2948940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972943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3367278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3353562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3747897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734181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4128516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114800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509135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4495419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4889754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4876038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5270373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5256657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5650992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637276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6031611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6017895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6412230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6398514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6792849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779133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7173468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159752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7554087" y="294894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540371" y="293522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962138" y="293522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8346186" y="293522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25196" y="320268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25196" y="331584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844802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831086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2225421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211705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2606040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2592324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2986659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2972943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3367278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3353562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3747897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734181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4128516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4114800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4509135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495419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4889754" y="3202686"/>
            <a:ext cx="353187" cy="226314"/>
          </a:xfrm>
          <a:prstGeom prst="rect">
            <a:avLst/>
          </a:prstGeom>
          <a:solidFill>
            <a:srgbClr val="555E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876038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148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5270373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256657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5650992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5637276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6031611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6017895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412230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398514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6792849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6779133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7173468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7159752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7554087" y="320268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7540371" y="318897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7962138" y="318897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8346186" y="318897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25196" y="3456432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25196" y="3569589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1844802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831086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225421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211705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2606040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2592324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986659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972943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367278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3353562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747897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3734181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28516" y="3456432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4114800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509135" y="3456432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4495419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89754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4876038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270373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5256657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650992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5637276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031611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017895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6412230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398514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792849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779133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173468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7159752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554087" y="3456432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7540371" y="3442716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962138" y="344271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346186" y="3442716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25196" y="3710178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425196" y="3823335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844802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1831086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2225421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2211705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2606040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2592324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2986659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972943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3367278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3353562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3747897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3734181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4128516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4114800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4509135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4495419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4889754" y="3710178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4876038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5270373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5256657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5650992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637276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6031611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6017895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6412230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98514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6792849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6779133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7173468" y="3710178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7159752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7554087" y="3710178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7540371" y="3696462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7962138" y="369646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46186" y="3696462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425196" y="3963924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425196" y="4077081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5 г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1844802" y="396392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1831086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46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2225421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2211705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2606040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2592324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2986659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2972943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3367278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3353562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3747897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3734181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4128516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4114800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4509135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4495419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4889754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4876038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270373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5256657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650992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5637276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6031611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6017895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6412230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398514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792849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779133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173468" y="3963924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159752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554087" y="3963924"/>
            <a:ext cx="353187" cy="226314"/>
          </a:xfrm>
          <a:prstGeom prst="rect">
            <a:avLst/>
          </a:prstGeom>
          <a:solidFill>
            <a:srgbClr val="9097A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540371" y="3950208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52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7962138" y="395020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8346186" y="3950208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425196" y="4217670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425196" y="4330827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Чипси 40 г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1844802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1831086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2225421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2211705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2606040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2592324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2986659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2972943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3367278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3353562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3747897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3734181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4128516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4114800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4509135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4495419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4889754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4876038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5270373" y="4217670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5256657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111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5650992" y="4217670"/>
            <a:ext cx="353187" cy="226314"/>
          </a:xfrm>
          <a:prstGeom prst="rect">
            <a:avLst/>
          </a:prstGeom>
          <a:solidFill>
            <a:srgbClr val="6971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5637276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111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6031611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6017895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6412230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6398514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6792849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779133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7173468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7159752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554087" y="4217670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540371" y="4203954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62138" y="420395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8346186" y="4203954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425196" y="4471416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Humanwell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425196" y="4584573"/>
            <a:ext cx="1337310" cy="126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1844802" y="4471416"/>
            <a:ext cx="353187" cy="226314"/>
          </a:xfrm>
          <a:prstGeom prst="rect">
            <a:avLst/>
          </a:prstGeom>
          <a:solidFill>
            <a:srgbClr val="7C8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1831086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FFFFFF"/>
                </a:solidFill>
                <a:latin typeface="Segoe UI"/>
              </a:rPr>
              <a:t>40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225421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2211705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606040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592324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2986659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2972943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3367278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3353562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3747897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734181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4128516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4114800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509135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495419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4889754" y="4471416"/>
            <a:ext cx="353187" cy="226314"/>
          </a:xfrm>
          <a:prstGeom prst="rect">
            <a:avLst/>
          </a:prstGeom>
          <a:solidFill>
            <a:srgbClr val="A3AA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4876038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462" name="Rectangle 461"/>
          <p:cNvSpPr/>
          <p:nvPr/>
        </p:nvSpPr>
        <p:spPr>
          <a:xfrm>
            <a:off x="5270373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5256657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4" name="Rectangle 463"/>
          <p:cNvSpPr/>
          <p:nvPr/>
        </p:nvSpPr>
        <p:spPr>
          <a:xfrm>
            <a:off x="5650992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5637276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6031611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6017895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68" name="Rectangle 467"/>
          <p:cNvSpPr/>
          <p:nvPr/>
        </p:nvSpPr>
        <p:spPr>
          <a:xfrm>
            <a:off x="6412230" y="4471416"/>
            <a:ext cx="353187" cy="226314"/>
          </a:xfrm>
          <a:prstGeom prst="rect">
            <a:avLst/>
          </a:prstGeom>
          <a:solidFill>
            <a:srgbClr val="A3AA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6398514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" b="1" i="0">
                <a:solidFill>
                  <a:srgbClr val="303A5D"/>
                </a:solidFill>
                <a:latin typeface="Segoe UI"/>
              </a:rPr>
              <a:t>42</a:t>
            </a:r>
          </a:p>
        </p:txBody>
      </p:sp>
      <p:sp>
        <p:nvSpPr>
          <p:cNvPr id="470" name="Rectangle 469"/>
          <p:cNvSpPr/>
          <p:nvPr/>
        </p:nvSpPr>
        <p:spPr>
          <a:xfrm>
            <a:off x="6792849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6779133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7173468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159752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7554087" y="4471416"/>
            <a:ext cx="353187" cy="226314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7540371" y="4457700"/>
            <a:ext cx="380619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A5ABBD"/>
                </a:solidFill>
                <a:latin typeface="Segoe UI"/>
              </a:rPr>
              <a:t>–</a:t>
            </a:r>
          </a:p>
        </p:txBody>
      </p:sp>
      <p:sp>
        <p:nvSpPr>
          <p:cNvPr id="476" name="TextBox 475"/>
          <p:cNvSpPr txBox="1"/>
          <p:nvPr/>
        </p:nvSpPr>
        <p:spPr>
          <a:xfrm>
            <a:off x="7962138" y="445770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8346186" y="4457700"/>
            <a:ext cx="370332" cy="2537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78" name="TextBox 47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БРЕНДИ · ЩО ЦЕ І ХТО СТОЇТЬ ЗА НИМИ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Бренди на полиці: що продають і хто завозить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Формат і ціна — з каталогів мереж. Імпортер і країна — з митної бази (за описами декларацій і назвою імпортера); якщо в базі бренд не знайдено, так і написано — власника бренду не вгадуємо.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57884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57884"/>
            <a:ext cx="10972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БРЕНД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9636" y="1357884"/>
            <a:ext cx="26746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ЩО ПРОДАЄ · ФОРМАТ І 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8546" y="1357884"/>
            <a:ext cx="3429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1357884"/>
            <a:ext cx="41148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МЕРЕЖ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5796" y="1357884"/>
            <a:ext cx="9601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УПАКОВКИ, 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1357884"/>
            <a:ext cx="164592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ІМПОРТЕР В УКРАЇНІ (МИТНА БАЗА)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4706" y="135788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ВИРОБНИК / КРАЇНА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" y="1591056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1591056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Ock Dong 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9636" y="1591056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/ 4,5 г; Чипси 15 / 20 / 25 г; Темпура / топінг 35 / 70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546" y="1591056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1591056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5796" y="1591056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31–232 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1591056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Оріентал Мерчант, Азіатік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4706" y="1591056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1802282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Norris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9636" y="1802282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3 / 4,5 г; Чипси 8 / 10 / 25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8546" y="1802282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1802282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5796" y="1802282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30–76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1802282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Норріс Груп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4706" y="1802282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2013508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2013508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Tao Kae Noi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59636" y="2013508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Темпура / топінг 15 / 25 / 40 / 59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8546" y="2013508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45736" y="2013508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25796" y="2013508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70–528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4496" y="2013508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Фоззі Коммерс, Оріентал Мерчант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4706" y="2013508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Таїланд (Taokaenoi Food)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776" y="2224735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Akura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59636" y="2224735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/ 4,5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8546" y="2224735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5736" y="2224735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25796" y="2224735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41–42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4496" y="2224735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Оріенталь Плюс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4706" y="2224735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" y="2435961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3776" y="2435961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59636" y="2435961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г; Рис. крекери 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8546" y="2435961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45736" y="2435961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25796" y="2435961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84–126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54496" y="2435961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Бюро Вин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34706" y="2435961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 (Sahm Yook Sea Foods)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3776" y="2647188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Metro Chef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59636" y="2647188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г; Темпура / топінг 30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8546" y="2647188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45736" y="2647188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796" y="2647188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31–105 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2647188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Metro Cash &amp; Carry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34706" y="2647188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5196" y="2858414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" y="2858414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Ultra Pop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59636" y="2858414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8546" y="2858414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45736" y="2858414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25796" y="2858414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54496" y="2858414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34706" y="2858414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3776" y="3069640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Haelove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636" y="3069640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68546" y="3069640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45736" y="3069640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25796" y="3069640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40–45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54496" y="3069640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ТД ІТС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34706" y="3069640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5196" y="3280867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3776" y="3280867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Ямчан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59636" y="3280867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4,5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68546" y="3280867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45736" y="3280867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25796" y="3280867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46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54496" y="3280867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34706" y="3280867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3776" y="3492093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Sempio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59636" y="3492093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5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68546" y="3492093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45736" y="3492093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25796" y="3492093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46–52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54496" y="3492093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34706" y="3492093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25196" y="3703320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93776" y="3703320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Ocean Snack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59636" y="3703320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Чипси 40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68546" y="3703320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45736" y="3703320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25796" y="3703320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111 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54496" y="3703320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34706" y="3703320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3776" y="3914546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Humanwell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59636" y="3914546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68546" y="3914546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45736" y="3914546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225796" y="3914546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40–42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4496" y="3914546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934706" y="3914546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4125772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93776" y="4125772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Kimnori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59636" y="4125772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Міні-пакет 4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368546" y="4125772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45736" y="4125772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225796" y="4125772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80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254496" y="4125772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34706" y="4125772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93776" y="4336999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Hokkaido Club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59636" y="4336999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Чипси 25 г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368546" y="4336999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45736" y="4336999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25796" y="4336999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58 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254496" y="4336999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934706" y="4336999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25196" y="4548225"/>
            <a:ext cx="8298180" cy="21122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93776" y="4548225"/>
            <a:ext cx="116586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Want Want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59636" y="4548225"/>
            <a:ext cx="270891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Рис. крекери 60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368546" y="4548225"/>
            <a:ext cx="34290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745736" y="4548225"/>
            <a:ext cx="41148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0" i="0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225796" y="4548225"/>
            <a:ext cx="9601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1C2235"/>
                </a:solidFill>
                <a:latin typeface="Segoe UI"/>
              </a:rPr>
              <a:t>144–147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254496" y="4548225"/>
            <a:ext cx="164592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у митній базі не знайдено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34706" y="4548225"/>
            <a:ext cx="788670" cy="2112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насправді щільна полиця: вага упаковки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36" b="0" i="0">
                <a:solidFill>
                  <a:srgbClr val="717890"/>
                </a:solidFill>
                <a:latin typeface="Segoe UI"/>
              </a:rPr>
              <a:t>Кількість позицій і медіана ціни упаковки за ваговими смугами. Золотою позначено смуги, де є наші SKU.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2072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 У ВАГОВІЙ СМУЗІ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6340" y="122072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ТИПОВА ЦІНА УПАКОВКИ (МЕДІАНА), 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7190" y="1399032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" y="1440180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до 5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522476"/>
            <a:ext cx="2948940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440180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49 · 56 %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6340" y="1522476"/>
            <a:ext cx="460857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5777" y="1440180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1440180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190" y="1933956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" y="1975104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8–15 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2057400"/>
            <a:ext cx="481459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1639" y="1975104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8 · 9 %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6340" y="2057400"/>
            <a:ext cx="570585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45505" y="1975104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52 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1975104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7190" y="2468880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" y="2510028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20–30 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2592324"/>
            <a:ext cx="842554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2734" y="2510028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14 · 16 %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6340" y="2592324"/>
            <a:ext cx="860240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35160" y="2510028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78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510028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7190" y="3003804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" y="3044952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35–60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3127248"/>
            <a:ext cx="962919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03099" y="3044952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16 · 18 %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6340" y="3127248"/>
            <a:ext cx="1602303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7223" y="3044952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146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3044952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7190" y="3538728"/>
            <a:ext cx="8401050" cy="49377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5196" y="3579876"/>
            <a:ext cx="8915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303A5D"/>
                </a:solidFill>
                <a:latin typeface="Segoe UI"/>
              </a:rPr>
              <a:t>70 г і більше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3662172"/>
            <a:ext cx="60182" cy="2194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00362" y="3579876"/>
            <a:ext cx="12344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1 · 1 %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06340" y="3662172"/>
            <a:ext cx="2194560" cy="21945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3579876"/>
            <a:ext cx="157734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717890"/>
                </a:solidFill>
                <a:latin typeface="Segoe UI"/>
              </a:rPr>
              <a:t>232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3579876"/>
            <a:ext cx="1165860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40" b="1" i="0">
                <a:solidFill>
                  <a:srgbClr val="C4820A"/>
                </a:solidFill>
                <a:latin typeface="Segoe UI"/>
              </a:rPr>
              <a:t>наші SKU: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5196" y="4183380"/>
            <a:ext cx="4080510" cy="6309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25196" y="4183380"/>
            <a:ext cx="27432" cy="6309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2356" y="4251960"/>
            <a:ext cx="3840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303A5D"/>
                </a:solidFill>
                <a:latin typeface="Segoe UI"/>
              </a:rPr>
              <a:t>ДЕ СТОЇТЬ НАШ АСОРТИМЕНТ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" y="43891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1C2235"/>
                </a:solidFill>
                <a:latin typeface="Segoe UI"/>
              </a:rPr>
              <a:t>Наші SKU є в усіх п’яти вагових смугах. Найщільніша полиця — до 5 г (49 SKU, 56 %); у смузі 35–60 г — 16 позицій ринку й 10 наших SKU (Singha, Thai-Nichi, ZEK).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42866" y="4183380"/>
            <a:ext cx="4080510" cy="63093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42866" y="4183380"/>
            <a:ext cx="27432" cy="6309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80026" y="4251960"/>
            <a:ext cx="3840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C4820A"/>
                </a:solidFill>
                <a:latin typeface="Segoe UI"/>
              </a:rPr>
              <a:t>ЦІНА ЗРОСТАЄ З ВАГОЮ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80026" y="438912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1C2235"/>
                </a:solidFill>
                <a:latin typeface="Segoe UI"/>
              </a:rPr>
              <a:t>Типова упаковка до 5 г — 42 ₴, 8–15 г — 52 ₴, 20–30 г — 78 ₴, 35–60 г — 146 ₴. Наші TMK 10–12 г стоять по 108 ₴ — у 2,1 рази вище за типову упаковку своєї смуги (52 ₴).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РИТЕЙЛ-АУДИТ · МЕРЕЖІ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з норі-снеків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0" i="0">
                <a:solidFill>
                  <a:srgbClr val="717890"/>
                </a:solidFill>
                <a:latin typeface="Segoe UI"/>
              </a:rPr>
              <a:t>Суцільна перевірка онлайн-каталогів 18 мереж. SKU — унікальні позиції норі-снеків і рисових крекерів. Праворуч: мін.–макс. (лінія) і медіана (крапка) ціни упаковки.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23444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1056" y="12344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8276" y="123444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234440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УПАКОВКИ · МІН.–МАКС. · 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23444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8289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715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23001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7261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6310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736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3211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7471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3316" y="1426464"/>
            <a:ext cx="6858" cy="2977469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4403933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1440180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486" y="1440180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91056" y="1474470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91056" y="1474470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08276" y="1488186"/>
            <a:ext cx="105809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08276" y="1474470"/>
            <a:ext cx="105809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6367" y="1488186"/>
            <a:ext cx="352697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66367" y="1474470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19064" y="1488186"/>
            <a:ext cx="470262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9064" y="1474470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89327" y="1488186"/>
            <a:ext cx="176348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89327" y="1474470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540" y="1440180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35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03761" y="1518361"/>
            <a:ext cx="2839554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20386" y="149092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1896" y="1440180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486" y="1623974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91056" y="1658264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91056" y="1658264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08276" y="1671980"/>
            <a:ext cx="881742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08276" y="1658264"/>
            <a:ext cx="88174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90018" y="1671980"/>
            <a:ext cx="352697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90018" y="1658264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42716" y="1671980"/>
            <a:ext cx="293914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42716" y="1658264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1494" y="1623974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03761" y="1702155"/>
            <a:ext cx="1821347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20386" y="1674723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1896" y="1623974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" y="1807768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9486" y="1807768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91056" y="1842058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1842058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08276" y="1855774"/>
            <a:ext cx="529045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08276" y="1842058"/>
            <a:ext cx="529045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37321" y="1855774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37321" y="1842058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0014" y="1807768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78557" y="1885950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560877" y="185851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11896" y="1807768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43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9486" y="1991563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91056" y="2025853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591056" y="2025853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08276" y="2039569"/>
            <a:ext cx="293914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08276" y="2025853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502190" y="2039569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02190" y="2025853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44882" y="1991563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78557" y="2069744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91961" y="20423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11896" y="1991563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2175357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9486" y="2175357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591056" y="2209647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91056" y="2209647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08276" y="2223363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08276" y="2209647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96104" y="2223363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96104" y="2209647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27317" y="2175357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54811" y="2253538"/>
            <a:ext cx="82347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820386" y="22261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11896" y="2175357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9486" y="2359152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591056" y="2393442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91056" y="2393442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08276" y="2407158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08276" y="2393442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96104" y="2407158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96104" y="2393442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27317" y="2359152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554811" y="2437333"/>
            <a:ext cx="82347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820386" y="240990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11896" y="2359152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58 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25196" y="2542946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9486" y="2542946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591056" y="2577236"/>
            <a:ext cx="534924" cy="11521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91056" y="2577236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НАЦ.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208276" y="2590952"/>
            <a:ext cx="23513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208276" y="2577236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443407" y="2590952"/>
            <a:ext cx="17634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443407" y="2577236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619756" y="2590952"/>
            <a:ext cx="58782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33402" y="2542946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398720" y="2621127"/>
            <a:ext cx="124839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588979" y="259369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11896" y="2542946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44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9486" y="2726740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591056" y="2761030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591056" y="2761030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08276" y="2774746"/>
            <a:ext cx="822960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208276" y="2761030"/>
            <a:ext cx="82296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031236" y="2774746"/>
            <a:ext cx="411480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031236" y="2761030"/>
            <a:ext cx="41148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442716" y="2774746"/>
            <a:ext cx="235131" cy="8778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42716" y="2761030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77847" y="2774746"/>
            <a:ext cx="117565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50277" y="2726740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95360" y="2804922"/>
            <a:ext cx="2847955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5981770" y="277749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311896" y="2726740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68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25196" y="2910535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9486" y="2910535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91056" y="2944825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591056" y="2944825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208276" y="2958541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08276" y="2944825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796104" y="2958541"/>
            <a:ext cx="411480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796104" y="2944825"/>
            <a:ext cx="411480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07584" y="2958541"/>
            <a:ext cx="293914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07584" y="2944825"/>
            <a:ext cx="29391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56362" y="2910535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378557" y="2988716"/>
            <a:ext cx="1984328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6002353" y="296128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11896" y="2910535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69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9486" y="3094329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591056" y="3128619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591056" y="3128619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208276" y="3142335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208276" y="3128619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796104" y="3142335"/>
            <a:ext cx="47026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796104" y="3128619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21231" y="3094329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78557" y="3172510"/>
            <a:ext cx="1369371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539035" y="31450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11896" y="3094329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25196" y="3278124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9486" y="3278124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591056" y="3312414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591056" y="3312414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208276" y="3326130"/>
            <a:ext cx="58782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2208276" y="3312414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96104" y="3326130"/>
            <a:ext cx="47026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796104" y="3312414"/>
            <a:ext cx="470262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21231" y="3278124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378557" y="3356305"/>
            <a:ext cx="1369371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5539035" y="33288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11896" y="3278124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42 ₴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9486" y="3461918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591056" y="3496208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591056" y="3496208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2208276" y="3509924"/>
            <a:ext cx="235131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208276" y="3496208"/>
            <a:ext cx="235131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443407" y="3509924"/>
            <a:ext cx="587828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443407" y="3496208"/>
            <a:ext cx="58782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086100" y="3461918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5378557" y="3540099"/>
            <a:ext cx="777853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5666269" y="351266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8311896" y="3461918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49 ₴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425196" y="3645712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9486" y="3645712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591056" y="3680002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591056" y="3680002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2208276" y="3693718"/>
            <a:ext cx="529045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208276" y="3680002"/>
            <a:ext cx="529045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792185" y="3645712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5588584" y="3723894"/>
            <a:ext cx="157939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5614644" y="369646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8311896" y="3645712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46 ₴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9486" y="3829507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591056" y="3863797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591056" y="3863797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208276" y="3877513"/>
            <a:ext cx="352697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208276" y="3863797"/>
            <a:ext cx="352697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560973" y="3877513"/>
            <a:ext cx="58782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674620" y="3829507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5378557" y="3907688"/>
            <a:ext cx="210026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5478547" y="38802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311896" y="3829507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38 ₴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25196" y="4013301"/>
            <a:ext cx="8298180" cy="183794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9486" y="4013301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591056" y="4047591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591056" y="4047591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208276" y="4061307"/>
            <a:ext cx="176348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208276" y="4047591"/>
            <a:ext cx="176348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2384624" y="4061307"/>
            <a:ext cx="117565" cy="8778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557054" y="4013301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756605" y="4091482"/>
            <a:ext cx="1596199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6308571" y="406405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11896" y="4013301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87 ₴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59486" y="4197096"/>
            <a:ext cx="10972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591056" y="4231386"/>
            <a:ext cx="534924" cy="11521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591056" y="4231386"/>
            <a:ext cx="534924" cy="1152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РЕГІОН.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208276" y="4245102"/>
            <a:ext cx="58782" cy="87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2267058" y="4245102"/>
            <a:ext cx="117565" cy="8778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439488" y="4197096"/>
            <a:ext cx="4114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580183" y="4275277"/>
            <a:ext cx="483900" cy="27432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ounded Rectangle 212"/>
          <p:cNvSpPr/>
          <p:nvPr/>
        </p:nvSpPr>
        <p:spPr>
          <a:xfrm>
            <a:off x="5981770" y="424784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311896" y="4197096"/>
            <a:ext cx="754380" cy="1837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303A5D"/>
                </a:solidFill>
                <a:latin typeface="Segoe UI"/>
              </a:rPr>
              <a:t>68 ₴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93776" y="4620920"/>
            <a:ext cx="96012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465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139696" y="4620920"/>
            <a:ext cx="96012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29057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785616" y="4620920"/>
            <a:ext cx="96012" cy="960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93649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431536" y="4620920"/>
            <a:ext cx="96012" cy="9601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5582412" y="4600346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717890"/>
                </a:solidFill>
                <a:latin typeface="Segoe UI"/>
              </a:rPr>
              <a:t>Ліворуч — скільки позицій нори-снеків і рисових крекерів стоїть у кожній мережі; праворуч — чотири канали: що в них знайшли, за які гроші і що це означає для нашого асортименту.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" y="1337310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ПОЗИЦІЙ У МЕРЕЖІ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" y="1543050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6736" y="1592813"/>
            <a:ext cx="2331720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6462" y="1543050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" y="1727358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6736" y="1777122"/>
            <a:ext cx="1798755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63497" y="1727358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" y="1911667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Зараз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6736" y="1961430"/>
            <a:ext cx="1732134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6876" y="1911667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" y="2095976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16736" y="2145739"/>
            <a:ext cx="1465652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0394" y="2095976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" y="2280285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16736" y="2330048"/>
            <a:ext cx="1265790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0532" y="2280285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" y="2464593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Восторг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16736" y="2514357"/>
            <a:ext cx="1199170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3912" y="2464593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" y="2648902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Клас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16736" y="2698665"/>
            <a:ext cx="1199170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3912" y="2648902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" y="2833211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6736" y="2882974"/>
            <a:ext cx="999308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64050" y="2833211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" y="3017520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Ідеал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16736" y="3067283"/>
            <a:ext cx="932688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7430" y="3017520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" y="3201828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Ultramarket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16736" y="3251592"/>
            <a:ext cx="866067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30809" y="3201828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" y="3386137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МегаМаркет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16736" y="3435900"/>
            <a:ext cx="866067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30809" y="3386137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" y="3570446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ЧудоМаркет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16736" y="3620209"/>
            <a:ext cx="599585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64327" y="3570446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" y="3754755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16736" y="3804518"/>
            <a:ext cx="532964" cy="8478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97706" y="3754755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" y="3939063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Торба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16736" y="3988827"/>
            <a:ext cx="466344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31086" y="3939063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6" y="4123372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16736" y="4173135"/>
            <a:ext cx="333102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97844" y="4123372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" y="4307681"/>
            <a:ext cx="836676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16736" y="4357444"/>
            <a:ext cx="199861" cy="84782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4603" y="4307681"/>
            <a:ext cx="548640" cy="1843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464972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6" y="462915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національні (7)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0" y="4649724"/>
            <a:ext cx="89154" cy="89154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83080" y="4629150"/>
            <a:ext cx="1234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регіональні (9)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83380" y="1337310"/>
            <a:ext cx="4539996" cy="11109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83380" y="1337310"/>
            <a:ext cx="34290" cy="1110996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20540" y="1392174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Супермаркети · 16 мереж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509510" y="1405890"/>
            <a:ext cx="1131570" cy="150876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09510" y="1405890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20540" y="1611630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мініпакети 4–5 г (42 ₴ типова), чипси 25 г (47–88 ₴), темпура Tao Kae Noi — лише Onde, Ашан, Зараз, рисові крекери Want Want mini 60 г (140–149 ₴) — Grono, Onde, Ашан.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20540" y="1899666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Постачальники за митною базою: Metro Cash &amp; Carry (Metro Chef), Норріс Груп, ТД ІТС (Haelove), Оріенталь Плюс (Akura).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20540" y="2187702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через мережі йдуть мініпакети — це TMK ROLL / DOUBLE; ZEK й рисові крекери в мережах майже без конкурентів.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3380" y="2503170"/>
            <a:ext cx="4539996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83380" y="2503170"/>
            <a:ext cx="34290" cy="8778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20540" y="2558034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Азійські інтернет-магазини · Asia Foods, Японський Квартал, До Смаку, Суші Повар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09510" y="2571750"/>
            <a:ext cx="1131570" cy="15087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09510" y="2571750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20540" y="2832354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Tao Kae Noi Hot &amp; Spicy 15 г — 107 ₴, Wasabi 15 г — 78 ₴, Roll 6 × 3 г — 89 ₴; Kimnori 5 г — 55 ₴; Akura 4,5 г — 35 ₴; Want Want 160 г — 357 ₴.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20540" y="3120390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тут стоять формати 15–160 г, яких немає в мережах, — місце для ZEK Tempura / Topping і рисових крекерів.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83380" y="3435858"/>
            <a:ext cx="4539996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83380" y="3435858"/>
            <a:ext cx="34290" cy="82296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320540" y="3490722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Маркетплейси · Rozetka, Prom.ua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509510" y="3504438"/>
            <a:ext cx="1131570" cy="150876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09510" y="3504438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20540" y="3710178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Знайшли: Akura 3 × 4,5 г — 129 ₴ і 89 ₴ (Rozetka); Tao Kae Noi Big Roll 6 × 3 г — 154,85 ₴; Edward &amp; Sons 100 г — 351 ₴; опт Akura 72 × 4,5 г — 1 820 ₴ (Prom.ua).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20540" y="3998214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Для нас: ціни тут вищі за мережі, є опт і преміум — канал для невеликих партій.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83380" y="4313682"/>
            <a:ext cx="4539996" cy="521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83380" y="4313682"/>
            <a:ext cx="34290" cy="521208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20540" y="4368546"/>
            <a:ext cx="3086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303A5D"/>
                </a:solidFill>
                <a:latin typeface="Segoe UI"/>
              </a:rPr>
              <a:t>HoReCa · суші-бари, азійські ресторани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09510" y="4382262"/>
            <a:ext cx="1131570" cy="150876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09510" y="4382262"/>
            <a:ext cx="113157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НЕ ОХОПЛЕНО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20540" y="4588002"/>
            <a:ext cx="42862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•  У каталогах мереж є листи норі для суші (Katana, JS, Hokkaido Club, Akura) — інша категорія, у зріз не входить. Окремий аудит HoReCa не проводили.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Мережі — каталоги zakaz.ua, 07.10.2026; імпортери — митна база. Онлайн-магазини й маркетплейси — оголошення, знайдені пошуком; повного аудиту цих каналів не проводили, ціни можуть змінитись.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ЦІНОУТВОРЕННЯ · SINGHA KAMEDA, THAI-NICHI, TMK · KOKIRI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" y="994410"/>
            <a:ext cx="8298180" cy="9464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0698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 — ЗА НЕЇ МИ ПРОДАЄМО МЕРЕЖІ (100 %)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1261872"/>
            <a:ext cx="2470349" cy="2606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1261872"/>
            <a:ext cx="2490923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Собівартість 45 %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3853" y="1261872"/>
            <a:ext cx="1363272" cy="2606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3853" y="1261872"/>
            <a:ext cx="1383846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7700" y="1261872"/>
            <a:ext cx="1640041" cy="2606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7700" y="1261872"/>
            <a:ext cx="1660615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Наша маржа 30 %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315" y="1261872"/>
            <a:ext cx="2193580" cy="26060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8315" y="1261872"/>
            <a:ext cx="2214154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Націнка магазину +40 %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1563624"/>
            <a:ext cx="5535385" cy="10287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2930" y="1577340"/>
            <a:ext cx="553538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= ціна партнеру (ціна, за якою купує мережа)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1748790"/>
            <a:ext cx="77495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ПОЛИЦЯ (ціна покупцю) = ціна партнеру × 1,40 · ціна партнеру = собівартість ÷ 0,45 · бонус 25 % і маржа 30 % — частки ціни партнеру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" y="204368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ПОЗИЦІЯ (КОЖЕН SKU)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8820" y="204368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ІЗ ЧОГО СКЛАДАЄТЬСЯ ПОЛИЦЯ, ₴ ЗА УПАКОВКУ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67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" y="222885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" y="2228850"/>
            <a:ext cx="34290" cy="153325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22885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23110" y="2256282"/>
            <a:ext cx="608820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23110" y="2242566"/>
            <a:ext cx="62253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45646" y="2256282"/>
            <a:ext cx="33213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45646" y="2242566"/>
            <a:ext cx="34585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91499" y="2256282"/>
            <a:ext cx="40130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91499" y="2242566"/>
            <a:ext cx="41502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06523" y="2256282"/>
            <a:ext cx="53964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6523" y="2242566"/>
            <a:ext cx="5533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753" y="222885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35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226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$1,215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67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" y="2402749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" y="2402749"/>
            <a:ext cx="34290" cy="153325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" y="2402749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42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23110" y="2430181"/>
            <a:ext cx="608820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23110" y="2416465"/>
            <a:ext cx="62253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45646" y="2430181"/>
            <a:ext cx="33213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45646" y="2416465"/>
            <a:ext cx="34585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1499" y="2430181"/>
            <a:ext cx="40130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1499" y="2416465"/>
            <a:ext cx="41502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06523" y="2430181"/>
            <a:ext cx="53964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06523" y="2416465"/>
            <a:ext cx="5533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14753" y="2402749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170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435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8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226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$1,215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67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" y="2576648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25196" y="2576648"/>
            <a:ext cx="34290" cy="153325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" y="2576648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23110" y="2604080"/>
            <a:ext cx="470328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23110" y="2590364"/>
            <a:ext cx="48404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07154" y="2604080"/>
            <a:ext cx="25519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07154" y="2590364"/>
            <a:ext cx="26891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76067" y="2604080"/>
            <a:ext cx="30898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76067" y="2590364"/>
            <a:ext cx="32269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98763" y="2604080"/>
            <a:ext cx="41654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98763" y="2590364"/>
            <a:ext cx="43026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83888" y="2576648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132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435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94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9788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5226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867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5196" y="27505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25196" y="2750547"/>
            <a:ext cx="34290" cy="153325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924" y="27505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023110" y="2777979"/>
            <a:ext cx="57170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23110" y="2764263"/>
            <a:ext cx="58541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08528" y="2777979"/>
            <a:ext cx="31151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08528" y="2764263"/>
            <a:ext cx="32523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33760" y="2777979"/>
            <a:ext cx="37656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33760" y="2764263"/>
            <a:ext cx="39027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324039" y="2777979"/>
            <a:ext cx="50665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324039" y="2764263"/>
            <a:ext cx="5203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99274" y="27505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160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435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9788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5226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$1,142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867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25196" y="29244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5196" y="2924447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924" y="29244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3110" y="2951879"/>
            <a:ext cx="9458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131415" y="2951879"/>
            <a:ext cx="4645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191585" y="2951879"/>
            <a:ext cx="5848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263789" y="2951879"/>
            <a:ext cx="8255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14925" y="29244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435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9788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5226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8867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5196" y="3098346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25196" y="3098346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34924" y="3098346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Hot Spicy 2,5 г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023110" y="3125778"/>
            <a:ext cx="9458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31415" y="3125778"/>
            <a:ext cx="4645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91585" y="3125778"/>
            <a:ext cx="5848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263789" y="3125778"/>
            <a:ext cx="8255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14925" y="3098346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435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89788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5226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8867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25196" y="32722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5196" y="3272245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34924" y="32722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Spicy Squid 2,5 г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23110" y="3299677"/>
            <a:ext cx="9458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31415" y="3299677"/>
            <a:ext cx="4645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191585" y="3299677"/>
            <a:ext cx="5848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263789" y="3299677"/>
            <a:ext cx="8255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414925" y="32722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30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1435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89788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65226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867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5196" y="34461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25196" y="3446145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4924" y="34461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2023110" y="3473577"/>
            <a:ext cx="18067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217505" y="3473577"/>
            <a:ext cx="94281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325502" y="3473577"/>
            <a:ext cx="11588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55099" y="3473577"/>
            <a:ext cx="15907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682759" y="34461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53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435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89788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65226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$0,379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8867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5196" y="3620044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5196" y="3620044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4924" y="3620044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Hot Spicy 5 г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023110" y="3647476"/>
            <a:ext cx="180679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217505" y="3647476"/>
            <a:ext cx="94281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25502" y="3647476"/>
            <a:ext cx="11588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455099" y="3647476"/>
            <a:ext cx="15907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682759" y="3620044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53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435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89788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65226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$0,379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8867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25196" y="3793943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25196" y="3793943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34924" y="3793943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023110" y="3821375"/>
            <a:ext cx="38340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23110" y="3807659"/>
            <a:ext cx="39712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420231" y="3821375"/>
            <a:ext cx="20690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640854" y="3821375"/>
            <a:ext cx="2510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640854" y="3807659"/>
            <a:ext cx="2647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905602" y="3821375"/>
            <a:ext cx="3392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905602" y="3807659"/>
            <a:ext cx="35299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313463" y="3793943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1435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89788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65226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8867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25196" y="39678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25196" y="3967842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34924" y="39678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Spicy 12 г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023110" y="3995274"/>
            <a:ext cx="38340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023110" y="3981558"/>
            <a:ext cx="39712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420231" y="3995274"/>
            <a:ext cx="20690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640854" y="3995274"/>
            <a:ext cx="2510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640854" y="3981558"/>
            <a:ext cx="2647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905602" y="3995274"/>
            <a:ext cx="3392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905602" y="3981558"/>
            <a:ext cx="35299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13463" y="39678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435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89788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5226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867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425196" y="41417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25196" y="4141742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34924" y="41417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Squid 12 г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2023110" y="4169174"/>
            <a:ext cx="38340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023110" y="4155458"/>
            <a:ext cx="39712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20231" y="4169174"/>
            <a:ext cx="20690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2640854" y="4169174"/>
            <a:ext cx="2510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2640854" y="4155458"/>
            <a:ext cx="2647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905602" y="4169174"/>
            <a:ext cx="339281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2905602" y="4155458"/>
            <a:ext cx="35299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3463" y="41417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1435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89788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65226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$0,775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8867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25196" y="4315641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25196" y="4315641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34924" y="4315641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023110" y="4343073"/>
            <a:ext cx="38618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2023110" y="4329357"/>
            <a:ext cx="39989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2423008" y="4343073"/>
            <a:ext cx="20844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645174" y="4343073"/>
            <a:ext cx="252883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645174" y="4329357"/>
            <a:ext cx="26659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911773" y="4343073"/>
            <a:ext cx="34174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2911773" y="4329357"/>
            <a:ext cx="3554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322103" y="4315641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109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1435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89788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65226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$0,780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8867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25196" y="448954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25196" y="4489540"/>
            <a:ext cx="34290" cy="153325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34924" y="448954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Hot Spicy 10 г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023110" y="4516972"/>
            <a:ext cx="386182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023110" y="4503256"/>
            <a:ext cx="39989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423008" y="4516972"/>
            <a:ext cx="208449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645174" y="4516972"/>
            <a:ext cx="252883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645174" y="4503256"/>
            <a:ext cx="26659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2911773" y="4516972"/>
            <a:ext cx="34174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2911773" y="4503256"/>
            <a:ext cx="35546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31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322103" y="448954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109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1435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89788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665226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$0,780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8867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480060" y="471830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3093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1988820" y="4718304"/>
            <a:ext cx="89154" cy="8915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13969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3497580" y="4718304"/>
            <a:ext cx="89154" cy="8915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364845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5006340" y="4718304"/>
            <a:ext cx="89154" cy="8915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515721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СС — «ИТОГО С/С» з Self-Cost_Snacks (FOB + мито + логістика + ПДВ), курс 45 ₴/$, найдешевший контейнер для SKU (переважно 40′). Повна модель по всіх контейнерах і маржах — SNACKS_FINMODEL_ALL_MARGINS.xlsx.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ЦІНОУТВОРЕННЯ · HANJIN · ZEK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З чого складається ціна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" y="994410"/>
            <a:ext cx="8298180" cy="9464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2930" y="1069848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 — ЗА НЕЇ МИ ПРОДАЄМО МЕРЕЖІ (100 %)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930" y="1261872"/>
            <a:ext cx="2470349" cy="2606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930" y="1261872"/>
            <a:ext cx="2490923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Собівартість 45 %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73853" y="1261872"/>
            <a:ext cx="1363272" cy="26060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3853" y="1261872"/>
            <a:ext cx="1383846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7700" y="1261872"/>
            <a:ext cx="1640041" cy="2606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7700" y="1261872"/>
            <a:ext cx="1660615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Наша маржа 30 %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8315" y="1261872"/>
            <a:ext cx="2193580" cy="26060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8315" y="1261872"/>
            <a:ext cx="2214154" cy="2606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88" b="1" i="0">
                <a:solidFill>
                  <a:srgbClr val="FFFFFF"/>
                </a:solidFill>
                <a:latin typeface="Segoe UI"/>
              </a:rPr>
              <a:t>Націнка магазину +40 %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2930" y="1563624"/>
            <a:ext cx="5535385" cy="10287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2930" y="1577340"/>
            <a:ext cx="553538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= ціна партнеру (ціна, за якою купує мережа)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1748790"/>
            <a:ext cx="77495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ПОЛИЦЯ (ціна покупцю) = ціна партнеру × 1,40 · ціна партнеру = собівартість ÷ 0,45 · бонус 25 % і маржа 30 % — частки ціни партнеру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" y="2043684"/>
            <a:ext cx="2743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ПОЗИЦІЯ (КОЖЕН SKU)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8820" y="2043684"/>
            <a:ext cx="3429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ІЗ ЧОГО СКЛАДАЄТЬСЯ ПОЛИЦЯ, ₴ ЗА УПАКОВКУ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5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FOB,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$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6700" y="2043684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 spc="4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" y="222885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" y="2228850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4" y="222885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23110" y="2256282"/>
            <a:ext cx="3724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23110" y="2242566"/>
            <a:ext cx="3861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09281" y="2256282"/>
            <a:ext cx="20082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3821" y="2256282"/>
            <a:ext cx="2437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3821" y="2242566"/>
            <a:ext cx="2574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1269" y="2256282"/>
            <a:ext cx="329547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1269" y="2242566"/>
            <a:ext cx="3432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9397" y="222885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226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6700" y="222885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" y="2402749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" y="2402749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" y="2402749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Wasabi 30 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23110" y="2430181"/>
            <a:ext cx="3724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23110" y="2416465"/>
            <a:ext cx="3861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09281" y="2430181"/>
            <a:ext cx="20082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23821" y="2430181"/>
            <a:ext cx="2437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3821" y="2416465"/>
            <a:ext cx="2574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81269" y="2430181"/>
            <a:ext cx="329547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81269" y="2416465"/>
            <a:ext cx="3432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9397" y="2402749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435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5226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86700" y="2402749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576648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5196" y="2576648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" y="2576648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Mala Crawfish 30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23110" y="2604080"/>
            <a:ext cx="37245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23110" y="2590364"/>
            <a:ext cx="38617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09281" y="2604080"/>
            <a:ext cx="200823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23821" y="2604080"/>
            <a:ext cx="24373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23821" y="2590364"/>
            <a:ext cx="25744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1269" y="2604080"/>
            <a:ext cx="329547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81269" y="2590364"/>
            <a:ext cx="34326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9397" y="2576648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435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9788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5226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6700" y="2576648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5196" y="27505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5196" y="2750547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34924" y="27505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023110" y="2777979"/>
            <a:ext cx="570030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023110" y="2764263"/>
            <a:ext cx="58374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856" y="2777979"/>
            <a:ext cx="31058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606856" y="2764263"/>
            <a:ext cx="32430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931160" y="2777979"/>
            <a:ext cx="37544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31160" y="2764263"/>
            <a:ext cx="38916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20325" y="2777979"/>
            <a:ext cx="50517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20325" y="2764263"/>
            <a:ext cx="51888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94075" y="27505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35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9788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5226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86700" y="27505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5196" y="2924447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5196" y="2924447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4924" y="2924447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Wasabi 50 г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23110" y="2951879"/>
            <a:ext cx="570030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23110" y="2938163"/>
            <a:ext cx="58374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06856" y="2951879"/>
            <a:ext cx="31058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606856" y="2938163"/>
            <a:ext cx="32430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31160" y="2951879"/>
            <a:ext cx="37544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931160" y="2938163"/>
            <a:ext cx="38916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320325" y="2951879"/>
            <a:ext cx="50517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20325" y="2938163"/>
            <a:ext cx="51888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4075" y="2924447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435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89788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5226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886700" y="2924447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5196" y="3098346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25196" y="3098346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4924" y="3098346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Mala 50 г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23110" y="3125778"/>
            <a:ext cx="570030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023110" y="3112062"/>
            <a:ext cx="58374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606856" y="3125778"/>
            <a:ext cx="31058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606856" y="3112062"/>
            <a:ext cx="32430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31160" y="3125778"/>
            <a:ext cx="375448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931160" y="3112062"/>
            <a:ext cx="389164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320325" y="3125778"/>
            <a:ext cx="50517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320325" y="3112062"/>
            <a:ext cx="51888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894075" y="3098346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159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1435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114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9788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65226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$1,139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886700" y="3098346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25196" y="32722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25196" y="3272245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34924" y="32722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023110" y="3299677"/>
            <a:ext cx="27657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023110" y="3285961"/>
            <a:ext cx="29029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313401" y="3299677"/>
            <a:ext cx="14755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474674" y="3299677"/>
            <a:ext cx="17981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68202" y="3299677"/>
            <a:ext cx="24432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668202" y="3285961"/>
            <a:ext cx="25803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81103" y="32722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79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1435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57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89788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5226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$0,566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86700" y="32722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25196" y="3446145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5196" y="3446145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4924" y="3446145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Sesame 25 г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23110" y="3473577"/>
            <a:ext cx="276575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023110" y="3459861"/>
            <a:ext cx="29029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313401" y="3473577"/>
            <a:ext cx="147557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474674" y="3473577"/>
            <a:ext cx="179811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68202" y="3473577"/>
            <a:ext cx="244320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2668202" y="3459861"/>
            <a:ext cx="25803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981103" y="3446145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1435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89788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65226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$0,566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886700" y="3446145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5196" y="3620044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25196" y="3620044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34924" y="3620044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023110" y="3647476"/>
            <a:ext cx="360853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023110" y="3633760"/>
            <a:ext cx="37456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2397679" y="3647476"/>
            <a:ext cx="194378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5773" y="3647476"/>
            <a:ext cx="235997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5773" y="3633760"/>
            <a:ext cx="249713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855486" y="3647476"/>
            <a:ext cx="319234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855486" y="3633760"/>
            <a:ext cx="332950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43301" y="3620044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102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1435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89788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65226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$0,731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886700" y="3620044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25196" y="3793943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25196" y="3793943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34924" y="3793943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2023110" y="3821375"/>
            <a:ext cx="345513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023110" y="3807659"/>
            <a:ext cx="35922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382339" y="3821375"/>
            <a:ext cx="18585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581912" y="3821375"/>
            <a:ext cx="22577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581912" y="3807659"/>
            <a:ext cx="23948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821398" y="3821375"/>
            <a:ext cx="30559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821398" y="3807659"/>
            <a:ext cx="31931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95578" y="3793943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98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435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9788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5226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$0,701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886700" y="3793943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25196" y="39678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25196" y="3967842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34924" y="39678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Sesame 35 г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023110" y="3995274"/>
            <a:ext cx="345513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023110" y="3981558"/>
            <a:ext cx="359229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2382339" y="3995274"/>
            <a:ext cx="18585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581912" y="3995274"/>
            <a:ext cx="225770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2581912" y="3981558"/>
            <a:ext cx="239486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21398" y="3995274"/>
            <a:ext cx="305599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821398" y="3981558"/>
            <a:ext cx="319315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95578" y="39678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98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1435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89788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65226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$0,701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886700" y="39678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425196" y="4141742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25196" y="4141742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534924" y="4141742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023110" y="4169174"/>
            <a:ext cx="71372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2023110" y="4155458"/>
            <a:ext cx="7274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750547" y="4169174"/>
            <a:ext cx="39041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2750547" y="4155458"/>
            <a:ext cx="40413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3154680" y="4169174"/>
            <a:ext cx="47124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3154680" y="4155458"/>
            <a:ext cx="4849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3639638" y="4169174"/>
            <a:ext cx="63289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3639638" y="4155458"/>
            <a:ext cx="64661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341114" y="4141742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435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89788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65226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886700" y="4141742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25196" y="4315641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5196" y="4315641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34924" y="4315641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Sesame 70 г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2023110" y="4343073"/>
            <a:ext cx="71372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023110" y="4329357"/>
            <a:ext cx="7274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750547" y="4343073"/>
            <a:ext cx="39041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50547" y="4329357"/>
            <a:ext cx="40413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3154680" y="4343073"/>
            <a:ext cx="47124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3154680" y="4329357"/>
            <a:ext cx="4849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639638" y="4343073"/>
            <a:ext cx="63289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639638" y="4329357"/>
            <a:ext cx="64661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41114" y="4315641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1435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589788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65226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886700" y="4315641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425196" y="4489540"/>
            <a:ext cx="8298180" cy="15332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425196" y="4489540"/>
            <a:ext cx="34290" cy="153325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34924" y="4489540"/>
            <a:ext cx="147447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70 г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023110" y="4516972"/>
            <a:ext cx="713721" cy="98461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023110" y="4503256"/>
            <a:ext cx="727437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64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2750547" y="4516972"/>
            <a:ext cx="390416" cy="98461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2750547" y="4503256"/>
            <a:ext cx="404132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3154680" y="4516972"/>
            <a:ext cx="471242" cy="9846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3154680" y="4503256"/>
            <a:ext cx="484958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43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3639638" y="4516972"/>
            <a:ext cx="632895" cy="98461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3639638" y="4503256"/>
            <a:ext cx="646611" cy="1258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57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341114" y="4489540"/>
            <a:ext cx="61722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1" i="0">
                <a:solidFill>
                  <a:srgbClr val="1C2235"/>
                </a:solidFill>
                <a:latin typeface="Segoe UI"/>
              </a:rPr>
              <a:t>полиця 199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51435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142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589788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665226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$1,419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886700" y="4489540"/>
            <a:ext cx="822960" cy="153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480060" y="4718304"/>
            <a:ext cx="89154" cy="8915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63093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 (СС)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988820" y="4718304"/>
            <a:ext cx="89154" cy="8915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13969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мережі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3497580" y="4718304"/>
            <a:ext cx="89154" cy="8915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64845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Наша маржа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5006340" y="4718304"/>
            <a:ext cx="89154" cy="89154"/>
          </a:xfrm>
          <a:prstGeom prst="rect">
            <a:avLst/>
          </a:prstGeom>
          <a:solidFill>
            <a:srgbClr val="A5AB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5157216" y="469773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Націнка магазину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СС — «ИТОГО С/С» з Self-Cost_Snacks (FOB + мито + логістика + ПДВ), курс 45 ₴/$, найдешевший контейнер для SKU (переважно 40′). Повна модель по всіх контейнерах і маржах — SNACKS_FINMODEL_ALL_MARGINS.xlsx.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SINGHA KAMEDA І THAI-NICHI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Singha Kameda і Thai-Nichi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8803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38" y="1611630"/>
            <a:ext cx="206174" cy="2606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Original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4769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+15 %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85950"/>
            <a:ext cx="34290" cy="28803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sk_wasab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322" y="1899666"/>
            <a:ext cx="197807" cy="2606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8595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8595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8595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8595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8595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9966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3572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8595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+15 %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17398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173986"/>
            <a:ext cx="34290" cy="28803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tn_orig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14" y="2187702"/>
            <a:ext cx="216822" cy="2606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17398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Original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17398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17398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17398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17398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94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18770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32376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17398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−15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-10 %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462022"/>
            <a:ext cx="34290" cy="28803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tn_wasab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100" y="2475738"/>
            <a:ext cx="214251" cy="26060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46202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Norimaki Wasabi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46202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46202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46202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46202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47573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61180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 поз. · 50–60 г · 126–148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46202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+12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+8 %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887218"/>
            <a:ext cx="27432" cy="144018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4924" y="2900934"/>
            <a:ext cx="54864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30">
                <a:solidFill>
                  <a:srgbClr val="B23A3A"/>
                </a:solidFill>
                <a:latin typeface="Segoe UI"/>
              </a:rPr>
              <a:t>ЩО СТОЇТЬ ПОРУЧ НА ПОЛИЦІ МЕРЕЖ · РИСОВІ КРЕКЕРИ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519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519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120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5" name="Picture 74" descr="0502155498414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243834"/>
            <a:ext cx="973836" cy="9738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65963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Clearspring · 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5963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126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5963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Grono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3697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3697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33298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2" name="Picture 81" descr="04710144900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0420" y="3243834"/>
            <a:ext cx="973836" cy="9738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47141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Want Want · 60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7141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140–149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7141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Ашан · Grono · Onde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48756" y="3106674"/>
            <a:ext cx="2708910" cy="1371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048756" y="3106674"/>
            <a:ext cx="2708910" cy="3429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144768" y="3216402"/>
            <a:ext cx="102870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0377002719476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200" y="3243834"/>
            <a:ext cx="973836" cy="9738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283196" y="3230118"/>
            <a:ext cx="140589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2235"/>
                </a:solidFill>
                <a:latin typeface="Segoe UI"/>
              </a:rPr>
              <a:t>Ultra Pop · 60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83196" y="3573018"/>
            <a:ext cx="140589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C2235"/>
                </a:solidFill>
                <a:latin typeface="Segoe UI"/>
              </a:rPr>
              <a:t>148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83196" y="3915918"/>
            <a:ext cx="14058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Мережі: Космос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TMK · KOKIRI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TMK · KOKIRI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tmk_roll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79" y="1611630"/>
            <a:ext cx="86292" cy="26060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Original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4769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85950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tmk_roll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51" y="1899666"/>
            <a:ext cx="89349" cy="2606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8595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Hot Spicy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8595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8595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8595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8595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8595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9966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3572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8595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173986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173986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tmk_roll_squ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42" y="2187702"/>
            <a:ext cx="131766" cy="2606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17398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ROLL Spicy Squid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17398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17398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17398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17398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21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17398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18770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32376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2,7–3 г · 30–51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17398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−22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-42 %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462022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tmk_dbl_ori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847" y="2475738"/>
            <a:ext cx="146756" cy="26060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46202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DOUBLE ROLL Original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46202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46202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46202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46202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46202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47573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42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61180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47 поз. · 3–5 г · 30–89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46202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+11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+26 %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750058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5196" y="2750058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tmk_dbl_spic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847" y="2763774"/>
            <a:ext cx="146756" cy="26060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39546" y="2750058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DOUBLE ROLL Hot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9726" y="2750058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25496" y="2750058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39846" y="2750058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22776" y="275005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9996" y="2750058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25796" y="275005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80176" y="2763774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42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0176" y="2899836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47 поз. · 3–5 г · 30–89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26096" y="2750058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+11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+26 %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6" y="3038094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4" name="Picture 83" descr="tmk_sw_ori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84" y="3051810"/>
            <a:ext cx="200083" cy="2606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39546" y="3038094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Original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79726" y="3038094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25496" y="3038094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9846" y="3038094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2776" y="303809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39996" y="3038094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25796" y="3038094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80176" y="3051810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0176" y="3187872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6096" y="3038094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6" y="3326130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25196" y="3326130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tmk_sw_spic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4485" y="3339846"/>
            <a:ext cx="201481" cy="26060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39546" y="3326130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Spicy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9726" y="3326130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25496" y="3326130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39846" y="3326130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22776" y="332613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9996" y="3326130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5796" y="3326130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80176" y="3339846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80176" y="3475908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6096" y="3326130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3614166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tmk_sw_squi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278" y="3627882"/>
            <a:ext cx="195895" cy="26060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939546" y="3614166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SEAWEED Squid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79726" y="3614166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25496" y="3614166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39846" y="3614166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22776" y="361416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39996" y="3614166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25796" y="3614166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80176" y="3627882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33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80176" y="3763944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8–15 г · 30–96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26096" y="3614166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+75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+226 %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5196" y="3902202"/>
            <a:ext cx="8298180" cy="28803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5196" y="3902202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tmk_mini_orig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" y="3955458"/>
            <a:ext cx="342900" cy="181522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39546" y="3902202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MINI Original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79726" y="3902202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25496" y="3902202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9846" y="3902202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22776" y="390220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9996" y="3902202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5796" y="3902202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80176" y="3915918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0176" y="4051980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8–10 г · 30–34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626096" y="3902202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+77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+240 %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25196" y="4190238"/>
            <a:ext cx="34290" cy="28803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tmk_mini_spic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" y="4243494"/>
            <a:ext cx="342900" cy="18152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39546" y="4190238"/>
            <a:ext cx="13716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Wow MINI Hot Spicy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79726" y="4190238"/>
            <a:ext cx="4114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25496" y="4190238"/>
            <a:ext cx="48006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39846" y="4190238"/>
            <a:ext cx="51435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22776" y="419023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39996" y="4190238"/>
            <a:ext cx="6172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78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25796" y="4190238"/>
            <a:ext cx="5829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980176" y="4203954"/>
            <a:ext cx="1714500" cy="1584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80176" y="4340016"/>
            <a:ext cx="1714500" cy="12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8–10 г · 30–34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26096" y="4190238"/>
            <a:ext cx="109728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B23A3A"/>
                </a:solidFill>
                <a:latin typeface="Segoe UI"/>
              </a:rPr>
              <a:t>+77 ₴</a:t>
            </a:r>
            <a:r>
              <a:rPr sz="608" b="0" i="0">
                <a:solidFill>
                  <a:srgbClr val="B23A3A"/>
                </a:solidFill>
                <a:latin typeface="Segoe UI"/>
              </a:rPr>
              <a:t>  +240 %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ПОЛИЦЯ · HANJIN · ZEK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Наша ціна на полиці: HanJin · ZEK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Як рахується: ціна мережі = собівартість ÷ 0,45 (собівартість — 45 % ціни мережі, бонус мережі — 25 %, наша маржа — 30 %); полиця = ціна мережі × 1,40. Праворуч — із чим порівнюється наша полиця на ринку.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23594"/>
            <a:ext cx="8298180" cy="20574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546" y="1357884"/>
            <a:ext cx="17145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9726" y="1357884"/>
            <a:ext cx="4114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1357884"/>
            <a:ext cx="48006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9846" y="1357884"/>
            <a:ext cx="51435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КОНТЕЙНЕР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1357884"/>
            <a:ext cx="61722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ЦІНА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796" y="1357884"/>
            <a:ext cx="58293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1357884"/>
            <a:ext cx="17830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ТИПОВА ЦІНА ПАКЕТА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1357884"/>
            <a:ext cx="109728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РІЗНИЦЯ ДО РИНКУ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" y="1597914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" y="1597914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13" y="1611630"/>
            <a:ext cx="145224" cy="1890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9546" y="1597914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Corn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9726" y="1597914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25496" y="1597914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9846" y="1597914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159791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9996" y="1597914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5796" y="159791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0176" y="1611630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710502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6096" y="1597914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" y="1814430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zek_tempura_wasabi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00" y="1828146"/>
            <a:ext cx="144250" cy="1890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9546" y="1814430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Wasabi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9726" y="1814430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25496" y="1814430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39846" y="1814430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22776" y="1814430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996" y="1814430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25796" y="1814430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0176" y="1828146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1927019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814430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" y="2030947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5196" y="2030947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zek_tempura_mal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613" y="2044663"/>
            <a:ext cx="145224" cy="18908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39546" y="2030947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Mala Crawfish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9726" y="2030947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25496" y="2030947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9846" y="2030947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22776" y="2030947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39996" y="2030947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75 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5796" y="2030947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0176" y="2044663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111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0176" y="2143536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поз. · 25–40 г · 81–193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26096" y="2030947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−6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-5 %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247464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9" name="Picture 58" descr="zek_tempura_corn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126" y="2261180"/>
            <a:ext cx="146199" cy="18908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39546" y="2247464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Corn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9726" y="2247464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25496" y="2247464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39846" y="2247464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22776" y="224746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9996" y="2247464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25796" y="2247464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0176" y="2261180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80176" y="2360053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6096" y="2247464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5196" y="2463981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5196" y="2463981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2" name="Picture 71" descr="zek_tempura_wasabi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613" y="2477697"/>
            <a:ext cx="145224" cy="18908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39546" y="2463981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Wasabi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9726" y="2463981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25496" y="2463981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39846" y="2463981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22776" y="2463981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9996" y="2463981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25796" y="2463981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80176" y="2477697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0176" y="2576570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26096" y="2463981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25196" y="2680498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4" name="Picture 83" descr="zek_tempura_mala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588" y="2694214"/>
            <a:ext cx="143275" cy="18908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39546" y="2680498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Tempura Mala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79726" y="2680498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25496" y="2680498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39846" y="2680498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2776" y="268049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39996" y="2680498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114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25796" y="268049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80176" y="2694214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0176" y="2793087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поз. · 25–59 г · 81–528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6096" y="2680498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+24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5196" y="2897015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25196" y="2897015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7" name="Picture 96" descr="zek_sandwich_meat2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11" y="2910731"/>
            <a:ext cx="140828" cy="18908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939546" y="2897015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Sandwich Meat Floss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79726" y="2897015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25496" y="2897015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39846" y="2897015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22776" y="289701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39996" y="2897015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57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25796" y="289701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980176" y="2910731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980176" y="3009603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 поз. · 15–25 г · 58–145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6096" y="2897015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+7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+10 %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25196" y="3113532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9" name="Picture 108" descr="zek_sandwich_sesame2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6195" y="3127248"/>
            <a:ext cx="138061" cy="18908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939546" y="3113532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Sandwich Sesame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379726" y="3113532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825496" y="3113532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39846" y="3113532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22776" y="311353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39996" y="3113532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57 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225796" y="311353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80176" y="3127248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72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980176" y="3226120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11 поз. · 15–25 г · 58–145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26096" y="3113532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+7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+10 %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25196" y="3330048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5196" y="3330048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zek_topping_chicken3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176" y="3343764"/>
            <a:ext cx="140099" cy="189084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939546" y="3330048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Chicken Floss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79726" y="3330048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825496" y="3330048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9846" y="3330048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22776" y="333004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9996" y="3330048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73 ₴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5796" y="3330048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80176" y="3343764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0176" y="3442637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626096" y="3330048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−83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-45 %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25196" y="3546565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zek_topping_veg3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5303" y="3560281"/>
            <a:ext cx="139844" cy="189084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939546" y="3546565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Vegetables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79726" y="3546565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25496" y="3546565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339846" y="3546565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22776" y="354656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39996" y="3546565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225796" y="3546565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980176" y="3560281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980176" y="3659154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26096" y="3546565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−88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-47 %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25196" y="3763082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25196" y="3763082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7" name="Picture 146" descr="zek_topping_sesame3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6024" y="3776798"/>
            <a:ext cx="138402" cy="189084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939546" y="3763082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Sesame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379726" y="3763082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25496" y="3763082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39846" y="3763082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922776" y="376308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39996" y="3763082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70 ₴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225796" y="3763082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80176" y="3776798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980176" y="3875671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626096" y="3763082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3E8E5A"/>
                </a:solidFill>
                <a:latin typeface="Segoe UI"/>
              </a:rPr>
              <a:t>−88 ₴</a:t>
            </a:r>
            <a:r>
              <a:rPr sz="608" b="0" i="0">
                <a:solidFill>
                  <a:srgbClr val="3E8E5A"/>
                </a:solidFill>
                <a:latin typeface="Segoe UI"/>
              </a:rPr>
              <a:t>  -47 %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425196" y="3979599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9" name="Picture 158" descr="zek_topping_veg7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9923" y="3993315"/>
            <a:ext cx="130605" cy="189084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939546" y="3979599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Vegetables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79726" y="3979599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825496" y="3979599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39846" y="3979599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922776" y="3979599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539996" y="3979599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225796" y="3979599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80176" y="3993315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980176" y="4092188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626096" y="3979599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25196" y="4196116"/>
            <a:ext cx="8298180" cy="21651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25196" y="4196116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2" name="Picture 171" descr="zek_topping_sesame7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9436" y="4209832"/>
            <a:ext cx="131579" cy="189084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939546" y="4196116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Sesame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379726" y="4196116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825496" y="4196116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39846" y="4196116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922776" y="4196116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39996" y="4196116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225796" y="4196116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980176" y="4209832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80176" y="4308705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26096" y="4196116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425196" y="4412633"/>
            <a:ext cx="34290" cy="2165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4" name="Picture 183" descr="zek_topping_chicken7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9436" y="4426349"/>
            <a:ext cx="131579" cy="189084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939546" y="4412633"/>
            <a:ext cx="137160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40" b="1" i="0">
                <a:solidFill>
                  <a:srgbClr val="303A5D"/>
                </a:solidFill>
                <a:latin typeface="Segoe UI"/>
              </a:rPr>
              <a:t>Topping Chicken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379726" y="4412633"/>
            <a:ext cx="4114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825496" y="4412633"/>
            <a:ext cx="48006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339846" y="4412633"/>
            <a:ext cx="51435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22776" y="4412633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40′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39996" y="4412633"/>
            <a:ext cx="61722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142 ₴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225796" y="4412633"/>
            <a:ext cx="58293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980176" y="4426349"/>
            <a:ext cx="1714500" cy="119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0" i="0">
                <a:solidFill>
                  <a:srgbClr val="717890"/>
                </a:solidFill>
                <a:latin typeface="Segoe UI"/>
              </a:rPr>
              <a:t>   типова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80176" y="4525221"/>
            <a:ext cx="1714500" cy="97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поз. · 30–70 г · 105–232 ₴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26096" y="4412633"/>
            <a:ext cx="1097280" cy="216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2" b="1" i="0">
                <a:solidFill>
                  <a:srgbClr val="C4820A"/>
                </a:solidFill>
                <a:latin typeface="Segoe UI"/>
              </a:rPr>
              <a:t>+13 ₴</a:t>
            </a:r>
            <a:r>
              <a:rPr sz="608" b="0" i="0">
                <a:solidFill>
                  <a:srgbClr val="C4820A"/>
                </a:solidFill>
                <a:latin typeface="Segoe UI"/>
              </a:rPr>
              <a:t>  +7 %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«Типова ціна» — медіана цін позицій того ж сегмента з близькою вагою (±45 %); «Різниця до ринку» = наша полиця − типова ціна. Розрахунок: курс 45 ₴/$, бонус мережі 25 %, наша маржа 30 %. СС з Self-Cost включає імпортний ПДВ (≈16 % СС).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ПЕРЕВІРКА РОЗРАХУНКУ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Перевірка: як з FOB виходить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Усі числа взято з вашого Self-Cost_Snacks (контейнер 40′, рядок вказано під назвою) і перераховано: собівартість = FOB + мито + імпортний ПДВ + транспорт + кредитні гроші; ціна мережі = собівартість ÷ 0,45; полиця = ціна мережі ×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2023110" cy="24688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SINGHA · NORIMAKI ORIGINAL 42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36214"/>
                </a:solidFill>
                <a:latin typeface="Segoe UI"/>
              </a:rPr>
              <a:t>СОБІВАРТІСТЬ УПАКОВКИ · рядок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2446" y="1824228"/>
            <a:ext cx="217396" cy="8915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4132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$0,770 · 34,65 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2446" y="1988820"/>
            <a:ext cx="24387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1124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$0,086 · 3,89 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2446" y="2153412"/>
            <a:ext cx="53653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0389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$0,190 · 8,55 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2446" y="2318004"/>
            <a:ext cx="39097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5834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$0,138 · 6,23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2446" y="2482596"/>
            <a:ext cx="20574" cy="89154"/>
          </a:xfrm>
          <a:prstGeom prst="rect">
            <a:avLst/>
          </a:prstGeom>
          <a:solidFill>
            <a:srgbClr val="DDB8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099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$0,030 · 1,33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$1,2145 × 45 = 54,65 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54,65 ÷ 0,45 = 121,45 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30,36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36,44 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54,65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121,45 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208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121,45 × 1,40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B36214"/>
                </a:solidFill>
                <a:latin typeface="Segoe UI"/>
              </a:rPr>
              <a:t>170,03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16 % СС. Полиця / FOB = ×4,9.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23744" y="1337310"/>
            <a:ext cx="2023110" cy="24688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06040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THAI-NICHI · NORIMAKI ORIGINAL 50 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23744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19756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1D5B63"/>
                </a:solidFill>
                <a:latin typeface="Segoe UI"/>
              </a:rPr>
              <a:t>СОБІВАРТІСТЬ УПАКОВКИ · рядок 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19756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0994" y="1824228"/>
            <a:ext cx="217868" cy="8915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33152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$0,600 · 27,00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19756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0994" y="1988820"/>
            <a:ext cx="24400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39684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$0,067 · 3,02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19756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80994" y="2153412"/>
            <a:ext cx="53681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68965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$0,148 · 6,65 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19756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80994" y="2318004"/>
            <a:ext cx="38586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53870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$0,106 · 4,78 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19756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80994" y="2482596"/>
            <a:ext cx="20574" cy="89154"/>
          </a:xfrm>
          <a:prstGeom prst="rect">
            <a:avLst/>
          </a:prstGeom>
          <a:solidFill>
            <a:srgbClr val="99B5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23647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$0,023 · 1,04 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619756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19756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$0,9443 × 45 = 42,49 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19756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9544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42,49 ÷ 0,45 = 94,43 ₴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19756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9544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23,61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19756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9544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28,33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19756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09544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42,49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19756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9544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94,43 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19756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60904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94,43 × 1,40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60904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1D5B63"/>
                </a:solidFill>
                <a:latin typeface="Segoe UI"/>
              </a:rPr>
              <a:t>132,21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19756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16 % СС. Полиця / FOB = ×4,9.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22292" y="1337310"/>
            <a:ext cx="2023110" cy="24688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04588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TMK · WOW ROLL ORIGINAL 2,5 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22292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18304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2F7A3E"/>
                </a:solidFill>
                <a:latin typeface="Segoe UI"/>
              </a:rPr>
              <a:t>СОБІВАРТІСТЬ УПАКОВКИ · рядок 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18304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79542" y="1824228"/>
            <a:ext cx="189871" cy="8915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03703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$0,117 · 5,26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18304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79542" y="1988820"/>
            <a:ext cx="34340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48172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$0,021 · 0,95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18304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479542" y="2153412"/>
            <a:ext cx="52656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566488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$0,032 · 1,46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18304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479542" y="2318004"/>
            <a:ext cx="57668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571500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$0,036 · 1,60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18304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79542" y="2482596"/>
            <a:ext cx="20574" cy="89154"/>
          </a:xfrm>
          <a:prstGeom prst="rect">
            <a:avLst/>
          </a:prstGeom>
          <a:solidFill>
            <a:srgbClr val="A1C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22195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$0,005 · 0,23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718304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18304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$0,2113 × 45 = 9,51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18304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8092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9,51 ÷ 0,45 = 21,13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18304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8092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5,28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18304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08092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6,34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718304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08092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9,51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18304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08092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21,13 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718304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759452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21,13 × 1,40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9452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2F7A3E"/>
                </a:solidFill>
                <a:latin typeface="Segoe UI"/>
              </a:rPr>
              <a:t>29,58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18304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15 % СС. Полиця / FOB = ×5,6.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20840" y="1337310"/>
            <a:ext cx="2023110" cy="24688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803136" y="1392174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ZEK · TEMPURA CORN 30 Г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720840" y="1584198"/>
            <a:ext cx="2023110" cy="3236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16852" y="1645920"/>
            <a:ext cx="183108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22"/>
                </a:solidFill>
                <a:latin typeface="Segoe UI"/>
              </a:rPr>
              <a:t>СОБІВАРТІСТЬ УПАКОВКИ · рядок 26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16852" y="1796796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FOB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78090" y="1824228"/>
            <a:ext cx="195710" cy="8915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808090" y="1796796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$0,430 · 19,35 ₴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16852" y="1961388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Мито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578090" y="1988820"/>
            <a:ext cx="23806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636186" y="1961388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$0,052 · 2,35 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6852" y="2125980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Імпортний ПДВ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578090" y="2153412"/>
            <a:ext cx="52377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664757" y="212598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$0,115 · 5,18 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6852" y="2290572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Транспорт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578090" y="2318004"/>
            <a:ext cx="62642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75022" y="2290572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$0,138 · 6,19 ₴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816852" y="2455164"/>
            <a:ext cx="7543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Кредитні гроші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578090" y="2482596"/>
            <a:ext cx="20574" cy="89154"/>
          </a:xfrm>
          <a:prstGeom prst="rect">
            <a:avLst/>
          </a:prstGeom>
          <a:solidFill>
            <a:srgbClr val="DCA6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20743" y="2455164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$0,018 · 0,83 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816852" y="2640330"/>
            <a:ext cx="1831086" cy="8229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816852" y="2674620"/>
            <a:ext cx="183108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4" b="1" i="0">
                <a:solidFill>
                  <a:srgbClr val="1C2235"/>
                </a:solidFill>
                <a:latin typeface="Segoe UI"/>
              </a:rPr>
              <a:t>СС = $0,7534 × 45 = 33,90 ₴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816852" y="29626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Ціна мережі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06640" y="29626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1C2235"/>
                </a:solidFill>
                <a:latin typeface="Segoe UI"/>
              </a:rPr>
              <a:t>33,90 ÷ 0,45 = 75,34 ₴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16852" y="31341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Бонус 25 %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06640" y="31341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18,83 ₴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816852" y="33055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Маржа 30 %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06640" y="33055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22,60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16852" y="347700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06640" y="347700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33,90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816852" y="3648456"/>
            <a:ext cx="685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Сума (перевірка)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406640" y="3648456"/>
            <a:ext cx="124129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1C2235"/>
                </a:solidFill>
                <a:latin typeface="Segoe UI"/>
              </a:rPr>
              <a:t>75,34 ₴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816852" y="3888486"/>
            <a:ext cx="1831086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858000" y="3915918"/>
            <a:ext cx="174879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717890"/>
                </a:solidFill>
                <a:latin typeface="Segoe UI"/>
              </a:rPr>
              <a:t>ПОЛИЦЯ = 75,34 × 1,40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58000" y="4053078"/>
            <a:ext cx="174879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80" b="1" i="0">
                <a:solidFill>
                  <a:srgbClr val="B23A22"/>
                </a:solidFill>
                <a:latin typeface="Segoe UI"/>
              </a:rPr>
              <a:t>105,47 ₴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16852" y="4382262"/>
            <a:ext cx="183108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ПДВ у собівартості: 15 % СС. Полиця / FOB = ×5,5.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Імпортний ПДВ входить у собівартість за методикою Self-Cost (так само, як у фінмоделі рису); ціна мережі і полиця — вже з ПДВ.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ПЕРЕВІРКА РОЗРАХУНКУ · КОНТЕЙНЕРИ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Полиця за сценаріями поставки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Полиця при марже 30 % для кожного сценарію поставки з Self-Cost. У презентації для кожного SKU береться найдешевший (виділено); «Retail + Bulk» — той самий товар у змішаному контейнері з навалом, де собівартість нижча.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7310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37310"/>
            <a:ext cx="20574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ПОЗИЦІЯ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1337310"/>
            <a:ext cx="4800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FOB,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410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20′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703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40′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996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LCL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1337310"/>
            <a:ext cx="54864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СС LCL 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869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20′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736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40′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LCL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4706" y="1337310"/>
            <a:ext cx="72009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 LCL 34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" y="1570482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" y="1570482"/>
            <a:ext cx="34290" cy="219456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" y="157048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157048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410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61,2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869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190 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703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25946" y="159105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736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996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62,0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193 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82896" y="157048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56,5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4706" y="157048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176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" y="1789938"/>
            <a:ext cx="34290" cy="21945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" y="178993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51176" y="178993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3410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48,9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869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152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1703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25946" y="181051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736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996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48,0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603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2896" y="178993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43,9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4706" y="178993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137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" y="2009394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6" y="2009394"/>
            <a:ext cx="34290" cy="219456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" y="200939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51176" y="200939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$0,750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3410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61,2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6869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190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703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51,4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25946" y="202996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736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996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60,0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4603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187 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82896" y="200939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34706" y="200939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171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2228850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4924" y="2228850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51176" y="2228850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$0,122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3410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6869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37 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1703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9,5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25946" y="2249424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736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9996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12,1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14603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38 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2896" y="222885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10,6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34706" y="222885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448306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5196" y="2448306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924" y="244830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51176" y="2448306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$0,218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3410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21,4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6869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67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1703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17,1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25946" y="2468880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5736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996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21,6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4603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67 ₴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2896" y="244830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19,0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34706" y="244830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59 ₴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" y="2667762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4924" y="266776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51176" y="266776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3410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6869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137 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1703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34,9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25946" y="268833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5736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996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4603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82896" y="266776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39,1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34706" y="266776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122 ₴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5196" y="2887218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25196" y="2887218"/>
            <a:ext cx="34290" cy="219456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34924" y="288721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51176" y="288721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3410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43,8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6869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136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71703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25946" y="290779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5736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9996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44,3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4603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138 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2896" y="288721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38,8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34706" y="288721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121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5196" y="3106674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4924" y="310667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51176" y="310667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3410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41,6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6869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129 ₴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1703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33,9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425946" y="312724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736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9996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38,1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14603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82896" y="310667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36,2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934706" y="310667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113 ₴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25196" y="3326130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25196" y="3326130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34924" y="3326130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51176" y="3326130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$0,650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3410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62,8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6869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195 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71703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51,2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425946" y="3346704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5736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29996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57,6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14603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82896" y="3326130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54,7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934706" y="3326130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25196" y="3545586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34924" y="354558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551176" y="3545586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$0,310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13410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31,2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56869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97 ₴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1703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25,5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25946" y="3566160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5736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29996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27,5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14603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82896" y="3545586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27,2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934706" y="3545586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85 ₴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25196" y="3765042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25196" y="3765042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34924" y="3765042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51176" y="3765042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3410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40,2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56869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71703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32,9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425946" y="3785616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5736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29996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14603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82896" y="376504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934706" y="3765042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425196" y="3984498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34924" y="3984498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51176" y="3984498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$0,400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3410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40,2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56869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125 ₴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71703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31,5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425946" y="4005072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5736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9996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14603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82896" y="3984498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35,1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934706" y="3984498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425196" y="4203954"/>
            <a:ext cx="8298180" cy="21945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425196" y="4203954"/>
            <a:ext cx="34290" cy="21945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34924" y="4203954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551176" y="4203954"/>
            <a:ext cx="4800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$0,810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13410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81,5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56869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254 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71703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63,9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425946" y="4224528"/>
            <a:ext cx="651510" cy="178308"/>
          </a:xfrm>
          <a:prstGeom prst="rect">
            <a:avLst/>
          </a:prstGeom>
          <a:solidFill>
            <a:srgbClr val="FDE0A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35736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29996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71,8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14603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223 ₴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882896" y="4203954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71,1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34706" y="4203954"/>
            <a:ext cx="72009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221 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25196" y="4491990"/>
            <a:ext cx="829818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Для порівняння: у файлі Retail + Bulk собівартість того ж товару в 40′ нижча — Singha Original 42 г: 50,3 ₴ → полиця 156 ₴; Thai-Nichi Original 50 г: 40,3 ₴ → 125 ₴ (у таблиці Retail: 54,7 ₴ і 42,5 ₴). Для презентації взято таблицю Retail, як у каталозі постачальників.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Self-Cost_Snacks: «ИТОГО С/С, UAH ед. товара»; собівартість у таблиці = $ × 45. Ціна мережі = СС ÷ 0,45; полиця = ціна мережі × 1,40.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ЧУТЛИВІСТЬ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Полиця при різній марже: усі маржі на одному слайді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Наша маржа 35 → 15 % ціни партнеру (бонус мережі 25 %, націнка ×1,40). Основна колонка — маржа 30 % (жирним). Зелена клітинка — полиця не вище за типову ціну близьких за вагою позицій ринку; червона — вище за весь їхній діапазон.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20724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" y="1220724"/>
            <a:ext cx="24003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7460" y="1220724"/>
            <a:ext cx="137160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РИНОК ПОРУЧ · МЕДІАНА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338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35 %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30 %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646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25 %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20 %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9540" y="1220724"/>
            <a:ext cx="822960" cy="205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МАРЖА 15 %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" y="1453896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" y="1453896"/>
            <a:ext cx="34290" cy="23317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" y="145389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7460" y="145389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9709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338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191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863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0176" y="1474470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646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1716" y="147447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139 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63256" y="147447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49540" y="145389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128 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" y="1687068"/>
            <a:ext cx="3429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" y="168706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37460" y="168706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8338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8863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017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6646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7171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63256" y="170764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49540" y="168706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99 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" y="1920240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5196" y="1920240"/>
            <a:ext cx="34290" cy="23317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4" y="192024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37460" y="192024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148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7096" y="1940814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8338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180 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88636" y="1940814"/>
            <a:ext cx="822960" cy="192024"/>
          </a:xfrm>
          <a:prstGeom prst="rect">
            <a:avLst/>
          </a:prstGeom>
          <a:solidFill>
            <a:srgbClr val="ECCE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492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017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6646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144 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7171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131 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63256" y="194081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9540" y="192024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" y="2153412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" y="2153412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37460" y="2153412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9709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8338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33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8863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7492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8017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6646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27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7171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24 ₴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63256" y="217398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49540" y="215341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386584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5196" y="2386584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4924" y="2386584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37460" y="2386584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42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8338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60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7492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6646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48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43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63256" y="240715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49540" y="238658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40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" y="2619756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34924" y="261975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37460" y="261975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33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8338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7492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6646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49540" y="261975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81 ₴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5196" y="2852928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5196" y="2852928"/>
            <a:ext cx="34290" cy="23317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4924" y="285292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7460" y="285292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33 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8338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123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7492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6646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749540" y="285292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82 ₴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5196" y="3086100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34924" y="308610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537460" y="308610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104 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8338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119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8017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6646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95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87171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5800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86 ₴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63256" y="310667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749540" y="308610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25196" y="3319272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25196" y="3319272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34924" y="3319272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37460" y="3319272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8338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8863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7492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8017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6646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143 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87171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5800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130 ₴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63256" y="3339846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49540" y="3319272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120 ₴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25196" y="3552444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34924" y="3552444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537460" y="3552444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96 ₴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9709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18338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89 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8863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7492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8017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96646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71 ₴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87171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5800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65 ₴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763256" y="3573018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749540" y="3552444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59 ₴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25196" y="3785616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5196" y="3785616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4924" y="3785616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537460" y="3785616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19709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18338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115 ₴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8863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07492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98017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96646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92 ₴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87171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84 ₴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763256" y="3806190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749540" y="3785616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77 ₴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25196" y="4018788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4924" y="4018788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37460" y="4018788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160 ₴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19709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18338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110 ₴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08863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07492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98017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96646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88 ₴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7171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85800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80 ₴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763256" y="4039362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49540" y="4018788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74 ₴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25196" y="4251960"/>
            <a:ext cx="8298180" cy="233172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5196" y="4251960"/>
            <a:ext cx="34290" cy="23317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4924" y="4251960"/>
            <a:ext cx="20574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37460" y="4251960"/>
            <a:ext cx="137160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0" i="0">
                <a:solidFill>
                  <a:srgbClr val="717890"/>
                </a:solidFill>
                <a:latin typeface="Segoe UI"/>
              </a:rPr>
              <a:t>209 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18338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224 ₴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08863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7492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98017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96646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179 ₴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87171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85800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163 ₴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763256" y="4272534"/>
            <a:ext cx="822960" cy="192024"/>
          </a:xfrm>
          <a:prstGeom prst="rect">
            <a:avLst/>
          </a:prstGeom>
          <a:solidFill>
            <a:srgbClr val="D5E6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749540" y="4251960"/>
            <a:ext cx="7543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56" b="0" i="0">
                <a:solidFill>
                  <a:srgbClr val="1C2235"/>
                </a:solidFill>
                <a:latin typeface="Segoe UI"/>
              </a:rPr>
              <a:t>149 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Близькі за вагою позиції — той самий сегмент, вага ×0,5–×2 від нашої. Excel SNACKS_FINMODEL_ALL_MARGINS.xlsx: базова маржа в клітинці D5 — 35 %%, значення при 30 %% — блок «МАРЖА 30 %%» (колонка U).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ЦІНА ЗА ОДНУ УПАКОВКУ · РИНОК І НАШІ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Ціна упаковки: наша полиця проти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TMK · KOKIRI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2821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6537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HanJin · ZEK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3123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839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Singha Kameda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980694"/>
            <a:ext cx="96012" cy="9601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960120"/>
            <a:ext cx="1097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Thai-Nichi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74436" y="1008126"/>
            <a:ext cx="274320" cy="41148"/>
          </a:xfrm>
          <a:prstGeom prst="rect">
            <a:avLst/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3620" y="960120"/>
            <a:ext cx="960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діапазон ринку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46036" y="994410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48906" y="960120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0416" y="966978"/>
            <a:ext cx="16459" cy="123444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0" y="960120"/>
            <a:ext cx="822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2536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96796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5409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09669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8283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22543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41157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5417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54031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48291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66905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61165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79779" y="1234440"/>
            <a:ext cx="6858" cy="3106674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39" y="4361688"/>
            <a:ext cx="411480" cy="1234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" y="1234440"/>
            <a:ext cx="8298180" cy="7680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" y="1316736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303A5D"/>
                </a:solidFill>
                <a:latin typeface="Segoe UI"/>
              </a:rPr>
              <a:t>Норі-снек у міні-пакеті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1481328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 лінійок · 49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42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74852" y="1476664"/>
            <a:ext cx="1445877" cy="68580"/>
          </a:xfrm>
          <a:prstGeom prst="rect">
            <a:avLst/>
          </a:prstGeom>
          <a:solidFill>
            <a:srgbClr val="B7BA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99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905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91469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0729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9592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82016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8708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3519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35192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055450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36479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18775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73217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0814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84761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89868" y="1480093"/>
            <a:ext cx="61722" cy="6172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057823" y="1428658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93302" y="1633849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8695" y="1764151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30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88708" y="1633849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04101" y="1764151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" y="2084832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C4820A"/>
                </a:solidFill>
                <a:latin typeface="Segoe UI"/>
              </a:rPr>
              <a:t>Норі-чипси та сендвічі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" y="2249424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лінійок · 19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83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87513" y="2244760"/>
            <a:ext cx="2893020" cy="68580"/>
          </a:xfrm>
          <a:prstGeom prst="rect">
            <a:avLst/>
          </a:prstGeom>
          <a:solidFill>
            <a:srgbClr val="EAD3A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56652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13499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446545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74590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389911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82399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48300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649673" y="2248189"/>
            <a:ext cx="61722" cy="6172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4882" y="2196754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690791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06184" y="2532247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108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709998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25391" y="264883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2F7A3E"/>
                </a:solidFill>
                <a:latin typeface="Segoe UI"/>
              </a:rPr>
              <a:t>109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951939" y="2401945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7332" y="2532247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5196" y="2770632"/>
            <a:ext cx="8298180" cy="768096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" y="2852928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5D4B96"/>
                </a:solidFill>
                <a:latin typeface="Segoe UI"/>
              </a:rPr>
              <a:t>Темпура та топінг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776" y="3017520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 лінійок · 11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135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945987" y="3012856"/>
            <a:ext cx="4640228" cy="68580"/>
          </a:xfrm>
          <a:prstGeom prst="rect">
            <a:avLst/>
          </a:prstGeom>
          <a:solidFill>
            <a:srgbClr val="C6C0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915126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187336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30468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390124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76474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851407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55355" y="3016285"/>
            <a:ext cx="61722" cy="6172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12755" y="2964850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09026" y="2841406"/>
            <a:ext cx="4800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 i="0">
                <a:solidFill>
                  <a:srgbClr val="5D4B96"/>
                </a:solidFill>
                <a:latin typeface="Segoe UI"/>
              </a:rPr>
              <a:t>528 →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15062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330455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105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81518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96911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159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534818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50211" y="341692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102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975304" y="3170041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90697" y="3300343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23A22"/>
                </a:solidFill>
                <a:latin typeface="Segoe UI"/>
              </a:rPr>
              <a:t>199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3776" y="3621024"/>
            <a:ext cx="1440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1" i="0">
                <a:solidFill>
                  <a:srgbClr val="B23A3A"/>
                </a:solidFill>
                <a:latin typeface="Segoe UI"/>
              </a:rPr>
              <a:t>Рисові крекери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3776" y="3785616"/>
            <a:ext cx="1440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лінійок · 9 SKU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медіана 145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3088" y="3780952"/>
            <a:ext cx="546951" cy="68580"/>
          </a:xfrm>
          <a:prstGeom prst="rect">
            <a:avLst/>
          </a:prstGeom>
          <a:solidFill>
            <a:srgbClr val="E4BA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2227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44608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09179" y="3784381"/>
            <a:ext cx="61722" cy="61722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667240" y="3732946"/>
            <a:ext cx="16459" cy="16459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6249790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65183" y="406843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B36214"/>
                </a:solidFill>
                <a:latin typeface="Segoe UI"/>
              </a:rPr>
              <a:t>170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291959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07352" y="4068439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D5B63"/>
                </a:solidFill>
                <a:latin typeface="Segoe UI"/>
              </a:rPr>
              <a:t>132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993076" y="3938137"/>
            <a:ext cx="116586" cy="116586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8469" y="4185025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1" i="0">
                <a:solidFill>
                  <a:srgbClr val="1D5B63"/>
                </a:solidFill>
                <a:latin typeface="Segoe UI"/>
              </a:rP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5196" y="4526280"/>
            <a:ext cx="82981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0" i="0">
                <a:solidFill>
                  <a:srgbClr val="717890"/>
                </a:solidFill>
                <a:latin typeface="Segoe UI"/>
              </a:rPr>
              <a:t>Кольорові кружки — наша полиця (₴ за упаковку), смуга — діапазон цін ринку в сегменті, квадрати — лінійки брендів, риска — типова ціна (медіана). Tao Kae Noi 59 г коштує 528 ₴ в Onde — за шкалою. Рисові чипси — не наш формат, не показано.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МІНІ-ПАКЕТ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міні-пакет 4–5 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0" i="0">
                <a:solidFill>
                  <a:srgbClr val="717890"/>
                </a:solidFill>
                <a:latin typeface="Segoe UI"/>
              </a:rPr>
              <a:t>TMK ROLL 2,5 г — 30 ₴, DOUBLE ROLL 5 г — 53 ₴. Найходовіша упаковка ринку — 4,5 г, типова ціна 42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330452"/>
            <a:ext cx="8298180" cy="2057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57884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357884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357884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7398" y="1536192"/>
            <a:ext cx="2104720" cy="2983230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779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7205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7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803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536192"/>
            <a:ext cx="5486" cy="2983230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1020" y="451256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" y="1563624"/>
            <a:ext cx="8298180" cy="163830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" y="156362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156362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156362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81144" y="158038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2307" y="156362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" y="172745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3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172745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172745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25035" y="1792224"/>
            <a:ext cx="15360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97603" y="17819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1205" y="17819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24863" y="176136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74649" y="172745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30–32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" y="189128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 · 4,5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189128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189128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35493" y="192519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9511" y="189128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" y="205511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05511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205511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93145" y="2119884"/>
            <a:ext cx="1084249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565713" y="210959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649963" y="210959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24519" y="208902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3407" y="205511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60" y="221894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4,5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221894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6160" y="221894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93145" y="2283714"/>
            <a:ext cx="77598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65713" y="22734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341696" y="227342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57737" y="225285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5140" y="221894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" y="238277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4,5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238277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238277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05743" y="2447544"/>
            <a:ext cx="733463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778311" y="243725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11774" y="243725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943760" y="241668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35218" y="238277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33–47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060" y="254660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Royal Tiger · 4 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80360" y="254660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6160" y="254660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124469" y="258051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8487" y="254660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" y="271043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Humanwell · 4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80360" y="271043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66160" y="271043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51215" y="2775204"/>
            <a:ext cx="148818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123783" y="27649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272601" y="27649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135098" y="274434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96045" y="271043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40–42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0060" y="287426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 · 4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80360" y="287426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87426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36083" y="290817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380101" y="287426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0060" y="303809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Akura · 4,5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80360" y="303809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6160" y="303809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28971" y="3102864"/>
            <a:ext cx="387991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001539" y="309257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389530" y="309257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236083" y="307200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512974" y="303809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37–44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0060" y="320192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Haelove · 4,5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80360" y="320192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66160" y="320192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82515" y="3266694"/>
            <a:ext cx="940746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555083" y="325640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495829" y="325640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278602" y="323583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19273" y="320192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29–46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0060" y="336575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Ямчан · 4,5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0360" y="336575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4,5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66160" y="336575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395702" y="3430524"/>
            <a:ext cx="201968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368270" y="34202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5570239" y="342023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448681" y="339966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93683" y="336575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44–48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" y="352958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Sempio · 5 г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352958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66160" y="352958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23261" y="3594354"/>
            <a:ext cx="292322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495829" y="35840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88152" y="358406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621416" y="356349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911596" y="352958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46–52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0060" y="369341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Dong Won · 2,7 г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80360" y="369341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2,7 г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566160" y="369341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735688" y="372732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879706" y="369341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0060" y="385724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Paldo · 5 г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880360" y="385724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66160" y="385724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751633" y="389115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895651" y="385724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5196" y="4021074"/>
            <a:ext cx="8298180" cy="163830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" y="402107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DOUBLE ROLL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80360" y="402107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 г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160" y="402107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803582" y="403783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964745" y="402107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0060" y="418490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Kimnori · 4 г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880360" y="418490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566160" y="418490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165581" y="4249674"/>
            <a:ext cx="1068304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7138149" y="423938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8206454" y="423938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7229189" y="421881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76911" y="418490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77–98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0060" y="4348734"/>
            <a:ext cx="267462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 · 4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80360" y="4348734"/>
            <a:ext cx="54864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 г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66160" y="4348734"/>
            <a:ext cx="3429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516368" y="4413504"/>
            <a:ext cx="265747" cy="34290"/>
          </a:xfrm>
          <a:prstGeom prst="rect">
            <a:avLst/>
          </a:prstGeom>
          <a:solidFill>
            <a:srgbClr val="ACB0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7488936" y="44032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7754683" y="4403217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303A5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659700" y="4382643"/>
            <a:ext cx="96012" cy="96012"/>
          </a:xfrm>
          <a:prstGeom prst="roundRect">
            <a:avLst>
              <a:gd name="adj" fmla="val 50000"/>
            </a:avLst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727698" y="4348734"/>
            <a:ext cx="685800" cy="163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84–89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5196" y="4690872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ЧИПСИ ТА СЕНДВІЧІ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чипси та сендвічі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ZEK Sandwich 25 г — 79 ₴ (між Norris і Ock Dong Ja); TMK SEAWEED / MINI 10–12 г — 108–109 ₴: на рівні 40-грамових чипсів Ocean Snack (111 ₴).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4324" y="1371600"/>
            <a:ext cx="1796453" cy="2184273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779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7205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0377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803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1371600"/>
            <a:ext cx="5486" cy="2184273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1020" y="3549015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" y="1399032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10 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1399032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1399032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09385" y="1479613"/>
            <a:ext cx="2923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81953" y="146932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11185" y="146932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90611" y="1448752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4629" y="1399032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30–31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" y="1594485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8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1594485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8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1594485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7554" y="1675066"/>
            <a:ext cx="350520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640122" y="166477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990643" y="166477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950271" y="1644205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14087" y="1594485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21–34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" y="1789938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Hokkaido Club · 25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1789938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1789938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70112" y="1870519"/>
            <a:ext cx="53415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442680" y="1860232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976832" y="1860232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14640" y="1839658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00276" y="1789938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51–71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060" y="1985391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Norris · 25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1985391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1985391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63813" y="2065972"/>
            <a:ext cx="1092222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6381" y="20556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28603" y="2055685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958916" y="2035111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52047" y="1985391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47–88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5196" y="2180844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" y="2180844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Sandwich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2180844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6160" y="2180844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9054" y="221341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10217" y="2180844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060" y="2376297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15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80360" y="2376297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66160" y="2376297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54067" y="2456878"/>
            <a:ext cx="1145371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226635" y="244659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372007" y="244659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604682" y="2426017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5451" y="2376297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80–124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5196" y="2571750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0060" y="2571750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SEAWEED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80360" y="2571750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6160" y="2571750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919722" y="2604325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80885" y="2571750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5196" y="2767203"/>
            <a:ext cx="8298180" cy="19545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0060" y="2767203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TMK · MINI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80360" y="2767203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2767203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46296" y="279977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07459" y="2767203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0060" y="2962656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Ocean Snack · 40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80360" y="2962656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66160" y="2962656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016591" y="3012376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60609" y="2962656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0060" y="3158109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25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158109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66160" y="3158109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077884" y="3238690"/>
            <a:ext cx="1052360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050452" y="32284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102812" y="3228403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400596" y="3207829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289214" y="3158109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112–151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0060" y="3353562"/>
            <a:ext cx="267462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20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0360" y="3353562"/>
            <a:ext cx="54864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66160" y="3353562"/>
            <a:ext cx="3429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19320" y="3434143"/>
            <a:ext cx="310924" cy="34290"/>
          </a:xfrm>
          <a:prstGeom prst="rect">
            <a:avLst/>
          </a:prstGeom>
          <a:solidFill>
            <a:srgbClr val="E7CD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791888" y="342385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102812" y="3423856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4820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926776" y="3403282"/>
            <a:ext cx="96012" cy="96012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030650" y="3353562"/>
            <a:ext cx="685800" cy="1954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139–151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5196" y="3727323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5196" y="3967353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25196" y="3967353"/>
            <a:ext cx="27432" cy="6858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2356" y="4035933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C4820A"/>
                </a:solidFill>
                <a:latin typeface="Segoe UI"/>
              </a:rPr>
              <a:t>ZEK SANDWICH 25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356" y="4186809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79 ₴ — вище за Norris 25 г (71 ₴) і Hokkaido Club 25 г (58 ₴), нижче за Ock Dong Ja 25 г (125 ₴).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574286" y="3967353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574286" y="3967353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11446" y="4035933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TMK SEAWEED / MINI 10–12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11446" y="4186809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108 ₴ за пакет 10–12 г — на рівні Ocean Snack 40 г (111 ₴). Сусіди за вагою: Norris 8–10 г — 31–33 ₴, Ock Dong Ja 15 г — 96 ₴.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ТЕМПУРА Й ТОПІНГ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темпура й топінг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ZEK Tempura 30 г — 105 ₴ і 50 г — 159 ₴ поряд із Tao Kae Noi 25 г (88 ₴) і 40 г (135 ₴); ZEK Topping 35 / 70 г — 98 / 199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5980" y="1371600"/>
            <a:ext cx="3410071" cy="224256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65192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9452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15584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9844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65976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0236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8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0628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1371600"/>
            <a:ext cx="5486" cy="224256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1020" y="36073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" y="1399032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15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1399032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1399032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38027" y="1473898"/>
            <a:ext cx="999210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10595" y="146361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09806" y="1463611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22895" y="1443037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33250" y="1399032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70–118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" y="1583055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583055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25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1583055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23067" y="1657921"/>
            <a:ext cx="2517160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95635" y="1647634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12795" y="1647634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651438" y="1627060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6239" y="1583055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74–193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" y="1767078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0060" y="1767078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1767078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66160" y="1767078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57521" y="1793938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18684" y="1767078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98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" y="1951101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" y="1951101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1951101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1951101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42560" y="1977961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03723" y="1951101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" y="2135124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Metro Chef · 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80360" y="2135124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66160" y="2135124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3485" y="2179129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67503" y="2135124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5196" y="2319147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" y="2319147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Tempura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0360" y="2319147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66160" y="2319147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6340" y="2346007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67503" y="2319147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0060" y="2503170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40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2503170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2503170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28576" y="2578036"/>
            <a:ext cx="361416" cy="34290"/>
          </a:xfrm>
          <a:prstGeom prst="rect">
            <a:avLst/>
          </a:prstGeom>
          <a:solidFill>
            <a:srgbClr val="BEB7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01144" y="256774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862561" y="2567749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5D4B9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661279" y="2547175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86005" y="2503170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126–144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25196" y="2687193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0060" y="2687193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Tempura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80360" y="2687193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66160" y="2687193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54369" y="2714053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15532" y="2687193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159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" y="2871216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35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80360" y="2871216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35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66160" y="2871216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741276" y="2915221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85294" y="2871216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186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5196" y="3055239"/>
            <a:ext cx="8298180" cy="184023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80060" y="3055239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ZEK · Topping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80360" y="3055239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66160" y="3055239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004761" y="308209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65924" y="3055239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" y="3239262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Ock Dong Ja · 70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80360" y="3239262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70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3239262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727731" y="3283267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87067" y="3239262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232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0060" y="3423285"/>
            <a:ext cx="267462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Tao Kae Noi · 59 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0360" y="3423285"/>
            <a:ext cx="54864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59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66160" y="3423285"/>
            <a:ext cx="3429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318754" y="3467290"/>
            <a:ext cx="96012" cy="96012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78090" y="3423285"/>
            <a:ext cx="685800" cy="1840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528 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5196" y="3785616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5196" y="4025646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5196" y="4025646"/>
            <a:ext cx="27432" cy="6858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2356" y="4094226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5D4B96"/>
                </a:solidFill>
                <a:latin typeface="Segoe UI"/>
              </a:rPr>
              <a:t>ZEK TEMPURA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2356" y="4245102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30 г — 105 ₴: між Tao Kae Noi 25 г (88 ₴) і 40 г (135 ₴). 50 г — 159 ₴: дорожче за Tao Kae Noi 40 г.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574286" y="4025646"/>
            <a:ext cx="406679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74286" y="4025646"/>
            <a:ext cx="27432" cy="685800"/>
          </a:xfrm>
          <a:prstGeom prst="rect">
            <a:avLst/>
          </a:prstGeom>
          <a:solidFill>
            <a:srgbClr val="1F9A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11446" y="4094226"/>
            <a:ext cx="380619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1F9AA6"/>
                </a:solidFill>
                <a:latin typeface="Segoe UI"/>
              </a:rPr>
              <a:t>ZEK TOPPING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711446" y="4245102"/>
            <a:ext cx="380619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35 г — 98 ₴, 70 г — 199 ₴. Ock Dong Ja: 35 г — 186 ₴, 70 г — 232 ₴; Metro Chef 30 г — 105 ₴. ZEK дешевший.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РИСОВІ КРЕКЕРИ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Де ми стоїмо: рисові крекери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Thai-Nichi 50 г — 132 ₴, 55 г — 160 ₴; Singha 42 г — 170 ₴. Єдиний аналог у мережах — Want Want mini 60 г: 145 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165860"/>
            <a:ext cx="8298180" cy="20574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193292"/>
            <a:ext cx="27432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ЛІНІЙКА · ВІД ДЕШЕВИХ ДО ДОРОГИХ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193292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ВАГА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876" y="1193292"/>
            <a:ext cx="342900" cy="150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SKU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224" y="1371600"/>
            <a:ext cx="3486607" cy="1762506"/>
          </a:xfrm>
          <a:prstGeom prst="rect">
            <a:avLst/>
          </a:prstGeom>
          <a:solidFill>
            <a:srgbClr val="FFF3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906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346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3212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638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078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370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5810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66760" y="1371600"/>
            <a:ext cx="5486" cy="1762506"/>
          </a:xfrm>
          <a:prstGeom prst="rect">
            <a:avLst/>
          </a:prstGeom>
          <a:solidFill>
            <a:srgbClr val="D9DE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1020" y="312724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" y="1399032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Clearspring · 50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1399032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1399032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8052" y="1495044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2070" y="139903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" y="1687068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" y="1687068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Thai-Nichi · Norimaki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687068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1687068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83505" y="1765935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4668" y="1687068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" y="1975104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Want Want · 60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1975104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1975104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101977"/>
            <a:ext cx="318897" cy="34290"/>
          </a:xfrm>
          <a:prstGeom prst="rect">
            <a:avLst/>
          </a:prstGeom>
          <a:solidFill>
            <a:srgbClr val="E0B0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504688" y="2091690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2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823585" y="2091690"/>
            <a:ext cx="54864" cy="548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23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663050" y="2071116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7029" y="1975104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140–149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" y="2263140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Ultra Pop · 60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0360" y="2263140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60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263140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753404" y="2359152"/>
            <a:ext cx="96012" cy="96012"/>
          </a:xfrm>
          <a:prstGeom prst="roundRect">
            <a:avLst>
              <a:gd name="adj" fmla="val 50000"/>
            </a:avLst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97422" y="2263140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148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" y="2551176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0060" y="2551176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Thai-Nichi · Norimaki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551176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55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2551176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5629" y="2630043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6792" y="2551176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160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5196" y="2839212"/>
            <a:ext cx="8298180" cy="288036"/>
          </a:xfrm>
          <a:prstGeom prst="rect">
            <a:avLst/>
          </a:prstGeom>
          <a:solidFill>
            <a:srgbClr val="FFEB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80060" y="2839212"/>
            <a:ext cx="267462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24" b="1" i="0">
                <a:solidFill>
                  <a:srgbClr val="1C2235"/>
                </a:solidFill>
                <a:latin typeface="Segoe UI"/>
              </a:rPr>
              <a:t>НАШ · Singha · Norimaki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80360" y="2839212"/>
            <a:ext cx="54864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42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2839212"/>
            <a:ext cx="3429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29959" y="2918079"/>
            <a:ext cx="130302" cy="13030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 w="12700">
            <a:solidFill>
              <a:srgbClr val="1C22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91122" y="2839212"/>
            <a:ext cx="68580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8" b="1" i="0">
                <a:solidFill>
                  <a:srgbClr val="1C2235"/>
                </a:solidFill>
                <a:latin typeface="Segoe UI"/>
              </a:rPr>
              <a:t>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" y="3305556"/>
            <a:ext cx="82981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717890"/>
                </a:solidFill>
                <a:latin typeface="Segoe UI"/>
              </a:rPr>
              <a:t>Грн за упаковку · велика точка — медіана, малі — межі діапазону між мережами; золота зона — наша полиця ±20 %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5196" y="3545586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THAI-NICHI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50 г — 132 ₴ і 55 г — 160 ₴ проти Want Want 60 г — 145 ₴: різниця -13 і +15 ₴.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9125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191256" y="3545586"/>
            <a:ext cx="27432" cy="685800"/>
          </a:xfrm>
          <a:prstGeom prst="rect">
            <a:avLst/>
          </a:prstGeom>
          <a:solidFill>
            <a:srgbClr val="B2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32841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B23A3A"/>
                </a:solidFill>
                <a:latin typeface="Segoe UI"/>
              </a:rPr>
              <a:t>SINGHA KAMEDA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2841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42 г — 170 ₴: на 22 ₴ (15 %) вище за найдорожчий крекер у мережах (Ultra Pop 60 г — 148 ₴) і на 25 ₴ вище за Want Want.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57316" y="3545586"/>
            <a:ext cx="2683764" cy="6858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57316" y="3545586"/>
            <a:ext cx="27432" cy="6858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94476" y="3614166"/>
            <a:ext cx="2423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20">
                <a:solidFill>
                  <a:srgbClr val="303A5D"/>
                </a:solidFill>
                <a:latin typeface="Segoe UI"/>
              </a:rPr>
              <a:t>ЩО ВАЖЛИВО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4476" y="3765042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8" b="0" i="0">
                <a:solidFill>
                  <a:srgbClr val="1C2235"/>
                </a:solidFill>
                <a:latin typeface="Segoe UI"/>
              </a:rPr>
              <a:t>Це єдині аналоги, які знайшлися в мережах: Want Want mini — 3 мережі. Арарe/норімакі на кшталт наших не знайдено — полицю варто перевірити наживо.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Каталоги мереж на zakaz.ua (METRO, NOVUS, Ашан, Зараз, МегаМаркет, Ultramarket, Епіцентр, Космос, Onde, Ідеал, Восторг, Клас, Таврія В, ЧудоМаркет, Торба, Grono) · 07.10.2026 · ціна — онлайн-полиця одного магазину мережі, діапазон — між мережами.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ХТО З КИМ СТОЇТЬ · СУСІДИ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Найближчі за ціною до кожного нашого товару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32688"/>
            <a:ext cx="82981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717890"/>
                </a:solidFill>
                <a:latin typeface="Segoe UI"/>
              </a:rPr>
              <a:t>Для кожної нашої позиції (смаки з однаковою ціною — одним рядком) — три найближчі за ціною упаковки ринку з того самого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07008"/>
            <a:ext cx="8298180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207008"/>
            <a:ext cx="171450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НАШ ТОВАР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6856" y="1207008"/>
            <a:ext cx="5486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ПОЛИЦЯ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694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576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4586" y="1207008"/>
            <a:ext cx="192024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FFFFFF"/>
                </a:solidFill>
                <a:latin typeface="Segoe UI"/>
              </a:rPr>
              <a:t>СУСІД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" y="142646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" y="1426464"/>
            <a:ext cx="34290" cy="24638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" y="14264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42 г · 2 смаки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6856" y="14264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170 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694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576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4586" y="14264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-26 %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" y="1672844"/>
            <a:ext cx="34290" cy="24638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" y="16728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Original 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6856" y="16728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132 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694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576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4586" y="16728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+12 %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" y="191922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6" y="1919224"/>
            <a:ext cx="34290" cy="24638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" y="19192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Norimaki Wasabi 55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76856" y="19192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160 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694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Ultra Pop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-8 %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576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Want Want 60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-9 %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4586" y="19192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Clearspring 50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-21 %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" y="216560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" y="216560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ROLL Original 2,5 г · 3 смаки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76856" y="216560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30 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694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Norris 3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30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+3 %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576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4,5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+4 %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74586" y="21656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4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32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+9 %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" y="241198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5196" y="241198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4924" y="241198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DOUBLE ROLL Original 5 г · 2 смаки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76856" y="241198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53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694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Paldo 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576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Dong Won 2,7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-3 %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74586" y="24119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Sempio 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49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-7 %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" y="265836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4924" y="26583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SEAWEED Original 12 г · 3 смаки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76856" y="26583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108 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694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-12 %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576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+16 %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74586" y="26583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+34 %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5196" y="290474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5196" y="2904744"/>
            <a:ext cx="34290" cy="24638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" y="29047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Wow MINI Original 10 г · 2 смаки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76856" y="29047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109 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9694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-13 %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576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125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+15 %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74586" y="29047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20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145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+33 %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5196" y="315112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" y="31511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30 г · 3 смаки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856" y="31511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105 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9694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+0 %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8576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-17 %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74586" y="31511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-27 %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5196" y="339750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5196" y="339750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4924" y="339750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Tempura Corn 50 г · 3 смаки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6856" y="339750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159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9694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40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-15 %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576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35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+17 %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74586" y="339750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-34 %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5196" y="364388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4924" y="364388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Sandwich Meat Floss 25 г · 2 смаки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6856" y="364388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79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9694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Norris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71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-10 %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8576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96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+20 %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74586" y="364388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Hokkaido Club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58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-27 %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5196" y="389026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5196" y="389026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4924" y="389026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Chicken Floss 35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76856" y="389026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102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9694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+3 %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8576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-14 %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74586" y="389026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5196" y="413664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4924" y="413664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35 г · 2 смаки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6856" y="413664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98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9694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Metro Chef 30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105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+7 %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8576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25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88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-11 %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74586" y="413664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15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77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5196" y="4383024"/>
            <a:ext cx="8298180" cy="246380"/>
          </a:xfrm>
          <a:prstGeom prst="rect">
            <a:avLst/>
          </a:prstGeom>
          <a:solidFill>
            <a:srgbClr val="F8F9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5196" y="4383024"/>
            <a:ext cx="34290" cy="24638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4924" y="4383024"/>
            <a:ext cx="178308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Topping Vegetables 70 г · 3 смаки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76856" y="4383024"/>
            <a:ext cx="54864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1C2235"/>
                </a:solidFill>
                <a:latin typeface="Segoe UI"/>
              </a:rPr>
              <a:t>199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9694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35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186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-6 %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8576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Ock Dong Ja 70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232 ₴</a:t>
            </a:r>
            <a:r>
              <a:rPr sz="600" b="1" i="0">
                <a:solidFill>
                  <a:srgbClr val="3E8E5A"/>
                </a:solidFill>
                <a:latin typeface="Segoe UI"/>
              </a:rPr>
              <a:t>  +17 %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74586" y="4383024"/>
            <a:ext cx="1954530" cy="2463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>
                <a:solidFill>
                  <a:srgbClr val="303A5D"/>
                </a:solidFill>
                <a:latin typeface="Segoe UI"/>
              </a:rPr>
              <a:t>Tao Kae Noi 40 г  </a:t>
            </a:r>
            <a:r>
              <a:rPr sz="600" b="1" i="0">
                <a:solidFill>
                  <a:srgbClr val="1C2235"/>
                </a:solidFill>
                <a:latin typeface="Segoe UI"/>
              </a:rPr>
              <a:t>135 ₴</a:t>
            </a:r>
            <a:r>
              <a:rPr sz="600" b="1" i="0">
                <a:solidFill>
                  <a:srgbClr val="B23A3A"/>
                </a:solidFill>
                <a:latin typeface="Segoe UI"/>
              </a:rPr>
              <a:t>  -32 %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5196" y="4855464"/>
            <a:ext cx="82981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1">
                <a:solidFill>
                  <a:srgbClr val="717890"/>
                </a:solidFill>
                <a:latin typeface="Segoe UI"/>
              </a:rPr>
              <a:t>Відсоток біля сусіда — на скільки його упаковка дорожча (+) або дешевша (−) за нашу полицю. Зелений — у межах ±20 % від нашої ціни, червоний — далі. Вага упаковок може відрізнятися.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977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3977" cy="79552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9143977" cy="411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" y="178308"/>
            <a:ext cx="1042416" cy="4526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8216" y="205740"/>
            <a:ext cx="6172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 i="0" spc="3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8216" y="377190"/>
            <a:ext cx="61722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20" b="1" i="0">
                <a:solidFill>
                  <a:srgbClr val="FFFFFF"/>
                </a:solidFill>
                <a:latin typeface="Segoe UI"/>
              </a:rPr>
              <a:t>Що показав зріз ринку і де ми стоїмо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990" y="301752"/>
            <a:ext cx="768096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60" b="1" i="0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" y="918972"/>
            <a:ext cx="8298180" cy="308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72" b="0" i="0">
                <a:solidFill>
                  <a:srgbClr val="717890"/>
                </a:solidFill>
                <a:latin typeface="Segoe UI"/>
              </a:rPr>
              <a:t>Ціни нашої полиці — за формулою рису: бонус мережі 25 %, наша маржа 30 % ціни партнеру, націнка магазину +40 %; ринок — онлайн-каталоги мереж на 07.10.2026 і митна база 2025–2026.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" y="1268730"/>
            <a:ext cx="2023110" cy="24688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ЩО КАЖЕ РИНОК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1659636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Полиця мереж — це міні-пакет: 49 SKU, 13 брендів. Найходовіша упаковка — 4,5 г (64 % присутності), типова ціна 40 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2359152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311146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Чипси 8–40 г — лише 4 бренди (Norris, Hokkaido Club, Ock Dong Ja, Ocean Snack); найходовіша — 25 г, 47–88 ₴.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" y="3058668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01066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Темпура — практично один бренд, Tao Kae Noi: 25 г — 88 ₴, 40 г — 135 ₴.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" y="3758184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7101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Рисові крекери в мережах — лише Want Want mini 60 г (145 ₴, 3 мережі) та Ultra Pop.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4457700"/>
            <a:ext cx="48006" cy="4800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0969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2" b="0" i="0">
                <a:solidFill>
                  <a:srgbClr val="1C2235"/>
                </a:solidFill>
                <a:latin typeface="Segoe UI"/>
              </a:rPr>
              <a:t>Митна база: 109,5 т нори-снеків за 17 місяців, 81 % з Кореї, $31,7/кг; рисових крекерів у коді 1905 90 55 00 — лише 0,3 т.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6886" y="1268730"/>
            <a:ext cx="2023110" cy="2468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289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ДЕ МИ В ЦІНІ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688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12898" y="1659636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2262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 Tempura 30 г — 105 ₴ (між Tao Kae Noi 25 г за 88 ₴ і 40 г за 135 ₴), 50 г — 159 ₴. Topping 35 / 70 г — 98 / 199 ₴, нижче за Ock Dong Ja.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12898" y="2537460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262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 Sandwich 25 г — 79 ₴: вище за Norris 25 г (71 ₴), нижче за Ock Dong Ja 25 г (125 ₴).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12898" y="3415284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262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TMK ROLL 2,5 г — 30 ₴, DOUBLE 5 г — 53 ₴: у ціновому коридорі мініпакетів (типова 42 ₴). SEAWEED / MINI 10–12 г — 108–109 ₴: дорожче за всіх сусідів за вагою.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898" y="4293108"/>
            <a:ext cx="48006" cy="4800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2262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Thai-Nichi 50 / 55 г — 132 / 160 ₴, Singha 42 г — 170 ₴ проти Want Want 60 г — 145 ₴.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8576" y="1268730"/>
            <a:ext cx="2023110" cy="24688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0458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ЩО З ЦИМ РОБИТИ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857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4588" y="1659636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431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ZEK: темпура й топінг мають найчистіше позиціонування — ціна в коридорі ринку, прямий конкурент один.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4588" y="2537460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1431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TMK: ROLL і DOUBLE можна виводити; SEAWEED / MINI 10–12 г перерахувати — навіть при марже 15 % полиця 81–82 ₴ (див. чутливість).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4588" y="3415284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431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Thai-Nichi 50 г (132 ₴) — нижче Want Want (145 ₴); Thai-Nichi 55 г (160 ₴) і Singha (170 ₴) — вище: шукати дешевший контейнер або знижувати маржу.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04588" y="4293108"/>
            <a:ext cx="48006" cy="48006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431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Для всіх: перед замовленням підтвердити ціну на живій полиці й окремо в азійських магазинах.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0266" y="1268730"/>
            <a:ext cx="2023110" cy="246888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96278" y="1316736"/>
            <a:ext cx="188595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6" b="1" i="0" spc="20">
                <a:solidFill>
                  <a:srgbClr val="FFFFFF"/>
                </a:solidFill>
                <a:latin typeface="Segoe UI"/>
              </a:rPr>
              <a:t>ОБМЕЖЕННЯ ЗРІЗУ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0266" y="1515618"/>
            <a:ext cx="2023110" cy="332613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96278" y="1659636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06006" y="1611630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Митна база охоплює лише 4 коди УКТ ЗЕД і не розбита на SKU: товари під іншими кодами (наприклад, Want Want) у ній не видно.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96278" y="2537460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06006" y="2489454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Ціни — онлайн-каталоги одного магазину кожної мережі; офлайн-акцій і знижок «в залі» немає.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96278" y="3415284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06006" y="3367278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Арарe/норімакі не знайдено в мережах — це «не знайдено в каталогах», а не доказ відсутності.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96278" y="4293108"/>
            <a:ext cx="48006" cy="4800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06006" y="4245102"/>
            <a:ext cx="173507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2235"/>
                </a:solidFill>
                <a:latin typeface="Segoe UI"/>
              </a:rPr>
              <a:t>Фінмодель — за формулою рису: бонус мережі 25 %, наша маржа 30 %, полиця = ціна партнеру × 1,40; реальні умови мереж можуть відрізнятись.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