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269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BBD0A5-9C7D-4B8A-AB5B-77EAF4C4F90C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D94308-184B-4E6F-94F0-0A20C8C407D6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780029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D94308-184B-4E6F-94F0-0A20C8C407D6}" type="slidenum">
              <a:rPr lang="uk-UA" smtClean="0"/>
              <a:t>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02266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D94308-184B-4E6F-94F0-0A20C8C407D6}" type="slidenum">
              <a:rPr lang="uk-UA" smtClean="0"/>
              <a:t>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227003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D94308-184B-4E6F-94F0-0A20C8C407D6}" type="slidenum">
              <a:rPr lang="uk-UA" smtClean="0"/>
              <a:t>14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04353490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6.png"/><Relationship Id="rId4" Type="http://schemas.openxmlformats.org/officeDocument/2006/relationships/image" Target="../media/image5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4892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 dirty="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60704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87168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 rot="21060000">
            <a:off x="5436108" y="603503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 rot="21060000">
            <a:off x="5404104" y="557783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Picture 25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060000">
            <a:off x="5495544" y="674315"/>
            <a:ext cx="987552" cy="124826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 rot="420000">
            <a:off x="6606540" y="397763"/>
            <a:ext cx="786384" cy="1417320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 rot="420000">
            <a:off x="6574536" y="352043"/>
            <a:ext cx="786384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9" name="Picture 28" descr="tmk_roll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20000">
            <a:off x="6763350" y="443483"/>
            <a:ext cx="408754" cy="123444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 rot="600000">
            <a:off x="7438644" y="704088"/>
            <a:ext cx="1188720" cy="1517904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 rot="600000">
            <a:off x="7406640" y="658368"/>
            <a:ext cx="1188720" cy="15179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2" name="Picture 31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7498079" y="812848"/>
            <a:ext cx="1005840" cy="120894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 rot="360000">
            <a:off x="5207508" y="2551175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 rot="360000">
            <a:off x="5175504" y="2505456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5" name="Picture 34" descr="zek_tempura_corn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60000">
            <a:off x="5266944" y="2603217"/>
            <a:ext cx="987552" cy="1285805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 rot="21240000">
            <a:off x="6313932" y="2432303"/>
            <a:ext cx="1243584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 rot="21240000">
            <a:off x="6281928" y="2386584"/>
            <a:ext cx="1243584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Picture 37" descr="tmk_sw_ori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240000">
            <a:off x="6405266" y="2478024"/>
            <a:ext cx="996906" cy="1298448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 rot="20940000">
            <a:off x="7584948" y="2761488"/>
            <a:ext cx="1078992" cy="1371600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ounded Rectangle 39"/>
          <p:cNvSpPr/>
          <p:nvPr/>
        </p:nvSpPr>
        <p:spPr>
          <a:xfrm rot="20940000">
            <a:off x="7552944" y="2715768"/>
            <a:ext cx="107899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1" name="Picture 40" descr="zek_topping_veg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940000">
            <a:off x="7652861" y="2807208"/>
            <a:ext cx="879157" cy="1188720"/>
          </a:xfrm>
          <a:prstGeom prst="rect">
            <a:avLst/>
          </a:prstGeom>
        </p:spPr>
      </p:pic>
      <p:pic>
        <p:nvPicPr>
          <p:cNvPr id="20" name="Picture 59" descr="zek_sandwich_meat25.png">
            <a:extLst>
              <a:ext uri="{FF2B5EF4-FFF2-40B4-BE49-F238E27FC236}">
                <a16:creationId xmlns:a16="http://schemas.microsoft.com/office/drawing/2014/main" id="{AEED2E9B-D974-3C42-E5EC-8E48C83109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1649769">
            <a:off x="4110763" y="2453029"/>
            <a:ext cx="820895" cy="1234626"/>
          </a:xfrm>
          <a:prstGeom prst="rect">
            <a:avLst/>
          </a:prstGeom>
        </p:spPr>
      </p:pic>
      <p:sp>
        <p:nvSpPr>
          <p:cNvPr id="14" name="Rounded Rectangle 24">
            <a:extLst>
              <a:ext uri="{FF2B5EF4-FFF2-40B4-BE49-F238E27FC236}">
                <a16:creationId xmlns:a16="http://schemas.microsoft.com/office/drawing/2014/main" id="{99A07C36-0933-CDAC-B935-69D7A8210C44}"/>
              </a:ext>
            </a:extLst>
          </p:cNvPr>
          <p:cNvSpPr/>
          <p:nvPr/>
        </p:nvSpPr>
        <p:spPr>
          <a:xfrm rot="20910944">
            <a:off x="3022300" y="2420917"/>
            <a:ext cx="864009" cy="11919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83" descr="zek_sandwich_sesame25.png">
            <a:extLst>
              <a:ext uri="{FF2B5EF4-FFF2-40B4-BE49-F238E27FC236}">
                <a16:creationId xmlns:a16="http://schemas.microsoft.com/office/drawing/2014/main" id="{47F56737-65C3-9825-E0D7-13CC77C017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1075912">
            <a:off x="3061702" y="2458059"/>
            <a:ext cx="755190" cy="11253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06440" y="566928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logo_sing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632" y="713232"/>
            <a:ext cx="1513975" cy="8046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06440" y="1847088"/>
            <a:ext cx="2880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plant_sing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946" y="1920240"/>
            <a:ext cx="2239346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9592" y="3419856"/>
            <a:ext cx="2734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Виробничий майданчик · singhakameda.co.th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13632"/>
            <a:ext cx="3794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D0B8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14800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35C15"/>
                </a:solidFill>
                <a:latin typeface="Calibri"/>
              </a:rPr>
              <a:t>ПРОФІЛЬ ПОСТАЧАЛЬНИКА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35C15"/>
                </a:solidFill>
                <a:latin typeface="Calibri"/>
              </a:rPr>
              <a:t>Рисові крекери арарe в норі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B5F15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створення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спільного підприємства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AB5F15"/>
                </a:solidFill>
                <a:latin typeface="Cambria"/>
              </a:rPr>
              <a:t>50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Kameda Seika (Японія)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Singha (Таїланд)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контрактне виробництво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для інших брендів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СЕРТИФІКАТИ ВИРОБНИЦТВА</a:t>
            </a:r>
          </a:p>
        </p:txBody>
      </p:sp>
      <p:pic>
        <p:nvPicPr>
          <p:cNvPr id="32" name="Picture 31" descr="cert_hacc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89382" cy="237744"/>
          </a:xfrm>
          <a:prstGeom prst="rect">
            <a:avLst/>
          </a:prstGeom>
        </p:spPr>
      </p:pic>
      <p:pic>
        <p:nvPicPr>
          <p:cNvPr id="33" name="Picture 32" descr="cert_br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22" y="4626864"/>
            <a:ext cx="159692" cy="237744"/>
          </a:xfrm>
          <a:prstGeom prst="rect">
            <a:avLst/>
          </a:prstGeom>
        </p:spPr>
      </p:pic>
      <p:pic>
        <p:nvPicPr>
          <p:cNvPr id="34" name="Picture 33" descr="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594" y="4626864"/>
            <a:ext cx="424904" cy="237744"/>
          </a:xfrm>
          <a:prstGeom prst="rect">
            <a:avLst/>
          </a:prstGeom>
        </p:spPr>
      </p:pic>
      <p:pic>
        <p:nvPicPr>
          <p:cNvPr id="35" name="Picture 34" descr="cert_ns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8378" y="4626864"/>
            <a:ext cx="726895" cy="237744"/>
          </a:xfrm>
          <a:prstGeom prst="rect">
            <a:avLst/>
          </a:prstGeom>
        </p:spPr>
      </p:pic>
      <p:pic>
        <p:nvPicPr>
          <p:cNvPr id="36" name="Picture 35" descr="cert_organi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8153" y="4626864"/>
            <a:ext cx="299764" cy="237744"/>
          </a:xfrm>
          <a:prstGeom prst="rect">
            <a:avLst/>
          </a:prstGeom>
        </p:spPr>
      </p:pic>
      <p:pic>
        <p:nvPicPr>
          <p:cNvPr id="37" name="Picture 36" descr="cert_se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0798" y="4626864"/>
            <a:ext cx="236537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339328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E8D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66636" y="530352"/>
            <a:ext cx="2311603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66636" y="530352"/>
            <a:ext cx="2311603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тільки рітейл-фасовку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63" y="1243584"/>
            <a:ext cx="904272" cy="1143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" y="2825496"/>
            <a:ext cx="352043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 dirty="0" err="1">
                <a:solidFill>
                  <a:srgbClr val="14241F"/>
                </a:solidFill>
                <a:latin typeface="Cambria"/>
              </a:rPr>
              <a:t>Arare</a:t>
            </a:r>
            <a:r>
              <a:rPr sz="1600" b="1" i="0" dirty="0">
                <a:solidFill>
                  <a:srgbClr val="14241F"/>
                </a:solidFill>
                <a:latin typeface="Cambria"/>
              </a:rPr>
              <a:t> Norimaki </a:t>
            </a:r>
            <a:r>
              <a:rPr sz="1600" b="1" dirty="0">
                <a:solidFill>
                  <a:srgbClr val="14241F"/>
                </a:solidFill>
                <a:latin typeface="Cambria"/>
              </a:rPr>
              <a:t>Original </a:t>
            </a:r>
            <a:r>
              <a:rPr lang="uk-UA" sz="1600" b="1" dirty="0">
                <a:solidFill>
                  <a:srgbClr val="14241F"/>
                </a:solidFill>
                <a:latin typeface="Cambria"/>
              </a:rPr>
              <a:t>· </a:t>
            </a:r>
            <a:endParaRPr sz="1600" b="1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 dirty="0" err="1">
                <a:solidFill>
                  <a:srgbClr val="44524C"/>
                </a:solidFill>
                <a:latin typeface="Calibri"/>
              </a:rPr>
              <a:t>Хрусткі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рисові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палички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арарe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в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обгортці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з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водорості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норі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.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Смак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соєвого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соусу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,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без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гостроти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 dirty="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FFFFFF"/>
                </a:solidFill>
                <a:latin typeface="Cambria"/>
              </a:rPr>
              <a:t>$1,21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54,65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 dirty="0" err="1">
                <a:solidFill>
                  <a:srgbClr val="8A938D"/>
                </a:solidFill>
                <a:latin typeface="Calibri"/>
              </a:rPr>
              <a:t>Збірний</a:t>
            </a:r>
            <a:r>
              <a:rPr sz="650" b="0" i="0" dirty="0">
                <a:solidFill>
                  <a:srgbClr val="8A938D"/>
                </a:solidFill>
                <a:latin typeface="Calibri"/>
              </a:rPr>
              <a:t>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75823"/>
            <a:ext cx="77577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56,49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 dirty="0">
                <a:solidFill>
                  <a:srgbClr val="8A938D"/>
                </a:solidFill>
                <a:latin typeface="Calibri"/>
              </a:rPr>
              <a:t>20′ </a:t>
            </a:r>
            <a:r>
              <a:rPr sz="650" b="0" i="0" dirty="0" err="1">
                <a:solidFill>
                  <a:srgbClr val="8A938D"/>
                </a:solidFill>
                <a:latin typeface="Calibri"/>
              </a:rPr>
              <a:t>контейнер</a:t>
            </a:r>
            <a:endParaRPr sz="650" b="0" i="0" dirty="0">
              <a:solidFill>
                <a:srgbClr val="8A938D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123236" y="4412983"/>
            <a:ext cx="77577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61,16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 dirty="0" err="1">
                <a:solidFill>
                  <a:srgbClr val="8A938D"/>
                </a:solidFill>
                <a:latin typeface="Calibri"/>
              </a:rPr>
              <a:t>Збірний</a:t>
            </a:r>
            <a:r>
              <a:rPr sz="650" b="0" i="0" dirty="0">
                <a:solidFill>
                  <a:srgbClr val="8A938D"/>
                </a:solidFill>
                <a:latin typeface="Calibri"/>
              </a:rPr>
              <a:t>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50143"/>
            <a:ext cx="77577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50143"/>
            <a:ext cx="88660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dirty="0">
                <a:solidFill>
                  <a:srgbClr val="44524C"/>
                </a:solidFill>
                <a:latin typeface="Calibri"/>
              </a:rPr>
              <a:t>61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,99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10" y="1243584"/>
            <a:ext cx="867578" cy="1143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983479" y="2825496"/>
            <a:ext cx="352043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 dirty="0" err="1">
                <a:solidFill>
                  <a:srgbClr val="14241F"/>
                </a:solidFill>
                <a:latin typeface="Cambria"/>
              </a:rPr>
              <a:t>Arare</a:t>
            </a:r>
            <a:r>
              <a:rPr sz="1600" b="1" i="0" dirty="0">
                <a:solidFill>
                  <a:srgbClr val="14241F"/>
                </a:solidFill>
                <a:latin typeface="Cambria"/>
              </a:rPr>
              <a:t> Norimaki Wasabi </a:t>
            </a:r>
            <a:r>
              <a:rPr lang="uk-UA" sz="1600" b="1" dirty="0">
                <a:solidFill>
                  <a:srgbClr val="14241F"/>
                </a:solidFill>
                <a:latin typeface="Cambria"/>
              </a:rPr>
              <a:t>· </a:t>
            </a:r>
            <a:endParaRPr sz="1600" b="1" i="0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 dirty="0" err="1">
                <a:solidFill>
                  <a:srgbClr val="44524C"/>
                </a:solidFill>
                <a:latin typeface="Calibri"/>
              </a:rPr>
              <a:t>Ті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самі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рисові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палички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в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норі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,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але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з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відчутною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гостротою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японського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васабі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FFFFFF"/>
                </a:solidFill>
                <a:latin typeface="Cambria"/>
              </a:rPr>
              <a:t>$1,21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54,65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75823"/>
            <a:ext cx="77577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56,49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412983"/>
            <a:ext cx="77577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61,16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50143"/>
            <a:ext cx="77577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$1,38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50143"/>
            <a:ext cx="88660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dirty="0">
                <a:solidFill>
                  <a:srgbClr val="44524C"/>
                </a:solidFill>
                <a:latin typeface="Calibri"/>
              </a:rPr>
              <a:t>61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,</a:t>
            </a:r>
            <a:r>
              <a:rPr lang="uk-UA" sz="700" b="1" i="0" dirty="0">
                <a:solidFill>
                  <a:srgbClr val="44524C"/>
                </a:solidFill>
                <a:latin typeface="Calibri"/>
              </a:rPr>
              <a:t>99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  <p:sp>
        <p:nvSpPr>
          <p:cNvPr id="58" name="Rounded Rectangle 12">
            <a:extLst>
              <a:ext uri="{FF2B5EF4-FFF2-40B4-BE49-F238E27FC236}">
                <a16:creationId xmlns:a16="http://schemas.microsoft.com/office/drawing/2014/main" id="{7EB29D27-C77B-14B9-162F-F061D267EC28}"/>
              </a:ext>
            </a:extLst>
          </p:cNvPr>
          <p:cNvSpPr/>
          <p:nvPr/>
        </p:nvSpPr>
        <p:spPr>
          <a:xfrm>
            <a:off x="836676" y="262897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21872B-B21A-CC92-AE7E-E3C79D2E70BD}"/>
              </a:ext>
            </a:extLst>
          </p:cNvPr>
          <p:cNvSpPr txBox="1"/>
          <p:nvPr/>
        </p:nvSpPr>
        <p:spPr>
          <a:xfrm>
            <a:off x="640080" y="2624328"/>
            <a:ext cx="3520439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750" b="1" i="0" spc="90" dirty="0">
                <a:solidFill>
                  <a:srgbClr val="A35C15"/>
                </a:solidFill>
                <a:latin typeface="Calibri"/>
              </a:rPr>
              <a:t>            </a:t>
            </a:r>
            <a:r>
              <a:rPr sz="650" b="1" spc="90" dirty="0">
                <a:solidFill>
                  <a:srgbClr val="A35C15"/>
                </a:solidFill>
                <a:latin typeface="Calibri"/>
              </a:rPr>
              <a:t>42 Г </a:t>
            </a:r>
            <a:r>
              <a:rPr lang="uk-UA" sz="650" b="1" spc="90" dirty="0">
                <a:solidFill>
                  <a:srgbClr val="A35C15"/>
                </a:solidFill>
                <a:latin typeface="Calibri"/>
              </a:rPr>
              <a:t>24 ШТ/КАРТ.</a:t>
            </a:r>
            <a:endParaRPr sz="650" b="1" spc="90" dirty="0">
              <a:solidFill>
                <a:srgbClr val="A35C15"/>
              </a:solidFill>
              <a:latin typeface="Calibri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11AEFB-39A3-312C-987C-CDBB7998E8DA}"/>
              </a:ext>
            </a:extLst>
          </p:cNvPr>
          <p:cNvSpPr txBox="1"/>
          <p:nvPr/>
        </p:nvSpPr>
        <p:spPr>
          <a:xfrm>
            <a:off x="5257801" y="2628974"/>
            <a:ext cx="3520439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750" b="1" i="0" spc="90" dirty="0">
                <a:solidFill>
                  <a:srgbClr val="A35C15"/>
                </a:solidFill>
                <a:latin typeface="Calibri"/>
              </a:rPr>
              <a:t>            </a:t>
            </a:r>
            <a:r>
              <a:rPr sz="650" b="1" spc="90" dirty="0">
                <a:solidFill>
                  <a:srgbClr val="A35C15"/>
                </a:solidFill>
                <a:latin typeface="Calibri"/>
              </a:rPr>
              <a:t>42 Г </a:t>
            </a:r>
            <a:r>
              <a:rPr lang="uk-UA" sz="650" b="1" spc="90" dirty="0">
                <a:solidFill>
                  <a:srgbClr val="A35C15"/>
                </a:solidFill>
                <a:latin typeface="Calibri"/>
              </a:rPr>
              <a:t>24 ШТ/КАРТ.</a:t>
            </a:r>
            <a:endParaRPr sz="650" b="1" spc="90" dirty="0">
              <a:solidFill>
                <a:srgbClr val="A35C15"/>
              </a:solidFill>
              <a:latin typeface="Calibri"/>
            </a:endParaRPr>
          </a:p>
        </p:txBody>
      </p:sp>
      <p:sp>
        <p:nvSpPr>
          <p:cNvPr id="66" name="Rounded Rectangle 12">
            <a:extLst>
              <a:ext uri="{FF2B5EF4-FFF2-40B4-BE49-F238E27FC236}">
                <a16:creationId xmlns:a16="http://schemas.microsoft.com/office/drawing/2014/main" id="{DF931599-32AE-0C6F-647F-1E6DD029EEEA}"/>
              </a:ext>
            </a:extLst>
          </p:cNvPr>
          <p:cNvSpPr/>
          <p:nvPr/>
        </p:nvSpPr>
        <p:spPr>
          <a:xfrm>
            <a:off x="5426964" y="263577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рітейл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830214" y="530352"/>
            <a:ext cx="2948025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30214" y="530352"/>
            <a:ext cx="2948025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рітейл-фасовку разом із BULK 3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60" y="1225295"/>
            <a:ext cx="7957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 dirty="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 err="1">
                <a:solidFill>
                  <a:srgbClr val="14241F"/>
                </a:solidFill>
                <a:latin typeface="Cambria"/>
              </a:rPr>
              <a:t>Arare</a:t>
            </a:r>
            <a:r>
              <a:rPr sz="1200" b="1" i="0" dirty="0">
                <a:solidFill>
                  <a:srgbClr val="14241F"/>
                </a:solidFill>
                <a:latin typeface="Cambria"/>
              </a:rPr>
              <a:t> Norimaki</a:t>
            </a:r>
          </a:p>
          <a:p>
            <a:r>
              <a:rPr sz="1200" b="1" dirty="0">
                <a:solidFill>
                  <a:srgbClr val="14241F"/>
                </a:solidFill>
                <a:latin typeface="Cambria"/>
              </a:rPr>
              <a:t>Original </a:t>
            </a:r>
            <a:r>
              <a:rPr lang="uk-UA" sz="1200" b="1" dirty="0">
                <a:solidFill>
                  <a:srgbClr val="14241F"/>
                </a:solidFill>
                <a:latin typeface="Cambria"/>
              </a:rPr>
              <a:t>· </a:t>
            </a:r>
            <a:endParaRPr sz="1200" b="1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 dirty="0" err="1">
                <a:solidFill>
                  <a:srgbClr val="44524C"/>
                </a:solidFill>
                <a:latin typeface="Calibri"/>
              </a:rPr>
              <a:t>Хрусткі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рисові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палички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арарe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в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обгортці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з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водорості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норі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.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Смак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соєвого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соусу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,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без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гостроти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07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700" b="1" spc="90">
                <a:solidFill>
                  <a:srgbClr val="A35C15"/>
                </a:solidFill>
                <a:latin typeface="Calibri"/>
              </a:defRPr>
            </a:lvl1pPr>
          </a:lstStyle>
          <a:p>
            <a:r>
              <a:rPr dirty="0"/>
              <a:t>СОБІВАРТІСТЬ · 1 ПАКЕТ 42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$1,12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50,26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5</a:t>
            </a:r>
            <a:r>
              <a:rPr lang="uk-UA" sz="700" b="1" i="0" dirty="0">
                <a:solidFill>
                  <a:srgbClr val="44524C"/>
                </a:solidFill>
                <a:latin typeface="Calibri"/>
              </a:rPr>
              <a:t>1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,</a:t>
            </a:r>
            <a:r>
              <a:rPr lang="uk-UA" sz="700" b="1" i="0" dirty="0">
                <a:solidFill>
                  <a:srgbClr val="44524C"/>
                </a:solidFill>
                <a:latin typeface="Calibri"/>
              </a:rPr>
              <a:t>58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5</a:t>
            </a:r>
            <a:r>
              <a:rPr lang="uk-UA" sz="700" b="1" i="0" dirty="0">
                <a:solidFill>
                  <a:srgbClr val="44524C"/>
                </a:solidFill>
                <a:latin typeface="Calibri"/>
              </a:rPr>
              <a:t>3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,</a:t>
            </a:r>
            <a:r>
              <a:rPr lang="uk-UA" sz="700" b="1" i="0" dirty="0">
                <a:solidFill>
                  <a:srgbClr val="44524C"/>
                </a:solidFill>
                <a:latin typeface="Calibri"/>
              </a:rPr>
              <a:t>90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54,03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845" y="1225295"/>
            <a:ext cx="763468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 err="1">
                <a:solidFill>
                  <a:srgbClr val="14241F"/>
                </a:solidFill>
                <a:latin typeface="Cambria"/>
              </a:rPr>
              <a:t>Arare</a:t>
            </a:r>
            <a:r>
              <a:rPr sz="1200" b="1" i="0" dirty="0">
                <a:solidFill>
                  <a:srgbClr val="14241F"/>
                </a:solidFill>
                <a:latin typeface="Cambria"/>
              </a:rPr>
              <a:t> Norimaki</a:t>
            </a:r>
          </a:p>
          <a:p>
            <a:r>
              <a:rPr sz="1200" b="1" i="0" dirty="0">
                <a:solidFill>
                  <a:srgbClr val="14241F"/>
                </a:solidFill>
                <a:latin typeface="Cambria"/>
              </a:rPr>
              <a:t>Wasabi </a:t>
            </a:r>
            <a:r>
              <a:rPr lang="uk-UA" sz="1200" b="1" dirty="0">
                <a:solidFill>
                  <a:srgbClr val="14241F"/>
                </a:solidFill>
                <a:latin typeface="Cambria"/>
              </a:rPr>
              <a:t>· 42 Г</a:t>
            </a:r>
            <a:endParaRPr sz="1200" b="1" i="0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 dirty="0" err="1">
                <a:solidFill>
                  <a:srgbClr val="44524C"/>
                </a:solidFill>
                <a:latin typeface="Calibri"/>
              </a:rPr>
              <a:t>Ті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самі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рисові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палички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в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норі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,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але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з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відчутною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гостротою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японського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васабі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07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spc="90" dirty="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$1,12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50,26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51,58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53,90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54,03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r>
              <a:rPr sz="1200" b="1" i="0" dirty="0">
                <a:solidFill>
                  <a:srgbClr val="14241F"/>
                </a:solidFill>
                <a:latin typeface="Cambria"/>
              </a:rPr>
              <a:t>BULK</a:t>
            </a:r>
            <a:r>
              <a:rPr lang="uk-UA" sz="1200" b="1" dirty="0">
                <a:solidFill>
                  <a:srgbClr val="14241F"/>
                </a:solidFill>
                <a:latin typeface="Cambria"/>
              </a:rPr>
              <a:t> ·</a:t>
            </a:r>
            <a:r>
              <a:rPr sz="1200" b="1" i="0" dirty="0">
                <a:solidFill>
                  <a:srgbClr val="14241F"/>
                </a:solidFill>
                <a:latin typeface="Cambria"/>
              </a:rPr>
              <a:t> 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продукт у форматі 3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07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spc="90" dirty="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$52,22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2349,75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$53,59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2411,48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$56,00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2519,84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$56,13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2526,01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r>
              <a:rPr sz="1200" b="1" i="0" dirty="0">
                <a:solidFill>
                  <a:srgbClr val="14241F"/>
                </a:solidFill>
                <a:latin typeface="Cambria"/>
              </a:rPr>
              <a:t>BULK </a:t>
            </a:r>
            <a:r>
              <a:rPr lang="uk-UA" sz="1200" b="1" dirty="0">
                <a:solidFill>
                  <a:srgbClr val="14241F"/>
                </a:solidFill>
                <a:latin typeface="Cambria"/>
              </a:rPr>
              <a:t>· </a:t>
            </a:r>
            <a:endParaRPr sz="1200" b="1" i="0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 dirty="0" err="1">
                <a:solidFill>
                  <a:srgbClr val="44524C"/>
                </a:solidFill>
                <a:latin typeface="Calibri"/>
              </a:rPr>
              <a:t>Васабі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у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форматі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3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кг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—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для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HoReCa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та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фасування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на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місці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07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spc="90" dirty="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$52,22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2349,75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$53,59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2411,48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$56,00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2519,84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$56,13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2526,01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" name="Picture 3" descr="plant_thainichi.png"/>
          <p:cNvPicPr>
            <a:picLocks noChangeAspect="1"/>
          </p:cNvPicPr>
          <p:nvPr/>
        </p:nvPicPr>
        <p:blipFill>
          <a:blip r:embed="rId2"/>
          <a:srcRect t="10606" b="10606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6C9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logo_mizu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988" y="2688336"/>
            <a:ext cx="1607262" cy="8412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 dirty="0" err="1">
                <a:solidFill>
                  <a:srgbClr val="C0D1D3"/>
                </a:solidFill>
                <a:latin typeface="Calibri"/>
              </a:rPr>
              <a:t>Продукція</a:t>
            </a:r>
            <a:r>
              <a:rPr sz="650" b="0" i="1" dirty="0">
                <a:solidFill>
                  <a:srgbClr val="C0D1D3"/>
                </a:solidFill>
                <a:latin typeface="Calibri"/>
              </a:rPr>
              <a:t> Mizuho · thai-nichi.com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BBCED0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1C565C"/>
                </a:solidFill>
                <a:latin typeface="Calibri"/>
              </a:rPr>
              <a:t>ПРОФІЛЬ ПОСТАЧАЛЬНИКА ·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565C"/>
                </a:solidFill>
                <a:latin typeface="Calibri"/>
              </a:rPr>
              <a:t>Рисові крекери, чипси та протеїнові снеки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D5860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1991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на експортному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ринку 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20+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форм і смаків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рисових крекерів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власний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бренд Mizuho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ПОЗНАЧКИ ЯКОСТІ НА УПАКОВЦІ</a:t>
            </a:r>
          </a:p>
        </p:txBody>
      </p:sp>
      <p:pic>
        <p:nvPicPr>
          <p:cNvPr id="32" name="Picture 31" descr="tn_mark_glut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38912" cy="237744"/>
          </a:xfrm>
          <a:prstGeom prst="rect">
            <a:avLst/>
          </a:prstGeom>
        </p:spPr>
      </p:pic>
      <p:pic>
        <p:nvPicPr>
          <p:cNvPr id="33" name="Picture 32" descr="tn_mark_cholester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626864"/>
            <a:ext cx="690250" cy="237744"/>
          </a:xfrm>
          <a:prstGeom prst="rect">
            <a:avLst/>
          </a:prstGeom>
        </p:spPr>
      </p:pic>
      <p:pic>
        <p:nvPicPr>
          <p:cNvPr id="34" name="Picture 33" descr="tn_mark_organ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0682" y="4626864"/>
            <a:ext cx="551854" cy="237744"/>
          </a:xfrm>
          <a:prstGeom prst="rect">
            <a:avLst/>
          </a:prstGeom>
        </p:spPr>
      </p:pic>
      <p:pic>
        <p:nvPicPr>
          <p:cNvPr id="35" name="Picture 34" descr="tn_mark_gm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95416" y="4626864"/>
            <a:ext cx="386250" cy="237744"/>
          </a:xfrm>
          <a:prstGeom prst="rect">
            <a:avLst/>
          </a:prstGeom>
        </p:spPr>
      </p:pic>
      <p:pic>
        <p:nvPicPr>
          <p:cNvPr id="36" name="Picture 35" descr="tn_mark_veg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4547" y="4626864"/>
            <a:ext cx="569014" cy="23774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BBCED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66636" y="530352"/>
            <a:ext cx="2311603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66636" y="530352"/>
            <a:ext cx="2311603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тільки рітейл-фасовку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1243584"/>
            <a:ext cx="950976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750" b="1" i="0" spc="90" dirty="0">
                <a:solidFill>
                  <a:srgbClr val="1C565C"/>
                </a:solidFill>
                <a:latin typeface="Calibri"/>
              </a:rPr>
              <a:t>              50 Г · 36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 dirty="0">
                <a:solidFill>
                  <a:srgbClr val="14241F"/>
                </a:solidFill>
                <a:latin typeface="Cambria"/>
              </a:rPr>
              <a:t>Norimaki </a:t>
            </a:r>
            <a:r>
              <a:rPr sz="1600" b="1" dirty="0">
                <a:solidFill>
                  <a:srgbClr val="14241F"/>
                </a:solidFill>
                <a:latin typeface="Cambria"/>
              </a:rPr>
              <a:t>Original </a:t>
            </a:r>
            <a:r>
              <a:rPr lang="uk-UA" sz="1600" b="1" dirty="0">
                <a:solidFill>
                  <a:srgbClr val="14241F"/>
                </a:solidFill>
                <a:latin typeface="Cambria"/>
              </a:rPr>
              <a:t>·</a:t>
            </a:r>
            <a:r>
              <a:rPr lang="ru-UA" sz="1600" b="1" dirty="0">
                <a:solidFill>
                  <a:srgbClr val="14241F"/>
                </a:solidFill>
                <a:latin typeface="Cambria"/>
              </a:rPr>
              <a:t> </a:t>
            </a:r>
            <a:r>
              <a:rPr sz="1600" b="1" dirty="0">
                <a:solidFill>
                  <a:srgbClr val="14241F"/>
                </a:solidFill>
                <a:latin typeface="Cambria"/>
              </a:rPr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 dirty="0" err="1">
                <a:solidFill>
                  <a:srgbClr val="44524C"/>
                </a:solidFill>
                <a:latin typeface="Calibri"/>
              </a:rPr>
              <a:t>Рисовий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крекер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із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водорістю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норі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,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смажений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за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японською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рецептурою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.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Пакет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50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 dirty="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FFFFFF"/>
                </a:solidFill>
                <a:latin typeface="Cambria"/>
              </a:rPr>
              <a:t>$0,94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42,49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 dirty="0" err="1">
                <a:solidFill>
                  <a:srgbClr val="8A938D"/>
                </a:solidFill>
                <a:latin typeface="Calibri"/>
              </a:rPr>
              <a:t>Збірний</a:t>
            </a:r>
            <a:r>
              <a:rPr sz="650" b="0" i="0" dirty="0">
                <a:solidFill>
                  <a:srgbClr val="8A938D"/>
                </a:solidFill>
                <a:latin typeface="Calibri"/>
              </a:rPr>
              <a:t>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75823"/>
            <a:ext cx="77577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43,94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412983"/>
            <a:ext cx="77577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48,94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50143"/>
            <a:ext cx="77577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50143"/>
            <a:ext cx="88660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dirty="0">
                <a:solidFill>
                  <a:srgbClr val="44524C"/>
                </a:solidFill>
                <a:latin typeface="Calibri"/>
              </a:rPr>
              <a:t>47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,99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0" y="1243584"/>
            <a:ext cx="939699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750" b="1" i="0" spc="90" dirty="0">
                <a:solidFill>
                  <a:srgbClr val="1C565C"/>
                </a:solidFill>
                <a:latin typeface="Calibri"/>
              </a:rPr>
              <a:t>                   55 Г · 36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algn="ctr">
              <a:lnSpc>
                <a:spcPct val="100000"/>
              </a:lnSpc>
              <a:defRPr sz="1600" b="1" i="0">
                <a:solidFill>
                  <a:srgbClr val="14241F"/>
                </a:solidFill>
                <a:latin typeface="Cambria"/>
              </a:defRPr>
            </a:lvl1pPr>
          </a:lstStyle>
          <a:p>
            <a:r>
              <a:rPr dirty="0"/>
              <a:t>Norimaki Wasabi </a:t>
            </a:r>
            <a:r>
              <a:rPr lang="uk-UA" dirty="0"/>
              <a:t>·</a:t>
            </a:r>
            <a:r>
              <a:rPr lang="ru-UA" dirty="0"/>
              <a:t> </a:t>
            </a:r>
            <a:endParaRPr dirty="0"/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 dirty="0" err="1">
                <a:solidFill>
                  <a:srgbClr val="44524C"/>
                </a:solidFill>
                <a:latin typeface="Calibri"/>
              </a:rPr>
              <a:t>Той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самий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крекер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із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додаванням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васабі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.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Найбільший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пакет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44524C"/>
                </a:solidFill>
                <a:latin typeface="Calibri"/>
              </a:rPr>
              <a:t>лінійки</a:t>
            </a:r>
            <a:r>
              <a:rPr sz="900" b="0" i="0" dirty="0">
                <a:solidFill>
                  <a:srgbClr val="44524C"/>
                </a:solidFill>
                <a:latin typeface="Calibri"/>
              </a:rPr>
              <a:t> — 55 г.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 dirty="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FFFFFF"/>
                </a:solidFill>
                <a:latin typeface="Cambria"/>
              </a:rPr>
              <a:t>$1,14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51,39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75823"/>
            <a:ext cx="77577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54,92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412983"/>
            <a:ext cx="77577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61,17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50143"/>
            <a:ext cx="77577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$1,33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50143"/>
            <a:ext cx="88660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dirty="0">
                <a:solidFill>
                  <a:srgbClr val="44524C"/>
                </a:solidFill>
                <a:latin typeface="Calibri"/>
              </a:rPr>
              <a:t>59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,99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  <p:sp>
        <p:nvSpPr>
          <p:cNvPr id="58" name="Rounded Rectangle 12">
            <a:extLst>
              <a:ext uri="{FF2B5EF4-FFF2-40B4-BE49-F238E27FC236}">
                <a16:creationId xmlns:a16="http://schemas.microsoft.com/office/drawing/2014/main" id="{1DD9C00A-C289-254E-A2A8-B6FA20566F9E}"/>
              </a:ext>
            </a:extLst>
          </p:cNvPr>
          <p:cNvSpPr/>
          <p:nvPr/>
        </p:nvSpPr>
        <p:spPr>
          <a:xfrm>
            <a:off x="955548" y="263347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Rounded Rectangle 12">
            <a:extLst>
              <a:ext uri="{FF2B5EF4-FFF2-40B4-BE49-F238E27FC236}">
                <a16:creationId xmlns:a16="http://schemas.microsoft.com/office/drawing/2014/main" id="{640F619B-9B3C-F8EA-33E5-9DD206700C7B}"/>
              </a:ext>
            </a:extLst>
          </p:cNvPr>
          <p:cNvSpPr/>
          <p:nvPr/>
        </p:nvSpPr>
        <p:spPr>
          <a:xfrm>
            <a:off x="5486400" y="263168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3454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рітейл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724144" y="530352"/>
            <a:ext cx="3054096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24144" y="530352"/>
            <a:ext cx="305409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рітейл-фасовку разом із BULK 2,5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310" y="1225295"/>
            <a:ext cx="83685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r>
              <a:rPr sz="1200" b="1" dirty="0">
                <a:solidFill>
                  <a:srgbClr val="14241F"/>
                </a:solidFill>
                <a:latin typeface="Cambria"/>
              </a:rPr>
              <a:t>Original </a:t>
            </a:r>
            <a:r>
              <a:rPr lang="uk-UA" sz="1200" b="1" dirty="0">
                <a:solidFill>
                  <a:srgbClr val="14241F"/>
                </a:solidFill>
                <a:latin typeface="Cambria"/>
              </a:rPr>
              <a:t>·</a:t>
            </a:r>
            <a:r>
              <a:rPr lang="ru-UA" sz="1200" b="1" dirty="0">
                <a:solidFill>
                  <a:srgbClr val="14241F"/>
                </a:solidFill>
                <a:latin typeface="Cambria"/>
              </a:rPr>
              <a:t> </a:t>
            </a:r>
            <a:endParaRPr sz="1200" b="1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 dirty="0" err="1">
                <a:solidFill>
                  <a:srgbClr val="44524C"/>
                </a:solidFill>
                <a:latin typeface="Calibri"/>
              </a:rPr>
              <a:t>Рисовий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крекер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із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водорістю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норі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,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смажений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за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японською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рецептурою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.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Пакет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50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07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spc="90" dirty="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 dirty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$0,89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40,27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 dirty="0" err="1">
                <a:solidFill>
                  <a:srgbClr val="8A938D"/>
                </a:solidFill>
                <a:latin typeface="Calibri"/>
              </a:rPr>
              <a:t>Збірний</a:t>
            </a:r>
            <a:r>
              <a:rPr sz="650" b="0" i="0" dirty="0">
                <a:solidFill>
                  <a:srgbClr val="8A938D"/>
                </a:solidFill>
                <a:latin typeface="Calibri"/>
              </a:rPr>
              <a:t>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</a:t>
            </a:r>
            <a:r>
              <a:rPr lang="uk-UA" sz="700" b="1" i="0" dirty="0">
                <a:solidFill>
                  <a:srgbClr val="44524C"/>
                </a:solidFill>
                <a:latin typeface="Calibri"/>
              </a:rPr>
              <a:t>2</a:t>
            </a:r>
            <a:endParaRPr sz="700" b="1" i="0" dirty="0">
              <a:solidFill>
                <a:srgbClr val="44524C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44,15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44,23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4112" y="1225295"/>
            <a:ext cx="826935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r>
              <a:rPr sz="1200" b="1" i="0" dirty="0">
                <a:solidFill>
                  <a:srgbClr val="14241F"/>
                </a:solidFill>
                <a:latin typeface="Cambria"/>
              </a:rPr>
              <a:t>Wasabi </a:t>
            </a:r>
            <a:r>
              <a:rPr lang="uk-UA" sz="1200" b="1" dirty="0">
                <a:solidFill>
                  <a:srgbClr val="14241F"/>
                </a:solidFill>
                <a:latin typeface="Cambria"/>
              </a:rPr>
              <a:t>·</a:t>
            </a:r>
            <a:r>
              <a:rPr lang="ru-UA" sz="1200" b="1" dirty="0">
                <a:solidFill>
                  <a:srgbClr val="14241F"/>
                </a:solidFill>
                <a:latin typeface="Cambria"/>
              </a:rPr>
              <a:t> </a:t>
            </a:r>
            <a:endParaRPr sz="1200" b="1" i="0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07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00" b="1" spc="90" dirty="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$1,12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50,34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51,98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55,19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55,28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 dirty="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r>
              <a:rPr sz="1200" b="1" i="0" dirty="0">
                <a:solidFill>
                  <a:srgbClr val="14241F"/>
                </a:solidFill>
                <a:latin typeface="Cambria"/>
              </a:rPr>
              <a:t>BULK </a:t>
            </a:r>
            <a:r>
              <a:rPr lang="uk-UA" sz="1200" b="1" dirty="0">
                <a:solidFill>
                  <a:srgbClr val="14241F"/>
                </a:solidFill>
                <a:latin typeface="Cambria"/>
              </a:rPr>
              <a:t>·</a:t>
            </a:r>
            <a:r>
              <a:rPr sz="1200" b="1" i="0" dirty="0">
                <a:solidFill>
                  <a:srgbClr val="14241F"/>
                </a:solidFill>
                <a:latin typeface="Cambria"/>
              </a:rPr>
              <a:t> 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самий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крекер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у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форматі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2,5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кг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—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для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HoReCa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та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фасування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на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місці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07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700" b="1" spc="90" dirty="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$29,01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1305,37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$30,19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1358,54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$32,05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1442,35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dirty="0">
                <a:solidFill>
                  <a:srgbClr val="44524C"/>
                </a:solidFill>
                <a:latin typeface="Calibri"/>
              </a:rPr>
              <a:t>$32,10</a:t>
            </a:r>
            <a:endParaRPr sz="700" b="1" i="0" dirty="0">
              <a:solidFill>
                <a:srgbClr val="44524C"/>
              </a:solidFill>
              <a:latin typeface="Calibri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94762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1</a:t>
            </a:r>
            <a:r>
              <a:rPr lang="en-US" sz="700" b="1" i="0" dirty="0">
                <a:solidFill>
                  <a:srgbClr val="44524C"/>
                </a:solidFill>
                <a:latin typeface="Calibri"/>
              </a:rPr>
              <a:t>444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,</a:t>
            </a:r>
            <a:r>
              <a:rPr lang="en-US" sz="700" b="1" i="0" dirty="0">
                <a:solidFill>
                  <a:srgbClr val="44524C"/>
                </a:solidFill>
                <a:latin typeface="Calibri"/>
              </a:rPr>
              <a:t>69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r>
              <a:rPr sz="1200" b="1" i="0" dirty="0">
                <a:solidFill>
                  <a:srgbClr val="14241F"/>
                </a:solidFill>
                <a:latin typeface="Cambria"/>
              </a:rPr>
              <a:t>BULK </a:t>
            </a:r>
            <a:r>
              <a:rPr lang="uk-UA" sz="1200" b="1" dirty="0">
                <a:solidFill>
                  <a:srgbClr val="14241F"/>
                </a:solidFill>
                <a:latin typeface="Cambria"/>
              </a:rPr>
              <a:t>·</a:t>
            </a:r>
            <a:endParaRPr sz="1200" b="1" i="0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 dirty="0" err="1">
                <a:solidFill>
                  <a:srgbClr val="44524C"/>
                </a:solidFill>
                <a:latin typeface="Calibri"/>
              </a:rPr>
              <a:t>Васабі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у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форматі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2,5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кг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—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для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HoReCa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та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фасування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на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800" b="0" i="0" dirty="0" err="1">
                <a:solidFill>
                  <a:srgbClr val="44524C"/>
                </a:solidFill>
                <a:latin typeface="Calibri"/>
              </a:rPr>
              <a:t>місці</a:t>
            </a:r>
            <a:r>
              <a:rPr sz="800" b="0" i="0" dirty="0">
                <a:solidFill>
                  <a:srgbClr val="44524C"/>
                </a:solidFill>
                <a:latin typeface="Calibri"/>
              </a:rPr>
              <a:t>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 dirty="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$35,53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1598,99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$36,97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1663,52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$39,25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1766,14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$39,31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17</a:t>
            </a:r>
            <a:r>
              <a:rPr lang="en-US" sz="700" b="1" i="0" dirty="0">
                <a:solidFill>
                  <a:srgbClr val="44524C"/>
                </a:solidFill>
                <a:latin typeface="Calibri"/>
              </a:rPr>
              <a:t>69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,</a:t>
            </a:r>
            <a:r>
              <a:rPr lang="en-US" sz="700" b="1" i="0" dirty="0">
                <a:solidFill>
                  <a:srgbClr val="44524C"/>
                </a:solidFill>
                <a:latin typeface="Calibri"/>
              </a:rPr>
              <a:t>00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" name="Picture 3" descr="plant_tmk.png"/>
          <p:cNvPicPr>
            <a:picLocks noChangeAspect="1"/>
          </p:cNvPicPr>
          <p:nvPr/>
        </p:nvPicPr>
        <p:blipFill>
          <a:blip r:embed="rId2"/>
          <a:srcRect t="8919" b="8919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78A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logo_koki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59" y="2870200"/>
            <a:ext cx="1493520" cy="47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5DAC9"/>
                </a:solidFill>
                <a:latin typeface="Calibri"/>
              </a:rPr>
              <a:t>Фабрика TMK · kokiriseaweed.com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1D7C5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2C713B"/>
                </a:solidFill>
                <a:latin typeface="Calibri"/>
              </a:rPr>
              <a:t>ПРОФІЛЬ ПОСТАЧАЛЬНИКА ·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 dirty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8000"/>
              </a:lnSpc>
            </a:pPr>
            <a:r>
              <a:rPr sz="2600" b="1" i="0" dirty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C713B"/>
                </a:solidFill>
                <a:latin typeface="Calibri"/>
              </a:rPr>
              <a:t>Снеки з водорості норі · Retail і дитячий формат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763C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 err="1">
                <a:solidFill>
                  <a:srgbClr val="44524C"/>
                </a:solidFill>
                <a:latin typeface="Calibri"/>
              </a:rPr>
              <a:t>Виробляє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снеки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з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водорості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,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яку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завозить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із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Кореї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, і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має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фабрики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в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Кореї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та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Таїланді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.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Працює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як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OEM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для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інших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брендів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у 13+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країнах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. «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Кокірі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» — «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слон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»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корейською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,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символ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довіри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в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Таїланді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474720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474720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3602736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2011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77056"/>
            <a:ext cx="12984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компанії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474720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979676" y="3474720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79676" y="3602736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13+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3877056"/>
            <a:ext cx="12984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474720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593592" y="3474720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3592" y="3602736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63C"/>
                </a:solidFill>
                <a:latin typeface="Cambria"/>
              </a:rPr>
              <a:t>$10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3877056"/>
            <a:ext cx="12984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за шість років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261104"/>
            <a:ext cx="46177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СЕРТИФІКАТИ ВИРОБНИЦТВА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tmk_cert_g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783" y="4462272"/>
            <a:ext cx="372992" cy="40233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65760" y="4905756"/>
            <a:ext cx="7010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GMP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9096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Picture 35" descr="tmk_cert_hacc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3282" y="4462272"/>
            <a:ext cx="372666" cy="40233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149096" y="4905756"/>
            <a:ext cx="7010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HACCP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32432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9" name="Picture 38" descr="tmk_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6459" y="4462272"/>
            <a:ext cx="372985" cy="40233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932432" y="4905756"/>
            <a:ext cx="7010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Halal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15768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2" name="Picture 41" descr="tmk_cert_iso22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3949" y="4462272"/>
            <a:ext cx="284677" cy="40233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715768" y="4905756"/>
            <a:ext cx="7010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ISO 22000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9103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5" name="Picture 44" descr="tmk_cert_fssc22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5201" y="4462272"/>
            <a:ext cx="268844" cy="40233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499103" y="4905756"/>
            <a:ext cx="7010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FSSC 22000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2440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8" name="Picture 47" descr="tmk_cert_co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6674" y="4462272"/>
            <a:ext cx="272570" cy="40233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282440" y="4905756"/>
            <a:ext cx="70104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 dirty="0">
                <a:solidFill>
                  <a:srgbClr val="8A938D"/>
                </a:solidFill>
                <a:latin typeface="Calibri"/>
              </a:rPr>
              <a:t>CODEX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D7C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ROLL та Wow DOUBLE ROLL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 dirty="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spc="90" dirty="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9,51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10,62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11,98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$0,2</a:t>
            </a:r>
            <a:r>
              <a:rPr sz="700" b="1" dirty="0">
                <a:solidFill>
                  <a:srgbClr val="44524C"/>
                </a:solidFill>
                <a:latin typeface="Calibri"/>
              </a:rPr>
              <a:t>7</a:t>
            </a:r>
            <a:endParaRPr sz="700" b="1" i="0" dirty="0">
              <a:solidFill>
                <a:srgbClr val="44524C"/>
              </a:solidFill>
              <a:latin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64994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12,11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50" b="1" spc="90" dirty="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9,51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10,62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11,98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$0,2</a:t>
            </a:r>
            <a:r>
              <a:rPr sz="700" b="1" dirty="0">
                <a:solidFill>
                  <a:srgbClr val="44524C"/>
                </a:solidFill>
                <a:latin typeface="Calibri"/>
              </a:rPr>
              <a:t>7</a:t>
            </a:r>
            <a:endParaRPr sz="700" b="1" i="0" dirty="0">
              <a:solidFill>
                <a:srgbClr val="44524C"/>
              </a:solidFill>
              <a:latin typeface="Calibri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79878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12,11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650" b="1" spc="90" dirty="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9,51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10,62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11,98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$0,2</a:t>
            </a:r>
            <a:r>
              <a:rPr sz="700" b="1" dirty="0">
                <a:solidFill>
                  <a:srgbClr val="44524C"/>
                </a:solidFill>
                <a:latin typeface="Calibri"/>
              </a:rPr>
              <a:t>7</a:t>
            </a:r>
            <a:endParaRPr sz="700" b="1" i="0" dirty="0">
              <a:solidFill>
                <a:srgbClr val="44524C"/>
              </a:solidFill>
              <a:latin typeface="Calibri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94762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12,11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50" b="1" spc="90" dirty="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$0,3</a:t>
            </a:r>
            <a:r>
              <a:rPr sz="1350" b="1" dirty="0">
                <a:solidFill>
                  <a:srgbClr val="FFFFFF"/>
                </a:solidFill>
                <a:latin typeface="Cambria"/>
              </a:rPr>
              <a:t>8</a:t>
            </a:r>
            <a:endParaRPr sz="135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17,07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$0,42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18,98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21,41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$0,48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21,64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  <p:pic>
        <p:nvPicPr>
          <p:cNvPr id="109" name="Рисунок 108">
            <a:extLst>
              <a:ext uri="{FF2B5EF4-FFF2-40B4-BE49-F238E27FC236}">
                <a16:creationId xmlns:a16="http://schemas.microsoft.com/office/drawing/2014/main" id="{D0C6FA8D-1486-5F53-9CC8-1599106F4B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3838" y="1161288"/>
            <a:ext cx="1152098" cy="1152098"/>
          </a:xfrm>
          <a:prstGeom prst="rect">
            <a:avLst/>
          </a:prstGeom>
        </p:spPr>
      </p:pic>
      <p:pic>
        <p:nvPicPr>
          <p:cNvPr id="111" name="Рисунок 110">
            <a:extLst>
              <a:ext uri="{FF2B5EF4-FFF2-40B4-BE49-F238E27FC236}">
                <a16:creationId xmlns:a16="http://schemas.microsoft.com/office/drawing/2014/main" id="{9EA5EA44-34A1-1F56-1EAC-2B98B906B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773" y="1104644"/>
            <a:ext cx="1217931" cy="1217931"/>
          </a:xfrm>
          <a:prstGeom prst="rect">
            <a:avLst/>
          </a:prstGeom>
        </p:spPr>
      </p:pic>
      <p:pic>
        <p:nvPicPr>
          <p:cNvPr id="113" name="Рисунок 112">
            <a:extLst>
              <a:ext uri="{FF2B5EF4-FFF2-40B4-BE49-F238E27FC236}">
                <a16:creationId xmlns:a16="http://schemas.microsoft.com/office/drawing/2014/main" id="{E039A6DE-1447-9D0B-A325-1B8ACE632A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981" y="1194222"/>
            <a:ext cx="1073491" cy="1073491"/>
          </a:xfrm>
          <a:prstGeom prst="rect">
            <a:avLst/>
          </a:prstGeom>
        </p:spPr>
      </p:pic>
      <p:pic>
        <p:nvPicPr>
          <p:cNvPr id="115" name="Рисунок 114">
            <a:extLst>
              <a:ext uri="{FF2B5EF4-FFF2-40B4-BE49-F238E27FC236}">
                <a16:creationId xmlns:a16="http://schemas.microsoft.com/office/drawing/2014/main" id="{D71E0275-6171-2D63-FF01-9182DB1EDC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8716" y="1139506"/>
            <a:ext cx="1192214" cy="11922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7792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DOUBLE ROLL та Wow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spc="90" dirty="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17,07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9411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18,98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3127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21,41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6843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68431"/>
            <a:ext cx="76468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21,64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5874" y="1225295"/>
            <a:ext cx="7722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50" b="1" spc="90" dirty="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34,86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9411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39,09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3127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44,10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6843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</a:t>
            </a:r>
            <a:r>
              <a:rPr sz="700" b="1" dirty="0">
                <a:solidFill>
                  <a:srgbClr val="44524C"/>
                </a:solidFill>
                <a:latin typeface="Calibri"/>
              </a:rPr>
              <a:t>99</a:t>
            </a:r>
            <a:endParaRPr sz="700" b="1" i="0" dirty="0">
              <a:solidFill>
                <a:srgbClr val="44524C"/>
              </a:solidFill>
              <a:latin typeface="Calibri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002133" y="4568431"/>
            <a:ext cx="76468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44,56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0" name="Picture 59" descr="tmk_sw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295" y="1225295"/>
            <a:ext cx="777649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650" b="1" spc="90" dirty="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$0,77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9411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39,09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3127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44,10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6843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68431"/>
            <a:ext cx="76468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44,56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  <p:pic>
        <p:nvPicPr>
          <p:cNvPr id="85" name="Рисунок 84">
            <a:extLst>
              <a:ext uri="{FF2B5EF4-FFF2-40B4-BE49-F238E27FC236}">
                <a16:creationId xmlns:a16="http://schemas.microsoft.com/office/drawing/2014/main" id="{EE6A31A9-BB45-AAC3-3B9C-8A48F2E429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609" y="1150863"/>
            <a:ext cx="1154708" cy="11547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>
                <a:solidFill>
                  <a:srgbClr val="14241F"/>
                </a:solidFill>
                <a:latin typeface="Cambria"/>
              </a:rPr>
              <a:t>Wow SEAWEED </a:t>
            </a:r>
            <a:r>
              <a:rPr sz="2000" b="1" i="0" dirty="0" err="1">
                <a:solidFill>
                  <a:srgbClr val="14241F"/>
                </a:solidFill>
                <a:latin typeface="Cambria"/>
              </a:rPr>
              <a:t>та</a:t>
            </a:r>
            <a:r>
              <a:rPr sz="2000" b="1" i="0" dirty="0">
                <a:solidFill>
                  <a:srgbClr val="14241F"/>
                </a:solidFill>
                <a:latin typeface="Cambria"/>
              </a:rPr>
              <a:t> Wow MINI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50" b="1" spc="90" dirty="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34,86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9411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39,09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3127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44,10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6843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68431"/>
            <a:ext cx="76468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44,56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002132" y="-509812"/>
            <a:ext cx="469980" cy="218501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650" b="1" spc="90" dirty="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35,11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9411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38,83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3127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43,80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6843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</a:t>
            </a:r>
            <a:r>
              <a:rPr sz="700" b="1" dirty="0">
                <a:solidFill>
                  <a:srgbClr val="44524C"/>
                </a:solidFill>
                <a:latin typeface="Calibri"/>
              </a:rPr>
              <a:t>8</a:t>
            </a:r>
            <a:endParaRPr sz="700" b="1" i="0" dirty="0">
              <a:solidFill>
                <a:srgbClr val="44524C"/>
              </a:solidFill>
              <a:latin typeface="Calibri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002133" y="4568431"/>
            <a:ext cx="76468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44,</a:t>
            </a:r>
            <a:r>
              <a:rPr sz="700" b="1" dirty="0">
                <a:solidFill>
                  <a:srgbClr val="44524C"/>
                </a:solidFill>
                <a:latin typeface="Calibri"/>
              </a:rPr>
              <a:t>27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10904669" y="-829556"/>
            <a:ext cx="432632" cy="221482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50" b="1" spc="90" dirty="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35,11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9411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38,83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43,80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6843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68431"/>
            <a:ext cx="76468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44,27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  <p:pic>
        <p:nvPicPr>
          <p:cNvPr id="85" name="Рисунок 84">
            <a:extLst>
              <a:ext uri="{FF2B5EF4-FFF2-40B4-BE49-F238E27FC236}">
                <a16:creationId xmlns:a16="http://schemas.microsoft.com/office/drawing/2014/main" id="{3569C15C-F378-0C30-69E7-F36F54965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977" y="1170261"/>
            <a:ext cx="1015155" cy="1015155"/>
          </a:xfrm>
          <a:prstGeom prst="rect">
            <a:avLst/>
          </a:prstGeom>
        </p:spPr>
      </p:pic>
      <p:pic>
        <p:nvPicPr>
          <p:cNvPr id="87" name="Рисунок 86">
            <a:extLst>
              <a:ext uri="{FF2B5EF4-FFF2-40B4-BE49-F238E27FC236}">
                <a16:creationId xmlns:a16="http://schemas.microsoft.com/office/drawing/2014/main" id="{B06A8357-03A1-04E9-A48A-202DB9FCB3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775" y="1167979"/>
            <a:ext cx="1035725" cy="1035725"/>
          </a:xfrm>
          <a:prstGeom prst="rect">
            <a:avLst/>
          </a:prstGeom>
        </p:spPr>
      </p:pic>
      <p:pic>
        <p:nvPicPr>
          <p:cNvPr id="91" name="Рисунок 90">
            <a:extLst>
              <a:ext uri="{FF2B5EF4-FFF2-40B4-BE49-F238E27FC236}">
                <a16:creationId xmlns:a16="http://schemas.microsoft.com/office/drawing/2014/main" id="{0C98B21B-BF67-DCCA-4041-1F55D643BB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236" y="1182354"/>
            <a:ext cx="1091726" cy="109172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4" name="Oval 3"/>
          <p:cNvSpPr/>
          <p:nvPr/>
        </p:nvSpPr>
        <p:spPr>
          <a:xfrm>
            <a:off x="5646420" y="155447"/>
            <a:ext cx="3200400" cy="3200400"/>
          </a:xfrm>
          <a:prstGeom prst="ellipse">
            <a:avLst/>
          </a:prstGeom>
          <a:noFill/>
          <a:ln w="17780">
            <a:solidFill>
              <a:srgbClr val="F4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 rot="21300000">
            <a:off x="6089904" y="553212"/>
            <a:ext cx="2331720" cy="1325880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 rot="21300000">
            <a:off x="6057900" y="507492"/>
            <a:ext cx="233172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zek_clas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00000">
            <a:off x="6158251" y="598932"/>
            <a:ext cx="2131016" cy="1143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 rot="21060000">
            <a:off x="5911596" y="1581912"/>
            <a:ext cx="1060704" cy="1389888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 rot="21060000">
            <a:off x="5879592" y="1536192"/>
            <a:ext cx="1060704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0" name="Picture 9" descr="zek_tempura_corn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060000">
            <a:off x="5971031" y="1659666"/>
            <a:ext cx="877824" cy="114293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 rot="600000">
            <a:off x="7594092" y="1673352"/>
            <a:ext cx="1024128" cy="1353312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 rot="600000">
            <a:off x="7562088" y="1627632"/>
            <a:ext cx="1024128" cy="13533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zek_topping_veg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7653527" y="1735556"/>
            <a:ext cx="841248" cy="113746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989320" y="3054096"/>
            <a:ext cx="251460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4475" y="3145536"/>
            <a:ext cx="225856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 i="0" dirty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8384" y="3824351"/>
            <a:ext cx="37947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dirty="0">
                <a:solidFill>
                  <a:srgbClr val="AA3922"/>
                </a:solidFill>
                <a:latin typeface="Cambria"/>
              </a:rPr>
              <a:t>ВИРОБНИЦТВО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4053869"/>
            <a:ext cx="37947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dirty="0" err="1">
                <a:solidFill>
                  <a:srgbClr val="AA3922"/>
                </a:solidFill>
                <a:latin typeface="Cambria"/>
              </a:rPr>
              <a:t>Китай</a:t>
            </a:r>
            <a:endParaRPr sz="1200" b="1" dirty="0">
              <a:solidFill>
                <a:srgbClr val="AA3922"/>
              </a:solidFill>
              <a:latin typeface="Cambria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 dirty="0" err="1">
                <a:solidFill>
                  <a:srgbClr val="14241F"/>
                </a:solidFill>
                <a:latin typeface="Cambria"/>
              </a:rPr>
              <a:t>HanJin</a:t>
            </a:r>
            <a:r>
              <a:rPr sz="2600" b="1" i="0" dirty="0">
                <a:solidFill>
                  <a:srgbClr val="14241F"/>
                </a:solidFill>
                <a:latin typeface="Cambria"/>
              </a:rPr>
              <a:t> (Shanghai)</a:t>
            </a:r>
          </a:p>
          <a:p>
            <a:pPr algn="l">
              <a:lnSpc>
                <a:spcPct val="108000"/>
              </a:lnSpc>
            </a:pPr>
            <a:r>
              <a:rPr sz="2600" b="1" i="0" dirty="0">
                <a:solidFill>
                  <a:srgbClr val="14241F"/>
                </a:solidFill>
                <a:latin typeface="Cambria"/>
              </a:rPr>
              <a:t>Food Co., Ltd.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44524C"/>
                </a:solidFill>
                <a:latin typeface="Calibri"/>
              </a:rPr>
              <a:t>ZEK — «Zesty Especial Kingdom»,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власний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бренд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Hanjin Food.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Компанія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заснована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2002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року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у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Вейхаї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,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головний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офіс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із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2014-го — у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Шанхаї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.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Партнери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групи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—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тайська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Singha Group і </a:t>
            </a:r>
            <a:r>
              <a:rPr sz="1000" b="0" i="0" dirty="0" err="1">
                <a:solidFill>
                  <a:srgbClr val="44524C"/>
                </a:solidFill>
                <a:latin typeface="Calibri"/>
              </a:rPr>
              <a:t>корейська</a:t>
            </a:r>
            <a:r>
              <a:rPr sz="1000" b="0" i="0" dirty="0">
                <a:solidFill>
                  <a:srgbClr val="44524C"/>
                </a:solidFill>
                <a:latin typeface="Calibri"/>
              </a:rPr>
              <a:t> SPC Group.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2002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№1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частка ринку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 dirty="0">
                <a:solidFill>
                  <a:srgbClr val="AA3922"/>
                </a:solidFill>
                <a:latin typeface="Cambria"/>
              </a:rPr>
              <a:t>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СИРОВИНА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626864"/>
            <a:ext cx="4617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Норі з острова Чеджу (Корея) та плантацій під Вейхаєм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650" b="1" spc="90">
              <a:solidFill>
                <a:srgbClr val="A23822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 dirty="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650" b="1" spc="90">
                <a:solidFill>
                  <a:srgbClr val="A23822"/>
                </a:solidFill>
                <a:latin typeface="Calibri"/>
              </a:defRPr>
            </a:lvl1pPr>
          </a:lstStyle>
          <a:p>
            <a:r>
              <a:rPr dirty="0"/>
              <a:t>СОБІВАРТІСТЬ · 1 ПАКЕТ 30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33,90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36,20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3127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4</a:t>
            </a:r>
            <a:r>
              <a:rPr lang="en-US" sz="700" b="1" i="0" dirty="0">
                <a:solidFill>
                  <a:srgbClr val="44524C"/>
                </a:solidFill>
                <a:latin typeface="Calibri"/>
              </a:rPr>
              <a:t>1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,</a:t>
            </a:r>
            <a:r>
              <a:rPr lang="en-US" sz="700" b="1" i="0" dirty="0">
                <a:solidFill>
                  <a:srgbClr val="44524C"/>
                </a:solidFill>
                <a:latin typeface="Calibri"/>
              </a:rPr>
              <a:t>56</a:t>
            </a:r>
            <a:r>
              <a:rPr sz="700" b="1" i="0" dirty="0">
                <a:solidFill>
                  <a:srgbClr val="44524C"/>
                </a:solidFill>
                <a:latin typeface="Calibri"/>
              </a:rPr>
              <a:t>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lang="uk-UA" sz="700" b="1" dirty="0">
                <a:solidFill>
                  <a:srgbClr val="44524C"/>
                </a:solidFill>
              </a:rPr>
              <a:t>$0,85</a:t>
            </a:r>
            <a:endParaRPr sz="700" b="1" i="0" dirty="0">
              <a:solidFill>
                <a:srgbClr val="44524C"/>
              </a:solidFill>
              <a:latin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64994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38,13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909" y="1225295"/>
            <a:ext cx="76734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33,90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36,20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38,13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0" name="Picture 59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156" y="1225295"/>
            <a:ext cx="772526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$0,75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33,90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36,20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$0,92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38,13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4" name="Picture 83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404" y="1225295"/>
            <a:ext cx="777711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$1,1</a:t>
            </a:r>
            <a:r>
              <a:rPr lang="en-US" sz="1350" b="1" i="0" dirty="0">
                <a:solidFill>
                  <a:srgbClr val="FFFFFF"/>
                </a:solidFill>
                <a:latin typeface="Cambria"/>
              </a:rPr>
              <a:t>4</a:t>
            </a:r>
            <a:endParaRPr sz="135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51,25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54,72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</a:t>
            </a:r>
            <a:r>
              <a:rPr lang="en-US" sz="700" b="1" i="0" dirty="0">
                <a:solidFill>
                  <a:srgbClr val="44524C"/>
                </a:solidFill>
                <a:latin typeface="Calibri"/>
              </a:rPr>
              <a:t>40</a:t>
            </a:r>
            <a:endParaRPr sz="700" b="1" i="0" dirty="0">
              <a:solidFill>
                <a:srgbClr val="44524C"/>
              </a:solidFill>
              <a:latin typeface="Calibri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8096463" y="443127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700" b="1" dirty="0">
                <a:solidFill>
                  <a:srgbClr val="44524C"/>
                </a:solidFill>
              </a:rPr>
              <a:t>62</a:t>
            </a:r>
            <a:r>
              <a:rPr lang="uk-UA" sz="700" b="1" dirty="0">
                <a:solidFill>
                  <a:srgbClr val="44524C"/>
                </a:solidFill>
              </a:rPr>
              <a:t>,</a:t>
            </a:r>
            <a:r>
              <a:rPr lang="en-US" sz="700" b="1" dirty="0">
                <a:solidFill>
                  <a:srgbClr val="44524C"/>
                </a:solidFill>
              </a:rPr>
              <a:t>83</a:t>
            </a:r>
            <a:r>
              <a:rPr lang="uk-UA" sz="700" b="1" dirty="0">
                <a:solidFill>
                  <a:srgbClr val="44524C"/>
                </a:solidFill>
              </a:rPr>
              <a:t>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dirty="0">
                <a:solidFill>
                  <a:srgbClr val="44524C"/>
                </a:solidFill>
                <a:latin typeface="Calibri"/>
              </a:rPr>
              <a:t>57,63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 та Sandwich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zek_tempura_wasabi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$1,1</a:t>
            </a:r>
            <a:r>
              <a:rPr lang="en-US" sz="1350" b="1" i="0" dirty="0">
                <a:solidFill>
                  <a:srgbClr val="FFFFFF"/>
                </a:solidFill>
                <a:latin typeface="Cambria"/>
              </a:rPr>
              <a:t>4</a:t>
            </a:r>
            <a:endParaRPr sz="135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51,25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54,72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</a:t>
            </a:r>
            <a:r>
              <a:rPr lang="en-US" sz="700" b="1" i="0" dirty="0">
                <a:solidFill>
                  <a:srgbClr val="44524C"/>
                </a:solidFill>
                <a:latin typeface="Calibri"/>
              </a:rPr>
              <a:t>40</a:t>
            </a:r>
            <a:endParaRPr sz="700" b="1" i="0" dirty="0">
              <a:solidFill>
                <a:srgbClr val="44524C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dirty="0">
                <a:solidFill>
                  <a:srgbClr val="44524C"/>
                </a:solidFill>
                <a:latin typeface="Calibri"/>
              </a:rPr>
              <a:t>57,63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6501" y="1225295"/>
            <a:ext cx="762157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$1,1</a:t>
            </a:r>
            <a:r>
              <a:rPr lang="en-US" sz="1350" b="1" i="0" dirty="0">
                <a:solidFill>
                  <a:srgbClr val="FFFFFF"/>
                </a:solidFill>
                <a:latin typeface="Cambria"/>
              </a:rPr>
              <a:t>4</a:t>
            </a:r>
            <a:endParaRPr sz="135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51,25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54,72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$1,40</a:t>
            </a:r>
            <a:endParaRPr sz="700" b="1" i="0" dirty="0">
              <a:solidFill>
                <a:srgbClr val="44524C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dirty="0">
                <a:solidFill>
                  <a:srgbClr val="44524C"/>
                </a:solidFill>
                <a:latin typeface="Calibri"/>
              </a:rPr>
              <a:t>57,63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0" name="Picture 59" descr="zek_sandwich_meat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5271849" y="1225295"/>
            <a:ext cx="74914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$0,5</a:t>
            </a:r>
            <a:r>
              <a:rPr lang="en-US" sz="1350" b="1" i="0" dirty="0">
                <a:solidFill>
                  <a:srgbClr val="FFFFFF"/>
                </a:solidFill>
                <a:latin typeface="Cambria"/>
              </a:rPr>
              <a:t>7</a:t>
            </a:r>
            <a:endParaRPr sz="135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25,49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27,19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$0,69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31,19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$0,61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27,49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4" name="Picture 83" descr="zek_sandwich_sesame2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8048" y="1225295"/>
            <a:ext cx="734422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$0,5</a:t>
            </a:r>
            <a:r>
              <a:rPr lang="en-US" sz="1350" b="1" i="0" dirty="0">
                <a:solidFill>
                  <a:srgbClr val="FFFFFF"/>
                </a:solidFill>
                <a:latin typeface="Cambria"/>
              </a:rPr>
              <a:t>7</a:t>
            </a:r>
            <a:endParaRPr sz="135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25,49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9411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$0,60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27,19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3127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31,19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68431"/>
            <a:ext cx="468538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$0,61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68431"/>
            <a:ext cx="53547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27,49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250" y="1225295"/>
            <a:ext cx="7452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 dirty="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r>
              <a:rPr sz="1200" b="1" i="0" dirty="0">
                <a:solidFill>
                  <a:srgbClr val="14241F"/>
                </a:solidFill>
                <a:latin typeface="Cambria"/>
              </a:rPr>
              <a:t>Chicken </a:t>
            </a:r>
            <a:r>
              <a:rPr sz="1200" b="1" dirty="0">
                <a:solidFill>
                  <a:srgbClr val="14241F"/>
                </a:solidFill>
                <a:latin typeface="Cambria"/>
              </a:rPr>
              <a:t>Floss </a:t>
            </a:r>
            <a:r>
              <a:rPr lang="uk-UA" sz="1200" b="1" dirty="0">
                <a:solidFill>
                  <a:srgbClr val="14241F"/>
                </a:solidFill>
                <a:latin typeface="Cambria"/>
              </a:rPr>
              <a:t>35 Г </a:t>
            </a:r>
            <a:endParaRPr sz="1200" b="1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$0,73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32,88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9411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35,09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3127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40,24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6843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68431"/>
            <a:ext cx="76468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35,47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048" y="1225295"/>
            <a:ext cx="743902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9411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$0,78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35,09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3127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40,24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6843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68431"/>
            <a:ext cx="76468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35,47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003" y="1225295"/>
            <a:ext cx="736233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$0,70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9411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$0,78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35,09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3127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40,24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6843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$0,79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68431"/>
            <a:ext cx="76468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35,47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502" y="1225295"/>
            <a:ext cx="694755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$1,42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9411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71,05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3127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81,49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6843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68431"/>
            <a:ext cx="76468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71,82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029" y="1225295"/>
            <a:ext cx="699940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$1,42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9411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$1,58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71,05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3127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81,49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6843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68431"/>
            <a:ext cx="76468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71,82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149" y="1225295"/>
            <a:ext cx="69994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650" b="1" spc="9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Cambria"/>
              </a:rPr>
              <a:t>$1,42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9411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$1,58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71,05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3127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$1,81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81,49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68431"/>
            <a:ext cx="669096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$1,60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68431"/>
            <a:ext cx="764682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 dirty="0">
                <a:solidFill>
                  <a:srgbClr val="44524C"/>
                </a:solidFill>
                <a:latin typeface="Calibri"/>
              </a:rPr>
              <a:t>71,82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2745</Words>
  <Application>Microsoft Office PowerPoint</Application>
  <PresentationFormat>Екран (16:9)</PresentationFormat>
  <Paragraphs>757</Paragraphs>
  <Slides>16</Slides>
  <Notes>3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Чаплигін lлля</cp:lastModifiedBy>
  <cp:revision>27</cp:revision>
  <dcterms:created xsi:type="dcterms:W3CDTF">2013-01-27T09:14:16Z</dcterms:created>
  <dcterms:modified xsi:type="dcterms:W3CDTF">2026-08-10T18:39:45Z</dcterms:modified>
  <cp:category/>
</cp:coreProperties>
</file>