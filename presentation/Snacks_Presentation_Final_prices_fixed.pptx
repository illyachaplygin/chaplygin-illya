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69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BD0A5-9C7D-4B8A-AB5B-77EAF4C4F90C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4308-184B-4E6F-94F0-0A20C8C407D6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002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2266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270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4308-184B-4E6F-94F0-0A20C8C407D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35349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0" y="0"/>
            <a:ext cx="2286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2286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786384"/>
            <a:ext cx="4892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90" dirty="0">
                <a:solidFill>
                  <a:srgbClr val="C9A24E"/>
                </a:solidFill>
                <a:latin typeface="Calibri"/>
              </a:rPr>
              <a:t>КАТАЛОГ ПОСТАЧАЛЬНИКІВ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4892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4241F"/>
                </a:solidFill>
                <a:latin typeface="Cambria"/>
              </a:rPr>
              <a:t>Азійські снеки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4241F"/>
                </a:solidFill>
                <a:latin typeface="Cambria"/>
              </a:rPr>
              <a:t>з водоростей і рису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005840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 rot="21060000">
            <a:off x="5436108" y="603503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 rot="21060000">
            <a:off x="5404104" y="557783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5495544" y="674315"/>
            <a:ext cx="987552" cy="124826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 rot="420000">
            <a:off x="6606540" y="397763"/>
            <a:ext cx="786384" cy="1417320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 rot="420000">
            <a:off x="6574536" y="352043"/>
            <a:ext cx="78638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" name="Picture 28" descr="tmk_roll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6763350" y="443483"/>
            <a:ext cx="408754" cy="12344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 rot="600000">
            <a:off x="7438644" y="704088"/>
            <a:ext cx="1188720" cy="1517904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 rot="600000">
            <a:off x="7406640" y="658368"/>
            <a:ext cx="1188720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tn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498079" y="812848"/>
            <a:ext cx="1005840" cy="120894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 rot="360000">
            <a:off x="5207508" y="2551175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 rot="360000">
            <a:off x="5175504" y="2505456"/>
            <a:ext cx="117043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zek_tempura_corn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5266944" y="2603217"/>
            <a:ext cx="987552" cy="128580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 rot="21240000">
            <a:off x="6313932" y="2432303"/>
            <a:ext cx="1243584" cy="1481328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 rot="21240000">
            <a:off x="6281928" y="2386584"/>
            <a:ext cx="1243584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tmk_sw_ori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6405266" y="2478024"/>
            <a:ext cx="996906" cy="12984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 rot="20940000">
            <a:off x="7584948" y="2761488"/>
            <a:ext cx="1078992" cy="1371600"/>
          </a:xfrm>
          <a:prstGeom prst="roundRect">
            <a:avLst>
              <a:gd name="adj" fmla="val 5000"/>
            </a:avLst>
          </a:prstGeom>
          <a:solidFill>
            <a:srgbClr val="CCA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 rot="20940000">
            <a:off x="7552944" y="2715768"/>
            <a:ext cx="1078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Picture 40" descr="zek_topping_veg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940000">
            <a:off x="7652861" y="2807208"/>
            <a:ext cx="879157" cy="1188720"/>
          </a:xfrm>
          <a:prstGeom prst="rect">
            <a:avLst/>
          </a:prstGeom>
        </p:spPr>
      </p:pic>
      <p:pic>
        <p:nvPicPr>
          <p:cNvPr id="20" name="Picture 59" descr="zek_sandwich_meat25.png">
            <a:extLst>
              <a:ext uri="{FF2B5EF4-FFF2-40B4-BE49-F238E27FC236}">
                <a16:creationId xmlns:a16="http://schemas.microsoft.com/office/drawing/2014/main" id="{AEED2E9B-D974-3C42-E5EC-8E48C83109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1649769">
            <a:off x="4110763" y="2453029"/>
            <a:ext cx="820895" cy="1234626"/>
          </a:xfrm>
          <a:prstGeom prst="rect">
            <a:avLst/>
          </a:prstGeom>
        </p:spPr>
      </p:pic>
      <p:sp>
        <p:nvSpPr>
          <p:cNvPr id="14" name="Rounded Rectangle 24">
            <a:extLst>
              <a:ext uri="{FF2B5EF4-FFF2-40B4-BE49-F238E27FC236}">
                <a16:creationId xmlns:a16="http://schemas.microsoft.com/office/drawing/2014/main" id="{99A07C36-0933-CDAC-B935-69D7A8210C44}"/>
              </a:ext>
            </a:extLst>
          </p:cNvPr>
          <p:cNvSpPr/>
          <p:nvPr/>
        </p:nvSpPr>
        <p:spPr>
          <a:xfrm rot="20910944">
            <a:off x="3022300" y="2420917"/>
            <a:ext cx="864009" cy="119199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83" descr="zek_sandwich_sesame25.png">
            <a:extLst>
              <a:ext uri="{FF2B5EF4-FFF2-40B4-BE49-F238E27FC236}">
                <a16:creationId xmlns:a16="http://schemas.microsoft.com/office/drawing/2014/main" id="{47F56737-65C3-9825-E0D7-13CC77C01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075912">
            <a:off x="3061702" y="2458059"/>
            <a:ext cx="755190" cy="1125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06440" y="566928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logo_sing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632" y="713232"/>
            <a:ext cx="1513975" cy="8046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847088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plant_sing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46" y="1920240"/>
            <a:ext cx="2239346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9592" y="3419856"/>
            <a:ext cx="27340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8A938D"/>
                </a:solidFill>
                <a:latin typeface="Calibri"/>
              </a:rPr>
              <a:t>Виробничий майданчик · singhakameda.co.th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13632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E8D0B8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148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35C15"/>
                </a:solidFill>
                <a:latin typeface="Calibri"/>
              </a:rPr>
              <a:t>ПРОФІЛЬ ПОСТАЧАЛЬНИКА ·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Singha Kameda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(Thailand)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35C15"/>
                </a:solidFill>
                <a:latin typeface="Calibri"/>
              </a:rPr>
              <a:t>Рисові крекери арарe в норі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B5F15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Спільне підприємство японської Kameda Seika — світового лідера ринку рисових крекерів — та тайської групи Singha. Виробництво в Таїланді за японськими стандартами.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створення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спільного підприємства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AB5F15"/>
                </a:solidFill>
                <a:latin typeface="Cambria"/>
              </a:rPr>
              <a:t>50 / 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Kameda Seika (Японія)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та Singha (Таїланд)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B5F15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контрактне виробництво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для інших брендів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СЕРТИФІКАТИ ВИРОБНИЦТВА</a:t>
            </a:r>
          </a:p>
        </p:txBody>
      </p:sp>
      <p:pic>
        <p:nvPicPr>
          <p:cNvPr id="32" name="Picture 31" descr="cert_hac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26864"/>
            <a:ext cx="489382" cy="237744"/>
          </a:xfrm>
          <a:prstGeom prst="rect">
            <a:avLst/>
          </a:prstGeom>
        </p:spPr>
      </p:pic>
      <p:pic>
        <p:nvPicPr>
          <p:cNvPr id="33" name="Picture 32" descr="cert_b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2" y="4626864"/>
            <a:ext cx="159692" cy="237744"/>
          </a:xfrm>
          <a:prstGeom prst="rect">
            <a:avLst/>
          </a:prstGeom>
        </p:spPr>
      </p:pic>
      <p:pic>
        <p:nvPicPr>
          <p:cNvPr id="34" name="Picture 33" descr="cert_hal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0594" y="4626864"/>
            <a:ext cx="424904" cy="237744"/>
          </a:xfrm>
          <a:prstGeom prst="rect">
            <a:avLst/>
          </a:prstGeom>
        </p:spPr>
      </p:pic>
      <p:pic>
        <p:nvPicPr>
          <p:cNvPr id="35" name="Picture 34" descr="cert_ns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8378" y="4626864"/>
            <a:ext cx="726895" cy="237744"/>
          </a:xfrm>
          <a:prstGeom prst="rect">
            <a:avLst/>
          </a:prstGeom>
        </p:spPr>
      </p:pic>
      <p:pic>
        <p:nvPicPr>
          <p:cNvPr id="36" name="Picture 35" descr="cert_organ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8153" y="4626864"/>
            <a:ext cx="299764" cy="237744"/>
          </a:xfrm>
          <a:prstGeom prst="rect">
            <a:avLst/>
          </a:prstGeom>
        </p:spPr>
      </p:pic>
      <p:pic>
        <p:nvPicPr>
          <p:cNvPr id="37" name="Picture 36" descr="cert_sed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0798" y="4626864"/>
            <a:ext cx="236537" cy="23774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39328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E8D0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66636" y="530352"/>
            <a:ext cx="2311603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6636" y="530352"/>
            <a:ext cx="231160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тільки рітейл-фасовку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63" y="1243584"/>
            <a:ext cx="904272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600" b="1" i="0" dirty="0">
                <a:solidFill>
                  <a:srgbClr val="14241F"/>
                </a:solidFill>
                <a:latin typeface="Cambria"/>
              </a:rPr>
              <a:t> Norimaki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 </a:t>
            </a:r>
            <a:endParaRPr sz="16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Хрусткі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арарe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обгортці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Смак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соєвого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соусу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без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гостроти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54,65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56,49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>
                <a:solidFill>
                  <a:srgbClr val="8A938D"/>
                </a:solidFill>
                <a:latin typeface="Calibri"/>
              </a:rPr>
              <a:t>20′ </a:t>
            </a:r>
            <a:r>
              <a:rPr sz="650" b="0" i="0" dirty="0" err="1">
                <a:solidFill>
                  <a:srgbClr val="8A938D"/>
                </a:solidFill>
                <a:latin typeface="Calibri"/>
              </a:rPr>
              <a:t>контейнер</a:t>
            </a:r>
            <a:endParaRPr sz="650" b="0" i="0" dirty="0">
              <a:solidFill>
                <a:srgbClr val="8A938D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232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61,16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sk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10" y="1243584"/>
            <a:ext cx="867578" cy="1143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83479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600" b="1" i="0" dirty="0">
                <a:solidFill>
                  <a:srgbClr val="14241F"/>
                </a:solidFill>
                <a:latin typeface="Cambria"/>
              </a:rPr>
              <a:t> Norimaki Wasabi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 </a:t>
            </a:r>
            <a:endParaRPr sz="16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Ті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самі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але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відчутною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гостротою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японського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54,65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56,49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61,16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61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99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3</a:t>
            </a:r>
          </a:p>
        </p:txBody>
      </p: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7EB29D27-C77B-14B9-162F-F061D267EC28}"/>
              </a:ext>
            </a:extLst>
          </p:cNvPr>
          <p:cNvSpPr/>
          <p:nvPr/>
        </p:nvSpPr>
        <p:spPr>
          <a:xfrm>
            <a:off x="836676" y="262897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21872B-B21A-CC92-AE7E-E3C79D2E70BD}"/>
              </a:ext>
            </a:extLst>
          </p:cNvPr>
          <p:cNvSpPr txBox="1"/>
          <p:nvPr/>
        </p:nvSpPr>
        <p:spPr>
          <a:xfrm>
            <a:off x="640080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A35C15"/>
                </a:solidFill>
                <a:latin typeface="Calibri"/>
              </a:rPr>
              <a:t>            </a:t>
            </a:r>
            <a:r>
              <a:rPr sz="650" b="1" spc="90" dirty="0">
                <a:solidFill>
                  <a:srgbClr val="A35C15"/>
                </a:solidFill>
                <a:latin typeface="Calibri"/>
              </a:rPr>
              <a:t>42 Г </a:t>
            </a:r>
            <a:r>
              <a:rPr lang="uk-UA" sz="650" b="1" spc="90" dirty="0">
                <a:solidFill>
                  <a:srgbClr val="A35C15"/>
                </a:solidFill>
                <a:latin typeface="Calibri"/>
              </a:rPr>
              <a:t>24 ШТ/КАРТ.</a:t>
            </a:r>
            <a:endParaRPr sz="650" b="1" spc="90" dirty="0">
              <a:solidFill>
                <a:srgbClr val="A35C15"/>
              </a:solidFill>
              <a:latin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11AEFB-39A3-312C-987C-CDBB7998E8DA}"/>
              </a:ext>
            </a:extLst>
          </p:cNvPr>
          <p:cNvSpPr txBox="1"/>
          <p:nvPr/>
        </p:nvSpPr>
        <p:spPr>
          <a:xfrm>
            <a:off x="5257801" y="2628974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A35C15"/>
                </a:solidFill>
                <a:latin typeface="Calibri"/>
              </a:rPr>
              <a:t>            </a:t>
            </a:r>
            <a:r>
              <a:rPr sz="650" b="1" spc="90" dirty="0">
                <a:solidFill>
                  <a:srgbClr val="A35C15"/>
                </a:solidFill>
                <a:latin typeface="Calibri"/>
              </a:rPr>
              <a:t>42 Г </a:t>
            </a:r>
            <a:r>
              <a:rPr lang="uk-UA" sz="650" b="1" spc="90" dirty="0">
                <a:solidFill>
                  <a:srgbClr val="A35C15"/>
                </a:solidFill>
                <a:latin typeface="Calibri"/>
              </a:rPr>
              <a:t>24 ШТ/КАРТ.</a:t>
            </a:r>
            <a:endParaRPr sz="650" b="1" spc="90" dirty="0">
              <a:solidFill>
                <a:srgbClr val="A35C15"/>
              </a:solidFill>
              <a:latin typeface="Calibri"/>
            </a:endParaRPr>
          </a:p>
        </p:txBody>
      </p:sp>
      <p:sp>
        <p:nvSpPr>
          <p:cNvPr id="66" name="Rounded Rectangle 12">
            <a:extLst>
              <a:ext uri="{FF2B5EF4-FFF2-40B4-BE49-F238E27FC236}">
                <a16:creationId xmlns:a16="http://schemas.microsoft.com/office/drawing/2014/main" id="{DF931599-32AE-0C6F-647F-1E6DD029EEEA}"/>
              </a:ext>
            </a:extLst>
          </p:cNvPr>
          <p:cNvSpPr/>
          <p:nvPr/>
        </p:nvSpPr>
        <p:spPr>
          <a:xfrm>
            <a:off x="5426964" y="263577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B5916"/>
                </a:solidFill>
                <a:latin typeface="Calibri"/>
              </a:rPr>
              <a:t>SINGHA KAMEDA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Arare Norimaki — рітейл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30214" y="530352"/>
            <a:ext cx="2948025" cy="292608"/>
          </a:xfrm>
          <a:prstGeom prst="roundRect">
            <a:avLst>
              <a:gd name="adj" fmla="val 24000"/>
            </a:avLst>
          </a:prstGeom>
          <a:solidFill>
            <a:srgbClr val="F6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0214" y="530352"/>
            <a:ext cx="294802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B5F15"/>
                </a:solidFill>
                <a:latin typeface="Calibri"/>
              </a:rPr>
              <a:t>Контейнер везе рітейл-фасовку разом із BULK 3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sk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60" y="1225295"/>
            <a:ext cx="7957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Norimaki</a:t>
            </a:r>
          </a:p>
          <a:p>
            <a:r>
              <a:rPr sz="12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Хрусткі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арарe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обгортці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Смак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соєвого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соусу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без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гостроти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700" b="1" spc="90">
                <a:solidFill>
                  <a:srgbClr val="A35C15"/>
                </a:solidFill>
                <a:latin typeface="Calibri"/>
              </a:defRPr>
            </a:lvl1pPr>
          </a:lstStyle>
          <a:p>
            <a:r>
              <a:rPr dirty="0"/>
              <a:t>СОБІВАРТІСТЬ · 1 ПАКЕТ 42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50,26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58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3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90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54,03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sk_was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845" y="1225295"/>
            <a:ext cx="763468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42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 err="1">
                <a:solidFill>
                  <a:srgbClr val="14241F"/>
                </a:solidFill>
                <a:latin typeface="Cambria"/>
              </a:rPr>
              <a:t>Arare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Norimaki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Wasabi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42 Г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самі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палички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але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відчутною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гостротою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японського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42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50,26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51,58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53,90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54,03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 ·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продукт у форматі 3 кг — для HoReCa та фасування на місці.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$52,22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2349,75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$53,59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2411,48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2519,84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2526,01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96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A05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ECD8C4"/>
                </a:solidFill>
                <a:latin typeface="Calibri"/>
              </a:rPr>
              <a:t>BULK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35C15"/>
                </a:solidFill>
                <a:latin typeface="Calibri"/>
              </a:rPr>
              <a:t>3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 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3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A35C15"/>
                </a:solidFill>
                <a:latin typeface="Calibri"/>
              </a:rPr>
              <a:t>СОБІВАРТІСТЬ · 1 ПАКЕТ 3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$52,22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2349,75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$53,59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2411,48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2519,84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$56,13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2526,01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plant_thainichi.png"/>
          <p:cNvPicPr>
            <a:picLocks noChangeAspect="1"/>
          </p:cNvPicPr>
          <p:nvPr/>
        </p:nvPicPr>
        <p:blipFill>
          <a:blip r:embed="rId2"/>
          <a:srcRect t="10606" b="10606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6C9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ogo_mizu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988" y="2688336"/>
            <a:ext cx="1607262" cy="841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 dirty="0" err="1">
                <a:solidFill>
                  <a:srgbClr val="C0D1D3"/>
                </a:solidFill>
                <a:latin typeface="Calibri"/>
              </a:rPr>
              <a:t>Продукція</a:t>
            </a:r>
            <a:r>
              <a:rPr sz="650" b="0" i="1" dirty="0">
                <a:solidFill>
                  <a:srgbClr val="C0D1D3"/>
                </a:solidFill>
                <a:latin typeface="Calibri"/>
              </a:rPr>
              <a:t> Mizuho · thai-nichi.com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BBCED0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1C565C"/>
                </a:solidFill>
                <a:latin typeface="Calibri"/>
              </a:rPr>
              <a:t>ПРОФІЛЬ ПОСТАЧАЛЬНИКА ·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Thai-Nichi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14241F"/>
                </a:solidFill>
                <a:latin typeface="Cambria"/>
              </a:rPr>
              <a:t>Industries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C565C"/>
                </a:solidFill>
                <a:latin typeface="Calibri"/>
              </a:rPr>
              <a:t>Рисові крекери, чипси та протеїнові снеки · Retail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D5860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4524C"/>
                </a:solidFill>
                <a:latin typeface="Calibri"/>
              </a:rPr>
              <a:t>Тайсько-японський виробник рисових снеків із найширшим прайсом серед усіх постачальників — 28 позицій. Одна фабрика закриває і крекери, і чипси, і протеїнові снеки.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1991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на експортному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ринку 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20+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форм і смаків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рисових крекерів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D5860"/>
                </a:solidFill>
                <a:latin typeface="Cambria"/>
              </a:rPr>
              <a:t>OEM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та власний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бренд Mizuho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1C565C"/>
                </a:solidFill>
                <a:latin typeface="Calibri"/>
              </a:rPr>
              <a:t>ПОЗНАЧКИ ЯКОСТІ НА УПАКОВЦІ</a:t>
            </a:r>
          </a:p>
        </p:txBody>
      </p:sp>
      <p:pic>
        <p:nvPicPr>
          <p:cNvPr id="32" name="Picture 31" descr="tn_mark_glut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26864"/>
            <a:ext cx="438912" cy="237744"/>
          </a:xfrm>
          <a:prstGeom prst="rect">
            <a:avLst/>
          </a:prstGeom>
        </p:spPr>
      </p:pic>
      <p:pic>
        <p:nvPicPr>
          <p:cNvPr id="33" name="Picture 32" descr="tn_mark_choleste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626864"/>
            <a:ext cx="690250" cy="237744"/>
          </a:xfrm>
          <a:prstGeom prst="rect">
            <a:avLst/>
          </a:prstGeom>
        </p:spPr>
      </p:pic>
      <p:pic>
        <p:nvPicPr>
          <p:cNvPr id="34" name="Picture 33" descr="tn_mark_organ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0682" y="4626864"/>
            <a:ext cx="551854" cy="237744"/>
          </a:xfrm>
          <a:prstGeom prst="rect">
            <a:avLst/>
          </a:prstGeom>
        </p:spPr>
      </p:pic>
      <p:pic>
        <p:nvPicPr>
          <p:cNvPr id="35" name="Picture 34" descr="tn_mark_g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5416" y="4626864"/>
            <a:ext cx="386250" cy="237744"/>
          </a:xfrm>
          <a:prstGeom prst="rect">
            <a:avLst/>
          </a:prstGeom>
        </p:spPr>
      </p:pic>
      <p:pic>
        <p:nvPicPr>
          <p:cNvPr id="36" name="Picture 35" descr="tn_mark_veg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547" y="4626864"/>
            <a:ext cx="569014" cy="23774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BBCE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рисові крекери в норі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66636" y="530352"/>
            <a:ext cx="2311603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6636" y="530352"/>
            <a:ext cx="231160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тільки рітейл-фасовку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1243584"/>
            <a:ext cx="950976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1C565C"/>
                </a:solidFill>
                <a:latin typeface="Calibri"/>
              </a:rPr>
              <a:t>              50 Г · 36 ШТ/КАРТ.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4241F"/>
                </a:solidFill>
                <a:latin typeface="Cambria"/>
              </a:rPr>
              <a:t>Norimaki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600" b="1" dirty="0">
                <a:solidFill>
                  <a:srgbClr val="14241F"/>
                </a:solidFill>
                <a:latin typeface="Cambria"/>
              </a:rPr>
              <a:t> </a:t>
            </a:r>
            <a:r>
              <a:rPr sz="1600" b="1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Рисовий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водорістю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смажений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за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японською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рецептурою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50 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$0,94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17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42,49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2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90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43,94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32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90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48,94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32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90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47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59" y="1115568"/>
            <a:ext cx="4069079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18303" y="1124712"/>
            <a:ext cx="4050791" cy="1472184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18303" y="2377439"/>
            <a:ext cx="4050791" cy="219456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5" name="Picture 34" descr="tn_wasa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50" y="1243584"/>
            <a:ext cx="939699" cy="1143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83479" y="2624328"/>
            <a:ext cx="352043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50" b="1" i="0" spc="90" dirty="0">
                <a:solidFill>
                  <a:srgbClr val="1C565C"/>
                </a:solidFill>
                <a:latin typeface="Calibri"/>
              </a:rPr>
              <a:t>                   55 Г · 36 ШТ/КАРТ.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79" y="2825496"/>
            <a:ext cx="35204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1600" b="1" i="0">
                <a:solidFill>
                  <a:srgbClr val="14241F"/>
                </a:solidFill>
                <a:latin typeface="Cambria"/>
              </a:defRPr>
            </a:lvl1pPr>
          </a:lstStyle>
          <a:p>
            <a:r>
              <a:rPr dirty="0"/>
              <a:t>Norimaki Wasabi </a:t>
            </a:r>
            <a:r>
              <a:rPr lang="uk-UA" dirty="0"/>
              <a:t>·</a:t>
            </a:r>
            <a:r>
              <a:rPr lang="ru-UA" dirty="0"/>
              <a:t> 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5212079" y="3246120"/>
            <a:ext cx="30632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900" b="0" i="0" dirty="0" err="1">
                <a:solidFill>
                  <a:srgbClr val="44524C"/>
                </a:solidFill>
                <a:latin typeface="Calibri"/>
              </a:rPr>
              <a:t>Той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самий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додаванням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Найбільший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524C"/>
                </a:solidFill>
                <a:latin typeface="Calibri"/>
              </a:rPr>
              <a:t>лінійки</a:t>
            </a:r>
            <a:r>
              <a:rPr sz="900" b="0" i="0" dirty="0">
                <a:solidFill>
                  <a:srgbClr val="44524C"/>
                </a:solidFill>
                <a:latin typeface="Calibri"/>
              </a:rPr>
              <a:t> — 55 г.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8383" y="3639312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 dirty="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822192"/>
            <a:ext cx="3063239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58383" y="3877056"/>
            <a:ext cx="277063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58383" y="4014216"/>
            <a:ext cx="14407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FFFFFF"/>
                </a:solidFill>
                <a:latin typeface="Cambria"/>
              </a:rPr>
              <a:t>$1,14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5168" y="4050792"/>
            <a:ext cx="15238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51,39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58383" y="426110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27582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413" y="426110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54,92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439826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58383" y="439826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6636" y="441298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413" y="4398264"/>
            <a:ext cx="88660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61,17 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58383" y="4535424"/>
            <a:ext cx="277063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58383" y="4535424"/>
            <a:ext cx="116366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6636" y="4550143"/>
            <a:ext cx="77577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$1,33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42413" y="4550143"/>
            <a:ext cx="88660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59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,99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6</a:t>
            </a:r>
          </a:p>
        </p:txBody>
      </p: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1DD9C00A-C289-254E-A2A8-B6FA20566F9E}"/>
              </a:ext>
            </a:extLst>
          </p:cNvPr>
          <p:cNvSpPr/>
          <p:nvPr/>
        </p:nvSpPr>
        <p:spPr>
          <a:xfrm>
            <a:off x="955548" y="263347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640F619B-9B3C-F8EA-33E5-9DD206700C7B}"/>
              </a:ext>
            </a:extLst>
          </p:cNvPr>
          <p:cNvSpPr/>
          <p:nvPr/>
        </p:nvSpPr>
        <p:spPr>
          <a:xfrm>
            <a:off x="5486400" y="2631687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54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1C5359"/>
                </a:solidFill>
                <a:latin typeface="Calibri"/>
              </a:rPr>
              <a:t>THAI-NICHI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Norimaki — рітейл і 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24144" y="530352"/>
            <a:ext cx="3054096" cy="292608"/>
          </a:xfrm>
          <a:prstGeom prst="roundRect">
            <a:avLst>
              <a:gd name="adj" fmla="val 24000"/>
            </a:avLst>
          </a:prstGeom>
          <a:solidFill>
            <a:srgbClr val="E4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24144" y="530352"/>
            <a:ext cx="30540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D5860"/>
                </a:solidFill>
                <a:latin typeface="Calibri"/>
              </a:rPr>
              <a:t>Контейнер везе рітейл-фасовку разом із BULK 2,5 кг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t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0" y="1225295"/>
            <a:ext cx="836858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50 Г · 36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r>
              <a:rPr sz="1200" b="1" dirty="0">
                <a:solidFill>
                  <a:srgbClr val="14241F"/>
                </a:solidFill>
                <a:latin typeface="Cambria"/>
              </a:rPr>
              <a:t>Original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200" b="1" dirty="0">
                <a:solidFill>
                  <a:srgbClr val="14241F"/>
                </a:solidFill>
                <a:latin typeface="Cambria"/>
              </a:rPr>
              <a:t>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Рисовий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водорістю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норі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смажений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за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японською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рецептурою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Пакет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50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 dirty="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40,27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 dirty="0" err="1">
                <a:solidFill>
                  <a:srgbClr val="8A938D"/>
                </a:solidFill>
                <a:latin typeface="Calibri"/>
              </a:rPr>
              <a:t>Збірний</a:t>
            </a:r>
            <a:r>
              <a:rPr sz="650" b="0" i="0" dirty="0">
                <a:solidFill>
                  <a:srgbClr val="8A938D"/>
                </a:solidFill>
                <a:latin typeface="Calibri"/>
              </a:rPr>
              <a:t>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</a:t>
            </a:r>
            <a:r>
              <a:rPr lang="uk-UA" sz="700" b="1" i="0" dirty="0">
                <a:solidFill>
                  <a:srgbClr val="44524C"/>
                </a:solidFill>
                <a:latin typeface="Calibri"/>
              </a:rPr>
              <a:t>2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44,15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44,23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n_was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112" y="1225295"/>
            <a:ext cx="826935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55 Г · 36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Wasabi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lang="ru-UA" sz="1200" b="1" dirty="0">
                <a:solidFill>
                  <a:srgbClr val="14241F"/>
                </a:solidFill>
                <a:latin typeface="Cambria"/>
              </a:rPr>
              <a:t> 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крекер із додаванням васабі. Найбільший пакет лінійки — 55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55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50,34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51,98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55,19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55,28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rapezoid 59"/>
          <p:cNvSpPr/>
          <p:nvPr/>
        </p:nvSpPr>
        <p:spPr>
          <a:xfrm>
            <a:off x="531174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55806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69113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1174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1174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74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Original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r>
              <a:rPr sz="1200" b="1" i="0" dirty="0">
                <a:solidFill>
                  <a:srgbClr val="14241F"/>
                </a:solidFill>
                <a:latin typeface="Cambria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самий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крекер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2,5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09744" y="3657600"/>
            <a:ext cx="1673351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700" b="1" spc="90" dirty="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$29,01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1305,37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$30,19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1358,54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$32,05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1442,35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$32,10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444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69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Trapezoid 89"/>
          <p:cNvSpPr/>
          <p:nvPr/>
        </p:nvSpPr>
        <p:spPr>
          <a:xfrm>
            <a:off x="7460589" y="1325880"/>
            <a:ext cx="769741" cy="868680"/>
          </a:xfrm>
          <a:prstGeom prst="trapezoid">
            <a:avLst>
              <a:gd name="adj" fmla="val 16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7706907" y="1225295"/>
            <a:ext cx="277107" cy="181051"/>
          </a:xfrm>
          <a:prstGeom prst="roundRect">
            <a:avLst>
              <a:gd name="adj" fmla="val 50000"/>
            </a:avLst>
          </a:prstGeom>
          <a:solidFill>
            <a:srgbClr val="1B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839974" y="1499616"/>
            <a:ext cx="10972" cy="555955"/>
          </a:xfrm>
          <a:prstGeom prst="rect">
            <a:avLst/>
          </a:prstGeom>
          <a:solidFill>
            <a:srgbClr val="1C5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460589" y="1687982"/>
            <a:ext cx="76974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2,5 кг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0589" y="1929384"/>
            <a:ext cx="76974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1" i="0" spc="90">
                <a:solidFill>
                  <a:srgbClr val="C6D6D8"/>
                </a:solidFill>
                <a:latin typeface="Calibri"/>
              </a:rPr>
              <a:t>BULK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1C565C"/>
                </a:solidFill>
                <a:latin typeface="Calibri"/>
              </a:rPr>
              <a:t>2,5 КГ · 2 ПАК/КАРТ.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58584" y="2651760"/>
            <a:ext cx="16733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Norimaki Wasabi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BULK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·</a:t>
            </a:r>
            <a:endParaRPr sz="1200" b="1" i="0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 dirty="0" err="1">
                <a:solidFill>
                  <a:srgbClr val="44524C"/>
                </a:solidFill>
                <a:latin typeface="Calibri"/>
              </a:rPr>
              <a:t>Васабі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форматі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2,5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кг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HoReCa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фасування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на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44524C"/>
                </a:solidFill>
                <a:latin typeface="Calibri"/>
              </a:rPr>
              <a:t>місці</a:t>
            </a:r>
            <a:r>
              <a:rPr sz="8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58584" y="3657600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 dirty="0">
                <a:solidFill>
                  <a:srgbClr val="1C565C"/>
                </a:solidFill>
                <a:latin typeface="Calibri"/>
              </a:rPr>
              <a:t>СОБІВАРТІСТЬ · 1 ПАКЕТ 2,5 КГ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$35,53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1598,99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$36,97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1663,52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$39,25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1766,14 ₴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$39,31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17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69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00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plant_tmk.png"/>
          <p:cNvPicPr>
            <a:picLocks noChangeAspect="1"/>
          </p:cNvPicPr>
          <p:nvPr/>
        </p:nvPicPr>
        <p:blipFill>
          <a:blip r:embed="rId2"/>
          <a:srcRect t="8919" b="8919"/>
          <a:stretch>
            <a:fillRect/>
          </a:stretch>
        </p:blipFill>
        <p:spPr>
          <a:xfrm>
            <a:off x="5349240" y="0"/>
            <a:ext cx="3794760" cy="3072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49240" y="3072384"/>
            <a:ext cx="3794760" cy="54864"/>
          </a:xfrm>
          <a:prstGeom prst="rect">
            <a:avLst/>
          </a:prstGeom>
          <a:solidFill>
            <a:srgbClr val="78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06440" y="2542032"/>
            <a:ext cx="2880360" cy="11338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logo_kok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59" y="2870200"/>
            <a:ext cx="1493520" cy="47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749039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1">
                <a:solidFill>
                  <a:srgbClr val="C5DAC9"/>
                </a:solidFill>
                <a:latin typeface="Calibri"/>
              </a:rPr>
              <a:t>Фабрика TMK · kokiriseaweed.com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986784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 spc="90">
                <a:solidFill>
                  <a:srgbClr val="C1D7C5"/>
                </a:solidFill>
                <a:latin typeface="Calibri"/>
              </a:rPr>
              <a:t>ВИРОБНИЦТВО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1879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Таїланд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2C713B"/>
                </a:solidFill>
                <a:latin typeface="Calibri"/>
              </a:rPr>
              <a:t>ПРОФІЛЬ ПОСТАЧАЛЬНИКА ·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TMK (Thailand)</a:t>
            </a:r>
          </a:p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713B"/>
                </a:solidFill>
                <a:latin typeface="Calibri"/>
              </a:rPr>
              <a:t>Снеки з водорості норі · Retail і дитячий формат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763C"/>
                </a:solidFill>
                <a:latin typeface="Calibri"/>
              </a:rPr>
              <a:t>FOB Bangkok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ПРО КОМПАНІЮ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 err="1">
                <a:solidFill>
                  <a:srgbClr val="44524C"/>
                </a:solidFill>
                <a:latin typeface="Calibri"/>
              </a:rPr>
              <a:t>Виробляє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снеки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з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водорості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яку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завозить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і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має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фабрики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Таїланді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Працює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як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OEM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для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інших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брендів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у 13+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країнах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«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Кокірі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» — «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слон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»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корейською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символ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довіри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в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Таїланді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2011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компанії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9676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79676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79676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E763C"/>
                </a:solidFill>
                <a:latin typeface="Cambria"/>
              </a:rPr>
              <a:t>13+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1116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3592" y="3474720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93592" y="3474720"/>
            <a:ext cx="1481328" cy="457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360273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763C"/>
                </a:solidFill>
                <a:latin typeface="Cambria"/>
              </a:rPr>
              <a:t>$10 млн+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3877056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за шість років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26110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2C713B"/>
                </a:solidFill>
                <a:latin typeface="Calibri"/>
              </a:rPr>
              <a:t>СЕРТИФІКАТИ ВИРОБНИЦТВА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tmk_cert_g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83" y="4462272"/>
            <a:ext cx="372992" cy="40233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5760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GMP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9096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mk_cert_hacc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282" y="4462272"/>
            <a:ext cx="372666" cy="40233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9096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HACCP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32432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" name="Picture 38" descr="tmk_cert_hal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459" y="4462272"/>
            <a:ext cx="372985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932432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Halal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15768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Picture 41" descr="tmk_cert_iso22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3949" y="4462272"/>
            <a:ext cx="284677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715768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ISO 22000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9103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5" name="Picture 44" descr="tmk_cert_fssc220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5201" y="4462272"/>
            <a:ext cx="268844" cy="4023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99103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8A938D"/>
                </a:solidFill>
                <a:latin typeface="Calibri"/>
              </a:rPr>
              <a:t>FSSC 22000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82440" y="4434840"/>
            <a:ext cx="70104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tmk_cert_cod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6674" y="4462272"/>
            <a:ext cx="272570" cy="40233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82440" y="4905756"/>
            <a:ext cx="701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" b="0" i="0" dirty="0">
                <a:solidFill>
                  <a:srgbClr val="8A938D"/>
                </a:solidFill>
                <a:latin typeface="Calibri"/>
              </a:rPr>
              <a:t>CODEX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C1D7C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ROLL та Wow DOUBLE ROLL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 норі, скручений навколо рисової палички. Пакетик на один укус, у коробці 10 штук.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Той самий рулетик норі з гострою приправою. У Таїланді — найпродаваніший смак лінійки.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2,5 Г · ПАКЕТИК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ROLL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Spicy Squid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Рулетик норі з приправою зі смаком гострого кальмара. Найспецифічніший смак трійки.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2,5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9,51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10,62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11,98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$0,2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7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12,11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— порція 5 г замість 2,5 г. У коробці 5 пакетиків.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$0,3</a:t>
            </a:r>
            <a:r>
              <a:rPr sz="1350" b="1" dirty="0">
                <a:solidFill>
                  <a:srgbClr val="FFFFFF"/>
                </a:solidFill>
                <a:latin typeface="Cambria"/>
              </a:rPr>
              <a:t>8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17,07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18,98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21,41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21,64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9</a:t>
            </a:r>
          </a:p>
        </p:txBody>
      </p:sp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D0C6FA8D-1486-5F53-9CC8-1599106F4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38" y="1161288"/>
            <a:ext cx="1152098" cy="1152098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9EA5EA44-34A1-1F56-1EAC-2B98B906B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73" y="1104644"/>
            <a:ext cx="1217931" cy="1217931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E039A6DE-1447-9D0B-A325-1B8ACE632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981" y="1194222"/>
            <a:ext cx="1073491" cy="1073491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D71E0275-6171-2D63-FF01-9182DB1ED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716" y="1139506"/>
            <a:ext cx="1192214" cy="1192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792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Wow DOUBLE ROLL та Wow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5 Г · ПАКЕТИК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DOUBLE ROLL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Подвійний рулетик норі з гострою приправою. Крок нагору від базового формату.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ПАКЕТИК 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17,07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18,98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21,41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21,64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tmk_sw_o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874" y="1225295"/>
            <a:ext cx="77225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Смажені листи норі, приправлені та нарізані на порційні шматочки. Пакет 12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34,86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39,09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99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44,56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tmk_sw_sp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95" y="1225295"/>
            <a:ext cx="777649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 саме з гострою приправою. Термін придатності 7 місяців — потребує швидкого обігу.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34,86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39,09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44,10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44,56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10</a:t>
            </a:r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E6A31A9-BB45-AAC3-3B9C-8A48F2E4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09" y="1150863"/>
            <a:ext cx="1154708" cy="11547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2B6D39"/>
                </a:solidFill>
                <a:latin typeface="Calibri"/>
              </a:rPr>
              <a:t>TMK · KOKIRI ·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14241F"/>
                </a:solidFill>
                <a:latin typeface="Cambria"/>
              </a:rPr>
              <a:t>Wow SEAWEED </a:t>
            </a:r>
            <a:r>
              <a:rPr sz="2000" b="1" i="0" dirty="0" err="1">
                <a:solidFill>
                  <a:srgbClr val="14241F"/>
                </a:solidFill>
                <a:latin typeface="Cambria"/>
              </a:rPr>
              <a:t>та</a:t>
            </a:r>
            <a:r>
              <a:rPr sz="2000" b="1" i="0" dirty="0">
                <a:solidFill>
                  <a:srgbClr val="14241F"/>
                </a:solidFill>
                <a:latin typeface="Cambria"/>
              </a:rPr>
              <a:t> Wow MINI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E6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763C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12 Г · 36 ПАК/КАРТ.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SEAWEED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Squid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Смажена норі зі смаком кальмара. Термін придатності також 7 місяців.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12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34,86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39,09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44,10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44,56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02132" y="-509812"/>
            <a:ext cx="469980" cy="218501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Original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Найменший пакет лінійки — 10 г. Формат для прикасової зони та дитячих наборів.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35,11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38,83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43,80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8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</a:t>
            </a:r>
            <a:r>
              <a:rPr sz="700" b="1" dirty="0">
                <a:solidFill>
                  <a:srgbClr val="44524C"/>
                </a:solidFill>
                <a:latin typeface="Calibri"/>
              </a:rPr>
              <a:t>27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904669" y="-829556"/>
            <a:ext cx="432632" cy="221482"/>
          </a:xfrm>
          <a:prstGeom prst="roundRect">
            <a:avLst>
              <a:gd name="adj" fmla="val 3500"/>
            </a:avLst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0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2C713B"/>
                </a:solidFill>
                <a:latin typeface="Calibri"/>
              </a:rPr>
              <a:t>10 Г · 36 ПАК/КАРТ.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Wow MINI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Hot Spicy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Гострий варіант міні-пакета 10 г. Ставиться в пару з Original на одній полиці.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2C713B"/>
                </a:solidFill>
                <a:latin typeface="Calibri"/>
              </a:rPr>
              <a:t>СОБІВАРТІСТЬ · 1 ПАКЕТ 10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35,11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38,83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16552"/>
            <a:ext cx="669096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$0,97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43,80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44,27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11</a:t>
            </a:r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3569C15C-F378-0C30-69E7-F36F54965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977" y="1170261"/>
            <a:ext cx="1015155" cy="1015155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B06A8357-03A1-04E9-A48A-202DB9FCB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775" y="1167979"/>
            <a:ext cx="1035725" cy="1035725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0C98B21B-BF67-DCCA-4041-1F55D643B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36" y="1182354"/>
            <a:ext cx="1091726" cy="10917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5646420" y="155447"/>
            <a:ext cx="3200400" cy="3200400"/>
          </a:xfrm>
          <a:prstGeom prst="ellipse">
            <a:avLst/>
          </a:prstGeom>
          <a:noFill/>
          <a:ln w="17780">
            <a:solidFill>
              <a:srgbClr val="F4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 rot="21300000">
            <a:off x="6089904" y="553212"/>
            <a:ext cx="2331720" cy="1325880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 rot="21300000">
            <a:off x="6057900" y="507492"/>
            <a:ext cx="233172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zek_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0000">
            <a:off x="6158251" y="598932"/>
            <a:ext cx="2131016" cy="1143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 rot="21060000">
            <a:off x="5911596" y="1581912"/>
            <a:ext cx="1060704" cy="1389888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 rot="21060000">
            <a:off x="5879592" y="1536192"/>
            <a:ext cx="1060704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zek_tempura_corn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0000">
            <a:off x="5971031" y="1659666"/>
            <a:ext cx="877824" cy="11429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 rot="600000">
            <a:off x="7594092" y="1673352"/>
            <a:ext cx="1024128" cy="1353312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 rot="600000">
            <a:off x="7562088" y="1627632"/>
            <a:ext cx="102412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zek_topping_veg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7653527" y="1735556"/>
            <a:ext cx="841248" cy="113746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3054096"/>
            <a:ext cx="2514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4475" y="3145536"/>
            <a:ext cx="225856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 i="0" dirty="0">
                <a:solidFill>
                  <a:srgbClr val="AA3922"/>
                </a:solidFill>
                <a:latin typeface="Cambria"/>
              </a:rPr>
              <a:t>ZEK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824351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AA3922"/>
                </a:solidFill>
                <a:latin typeface="Cambria"/>
              </a:rPr>
              <a:t>ВИРОБНИЦТВО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4053869"/>
            <a:ext cx="3794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AA3922"/>
                </a:solidFill>
                <a:latin typeface="Cambria"/>
              </a:rPr>
              <a:t>Китай</a:t>
            </a:r>
            <a:endParaRPr sz="1200" b="1" dirty="0">
              <a:solidFill>
                <a:srgbClr val="AA3922"/>
              </a:solidFill>
              <a:latin typeface="Cambri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475488"/>
            <a:ext cx="237744" cy="2377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7548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90">
                <a:solidFill>
                  <a:srgbClr val="A23822"/>
                </a:solidFill>
                <a:latin typeface="Calibri"/>
              </a:rPr>
              <a:t>ПРОФІЛЬ ПОСТАЧАЛЬНИКА ·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841248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 dirty="0" err="1">
                <a:solidFill>
                  <a:srgbClr val="14241F"/>
                </a:solidFill>
                <a:latin typeface="Cambria"/>
              </a:rPr>
              <a:t>HanJin</a:t>
            </a:r>
            <a:r>
              <a:rPr sz="2600" b="1" i="0" dirty="0">
                <a:solidFill>
                  <a:srgbClr val="14241F"/>
                </a:solidFill>
                <a:latin typeface="Cambria"/>
              </a:rPr>
              <a:t> (Shanghai)</a:t>
            </a:r>
          </a:p>
          <a:p>
            <a:pPr algn="l">
              <a:lnSpc>
                <a:spcPct val="108000"/>
              </a:lnSpc>
            </a:pPr>
            <a:r>
              <a:rPr sz="2600" b="1" i="0" dirty="0">
                <a:solidFill>
                  <a:srgbClr val="14241F"/>
                </a:solidFill>
                <a:latin typeface="Cambria"/>
              </a:rPr>
              <a:t>Food Co., Ltd.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190195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23822"/>
                </a:solidFill>
                <a:latin typeface="Calibri"/>
              </a:rPr>
              <a:t>Темпура, сендвічі та присипка з норі · Retail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249424"/>
            <a:ext cx="1025956" cy="274320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2249424"/>
            <a:ext cx="10259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AA3922"/>
                </a:solidFill>
                <a:latin typeface="Calibri"/>
              </a:rPr>
              <a:t>FOB Qingdao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70662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ПРО КОМПАНІЮ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889504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44524C"/>
                </a:solidFill>
                <a:latin typeface="Calibri"/>
              </a:rPr>
              <a:t>ZEK — «Zesty Especial Kingdom»,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власний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бренд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Hanjin Food.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Компанія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заснована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2002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року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у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Вейхаї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головний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офіс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2014-го — у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Шанхаї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.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Партнери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групи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тайська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Singha Group і </a:t>
            </a:r>
            <a:r>
              <a:rPr sz="1000" b="0" i="0" dirty="0" err="1">
                <a:solidFill>
                  <a:srgbClr val="44524C"/>
                </a:solidFill>
                <a:latin typeface="Calibri"/>
              </a:rPr>
              <a:t>корейська</a:t>
            </a:r>
            <a:r>
              <a:rPr sz="1000" b="0" i="0" dirty="0">
                <a:solidFill>
                  <a:srgbClr val="44524C"/>
                </a:solidFill>
                <a:latin typeface="Calibri"/>
              </a:rPr>
              <a:t> SPC Group.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2002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у Вейхаї, Шаньдун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79676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79676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79676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A3922"/>
                </a:solidFill>
                <a:latin typeface="Cambria"/>
              </a:rPr>
              <a:t>№1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1116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частка ринку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приправленої норі в КНР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93592" y="3602736"/>
            <a:ext cx="148132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93592" y="3602736"/>
            <a:ext cx="1481328" cy="457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93592" y="373075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AA3922"/>
                </a:solidFill>
                <a:latin typeface="Cambr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4005072"/>
            <a:ext cx="129844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43984"/>
            <a:ext cx="4617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spc="90">
                <a:solidFill>
                  <a:srgbClr val="A23822"/>
                </a:solidFill>
                <a:latin typeface="Calibri"/>
              </a:rPr>
              <a:t>СИРОВИНА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626864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4241F"/>
                </a:solidFill>
                <a:latin typeface="Calibri"/>
              </a:rPr>
              <a:t>Норі з острова Чеджу (Корея) та плантацій під Вейхаєм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E8C4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650" b="1" spc="90">
              <a:solidFill>
                <a:srgbClr val="A23822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empura_corn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Листи норі в хрусткому клярі темпура зі смаком солодкої кукурудзи. Пакет 30 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650" b="1" spc="90">
                <a:solidFill>
                  <a:srgbClr val="A23822"/>
                </a:solidFill>
                <a:latin typeface="Calibri"/>
              </a:defRPr>
            </a:lvl1pPr>
          </a:lstStyle>
          <a:p>
            <a:r>
              <a:rPr dirty="0"/>
              <a:t>СОБІВАРТІСТЬ · 1 ПАКЕТ 30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9943" y="443127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1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56</a:t>
            </a:r>
            <a:r>
              <a:rPr sz="700" b="1" i="0" dirty="0">
                <a:solidFill>
                  <a:srgbClr val="44524C"/>
                </a:solidFill>
                <a:latin typeface="Calibri"/>
              </a:rPr>
              <a:t>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uk-UA" sz="700" b="1" dirty="0">
                <a:solidFill>
                  <a:srgbClr val="44524C"/>
                </a:solidFill>
              </a:rPr>
              <a:t>$0,85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38,13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empura_wasabi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909" y="1225295"/>
            <a:ext cx="767341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Wasabi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клярі темпура з васабі. Гострий варіант тієї самої лінійки, 30 г.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38,13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empura_mala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156" y="1225295"/>
            <a:ext cx="772526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Crawfish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 в темпурі з приправою мала — гостро-пряний китайський смак раків. 30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33,90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36,20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$0,92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41,56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38,13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4" name="Picture 83" descr="zek_tempura_corn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404" y="1225295"/>
            <a:ext cx="777711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Corn · 50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Кукурудзяна темпура у великому пакеті 50 г. Ціна за грам нижча, ніж у 30 г.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096463" y="443127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700" b="1" dirty="0">
                <a:solidFill>
                  <a:srgbClr val="44524C"/>
                </a:solidFill>
              </a:rPr>
              <a:t>62</a:t>
            </a:r>
            <a:r>
              <a:rPr lang="uk-UA" sz="700" b="1" dirty="0">
                <a:solidFill>
                  <a:srgbClr val="44524C"/>
                </a:solidFill>
              </a:rPr>
              <a:t>,</a:t>
            </a:r>
            <a:r>
              <a:rPr lang="en-US" sz="700" b="1" dirty="0">
                <a:solidFill>
                  <a:srgbClr val="44524C"/>
                </a:solidFill>
              </a:rPr>
              <a:t>83</a:t>
            </a:r>
            <a:r>
              <a:rPr lang="uk-UA" sz="700" b="1" dirty="0">
                <a:solidFill>
                  <a:srgbClr val="44524C"/>
                </a:solidFill>
              </a:rPr>
              <a:t>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57,63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Tempura Seaweed та Sandwich Seaweed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empura_wasabi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76" y="1225295"/>
            <a:ext cx="772526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Wasabi · 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з васабі у пакеті 50 г — формат для домашнього споживання.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507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40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994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40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</a:t>
            </a:r>
            <a:r>
              <a:rPr lang="en-US" sz="700" b="1" i="0" dirty="0">
                <a:solidFill>
                  <a:srgbClr val="44524C"/>
                </a:solidFill>
                <a:latin typeface="Calibri"/>
              </a:rPr>
              <a:t>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4994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40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994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57,63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52374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2374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empura_mala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501" y="1225295"/>
            <a:ext cx="762157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26609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4378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50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Tempura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Mala · 50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090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Темпура мала у пакеті 50 г. Замикає лінійку великих фасовок.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50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6090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6090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$1,1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1391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51,25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6090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024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878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54,72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090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6090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24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$1,40</a:t>
            </a:r>
            <a:endParaRPr sz="700" b="1" i="0" dirty="0">
              <a:solidFill>
                <a:srgbClr val="44524C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9878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62,83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6090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66090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024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878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dirty="0">
                <a:solidFill>
                  <a:srgbClr val="44524C"/>
                </a:solidFill>
                <a:latin typeface="Calibri"/>
              </a:rPr>
              <a:t>57,63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467258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67258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sandwich_meat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271849" y="1225295"/>
            <a:ext cx="749141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480974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9262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974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Meat Floss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0974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прошарком сушеної м’ясної стружки між ними. Пакет 25 г.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974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0974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974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$0,5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7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56275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25,49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974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7908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762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27,19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974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80974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7908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762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31,19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974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80974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908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762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27,49 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115568"/>
            <a:ext cx="196596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821424" y="1124712"/>
            <a:ext cx="194767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821424" y="2212848"/>
            <a:ext cx="194767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4" name="Picture 83" descr="zek_sandwich_sesam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048" y="1225295"/>
            <a:ext cx="734422" cy="1005840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69585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41464" y="2450591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25 Г · 30 ШТ/КАРТ.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58584" y="2651760"/>
            <a:ext cx="167335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Sandwich Seaweed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58584" y="3108960"/>
            <a:ext cx="1673351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Два листи норі з кунжутним прошарком. Вегетаріанський варіант сендвіча.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58584" y="3657600"/>
            <a:ext cx="1673351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25 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3840480"/>
            <a:ext cx="196596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958584" y="3895344"/>
            <a:ext cx="167335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4032504"/>
            <a:ext cx="87014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$0,5</a:t>
            </a:r>
            <a:r>
              <a:rPr lang="en-US" sz="1350" b="1" i="0" dirty="0">
                <a:solidFill>
                  <a:srgbClr val="FFFFFF"/>
                </a:solidFill>
                <a:latin typeface="Cambria"/>
              </a:rPr>
              <a:t>7</a:t>
            </a:r>
            <a:endParaRPr sz="135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711592" y="4069080"/>
            <a:ext cx="92034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25,49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58584" y="427939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7924" y="429411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6463" y="427939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27,19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58584" y="441655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958584" y="441655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7924" y="443127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96463" y="4416552"/>
            <a:ext cx="53547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31,19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58584" y="4553712"/>
            <a:ext cx="1673351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958584" y="4553712"/>
            <a:ext cx="702807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7924" y="4568431"/>
            <a:ext cx="468538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$0,61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96463" y="4568431"/>
            <a:ext cx="53547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27,49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opping_chicke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50" y="1225295"/>
            <a:ext cx="745259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 dirty="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r>
              <a:rPr sz="1200" b="1" i="0" dirty="0">
                <a:solidFill>
                  <a:srgbClr val="14241F"/>
                </a:solidFill>
                <a:latin typeface="Cambria"/>
              </a:rPr>
              <a:t>Chicken </a:t>
            </a:r>
            <a:r>
              <a:rPr sz="1200" b="1" dirty="0">
                <a:solidFill>
                  <a:srgbClr val="14241F"/>
                </a:solidFill>
                <a:latin typeface="Cambria"/>
              </a:rPr>
              <a:t>Floss </a:t>
            </a:r>
            <a:r>
              <a:rPr lang="uk-UA" sz="1200" b="1" dirty="0">
                <a:solidFill>
                  <a:srgbClr val="14241F"/>
                </a:solidFill>
                <a:latin typeface="Cambria"/>
              </a:rPr>
              <a:t>35 Г </a:t>
            </a:r>
            <a:endParaRPr sz="12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Подрібнена норі з курячою стружкою — присипка до рису та супів. Збагачена DHA.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32,88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35,47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opping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48" y="1225295"/>
            <a:ext cx="743902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Vegetables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овочами. Паковання орієнтоване на дитячу аудиторію.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31,54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35,47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opping_sesam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003" y="1225295"/>
            <a:ext cx="736233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Норі-присипка з кунжутом — базовий смак напрямку, без м’ясних добавок.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$0,70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31,54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35,09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$0,89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40,24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$0,79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35,47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310896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 spc="90">
                <a:solidFill>
                  <a:srgbClr val="9A3722"/>
                </a:solidFill>
                <a:latin typeface="Calibri"/>
              </a:rPr>
              <a:t>HANJIN · ZEK ·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6035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8425" y="530352"/>
            <a:ext cx="2629814" cy="292608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48425" y="530352"/>
            <a:ext cx="262981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Picture 11" descr="zek_topping_veg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02" y="1225295"/>
            <a:ext cx="694755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4241F"/>
                </a:solidFill>
                <a:latin typeface="Cambria"/>
              </a:rPr>
              <a:t>Vegetables · 70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Овочева присипка у великому пакеті 70 г. Розрахована на родину або HoReCa.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739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791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701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791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701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791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701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71,82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088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24002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002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6" name="Picture 35" descr="zek_topping_sesam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029" y="1225295"/>
            <a:ext cx="699940" cy="100584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37718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006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718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Sesame · 70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8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Кунжутна присипка у пакеті 70 г — удвічі більший обсяг за той самий смак.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718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088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718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718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251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718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303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213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7718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7718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303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213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7718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718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3303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0213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71,82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6000" y="1115568"/>
            <a:ext cx="2682240" cy="36027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105144" y="1124712"/>
            <a:ext cx="2663952" cy="1207008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05144" y="2212848"/>
            <a:ext cx="2663952" cy="118872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0" name="Picture 59" descr="zek_topping_chicken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149" y="1225295"/>
            <a:ext cx="699940" cy="100584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6242304" y="24505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25184" y="2450591"/>
            <a:ext cx="2225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 spc="9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304" y="2651760"/>
            <a:ext cx="23896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41F"/>
                </a:solidFill>
                <a:latin typeface="Cambria"/>
              </a:rPr>
              <a:t>Chicken · 70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2304" y="3108960"/>
            <a:ext cx="238963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44524C"/>
                </a:solidFill>
                <a:latin typeface="Calibri"/>
              </a:rPr>
              <a:t>Присипка з курячою стружкою, 70 г. Найдорожча позиція в розрахунку ZEK.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2304" y="3657600"/>
            <a:ext cx="2389632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650" b="1" spc="9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0" y="3840480"/>
            <a:ext cx="2682240" cy="43891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42304" y="3895344"/>
            <a:ext cx="23896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9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2304" y="4032504"/>
            <a:ext cx="1242608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FFFFFF"/>
                </a:solidFill>
                <a:latin typeface="Cambria"/>
              </a:rPr>
              <a:t>$1,42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7638" y="4069080"/>
            <a:ext cx="131429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2304" y="427939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8156" y="429411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$1,58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7253" y="427939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71,05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2304" y="441655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42304" y="441655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8156" y="443127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$1,81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7253" y="4416552"/>
            <a:ext cx="764682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44524C"/>
                </a:solidFill>
                <a:latin typeface="Calibri"/>
              </a:rPr>
              <a:t>81,49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42304" y="4553712"/>
            <a:ext cx="2389632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42304" y="4553712"/>
            <a:ext cx="1003645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8156" y="4568431"/>
            <a:ext cx="6690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$1,60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7253" y="4568431"/>
            <a:ext cx="764682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 dirty="0">
                <a:solidFill>
                  <a:srgbClr val="44524C"/>
                </a:solidFill>
                <a:latin typeface="Calibri"/>
              </a:rPr>
              <a:t>71,82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4809744"/>
            <a:ext cx="8412480" cy="9144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882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8A93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2745</Words>
  <Application>Microsoft Office PowerPoint</Application>
  <PresentationFormat>Екран (16:9)</PresentationFormat>
  <Paragraphs>757</Paragraphs>
  <Slides>16</Slides>
  <Notes>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27</cp:revision>
  <dcterms:created xsi:type="dcterms:W3CDTF">2013-01-27T09:14:16Z</dcterms:created>
  <dcterms:modified xsi:type="dcterms:W3CDTF">2026-08-10T18:39:45Z</dcterms:modified>
  <cp:category/>
</cp:coreProperties>
</file>