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70" r:id="rId3"/>
    <p:sldId id="271" r:id="rId4"/>
    <p:sldId id="272" r:id="rId9"/>
    <p:sldId id="273" r:id="rId10"/>
    <p:sldId id="274" r:id="rId11"/>
    <p:sldId id="275" r:id="rId12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1DA6E6-9EB2-3BAB-95B1-DE179EB725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3ED07741-9BC5-0AE9-8378-986B6D9295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8AAE7E29-3067-D32E-828D-76FA5FDC7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0FB5F-0EFA-44AB-BC6F-87865659DACE}" type="datetimeFigureOut">
              <a:rPr lang="uk-UA" smtClean="0"/>
              <a:t>10.08.2026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FDE0E5CE-54FB-3FE8-8D03-956E35CA5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7F9B3BCC-4D54-C3B1-D9E6-05951CF4D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621B8-743C-46E5-8D8F-F72D21EDA51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87014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CBE3EE-1666-26AD-347B-D30A7A2D1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4F41AE54-E309-620D-4E19-6A3FEDBE0B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4098D52A-A2D7-0823-BDA3-70AFD52C4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0FB5F-0EFA-44AB-BC6F-87865659DACE}" type="datetimeFigureOut">
              <a:rPr lang="uk-UA" smtClean="0"/>
              <a:t>10.08.2026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1C2B269D-ABC8-663E-8F10-99C61C22B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8510476-D1A4-5971-C33F-A5C36E0A7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621B8-743C-46E5-8D8F-F72D21EDA51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45805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71B52B-1C12-761C-94E5-533C7DA70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EB5768A3-F52B-8CE1-6BDF-C25178717D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BAB9723-0ACE-3999-2457-5F1D59A04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0FB5F-0EFA-44AB-BC6F-87865659DACE}" type="datetimeFigureOut">
              <a:rPr lang="uk-UA" smtClean="0"/>
              <a:t>10.08.2026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C34974D-EB5D-0F8B-769F-C5D556B53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3167DCF8-668A-D66C-9E18-D03CA9891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621B8-743C-46E5-8D8F-F72D21EDA51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2403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2CD7D9-CD95-33AC-FC7D-333020230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EC41CB3-20BE-F90E-0EE7-7C6E2AC040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8C9CC7D0-61BB-367D-C2A6-E71B64E1D3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B3BDF98F-16E1-0532-3FB1-06C97E08F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0FB5F-0EFA-44AB-BC6F-87865659DACE}" type="datetimeFigureOut">
              <a:rPr lang="uk-UA" smtClean="0"/>
              <a:t>10.08.2026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1D9DD589-135F-E9E1-0F83-9839E00F6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B23B596C-BDA0-5445-BCF0-5C5595DB5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621B8-743C-46E5-8D8F-F72D21EDA51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92707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2CB07F-0055-FB84-9D82-BECF085AB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D3A5F88D-9CCE-060D-7387-64B828019D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A14787DB-BC20-40D9-B8CB-AD82C62CA9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1753520A-754A-E833-D4CC-E1E98B297C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CDD84BEB-9AE7-077A-4291-FD0CD79A69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95ACD8DC-1D27-3EDC-0727-FB4944D4A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0FB5F-0EFA-44AB-BC6F-87865659DACE}" type="datetimeFigureOut">
              <a:rPr lang="uk-UA" smtClean="0"/>
              <a:t>10.08.2026</a:t>
            </a:fld>
            <a:endParaRPr lang="uk-UA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29AAAF76-CFD6-EF90-793D-198FB2E14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C66930F5-42CF-5131-8455-AD4C6E9DA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621B8-743C-46E5-8D8F-F72D21EDA51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33464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3CC269-B26D-AA46-18CE-5DB5E9C32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350AFC74-858D-7F4E-F45B-DE9B162FC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0FB5F-0EFA-44AB-BC6F-87865659DACE}" type="datetimeFigureOut">
              <a:rPr lang="uk-UA" smtClean="0"/>
              <a:t>10.08.2026</a:t>
            </a:fld>
            <a:endParaRPr lang="uk-UA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73F01596-4C9D-D993-399C-380D01EAD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CA32DABC-ABAE-86F1-090C-E2253FA53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621B8-743C-46E5-8D8F-F72D21EDA51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12436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FF206C58-6C2D-590B-F23D-8F44728F1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0FB5F-0EFA-44AB-BC6F-87865659DACE}" type="datetimeFigureOut">
              <a:rPr lang="uk-UA" smtClean="0"/>
              <a:t>10.08.2026</a:t>
            </a:fld>
            <a:endParaRPr lang="uk-UA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DA1B7FFE-A01C-480F-CB3D-F3D3CBE5E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D87CBDF8-64A3-AA68-7D64-2F5482C1B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621B8-743C-46E5-8D8F-F72D21EDA51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762213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F3B2F5-DCE8-FB3B-4C8A-94254E2D2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DD74E910-0E58-FFCC-B784-267D8C3A2B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AD01BE98-AAE9-630B-22F5-DA212876B2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F9035C50-D122-6666-E0AC-AC821F927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0FB5F-0EFA-44AB-BC6F-87865659DACE}" type="datetimeFigureOut">
              <a:rPr lang="uk-UA" smtClean="0"/>
              <a:t>10.08.2026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216F5A72-4B15-352A-5E3D-82DE914D5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7D5593EC-5870-F12B-71D1-B206B2DDA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621B8-743C-46E5-8D8F-F72D21EDA51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08263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D41685-3FCB-E08B-3483-BB4BC8714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9A97A156-5B49-2AD9-DD9B-511B193AF3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30277593-C725-0F15-303F-5C373C8519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83AABF62-ACC6-B600-20BB-5C03CA34A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0FB5F-0EFA-44AB-BC6F-87865659DACE}" type="datetimeFigureOut">
              <a:rPr lang="uk-UA" smtClean="0"/>
              <a:t>10.08.2026</a:t>
            </a:fld>
            <a:endParaRPr lang="uk-UA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8B24957E-5648-FE15-C296-2C2CCA98F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DE73021E-BA3C-6E4C-0049-9D5588DAB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621B8-743C-46E5-8D8F-F72D21EDA51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18764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52648E-22AC-2586-5D84-54CC29F5B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CCBF1513-4DC0-F9EF-BCFC-81B4EE81A4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8CEBF3C5-EE08-A69A-F674-8EAD93107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0FB5F-0EFA-44AB-BC6F-87865659DACE}" type="datetimeFigureOut">
              <a:rPr lang="uk-UA" smtClean="0"/>
              <a:t>10.08.2026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AB5644CC-9D94-138F-D24D-90A4C8062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8382CAB1-074D-3B58-4666-AB59BD97C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621B8-743C-46E5-8D8F-F72D21EDA51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97293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5A1FD67A-3FED-D8D9-62C8-A72484CA3E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EC93E11C-045E-3270-CB01-AC9F65C3D9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29F3E295-E48C-192E-1DD4-B22AFAEF6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0FB5F-0EFA-44AB-BC6F-87865659DACE}" type="datetimeFigureOut">
              <a:rPr lang="uk-UA" smtClean="0"/>
              <a:t>10.08.2026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D19E1EE-9BCB-0B9E-7B95-FE87396F5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7C9CB50-8005-C3D6-BB47-26AC5E3B7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621B8-743C-46E5-8D8F-F72D21EDA51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2806254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226C8C8A-2D8B-7913-8829-4C54330E2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4D74A044-CBD5-7694-4415-D279286F3B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2973EACF-91D4-0330-EE62-C4D29FE83D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D0FB5F-0EFA-44AB-BC6F-87865659DACE}" type="datetimeFigureOut">
              <a:rPr lang="uk-UA" smtClean="0"/>
              <a:t>10.08.2026</a:t>
            </a:fld>
            <a:endParaRPr lang="uk-UA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87D61FEC-E62F-188D-E110-90F509388D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45E32170-CC9A-663D-A252-FC8BED01C7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6621B8-743C-46E5-8D8F-F72D21EDA51C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07852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image" Target="../media/image11.jpg"/><Relationship Id="rId5" Type="http://schemas.openxmlformats.org/officeDocument/2006/relationships/image" Target="../media/image12.jpg"/><Relationship Id="rId6" Type="http://schemas.openxmlformats.org/officeDocument/2006/relationships/image" Target="../media/image13.jpg"/><Relationship Id="rId7" Type="http://schemas.openxmlformats.org/officeDocument/2006/relationships/image" Target="../media/image1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image" Target="../media/image11.jp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jpg"/><Relationship Id="rId9" Type="http://schemas.openxmlformats.org/officeDocument/2006/relationships/image" Target="../media/image19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 dirty="0"/>
          </a:p>
        </p:txBody>
      </p:sp>
      <p:sp>
        <p:nvSpPr>
          <p:cNvPr id="4" name="Oval 3"/>
          <p:cNvSpPr/>
          <p:nvPr/>
        </p:nvSpPr>
        <p:spPr>
          <a:xfrm>
            <a:off x="7528560" y="207263"/>
            <a:ext cx="4267200" cy="4267200"/>
          </a:xfrm>
          <a:prstGeom prst="ellipse">
            <a:avLst/>
          </a:prstGeom>
          <a:noFill/>
          <a:ln w="17780">
            <a:solidFill>
              <a:srgbClr val="F4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5" name="Rounded Rectangle 4"/>
          <p:cNvSpPr/>
          <p:nvPr/>
        </p:nvSpPr>
        <p:spPr>
          <a:xfrm rot="21300000">
            <a:off x="8119872" y="737616"/>
            <a:ext cx="3108960" cy="1767840"/>
          </a:xfrm>
          <a:prstGeom prst="roundRect">
            <a:avLst>
              <a:gd name="adj" fmla="val 5000"/>
            </a:avLst>
          </a:prstGeom>
          <a:solidFill>
            <a:srgbClr val="C97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6" name="Rounded Rectangle 5"/>
          <p:cNvSpPr/>
          <p:nvPr/>
        </p:nvSpPr>
        <p:spPr>
          <a:xfrm rot="21300000">
            <a:off x="8077200" y="676656"/>
            <a:ext cx="3108960" cy="1767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pic>
        <p:nvPicPr>
          <p:cNvPr id="7" name="Picture 6" descr="zek_class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300000">
            <a:off x="8211001" y="798576"/>
            <a:ext cx="2841355" cy="1524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 rot="21060000">
            <a:off x="7882128" y="2109216"/>
            <a:ext cx="1414272" cy="1853184"/>
          </a:xfrm>
          <a:prstGeom prst="roundRect">
            <a:avLst>
              <a:gd name="adj" fmla="val 5000"/>
            </a:avLst>
          </a:prstGeom>
          <a:solidFill>
            <a:srgbClr val="C97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9" name="Rounded Rectangle 8"/>
          <p:cNvSpPr/>
          <p:nvPr/>
        </p:nvSpPr>
        <p:spPr>
          <a:xfrm rot="21060000">
            <a:off x="7839456" y="2048256"/>
            <a:ext cx="1414272" cy="18531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 dirty="0"/>
          </a:p>
        </p:txBody>
      </p:sp>
      <p:pic>
        <p:nvPicPr>
          <p:cNvPr id="10" name="Picture 9" descr="zek_tempura_corn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060000">
            <a:off x="7961375" y="2212888"/>
            <a:ext cx="1170432" cy="1523917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 rot="600000">
            <a:off x="10125456" y="2231136"/>
            <a:ext cx="1365504" cy="1804416"/>
          </a:xfrm>
          <a:prstGeom prst="roundRect">
            <a:avLst>
              <a:gd name="adj" fmla="val 5000"/>
            </a:avLst>
          </a:prstGeom>
          <a:solidFill>
            <a:srgbClr val="C97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12" name="Rounded Rectangle 11"/>
          <p:cNvSpPr/>
          <p:nvPr/>
        </p:nvSpPr>
        <p:spPr>
          <a:xfrm rot="600000">
            <a:off x="10082784" y="2170176"/>
            <a:ext cx="1365504" cy="180441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pic>
        <p:nvPicPr>
          <p:cNvPr id="13" name="Picture 12" descr="zek_topping_veg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00000">
            <a:off x="10204703" y="2314075"/>
            <a:ext cx="1121664" cy="151661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985760" y="4072128"/>
            <a:ext cx="3352800" cy="975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8125967" y="4313683"/>
            <a:ext cx="3011424" cy="4922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3200" b="1" dirty="0">
                <a:solidFill>
                  <a:srgbClr val="AA3922"/>
                </a:solidFill>
                <a:latin typeface="Cambria"/>
              </a:rPr>
              <a:t>ZEK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44512" y="5099135"/>
            <a:ext cx="50596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dirty="0">
                <a:solidFill>
                  <a:srgbClr val="AA3922"/>
                </a:solidFill>
                <a:latin typeface="Cambria"/>
              </a:rPr>
              <a:t>ВИРОБНИЦТВО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44512" y="5405159"/>
            <a:ext cx="505968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dirty="0" err="1">
                <a:solidFill>
                  <a:srgbClr val="AA3922"/>
                </a:solidFill>
                <a:latin typeface="Cambria"/>
              </a:rPr>
              <a:t>Китай</a:t>
            </a:r>
            <a:endParaRPr sz="1600" b="1" dirty="0">
              <a:solidFill>
                <a:srgbClr val="AA3922"/>
              </a:solidFill>
              <a:latin typeface="Cambria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87680" y="633984"/>
            <a:ext cx="316992" cy="316992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20" name="TextBox 19"/>
          <p:cNvSpPr txBox="1"/>
          <p:nvPr/>
        </p:nvSpPr>
        <p:spPr>
          <a:xfrm>
            <a:off x="999744" y="633984"/>
            <a:ext cx="5364480" cy="164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7" b="1" spc="120">
                <a:solidFill>
                  <a:srgbClr val="A23822"/>
                </a:solidFill>
                <a:latin typeface="Calibri"/>
              </a:rPr>
              <a:t>ПРОФІЛЬ ПОСТАЧАЛЬНИКА ·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7680" y="1121665"/>
            <a:ext cx="6156960" cy="11095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467" b="1" dirty="0" err="1">
                <a:solidFill>
                  <a:srgbClr val="14241F"/>
                </a:solidFill>
                <a:latin typeface="Cambria"/>
              </a:rPr>
              <a:t>HanJin</a:t>
            </a:r>
            <a:r>
              <a:rPr sz="3467" b="1" dirty="0">
                <a:solidFill>
                  <a:srgbClr val="14241F"/>
                </a:solidFill>
                <a:latin typeface="Cambria"/>
              </a:rPr>
              <a:t> (Shanghai)</a:t>
            </a:r>
          </a:p>
          <a:p>
            <a:pPr algn="l">
              <a:lnSpc>
                <a:spcPct val="108000"/>
              </a:lnSpc>
            </a:pPr>
            <a:r>
              <a:rPr sz="3467" b="1" dirty="0">
                <a:solidFill>
                  <a:srgbClr val="14241F"/>
                </a:solidFill>
                <a:latin typeface="Cambria"/>
              </a:rPr>
              <a:t>Food Co., Ltd.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7680" y="2535937"/>
            <a:ext cx="6156960" cy="2257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67">
                <a:solidFill>
                  <a:srgbClr val="A23822"/>
                </a:solidFill>
                <a:latin typeface="Calibri"/>
              </a:rPr>
              <a:t>Темпура, сендвічі та присипка з норі · Retail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7680" y="2999232"/>
            <a:ext cx="1367941" cy="365760"/>
          </a:xfrm>
          <a:prstGeom prst="roundRect">
            <a:avLst>
              <a:gd name="adj" fmla="val 24000"/>
            </a:avLst>
          </a:prstGeom>
          <a:solidFill>
            <a:srgbClr val="F6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24" name="TextBox 23"/>
          <p:cNvSpPr txBox="1"/>
          <p:nvPr/>
        </p:nvSpPr>
        <p:spPr>
          <a:xfrm>
            <a:off x="487680" y="3094941"/>
            <a:ext cx="1367941" cy="1743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33" b="1">
                <a:solidFill>
                  <a:srgbClr val="AA3922"/>
                </a:solidFill>
                <a:latin typeface="Calibri"/>
              </a:rPr>
              <a:t>FOB Qingdao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7680" y="3608832"/>
            <a:ext cx="6156960" cy="143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3" b="1" spc="120">
                <a:solidFill>
                  <a:srgbClr val="A23822"/>
                </a:solidFill>
                <a:latin typeface="Calibri"/>
              </a:rPr>
              <a:t>ПРО КОМПАНІЮ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7680" y="3852673"/>
            <a:ext cx="6156960" cy="7785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33" dirty="0">
                <a:solidFill>
                  <a:srgbClr val="44524C"/>
                </a:solidFill>
                <a:latin typeface="Calibri"/>
              </a:rPr>
              <a:t>ZEK — «Zesty Especial Kingdom», </a:t>
            </a:r>
            <a:r>
              <a:rPr sz="1333" dirty="0" err="1">
                <a:solidFill>
                  <a:srgbClr val="44524C"/>
                </a:solidFill>
                <a:latin typeface="Calibri"/>
              </a:rPr>
              <a:t>власний</a:t>
            </a:r>
            <a:r>
              <a:rPr sz="1333" dirty="0">
                <a:solidFill>
                  <a:srgbClr val="44524C"/>
                </a:solidFill>
                <a:latin typeface="Calibri"/>
              </a:rPr>
              <a:t> </a:t>
            </a:r>
            <a:r>
              <a:rPr sz="1333" dirty="0" err="1">
                <a:solidFill>
                  <a:srgbClr val="44524C"/>
                </a:solidFill>
                <a:latin typeface="Calibri"/>
              </a:rPr>
              <a:t>бренд</a:t>
            </a:r>
            <a:r>
              <a:rPr sz="1333" dirty="0">
                <a:solidFill>
                  <a:srgbClr val="44524C"/>
                </a:solidFill>
                <a:latin typeface="Calibri"/>
              </a:rPr>
              <a:t> Hanjin Food. </a:t>
            </a:r>
            <a:r>
              <a:rPr sz="1333" dirty="0" err="1">
                <a:solidFill>
                  <a:srgbClr val="44524C"/>
                </a:solidFill>
                <a:latin typeface="Calibri"/>
              </a:rPr>
              <a:t>Компанія</a:t>
            </a:r>
            <a:r>
              <a:rPr sz="1333" dirty="0">
                <a:solidFill>
                  <a:srgbClr val="44524C"/>
                </a:solidFill>
                <a:latin typeface="Calibri"/>
              </a:rPr>
              <a:t> </a:t>
            </a:r>
            <a:r>
              <a:rPr sz="1333" dirty="0" err="1">
                <a:solidFill>
                  <a:srgbClr val="44524C"/>
                </a:solidFill>
                <a:latin typeface="Calibri"/>
              </a:rPr>
              <a:t>заснована</a:t>
            </a:r>
            <a:r>
              <a:rPr sz="1333" dirty="0">
                <a:solidFill>
                  <a:srgbClr val="44524C"/>
                </a:solidFill>
                <a:latin typeface="Calibri"/>
              </a:rPr>
              <a:t> 2002 </a:t>
            </a:r>
            <a:r>
              <a:rPr sz="1333" dirty="0" err="1">
                <a:solidFill>
                  <a:srgbClr val="44524C"/>
                </a:solidFill>
                <a:latin typeface="Calibri"/>
              </a:rPr>
              <a:t>року</a:t>
            </a:r>
            <a:r>
              <a:rPr sz="1333" dirty="0">
                <a:solidFill>
                  <a:srgbClr val="44524C"/>
                </a:solidFill>
                <a:latin typeface="Calibri"/>
              </a:rPr>
              <a:t> у </a:t>
            </a:r>
            <a:r>
              <a:rPr sz="1333" dirty="0" err="1">
                <a:solidFill>
                  <a:srgbClr val="44524C"/>
                </a:solidFill>
                <a:latin typeface="Calibri"/>
              </a:rPr>
              <a:t>Вейхаї</a:t>
            </a:r>
            <a:r>
              <a:rPr sz="1333" dirty="0">
                <a:solidFill>
                  <a:srgbClr val="44524C"/>
                </a:solidFill>
                <a:latin typeface="Calibri"/>
              </a:rPr>
              <a:t>, </a:t>
            </a:r>
            <a:r>
              <a:rPr sz="1333" dirty="0" err="1">
                <a:solidFill>
                  <a:srgbClr val="44524C"/>
                </a:solidFill>
                <a:latin typeface="Calibri"/>
              </a:rPr>
              <a:t>головний</a:t>
            </a:r>
            <a:r>
              <a:rPr sz="1333" dirty="0">
                <a:solidFill>
                  <a:srgbClr val="44524C"/>
                </a:solidFill>
                <a:latin typeface="Calibri"/>
              </a:rPr>
              <a:t> </a:t>
            </a:r>
            <a:r>
              <a:rPr sz="1333" dirty="0" err="1">
                <a:solidFill>
                  <a:srgbClr val="44524C"/>
                </a:solidFill>
                <a:latin typeface="Calibri"/>
              </a:rPr>
              <a:t>офіс</a:t>
            </a:r>
            <a:r>
              <a:rPr sz="1333" dirty="0">
                <a:solidFill>
                  <a:srgbClr val="44524C"/>
                </a:solidFill>
                <a:latin typeface="Calibri"/>
              </a:rPr>
              <a:t> </a:t>
            </a:r>
            <a:r>
              <a:rPr sz="1333" dirty="0" err="1">
                <a:solidFill>
                  <a:srgbClr val="44524C"/>
                </a:solidFill>
                <a:latin typeface="Calibri"/>
              </a:rPr>
              <a:t>із</a:t>
            </a:r>
            <a:r>
              <a:rPr sz="1333" dirty="0">
                <a:solidFill>
                  <a:srgbClr val="44524C"/>
                </a:solidFill>
                <a:latin typeface="Calibri"/>
              </a:rPr>
              <a:t> 2014-го — у </a:t>
            </a:r>
            <a:r>
              <a:rPr sz="1333" dirty="0" err="1">
                <a:solidFill>
                  <a:srgbClr val="44524C"/>
                </a:solidFill>
                <a:latin typeface="Calibri"/>
              </a:rPr>
              <a:t>Шанхаї</a:t>
            </a:r>
            <a:r>
              <a:rPr sz="1333" dirty="0">
                <a:solidFill>
                  <a:srgbClr val="44524C"/>
                </a:solidFill>
                <a:latin typeface="Calibri"/>
              </a:rPr>
              <a:t>. </a:t>
            </a:r>
            <a:r>
              <a:rPr sz="1333" dirty="0" err="1">
                <a:solidFill>
                  <a:srgbClr val="44524C"/>
                </a:solidFill>
                <a:latin typeface="Calibri"/>
              </a:rPr>
              <a:t>Партнери</a:t>
            </a:r>
            <a:r>
              <a:rPr sz="1333" dirty="0">
                <a:solidFill>
                  <a:srgbClr val="44524C"/>
                </a:solidFill>
                <a:latin typeface="Calibri"/>
              </a:rPr>
              <a:t> </a:t>
            </a:r>
            <a:r>
              <a:rPr sz="1333" dirty="0" err="1">
                <a:solidFill>
                  <a:srgbClr val="44524C"/>
                </a:solidFill>
                <a:latin typeface="Calibri"/>
              </a:rPr>
              <a:t>групи</a:t>
            </a:r>
            <a:r>
              <a:rPr sz="1333" dirty="0">
                <a:solidFill>
                  <a:srgbClr val="44524C"/>
                </a:solidFill>
                <a:latin typeface="Calibri"/>
              </a:rPr>
              <a:t> — </a:t>
            </a:r>
            <a:r>
              <a:rPr sz="1333" dirty="0" err="1">
                <a:solidFill>
                  <a:srgbClr val="44524C"/>
                </a:solidFill>
                <a:latin typeface="Calibri"/>
              </a:rPr>
              <a:t>тайська</a:t>
            </a:r>
            <a:r>
              <a:rPr sz="1333" dirty="0">
                <a:solidFill>
                  <a:srgbClr val="44524C"/>
                </a:solidFill>
                <a:latin typeface="Calibri"/>
              </a:rPr>
              <a:t> Singha Group і </a:t>
            </a:r>
            <a:r>
              <a:rPr sz="1333" dirty="0" err="1">
                <a:solidFill>
                  <a:srgbClr val="44524C"/>
                </a:solidFill>
                <a:latin typeface="Calibri"/>
              </a:rPr>
              <a:t>корейська</a:t>
            </a:r>
            <a:r>
              <a:rPr sz="1333" dirty="0">
                <a:solidFill>
                  <a:srgbClr val="44524C"/>
                </a:solidFill>
                <a:latin typeface="Calibri"/>
              </a:rPr>
              <a:t> SPC Group.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7680" y="4803648"/>
            <a:ext cx="1975104" cy="9509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28" name="Rectangle 27"/>
          <p:cNvSpPr/>
          <p:nvPr/>
        </p:nvSpPr>
        <p:spPr>
          <a:xfrm>
            <a:off x="487680" y="4803648"/>
            <a:ext cx="1975104" cy="60960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29" name="TextBox 28"/>
          <p:cNvSpPr txBox="1"/>
          <p:nvPr/>
        </p:nvSpPr>
        <p:spPr>
          <a:xfrm>
            <a:off x="487680" y="4974337"/>
            <a:ext cx="1975104" cy="3282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33" b="1">
                <a:solidFill>
                  <a:srgbClr val="AA3922"/>
                </a:solidFill>
                <a:latin typeface="Cambria"/>
              </a:rPr>
              <a:t>2002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600" y="5340097"/>
            <a:ext cx="1731264" cy="2909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867">
                <a:solidFill>
                  <a:srgbClr val="8A938D"/>
                </a:solidFill>
                <a:latin typeface="Calibri"/>
              </a:rPr>
              <a:t>рік заснування</a:t>
            </a:r>
          </a:p>
          <a:p>
            <a:pPr algn="ctr">
              <a:lnSpc>
                <a:spcPct val="112000"/>
              </a:lnSpc>
            </a:pPr>
            <a:r>
              <a:rPr sz="867">
                <a:solidFill>
                  <a:srgbClr val="8A938D"/>
                </a:solidFill>
                <a:latin typeface="Calibri"/>
              </a:rPr>
              <a:t>у Вейхаї, Шаньдун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39568" y="4803648"/>
            <a:ext cx="1975104" cy="9509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32" name="Rectangle 31"/>
          <p:cNvSpPr/>
          <p:nvPr/>
        </p:nvSpPr>
        <p:spPr>
          <a:xfrm>
            <a:off x="2639568" y="4803648"/>
            <a:ext cx="1975104" cy="60960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33" name="TextBox 32"/>
          <p:cNvSpPr txBox="1"/>
          <p:nvPr/>
        </p:nvSpPr>
        <p:spPr>
          <a:xfrm>
            <a:off x="2639568" y="4974337"/>
            <a:ext cx="1975104" cy="3282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33" b="1">
                <a:solidFill>
                  <a:srgbClr val="AA3922"/>
                </a:solidFill>
                <a:latin typeface="Cambria"/>
              </a:rPr>
              <a:t>№1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61488" y="5340097"/>
            <a:ext cx="1731264" cy="2909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867">
                <a:solidFill>
                  <a:srgbClr val="8A938D"/>
                </a:solidFill>
                <a:latin typeface="Calibri"/>
              </a:rPr>
              <a:t>частка ринку</a:t>
            </a:r>
          </a:p>
          <a:p>
            <a:pPr algn="ctr">
              <a:lnSpc>
                <a:spcPct val="112000"/>
              </a:lnSpc>
            </a:pPr>
            <a:r>
              <a:rPr sz="867">
                <a:solidFill>
                  <a:srgbClr val="8A938D"/>
                </a:solidFill>
                <a:latin typeface="Calibri"/>
              </a:rPr>
              <a:t>приправленої норі в КНР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91456" y="4803648"/>
            <a:ext cx="1975104" cy="9509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36" name="Rectangle 35"/>
          <p:cNvSpPr/>
          <p:nvPr/>
        </p:nvSpPr>
        <p:spPr>
          <a:xfrm>
            <a:off x="4791456" y="4803648"/>
            <a:ext cx="1975104" cy="60960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37" name="TextBox 36"/>
          <p:cNvSpPr txBox="1"/>
          <p:nvPr/>
        </p:nvSpPr>
        <p:spPr>
          <a:xfrm>
            <a:off x="4791456" y="4974337"/>
            <a:ext cx="1975104" cy="3282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33" b="1" dirty="0">
                <a:solidFill>
                  <a:srgbClr val="AA3922"/>
                </a:solidFill>
                <a:latin typeface="Cambria"/>
              </a:rPr>
              <a:t>16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13376" y="5340097"/>
            <a:ext cx="1731264" cy="2909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867">
                <a:solidFill>
                  <a:srgbClr val="8A938D"/>
                </a:solidFill>
                <a:latin typeface="Calibri"/>
              </a:rPr>
              <a:t>країн</a:t>
            </a:r>
          </a:p>
          <a:p>
            <a:pPr algn="ctr">
              <a:lnSpc>
                <a:spcPct val="112000"/>
              </a:lnSpc>
            </a:pPr>
            <a:r>
              <a:rPr sz="867">
                <a:solidFill>
                  <a:srgbClr val="8A938D"/>
                </a:solidFill>
                <a:latin typeface="Calibri"/>
              </a:rPr>
              <a:t>експорту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7680" y="5925312"/>
            <a:ext cx="6156960" cy="143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3" b="1" spc="120">
                <a:solidFill>
                  <a:srgbClr val="A23822"/>
                </a:solidFill>
                <a:latin typeface="Calibri"/>
              </a:rPr>
              <a:t>СИРОВИНА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7680" y="6169152"/>
            <a:ext cx="6156960" cy="164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7" b="1">
                <a:solidFill>
                  <a:srgbClr val="14241F"/>
                </a:solidFill>
                <a:latin typeface="Calibri"/>
              </a:rPr>
              <a:t>Норі з острова Чеджу (Корея) та плантацій під Вейхаєм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510528"/>
            <a:ext cx="731520" cy="143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33" b="1">
                <a:solidFill>
                  <a:srgbClr val="E8C4BD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87680" y="414528"/>
            <a:ext cx="682752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120">
                <a:solidFill>
                  <a:srgbClr val="9A3722"/>
                </a:solidFill>
                <a:latin typeface="Calibri"/>
              </a:rPr>
              <a:t>HANJIN · ZEK · 3/4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7680" y="733567"/>
            <a:ext cx="8046720" cy="4104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67" b="1">
                <a:solidFill>
                  <a:srgbClr val="14241F"/>
                </a:solidFill>
                <a:latin typeface="Cambria"/>
              </a:rPr>
              <a:t>Seaweed Topping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87680" y="1316736"/>
            <a:ext cx="11216640" cy="12192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7" name="Rounded Rectangle 6"/>
          <p:cNvSpPr/>
          <p:nvPr/>
        </p:nvSpPr>
        <p:spPr>
          <a:xfrm>
            <a:off x="8197900" y="707136"/>
            <a:ext cx="3506419" cy="390144"/>
          </a:xfrm>
          <a:prstGeom prst="roundRect">
            <a:avLst>
              <a:gd name="adj" fmla="val 24000"/>
            </a:avLst>
          </a:prstGeom>
          <a:solidFill>
            <a:srgbClr val="F6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8197900" y="825264"/>
            <a:ext cx="3506419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AA3922"/>
                </a:solidFill>
                <a:latin typeface="Calibri"/>
              </a:rPr>
              <a:t>Розрахунок на контейнер із рітейл-фасовкою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7680" y="1487424"/>
            <a:ext cx="3576320" cy="480364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10" name="Rounded Rectangle 9"/>
          <p:cNvSpPr/>
          <p:nvPr/>
        </p:nvSpPr>
        <p:spPr>
          <a:xfrm>
            <a:off x="499872" y="1499616"/>
            <a:ext cx="3551936" cy="1609344"/>
          </a:xfrm>
          <a:prstGeom prst="roundRect">
            <a:avLst>
              <a:gd name="adj" fmla="val 3500"/>
            </a:avLst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11" name="Rectangle 10"/>
          <p:cNvSpPr/>
          <p:nvPr/>
        </p:nvSpPr>
        <p:spPr>
          <a:xfrm>
            <a:off x="499872" y="2950464"/>
            <a:ext cx="3551936" cy="158496"/>
          </a:xfrm>
          <a:prstGeom prst="rect">
            <a:avLst/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pic>
        <p:nvPicPr>
          <p:cNvPr id="12" name="Picture 11" descr="zek_topping_chicken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9001" y="1633727"/>
            <a:ext cx="993679" cy="134112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82752" y="3267455"/>
            <a:ext cx="158496" cy="158496"/>
          </a:xfrm>
          <a:prstGeom prst="roundRect">
            <a:avLst>
              <a:gd name="adj" fmla="val 50000"/>
            </a:avLst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14" name="TextBox 13"/>
          <p:cNvSpPr txBox="1"/>
          <p:nvPr/>
        </p:nvSpPr>
        <p:spPr>
          <a:xfrm>
            <a:off x="926592" y="3267455"/>
            <a:ext cx="2966720" cy="1334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7" b="1" spc="120" dirty="0">
                <a:solidFill>
                  <a:srgbClr val="A23822"/>
                </a:solidFill>
                <a:latin typeface="Calibri"/>
              </a:rPr>
              <a:t>35 Г · 24 ШТ/КАРТ.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2752" y="3535681"/>
            <a:ext cx="3186176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dirty="0">
                <a:solidFill>
                  <a:srgbClr val="14241F"/>
                </a:solidFill>
                <a:latin typeface="Cambria"/>
              </a:rPr>
              <a:t>Seaweed Topping</a:t>
            </a:r>
          </a:p>
          <a:p>
            <a:r>
              <a:rPr sz="1600" b="1" dirty="0">
                <a:solidFill>
                  <a:srgbClr val="14241F"/>
                </a:solidFill>
                <a:latin typeface="Cambria"/>
              </a:rPr>
              <a:t>Chicken Floss </a:t>
            </a:r>
            <a:r>
              <a:rPr lang="uk-UA" sz="1600" b="1" dirty="0">
                <a:solidFill>
                  <a:srgbClr val="14241F"/>
                </a:solidFill>
                <a:latin typeface="Cambria"/>
              </a:rPr>
              <a:t>35 Г </a:t>
            </a:r>
            <a:endParaRPr sz="1600" b="1" dirty="0">
              <a:solidFill>
                <a:srgbClr val="14241F"/>
              </a:solidFill>
              <a:latin typeface="Cambri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2752" y="4145280"/>
            <a:ext cx="3186176" cy="3866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67">
                <a:solidFill>
                  <a:srgbClr val="44524C"/>
                </a:solidFill>
                <a:latin typeface="Calibri"/>
              </a:rPr>
              <a:t>Подрібнена норі з курячою стружкою — присипка до рису та супів. Збагачена DHA.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2752" y="4876800"/>
            <a:ext cx="3186176" cy="1334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7" b="1" spc="120" dirty="0">
                <a:solidFill>
                  <a:srgbClr val="A23822"/>
                </a:solidFill>
                <a:latin typeface="Calibri"/>
              </a:rPr>
              <a:t>СОБІВАРТІСТЬ · 1 ПАКЕТ 35 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7680" y="5120640"/>
            <a:ext cx="3576320" cy="585216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19" name="TextBox 18"/>
          <p:cNvSpPr txBox="1"/>
          <p:nvPr/>
        </p:nvSpPr>
        <p:spPr>
          <a:xfrm>
            <a:off x="682752" y="5193793"/>
            <a:ext cx="3186176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spc="12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2752" y="5376672"/>
            <a:ext cx="1656811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1">
                <a:solidFill>
                  <a:srgbClr val="FFFFFF"/>
                </a:solidFill>
                <a:latin typeface="Cambria"/>
              </a:rPr>
              <a:t>$0,7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16531" y="5425441"/>
            <a:ext cx="1752396" cy="20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33" b="1">
                <a:solidFill>
                  <a:srgbClr val="FFFFFF"/>
                </a:solidFill>
                <a:latin typeface="Calibri"/>
              </a:rPr>
              <a:t>31,54 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2753" y="5730579"/>
            <a:ext cx="1338193" cy="13343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7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57221" y="5725514"/>
            <a:ext cx="892128" cy="1435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33" b="1">
                <a:solidFill>
                  <a:srgbClr val="44524C"/>
                </a:solidFill>
                <a:latin typeface="Calibri"/>
              </a:rPr>
              <a:t>$0,7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49351" y="5725514"/>
            <a:ext cx="1019576" cy="1435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33" b="1">
                <a:solidFill>
                  <a:srgbClr val="44524C"/>
                </a:solidFill>
                <a:latin typeface="Calibri"/>
              </a:rPr>
              <a:t>33,68 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2752" y="5888736"/>
            <a:ext cx="3186176" cy="12192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26" name="TextBox 25"/>
          <p:cNvSpPr txBox="1"/>
          <p:nvPr/>
        </p:nvSpPr>
        <p:spPr>
          <a:xfrm>
            <a:off x="682753" y="5913459"/>
            <a:ext cx="1338193" cy="13343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7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7221" y="5908394"/>
            <a:ext cx="892128" cy="1435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33" b="1">
                <a:solidFill>
                  <a:srgbClr val="44524C"/>
                </a:solidFill>
                <a:latin typeface="Calibri"/>
              </a:rPr>
              <a:t>$0,9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49351" y="5908394"/>
            <a:ext cx="1019576" cy="1435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33" b="1">
                <a:solidFill>
                  <a:srgbClr val="44524C"/>
                </a:solidFill>
                <a:latin typeface="Calibri"/>
              </a:rPr>
              <a:t>38,66 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2752" y="6071616"/>
            <a:ext cx="3186176" cy="12192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30" name="TextBox 29"/>
          <p:cNvSpPr txBox="1"/>
          <p:nvPr/>
        </p:nvSpPr>
        <p:spPr>
          <a:xfrm>
            <a:off x="682753" y="6096339"/>
            <a:ext cx="1338193" cy="13343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7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57221" y="6091274"/>
            <a:ext cx="892128" cy="1435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33" b="1">
                <a:solidFill>
                  <a:srgbClr val="44524C"/>
                </a:solidFill>
                <a:latin typeface="Calibri"/>
              </a:rPr>
              <a:t>$0,9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49351" y="6091274"/>
            <a:ext cx="1019576" cy="1435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33" b="1">
                <a:solidFill>
                  <a:srgbClr val="44524C"/>
                </a:solidFill>
                <a:latin typeface="Calibri"/>
              </a:rPr>
              <a:t>40,95 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07840" y="1487424"/>
            <a:ext cx="3576320" cy="480364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34" name="Rounded Rectangle 33"/>
          <p:cNvSpPr/>
          <p:nvPr/>
        </p:nvSpPr>
        <p:spPr>
          <a:xfrm>
            <a:off x="4320032" y="1499616"/>
            <a:ext cx="3551936" cy="1609344"/>
          </a:xfrm>
          <a:prstGeom prst="roundRect">
            <a:avLst>
              <a:gd name="adj" fmla="val 3500"/>
            </a:avLst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35" name="Rectangle 34"/>
          <p:cNvSpPr/>
          <p:nvPr/>
        </p:nvSpPr>
        <p:spPr>
          <a:xfrm>
            <a:off x="4320032" y="2950464"/>
            <a:ext cx="3551936" cy="158496"/>
          </a:xfrm>
          <a:prstGeom prst="rect">
            <a:avLst/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pic>
        <p:nvPicPr>
          <p:cNvPr id="36" name="Picture 35" descr="zek_topping_veg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064" y="1633727"/>
            <a:ext cx="991869" cy="1341120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4502912" y="3267455"/>
            <a:ext cx="158496" cy="158496"/>
          </a:xfrm>
          <a:prstGeom prst="roundRect">
            <a:avLst>
              <a:gd name="adj" fmla="val 50000"/>
            </a:avLst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38" name="TextBox 37"/>
          <p:cNvSpPr txBox="1"/>
          <p:nvPr/>
        </p:nvSpPr>
        <p:spPr>
          <a:xfrm>
            <a:off x="4746752" y="3267455"/>
            <a:ext cx="2966720" cy="1334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7" b="1" spc="120">
                <a:solidFill>
                  <a:srgbClr val="A23822"/>
                </a:solidFill>
                <a:latin typeface="Calibri"/>
              </a:rPr>
              <a:t>35 Г · 24 ШТ/КАРТ.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02912" y="3535681"/>
            <a:ext cx="3186176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4241F"/>
                </a:solidFill>
                <a:latin typeface="Cambria"/>
              </a:rPr>
              <a:t>Seaweed Topping</a:t>
            </a:r>
          </a:p>
          <a:p>
            <a:pPr algn="l">
              <a:lnSpc>
                <a:spcPct val="100000"/>
              </a:lnSpc>
            </a:pPr>
            <a:r>
              <a:rPr sz="1600" b="1">
                <a:solidFill>
                  <a:srgbClr val="14241F"/>
                </a:solidFill>
                <a:latin typeface="Cambria"/>
              </a:rPr>
              <a:t>Vegetables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02912" y="4145280"/>
            <a:ext cx="3186176" cy="3866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67">
                <a:solidFill>
                  <a:srgbClr val="44524C"/>
                </a:solidFill>
                <a:latin typeface="Calibri"/>
              </a:rPr>
              <a:t>Норі-присипка з овочами. Паковання орієнтоване на дитячу аудиторію.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02912" y="4876800"/>
            <a:ext cx="3186176" cy="1334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67" b="1" spc="120" dirty="0">
                <a:solidFill>
                  <a:srgbClr val="A23822"/>
                </a:solidFill>
                <a:latin typeface="Calibri"/>
              </a:rPr>
              <a:t>СОБІВАРТІСТЬ · 1 ПАКЕТ 35 Г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07840" y="5120640"/>
            <a:ext cx="3576320" cy="585216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43" name="TextBox 42"/>
          <p:cNvSpPr txBox="1"/>
          <p:nvPr/>
        </p:nvSpPr>
        <p:spPr>
          <a:xfrm>
            <a:off x="4502912" y="5193793"/>
            <a:ext cx="3186176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spc="12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02912" y="5376672"/>
            <a:ext cx="1656811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1">
                <a:solidFill>
                  <a:srgbClr val="FFFFFF"/>
                </a:solidFill>
                <a:latin typeface="Cambria"/>
              </a:rPr>
              <a:t>$0,7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36691" y="5425441"/>
            <a:ext cx="1752396" cy="20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33" b="1">
                <a:solidFill>
                  <a:srgbClr val="FFFFFF"/>
                </a:solidFill>
                <a:latin typeface="Calibri"/>
              </a:rPr>
              <a:t>31,54 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02913" y="5730579"/>
            <a:ext cx="1338193" cy="13343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7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77381" y="5725514"/>
            <a:ext cx="892128" cy="1435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33" b="1">
                <a:solidFill>
                  <a:srgbClr val="44524C"/>
                </a:solidFill>
                <a:latin typeface="Calibri"/>
              </a:rPr>
              <a:t>$0,7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69511" y="5725514"/>
            <a:ext cx="1019576" cy="1435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33" b="1">
                <a:solidFill>
                  <a:srgbClr val="44524C"/>
                </a:solidFill>
                <a:latin typeface="Calibri"/>
              </a:rPr>
              <a:t>33,68 ₴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02912" y="5888736"/>
            <a:ext cx="3186176" cy="12192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50" name="TextBox 49"/>
          <p:cNvSpPr txBox="1"/>
          <p:nvPr/>
        </p:nvSpPr>
        <p:spPr>
          <a:xfrm>
            <a:off x="4502913" y="5913459"/>
            <a:ext cx="1338193" cy="13343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7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77381" y="5908394"/>
            <a:ext cx="892128" cy="1435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33" b="1">
                <a:solidFill>
                  <a:srgbClr val="44524C"/>
                </a:solidFill>
                <a:latin typeface="Calibri"/>
              </a:rPr>
              <a:t>$0,9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69511" y="5908394"/>
            <a:ext cx="1019576" cy="1435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33" b="1">
                <a:solidFill>
                  <a:srgbClr val="44524C"/>
                </a:solidFill>
                <a:latin typeface="Calibri"/>
              </a:rPr>
              <a:t>38,66 ₴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02912" y="6071616"/>
            <a:ext cx="3186176" cy="12192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54" name="TextBox 53"/>
          <p:cNvSpPr txBox="1"/>
          <p:nvPr/>
        </p:nvSpPr>
        <p:spPr>
          <a:xfrm>
            <a:off x="4502913" y="6096339"/>
            <a:ext cx="1338193" cy="13343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7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77381" y="6091274"/>
            <a:ext cx="892128" cy="1435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33" b="1">
                <a:solidFill>
                  <a:srgbClr val="44524C"/>
                </a:solidFill>
                <a:latin typeface="Calibri"/>
              </a:rPr>
              <a:t>$0,9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69511" y="6091274"/>
            <a:ext cx="1019576" cy="1435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33" b="1">
                <a:solidFill>
                  <a:srgbClr val="44524C"/>
                </a:solidFill>
                <a:latin typeface="Calibri"/>
              </a:rPr>
              <a:t>40,95 ₴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128000" y="1487424"/>
            <a:ext cx="3576320" cy="480364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58" name="Rounded Rectangle 57"/>
          <p:cNvSpPr/>
          <p:nvPr/>
        </p:nvSpPr>
        <p:spPr>
          <a:xfrm>
            <a:off x="8140192" y="1499616"/>
            <a:ext cx="3551936" cy="1609344"/>
          </a:xfrm>
          <a:prstGeom prst="roundRect">
            <a:avLst>
              <a:gd name="adj" fmla="val 3500"/>
            </a:avLst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59" name="Rectangle 58"/>
          <p:cNvSpPr/>
          <p:nvPr/>
        </p:nvSpPr>
        <p:spPr>
          <a:xfrm>
            <a:off x="8140192" y="2950464"/>
            <a:ext cx="3551936" cy="158496"/>
          </a:xfrm>
          <a:prstGeom prst="rect">
            <a:avLst/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pic>
        <p:nvPicPr>
          <p:cNvPr id="60" name="Picture 59" descr="zek_topping_sesame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5338" y="1633727"/>
            <a:ext cx="981644" cy="1341120"/>
          </a:xfrm>
          <a:prstGeom prst="rect">
            <a:avLst/>
          </a:prstGeom>
        </p:spPr>
      </p:pic>
      <p:sp>
        <p:nvSpPr>
          <p:cNvPr id="61" name="Rounded Rectangle 60"/>
          <p:cNvSpPr/>
          <p:nvPr/>
        </p:nvSpPr>
        <p:spPr>
          <a:xfrm>
            <a:off x="8323072" y="3267455"/>
            <a:ext cx="158496" cy="158496"/>
          </a:xfrm>
          <a:prstGeom prst="roundRect">
            <a:avLst>
              <a:gd name="adj" fmla="val 50000"/>
            </a:avLst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62" name="TextBox 61"/>
          <p:cNvSpPr txBox="1"/>
          <p:nvPr/>
        </p:nvSpPr>
        <p:spPr>
          <a:xfrm>
            <a:off x="8566912" y="3267455"/>
            <a:ext cx="2966720" cy="1334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7" b="1" spc="120">
                <a:solidFill>
                  <a:srgbClr val="A23822"/>
                </a:solidFill>
                <a:latin typeface="Calibri"/>
              </a:rPr>
              <a:t>35 Г · 24 ШТ/КАРТ.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23072" y="3535681"/>
            <a:ext cx="3186176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4241F"/>
                </a:solidFill>
                <a:latin typeface="Cambria"/>
              </a:rPr>
              <a:t>Seaweed Topping</a:t>
            </a:r>
          </a:p>
          <a:p>
            <a:pPr algn="l">
              <a:lnSpc>
                <a:spcPct val="100000"/>
              </a:lnSpc>
            </a:pPr>
            <a:r>
              <a:rPr sz="1600" b="1">
                <a:solidFill>
                  <a:srgbClr val="14241F"/>
                </a:solidFill>
                <a:latin typeface="Cambria"/>
              </a:rPr>
              <a:t>Sesame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23072" y="4145280"/>
            <a:ext cx="3186176" cy="3866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67">
                <a:solidFill>
                  <a:srgbClr val="44524C"/>
                </a:solidFill>
                <a:latin typeface="Calibri"/>
              </a:rPr>
              <a:t>Норі-присипка з кунжутом — базовий смак напрямку, без м’ясних добавок.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23072" y="4876800"/>
            <a:ext cx="3186176" cy="1334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7" b="1" spc="120" dirty="0">
                <a:solidFill>
                  <a:srgbClr val="A23822"/>
                </a:solidFill>
                <a:latin typeface="Calibri"/>
              </a:rPr>
              <a:t>СОБІВАРТІСТЬ · 1 ПАКЕТ 35 Г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128000" y="5120640"/>
            <a:ext cx="3576320" cy="585216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67" name="TextBox 66"/>
          <p:cNvSpPr txBox="1"/>
          <p:nvPr/>
        </p:nvSpPr>
        <p:spPr>
          <a:xfrm>
            <a:off x="8323072" y="5193793"/>
            <a:ext cx="3186176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spc="12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23072" y="5376672"/>
            <a:ext cx="1656811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1">
                <a:solidFill>
                  <a:srgbClr val="FFFFFF"/>
                </a:solidFill>
                <a:latin typeface="Cambria"/>
              </a:rPr>
              <a:t>$0,7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756851" y="5425441"/>
            <a:ext cx="1752396" cy="20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33" b="1">
                <a:solidFill>
                  <a:srgbClr val="FFFFFF"/>
                </a:solidFill>
                <a:latin typeface="Calibri"/>
              </a:rPr>
              <a:t>31,54 ₴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23073" y="5730579"/>
            <a:ext cx="1338193" cy="13343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7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597541" y="5725514"/>
            <a:ext cx="892128" cy="1435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33" b="1">
                <a:solidFill>
                  <a:srgbClr val="44524C"/>
                </a:solidFill>
                <a:latin typeface="Calibri"/>
              </a:rPr>
              <a:t>$0,7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489671" y="5725514"/>
            <a:ext cx="1019576" cy="1435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33" b="1">
                <a:solidFill>
                  <a:srgbClr val="44524C"/>
                </a:solidFill>
                <a:latin typeface="Calibri"/>
              </a:rPr>
              <a:t>33,68 ₴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323072" y="5888736"/>
            <a:ext cx="3186176" cy="12192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74" name="TextBox 73"/>
          <p:cNvSpPr txBox="1"/>
          <p:nvPr/>
        </p:nvSpPr>
        <p:spPr>
          <a:xfrm>
            <a:off x="8323073" y="5913459"/>
            <a:ext cx="1338193" cy="13343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7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597541" y="5908394"/>
            <a:ext cx="892128" cy="1435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33" b="1">
                <a:solidFill>
                  <a:srgbClr val="44524C"/>
                </a:solidFill>
                <a:latin typeface="Calibri"/>
              </a:rPr>
              <a:t>$0,9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489671" y="5908394"/>
            <a:ext cx="1019576" cy="1435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33" b="1">
                <a:solidFill>
                  <a:srgbClr val="44524C"/>
                </a:solidFill>
                <a:latin typeface="Calibri"/>
              </a:rPr>
              <a:t>38,66 ₴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323072" y="6071616"/>
            <a:ext cx="3186176" cy="12192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78" name="TextBox 77"/>
          <p:cNvSpPr txBox="1"/>
          <p:nvPr/>
        </p:nvSpPr>
        <p:spPr>
          <a:xfrm>
            <a:off x="8323073" y="6096339"/>
            <a:ext cx="1338193" cy="13343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7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597541" y="6091274"/>
            <a:ext cx="892128" cy="1435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33" b="1">
                <a:solidFill>
                  <a:srgbClr val="44524C"/>
                </a:solidFill>
                <a:latin typeface="Calibri"/>
              </a:rPr>
              <a:t>$0,9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489671" y="6091274"/>
            <a:ext cx="1019576" cy="1435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33" b="1">
                <a:solidFill>
                  <a:srgbClr val="44524C"/>
                </a:solidFill>
                <a:latin typeface="Calibri"/>
              </a:rPr>
              <a:t>40,95 ₴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87680" y="6412992"/>
            <a:ext cx="11216640" cy="12192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83" name="TextBox 82"/>
          <p:cNvSpPr txBox="1"/>
          <p:nvPr/>
        </p:nvSpPr>
        <p:spPr>
          <a:xfrm>
            <a:off x="10972800" y="6510528"/>
            <a:ext cx="731520" cy="143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33" b="1">
                <a:solidFill>
                  <a:srgbClr val="8A938D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4" name="TextBox 3"/>
          <p:cNvSpPr txBox="1"/>
          <p:nvPr/>
        </p:nvSpPr>
        <p:spPr>
          <a:xfrm>
            <a:off x="487680" y="414528"/>
            <a:ext cx="682752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120">
                <a:solidFill>
                  <a:srgbClr val="9A3722"/>
                </a:solidFill>
                <a:latin typeface="Calibri"/>
              </a:rPr>
              <a:t>HANJIN · ZEK · 4/4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7680" y="733567"/>
            <a:ext cx="8046720" cy="4104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67" b="1">
                <a:solidFill>
                  <a:srgbClr val="14241F"/>
                </a:solidFill>
                <a:latin typeface="Cambria"/>
              </a:rPr>
              <a:t>Seaweed Topping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87680" y="1316736"/>
            <a:ext cx="11216640" cy="12192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7" name="Rounded Rectangle 6"/>
          <p:cNvSpPr/>
          <p:nvPr/>
        </p:nvSpPr>
        <p:spPr>
          <a:xfrm>
            <a:off x="8197900" y="707136"/>
            <a:ext cx="3506419" cy="390144"/>
          </a:xfrm>
          <a:prstGeom prst="roundRect">
            <a:avLst>
              <a:gd name="adj" fmla="val 24000"/>
            </a:avLst>
          </a:prstGeom>
          <a:solidFill>
            <a:srgbClr val="F6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8197900" y="825264"/>
            <a:ext cx="3506419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AA3922"/>
                </a:solidFill>
                <a:latin typeface="Calibri"/>
              </a:rPr>
              <a:t>Розрахунок на контейнер із рітейл-фасовкою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7680" y="1487424"/>
            <a:ext cx="3576320" cy="480364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10" name="Rounded Rectangle 9"/>
          <p:cNvSpPr/>
          <p:nvPr/>
        </p:nvSpPr>
        <p:spPr>
          <a:xfrm>
            <a:off x="499872" y="1499616"/>
            <a:ext cx="3551936" cy="1609344"/>
          </a:xfrm>
          <a:prstGeom prst="roundRect">
            <a:avLst>
              <a:gd name="adj" fmla="val 3500"/>
            </a:avLst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11" name="Rectangle 10"/>
          <p:cNvSpPr/>
          <p:nvPr/>
        </p:nvSpPr>
        <p:spPr>
          <a:xfrm>
            <a:off x="499872" y="2950464"/>
            <a:ext cx="3551936" cy="158496"/>
          </a:xfrm>
          <a:prstGeom prst="rect">
            <a:avLst/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pic>
        <p:nvPicPr>
          <p:cNvPr id="12" name="Picture 11" descr="zek_topping_veg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670" y="1633727"/>
            <a:ext cx="926340" cy="134112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82752" y="3267455"/>
            <a:ext cx="158496" cy="158496"/>
          </a:xfrm>
          <a:prstGeom prst="roundRect">
            <a:avLst>
              <a:gd name="adj" fmla="val 50000"/>
            </a:avLst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14" name="TextBox 13"/>
          <p:cNvSpPr txBox="1"/>
          <p:nvPr/>
        </p:nvSpPr>
        <p:spPr>
          <a:xfrm>
            <a:off x="926592" y="3267455"/>
            <a:ext cx="2966720" cy="1334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7" b="1" spc="120">
                <a:solidFill>
                  <a:srgbClr val="A23822"/>
                </a:solidFill>
                <a:latin typeface="Calibri"/>
              </a:rPr>
              <a:t>70 Г · 24 ШТ/КАРТ.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2752" y="3535681"/>
            <a:ext cx="3186176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dirty="0">
                <a:solidFill>
                  <a:srgbClr val="14241F"/>
                </a:solidFill>
                <a:latin typeface="Cambria"/>
              </a:rPr>
              <a:t>Seaweed Topping</a:t>
            </a:r>
          </a:p>
          <a:p>
            <a:pPr algn="l">
              <a:lnSpc>
                <a:spcPct val="100000"/>
              </a:lnSpc>
            </a:pPr>
            <a:r>
              <a:rPr sz="1600" b="1" dirty="0">
                <a:solidFill>
                  <a:srgbClr val="14241F"/>
                </a:solidFill>
                <a:latin typeface="Cambria"/>
              </a:rPr>
              <a:t>Vegetables · 70 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752" y="4145280"/>
            <a:ext cx="3186176" cy="3866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67">
                <a:solidFill>
                  <a:srgbClr val="44524C"/>
                </a:solidFill>
                <a:latin typeface="Calibri"/>
              </a:rPr>
              <a:t>Овочева присипка у великому пакеті 70 г. Розрахована на родину або HoReCa.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2752" y="4876800"/>
            <a:ext cx="3186176" cy="1334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7" b="1" spc="120" dirty="0">
                <a:solidFill>
                  <a:srgbClr val="A23822"/>
                </a:solidFill>
                <a:latin typeface="Calibri"/>
              </a:rPr>
              <a:t>СОБІВАРТІСТЬ · 1 ПАКЕТ 70 Г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7680" y="5120640"/>
            <a:ext cx="3576320" cy="585216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19" name="TextBox 18"/>
          <p:cNvSpPr txBox="1"/>
          <p:nvPr/>
        </p:nvSpPr>
        <p:spPr>
          <a:xfrm>
            <a:off x="682752" y="5193793"/>
            <a:ext cx="3186176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spc="12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2752" y="5376672"/>
            <a:ext cx="1656811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1">
                <a:solidFill>
                  <a:srgbClr val="FFFFFF"/>
                </a:solidFill>
                <a:latin typeface="Cambria"/>
              </a:rPr>
              <a:t>$1,4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16531" y="5425441"/>
            <a:ext cx="1752396" cy="20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33" b="1">
                <a:solidFill>
                  <a:srgbClr val="FFFFFF"/>
                </a:solidFill>
                <a:latin typeface="Calibri"/>
              </a:rPr>
              <a:t>63,86 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2753" y="5730579"/>
            <a:ext cx="1338193" cy="13343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7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57221" y="5725514"/>
            <a:ext cx="892128" cy="1435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33" b="1">
                <a:solidFill>
                  <a:srgbClr val="44524C"/>
                </a:solidFill>
                <a:latin typeface="Calibri"/>
              </a:rPr>
              <a:t>$1,5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49351" y="5725514"/>
            <a:ext cx="1019576" cy="1435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33" b="1">
                <a:solidFill>
                  <a:srgbClr val="44524C"/>
                </a:solidFill>
                <a:latin typeface="Calibri"/>
              </a:rPr>
              <a:t>68,19 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2752" y="5888736"/>
            <a:ext cx="3186176" cy="12192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26" name="TextBox 25"/>
          <p:cNvSpPr txBox="1"/>
          <p:nvPr/>
        </p:nvSpPr>
        <p:spPr>
          <a:xfrm>
            <a:off x="682753" y="5913459"/>
            <a:ext cx="1338193" cy="13343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7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7221" y="5908394"/>
            <a:ext cx="892128" cy="1435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33" b="1">
                <a:solidFill>
                  <a:srgbClr val="44524C"/>
                </a:solidFill>
                <a:latin typeface="Calibri"/>
              </a:rPr>
              <a:t>$1,7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49351" y="5908394"/>
            <a:ext cx="1019576" cy="1435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33" b="1">
                <a:solidFill>
                  <a:srgbClr val="44524C"/>
                </a:solidFill>
                <a:latin typeface="Calibri"/>
              </a:rPr>
              <a:t>78,29 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2752" y="6071616"/>
            <a:ext cx="3186176" cy="12192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30" name="TextBox 29"/>
          <p:cNvSpPr txBox="1"/>
          <p:nvPr/>
        </p:nvSpPr>
        <p:spPr>
          <a:xfrm>
            <a:off x="682753" y="6096339"/>
            <a:ext cx="1338193" cy="13343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7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57221" y="6091274"/>
            <a:ext cx="892128" cy="1435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33" b="1">
                <a:solidFill>
                  <a:srgbClr val="44524C"/>
                </a:solidFill>
                <a:latin typeface="Calibri"/>
              </a:rPr>
              <a:t>$1,8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49351" y="6091274"/>
            <a:ext cx="1019576" cy="1435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33" b="1">
                <a:solidFill>
                  <a:srgbClr val="44524C"/>
                </a:solidFill>
                <a:latin typeface="Calibri"/>
              </a:rPr>
              <a:t>82,92 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07840" y="1487424"/>
            <a:ext cx="3576320" cy="480364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34" name="Rounded Rectangle 33"/>
          <p:cNvSpPr/>
          <p:nvPr/>
        </p:nvSpPr>
        <p:spPr>
          <a:xfrm>
            <a:off x="4320032" y="1499616"/>
            <a:ext cx="3551936" cy="1609344"/>
          </a:xfrm>
          <a:prstGeom prst="roundRect">
            <a:avLst>
              <a:gd name="adj" fmla="val 3500"/>
            </a:avLst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35" name="Rectangle 34"/>
          <p:cNvSpPr/>
          <p:nvPr/>
        </p:nvSpPr>
        <p:spPr>
          <a:xfrm>
            <a:off x="4320032" y="2950464"/>
            <a:ext cx="3551936" cy="158496"/>
          </a:xfrm>
          <a:prstGeom prst="rect">
            <a:avLst/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pic>
        <p:nvPicPr>
          <p:cNvPr id="36" name="Picture 35" descr="zek_topping_sesame7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9372" y="1633727"/>
            <a:ext cx="933253" cy="1341120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4502912" y="3267455"/>
            <a:ext cx="158496" cy="158496"/>
          </a:xfrm>
          <a:prstGeom prst="roundRect">
            <a:avLst>
              <a:gd name="adj" fmla="val 50000"/>
            </a:avLst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38" name="TextBox 37"/>
          <p:cNvSpPr txBox="1"/>
          <p:nvPr/>
        </p:nvSpPr>
        <p:spPr>
          <a:xfrm>
            <a:off x="4746752" y="3267455"/>
            <a:ext cx="2966720" cy="1334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7" b="1" spc="120">
                <a:solidFill>
                  <a:srgbClr val="A23822"/>
                </a:solidFill>
                <a:latin typeface="Calibri"/>
              </a:rPr>
              <a:t>70 Г · 24 ШТ/КАРТ.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02912" y="3535681"/>
            <a:ext cx="3186176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4241F"/>
                </a:solidFill>
                <a:latin typeface="Cambria"/>
              </a:rPr>
              <a:t>Seaweed Topping</a:t>
            </a:r>
          </a:p>
          <a:p>
            <a:pPr algn="l">
              <a:lnSpc>
                <a:spcPct val="100000"/>
              </a:lnSpc>
            </a:pPr>
            <a:r>
              <a:rPr sz="1600" b="1">
                <a:solidFill>
                  <a:srgbClr val="14241F"/>
                </a:solidFill>
                <a:latin typeface="Cambria"/>
              </a:rPr>
              <a:t>Sesame · 70 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02912" y="4145280"/>
            <a:ext cx="3186176" cy="3866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67">
                <a:solidFill>
                  <a:srgbClr val="44524C"/>
                </a:solidFill>
                <a:latin typeface="Calibri"/>
              </a:rPr>
              <a:t>Кунжутна присипка у пакеті 70 г — удвічі більший обсяг за той самий смак.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02912" y="4876800"/>
            <a:ext cx="3186176" cy="1334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67" b="1" spc="120" dirty="0">
                <a:solidFill>
                  <a:srgbClr val="A23822"/>
                </a:solidFill>
                <a:latin typeface="Calibri"/>
              </a:rPr>
              <a:t>СОБІВАРТІСТЬ · 1 ПАКЕТ 70 Г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07840" y="5120640"/>
            <a:ext cx="3576320" cy="585216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43" name="TextBox 42"/>
          <p:cNvSpPr txBox="1"/>
          <p:nvPr/>
        </p:nvSpPr>
        <p:spPr>
          <a:xfrm>
            <a:off x="4502912" y="5193793"/>
            <a:ext cx="3186176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spc="12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02912" y="5376672"/>
            <a:ext cx="1656811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1">
                <a:solidFill>
                  <a:srgbClr val="FFFFFF"/>
                </a:solidFill>
                <a:latin typeface="Cambria"/>
              </a:rPr>
              <a:t>$1,4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36691" y="5425441"/>
            <a:ext cx="1752396" cy="20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33" b="1">
                <a:solidFill>
                  <a:srgbClr val="FFFFFF"/>
                </a:solidFill>
                <a:latin typeface="Calibri"/>
              </a:rPr>
              <a:t>63,86 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02913" y="5730579"/>
            <a:ext cx="1338193" cy="13343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7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77381" y="5725514"/>
            <a:ext cx="892128" cy="1435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33" b="1">
                <a:solidFill>
                  <a:srgbClr val="44524C"/>
                </a:solidFill>
                <a:latin typeface="Calibri"/>
              </a:rPr>
              <a:t>$1,5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69511" y="5725514"/>
            <a:ext cx="1019576" cy="1435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33" b="1">
                <a:solidFill>
                  <a:srgbClr val="44524C"/>
                </a:solidFill>
                <a:latin typeface="Calibri"/>
              </a:rPr>
              <a:t>68,19 ₴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02912" y="5888736"/>
            <a:ext cx="3186176" cy="12192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50" name="TextBox 49"/>
          <p:cNvSpPr txBox="1"/>
          <p:nvPr/>
        </p:nvSpPr>
        <p:spPr>
          <a:xfrm>
            <a:off x="4502913" y="5913459"/>
            <a:ext cx="1338193" cy="13343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7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77381" y="5908394"/>
            <a:ext cx="892128" cy="1435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33" b="1">
                <a:solidFill>
                  <a:srgbClr val="44524C"/>
                </a:solidFill>
                <a:latin typeface="Calibri"/>
              </a:rPr>
              <a:t>$1,7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69511" y="5908394"/>
            <a:ext cx="1019576" cy="1435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33" b="1">
                <a:solidFill>
                  <a:srgbClr val="44524C"/>
                </a:solidFill>
                <a:latin typeface="Calibri"/>
              </a:rPr>
              <a:t>78,29 ₴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02912" y="6071616"/>
            <a:ext cx="3186176" cy="12192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54" name="TextBox 53"/>
          <p:cNvSpPr txBox="1"/>
          <p:nvPr/>
        </p:nvSpPr>
        <p:spPr>
          <a:xfrm>
            <a:off x="4502913" y="6096339"/>
            <a:ext cx="1338193" cy="13343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7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77381" y="6091274"/>
            <a:ext cx="892128" cy="1435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33" b="1">
                <a:solidFill>
                  <a:srgbClr val="44524C"/>
                </a:solidFill>
                <a:latin typeface="Calibri"/>
              </a:rPr>
              <a:t>$1,8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69511" y="6091274"/>
            <a:ext cx="1019576" cy="1435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33" b="1">
                <a:solidFill>
                  <a:srgbClr val="44524C"/>
                </a:solidFill>
                <a:latin typeface="Calibri"/>
              </a:rPr>
              <a:t>82,92 ₴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128000" y="1487424"/>
            <a:ext cx="3576320" cy="4803648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6E1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58" name="Rounded Rectangle 57"/>
          <p:cNvSpPr/>
          <p:nvPr/>
        </p:nvSpPr>
        <p:spPr>
          <a:xfrm>
            <a:off x="8140192" y="1499616"/>
            <a:ext cx="3551936" cy="1609344"/>
          </a:xfrm>
          <a:prstGeom prst="roundRect">
            <a:avLst>
              <a:gd name="adj" fmla="val 3500"/>
            </a:avLst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59" name="Rectangle 58"/>
          <p:cNvSpPr/>
          <p:nvPr/>
        </p:nvSpPr>
        <p:spPr>
          <a:xfrm>
            <a:off x="8140192" y="2950464"/>
            <a:ext cx="3551936" cy="158496"/>
          </a:xfrm>
          <a:prstGeom prst="rect">
            <a:avLst/>
          </a:prstGeom>
          <a:solidFill>
            <a:srgbClr val="FA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pic>
        <p:nvPicPr>
          <p:cNvPr id="60" name="Picture 59" descr="zek_topping_chicken7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9532" y="1633727"/>
            <a:ext cx="933253" cy="1341120"/>
          </a:xfrm>
          <a:prstGeom prst="rect">
            <a:avLst/>
          </a:prstGeom>
        </p:spPr>
      </p:pic>
      <p:sp>
        <p:nvSpPr>
          <p:cNvPr id="61" name="Rounded Rectangle 60"/>
          <p:cNvSpPr/>
          <p:nvPr/>
        </p:nvSpPr>
        <p:spPr>
          <a:xfrm>
            <a:off x="8323072" y="3267455"/>
            <a:ext cx="158496" cy="158496"/>
          </a:xfrm>
          <a:prstGeom prst="roundRect">
            <a:avLst>
              <a:gd name="adj" fmla="val 50000"/>
            </a:avLst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62" name="TextBox 61"/>
          <p:cNvSpPr txBox="1"/>
          <p:nvPr/>
        </p:nvSpPr>
        <p:spPr>
          <a:xfrm>
            <a:off x="8566912" y="3267455"/>
            <a:ext cx="2966720" cy="1334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7" b="1" spc="120">
                <a:solidFill>
                  <a:srgbClr val="A23822"/>
                </a:solidFill>
                <a:latin typeface="Calibri"/>
              </a:rPr>
              <a:t>70 Г · 24 ШТ/КАРТ.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23072" y="3535681"/>
            <a:ext cx="3186176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4241F"/>
                </a:solidFill>
                <a:latin typeface="Cambria"/>
              </a:rPr>
              <a:t>Seaweed Topping</a:t>
            </a:r>
          </a:p>
          <a:p>
            <a:pPr algn="l">
              <a:lnSpc>
                <a:spcPct val="100000"/>
              </a:lnSpc>
            </a:pPr>
            <a:r>
              <a:rPr sz="1600" b="1">
                <a:solidFill>
                  <a:srgbClr val="14241F"/>
                </a:solidFill>
                <a:latin typeface="Cambria"/>
              </a:rPr>
              <a:t>Chicken · 70 г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23072" y="4145280"/>
            <a:ext cx="3186176" cy="3866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67">
                <a:solidFill>
                  <a:srgbClr val="44524C"/>
                </a:solidFill>
                <a:latin typeface="Calibri"/>
              </a:rPr>
              <a:t>Присипка з курячою стружкою, 70 г. Найдорожча позиція в розрахунку ZEK.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23072" y="4876800"/>
            <a:ext cx="3186176" cy="1334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sz="867" b="1" spc="120" dirty="0">
                <a:solidFill>
                  <a:srgbClr val="A23822"/>
                </a:solidFill>
                <a:latin typeface="Calibri"/>
              </a:rPr>
              <a:t>СОБІВАРТІСТЬ · 1 ПАКЕТ 70 Г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128000" y="5120640"/>
            <a:ext cx="3576320" cy="585216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67" name="TextBox 66"/>
          <p:cNvSpPr txBox="1"/>
          <p:nvPr/>
        </p:nvSpPr>
        <p:spPr>
          <a:xfrm>
            <a:off x="8323072" y="5193793"/>
            <a:ext cx="3186176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spc="120">
                <a:solidFill>
                  <a:srgbClr val="FFFFFF"/>
                </a:solidFill>
                <a:latin typeface="Calibri"/>
              </a:rPr>
              <a:t>40′ КОНТЕЙНЕР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23072" y="5376672"/>
            <a:ext cx="1656811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b="1">
                <a:solidFill>
                  <a:srgbClr val="FFFFFF"/>
                </a:solidFill>
                <a:latin typeface="Cambria"/>
              </a:rPr>
              <a:t>$1,4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756851" y="5425441"/>
            <a:ext cx="1752396" cy="20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33" b="1">
                <a:solidFill>
                  <a:srgbClr val="FFFFFF"/>
                </a:solidFill>
                <a:latin typeface="Calibri"/>
              </a:rPr>
              <a:t>63,86 ₴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23073" y="5730579"/>
            <a:ext cx="1338193" cy="13343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7">
                <a:solidFill>
                  <a:srgbClr val="8A938D"/>
                </a:solidFill>
                <a:latin typeface="Calibri"/>
              </a:rPr>
              <a:t>Збірний 34 м³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597541" y="5725514"/>
            <a:ext cx="892128" cy="1435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33" b="1">
                <a:solidFill>
                  <a:srgbClr val="44524C"/>
                </a:solidFill>
                <a:latin typeface="Calibri"/>
              </a:rPr>
              <a:t>$1,5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489671" y="5725514"/>
            <a:ext cx="1019576" cy="1435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33" b="1">
                <a:solidFill>
                  <a:srgbClr val="44524C"/>
                </a:solidFill>
                <a:latin typeface="Calibri"/>
              </a:rPr>
              <a:t>68,19 ₴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323072" y="5888736"/>
            <a:ext cx="3186176" cy="12192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74" name="TextBox 73"/>
          <p:cNvSpPr txBox="1"/>
          <p:nvPr/>
        </p:nvSpPr>
        <p:spPr>
          <a:xfrm>
            <a:off x="8323073" y="5913459"/>
            <a:ext cx="1338193" cy="13343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7">
                <a:solidFill>
                  <a:srgbClr val="8A938D"/>
                </a:solidFill>
                <a:latin typeface="Calibri"/>
              </a:rPr>
              <a:t>20′ контейнер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597541" y="5908394"/>
            <a:ext cx="892128" cy="1435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33" b="1">
                <a:solidFill>
                  <a:srgbClr val="44524C"/>
                </a:solidFill>
                <a:latin typeface="Calibri"/>
              </a:rPr>
              <a:t>$1,7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489671" y="5908394"/>
            <a:ext cx="1019576" cy="1435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33" b="1">
                <a:solidFill>
                  <a:srgbClr val="44524C"/>
                </a:solidFill>
                <a:latin typeface="Calibri"/>
              </a:rPr>
              <a:t>78,29 ₴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323072" y="6071616"/>
            <a:ext cx="3186176" cy="12192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78" name="TextBox 77"/>
          <p:cNvSpPr txBox="1"/>
          <p:nvPr/>
        </p:nvSpPr>
        <p:spPr>
          <a:xfrm>
            <a:off x="8323073" y="6096339"/>
            <a:ext cx="1338193" cy="13343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7">
                <a:solidFill>
                  <a:srgbClr val="8A938D"/>
                </a:solidFill>
                <a:latin typeface="Calibri"/>
              </a:rPr>
              <a:t>Збірний 17 м³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597541" y="6091274"/>
            <a:ext cx="892128" cy="1435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33" b="1">
                <a:solidFill>
                  <a:srgbClr val="44524C"/>
                </a:solidFill>
                <a:latin typeface="Calibri"/>
              </a:rPr>
              <a:t>$1,8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489671" y="6091274"/>
            <a:ext cx="1019576" cy="1435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933" b="1">
                <a:solidFill>
                  <a:srgbClr val="44524C"/>
                </a:solidFill>
                <a:latin typeface="Calibri"/>
              </a:rPr>
              <a:t>82,92 ₴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87680" y="6412992"/>
            <a:ext cx="11216640" cy="12192"/>
          </a:xfrm>
          <a:prstGeom prst="rect">
            <a:avLst/>
          </a:prstGeom>
          <a:solidFill>
            <a:srgbClr val="E6E1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sz="2400"/>
          </a:p>
        </p:txBody>
      </p:sp>
      <p:sp>
        <p:nvSpPr>
          <p:cNvPr id="83" name="TextBox 82"/>
          <p:cNvSpPr txBox="1"/>
          <p:nvPr/>
        </p:nvSpPr>
        <p:spPr>
          <a:xfrm>
            <a:off x="10972800" y="6510528"/>
            <a:ext cx="731520" cy="143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33" b="1">
                <a:solidFill>
                  <a:srgbClr val="8A938D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320040" cy="320040"/>
          </a:xfrm>
          <a:prstGeom prst="rect">
            <a:avLst/>
          </a:prstGeom>
          <a:solidFill>
            <a:srgbClr val="B23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76072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100">
                <a:solidFill>
                  <a:srgbClr val="B23924"/>
                </a:solidFill>
                <a:latin typeface="Calibri"/>
              </a:rPr>
              <a:t>ПРОФІЛЬ ПОСТАЧАЛЬНИКА ·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66751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A221E"/>
                </a:solidFill>
                <a:latin typeface="Cambria"/>
              </a:rPr>
              <a:t>Dalian Mishima Foods</a:t>
            </a:r>
          </a:p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A221E"/>
                </a:solidFill>
                <a:latin typeface="Cambria"/>
              </a:rPr>
              <a:t>Co., Ltd.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48840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B23924"/>
                </a:solidFill>
                <a:latin typeface="Calibri"/>
              </a:rPr>
              <a:t>Фурікаке, соуси та приправи Pan-Asian · Retail / OEM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606040"/>
            <a:ext cx="1828800" cy="384048"/>
          </a:xfrm>
          <a:prstGeom prst="roundRect">
            <a:avLst/>
          </a:prstGeom>
          <a:solidFill>
            <a:srgbClr val="FDE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7249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B23924"/>
                </a:solidFill>
                <a:latin typeface="Calibri"/>
              </a:rPr>
              <a:t>FOB Dalian, Китай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4612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" b="0" i="0">
                <a:solidFill>
                  <a:srgbClr val="2A221E"/>
                </a:solidFill>
                <a:latin typeface="Calibr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00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100">
                <a:solidFill>
                  <a:srgbClr val="B23924"/>
                </a:solidFill>
                <a:latin typeface="Calibri"/>
              </a:rPr>
              <a:t>ПРО КОМПАНІЮ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474720"/>
            <a:ext cx="667512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A221E"/>
                </a:solidFill>
                <a:latin typeface="Calibri"/>
              </a:rPr>
              <a:t>Мішіма — виробник соусів, фурікаке, супових баз та юзу-продукції (м. Далянь, пров. Ляонін, КНР). Асортимент за каталогом: класичні соуси, пастові соуси, фурікаке в пакетах і коробках, супові бази, очадзуке, юзу-серія, соус-до-страви, фреш-лок пляшки.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A221E"/>
                </a:solidFill>
                <a:latin typeface="Calibri"/>
              </a:rPr>
              <a:t>Контакт: foods@mishima.com.cn · +86 411 87611161.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892040"/>
            <a:ext cx="21031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4892040"/>
            <a:ext cx="2103120" cy="41148"/>
          </a:xfrm>
          <a:prstGeom prst="rect">
            <a:avLst/>
          </a:prstGeom>
          <a:solidFill>
            <a:srgbClr val="B23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5038344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B23924"/>
                </a:solidFill>
                <a:latin typeface="Cambria"/>
              </a:rPr>
              <a:t>8 SKU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5458968"/>
            <a:ext cx="19568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 i="0">
                <a:solidFill>
                  <a:srgbClr val="6E6760"/>
                </a:solidFill>
                <a:latin typeface="Calibri"/>
              </a:rPr>
              <a:t>фурікаке в розрахунку</a:t>
            </a:r>
          </a:p>
          <a:p>
            <a:pPr algn="ctr">
              <a:lnSpc>
                <a:spcPct val="105000"/>
              </a:lnSpc>
            </a:pPr>
            <a:r>
              <a:rPr sz="850" b="0" i="0">
                <a:solidFill>
                  <a:srgbClr val="6E6760"/>
                </a:solidFill>
                <a:latin typeface="Calibri"/>
              </a:rPr>
              <a:t>собівартості (25 і 50 г)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24912" y="4892040"/>
            <a:ext cx="21031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24912" y="4892040"/>
            <a:ext cx="2103120" cy="41148"/>
          </a:xfrm>
          <a:prstGeom prst="rect">
            <a:avLst/>
          </a:prstGeom>
          <a:solidFill>
            <a:srgbClr val="B23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24912" y="5038344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B23924"/>
                </a:solidFill>
                <a:latin typeface="Cambria"/>
              </a:rPr>
              <a:t>17 м³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98064" y="5458968"/>
            <a:ext cx="19568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 i="0">
                <a:solidFill>
                  <a:srgbClr val="6E6760"/>
                </a:solidFill>
                <a:latin typeface="Calibri"/>
              </a:rPr>
              <a:t>єдиний прорахований</a:t>
            </a:r>
          </a:p>
          <a:p>
            <a:pPr algn="ctr">
              <a:lnSpc>
                <a:spcPct val="105000"/>
              </a:lnSpc>
            </a:pPr>
            <a:r>
              <a:rPr sz="850" b="0" i="0">
                <a:solidFill>
                  <a:srgbClr val="6E6760"/>
                </a:solidFill>
                <a:latin typeface="Calibri"/>
              </a:rPr>
              <a:t>сценарій доставки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46904" y="4892040"/>
            <a:ext cx="21031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46904" y="4892040"/>
            <a:ext cx="2103120" cy="41148"/>
          </a:xfrm>
          <a:prstGeom prst="rect">
            <a:avLst/>
          </a:prstGeom>
          <a:solidFill>
            <a:srgbClr val="B23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46904" y="5038344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B23924"/>
                </a:solidFill>
                <a:latin typeface="Cambria"/>
              </a:rPr>
              <a:t>12 міс.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0056" y="5458968"/>
            <a:ext cx="19568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 i="0">
                <a:solidFill>
                  <a:srgbClr val="6E6760"/>
                </a:solidFill>
                <a:latin typeface="Calibri"/>
              </a:rPr>
              <a:t>термін придатності</a:t>
            </a:r>
          </a:p>
          <a:p>
            <a:pPr algn="ctr">
              <a:lnSpc>
                <a:spcPct val="105000"/>
              </a:lnSpc>
            </a:pPr>
            <a:r>
              <a:rPr sz="850" b="0" i="0">
                <a:solidFill>
                  <a:srgbClr val="6E6760"/>
                </a:solidFill>
                <a:latin typeface="Calibri"/>
              </a:rPr>
              <a:t>(за каталогом)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989320"/>
            <a:ext cx="6547104" cy="566928"/>
          </a:xfrm>
          <a:prstGeom prst="roundRect">
            <a:avLst/>
          </a:prstGeom>
          <a:solidFill>
            <a:srgbClr val="FDE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6062472"/>
            <a:ext cx="6217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1">
                <a:solidFill>
                  <a:srgbClr val="B23924"/>
                </a:solidFill>
                <a:latin typeface="Calibri"/>
              </a:rPr>
              <a:t>⚠ У файлі розрахунку базис доставки вказано «FOB Bangkok», хоча країна походження — Китай. Невідповідність потребує уточнення у постачальника до фіксації умов.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1000" y="502920"/>
            <a:ext cx="3657600" cy="5852160"/>
          </a:xfrm>
          <a:prstGeom prst="roundRect">
            <a:avLst/>
          </a:prstGeom>
          <a:solidFill>
            <a:srgbClr val="F3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83879" y="4617720"/>
            <a:ext cx="3291840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83879" y="4800600"/>
            <a:ext cx="3291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600" b="1" i="0">
                <a:solidFill>
                  <a:srgbClr val="B23924"/>
                </a:solidFill>
                <a:latin typeface="Cambria"/>
              </a:rPr>
              <a:t>MISHIMA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79" y="53492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 spc="100">
                <a:solidFill>
                  <a:srgbClr val="2A221E"/>
                </a:solidFill>
                <a:latin typeface="Calibri"/>
              </a:rPr>
              <a:t>ВИРОБНИЦТВО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3879" y="5605272"/>
            <a:ext cx="3291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B23924"/>
                </a:solidFill>
                <a:latin typeface="Calibri"/>
              </a:rPr>
              <a:t>Далянь, Китай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643360" y="64922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E6760"/>
                </a:solidFill>
                <a:latin typeface="Calibri"/>
              </a:rPr>
              <a:t>13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75320" y="832103"/>
            <a:ext cx="3200400" cy="2148657"/>
          </a:xfrm>
          <a:prstGeom prst="roundRect">
            <a:avLst>
              <a:gd name="adj" fmla="val 4000"/>
            </a:avLst>
          </a:prstGeom>
          <a:solidFill>
            <a:srgbClr val="C97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229600" y="777240"/>
            <a:ext cx="3200400" cy="214865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mishima_lineup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8472" y="896112"/>
            <a:ext cx="2962656" cy="1910913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8275320" y="3127065"/>
            <a:ext cx="1572768" cy="1267820"/>
          </a:xfrm>
          <a:prstGeom prst="roundRect">
            <a:avLst>
              <a:gd name="adj" fmla="val 4000"/>
            </a:avLst>
          </a:prstGeom>
          <a:solidFill>
            <a:srgbClr val="C97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229600" y="3072201"/>
            <a:ext cx="1572768" cy="12678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mishima_sauces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8472" y="3191073"/>
            <a:ext cx="1335024" cy="1030076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9902952" y="3127065"/>
            <a:ext cx="1572768" cy="1267820"/>
          </a:xfrm>
          <a:prstGeom prst="roundRect">
            <a:avLst>
              <a:gd name="adj" fmla="val 4000"/>
            </a:avLst>
          </a:prstGeom>
          <a:solidFill>
            <a:srgbClr val="C97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857232" y="3072201"/>
            <a:ext cx="1572768" cy="12678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mishima_ochazuke_small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76104" y="3191073"/>
            <a:ext cx="1335024" cy="1030076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8183879" y="6163056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 i="0">
                <a:solidFill>
                  <a:srgbClr val="8A817A"/>
                </a:solidFill>
                <a:latin typeface="Calibri"/>
              </a:rPr>
              <a:t>Фото: роздрібний каталог Mishima (Retail Product Catalog)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B23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100">
                <a:solidFill>
                  <a:srgbClr val="B23924"/>
                </a:solidFill>
                <a:latin typeface="Calibri"/>
              </a:rPr>
              <a:t>MISHIMA · FURIKAKE ·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2A221E"/>
                </a:solidFill>
                <a:latin typeface="Cambria"/>
              </a:rPr>
              <a:t>Furikake — розрахунок собівартості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0" y="502920"/>
            <a:ext cx="3657600" cy="457200"/>
          </a:xfrm>
          <a:prstGeom prst="roundRect">
            <a:avLst/>
          </a:prstGeom>
          <a:solidFill>
            <a:srgbClr val="FDE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62179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B23924"/>
                </a:solidFill>
                <a:latin typeface="Calibri"/>
              </a:rPr>
              <a:t>Збірний вантаж 17 м³ · один прорахований сценарій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39" y="11887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1">
                <a:solidFill>
                  <a:srgbClr val="B23924"/>
                </a:solidFill>
                <a:latin typeface="Calibri"/>
              </a:rPr>
              <a:t>* смак «кімчі» відсутній у роздрібному каталозі —</a:t>
            </a:r>
          </a:p>
          <a:p>
            <a:pPr algn="l">
              <a:lnSpc>
                <a:spcPct val="105000"/>
              </a:lnSpc>
            </a:pPr>
            <a:r>
              <a:rPr sz="850" b="0" i="1">
                <a:solidFill>
                  <a:srgbClr val="B23924"/>
                </a:solidFill>
                <a:latin typeface="Calibri"/>
              </a:rPr>
              <a:t>фото та SKU потребують підтвердження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148840"/>
            <a:ext cx="8183879" cy="384048"/>
          </a:xfrm>
          <a:prstGeom prst="rect">
            <a:avLst/>
          </a:prstGeom>
          <a:solidFill>
            <a:srgbClr val="B23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2231136"/>
            <a:ext cx="2039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Продукт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24912" y="2231136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Фасовка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2231136"/>
            <a:ext cx="11704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Ціна закупки, $/од.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28032" y="2231136"/>
            <a:ext cx="11704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С/С, €/од.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2231136"/>
            <a:ext cx="1261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С/С, ₴/од.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9792" y="2231136"/>
            <a:ext cx="11704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Питома ₴/г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" y="2624328"/>
            <a:ext cx="2039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A221E"/>
                </a:solidFill>
                <a:latin typeface="Calibri"/>
              </a:rPr>
              <a:t>Furikake з креветкою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24912" y="2624328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A221E"/>
                </a:solidFill>
                <a:latin typeface="Calibri"/>
              </a:rPr>
              <a:t>25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7872" y="2624328"/>
            <a:ext cx="11704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23924"/>
                </a:solidFill>
                <a:latin typeface="Calibri"/>
              </a:rPr>
              <a:t>$0,72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28032" y="2624328"/>
            <a:ext cx="11704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23924"/>
                </a:solidFill>
                <a:latin typeface="Calibri"/>
              </a:rPr>
              <a:t>€0,80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08192" y="2624328"/>
            <a:ext cx="1261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23924"/>
                </a:solidFill>
                <a:latin typeface="Calibri"/>
              </a:rPr>
              <a:t>35,94 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79792" y="2624328"/>
            <a:ext cx="11704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A221E"/>
                </a:solidFill>
                <a:latin typeface="Calibri"/>
              </a:rPr>
              <a:t>1,44 ₴/г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02920" y="2953512"/>
            <a:ext cx="8183880" cy="0"/>
          </a:xfrm>
          <a:prstGeom prst="line">
            <a:avLst/>
          </a:prstGeom>
          <a:ln w="6350">
            <a:solidFill>
              <a:srgbClr val="D8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502920" y="2953512"/>
            <a:ext cx="8183879" cy="420624"/>
          </a:xfrm>
          <a:prstGeom prst="rect">
            <a:avLst/>
          </a:prstGeom>
          <a:solidFill>
            <a:srgbClr val="F3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072" y="3044952"/>
            <a:ext cx="2039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A221E"/>
                </a:solidFill>
                <a:latin typeface="Calibri"/>
              </a:rPr>
              <a:t>Furikake з креветкою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24912" y="3044952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A221E"/>
                </a:solidFill>
                <a:latin typeface="Calibri"/>
              </a:rPr>
              <a:t>50 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47872" y="3044952"/>
            <a:ext cx="11704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23924"/>
                </a:solidFill>
                <a:latin typeface="Calibri"/>
              </a:rPr>
              <a:t>$1,38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28032" y="3044952"/>
            <a:ext cx="11704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23924"/>
                </a:solidFill>
                <a:latin typeface="Calibri"/>
              </a:rPr>
              <a:t>€1,53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08192" y="3044952"/>
            <a:ext cx="1261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23924"/>
                </a:solidFill>
                <a:latin typeface="Calibri"/>
              </a:rPr>
              <a:t>68,86 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9792" y="3044952"/>
            <a:ext cx="11704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A221E"/>
                </a:solidFill>
                <a:latin typeface="Calibri"/>
              </a:rPr>
              <a:t>1,38 ₴/г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02920" y="3374136"/>
            <a:ext cx="8183880" cy="0"/>
          </a:xfrm>
          <a:prstGeom prst="line">
            <a:avLst/>
          </a:prstGeom>
          <a:ln w="6350">
            <a:solidFill>
              <a:srgbClr val="D8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76072" y="3465576"/>
            <a:ext cx="2039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A221E"/>
                </a:solidFill>
                <a:latin typeface="Calibri"/>
              </a:rPr>
              <a:t>Furikake васабі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24912" y="3465576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A221E"/>
                </a:solidFill>
                <a:latin typeface="Calibri"/>
              </a:rPr>
              <a:t>25 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47872" y="3465576"/>
            <a:ext cx="11704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23924"/>
                </a:solidFill>
                <a:latin typeface="Calibri"/>
              </a:rPr>
              <a:t>$0,89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28032" y="3465576"/>
            <a:ext cx="11704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23924"/>
                </a:solidFill>
                <a:latin typeface="Calibri"/>
              </a:rPr>
              <a:t>€0,99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08192" y="3465576"/>
            <a:ext cx="1261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23924"/>
                </a:solidFill>
                <a:latin typeface="Calibri"/>
              </a:rPr>
              <a:t>44,42 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79792" y="3465576"/>
            <a:ext cx="11704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A221E"/>
                </a:solidFill>
                <a:latin typeface="Calibri"/>
              </a:rPr>
              <a:t>1,78 ₴/г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02920" y="3794760"/>
            <a:ext cx="8183880" cy="0"/>
          </a:xfrm>
          <a:prstGeom prst="line">
            <a:avLst/>
          </a:prstGeom>
          <a:ln w="6350">
            <a:solidFill>
              <a:srgbClr val="D8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502920" y="3794760"/>
            <a:ext cx="8183879" cy="420624"/>
          </a:xfrm>
          <a:prstGeom prst="rect">
            <a:avLst/>
          </a:prstGeom>
          <a:solidFill>
            <a:srgbClr val="F3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76072" y="3886200"/>
            <a:ext cx="2039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A221E"/>
                </a:solidFill>
                <a:latin typeface="Calibri"/>
              </a:rPr>
              <a:t>Furikake васабі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24912" y="3886200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A221E"/>
                </a:solidFill>
                <a:latin typeface="Calibri"/>
              </a:rPr>
              <a:t>50 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47872" y="3886200"/>
            <a:ext cx="11704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23924"/>
                </a:solidFill>
                <a:latin typeface="Calibri"/>
              </a:rPr>
              <a:t>$1,63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28032" y="3886200"/>
            <a:ext cx="11704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23924"/>
                </a:solidFill>
                <a:latin typeface="Calibri"/>
              </a:rPr>
              <a:t>€1,81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08192" y="3886200"/>
            <a:ext cx="1261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23924"/>
                </a:solidFill>
                <a:latin typeface="Calibri"/>
              </a:rPr>
              <a:t>81,49 ₴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79792" y="3886200"/>
            <a:ext cx="11704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A221E"/>
                </a:solidFill>
                <a:latin typeface="Calibri"/>
              </a:rPr>
              <a:t>1,63 ₴/г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02920" y="4215384"/>
            <a:ext cx="8183880" cy="0"/>
          </a:xfrm>
          <a:prstGeom prst="line">
            <a:avLst/>
          </a:prstGeom>
          <a:ln w="6350">
            <a:solidFill>
              <a:srgbClr val="D8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76072" y="4306824"/>
            <a:ext cx="2039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A221E"/>
                </a:solidFill>
                <a:latin typeface="Calibri"/>
              </a:rPr>
              <a:t>Furikake зі смаком кімчі *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24912" y="4306824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A221E"/>
                </a:solidFill>
                <a:latin typeface="Calibri"/>
              </a:rPr>
              <a:t>25 г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47872" y="4306824"/>
            <a:ext cx="11704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23924"/>
                </a:solidFill>
                <a:latin typeface="Calibri"/>
              </a:rPr>
              <a:t>$0,66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28032" y="4306824"/>
            <a:ext cx="11704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23924"/>
                </a:solidFill>
                <a:latin typeface="Calibri"/>
              </a:rPr>
              <a:t>€0,73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08192" y="4306824"/>
            <a:ext cx="1261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23924"/>
                </a:solidFill>
                <a:latin typeface="Calibri"/>
              </a:rPr>
              <a:t>32,69 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79792" y="4306824"/>
            <a:ext cx="11704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A221E"/>
                </a:solidFill>
                <a:latin typeface="Calibri"/>
              </a:rPr>
              <a:t>1,31 ₴/г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02920" y="4636008"/>
            <a:ext cx="8183880" cy="0"/>
          </a:xfrm>
          <a:prstGeom prst="line">
            <a:avLst/>
          </a:prstGeom>
          <a:ln w="6350">
            <a:solidFill>
              <a:srgbClr val="D8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502920" y="4636008"/>
            <a:ext cx="8183879" cy="420624"/>
          </a:xfrm>
          <a:prstGeom prst="rect">
            <a:avLst/>
          </a:prstGeom>
          <a:solidFill>
            <a:srgbClr val="F3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76072" y="4727448"/>
            <a:ext cx="2039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A221E"/>
                </a:solidFill>
                <a:latin typeface="Calibri"/>
              </a:rPr>
              <a:t>Furikake зі смаком кімчі *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724912" y="4727448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A221E"/>
                </a:solidFill>
                <a:latin typeface="Calibri"/>
              </a:rPr>
              <a:t>50 г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547872" y="4727448"/>
            <a:ext cx="11704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23924"/>
                </a:solidFill>
                <a:latin typeface="Calibri"/>
              </a:rPr>
              <a:t>$1,20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28032" y="4727448"/>
            <a:ext cx="11704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23924"/>
                </a:solidFill>
                <a:latin typeface="Calibri"/>
              </a:rPr>
              <a:t>€1,33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08192" y="4727448"/>
            <a:ext cx="1261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23924"/>
                </a:solidFill>
                <a:latin typeface="Calibri"/>
              </a:rPr>
              <a:t>59,74 ₴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79792" y="4727448"/>
            <a:ext cx="11704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A221E"/>
                </a:solidFill>
                <a:latin typeface="Calibri"/>
              </a:rPr>
              <a:t>1,19 ₴/г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502920" y="5056632"/>
            <a:ext cx="8183880" cy="0"/>
          </a:xfrm>
          <a:prstGeom prst="line">
            <a:avLst/>
          </a:prstGeom>
          <a:ln w="6350">
            <a:solidFill>
              <a:srgbClr val="D8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576072" y="5148072"/>
            <a:ext cx="2039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A221E"/>
                </a:solidFill>
                <a:latin typeface="Calibri"/>
              </a:rPr>
              <a:t>Furikake з норі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724912" y="5148072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A221E"/>
                </a:solidFill>
                <a:latin typeface="Calibri"/>
              </a:rPr>
              <a:t>25 г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547872" y="5148072"/>
            <a:ext cx="11704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23924"/>
                </a:solidFill>
                <a:latin typeface="Calibri"/>
              </a:rPr>
              <a:t>$0,56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828032" y="5148072"/>
            <a:ext cx="11704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23924"/>
                </a:solidFill>
                <a:latin typeface="Calibri"/>
              </a:rPr>
              <a:t>€0,62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108192" y="5148072"/>
            <a:ext cx="1261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23924"/>
                </a:solidFill>
                <a:latin typeface="Calibri"/>
              </a:rPr>
              <a:t>27,70 ₴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479792" y="5148072"/>
            <a:ext cx="11704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A221E"/>
                </a:solidFill>
                <a:latin typeface="Calibri"/>
              </a:rPr>
              <a:t>1,11 ₴/г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502920" y="5477256"/>
            <a:ext cx="8183880" cy="0"/>
          </a:xfrm>
          <a:prstGeom prst="line">
            <a:avLst/>
          </a:prstGeom>
          <a:ln w="6350">
            <a:solidFill>
              <a:srgbClr val="D8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angle 73"/>
          <p:cNvSpPr/>
          <p:nvPr/>
        </p:nvSpPr>
        <p:spPr>
          <a:xfrm>
            <a:off x="502920" y="5477256"/>
            <a:ext cx="8183879" cy="420624"/>
          </a:xfrm>
          <a:prstGeom prst="rect">
            <a:avLst/>
          </a:prstGeom>
          <a:solidFill>
            <a:srgbClr val="F3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76072" y="5568696"/>
            <a:ext cx="20391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2A221E"/>
                </a:solidFill>
                <a:latin typeface="Calibri"/>
              </a:rPr>
              <a:t>Furikake з норі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724912" y="5568696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A221E"/>
                </a:solidFill>
                <a:latin typeface="Calibri"/>
              </a:rPr>
              <a:t>50 г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547872" y="5568696"/>
            <a:ext cx="11704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23924"/>
                </a:solidFill>
                <a:latin typeface="Calibri"/>
              </a:rPr>
              <a:t>$1,00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828032" y="5568696"/>
            <a:ext cx="11704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23924"/>
                </a:solidFill>
                <a:latin typeface="Calibri"/>
              </a:rPr>
              <a:t>€1,10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08192" y="5568696"/>
            <a:ext cx="12618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B23924"/>
                </a:solidFill>
                <a:latin typeface="Calibri"/>
              </a:rPr>
              <a:t>49,68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479792" y="5568696"/>
            <a:ext cx="11704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A221E"/>
                </a:solidFill>
                <a:latin typeface="Calibri"/>
              </a:rPr>
              <a:t>0,99 ₴/г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502920" y="5897880"/>
            <a:ext cx="8183880" cy="0"/>
          </a:xfrm>
          <a:prstGeom prst="line">
            <a:avLst/>
          </a:prstGeom>
          <a:ln w="6350">
            <a:solidFill>
              <a:srgbClr val="D8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ounded Rectangle 81"/>
          <p:cNvSpPr/>
          <p:nvPr/>
        </p:nvSpPr>
        <p:spPr>
          <a:xfrm>
            <a:off x="502920" y="6126480"/>
            <a:ext cx="11201400" cy="502920"/>
          </a:xfrm>
          <a:prstGeom prst="roundRect">
            <a:avLst/>
          </a:prstGeom>
          <a:solidFill>
            <a:srgbClr val="FDE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85800" y="619963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B23924"/>
                </a:solidFill>
                <a:latin typeface="Calibri"/>
              </a:rPr>
              <a:t>⚠ Розрахунок побудований лише для одного логістичного сценарію (збірний 17 м³), на відміну від 4-рівневого порівняння в профілі ZEK. Для коректного зіставлення постачальників за обсягом контейнера потрібно домоделювати сценарії 40′/20′/34 м³.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643360" y="64922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E6760"/>
                </a:solidFill>
                <a:latin typeface="Calibri"/>
              </a:rPr>
              <a:t>14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38912" y="1078992"/>
            <a:ext cx="658368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6" name="Picture 85" descr="pack_shrim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" y="1133856"/>
            <a:ext cx="548640" cy="548640"/>
          </a:xfrm>
          <a:prstGeom prst="rect">
            <a:avLst/>
          </a:prstGeom>
        </p:spPr>
      </p:pic>
      <p:sp>
        <p:nvSpPr>
          <p:cNvPr id="87" name="TextBox 86"/>
          <p:cNvSpPr txBox="1"/>
          <p:nvPr/>
        </p:nvSpPr>
        <p:spPr>
          <a:xfrm>
            <a:off x="320040" y="1773936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6E6760"/>
                </a:solidFill>
                <a:latin typeface="Calibri"/>
              </a:rPr>
              <a:t>Креветка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1124712" y="1078992"/>
            <a:ext cx="658368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9" name="Picture 88" descr="pack_wasab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9576" y="1133856"/>
            <a:ext cx="548640" cy="548640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1005840" y="1773936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6E6760"/>
                </a:solidFill>
                <a:latin typeface="Calibri"/>
              </a:rPr>
              <a:t>Васабі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1810511" y="1078992"/>
            <a:ext cx="658368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2" name="Picture 91" descr="pack_nori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65376" y="1133856"/>
            <a:ext cx="548640" cy="548640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1691639" y="1773936"/>
            <a:ext cx="868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6E6760"/>
                </a:solidFill>
                <a:latin typeface="Calibri"/>
              </a:rPr>
              <a:t>Норі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9052560" y="1197864"/>
            <a:ext cx="2697480" cy="2129983"/>
          </a:xfrm>
          <a:prstGeom prst="roundRect">
            <a:avLst>
              <a:gd name="adj" fmla="val 4000"/>
            </a:avLst>
          </a:prstGeom>
          <a:solidFill>
            <a:srgbClr val="C97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9006840" y="1143000"/>
            <a:ext cx="2697480" cy="212998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6" name="Picture 95" descr="mishima_ric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25712" y="1261872"/>
            <a:ext cx="2459736" cy="1892239"/>
          </a:xfrm>
          <a:prstGeom prst="rect">
            <a:avLst/>
          </a:prstGeom>
        </p:spPr>
      </p:pic>
      <p:sp>
        <p:nvSpPr>
          <p:cNvPr id="97" name="Rounded Rectangle 96"/>
          <p:cNvSpPr/>
          <p:nvPr/>
        </p:nvSpPr>
        <p:spPr>
          <a:xfrm>
            <a:off x="9052560" y="3529015"/>
            <a:ext cx="2697480" cy="1784425"/>
          </a:xfrm>
          <a:prstGeom prst="roundRect">
            <a:avLst>
              <a:gd name="adj" fmla="val 4000"/>
            </a:avLst>
          </a:prstGeom>
          <a:solidFill>
            <a:srgbClr val="C97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9006840" y="3474151"/>
            <a:ext cx="2697480" cy="178442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9" name="Picture 98" descr="mishima_ochazuk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25712" y="3593023"/>
            <a:ext cx="2459736" cy="1546681"/>
          </a:xfrm>
          <a:prstGeom prst="rect">
            <a:avLst/>
          </a:prstGeom>
        </p:spPr>
      </p:pic>
      <p:sp>
        <p:nvSpPr>
          <p:cNvPr id="100" name="Rounded Rectangle 99"/>
          <p:cNvSpPr/>
          <p:nvPr/>
        </p:nvSpPr>
        <p:spPr>
          <a:xfrm>
            <a:off x="9006840" y="5440680"/>
            <a:ext cx="2697480" cy="457200"/>
          </a:xfrm>
          <a:prstGeom prst="roundRect">
            <a:avLst>
              <a:gd name="adj" fmla="val 22000"/>
            </a:avLst>
          </a:prstGeom>
          <a:solidFill>
            <a:srgbClr val="FDE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144000" y="5532120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B23924"/>
                </a:solidFill>
                <a:latin typeface="Cambria"/>
              </a:rPr>
              <a:t>Фурікаке 25 / 50 г</a:t>
            </a:r>
          </a:p>
          <a:p>
            <a:pPr algn="ctr"/>
            <a:r>
              <a:rPr sz="750" b="0" i="0">
                <a:solidFill>
                  <a:srgbClr val="6E6760"/>
                </a:solidFill>
                <a:latin typeface="Calibri"/>
              </a:rPr>
              <a:t>фото: роздрібний каталог Mishima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48640"/>
            <a:ext cx="320040" cy="320040"/>
          </a:xfrm>
          <a:prstGeom prst="rect">
            <a:avLst/>
          </a:prstGeom>
          <a:solidFill>
            <a:srgbClr val="B23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576072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100">
                <a:solidFill>
                  <a:srgbClr val="B23924"/>
                </a:solidFill>
                <a:latin typeface="Calibri"/>
              </a:rPr>
              <a:t>ПРОФІЛЬ ПОСТАЧАЛЬНИКА ·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69494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A221E"/>
                </a:solidFill>
                <a:latin typeface="Cambria"/>
              </a:rPr>
              <a:t>Takaokaya Co., Ltd.</a:t>
            </a:r>
          </a:p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2A221E"/>
                </a:solidFill>
                <a:latin typeface="Cambria"/>
              </a:rPr>
              <a:t>(бренд Kinjirushi)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48840"/>
            <a:ext cx="6949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B23924"/>
                </a:solidFill>
                <a:latin typeface="Calibri"/>
              </a:rPr>
              <a:t>Бутильоване фурікаке та васабі-приправи · Японія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606040"/>
            <a:ext cx="2377440" cy="384048"/>
          </a:xfrm>
          <a:prstGeom prst="roundRect">
            <a:avLst/>
          </a:prstGeom>
          <a:solidFill>
            <a:srgbClr val="FDE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72491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>
                <a:solidFill>
                  <a:srgbClr val="B23924"/>
                </a:solidFill>
                <a:latin typeface="Calibri"/>
              </a:rPr>
              <a:t>FOB Японія (порт уточнюється)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00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100">
                <a:solidFill>
                  <a:srgbClr val="B23924"/>
                </a:solidFill>
                <a:latin typeface="Calibri"/>
              </a:rPr>
              <a:t>ПРО КОМПАНІЮ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474720"/>
            <a:ext cx="694944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2A221E"/>
                </a:solidFill>
                <a:latin typeface="Calibri"/>
              </a:rPr>
              <a:t>Заснована 1929 р., спеціалізується на продукції з автентичного японського васабі (регіон Адзуміно). Бренд Kinjirushi. Дочірня Takaokaya USA працює з 1986 р. Продукт постачається у форматі скляних «fresh-lock» пляшечок 45–60 г — преміум-позиціонування «Made in Japan» на відміну від пакетованого фурікаке з Китаю.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892040"/>
            <a:ext cx="21945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4892040"/>
            <a:ext cx="2194560" cy="41148"/>
          </a:xfrm>
          <a:prstGeom prst="rect">
            <a:avLst/>
          </a:prstGeom>
          <a:solidFill>
            <a:srgbClr val="B23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5038344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B23924"/>
                </a:solidFill>
                <a:latin typeface="Cambria"/>
              </a:rPr>
              <a:t>1929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5458968"/>
            <a:ext cx="20482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 i="0">
                <a:solidFill>
                  <a:srgbClr val="6E6760"/>
                </a:solidFill>
                <a:latin typeface="Calibri"/>
              </a:rPr>
              <a:t>рік заснування</a:t>
            </a:r>
          </a:p>
          <a:p>
            <a:pPr algn="ctr">
              <a:lnSpc>
                <a:spcPct val="105000"/>
              </a:lnSpc>
            </a:pPr>
            <a:r>
              <a:rPr sz="850" b="0" i="0">
                <a:solidFill>
                  <a:srgbClr val="6E6760"/>
                </a:solidFill>
                <a:latin typeface="Calibri"/>
              </a:rPr>
              <a:t>бренду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88920" y="4892040"/>
            <a:ext cx="21945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88920" y="4892040"/>
            <a:ext cx="2194560" cy="41148"/>
          </a:xfrm>
          <a:prstGeom prst="rect">
            <a:avLst/>
          </a:prstGeom>
          <a:solidFill>
            <a:srgbClr val="B23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88920" y="5038344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B23924"/>
                </a:solidFill>
                <a:latin typeface="Cambria"/>
              </a:rPr>
              <a:t>7 SKU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62072" y="5458968"/>
            <a:ext cx="20482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 i="0">
                <a:solidFill>
                  <a:srgbClr val="6E6760"/>
                </a:solidFill>
                <a:latin typeface="Calibri"/>
              </a:rPr>
              <a:t>фурікаке в розрахунку</a:t>
            </a:r>
          </a:p>
          <a:p>
            <a:pPr algn="ctr">
              <a:lnSpc>
                <a:spcPct val="105000"/>
              </a:lnSpc>
            </a:pPr>
            <a:r>
              <a:rPr sz="850" b="0" i="0">
                <a:solidFill>
                  <a:srgbClr val="6E6760"/>
                </a:solidFill>
                <a:latin typeface="Calibri"/>
              </a:rPr>
              <a:t>собівартості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74920" y="4892040"/>
            <a:ext cx="219456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74920" y="4892040"/>
            <a:ext cx="2194560" cy="41148"/>
          </a:xfrm>
          <a:prstGeom prst="rect">
            <a:avLst/>
          </a:prstGeom>
          <a:solidFill>
            <a:srgbClr val="B23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74920" y="5038344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 i="0">
                <a:solidFill>
                  <a:srgbClr val="B23924"/>
                </a:solidFill>
                <a:latin typeface="Cambria"/>
              </a:rPr>
              <a:t>45–60 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8072" y="5458968"/>
            <a:ext cx="20482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850" b="0" i="0">
                <a:solidFill>
                  <a:srgbClr val="6E6760"/>
                </a:solidFill>
                <a:latin typeface="Calibri"/>
              </a:rPr>
              <a:t>фасовка,</a:t>
            </a:r>
          </a:p>
          <a:p>
            <a:pPr algn="ctr">
              <a:lnSpc>
                <a:spcPct val="105000"/>
              </a:lnSpc>
            </a:pPr>
            <a:r>
              <a:rPr sz="850" b="0" i="0">
                <a:solidFill>
                  <a:srgbClr val="6E6760"/>
                </a:solidFill>
                <a:latin typeface="Calibri"/>
              </a:rPr>
              <a:t>скляна пляшка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989320"/>
            <a:ext cx="6766560" cy="566928"/>
          </a:xfrm>
          <a:prstGeom prst="roundRect">
            <a:avLst/>
          </a:prstGeom>
          <a:solidFill>
            <a:srgbClr val="FDE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603504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1">
                <a:solidFill>
                  <a:srgbClr val="B23924"/>
                </a:solidFill>
                <a:latin typeface="Calibri"/>
              </a:rPr>
              <a:t>⚠ Юридична особа й пряме контактне джерело постачальника в матеріалах компанії відсутні — профіль складено за відкритими даними бренду, потребує верифікації перед контрактом.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01000" y="502920"/>
            <a:ext cx="3657600" cy="5852160"/>
          </a:xfrm>
          <a:prstGeom prst="roundRect">
            <a:avLst/>
          </a:prstGeom>
          <a:solidFill>
            <a:srgbClr val="F3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183879" y="4974336"/>
            <a:ext cx="329184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83879" y="5093208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0">
                <a:solidFill>
                  <a:srgbClr val="B23924"/>
                </a:solidFill>
                <a:latin typeface="Cambria"/>
              </a:rPr>
              <a:t>TAKAOKAYA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83879" y="545896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 spc="100">
                <a:solidFill>
                  <a:srgbClr val="2A221E"/>
                </a:solidFill>
                <a:latin typeface="Calibri"/>
              </a:rPr>
              <a:t>ВИРОБНИЦТВО · Японія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643360" y="64922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E6760"/>
                </a:solidFill>
                <a:latin typeface="Calibri"/>
              </a:rPr>
              <a:t>15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275320" y="832103"/>
            <a:ext cx="3200400" cy="2206826"/>
          </a:xfrm>
          <a:prstGeom prst="roundRect">
            <a:avLst>
              <a:gd name="adj" fmla="val 4000"/>
            </a:avLst>
          </a:prstGeom>
          <a:solidFill>
            <a:srgbClr val="C97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229600" y="777240"/>
            <a:ext cx="3200400" cy="220682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takaokaya_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472" y="896112"/>
            <a:ext cx="2962656" cy="1969082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8229600" y="3075506"/>
            <a:ext cx="3200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B23924"/>
                </a:solidFill>
                <a:latin typeface="Calibri"/>
              </a:rPr>
              <a:t>FURIKAKE · 7 СМАКІВ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229600" y="3313250"/>
            <a:ext cx="1572768" cy="34747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348472" y="3445838"/>
            <a:ext cx="82296" cy="82296"/>
          </a:xfrm>
          <a:prstGeom prst="ellipse">
            <a:avLst/>
          </a:prstGeom>
          <a:solidFill>
            <a:srgbClr val="1E5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03920" y="3313250"/>
            <a:ext cx="122529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2A221E"/>
                </a:solidFill>
                <a:latin typeface="Calibri"/>
              </a:rPr>
              <a:t>Nori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857232" y="3313250"/>
            <a:ext cx="1572768" cy="34747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9976104" y="3445838"/>
            <a:ext cx="82296" cy="82296"/>
          </a:xfrm>
          <a:prstGeom prst="ellipse">
            <a:avLst/>
          </a:prstGeom>
          <a:solidFill>
            <a:srgbClr val="74A8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131552" y="3313250"/>
            <a:ext cx="122529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2A221E"/>
                </a:solidFill>
                <a:latin typeface="Calibri"/>
              </a:rPr>
              <a:t>Nori Wasabi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229600" y="3715586"/>
            <a:ext cx="1572768" cy="34747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348472" y="3848174"/>
            <a:ext cx="82296" cy="82296"/>
          </a:xfrm>
          <a:prstGeom prst="ellipse">
            <a:avLst/>
          </a:prstGeom>
          <a:solidFill>
            <a:srgbClr val="C99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503920" y="3715586"/>
            <a:ext cx="122529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2A221E"/>
                </a:solidFill>
                <a:latin typeface="Calibri"/>
              </a:rPr>
              <a:t>Yuzu Kosho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857232" y="3715586"/>
            <a:ext cx="1572768" cy="34747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976104" y="3848174"/>
            <a:ext cx="82296" cy="82296"/>
          </a:xfrm>
          <a:prstGeom prst="ellipse">
            <a:avLst/>
          </a:prstGeom>
          <a:solidFill>
            <a:srgbClr val="A845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131552" y="3715586"/>
            <a:ext cx="122529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2A221E"/>
                </a:solidFill>
                <a:latin typeface="Calibri"/>
              </a:rPr>
              <a:t>Nori Katsuo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229600" y="4117922"/>
            <a:ext cx="1572768" cy="34747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348472" y="4250510"/>
            <a:ext cx="82296" cy="82296"/>
          </a:xfrm>
          <a:prstGeom prst="ellipse">
            <a:avLst/>
          </a:prstGeom>
          <a:solidFill>
            <a:srgbClr val="E0A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503920" y="4117922"/>
            <a:ext cx="122529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2A221E"/>
                </a:solidFill>
                <a:latin typeface="Calibri"/>
              </a:rPr>
              <a:t>Nori Tamago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857232" y="4117922"/>
            <a:ext cx="1572768" cy="34747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976104" y="4250510"/>
            <a:ext cx="82296" cy="82296"/>
          </a:xfrm>
          <a:prstGeom prst="ellipse">
            <a:avLst/>
          </a:prstGeom>
          <a:solidFill>
            <a:srgbClr val="C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131552" y="4117922"/>
            <a:ext cx="1225295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2A221E"/>
                </a:solidFill>
                <a:latin typeface="Calibri"/>
              </a:rPr>
              <a:t>Curry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229600" y="4520258"/>
            <a:ext cx="3200400" cy="34747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8348472" y="4652846"/>
            <a:ext cx="82296" cy="82296"/>
          </a:xfrm>
          <a:prstGeom prst="ellipse">
            <a:avLst/>
          </a:prstGeom>
          <a:solidFill>
            <a:srgbClr val="B0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503920" y="4520258"/>
            <a:ext cx="283464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2A221E"/>
                </a:solidFill>
                <a:latin typeface="Calibri"/>
              </a:rPr>
              <a:t>Garlic Chili Oil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183879" y="6108192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 i="0">
                <a:solidFill>
                  <a:srgbClr val="8A817A"/>
                </a:solidFill>
                <a:latin typeface="Calibri"/>
              </a:rPr>
              <a:t>Візуалізація фасовки fresh-lock · фото постачальника відсутні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B23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 spc="100">
                <a:solidFill>
                  <a:srgbClr val="B23924"/>
                </a:solidFill>
                <a:latin typeface="Calibri"/>
              </a:rPr>
              <a:t>TAKAOKAYA · FURIKAKE ·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7589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A221E"/>
                </a:solidFill>
                <a:latin typeface="Cambria"/>
              </a:rPr>
              <a:t>Fresh-lock пляшки — собівартість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75320" y="502920"/>
            <a:ext cx="3383280" cy="457200"/>
          </a:xfrm>
          <a:prstGeom prst="roundRect">
            <a:avLst/>
          </a:prstGeom>
          <a:solidFill>
            <a:srgbClr val="FDE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62179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B23924"/>
                </a:solidFill>
                <a:latin typeface="Calibri"/>
              </a:rPr>
              <a:t>Збірний вантаж 17 м³ · один сценарій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9281160" cy="457200"/>
          </a:xfrm>
          <a:prstGeom prst="rect">
            <a:avLst/>
          </a:prstGeom>
          <a:solidFill>
            <a:srgbClr val="B23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380744"/>
            <a:ext cx="222199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Продукт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07791" y="1380744"/>
            <a:ext cx="5760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Пак.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1" y="1380744"/>
            <a:ext cx="10789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Ціна закупки,</a:t>
            </a:r>
          </a:p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$/од.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82312" y="1380744"/>
            <a:ext cx="103327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С/С,</a:t>
            </a:r>
          </a:p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€/од.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25312" y="1380744"/>
            <a:ext cx="117043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С/С,</a:t>
            </a:r>
          </a:p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₴/од.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5471" y="1380744"/>
            <a:ext cx="103327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Питома</a:t>
            </a:r>
          </a:p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₴/г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8471" y="1380744"/>
            <a:ext cx="139903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Примітка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1883664"/>
            <a:ext cx="22219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A221E"/>
                </a:solidFill>
                <a:latin typeface="Calibri"/>
              </a:rPr>
              <a:t>Nori Furikake Bottle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7791" y="1883664"/>
            <a:ext cx="5760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2A221E"/>
                </a:solidFill>
                <a:latin typeface="Calibri"/>
              </a:rPr>
              <a:t>50 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3591" y="1883664"/>
            <a:ext cx="1078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B23924"/>
                </a:solidFill>
                <a:latin typeface="Calibri"/>
              </a:rPr>
              <a:t>$1,28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82312" y="1883664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B23924"/>
                </a:solidFill>
                <a:latin typeface="Calibri"/>
              </a:rPr>
              <a:t>€1,91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25312" y="1883664"/>
            <a:ext cx="11704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B23924"/>
                </a:solidFill>
                <a:latin typeface="Calibri"/>
              </a:rPr>
              <a:t>86,02 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5471" y="1883664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B23924"/>
                </a:solidFill>
                <a:latin typeface="Calibri"/>
              </a:rPr>
              <a:t>1,72 ₴/г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1" y="1883664"/>
            <a:ext cx="13990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E6760"/>
                </a:solidFill>
                <a:latin typeface="Calibri"/>
              </a:rPr>
              <a:t/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02920" y="2240280"/>
            <a:ext cx="9281160" cy="0"/>
          </a:xfrm>
          <a:prstGeom prst="line">
            <a:avLst/>
          </a:prstGeom>
          <a:ln w="6350">
            <a:solidFill>
              <a:srgbClr val="D8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02920" y="2240280"/>
            <a:ext cx="9281160" cy="457200"/>
          </a:xfrm>
          <a:prstGeom prst="rect">
            <a:avLst/>
          </a:prstGeom>
          <a:solidFill>
            <a:srgbClr val="F3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" y="2340864"/>
            <a:ext cx="22219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A221E"/>
                </a:solidFill>
                <a:latin typeface="Calibri"/>
              </a:rPr>
              <a:t>Nori Wasabi Furikake Bottle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07791" y="2340864"/>
            <a:ext cx="5760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2A221E"/>
                </a:solidFill>
                <a:latin typeface="Calibri"/>
              </a:rPr>
              <a:t>50 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93591" y="2340864"/>
            <a:ext cx="1078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B23924"/>
                </a:solidFill>
                <a:latin typeface="Calibri"/>
              </a:rPr>
              <a:t>$1,28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82312" y="2340864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B23924"/>
                </a:solidFill>
                <a:latin typeface="Calibri"/>
              </a:rPr>
              <a:t>€1,91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25312" y="2340864"/>
            <a:ext cx="11704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B23924"/>
                </a:solidFill>
                <a:latin typeface="Calibri"/>
              </a:rPr>
              <a:t>86,02 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05471" y="2340864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B23924"/>
                </a:solidFill>
                <a:latin typeface="Calibri"/>
              </a:rPr>
              <a:t>1,72 ₴/г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48471" y="2340864"/>
            <a:ext cx="13990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E6760"/>
                </a:solidFill>
                <a:latin typeface="Calibri"/>
              </a:rPr>
              <a:t>= ціна поз.1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02920" y="2697480"/>
            <a:ext cx="9281160" cy="0"/>
          </a:xfrm>
          <a:prstGeom prst="line">
            <a:avLst/>
          </a:prstGeom>
          <a:ln w="6350">
            <a:solidFill>
              <a:srgbClr val="D8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76072" y="2798064"/>
            <a:ext cx="22219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A221E"/>
                </a:solidFill>
                <a:latin typeface="Calibri"/>
              </a:rPr>
              <a:t>Yuzu Kosho Furikake Bottle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07791" y="2798064"/>
            <a:ext cx="5760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2A221E"/>
                </a:solidFill>
                <a:latin typeface="Calibri"/>
              </a:rPr>
              <a:t>50 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93591" y="2798064"/>
            <a:ext cx="1078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B23924"/>
                </a:solidFill>
                <a:latin typeface="Calibri"/>
              </a:rPr>
              <a:t>$1,34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82312" y="2798064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B23924"/>
                </a:solidFill>
                <a:latin typeface="Calibri"/>
              </a:rPr>
              <a:t>€2,01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25312" y="2798064"/>
            <a:ext cx="11704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B23924"/>
                </a:solidFill>
                <a:latin typeface="Calibri"/>
              </a:rPr>
              <a:t>90,46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05471" y="2798064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B23924"/>
                </a:solidFill>
                <a:latin typeface="Calibri"/>
              </a:rPr>
              <a:t>1,81 ₴/г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48471" y="2798064"/>
            <a:ext cx="13990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E6760"/>
                </a:solidFill>
                <a:latin typeface="Calibri"/>
              </a:rPr>
              <a:t/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02920" y="3154680"/>
            <a:ext cx="9281160" cy="0"/>
          </a:xfrm>
          <a:prstGeom prst="line">
            <a:avLst/>
          </a:prstGeom>
          <a:ln w="6350">
            <a:solidFill>
              <a:srgbClr val="D8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502920" y="3154680"/>
            <a:ext cx="9281160" cy="457200"/>
          </a:xfrm>
          <a:prstGeom prst="rect">
            <a:avLst/>
          </a:prstGeom>
          <a:solidFill>
            <a:srgbClr val="F3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6072" y="3255264"/>
            <a:ext cx="22219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A221E"/>
                </a:solidFill>
                <a:latin typeface="Calibri"/>
              </a:rPr>
              <a:t>Nori Katsuo Furikake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07791" y="3255264"/>
            <a:ext cx="5760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2A221E"/>
                </a:solidFill>
                <a:latin typeface="Calibri"/>
              </a:rPr>
              <a:t>45 г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93591" y="3255264"/>
            <a:ext cx="1078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B23924"/>
                </a:solidFill>
                <a:latin typeface="Calibri"/>
              </a:rPr>
              <a:t>$1,42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82312" y="3255264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B23924"/>
                </a:solidFill>
                <a:latin typeface="Calibri"/>
              </a:rPr>
              <a:t>€2,12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25312" y="3255264"/>
            <a:ext cx="11704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B23924"/>
                </a:solidFill>
                <a:latin typeface="Calibri"/>
              </a:rPr>
              <a:t>95,31 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05471" y="3255264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B23924"/>
                </a:solidFill>
                <a:latin typeface="Calibri"/>
              </a:rPr>
              <a:t>2,12 ₴/г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48471" y="3255264"/>
            <a:ext cx="13990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E6760"/>
                </a:solidFill>
                <a:latin typeface="Calibri"/>
              </a:rPr>
              <a:t/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02920" y="3611880"/>
            <a:ext cx="9281160" cy="0"/>
          </a:xfrm>
          <a:prstGeom prst="line">
            <a:avLst/>
          </a:prstGeom>
          <a:ln w="6350">
            <a:solidFill>
              <a:srgbClr val="D8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76072" y="3712464"/>
            <a:ext cx="22219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A221E"/>
                </a:solidFill>
                <a:latin typeface="Calibri"/>
              </a:rPr>
              <a:t>Nori Tamago Furikake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907791" y="3712464"/>
            <a:ext cx="5760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2A221E"/>
                </a:solidFill>
                <a:latin typeface="Calibri"/>
              </a:rPr>
              <a:t>60 г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93591" y="3712464"/>
            <a:ext cx="1078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B23924"/>
                </a:solidFill>
                <a:latin typeface="Calibri"/>
              </a:rPr>
              <a:t>$1,42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82312" y="3712464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B23924"/>
                </a:solidFill>
                <a:latin typeface="Calibri"/>
              </a:rPr>
              <a:t>€2,12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25312" y="3712464"/>
            <a:ext cx="11704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B23924"/>
                </a:solidFill>
                <a:latin typeface="Calibri"/>
              </a:rPr>
              <a:t>95,31 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05471" y="3712464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B23924"/>
                </a:solidFill>
                <a:latin typeface="Calibri"/>
              </a:rPr>
              <a:t>1,59 ₴/г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48471" y="3712464"/>
            <a:ext cx="13990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E6760"/>
                </a:solidFill>
                <a:latin typeface="Calibri"/>
              </a:rPr>
              <a:t>= ціна поз.4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02920" y="4069080"/>
            <a:ext cx="9281160" cy="0"/>
          </a:xfrm>
          <a:prstGeom prst="line">
            <a:avLst/>
          </a:prstGeom>
          <a:ln w="6350">
            <a:solidFill>
              <a:srgbClr val="D8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502920" y="4069080"/>
            <a:ext cx="9281160" cy="457200"/>
          </a:xfrm>
          <a:prstGeom prst="rect">
            <a:avLst/>
          </a:prstGeom>
          <a:solidFill>
            <a:srgbClr val="F3E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76072" y="4169664"/>
            <a:ext cx="22219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A221E"/>
                </a:solidFill>
                <a:latin typeface="Calibri"/>
              </a:rPr>
              <a:t>Curry Furikake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907791" y="4169664"/>
            <a:ext cx="5760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2A221E"/>
                </a:solidFill>
                <a:latin typeface="Calibri"/>
              </a:rPr>
              <a:t>45 г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593591" y="4169664"/>
            <a:ext cx="1078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B23924"/>
                </a:solidFill>
                <a:latin typeface="Calibri"/>
              </a:rPr>
              <a:t>$1,06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782312" y="4169664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B23924"/>
                </a:solidFill>
                <a:latin typeface="Calibri"/>
              </a:rPr>
              <a:t>€1,59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25312" y="4169664"/>
            <a:ext cx="11704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B23924"/>
                </a:solidFill>
                <a:latin typeface="Calibri"/>
              </a:rPr>
              <a:t>71,48 ₴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205471" y="4169664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B23924"/>
                </a:solidFill>
                <a:latin typeface="Calibri"/>
              </a:rPr>
              <a:t>1,59 ₴/г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48471" y="4169664"/>
            <a:ext cx="13990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E6760"/>
                </a:solidFill>
                <a:latin typeface="Calibri"/>
              </a:rPr>
              <a:t/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502920" y="4526280"/>
            <a:ext cx="9281160" cy="0"/>
          </a:xfrm>
          <a:prstGeom prst="line">
            <a:avLst/>
          </a:prstGeom>
          <a:ln w="6350">
            <a:solidFill>
              <a:srgbClr val="D8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576072" y="4626864"/>
            <a:ext cx="222199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A221E"/>
                </a:solidFill>
                <a:latin typeface="Calibri"/>
              </a:rPr>
              <a:t>Garlic Chili Oil Furikake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907791" y="4626864"/>
            <a:ext cx="5760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2A221E"/>
                </a:solidFill>
                <a:latin typeface="Calibri"/>
              </a:rPr>
              <a:t>45 г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593591" y="4626864"/>
            <a:ext cx="1078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B23924"/>
                </a:solidFill>
                <a:latin typeface="Calibri"/>
              </a:rPr>
              <a:t>$1,06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82312" y="4626864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B23924"/>
                </a:solidFill>
                <a:latin typeface="Calibri"/>
              </a:rPr>
              <a:t>€1,59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925312" y="4626864"/>
            <a:ext cx="11704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B23924"/>
                </a:solidFill>
                <a:latin typeface="Calibri"/>
              </a:rPr>
              <a:t>71,48 ₴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205471" y="4626864"/>
            <a:ext cx="10332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B23924"/>
                </a:solidFill>
                <a:latin typeface="Calibri"/>
              </a:rPr>
              <a:t>1,59 ₴/г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348471" y="4626864"/>
            <a:ext cx="139903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1">
                <a:solidFill>
                  <a:srgbClr val="6E6760"/>
                </a:solidFill>
                <a:latin typeface="Calibri"/>
              </a:rPr>
              <a:t>= ціна поз.6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502920" y="4983480"/>
            <a:ext cx="9281160" cy="0"/>
          </a:xfrm>
          <a:prstGeom prst="line">
            <a:avLst/>
          </a:prstGeom>
          <a:ln w="6350">
            <a:solidFill>
              <a:srgbClr val="D8D2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/>
          <p:cNvSpPr/>
          <p:nvPr/>
        </p:nvSpPr>
        <p:spPr>
          <a:xfrm>
            <a:off x="502920" y="5166360"/>
            <a:ext cx="11201400" cy="777240"/>
          </a:xfrm>
          <a:prstGeom prst="roundRect">
            <a:avLst/>
          </a:prstGeom>
          <a:solidFill>
            <a:srgbClr val="FDE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85800" y="5239512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1">
                <a:solidFill>
                  <a:srgbClr val="B23924"/>
                </a:solidFill>
                <a:latin typeface="Calibri"/>
              </a:rPr>
              <a:t>⚠ 4 з 7 позицій мають попарно ідентичну закупівельну ціну незалежно від смаку й ваги (45 г vs 60 г) — типово для непроробленого прайсу постачальника; варто запросити поартикульну котирувку. Питома собівартість Takaokaya (≈ ₴1,6–2,1/г) у 1,4–2,1 раза вища за Mishima (≈ ₴0,99–1,8/г) — очікувана премія «Made in Japan», але потребує підтвердження в роздрібній ціні.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1643360" y="64922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E6760"/>
                </a:solidFill>
                <a:latin typeface="Calibri"/>
              </a:rPr>
              <a:t>16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0104120" y="1380744"/>
            <a:ext cx="1645920" cy="2088231"/>
          </a:xfrm>
          <a:prstGeom prst="roundRect">
            <a:avLst>
              <a:gd name="adj" fmla="val 4000"/>
            </a:avLst>
          </a:prstGeom>
          <a:solidFill>
            <a:srgbClr val="C975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10058400" y="1325880"/>
            <a:ext cx="1645920" cy="208823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0" name="Picture 79" descr="takaokaya_bott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272" y="1444752"/>
            <a:ext cx="1408176" cy="1850487"/>
          </a:xfrm>
          <a:prstGeom prst="rect">
            <a:avLst/>
          </a:prstGeom>
        </p:spPr>
      </p:pic>
      <p:sp>
        <p:nvSpPr>
          <p:cNvPr id="81" name="Rounded Rectangle 80"/>
          <p:cNvSpPr/>
          <p:nvPr/>
        </p:nvSpPr>
        <p:spPr>
          <a:xfrm>
            <a:off x="10058400" y="3560415"/>
            <a:ext cx="1645920" cy="841248"/>
          </a:xfrm>
          <a:prstGeom prst="roundRect">
            <a:avLst>
              <a:gd name="adj" fmla="val 12000"/>
            </a:avLst>
          </a:prstGeom>
          <a:solidFill>
            <a:srgbClr val="FDE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149840" y="3670143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 i="0">
                <a:solidFill>
                  <a:srgbClr val="B23924"/>
                </a:solidFill>
                <a:latin typeface="Cambria"/>
              </a:rPr>
              <a:t>FRESH-LOCK</a:t>
            </a:r>
          </a:p>
          <a:p>
            <a:pPr algn="ctr"/>
            <a:r>
              <a:rPr sz="800" b="0" i="0">
                <a:solidFill>
                  <a:srgbClr val="6E6760"/>
                </a:solidFill>
                <a:latin typeface="Calibri"/>
              </a:rPr>
              <a:t>скляна пляшка</a:t>
            </a:r>
          </a:p>
          <a:p>
            <a:pPr algn="ctr"/>
            <a:r>
              <a:rPr sz="800" b="0" i="0">
                <a:solidFill>
                  <a:srgbClr val="6E6760"/>
                </a:solidFill>
                <a:latin typeface="Calibri"/>
              </a:rPr>
              <a:t>45–60 г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058400" y="4474815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8A817A"/>
                </a:solidFill>
                <a:latin typeface="Calibri"/>
              </a:rPr>
              <a:t>Візуалізація фасовки — фото постачальника відсутні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Офіс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486</Words>
  <Application>Microsoft Office PowerPoint</Application>
  <PresentationFormat>Широкий екран</PresentationFormat>
  <Paragraphs>132</Paragraphs>
  <Slides>3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Cambria</vt:lpstr>
      <vt:lpstr>Тема Office</vt:lpstr>
      <vt:lpstr>Презентація PowerPoint</vt:lpstr>
      <vt:lpstr>Презентація PowerPoint</vt:lpstr>
      <vt:lpstr>Презентація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Чаплигін lлля</dc:creator>
  <cp:lastModifiedBy>Чаплигін lлля</cp:lastModifiedBy>
  <cp:revision>1</cp:revision>
  <dcterms:created xsi:type="dcterms:W3CDTF">2026-08-10T10:19:31Z</dcterms:created>
  <dcterms:modified xsi:type="dcterms:W3CDTF">2026-08-10T10:44:25Z</dcterms:modified>
</cp:coreProperties>
</file>