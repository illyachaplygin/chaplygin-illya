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6.png"/><Relationship Id="rId4" Type="http://schemas.openxmlformats.org/officeDocument/2006/relationships/image" Target="../media/image4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60704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87168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688336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5760" y="3749039"/>
            <a:ext cx="1533143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постачальники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5207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045207" y="3749039"/>
            <a:ext cx="1533143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45207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8360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SKU у каталозі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24656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724656" y="3749039"/>
            <a:ext cx="1533143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724656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7808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сценарії доставки</a:t>
            </a:r>
          </a:p>
        </p:txBody>
      </p:sp>
      <p:sp>
        <p:nvSpPr>
          <p:cNvPr id="24" name="Rounded Rectangle 23"/>
          <p:cNvSpPr/>
          <p:nvPr/>
        </p:nvSpPr>
        <p:spPr>
          <a:xfrm rot="21060000">
            <a:off x="5436108" y="603503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 rot="21060000">
            <a:off x="5404104" y="557783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060000">
            <a:off x="5495544" y="674315"/>
            <a:ext cx="987552" cy="124826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 rot="420000">
            <a:off x="6606540" y="397763"/>
            <a:ext cx="786384" cy="1417320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 rot="420000">
            <a:off x="6574536" y="352043"/>
            <a:ext cx="786384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tmk_roll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0000">
            <a:off x="6763350" y="443483"/>
            <a:ext cx="408754" cy="123444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 rot="600000">
            <a:off x="7438644" y="704088"/>
            <a:ext cx="1188720" cy="1517904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 rot="600000">
            <a:off x="7406640" y="658368"/>
            <a:ext cx="1188720" cy="15179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7498079" y="812848"/>
            <a:ext cx="1005840" cy="120894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 rot="360000">
            <a:off x="5207508" y="2551175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 rot="360000">
            <a:off x="5175504" y="2505456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zek_tempura_corn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0000">
            <a:off x="5266944" y="2603217"/>
            <a:ext cx="987552" cy="1285805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 rot="21240000">
            <a:off x="6313932" y="2432303"/>
            <a:ext cx="1243584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 rot="21240000">
            <a:off x="6281928" y="2386584"/>
            <a:ext cx="1243584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tmk_sw_ori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240000">
            <a:off x="6405266" y="2478024"/>
            <a:ext cx="996906" cy="1298448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 rot="20940000">
            <a:off x="7584948" y="2761488"/>
            <a:ext cx="1078992" cy="1371600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 rot="20940000">
            <a:off x="7552944" y="2715768"/>
            <a:ext cx="107899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zek_topping_veg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940000">
            <a:off x="7652861" y="2807208"/>
            <a:ext cx="879157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566928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sing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632" y="713232"/>
            <a:ext cx="1513975" cy="8046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06440" y="1847088"/>
            <a:ext cx="2880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lant_sing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946" y="1920240"/>
            <a:ext cx="2239346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9592" y="3419856"/>
            <a:ext cx="2734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Виробничий майданчик · singhakameda.co.th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13632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D0B8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148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створення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спільного підприємства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AB5F15"/>
                </a:solidFill>
                <a:latin typeface="Cambria"/>
              </a:rPr>
              <a:t>50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Kameda Seika (Японія)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Singha (Таїланд)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контрактне виробництво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для інших брендів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СЕРТИФІКАТИ ВИРОБНИЦТВА</a:t>
            </a:r>
          </a:p>
        </p:txBody>
      </p:sp>
      <p:pic>
        <p:nvPicPr>
          <p:cNvPr id="32" name="Picture 31" descr="cert_hac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89382" cy="237744"/>
          </a:xfrm>
          <a:prstGeom prst="rect">
            <a:avLst/>
          </a:prstGeom>
        </p:spPr>
      </p:pic>
      <p:pic>
        <p:nvPicPr>
          <p:cNvPr id="33" name="Picture 32" descr="cert_b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22" y="4626864"/>
            <a:ext cx="159692" cy="237744"/>
          </a:xfrm>
          <a:prstGeom prst="rect">
            <a:avLst/>
          </a:prstGeom>
        </p:spPr>
      </p:pic>
      <p:pic>
        <p:nvPicPr>
          <p:cNvPr id="34" name="Picture 33" descr="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594" y="4626864"/>
            <a:ext cx="424904" cy="237744"/>
          </a:xfrm>
          <a:prstGeom prst="rect">
            <a:avLst/>
          </a:prstGeom>
        </p:spPr>
      </p:pic>
      <p:pic>
        <p:nvPicPr>
          <p:cNvPr id="35" name="Picture 34" descr="cert_ns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8378" y="4626864"/>
            <a:ext cx="726895" cy="237744"/>
          </a:xfrm>
          <a:prstGeom prst="rect">
            <a:avLst/>
          </a:prstGeom>
        </p:spPr>
      </p:pic>
      <p:pic>
        <p:nvPicPr>
          <p:cNvPr id="36" name="Picture 35" descr="cert_organi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8153" y="4626864"/>
            <a:ext cx="299764" cy="237744"/>
          </a:xfrm>
          <a:prstGeom prst="rect">
            <a:avLst/>
          </a:prstGeom>
        </p:spPr>
      </p:pic>
      <p:pic>
        <p:nvPicPr>
          <p:cNvPr id="37" name="Picture 36" descr="cert_se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0798" y="4626864"/>
            <a:ext cx="236537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466636" y="530352"/>
            <a:ext cx="2311603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66636" y="530352"/>
            <a:ext cx="23116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тільки рітейл-фасовку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63" y="1243584"/>
            <a:ext cx="904272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10" y="1243584"/>
            <a:ext cx="867578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рітейл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830214" y="530352"/>
            <a:ext cx="2948025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830214" y="530352"/>
            <a:ext cx="294802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рітейл-фасовку разом із BULK 3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60" y="1225295"/>
            <a:ext cx="7957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845" y="1225295"/>
            <a:ext cx="763468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746" y="1662379"/>
            <a:ext cx="334218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продукт у форматі 3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67" y="1662379"/>
            <a:ext cx="320656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3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hainichi.png"/>
          <p:cNvPicPr>
            <a:picLocks noChangeAspect="1"/>
          </p:cNvPicPr>
          <p:nvPr/>
        </p:nvPicPr>
        <p:blipFill>
          <a:blip r:embed="rId2"/>
          <a:srcRect t="10606" b="10606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6C9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mizu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88" y="2688336"/>
            <a:ext cx="1607262" cy="8412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0D1D3"/>
                </a:solidFill>
                <a:latin typeface="Calibri"/>
              </a:rPr>
              <a:t>Продукція Mizuho · thai-nichi.com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BBCED0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1991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на експортному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ринку 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20+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форм і смаків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рисових крекерів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власний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бренд Mizuho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ПОЗНАЧКИ ЯКОСТІ НА УПАКОВЦІ</a:t>
            </a:r>
          </a:p>
        </p:txBody>
      </p:sp>
      <p:pic>
        <p:nvPicPr>
          <p:cNvPr id="32" name="Picture 31" descr="tn_mark_glut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38912" cy="237744"/>
          </a:xfrm>
          <a:prstGeom prst="rect">
            <a:avLst/>
          </a:prstGeom>
        </p:spPr>
      </p:pic>
      <p:pic>
        <p:nvPicPr>
          <p:cNvPr id="33" name="Picture 32" descr="tn_mark_cholester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626864"/>
            <a:ext cx="690250" cy="237744"/>
          </a:xfrm>
          <a:prstGeom prst="rect">
            <a:avLst/>
          </a:prstGeom>
        </p:spPr>
      </p:pic>
      <p:pic>
        <p:nvPicPr>
          <p:cNvPr id="34" name="Picture 33" descr="tn_mark_organ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0682" y="4626864"/>
            <a:ext cx="551854" cy="237744"/>
          </a:xfrm>
          <a:prstGeom prst="rect">
            <a:avLst/>
          </a:prstGeom>
        </p:spPr>
      </p:pic>
      <p:pic>
        <p:nvPicPr>
          <p:cNvPr id="35" name="Picture 34" descr="tn_mark_gm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5416" y="4626864"/>
            <a:ext cx="386250" cy="237744"/>
          </a:xfrm>
          <a:prstGeom prst="rect">
            <a:avLst/>
          </a:prstGeom>
        </p:spPr>
      </p:pic>
      <p:pic>
        <p:nvPicPr>
          <p:cNvPr id="36" name="Picture 35" descr="tn_mark_veg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4547" y="4626864"/>
            <a:ext cx="569014" cy="23774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466636" y="530352"/>
            <a:ext cx="2311603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66636" y="530352"/>
            <a:ext cx="23116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тільки рітейл-фасовку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1243584"/>
            <a:ext cx="950976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$0,799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35,95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46,53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59,08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0" y="1243584"/>
            <a:ext cx="939699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44,94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53,36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58,17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$1,641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73,84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рітейл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724144" y="530352"/>
            <a:ext cx="3054096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724144" y="530352"/>
            <a:ext cx="3054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рітейл-фасовку разом із BULK 2,5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10" y="1225295"/>
            <a:ext cx="83685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34,95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50,65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112" y="1225295"/>
            <a:ext cx="826935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43,69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63,31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115" y="1662379"/>
            <a:ext cx="351480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50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у форматі 2,5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$25,178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1133,03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$29,893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1345,20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$30,981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1394,15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$36,769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1654,60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039" y="1662379"/>
            <a:ext cx="347312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55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2,5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$30,842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1387,89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$36,604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1647,18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$37,936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1707,12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$45,023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2026,04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mk.png"/>
          <p:cNvPicPr>
            <a:picLocks noChangeAspect="1"/>
          </p:cNvPicPr>
          <p:nvPr/>
        </p:nvPicPr>
        <p:blipFill>
          <a:blip r:embed="rId2"/>
          <a:srcRect t="8919" b="8919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78A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kok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59" y="2870200"/>
            <a:ext cx="1493520" cy="47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5DAC9"/>
                </a:solidFill>
                <a:latin typeface="Calibri"/>
              </a:rPr>
              <a:t>Фабрика TMK · kokiriseaweed.com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1D7C5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Виробляє снеки з водорості, яку завозить із Кореї, і має фабрики в Кореї та Таїланді. Працює як OEM для інших брендів у 13+ країнах. «Кокірі» — «слон» корейською, символ довіри в Таїланді.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602736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2011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7705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компанії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602736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13+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387705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602736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63C"/>
                </a:solidFill>
                <a:latin typeface="Cambria"/>
              </a:rPr>
              <a:t>$10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387705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за шість років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26110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СЕРТИФІКАТИ ВИРОБНИЦТВА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tmk_cert_g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783" y="4462272"/>
            <a:ext cx="372992" cy="40233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65760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GMP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9096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cert_hacc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3282" y="4462272"/>
            <a:ext cx="372666" cy="40233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149096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HACCP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32432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tmk_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6459" y="4462272"/>
            <a:ext cx="372985" cy="40233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932432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Halal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15768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tmk_cert_iso22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3949" y="4462272"/>
            <a:ext cx="284677" cy="4023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715768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ISO 22000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9103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tmk_cert_fssc22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5201" y="4462272"/>
            <a:ext cx="268844" cy="40233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499103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FSSC 22000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2440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tmk_cert_co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6674" y="4462272"/>
            <a:ext cx="272570" cy="40233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282440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CODEX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ROLL та Wow DOUBLE ROLL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210" y="1225295"/>
            <a:ext cx="3330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150" y="1225295"/>
            <a:ext cx="344859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55775"/>
            <a:ext cx="497840" cy="9448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2045" y="1225295"/>
            <a:ext cx="566428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DOUBLE ROLL та Wow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665" y="1225295"/>
            <a:ext cx="56642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874" y="1225295"/>
            <a:ext cx="7722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295" y="1225295"/>
            <a:ext cx="777649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SEAWEED та Wow MINI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836" y="1225295"/>
            <a:ext cx="756087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46,89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1974" y="1225295"/>
            <a:ext cx="19000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094" y="1225295"/>
            <a:ext cx="190005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5646420" y="155447"/>
            <a:ext cx="3200400" cy="3200400"/>
          </a:xfrm>
          <a:prstGeom prst="ellipse">
            <a:avLst/>
          </a:prstGeom>
          <a:noFill/>
          <a:ln w="17780">
            <a:solidFill>
              <a:srgbClr val="F4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 rot="21300000">
            <a:off x="6089904" y="553212"/>
            <a:ext cx="2331720" cy="1325880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 rot="21300000">
            <a:off x="6057900" y="507492"/>
            <a:ext cx="233172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zek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00000">
            <a:off x="6158251" y="598932"/>
            <a:ext cx="2131016" cy="1143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 rot="21060000">
            <a:off x="5911596" y="1581912"/>
            <a:ext cx="1060704" cy="1389888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 rot="21060000">
            <a:off x="5879592" y="1536192"/>
            <a:ext cx="1060704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zek_tempura_corn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60000">
            <a:off x="5971031" y="1659666"/>
            <a:ext cx="877824" cy="114293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 rot="600000">
            <a:off x="7594092" y="1673352"/>
            <a:ext cx="1024128" cy="1353312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 rot="600000">
            <a:off x="7562088" y="1627632"/>
            <a:ext cx="1024128" cy="13533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zek_topping_veg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7653527" y="1735556"/>
            <a:ext cx="841248" cy="113746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989320" y="3054096"/>
            <a:ext cx="251460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17336" y="3145536"/>
            <a:ext cx="225856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 i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3840480"/>
            <a:ext cx="2880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 i="1">
                <a:solidFill>
                  <a:srgbClr val="F0D8D3"/>
                </a:solidFill>
                <a:latin typeface="Calibri"/>
              </a:rPr>
              <a:t>Асортимент ZEK · власне паковання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4114800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C4BD"/>
                </a:solidFill>
                <a:latin typeface="Calibri"/>
              </a:rPr>
              <a:t>ВИРОБНИЦТВО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315968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Китай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HanJin (Shanghai)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Food Co., Ltd.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ZEK — «Zesty Especial Kingdom», власний бренд Hanjin Food. Компанія заснована 2002 року у Вейхаї, головний офіс із 2014-го — у Шанхаї. Партнери групи — тайська Singha Group і корейська SPC Group.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909" y="1225295"/>
            <a:ext cx="76734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156" y="1225295"/>
            <a:ext cx="772526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404" y="1225295"/>
            <a:ext cx="777711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 та Sandwich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01" y="1225295"/>
            <a:ext cx="762157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849" y="1225295"/>
            <a:ext cx="74914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25,98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29,96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31,74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048" y="1225295"/>
            <a:ext cx="734422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22,35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26,56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30,63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32,44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250" y="1225295"/>
            <a:ext cx="7452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048" y="1225295"/>
            <a:ext cx="743902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003" y="1225295"/>
            <a:ext cx="736233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28,84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34,27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39,52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502" y="1225295"/>
            <a:ext cx="694755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59,66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70,90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81,77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86,61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29" y="1225295"/>
            <a:ext cx="699940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60,93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72,41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83,51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88,45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149" y="1225295"/>
            <a:ext cx="69994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62,20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73,91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85,25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90,30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