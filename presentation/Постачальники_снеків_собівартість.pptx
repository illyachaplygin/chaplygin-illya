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5.png"/><Relationship Id="rId4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2286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286000" y="0"/>
            <a:ext cx="2286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0"/>
            <a:ext cx="2286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0" y="0"/>
            <a:ext cx="2286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5760" y="78638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C9A24E"/>
                </a:solidFill>
                <a:latin typeface="Calibri"/>
              </a:rPr>
              <a:t>КАТАЛОГ ПОСТАЧАЛЬНИКІВ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78992"/>
            <a:ext cx="7680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33472"/>
            <a:ext cx="1005840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760" y="2852928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Продукти чотирьох постачальників, короткі описи та собівартість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одиниці товару в доларах і гривні — за всіма сценаріями доставки.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78638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8A938D"/>
                </a:solidFill>
                <a:latin typeface="Calibri"/>
              </a:rPr>
              <a:t>4 постачальники · 28 SKU · 4 сценарії доставки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46" y="3730752"/>
            <a:ext cx="800618" cy="104241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84831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579" y="3584448"/>
            <a:ext cx="824696" cy="1042415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3803904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8354" y="3730752"/>
            <a:ext cx="867290" cy="104241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522976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tmk_rol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2" y="3633216"/>
            <a:ext cx="548640" cy="9448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242048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zek_topping_veg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4667" y="3730752"/>
            <a:ext cx="770953" cy="10424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65760" y="676656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67665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mbr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76656"/>
            <a:ext cx="4297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8A938D"/>
                </a:solidFill>
                <a:latin typeface="Calibri"/>
              </a:rPr>
              <a:t>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859536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A35C15"/>
                </a:solidFill>
                <a:latin typeface="Calibri"/>
              </a:rPr>
              <a:t>ARARE NORIMAKI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14241F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14241F"/>
                </a:solidFill>
                <a:latin typeface="Cambria"/>
              </a:rPr>
              <a:t>(Thailand) Co., Ltd.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68880"/>
            <a:ext cx="1005840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5760" y="2688336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44524C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584448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МАРШРУТ ПОСТАЧАННЯ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8953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76656" y="3945635"/>
            <a:ext cx="91440" cy="27432"/>
          </a:xfrm>
          <a:prstGeom prst="rect">
            <a:avLst/>
          </a:prstGeom>
          <a:solidFill>
            <a:srgbClr val="DE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59536" y="3945635"/>
            <a:ext cx="91440" cy="27432"/>
          </a:xfrm>
          <a:prstGeom prst="rect">
            <a:avLst/>
          </a:prstGeom>
          <a:solidFill>
            <a:srgbClr val="DE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042416" y="3945635"/>
            <a:ext cx="91440" cy="27432"/>
          </a:xfrm>
          <a:prstGeom prst="rect">
            <a:avLst/>
          </a:prstGeom>
          <a:solidFill>
            <a:srgbClr val="DE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225296" y="3945635"/>
            <a:ext cx="91440" cy="27432"/>
          </a:xfrm>
          <a:prstGeom prst="rect">
            <a:avLst/>
          </a:prstGeom>
          <a:solidFill>
            <a:srgbClr val="DE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408176" y="3945635"/>
            <a:ext cx="91440" cy="27432"/>
          </a:xfrm>
          <a:prstGeom prst="rect">
            <a:avLst/>
          </a:prstGeom>
          <a:solidFill>
            <a:srgbClr val="DE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591056" y="3945635"/>
            <a:ext cx="91440" cy="27432"/>
          </a:xfrm>
          <a:prstGeom prst="rect">
            <a:avLst/>
          </a:prstGeom>
          <a:solidFill>
            <a:srgbClr val="DE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773936" y="3945635"/>
            <a:ext cx="91440" cy="27432"/>
          </a:xfrm>
          <a:prstGeom prst="rect">
            <a:avLst/>
          </a:prstGeom>
          <a:solidFill>
            <a:srgbClr val="DE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956816" y="3945635"/>
            <a:ext cx="91440" cy="27432"/>
          </a:xfrm>
          <a:prstGeom prst="rect">
            <a:avLst/>
          </a:prstGeom>
          <a:solidFill>
            <a:srgbClr val="DE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2139696" y="3945635"/>
            <a:ext cx="91440" cy="27432"/>
          </a:xfrm>
          <a:prstGeom prst="rect">
            <a:avLst/>
          </a:prstGeom>
          <a:solidFill>
            <a:srgbClr val="DE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322576" y="3945635"/>
            <a:ext cx="91440" cy="27432"/>
          </a:xfrm>
          <a:prstGeom prst="rect">
            <a:avLst/>
          </a:prstGeom>
          <a:solidFill>
            <a:srgbClr val="DE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2505456" y="3945635"/>
            <a:ext cx="91440" cy="27432"/>
          </a:xfrm>
          <a:prstGeom prst="rect">
            <a:avLst/>
          </a:prstGeom>
          <a:solidFill>
            <a:srgbClr val="DE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2670048" y="38953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2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5760" y="411480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FOB Bangkok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11480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Україна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79" y="3584448"/>
            <a:ext cx="8229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383279" y="3712463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A35C15"/>
                </a:solidFill>
                <a:latin typeface="Cambria"/>
              </a:rPr>
              <a:t>Таїланд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79" y="4078224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3584448"/>
            <a:ext cx="8229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315968" y="3712463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A35C15"/>
                </a:solidFill>
                <a:latin typeface="Cambria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5968" y="4078224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Позицій із с/в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40680" y="768096"/>
            <a:ext cx="1604771" cy="19974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065" y="964184"/>
            <a:ext cx="1270000" cy="1605280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7173468" y="768096"/>
            <a:ext cx="1604771" cy="19974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5773" y="923543"/>
            <a:ext cx="1280160" cy="168656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440680" y="2893568"/>
            <a:ext cx="3337559" cy="1824736"/>
          </a:xfrm>
          <a:prstGeom prst="roundRect">
            <a:avLst>
              <a:gd name="adj" fmla="val 6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696712" y="3113024"/>
            <a:ext cx="28254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SINGHA</a:t>
            </a:r>
          </a:p>
          <a:p>
            <a:pPr algn="l">
              <a:lnSpc>
                <a:spcPct val="106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KAMEDA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96712" y="4187952"/>
            <a:ext cx="54864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696712" y="4315968"/>
            <a:ext cx="28254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F4E7DC"/>
                </a:solidFill>
                <a:latin typeface="Calibri"/>
              </a:rPr>
              <a:t>Виробництво · Таїланд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Arare Norimaki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4050791" cy="1554480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459736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610" y="1243584"/>
            <a:ext cx="969379" cy="12252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281635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Original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419856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1363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" y="4078224"/>
            <a:ext cx="1012697" cy="7315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4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$1,035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46,59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7602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387602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387602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7602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$1,298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7602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58,40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00300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400300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400300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00300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00300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57,66 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12998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3412998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12998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2998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12998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81,28 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718303" y="1124712"/>
            <a:ext cx="4050791" cy="1554480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718303" y="2459736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678" y="1243584"/>
            <a:ext cx="930043" cy="122529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983479" y="281635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79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Wasabi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9" y="3419856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83479" y="391363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18303" y="4078224"/>
            <a:ext cx="1012697" cy="7315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718303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18303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$1,035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18303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46,59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31001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731001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731001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31001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31001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58,40 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43699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743699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743699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43699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43699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57,66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56397" y="4078224"/>
            <a:ext cx="1012697" cy="731520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7756397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756397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56397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$1,806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56397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35C15"/>
                </a:solidFill>
                <a:latin typeface="Calibri"/>
              </a:rPr>
              <a:t>81,28 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«SINGHA KAMEDA - Retail».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65760" y="676656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67665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mbria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76656"/>
            <a:ext cx="4297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8A938D"/>
                </a:solidFill>
                <a:latin typeface="Calibri"/>
              </a:rPr>
              <a:t>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859536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1C565C"/>
                </a:solidFill>
                <a:latin typeface="Calibri"/>
              </a:rPr>
              <a:t>MIZUHO · NORIMAKI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14241F"/>
                </a:solidFill>
                <a:latin typeface="Cambria"/>
              </a:rPr>
              <a:t>Thai-Nichi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14241F"/>
                </a:solidFill>
                <a:latin typeface="Cambria"/>
              </a:rPr>
              <a:t>Industries Co., Ltd.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68880"/>
            <a:ext cx="1005840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5760" y="2688336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44524C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584448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МАРШРУТ ПОСТАЧАННЯ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8953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76656" y="3945635"/>
            <a:ext cx="91440" cy="27432"/>
          </a:xfrm>
          <a:prstGeom prst="rect">
            <a:avLst/>
          </a:prstGeom>
          <a:solidFill>
            <a:srgbClr val="A2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59536" y="3945635"/>
            <a:ext cx="91440" cy="27432"/>
          </a:xfrm>
          <a:prstGeom prst="rect">
            <a:avLst/>
          </a:prstGeom>
          <a:solidFill>
            <a:srgbClr val="A2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042416" y="3945635"/>
            <a:ext cx="91440" cy="27432"/>
          </a:xfrm>
          <a:prstGeom prst="rect">
            <a:avLst/>
          </a:prstGeom>
          <a:solidFill>
            <a:srgbClr val="A2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225296" y="3945635"/>
            <a:ext cx="91440" cy="27432"/>
          </a:xfrm>
          <a:prstGeom prst="rect">
            <a:avLst/>
          </a:prstGeom>
          <a:solidFill>
            <a:srgbClr val="A2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408176" y="3945635"/>
            <a:ext cx="91440" cy="27432"/>
          </a:xfrm>
          <a:prstGeom prst="rect">
            <a:avLst/>
          </a:prstGeom>
          <a:solidFill>
            <a:srgbClr val="A2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591056" y="3945635"/>
            <a:ext cx="91440" cy="27432"/>
          </a:xfrm>
          <a:prstGeom prst="rect">
            <a:avLst/>
          </a:prstGeom>
          <a:solidFill>
            <a:srgbClr val="A2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773936" y="3945635"/>
            <a:ext cx="91440" cy="27432"/>
          </a:xfrm>
          <a:prstGeom prst="rect">
            <a:avLst/>
          </a:prstGeom>
          <a:solidFill>
            <a:srgbClr val="A2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956816" y="3945635"/>
            <a:ext cx="91440" cy="27432"/>
          </a:xfrm>
          <a:prstGeom prst="rect">
            <a:avLst/>
          </a:prstGeom>
          <a:solidFill>
            <a:srgbClr val="A2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2139696" y="3945635"/>
            <a:ext cx="91440" cy="27432"/>
          </a:xfrm>
          <a:prstGeom prst="rect">
            <a:avLst/>
          </a:prstGeom>
          <a:solidFill>
            <a:srgbClr val="A2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322576" y="3945635"/>
            <a:ext cx="91440" cy="27432"/>
          </a:xfrm>
          <a:prstGeom prst="rect">
            <a:avLst/>
          </a:prstGeom>
          <a:solidFill>
            <a:srgbClr val="A2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2505456" y="3945635"/>
            <a:ext cx="91440" cy="27432"/>
          </a:xfrm>
          <a:prstGeom prst="rect">
            <a:avLst/>
          </a:prstGeom>
          <a:solidFill>
            <a:srgbClr val="A2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2670048" y="38953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2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5760" y="411480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FOB Bangkok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11480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Україна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79" y="3584448"/>
            <a:ext cx="8229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383279" y="3712463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C565C"/>
                </a:solidFill>
                <a:latin typeface="Cambria"/>
              </a:rPr>
              <a:t>Таїланд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79" y="4078224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3584448"/>
            <a:ext cx="8229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315968" y="3712463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C565C"/>
                </a:solidFill>
                <a:latin typeface="Cambria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5968" y="4078224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Позицій із с/в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40680" y="768096"/>
            <a:ext cx="1604771" cy="195143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696" y="933270"/>
            <a:ext cx="1348739" cy="1621081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7173468" y="768096"/>
            <a:ext cx="1604771" cy="195143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483" y="923544"/>
            <a:ext cx="1348739" cy="1640534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440680" y="2847542"/>
            <a:ext cx="3337559" cy="1870761"/>
          </a:xfrm>
          <a:prstGeom prst="roundRect">
            <a:avLst>
              <a:gd name="adj" fmla="val 6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696712" y="3066998"/>
            <a:ext cx="28254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THAI</a:t>
            </a:r>
          </a:p>
          <a:p>
            <a:pPr algn="l">
              <a:lnSpc>
                <a:spcPct val="106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NICHI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96712" y="4187952"/>
            <a:ext cx="54864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696712" y="4315968"/>
            <a:ext cx="28254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DE6E8"/>
                </a:solidFill>
                <a:latin typeface="Calibri"/>
              </a:rPr>
              <a:t>Виробництво · Таїланд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Mizuho · Norimaki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4050791" cy="1554480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459736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576" y="1243584"/>
            <a:ext cx="1019446" cy="12252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281635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Original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419856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1363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" y="4078224"/>
            <a:ext cx="1012697" cy="7315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4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$0,794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35,74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7602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387602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387602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7602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$1,034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7602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46,53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00300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400300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400300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00300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$0,973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00300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43,80 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12998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3412998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12998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2998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$1,453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12998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65,39 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718303" y="1124712"/>
            <a:ext cx="4050791" cy="1554480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718303" y="2459736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021" y="1243584"/>
            <a:ext cx="1007357" cy="122529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983479" y="281635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79" y="2999232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Wasabi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9" y="3419856"/>
            <a:ext cx="30632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83479" y="3913632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18303" y="4078224"/>
            <a:ext cx="1012697" cy="7315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718303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18303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$0,993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18303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44,67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31001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731001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731001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31001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31001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58,17 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43699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743699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743699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43699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$1,217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43699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54,75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56397" y="4078224"/>
            <a:ext cx="1012697" cy="731520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7756397" y="4187952"/>
            <a:ext cx="9144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756397" y="4169663"/>
            <a:ext cx="1012697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56397" y="4343400"/>
            <a:ext cx="101269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4241F"/>
                </a:solidFill>
                <a:latin typeface="Cambria"/>
              </a:rPr>
              <a:t>$1,817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56397" y="4608576"/>
            <a:ext cx="10126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C565C"/>
                </a:solidFill>
                <a:latin typeface="Calibri"/>
              </a:rPr>
              <a:t>81,74 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«Thai-Nichi - Retail».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65760" y="676656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67665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76656"/>
            <a:ext cx="4297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8A938D"/>
                </a:solidFill>
                <a:latin typeface="Calibri"/>
              </a:rPr>
              <a:t>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859536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2C713B"/>
                </a:solidFill>
                <a:latin typeface="Calibri"/>
              </a:rPr>
              <a:t>KOKIRI WOW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14241F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14241F"/>
                </a:solidFill>
                <a:latin typeface="Cambria"/>
              </a:rPr>
              <a:t>Co., Ltd.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68880"/>
            <a:ext cx="1005840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5760" y="2688336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44524C"/>
                </a:solidFill>
                <a:latin typeface="Calibri"/>
              </a:rPr>
              <a:t>Тайський виробник снеків із водоростей під брендом KOKIRI Wow. Найнижча собівартість одиниці в каталозі — за рахунок мінімальної фасовки та дитячого позиціонування.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584448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МАРШРУТ ПОСТАЧАННЯ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8953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76656" y="3945635"/>
            <a:ext cx="91440" cy="27432"/>
          </a:xfrm>
          <a:prstGeom prst="rect">
            <a:avLst/>
          </a:prstGeom>
          <a:solidFill>
            <a:srgbClr val="A9C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59536" y="3945635"/>
            <a:ext cx="91440" cy="27432"/>
          </a:xfrm>
          <a:prstGeom prst="rect">
            <a:avLst/>
          </a:prstGeom>
          <a:solidFill>
            <a:srgbClr val="A9C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042416" y="3945635"/>
            <a:ext cx="91440" cy="27432"/>
          </a:xfrm>
          <a:prstGeom prst="rect">
            <a:avLst/>
          </a:prstGeom>
          <a:solidFill>
            <a:srgbClr val="A9C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225296" y="3945635"/>
            <a:ext cx="91440" cy="27432"/>
          </a:xfrm>
          <a:prstGeom prst="rect">
            <a:avLst/>
          </a:prstGeom>
          <a:solidFill>
            <a:srgbClr val="A9C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408176" y="3945635"/>
            <a:ext cx="91440" cy="27432"/>
          </a:xfrm>
          <a:prstGeom prst="rect">
            <a:avLst/>
          </a:prstGeom>
          <a:solidFill>
            <a:srgbClr val="A9C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591056" y="3945635"/>
            <a:ext cx="91440" cy="27432"/>
          </a:xfrm>
          <a:prstGeom prst="rect">
            <a:avLst/>
          </a:prstGeom>
          <a:solidFill>
            <a:srgbClr val="A9C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773936" y="3945635"/>
            <a:ext cx="91440" cy="27432"/>
          </a:xfrm>
          <a:prstGeom prst="rect">
            <a:avLst/>
          </a:prstGeom>
          <a:solidFill>
            <a:srgbClr val="A9C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956816" y="3945635"/>
            <a:ext cx="91440" cy="27432"/>
          </a:xfrm>
          <a:prstGeom prst="rect">
            <a:avLst/>
          </a:prstGeom>
          <a:solidFill>
            <a:srgbClr val="A9C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2139696" y="3945635"/>
            <a:ext cx="91440" cy="27432"/>
          </a:xfrm>
          <a:prstGeom prst="rect">
            <a:avLst/>
          </a:prstGeom>
          <a:solidFill>
            <a:srgbClr val="A9C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322576" y="3945635"/>
            <a:ext cx="91440" cy="27432"/>
          </a:xfrm>
          <a:prstGeom prst="rect">
            <a:avLst/>
          </a:prstGeom>
          <a:solidFill>
            <a:srgbClr val="A9C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2505456" y="3945635"/>
            <a:ext cx="91440" cy="27432"/>
          </a:xfrm>
          <a:prstGeom prst="rect">
            <a:avLst/>
          </a:prstGeom>
          <a:solidFill>
            <a:srgbClr val="A9C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2670048" y="38953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2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5760" y="411480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FOB Bangkok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11480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Україна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79" y="3584448"/>
            <a:ext cx="8229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383279" y="3712463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C713B"/>
                </a:solidFill>
                <a:latin typeface="Cambria"/>
              </a:rPr>
              <a:t>Таїланд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79" y="4078224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3584448"/>
            <a:ext cx="8229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315968" y="3712463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C713B"/>
                </a:solidFill>
                <a:latin typeface="Cambria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5968" y="4078224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Позицій із с/в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40680" y="768096"/>
            <a:ext cx="1604771" cy="1255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8746" y="923544"/>
            <a:ext cx="548640" cy="944880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7173468" y="768096"/>
            <a:ext cx="1604771" cy="1255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613" y="923544"/>
            <a:ext cx="538480" cy="94488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440680" y="2151888"/>
            <a:ext cx="3337559" cy="2566416"/>
          </a:xfrm>
          <a:prstGeom prst="roundRect">
            <a:avLst>
              <a:gd name="adj" fmla="val 6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696712" y="2371344"/>
            <a:ext cx="28254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KOKIRI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96712" y="4187952"/>
            <a:ext cx="54864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696712" y="4315968"/>
            <a:ext cx="28254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E0EBE2"/>
                </a:solidFill>
                <a:latin typeface="Calibri"/>
              </a:rPr>
              <a:t>Виробництво · Таїланд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1947672" cy="12374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24332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" y="1271016"/>
            <a:ext cx="548640" cy="944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4810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481072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68224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139440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350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329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50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329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50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329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10,59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50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$0,345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329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15,55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374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4332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340" y="1271016"/>
            <a:ext cx="538480" cy="94488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810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81072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8224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39440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4261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2234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213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4261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2234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1213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4261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234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1213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10,59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264261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2234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$0,345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1213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15,55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4672584" y="1124712"/>
            <a:ext cx="1947672" cy="12374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4672584" y="224332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0" y="1271016"/>
            <a:ext cx="497840" cy="94488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809744" y="24810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4992624" y="2481072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268224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 Squid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139440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79145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7118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$0,169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6097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7,61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79145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7118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6097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79145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7118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$0,235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6097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10,59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79145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7118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$0,345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6097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15,55 ₴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821424" y="1124712"/>
            <a:ext cx="1947672" cy="12374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6821424" y="224332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6" name="Picture 85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3780" y="1326896"/>
            <a:ext cx="822960" cy="833120"/>
          </a:xfrm>
          <a:prstGeom prst="rect">
            <a:avLst/>
          </a:prstGeom>
        </p:spPr>
      </p:pic>
      <p:sp>
        <p:nvSpPr>
          <p:cNvPr id="87" name="Rounded Rectangle 86"/>
          <p:cNvSpPr/>
          <p:nvPr/>
        </p:nvSpPr>
        <p:spPr>
          <a:xfrm>
            <a:off x="6958584" y="24810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7141464" y="2481072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268224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58584" y="3139440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4029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2002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$0,303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0981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13,66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4029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2002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0981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94029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52002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$0,420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0981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18,92 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94029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2002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0981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27,78 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080" y="1271016"/>
            <a:ext cx="863600" cy="8432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037839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136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$0,303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603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13,66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136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603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136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$0,420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603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18,92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136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603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27,78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2760" y="1337055"/>
            <a:ext cx="538480" cy="71120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037839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5889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648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0115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27,90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5889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9648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0115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5889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9648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0115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38,97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35889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9648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$1,272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0115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57,22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610514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10514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880" y="1331976"/>
            <a:ext cx="538480" cy="72136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624230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2518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037839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22401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6160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6627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27,90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22401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160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627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22401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6160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$0,866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627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38,97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2401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6160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$1,272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6627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57,22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KOKIRI Wow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322576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560" y="1427479"/>
            <a:ext cx="548640" cy="711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Squid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136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603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28,52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136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603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40,33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136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$0,866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603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39,84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136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$1,272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603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58,50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322576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264920"/>
            <a:ext cx="640080" cy="10363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5889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648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0115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28,10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5889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9648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0115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5889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9648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0115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38,71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35889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9648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$1,263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0115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56,84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610514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105144" y="2322576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7080" y="1270000"/>
            <a:ext cx="640080" cy="102616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624230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2518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22401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6160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6627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28,10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22401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160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627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22401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6160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$0,860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627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38,71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2401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6160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$1,263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6627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56,84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наведено за 1 пакетик (inner pack), а не за коробку: Wow ROLL — 2,5 г, Double Roll — 5 г.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65760" y="676656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67665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mbria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76656"/>
            <a:ext cx="4297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8A938D"/>
                </a:solidFill>
                <a:latin typeface="Calibri"/>
              </a:rPr>
              <a:t>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859536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A23822"/>
                </a:solidFill>
                <a:latin typeface="Calibri"/>
              </a:rPr>
              <a:t>ZEK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14241F"/>
                </a:solidFill>
                <a:latin typeface="Cambria"/>
              </a:rPr>
              <a:t>HanJin Food Co. Ltd</a:t>
            </a:r>
          </a:p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14241F"/>
                </a:solidFill>
                <a:latin typeface="Cambria"/>
              </a:rPr>
              <a:t>бренд ZEK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68880"/>
            <a:ext cx="1005840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5760" y="2688336"/>
            <a:ext cx="4709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050" b="0" i="0">
                <a:solidFill>
                  <a:srgbClr val="44524C"/>
                </a:solidFill>
                <a:latin typeface="Calibri"/>
              </a:rPr>
              <a:t>Найбільший за глибиною розрахунку постачальник: 14 позицій у трьох напрямках — темпура, сендвіч і присипка з норі. Єдиний постачальник з відвантаженням із Циндао.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584448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8A938D"/>
                </a:solidFill>
                <a:latin typeface="Calibri"/>
              </a:rPr>
              <a:t>МАРШРУТ ПОСТАЧАННЯ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8953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76656" y="3945635"/>
            <a:ext cx="91440" cy="27432"/>
          </a:xfrm>
          <a:prstGeom prst="rect">
            <a:avLst/>
          </a:prstGeom>
          <a:solidFill>
            <a:srgbClr val="DDA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59536" y="3945635"/>
            <a:ext cx="91440" cy="27432"/>
          </a:xfrm>
          <a:prstGeom prst="rect">
            <a:avLst/>
          </a:prstGeom>
          <a:solidFill>
            <a:srgbClr val="DDA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042416" y="3945635"/>
            <a:ext cx="91440" cy="27432"/>
          </a:xfrm>
          <a:prstGeom prst="rect">
            <a:avLst/>
          </a:prstGeom>
          <a:solidFill>
            <a:srgbClr val="DDA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225296" y="3945635"/>
            <a:ext cx="91440" cy="27432"/>
          </a:xfrm>
          <a:prstGeom prst="rect">
            <a:avLst/>
          </a:prstGeom>
          <a:solidFill>
            <a:srgbClr val="DDA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408176" y="3945635"/>
            <a:ext cx="91440" cy="27432"/>
          </a:xfrm>
          <a:prstGeom prst="rect">
            <a:avLst/>
          </a:prstGeom>
          <a:solidFill>
            <a:srgbClr val="DDA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591056" y="3945635"/>
            <a:ext cx="91440" cy="27432"/>
          </a:xfrm>
          <a:prstGeom prst="rect">
            <a:avLst/>
          </a:prstGeom>
          <a:solidFill>
            <a:srgbClr val="DDA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773936" y="3945635"/>
            <a:ext cx="91440" cy="27432"/>
          </a:xfrm>
          <a:prstGeom prst="rect">
            <a:avLst/>
          </a:prstGeom>
          <a:solidFill>
            <a:srgbClr val="DDA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956816" y="3945635"/>
            <a:ext cx="91440" cy="27432"/>
          </a:xfrm>
          <a:prstGeom prst="rect">
            <a:avLst/>
          </a:prstGeom>
          <a:solidFill>
            <a:srgbClr val="DDA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2139696" y="3945635"/>
            <a:ext cx="91440" cy="27432"/>
          </a:xfrm>
          <a:prstGeom prst="rect">
            <a:avLst/>
          </a:prstGeom>
          <a:solidFill>
            <a:srgbClr val="DDA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322576" y="3945635"/>
            <a:ext cx="91440" cy="27432"/>
          </a:xfrm>
          <a:prstGeom prst="rect">
            <a:avLst/>
          </a:prstGeom>
          <a:solidFill>
            <a:srgbClr val="DDA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2505456" y="3945635"/>
            <a:ext cx="91440" cy="27432"/>
          </a:xfrm>
          <a:prstGeom prst="rect">
            <a:avLst/>
          </a:prstGeom>
          <a:solidFill>
            <a:srgbClr val="DDA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2670048" y="389534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2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5760" y="411480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FOB Qingdao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11480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Україна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79" y="3584448"/>
            <a:ext cx="8229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383279" y="3712463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A23822"/>
                </a:solidFill>
                <a:latin typeface="Cambria"/>
              </a:rPr>
              <a:t>Китай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79" y="4078224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3584448"/>
            <a:ext cx="8229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315968" y="3712463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A23822"/>
                </a:solidFill>
                <a:latin typeface="Cambria"/>
              </a:rPr>
              <a:t>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5968" y="4078224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Позицій із с/в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40680" y="768096"/>
            <a:ext cx="1604771" cy="207883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696" y="929476"/>
            <a:ext cx="1348739" cy="1756077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7173468" y="768096"/>
            <a:ext cx="1604771" cy="207883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483" y="923543"/>
            <a:ext cx="1348739" cy="1767942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440680" y="2974950"/>
            <a:ext cx="3337559" cy="1743353"/>
          </a:xfrm>
          <a:prstGeom prst="roundRect">
            <a:avLst>
              <a:gd name="adj" fmla="val 6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696712" y="3194406"/>
            <a:ext cx="28254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ZEK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96712" y="4187952"/>
            <a:ext cx="548640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696712" y="4315968"/>
            <a:ext cx="28254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F3E1DE"/>
                </a:solidFill>
                <a:latin typeface="Calibri"/>
              </a:rPr>
              <a:t>Виробництво · Китай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338" y="1225295"/>
            <a:ext cx="856802" cy="11155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350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329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50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329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39,54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50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$0,947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329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42,60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50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329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64,94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054" y="1225295"/>
            <a:ext cx="851051" cy="111556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4261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2234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213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4261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2234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1213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39,54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4261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234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$0,947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1213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42,60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264261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2234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1213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64,94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467258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467258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8018" y="1225295"/>
            <a:ext cx="856802" cy="1115568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80974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499262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Crawfish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79145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7118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$0,667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6097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30,04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79145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7118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$0,879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6097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39,54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79145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7118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$0,947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6097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42,60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79145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7118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$1,443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6097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64,94 ₴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82142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682142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6" name="Picture 85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3983" y="1225295"/>
            <a:ext cx="862552" cy="1115568"/>
          </a:xfrm>
          <a:prstGeom prst="rect">
            <a:avLst/>
          </a:prstGeom>
        </p:spPr>
      </p:pic>
      <p:sp>
        <p:nvSpPr>
          <p:cNvPr id="87" name="Rounded Rectangle 86"/>
          <p:cNvSpPr/>
          <p:nvPr/>
        </p:nvSpPr>
        <p:spPr>
          <a:xfrm>
            <a:off x="695858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714146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 · 50 г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5858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4029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2002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0981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4029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2002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$1,328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0981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59,77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94029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52002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$1,431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0981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64,40 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94029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2002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$2,181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0981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98,16 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338" y="1225295"/>
            <a:ext cx="856802" cy="11155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 · 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350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329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50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329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59,77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50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329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64,40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50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$2,181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329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98,16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929" y="1225295"/>
            <a:ext cx="845301" cy="111556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· 50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4261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2234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$1,009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213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45,40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6090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64261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2234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1213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59,77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6090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4261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234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$1,431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1213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64,40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6090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264261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2234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$2,181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1213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98,16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467258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467258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987" y="1225295"/>
            <a:ext cx="830865" cy="1115568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80974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499262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Meat Floss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974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6344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79145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7118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$0,481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6097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21,65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0974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79145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7118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6097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28,51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80974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79145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7118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6097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30,71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79145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7118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$1,040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6097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46,81 ₴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821424" y="1124712"/>
            <a:ext cx="194767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6821424" y="2322576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6" name="Picture 85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989" y="1225295"/>
            <a:ext cx="814541" cy="1115568"/>
          </a:xfrm>
          <a:prstGeom prst="rect">
            <a:avLst/>
          </a:prstGeom>
        </p:spPr>
      </p:pic>
      <p:sp>
        <p:nvSpPr>
          <p:cNvPr id="87" name="Rounded Rectangle 86"/>
          <p:cNvSpPr/>
          <p:nvPr/>
        </p:nvSpPr>
        <p:spPr>
          <a:xfrm>
            <a:off x="695858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7141464" y="2560320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2761487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58584" y="3218687"/>
            <a:ext cx="167335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58584" y="3822191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812280" y="4005072"/>
            <a:ext cx="196596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940296" y="4005072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20025" y="4005072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$0,481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09813" y="4005072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22,14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8584" y="4169663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940296" y="4169663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20025" y="4169663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$0,633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09813" y="4169663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29,14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958584" y="4334256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940296" y="4334256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520025" y="4334256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$0,682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09813" y="4334256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31,40 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958584" y="4498848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940296" y="4498848"/>
            <a:ext cx="5797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20025" y="4498848"/>
            <a:ext cx="589787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$1,040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09813" y="4498848"/>
            <a:ext cx="54041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47,85 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99" y="1225295"/>
            <a:ext cx="826560" cy="11155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Floss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136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603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27,94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136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603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36,78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136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603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39,63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136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603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60,41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472" y="1225295"/>
            <a:ext cx="825055" cy="111556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5889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648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0115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27,94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5889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9648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0115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36,78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5889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9648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$0,881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0115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39,63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35889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9648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0115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60,41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610514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10514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8845" y="1225295"/>
            <a:ext cx="816549" cy="1115568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624230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2518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22401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6160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$0,621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6627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28,56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22401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160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627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37,60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22401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6160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$0,881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627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40,51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2401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6160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$1,342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6627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61,75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93776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38D"/>
                </a:solidFill>
                <a:latin typeface="Calibri"/>
              </a:rPr>
              <a:t>ZEK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490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7490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606" y="1225295"/>
            <a:ext cx="770546" cy="11155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1206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377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136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603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59,10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9377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136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$1,655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603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77,79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377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136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$1,783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603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83,82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377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136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$2,718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603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127,76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851" y="1225295"/>
            <a:ext cx="776297" cy="111556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5889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648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0115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60,35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7718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5889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9648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$1,655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0115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79,45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7718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5889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9648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0115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85,60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7718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35889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9648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$2,718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0115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130,48 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6105144" y="1124712"/>
            <a:ext cx="2663952" cy="1316736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105144" y="2322576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971" y="1225295"/>
            <a:ext cx="776297" cy="1115568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6242304" y="25603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25184" y="2560320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2761487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218687"/>
            <a:ext cx="238963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42304" y="3822191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8A938D"/>
                </a:solidFill>
                <a:latin typeface="Calibri"/>
              </a:rPr>
              <a:t>СОБІВАРТІСТЬ ЗА ОДИНИЦЮ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96000" y="4005072"/>
            <a:ext cx="2682240" cy="1645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224016" y="4005072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61606" y="4005072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$1,257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66278" y="4005072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61,61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2304" y="4169663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224016" y="4169663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1606" y="4169663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$1,655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6278" y="4169663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81,10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42304" y="4334256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224016" y="4334256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61606" y="4334256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$1,783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6278" y="4334256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87,38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42304" y="4498848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24016" y="4498848"/>
            <a:ext cx="83759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61606" y="4498848"/>
            <a:ext cx="8046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$2,718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866278" y="4498848"/>
            <a:ext cx="783945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1" i="0">
                <a:solidFill>
                  <a:srgbClr val="44524C"/>
                </a:solidFill>
                <a:latin typeface="Calibri"/>
              </a:rPr>
              <a:t>133,19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за одиницю товару. Джерело: SelfCost.xlsx, вкладка «ZEK -Retail».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