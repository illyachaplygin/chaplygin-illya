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5.png"/><Relationship Id="rId4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6.png"/><Relationship Id="rId4" Type="http://schemas.openxmlformats.org/officeDocument/2006/relationships/image" Target="../media/image4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2286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286000" y="0"/>
            <a:ext cx="2286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0"/>
            <a:ext cx="2286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0" y="0"/>
            <a:ext cx="2286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5760" y="786384"/>
            <a:ext cx="4892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C9A24E"/>
                </a:solidFill>
                <a:latin typeface="Calibri"/>
              </a:rPr>
              <a:t>КАТАЛОГ ПОСТАЧАЛЬНИКІВ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60704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4241F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4241F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87168"/>
            <a:ext cx="1005840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760" y="2688336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Продукти чотирьох постачальників, короткі описи та собівартість</a:t>
            </a:r>
          </a:p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одиниці товару в доларах і гривні — за всіма сценаріями доставки.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749039"/>
            <a:ext cx="1533143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65760" y="3749039"/>
            <a:ext cx="1533143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5760" y="3895344"/>
            <a:ext cx="15331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224527"/>
            <a:ext cx="1386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80" b="0" i="0">
                <a:solidFill>
                  <a:srgbClr val="8A938D"/>
                </a:solidFill>
                <a:latin typeface="Calibri"/>
              </a:rPr>
              <a:t>постачальники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5207" y="3749039"/>
            <a:ext cx="1533143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045207" y="3749039"/>
            <a:ext cx="1533143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45207" y="3895344"/>
            <a:ext cx="15331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8360" y="4224527"/>
            <a:ext cx="1386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80" b="0" i="0">
                <a:solidFill>
                  <a:srgbClr val="8A938D"/>
                </a:solidFill>
                <a:latin typeface="Calibri"/>
              </a:rPr>
              <a:t>SKU у каталозі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24656" y="3749039"/>
            <a:ext cx="1533143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724656" y="3749039"/>
            <a:ext cx="1533143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724656" y="3895344"/>
            <a:ext cx="15331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7808" y="4224527"/>
            <a:ext cx="1386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80" b="0" i="0">
                <a:solidFill>
                  <a:srgbClr val="8A938D"/>
                </a:solidFill>
                <a:latin typeface="Calibri"/>
              </a:rPr>
              <a:t>сценарії доставки</a:t>
            </a:r>
          </a:p>
        </p:txBody>
      </p:sp>
      <p:sp>
        <p:nvSpPr>
          <p:cNvPr id="24" name="Rounded Rectangle 23"/>
          <p:cNvSpPr/>
          <p:nvPr/>
        </p:nvSpPr>
        <p:spPr>
          <a:xfrm rot="21060000">
            <a:off x="5436108" y="603503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 rot="21060000">
            <a:off x="5404104" y="557783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060000">
            <a:off x="5495544" y="674315"/>
            <a:ext cx="987552" cy="124826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 rot="420000">
            <a:off x="6606540" y="397763"/>
            <a:ext cx="786384" cy="1417320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 rot="420000">
            <a:off x="6574536" y="352043"/>
            <a:ext cx="786384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tmk_roll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420000">
            <a:off x="6763350" y="443483"/>
            <a:ext cx="408754" cy="123444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 rot="600000">
            <a:off x="7438644" y="704088"/>
            <a:ext cx="1188720" cy="1517904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 rot="600000">
            <a:off x="7406640" y="658368"/>
            <a:ext cx="1188720" cy="15179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0">
            <a:off x="7498079" y="812848"/>
            <a:ext cx="1005840" cy="120894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 rot="360000">
            <a:off x="5207508" y="2551175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 rot="360000">
            <a:off x="5175504" y="2505456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zek_tempura_corn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60000">
            <a:off x="5266944" y="2603217"/>
            <a:ext cx="987552" cy="1285805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 rot="21240000">
            <a:off x="6313932" y="2432303"/>
            <a:ext cx="1243584" cy="1481328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 rot="21240000">
            <a:off x="6281928" y="2386584"/>
            <a:ext cx="1243584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tmk_sw_ori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240000">
            <a:off x="6405266" y="2478024"/>
            <a:ext cx="996906" cy="1298448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 rot="20940000">
            <a:off x="7584948" y="2761488"/>
            <a:ext cx="1078992" cy="1371600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 rot="20940000">
            <a:off x="7552944" y="2715768"/>
            <a:ext cx="1078992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zek_topping_veg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940000">
            <a:off x="7652861" y="2807208"/>
            <a:ext cx="879157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566928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logo_sing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632" y="713232"/>
            <a:ext cx="1513975" cy="8046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06440" y="1847088"/>
            <a:ext cx="28803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lant_sing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946" y="1920240"/>
            <a:ext cx="2239346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9592" y="3419856"/>
            <a:ext cx="27340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Виробничий майданчик · singhakameda.co.th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13632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D0B8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14800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35C15"/>
                </a:solidFill>
                <a:latin typeface="Calibri"/>
              </a:rPr>
              <a:t>ПРОФІЛЬ ПОСТАЧАЛЬНИКА ·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(Thailand)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35C15"/>
                </a:solidFill>
                <a:latin typeface="Calibri"/>
              </a:rPr>
              <a:t>Рисові крекери арарe в норі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B5F15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створення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спільного підприємства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AB5F15"/>
                </a:solidFill>
                <a:latin typeface="Cambria"/>
              </a:rPr>
              <a:t>50 / 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Kameda Seika (Японія)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та Singha (Таїланд)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контрактне виробництво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для інших брендів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СЕРТИФІКАТИ ВИРОБНИЦТВА</a:t>
            </a:r>
          </a:p>
        </p:txBody>
      </p:sp>
      <p:pic>
        <p:nvPicPr>
          <p:cNvPr id="32" name="Picture 31" descr="cert_hacc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626864"/>
            <a:ext cx="489382" cy="237744"/>
          </a:xfrm>
          <a:prstGeom prst="rect">
            <a:avLst/>
          </a:prstGeom>
        </p:spPr>
      </p:pic>
      <p:pic>
        <p:nvPicPr>
          <p:cNvPr id="33" name="Picture 32" descr="cert_br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022" y="4626864"/>
            <a:ext cx="159692" cy="237744"/>
          </a:xfrm>
          <a:prstGeom prst="rect">
            <a:avLst/>
          </a:prstGeom>
        </p:spPr>
      </p:pic>
      <p:pic>
        <p:nvPicPr>
          <p:cNvPr id="34" name="Picture 33" descr="cert_hal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594" y="4626864"/>
            <a:ext cx="424904" cy="237744"/>
          </a:xfrm>
          <a:prstGeom prst="rect">
            <a:avLst/>
          </a:prstGeom>
        </p:spPr>
      </p:pic>
      <p:pic>
        <p:nvPicPr>
          <p:cNvPr id="35" name="Picture 34" descr="cert_ns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8378" y="4626864"/>
            <a:ext cx="726895" cy="237744"/>
          </a:xfrm>
          <a:prstGeom prst="rect">
            <a:avLst/>
          </a:prstGeom>
        </p:spPr>
      </p:pic>
      <p:pic>
        <p:nvPicPr>
          <p:cNvPr id="36" name="Picture 35" descr="cert_organi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98153" y="4626864"/>
            <a:ext cx="299764" cy="237744"/>
          </a:xfrm>
          <a:prstGeom prst="rect">
            <a:avLst/>
          </a:prstGeom>
        </p:spPr>
      </p:pic>
      <p:pic>
        <p:nvPicPr>
          <p:cNvPr id="37" name="Picture 36" descr="cert_sedex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80798" y="4626864"/>
            <a:ext cx="236537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D0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466636" y="530352"/>
            <a:ext cx="2311603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66636" y="530352"/>
            <a:ext cx="23116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тільки рітейл-фасовку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163" y="1243584"/>
            <a:ext cx="904272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10" y="1243584"/>
            <a:ext cx="867578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рітейл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830214" y="530352"/>
            <a:ext cx="2948025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830214" y="530352"/>
            <a:ext cx="294802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рітейл-фасовку разом із BULK 3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860" y="1225295"/>
            <a:ext cx="7957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845" y="1225295"/>
            <a:ext cx="763468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rapezoid 59"/>
          <p:cNvSpPr/>
          <p:nvPr/>
        </p:nvSpPr>
        <p:spPr>
          <a:xfrm>
            <a:off x="531174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55806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965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691134" y="1499616"/>
            <a:ext cx="10972" cy="555955"/>
          </a:xfrm>
          <a:prstGeom prst="rect">
            <a:avLst/>
          </a:prstGeom>
          <a:solidFill>
            <a:srgbClr val="A05B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31174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3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1174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ECD8C4"/>
                </a:solidFill>
                <a:latin typeface="Calibri"/>
              </a:rPr>
              <a:t>BULK</a:t>
            </a:r>
          </a:p>
        </p:txBody>
      </p:sp>
      <p:pic>
        <p:nvPicPr>
          <p:cNvPr id="65" name="Picture 64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746" y="1662379"/>
            <a:ext cx="334218" cy="42245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2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42 г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продукт у форматі 3 кг — для HoReCa та фасування на місці.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rapezoid 89"/>
          <p:cNvSpPr/>
          <p:nvPr/>
        </p:nvSpPr>
        <p:spPr>
          <a:xfrm>
            <a:off x="746058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70690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965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7839974" y="1499616"/>
            <a:ext cx="10972" cy="555955"/>
          </a:xfrm>
          <a:prstGeom prst="rect">
            <a:avLst/>
          </a:prstGeom>
          <a:solidFill>
            <a:srgbClr val="A05B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746058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3 кг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6058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ECD8C4"/>
                </a:solidFill>
                <a:latin typeface="Calibri"/>
              </a:rPr>
              <a:t>BULK</a:t>
            </a:r>
          </a:p>
        </p:txBody>
      </p:sp>
      <p:pic>
        <p:nvPicPr>
          <p:cNvPr id="95" name="Picture 9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67" y="1662379"/>
            <a:ext cx="320656" cy="422452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699516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42 г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3 кг — для HoReCa та фасування на місці.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Retail+Bulk».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lant_thainichi.png"/>
          <p:cNvPicPr>
            <a:picLocks noChangeAspect="1"/>
          </p:cNvPicPr>
          <p:nvPr/>
        </p:nvPicPr>
        <p:blipFill>
          <a:blip r:embed="rId2"/>
          <a:srcRect t="10606" b="10606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6C9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ogo_mizu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988" y="2688336"/>
            <a:ext cx="1607262" cy="8412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0D1D3"/>
                </a:solidFill>
                <a:latin typeface="Calibri"/>
              </a:rPr>
              <a:t>Продукція Mizuho · thai-nichi.com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BBCED0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1C565C"/>
                </a:solidFill>
                <a:latin typeface="Calibri"/>
              </a:rPr>
              <a:t>ПРОФІЛЬ ПОСТАЧАЛЬНИКА ·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Thai-Nichi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Industries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565C"/>
                </a:solidFill>
                <a:latin typeface="Calibri"/>
              </a:rPr>
              <a:t>Рисові крекери, чипси та протеїнові снеки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D5860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D5860"/>
                </a:solidFill>
                <a:latin typeface="Cambria"/>
              </a:rPr>
              <a:t>1991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на експортному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ринку 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D5860"/>
                </a:solidFill>
                <a:latin typeface="Cambria"/>
              </a:rPr>
              <a:t>20+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форм і смаків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рисових крекерів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D5860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та власний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бренд Mizuho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ПОЗНАЧКИ ЯКОСТІ НА УПАКОВЦІ</a:t>
            </a:r>
          </a:p>
        </p:txBody>
      </p:sp>
      <p:pic>
        <p:nvPicPr>
          <p:cNvPr id="32" name="Picture 31" descr="tn_mark_glut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626864"/>
            <a:ext cx="438912" cy="237744"/>
          </a:xfrm>
          <a:prstGeom prst="rect">
            <a:avLst/>
          </a:prstGeom>
        </p:spPr>
      </p:pic>
      <p:pic>
        <p:nvPicPr>
          <p:cNvPr id="33" name="Picture 32" descr="tn_mark_cholester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626864"/>
            <a:ext cx="690250" cy="237744"/>
          </a:xfrm>
          <a:prstGeom prst="rect">
            <a:avLst/>
          </a:prstGeom>
        </p:spPr>
      </p:pic>
      <p:pic>
        <p:nvPicPr>
          <p:cNvPr id="34" name="Picture 33" descr="tn_mark_organ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60682" y="4626864"/>
            <a:ext cx="551854" cy="237744"/>
          </a:xfrm>
          <a:prstGeom prst="rect">
            <a:avLst/>
          </a:prstGeom>
        </p:spPr>
      </p:pic>
      <p:pic>
        <p:nvPicPr>
          <p:cNvPr id="35" name="Picture 34" descr="tn_mark_gm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95416" y="4626864"/>
            <a:ext cx="386250" cy="237744"/>
          </a:xfrm>
          <a:prstGeom prst="rect">
            <a:avLst/>
          </a:prstGeom>
        </p:spPr>
      </p:pic>
      <p:pic>
        <p:nvPicPr>
          <p:cNvPr id="36" name="Picture 35" descr="tn_mark_veg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4547" y="4626864"/>
            <a:ext cx="569014" cy="23774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BBCED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466636" y="530352"/>
            <a:ext cx="2311603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66636" y="530352"/>
            <a:ext cx="23116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тільки рітейл-фасовку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1243584"/>
            <a:ext cx="950976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$0,799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35,95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46,53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59,08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50" y="1243584"/>
            <a:ext cx="939699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44,94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53,36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58,17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$1,641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73,84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рітейл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724144" y="530352"/>
            <a:ext cx="3054096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724144" y="530352"/>
            <a:ext cx="30540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рітейл-фасовку разом із BULK 2,5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310" y="1225295"/>
            <a:ext cx="836858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34,95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50,65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4112" y="1225295"/>
            <a:ext cx="826935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43,69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63,31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rapezoid 59"/>
          <p:cNvSpPr/>
          <p:nvPr/>
        </p:nvSpPr>
        <p:spPr>
          <a:xfrm>
            <a:off x="531174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55806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1B5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691134" y="1499616"/>
            <a:ext cx="10972" cy="555955"/>
          </a:xfrm>
          <a:prstGeom prst="rect">
            <a:avLst/>
          </a:prstGeom>
          <a:solidFill>
            <a:srgbClr val="1C5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31174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2,5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1174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C6D6D8"/>
                </a:solidFill>
                <a:latin typeface="Calibri"/>
              </a:rPr>
              <a:t>BULK</a:t>
            </a:r>
          </a:p>
        </p:txBody>
      </p:sp>
      <p:pic>
        <p:nvPicPr>
          <p:cNvPr id="65" name="Picture 64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115" y="1662379"/>
            <a:ext cx="351480" cy="42245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2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50 г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у форматі 2,5 кг — для HoReCa та фасування на місці.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$25,178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1133,03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$29,893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1345,20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$30,981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1394,15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$36,769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1654,60 ₴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rapezoid 89"/>
          <p:cNvSpPr/>
          <p:nvPr/>
        </p:nvSpPr>
        <p:spPr>
          <a:xfrm>
            <a:off x="746058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70690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1B5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7839974" y="1499616"/>
            <a:ext cx="10972" cy="555955"/>
          </a:xfrm>
          <a:prstGeom prst="rect">
            <a:avLst/>
          </a:prstGeom>
          <a:solidFill>
            <a:srgbClr val="1C5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746058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2,5 кг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6058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C6D6D8"/>
                </a:solidFill>
                <a:latin typeface="Calibri"/>
              </a:rPr>
              <a:t>BULK</a:t>
            </a:r>
          </a:p>
        </p:txBody>
      </p:sp>
      <p:pic>
        <p:nvPicPr>
          <p:cNvPr id="95" name="Picture 9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9039" y="1662379"/>
            <a:ext cx="347312" cy="422452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699516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55 г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2,5 кг — для HoReCa та фасування на місці.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$30,842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1387,89 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$36,604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1647,18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$37,936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1707,12 ₴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$45,023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2026,04 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Retail+Bulk».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lant_tmk.png"/>
          <p:cNvPicPr>
            <a:picLocks noChangeAspect="1"/>
          </p:cNvPicPr>
          <p:nvPr/>
        </p:nvPicPr>
        <p:blipFill>
          <a:blip r:embed="rId2"/>
          <a:srcRect t="8919" b="8919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78A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ogo_koki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859" y="2870200"/>
            <a:ext cx="1493520" cy="47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5DAC9"/>
                </a:solidFill>
                <a:latin typeface="Calibri"/>
              </a:rPr>
              <a:t>Фабрика TMK · kokiriseaweed.com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C1D7C5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2C713B"/>
                </a:solidFill>
                <a:latin typeface="Calibri"/>
              </a:rPr>
              <a:t>ПРОФІЛЬ ПОСТАЧАЛЬНИКА ·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C713B"/>
                </a:solidFill>
                <a:latin typeface="Calibri"/>
              </a:rPr>
              <a:t>Снеки з водорості норі · Retail і дитячий формат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2E763C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Виробляє снеки з водорості, яку завозить із Кореї, і має фабрики в Кореї та Таїланді. Працює як OEM для інших брендів у 13+ країнах. «Кокірі» — «слон» корейською, символ довіри в Таїланді.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474720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474720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602736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2011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7705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компанії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474720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474720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602736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13+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387705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474720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474720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602736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E763C"/>
                </a:solidFill>
                <a:latin typeface="Cambria"/>
              </a:rPr>
              <a:t>$10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387705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за шість років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26110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СЕРТИФІКАТИ ВИРОБНИЦТВА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tmk_cert_g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783" y="4462272"/>
            <a:ext cx="372992" cy="40233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65760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GMP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9096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cert_hacc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3282" y="4462272"/>
            <a:ext cx="372666" cy="40233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149096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HACCP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32432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tmk_cert_hal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6459" y="4462272"/>
            <a:ext cx="372985" cy="40233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932432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Halal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15768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tmk_cert_iso22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3949" y="4462272"/>
            <a:ext cx="284677" cy="40233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715768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ISO 22000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9103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5" name="Picture 44" descr="tmk_cert_fssc220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5201" y="4462272"/>
            <a:ext cx="268844" cy="40233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3499103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FSSC 22000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82440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tmk_cert_codex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96674" y="4462272"/>
            <a:ext cx="272570" cy="40233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282440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CODEX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D7C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ROLL та Wow DOUBLE ROLL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210" y="1225295"/>
            <a:ext cx="3330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 норі, скручений навколо рисової палички. Пакетик на один укус, у коробці 10 штук.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150" y="1225295"/>
            <a:ext cx="344859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рулетик норі з гострою приправою. У Таїланді — найпродаваніший смак лінійки.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2134" y="1225295"/>
            <a:ext cx="508570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 Squid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Рулетик норі з приправою зі смаком гострого кальмара. Найспецифічніший смак трійки.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2045" y="1225295"/>
            <a:ext cx="566428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— порція 5 г замість 2,5 г. У коробці 5 пакетиків.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DOUBLE ROLL та Wow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665" y="1225295"/>
            <a:ext cx="566428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з гострою приправою. Крок нагору від базового формату.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5874" y="1225295"/>
            <a:ext cx="77225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Смажені листи норі, приправлені та нарізані на порційні шматочки. Пакет 12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295" y="1225295"/>
            <a:ext cx="777649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 саме з гострою приправою. Термін придатності 7 місяців — потребує швидкого обігу.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SEAWEED та Wow MINI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sw_s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836" y="1225295"/>
            <a:ext cx="756087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Squid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Смажена норі зі смаком кальмара. Термін придатності також 7 місяців.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40,33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46,89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mini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1974" y="1225295"/>
            <a:ext cx="190005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Найменший пакет лінійки — 10 г. Формат для прикасової зони та дитячих наборів.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mini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7094" y="1225295"/>
            <a:ext cx="190005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Гострий варіант міні-пакета 10 г. Ставиться в пару з Original на одній полиці.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5463540" y="-155447"/>
            <a:ext cx="3566160" cy="3566160"/>
          </a:xfrm>
          <a:prstGeom prst="ellipse">
            <a:avLst/>
          </a:prstGeom>
          <a:noFill/>
          <a:ln w="17780">
            <a:solidFill>
              <a:srgbClr val="F3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 rot="21360000">
            <a:off x="5902452" y="310896"/>
            <a:ext cx="2761488" cy="1517904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 rot="21360000">
            <a:off x="5870448" y="265176"/>
            <a:ext cx="2761488" cy="15179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zek_clas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60000">
            <a:off x="6006678" y="356616"/>
            <a:ext cx="2489027" cy="133502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 rot="21120000">
            <a:off x="5673852" y="1655064"/>
            <a:ext cx="1335024" cy="1755648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 rot="21120000">
            <a:off x="5641848" y="1609344"/>
            <a:ext cx="1335024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zek_tempura_corn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20000">
            <a:off x="5733288" y="1737114"/>
            <a:ext cx="1152144" cy="150010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 rot="480000">
            <a:off x="7557516" y="1773935"/>
            <a:ext cx="1280160" cy="1700784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 rot="480000">
            <a:off x="7525512" y="1728215"/>
            <a:ext cx="1280160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zek_topping_veg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0">
            <a:off x="7616952" y="1836784"/>
            <a:ext cx="1097280" cy="148364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81927" y="3621024"/>
            <a:ext cx="1929384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9943" y="3712463"/>
            <a:ext cx="167335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400" b="1" i="0">
                <a:solidFill>
                  <a:srgbClr val="AA3922"/>
                </a:solidFill>
                <a:latin typeface="Cambria"/>
              </a:rPr>
              <a:t>ZEK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4261104"/>
            <a:ext cx="2880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 i="1">
                <a:solidFill>
                  <a:srgbClr val="F1DCD7"/>
                </a:solidFill>
                <a:latin typeface="Calibri"/>
              </a:rPr>
              <a:t>Асортимент ZEK · власне паковання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4480560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C4BD"/>
                </a:solidFill>
                <a:latin typeface="Calibri"/>
              </a:rPr>
              <a:t>ВИРОБНИЦТВО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681728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Китай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23822"/>
                </a:solidFill>
                <a:latin typeface="Calibri"/>
              </a:rPr>
              <a:t>ПРОФІЛЬ ПОСТАЧАЛЬНИКА ·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HanJin (Shanghai)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Food Co., Ltd.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23822"/>
                </a:solidFill>
                <a:latin typeface="Calibri"/>
              </a:rPr>
              <a:t>Темпура, сендвічі та присипка з норі · Retail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A3922"/>
                </a:solidFill>
                <a:latin typeface="Calibri"/>
              </a:rPr>
              <a:t>FOB Qingdao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ПРО КОМПАНІЮ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ZEK — «Zesty Especial Kingdom», власний бренд Hanjin Food. Компанія заснована 2002 року у Вейхаї, головний офіс із 2014-го — у Шанхаї. Партнери групи — тайська Singha Group і корейська SPC Group.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2002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у Вейхаї, Шаньдун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№1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частка ринку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приправленої норі в КНР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СИРОВИНА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4626864"/>
            <a:ext cx="4617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Норі з острова Чеджу (Корея) та плантацій під Вейхаєм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C4B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Tempura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Листи норі в хрусткому клярі темпура зі смаком солодкої кукурудзи. Пакет 30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909" y="1225295"/>
            <a:ext cx="76734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клярі темпура з васабі. Гострий варіант тієї самої лінійки, 30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156" y="1225295"/>
            <a:ext cx="772526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Crawfish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темпурі з приправою мала — гостро-пряний китайський смак раків. 30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404" y="1225295"/>
            <a:ext cx="777711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 · 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Кукурудзяна темпура у великому пакеті 50 г. Ціна за грам нижча, ніж у 30 г.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Tempura Seaweed та Sandwich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 · 50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з васабі у пакеті 50 г — формат для домашнього споживання.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01" y="1225295"/>
            <a:ext cx="762157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· 50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мала у пакеті 50 г. Замикає лінійку великих фасовок.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1849" y="1225295"/>
            <a:ext cx="74914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Meat Floss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прошарком сушеної м’ясної стружки між ними. Пакет 25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21,86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25,98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29,96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31,74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8048" y="1225295"/>
            <a:ext cx="734422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кунжутним прошарком. Вегетаріанський варіант сендвіча.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22,35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26,56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30,63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32,44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250" y="1225295"/>
            <a:ext cx="7452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Floss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048" y="1225295"/>
            <a:ext cx="743902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9003" y="1225295"/>
            <a:ext cx="736233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28,84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34,27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39,52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502" y="1225295"/>
            <a:ext cx="694755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59,66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70,90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81,77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86,61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2029" y="1225295"/>
            <a:ext cx="699940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60,93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72,41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83,51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88,45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149" y="1225295"/>
            <a:ext cx="699940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62,20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73,91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85,25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90,30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