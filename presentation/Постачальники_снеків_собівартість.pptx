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2286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286000" y="0"/>
            <a:ext cx="2286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0" y="0"/>
            <a:ext cx="2286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78638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90">
                <a:solidFill>
                  <a:srgbClr val="C9A24E"/>
                </a:solidFill>
                <a:latin typeface="Calibri"/>
              </a:rPr>
              <a:t>КАТАЛОГ ПОСТАЧАЛЬНИКІВ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60704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4241F"/>
                </a:solidFill>
                <a:latin typeface="Cambria"/>
              </a:rPr>
              <a:t>Азійські снеки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4241F"/>
                </a:solidFill>
                <a:latin typeface="Cambria"/>
              </a:rPr>
              <a:t>з водоростей і рису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15184"/>
            <a:ext cx="1005840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50" b="0" i="0">
                <a:solidFill>
                  <a:srgbClr val="44524C"/>
                </a:solidFill>
                <a:latin typeface="Calibri"/>
              </a:rPr>
              <a:t>Продукти чотирьох постачальників, короткі описи та собівартість</a:t>
            </a:r>
          </a:p>
          <a:p>
            <a:pPr algn="l">
              <a:lnSpc>
                <a:spcPct val="136000"/>
              </a:lnSpc>
            </a:pPr>
            <a:r>
              <a:rPr sz="1150" b="0" i="0">
                <a:solidFill>
                  <a:srgbClr val="44524C"/>
                </a:solidFill>
                <a:latin typeface="Calibri"/>
              </a:rPr>
              <a:t>одиниці товару в доларах і гривні — за всіма сценаріями доставки.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786384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8A938D"/>
                </a:solidFill>
                <a:latin typeface="Calibri"/>
              </a:rPr>
              <a:t>4 постачальники · 32 SKU · 4 сценарії доставки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584448"/>
            <a:ext cx="2237894" cy="1188720"/>
          </a:xfrm>
          <a:prstGeom prst="roundRect">
            <a:avLst>
              <a:gd name="adj" fmla="val 6000"/>
            </a:avLst>
          </a:prstGeom>
          <a:solidFill>
            <a:srgbClr val="F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65760" y="3584448"/>
            <a:ext cx="2237894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lant_sing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82" y="3703320"/>
            <a:ext cx="1203648" cy="7863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4535424"/>
            <a:ext cx="205501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A35C15"/>
                </a:solidFill>
                <a:latin typeface="Calibri"/>
              </a:rPr>
              <a:t>Виробництво · Таїланд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8246" y="3584448"/>
            <a:ext cx="1721457" cy="1188720"/>
          </a:xfrm>
          <a:prstGeom prst="roundRect">
            <a:avLst>
              <a:gd name="adj" fmla="val 6000"/>
            </a:avLst>
          </a:prstGeom>
          <a:solidFill>
            <a:srgbClr val="ED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768246" y="3584448"/>
            <a:ext cx="1721457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plant_thaini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350" y="3703320"/>
            <a:ext cx="765249" cy="7863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59686" y="4535424"/>
            <a:ext cx="15385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C565C"/>
                </a:solidFill>
                <a:latin typeface="Calibri"/>
              </a:rPr>
              <a:t>Продукція Mizuho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4296" y="3584448"/>
            <a:ext cx="1721457" cy="11887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654296" y="3584448"/>
            <a:ext cx="1721457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lant_tm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13" y="3703320"/>
            <a:ext cx="798021" cy="7863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45736" y="4535424"/>
            <a:ext cx="15385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2C713B"/>
                </a:solidFill>
                <a:latin typeface="Calibri"/>
              </a:rPr>
              <a:t>Фабрика TMK · Таїланд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0345" y="3584448"/>
            <a:ext cx="2237894" cy="1188720"/>
          </a:xfrm>
          <a:prstGeom prst="roundRect">
            <a:avLst>
              <a:gd name="adj" fmla="val 6000"/>
            </a:avLst>
          </a:prstGeom>
          <a:solidFill>
            <a:srgbClr val="F9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40345" y="3584448"/>
            <a:ext cx="2237894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zek_tempura_corn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305" y="3703320"/>
            <a:ext cx="603975" cy="7863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31785" y="4535424"/>
            <a:ext cx="205501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A23822"/>
                </a:solidFill>
                <a:latin typeface="Calibri"/>
              </a:rPr>
              <a:t>ZEK · Китай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806440" y="566928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_sing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632" y="713232"/>
            <a:ext cx="1513975" cy="8046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847088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lant_sing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46" y="1920240"/>
            <a:ext cx="2239346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9592" y="3419856"/>
            <a:ext cx="2734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Виробничий майданчик · singhakameda.co.th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13632"/>
            <a:ext cx="3794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E8D0B8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1480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35C15"/>
                </a:solidFill>
                <a:latin typeface="Calibri"/>
              </a:rPr>
              <a:t>ПРОФІЛЬ ПОСТАЧАЛЬНИКА ·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Singha Kameda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(Thailand)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35C15"/>
                </a:solidFill>
                <a:latin typeface="Calibri"/>
              </a:rPr>
              <a:t>Рисові крекери арарe в норі ·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B5F15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Спільне підприємство японської Kameda Seika — світового лідера ринку рисових крекерів — та тайської групи Singha. Виробництво в Таїланді за японськими стандартами.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B5F15"/>
                </a:solidFill>
                <a:latin typeface="Cambria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створення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спільного підприємства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B5F15"/>
                </a:solidFill>
                <a:latin typeface="Cambria"/>
              </a:rPr>
              <a:t>50 / 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Kameda Seika (Японія)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та Singha (Таїланд)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B5F15"/>
                </a:solidFill>
                <a:latin typeface="Cambria"/>
              </a:rPr>
              <a:t>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контрактне виробництво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для інших брендів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СЕРТИФІКАТИ ВИРОБНИЦТВА</a:t>
            </a:r>
          </a:p>
        </p:txBody>
      </p:sp>
      <p:pic>
        <p:nvPicPr>
          <p:cNvPr id="32" name="Picture 31" descr="cert_hac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26864"/>
            <a:ext cx="489382" cy="237744"/>
          </a:xfrm>
          <a:prstGeom prst="rect">
            <a:avLst/>
          </a:prstGeom>
        </p:spPr>
      </p:pic>
      <p:pic>
        <p:nvPicPr>
          <p:cNvPr id="33" name="Picture 32" descr="cert_b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2" y="4626864"/>
            <a:ext cx="159692" cy="237744"/>
          </a:xfrm>
          <a:prstGeom prst="rect">
            <a:avLst/>
          </a:prstGeom>
        </p:spPr>
      </p:pic>
      <p:pic>
        <p:nvPicPr>
          <p:cNvPr id="34" name="Picture 33" descr="cert_hal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594" y="4626864"/>
            <a:ext cx="424904" cy="237744"/>
          </a:xfrm>
          <a:prstGeom prst="rect">
            <a:avLst/>
          </a:prstGeom>
        </p:spPr>
      </p:pic>
      <p:pic>
        <p:nvPicPr>
          <p:cNvPr id="35" name="Picture 34" descr="cert_ns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8378" y="4626864"/>
            <a:ext cx="726895" cy="237744"/>
          </a:xfrm>
          <a:prstGeom prst="rect">
            <a:avLst/>
          </a:prstGeom>
        </p:spPr>
      </p:pic>
      <p:pic>
        <p:nvPicPr>
          <p:cNvPr id="36" name="Picture 35" descr="cert_organ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153" y="4626864"/>
            <a:ext cx="299764" cy="237744"/>
          </a:xfrm>
          <a:prstGeom prst="rect">
            <a:avLst/>
          </a:prstGeom>
        </p:spPr>
      </p:pic>
      <p:pic>
        <p:nvPicPr>
          <p:cNvPr id="37" name="Picture 36" descr="cert_sed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0798" y="4626864"/>
            <a:ext cx="236537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E8D0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SINGHA KAMEDA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Arare Norimaki — рисові крекери в норі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307531" y="530352"/>
            <a:ext cx="2470708" cy="292608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7531" y="530352"/>
            <a:ext cx="24707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B5F15"/>
                </a:solidFill>
                <a:latin typeface="Calibri"/>
              </a:rPr>
              <a:t>Контейнер везе тільки роздрібну фасовку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377439"/>
            <a:ext cx="4050791" cy="219456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163" y="1243584"/>
            <a:ext cx="904272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624328"/>
            <a:ext cx="35204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 spc="9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25496"/>
            <a:ext cx="3520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4241F"/>
                </a:solidFill>
                <a:latin typeface="Cambria"/>
              </a:rPr>
              <a:t>Arare Norimaki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Хрусткі рисові палички арарe в обгортці з водорості норі. Смак соєвого соусу, без гостроти.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639312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3063239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4984" y="3877056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14216"/>
            <a:ext cx="1440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$1,069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1768" y="4050792"/>
            <a:ext cx="15238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48,12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26110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236" y="426110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9013" y="426110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56,13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4984" y="439826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3236" y="439826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9013" y="439826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58,40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4984" y="453542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236" y="453542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$1,560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9013" y="453542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70,19 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718303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718303" y="2377439"/>
            <a:ext cx="4050791" cy="219456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sk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10" y="1243584"/>
            <a:ext cx="867578" cy="1143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3479" y="2624328"/>
            <a:ext cx="35204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 spc="9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2825496"/>
            <a:ext cx="3520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4241F"/>
                </a:solidFill>
                <a:latin typeface="Cambria"/>
              </a:rPr>
              <a:t>Arare Norimaki Wasabi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3246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Ті самі рисові палички в норі, але з відчутною гостротою японського васабі.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3" y="3639312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822192"/>
            <a:ext cx="3063239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358383" y="3877056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4014216"/>
            <a:ext cx="1440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$1,069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168" y="4050792"/>
            <a:ext cx="15238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48,12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3" y="426110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26110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$1,247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413" y="426110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56,13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358383" y="439826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6636" y="439826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$1,298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413" y="439826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58,40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8383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58383" y="453542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6636" y="453542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$1,560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413" y="453542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70,19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«SINGHA KAMEDA - Retail».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SINGHA KAMEDA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Arare Norimaki — роздріб і 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671108" y="530352"/>
            <a:ext cx="3107131" cy="292608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71108" y="530352"/>
            <a:ext cx="310713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B5F15"/>
                </a:solidFill>
                <a:latin typeface="Calibri"/>
              </a:rPr>
              <a:t>Контейнер везе роздрібну фасовку разом із BULK 3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60" y="1225295"/>
            <a:ext cx="795759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Arare Norimaki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Хрусткі рисові палички арарe в обгортці з водорості норі. Смак соєвого соусу, без гостроти.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$0,966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43,47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51,16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52,54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$1,401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63,05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k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45" y="1225295"/>
            <a:ext cx="763468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Arare Norimaki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Wasabi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Ті самі рисові палички в норі, але з відчутною гостротою японського васабі.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$0,966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43,47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51,16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$1,167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52,54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$1,401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63,05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rapezoid 59"/>
          <p:cNvSpPr/>
          <p:nvPr/>
        </p:nvSpPr>
        <p:spPr>
          <a:xfrm>
            <a:off x="531174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55806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96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5691134" y="1499616"/>
            <a:ext cx="10972" cy="555955"/>
          </a:xfrm>
          <a:prstGeom prst="rect">
            <a:avLst/>
          </a:prstGeom>
          <a:solidFill>
            <a:srgbClr val="A05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311749" y="1687982"/>
            <a:ext cx="769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1749" y="1929384"/>
            <a:ext cx="76974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ECD8C4"/>
                </a:solidFill>
                <a:latin typeface="Calibri"/>
              </a:rPr>
              <a:t>BULK</a:t>
            </a:r>
          </a:p>
        </p:txBody>
      </p:sp>
      <p:pic>
        <p:nvPicPr>
          <p:cNvPr id="65" name="Picture 64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746" y="1662379"/>
            <a:ext cx="334218" cy="42245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46320" y="2103120"/>
            <a:ext cx="435071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A938D"/>
                </a:solidFill>
                <a:latin typeface="Calibri"/>
              </a:rPr>
              <a:t>42 г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3 КГ · 2 ПАК/КАРТ.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Norimaki Original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BULK 3 кг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продукт у форматі 3 кг — для HoReCa та фасування на місці.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974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35C15"/>
                </a:solidFill>
                <a:latin typeface="Calibri"/>
              </a:rPr>
              <a:t>СОБІВАРТІСТЬ · 1 ПАКЕТ 3 КГ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$45,161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2032,26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7908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$53,149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2391,70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908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$54,586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2456,35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908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$65,506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762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2947,75 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rapezoid 89"/>
          <p:cNvSpPr/>
          <p:nvPr/>
        </p:nvSpPr>
        <p:spPr>
          <a:xfrm>
            <a:off x="746058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70690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96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7839974" y="1499616"/>
            <a:ext cx="10972" cy="555955"/>
          </a:xfrm>
          <a:prstGeom prst="rect">
            <a:avLst/>
          </a:prstGeom>
          <a:solidFill>
            <a:srgbClr val="A05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460589" y="1687982"/>
            <a:ext cx="769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 кг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0589" y="1929384"/>
            <a:ext cx="76974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ECD8C4"/>
                </a:solidFill>
                <a:latin typeface="Calibri"/>
              </a:rPr>
              <a:t>BULK</a:t>
            </a:r>
          </a:p>
        </p:txBody>
      </p:sp>
      <p:pic>
        <p:nvPicPr>
          <p:cNvPr id="95" name="Picture 94" descr="sk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367" y="1662379"/>
            <a:ext cx="320656" cy="4224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995160" y="2103120"/>
            <a:ext cx="435071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A938D"/>
                </a:solidFill>
                <a:latin typeface="Calibri"/>
              </a:rPr>
              <a:t>42 г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3 КГ · 2 ПАК/КАРТ.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Norimaki Wasabi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BULK 3 кг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Васабі у форматі 3 кг — для HoReCa та фасування на місці.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35C15"/>
                </a:solidFill>
                <a:latin typeface="Calibri"/>
              </a:rPr>
              <a:t>СОБІВАРТІСТЬ · 1 ПАКЕТ 3 КГ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858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$45,161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2032,26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792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$53,149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2391,70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792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$54,586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2456,35 ₴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792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$65,506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9646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2947,75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«SINGHA KAMEDA - Retail+Bulk».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plant_thainichi.png"/>
          <p:cNvPicPr>
            <a:picLocks noChangeAspect="1"/>
          </p:cNvPicPr>
          <p:nvPr/>
        </p:nvPicPr>
        <p:blipFill>
          <a:blip r:embed="rId2"/>
          <a:srcRect t="10606" b="10606"/>
          <a:stretch>
            <a:fillRect/>
          </a:stretch>
        </p:blipFill>
        <p:spPr>
          <a:xfrm>
            <a:off x="5349240" y="0"/>
            <a:ext cx="3794760" cy="3072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49240" y="3072384"/>
            <a:ext cx="3794760" cy="54864"/>
          </a:xfrm>
          <a:prstGeom prst="rect">
            <a:avLst/>
          </a:prstGeom>
          <a:solidFill>
            <a:srgbClr val="6C9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40" y="2542032"/>
            <a:ext cx="28803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logo_mizu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988" y="2688336"/>
            <a:ext cx="1607262" cy="8412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749039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C0D1D3"/>
                </a:solidFill>
                <a:latin typeface="Calibri"/>
              </a:rPr>
              <a:t>Продукція Mizuho · thai-nichi.com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86784"/>
            <a:ext cx="3794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BBCED0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87952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1C565C"/>
                </a:solidFill>
                <a:latin typeface="Calibri"/>
              </a:rPr>
              <a:t>ПРОФІЛЬ ПОСТАЧАЛЬНИКА ·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Thai-Nichi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Industries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C565C"/>
                </a:solidFill>
                <a:latin typeface="Calibri"/>
              </a:rPr>
              <a:t>Рисові крекери, чипси та протеїнові снеки ·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D5860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Тайсько-японський виробник рисових снеків із найширшим прайсом серед усіх постачальників — 28 позицій. Одна фабрика закриває і крекери, і чипси, і протеїнові снеки.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03904"/>
            <a:ext cx="148132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3803904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D5860"/>
                </a:solidFill>
                <a:latin typeface="Cambria"/>
              </a:rPr>
              <a:t>1991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на експортному</a:t>
            </a:r>
          </a:p>
          <a:p>
            <a:pPr algn="ctr">
              <a:lnSpc>
                <a:spcPct val="112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ринку 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803904"/>
            <a:ext cx="148132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979676" y="3803904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79676" y="39319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D5860"/>
                </a:solidFill>
                <a:latin typeface="Cambria"/>
              </a:rPr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206240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форм і смаків</a:t>
            </a:r>
          </a:p>
          <a:p>
            <a:pPr algn="ctr">
              <a:lnSpc>
                <a:spcPct val="112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рисових крекерів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803904"/>
            <a:ext cx="148132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93592" y="3803904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93592" y="39319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D5860"/>
                </a:solidFill>
                <a:latin typeface="Cambria"/>
              </a:rPr>
              <a:t>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206240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та власний</a:t>
            </a:r>
          </a:p>
          <a:p>
            <a:pPr algn="ctr">
              <a:lnSpc>
                <a:spcPct val="112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бренд Mizuho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BBCED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THAI-NICHI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Norimaki — рисові крекери в норі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307531" y="530352"/>
            <a:ext cx="2470708" cy="292608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7531" y="530352"/>
            <a:ext cx="24707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D5860"/>
                </a:solidFill>
                <a:latin typeface="Calibri"/>
              </a:rPr>
              <a:t>Контейнер везе тільки роздрібну фасовку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377439"/>
            <a:ext cx="4050791" cy="219456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12" y="1243584"/>
            <a:ext cx="950976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624328"/>
            <a:ext cx="35204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 spc="90">
                <a:solidFill>
                  <a:srgbClr val="1C565C"/>
                </a:solidFill>
                <a:latin typeface="Calibri"/>
              </a:rPr>
              <a:t>50 Г · 36 ШТ/КАРТ.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25496"/>
            <a:ext cx="3520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4241F"/>
                </a:solidFill>
                <a:latin typeface="Cambria"/>
              </a:rPr>
              <a:t>Norimaki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Рисовий крекер із водорістю норі, смажений за японською рецептурою. Пакет 50 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639312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3063239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4984" y="3877056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14216"/>
            <a:ext cx="1440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$0,799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1768" y="4050792"/>
            <a:ext cx="15238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35,95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26110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236" y="426110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9013" y="426110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42,68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4984" y="439826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3236" y="439826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$1,034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9013" y="439826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46,53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4984" y="453542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236" y="453542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$1,313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9013" y="453542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59,08 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718303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718303" y="2377439"/>
            <a:ext cx="4050791" cy="219456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tn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50" y="1243584"/>
            <a:ext cx="939699" cy="1143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3479" y="2624328"/>
            <a:ext cx="35204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 spc="90">
                <a:solidFill>
                  <a:srgbClr val="1C565C"/>
                </a:solidFill>
                <a:latin typeface="Calibri"/>
              </a:rPr>
              <a:t>55 Г · 36 ШТ/КАРТ.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2825496"/>
            <a:ext cx="3520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4241F"/>
                </a:solidFill>
                <a:latin typeface="Cambria"/>
              </a:rPr>
              <a:t>Norimaki Wasabi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3246120"/>
            <a:ext cx="3063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Той самий крекер із додаванням васабі. Найбільший пакет лінійки — 55 г.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3" y="3639312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СОБІВАРТІСТЬ · 1 ПАКЕТ 55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822192"/>
            <a:ext cx="3063239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358383" y="3877056"/>
            <a:ext cx="2770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4014216"/>
            <a:ext cx="1440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$0,999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168" y="4050792"/>
            <a:ext cx="15238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44,94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3" y="426110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26110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413" y="426110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53,36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358383" y="439826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6636" y="439826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$1,293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413" y="439826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58,17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8383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58383" y="4535424"/>
            <a:ext cx="116366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6636" y="4535424"/>
            <a:ext cx="7757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$1,641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413" y="4535424"/>
            <a:ext cx="88660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73,84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«Thai-Nichi - Retail».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THAI-NICHI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Norimaki — роздріб і 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565038" y="530352"/>
            <a:ext cx="3213201" cy="292608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65038" y="530352"/>
            <a:ext cx="32132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D5860"/>
                </a:solidFill>
                <a:latin typeface="Calibri"/>
              </a:rPr>
              <a:t>Контейнер везе роздрібну фасовку разом із BULK 2,5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0" y="1225295"/>
            <a:ext cx="836858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50 Г · 36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Norimaki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Рисовий крекер із водорістю норі, смажений за японською рецептурою. Пакет 50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1C565C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$0,777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34,95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41,18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42,68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50,65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tn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112" y="1225295"/>
            <a:ext cx="826935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55 Г · 36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Norimaki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Wasabi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крекер із додаванням васабі. Найбільший пакет лінійки — 55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1C565C"/>
                </a:solidFill>
                <a:latin typeface="Calibri"/>
              </a:rPr>
              <a:t>СОБІВАРТІСТЬ · 1 ПАКЕТ 55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$0,971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43,69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51,47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$1,185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53,35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$1,407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63,31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rapezoid 59"/>
          <p:cNvSpPr/>
          <p:nvPr/>
        </p:nvSpPr>
        <p:spPr>
          <a:xfrm>
            <a:off x="531174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55806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1B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5691134" y="1499616"/>
            <a:ext cx="10972" cy="555955"/>
          </a:xfrm>
          <a:prstGeom prst="rect">
            <a:avLst/>
          </a:prstGeom>
          <a:solidFill>
            <a:srgbClr val="1C5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311749" y="1687982"/>
            <a:ext cx="769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2,5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1749" y="1929384"/>
            <a:ext cx="76974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C6D6D8"/>
                </a:solidFill>
                <a:latin typeface="Calibri"/>
              </a:rPr>
              <a:t>BULK</a:t>
            </a:r>
          </a:p>
        </p:txBody>
      </p:sp>
      <p:pic>
        <p:nvPicPr>
          <p:cNvPr id="65" name="Picture 64" descr="t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115" y="1662379"/>
            <a:ext cx="351480" cy="42245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46320" y="2103120"/>
            <a:ext cx="435071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A938D"/>
                </a:solidFill>
                <a:latin typeface="Calibri"/>
              </a:rPr>
              <a:t>50 г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2,5 КГ · 2 ПАК/КАРТ.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Norimaki Original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BULK 2,5 кг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крекер у форматі 2,5 кг — для HoReCa та фасування на місці.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974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1C565C"/>
                </a:solidFill>
                <a:latin typeface="Calibri"/>
              </a:rPr>
              <a:t>СОБІВАРТІСТЬ · 1 ПАКЕТ 2,5 КГ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$25,178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1133,03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7908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$29,893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1345,20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908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$30,981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1394,15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908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$36,769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762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1654,60 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rapezoid 89"/>
          <p:cNvSpPr/>
          <p:nvPr/>
        </p:nvSpPr>
        <p:spPr>
          <a:xfrm>
            <a:off x="746058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70690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1B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7839974" y="1499616"/>
            <a:ext cx="10972" cy="555955"/>
          </a:xfrm>
          <a:prstGeom prst="rect">
            <a:avLst/>
          </a:prstGeom>
          <a:solidFill>
            <a:srgbClr val="1C5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460589" y="1687982"/>
            <a:ext cx="769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2,5 кг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0589" y="1929384"/>
            <a:ext cx="76974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C6D6D8"/>
                </a:solidFill>
                <a:latin typeface="Calibri"/>
              </a:rPr>
              <a:t>BULK</a:t>
            </a:r>
          </a:p>
        </p:txBody>
      </p:sp>
      <p:pic>
        <p:nvPicPr>
          <p:cNvPr id="95" name="Picture 94" descr="tn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039" y="1662379"/>
            <a:ext cx="347312" cy="4224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995160" y="2103120"/>
            <a:ext cx="435071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A938D"/>
                </a:solidFill>
                <a:latin typeface="Calibri"/>
              </a:rPr>
              <a:t>55 г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2,5 КГ · 2 ПАК/КАРТ.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Norimaki Wasabi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BULK 2,5 кг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Васабі у форматі 2,5 кг — для HoReCa та фасування на місці.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1C565C"/>
                </a:solidFill>
                <a:latin typeface="Calibri"/>
              </a:rPr>
              <a:t>СОБІВАРТІСТЬ · 1 ПАКЕТ 2,5 КГ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858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$30,842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1387,89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792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$36,604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1647,18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792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$37,936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1707,12 ₴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792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$45,023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9646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2026,04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«Thai-Nichi - Retail+Bulk».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plant_tmk.png"/>
          <p:cNvPicPr>
            <a:picLocks noChangeAspect="1"/>
          </p:cNvPicPr>
          <p:nvPr/>
        </p:nvPicPr>
        <p:blipFill>
          <a:blip r:embed="rId2"/>
          <a:srcRect t="8919" b="8919"/>
          <a:stretch>
            <a:fillRect/>
          </a:stretch>
        </p:blipFill>
        <p:spPr>
          <a:xfrm>
            <a:off x="5349240" y="0"/>
            <a:ext cx="3794760" cy="3072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49240" y="3072384"/>
            <a:ext cx="3794760" cy="54864"/>
          </a:xfrm>
          <a:prstGeom prst="rect">
            <a:avLst/>
          </a:prstGeom>
          <a:solidFill>
            <a:srgbClr val="78A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40" y="2542032"/>
            <a:ext cx="28803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logo_kok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59" y="2870200"/>
            <a:ext cx="1493520" cy="47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749039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C5DAC9"/>
                </a:solidFill>
                <a:latin typeface="Calibri"/>
              </a:rPr>
              <a:t>Фабрика TMK · kokiriseaweed.com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86784"/>
            <a:ext cx="3794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C1D7C5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87952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ПРОФІЛЬ ПОСТАЧАЛЬНИКА ·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TMK (Thailand)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713B"/>
                </a:solidFill>
                <a:latin typeface="Calibri"/>
              </a:rPr>
              <a:t>Снеки з водорості норі · Retail і дитячий формат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E763C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2C713B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Виробляє снеки з водорості, яку завозить із Кореї, і має фабрики в Кореї та Таїланді. Працює як OEM для інших брендів у 13+ країнах. «Кокірі» — «слон» корейською, символ довіри в Таїланді.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763C"/>
                </a:solidFill>
                <a:latin typeface="Cambria"/>
              </a:rPr>
              <a:t>2011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компанії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763C"/>
                </a:solidFill>
                <a:latin typeface="Cambria"/>
              </a:rPr>
              <a:t>13+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763C"/>
                </a:solidFill>
                <a:latin typeface="Cambria"/>
              </a:rPr>
              <a:t>$10 млн+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за шість років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2C713B"/>
                </a:solidFill>
                <a:latin typeface="Calibri"/>
              </a:rPr>
              <a:t>СЕРТИФІКАТИ ВИРОБНИЦТВА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26864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4241F"/>
                </a:solidFill>
                <a:latin typeface="Calibri"/>
              </a:rPr>
              <a:t>ISO 22000:2018 · FSSC 22000 · CODEX HACCP &amp; GMP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C1D7C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ROLL та Wow DOUBLE ROLL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mk_roll_or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255775"/>
            <a:ext cx="548640" cy="944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Лист норі, скручений навколо рисової палички. Пакетик на один укус, у коробці 10 штук.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$0,178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8,00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10,15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10,72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12,46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tmk_roll_sp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340" y="1255775"/>
            <a:ext cx="538480" cy="9448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рулетик норі з гострою приправою. У Таїланді — найпродаваніший смак лінійки.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8,00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10,15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$0,238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10,72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$0,277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12,46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tmk_roll_squ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1255775"/>
            <a:ext cx="497840" cy="94488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Spicy Squid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Рулетик норі з приправою зі смаком гострого кальмара. Найспецифічніший смак трійки.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$0,178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8,00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10,15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$0,238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10,72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$0,277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12,46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tmk_dbl_or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045" y="1225295"/>
            <a:ext cx="566428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5 Г · ПАКЕТИК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DOUBLE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Подвійний рулетик норі — порція 5 г замість 2,5 г. У коробці 5 пакетиків.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ПАКЕТИК 5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$0,319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14,36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$0,403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18,13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$0,426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19,15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$0,495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22,27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Собівартість наведено за 1 пакетик (inner pack), а не за коробку: Wow ROLL — 2,5 г, Double Roll — 5 г. Джерело: SelfCost.xlsx, «TMK Thailand Co., Ltd -Retail».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DOUBLE ROLL та Wow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mk_dbl_sp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65" y="1225295"/>
            <a:ext cx="566428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5 Г · ПАКЕТИК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DOUBLE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Подвійний рулетик норі з гострою приправою. Крок нагору від базового формату.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ПАКЕТИК 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$0,319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14,36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$0,403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18,13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$0,426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19,15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$0,495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22,27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tmk_sw_o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74" y="1225295"/>
            <a:ext cx="77225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Смажені листи норі, приправлені та нарізані на порційні шматочки. Пакет 12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29,34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37,35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$0,877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39,45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$1,019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45,86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tmk_sw_spi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95" y="1225295"/>
            <a:ext cx="777649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Spicy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 саме з гострою приправою. Термін придатності 7 місяців — потребує швидкого обігу.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$0,652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29,34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37,35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39,45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$1,019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45,86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Собівартість наведено за 1 пакетик (inner pack), а не за коробку: Wow ROLL — 2,5 г, Double Roll — 5 г. Джерело: SelfCost.xlsx, «TMK Thailand Co., Ltd -Retail».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SEAWEED та Wow MINI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mk_sw_squ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836" y="1225295"/>
            <a:ext cx="756087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Squid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Смажена норі зі смаком кальмара. Термін придатності також 7 місяців.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30,00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38,18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40,33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46,89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tmk_mini_o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974" y="1225295"/>
            <a:ext cx="190005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10 Г · 36 ПАК/КАРТ.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MINI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Найменший пакет лінійки — 10 г. Формат для прикасової зони та дитячих наборів.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 10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29,55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37,10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39,18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$1,012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45,56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tmk_mini_spi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094" y="1225295"/>
            <a:ext cx="1900051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10 Г · 36 ПАК/КАРТ.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MINI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Гострий варіант міні-пакета 10 г. Ставиться в пару з Original на одній полиці.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2C713B"/>
                </a:solidFill>
                <a:latin typeface="Calibri"/>
              </a:rPr>
              <a:t>СОБІВАРТІСТЬ · 1 ПАКЕТ 10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$0,657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29,55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37,10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39,18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$1,012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45,56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Собівартість наведено за 1 пакетик (inner pack), а не за коробку: Wow ROLL — 2,5 г, Double Roll — 5 г. Джерело: SelfCost.xlsx, «TMK Thailand Co., Ltd -Retail».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394960" y="434340"/>
            <a:ext cx="3703320" cy="3703320"/>
          </a:xfrm>
          <a:prstGeom prst="ellipse">
            <a:avLst/>
          </a:prstGeom>
          <a:noFill/>
          <a:ln w="20320">
            <a:solidFill>
              <a:srgbClr val="F6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829300" y="868680"/>
            <a:ext cx="2834640" cy="2834640"/>
          </a:xfrm>
          <a:prstGeom prst="ellipse">
            <a:avLst/>
          </a:prstGeom>
          <a:noFill/>
          <a:ln w="15240">
            <a:solidFill>
              <a:srgbClr val="F0D8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240779" y="1280160"/>
            <a:ext cx="2011680" cy="2011680"/>
          </a:xfrm>
          <a:prstGeom prst="ellipse">
            <a:avLst/>
          </a:prstGeom>
          <a:noFill/>
          <a:ln w="12700">
            <a:solidFill>
              <a:srgbClr val="E9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806440" y="1700784"/>
            <a:ext cx="288036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4455" y="1792224"/>
            <a:ext cx="262432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 i="0">
                <a:solidFill>
                  <a:srgbClr val="AA3922"/>
                </a:solidFill>
                <a:latin typeface="Cambria"/>
              </a:rPr>
              <a:t>ZEK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99923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1">
                <a:solidFill>
                  <a:srgbClr val="F0D8D3"/>
                </a:solidFill>
                <a:latin typeface="Calibri"/>
              </a:rPr>
              <a:t>ZEK — Zesty Especial Kingdom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931920"/>
            <a:ext cx="3794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E8C4BD"/>
                </a:solidFill>
                <a:latin typeface="Calibri"/>
              </a:rPr>
              <a:t>ВИРОБНИЦТВО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4133087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Китай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ПРОФІЛЬ ПОСТАЧАЛЬНИКА ·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HanJin (Shanghai)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Food Co., Ltd.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3822"/>
                </a:solidFill>
                <a:latin typeface="Calibri"/>
              </a:rPr>
              <a:t>Темпура, сендвічі та присипка з норі · Retail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A3922"/>
                </a:solidFill>
                <a:latin typeface="Calibri"/>
              </a:rPr>
              <a:t>FOB Qingdao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23822"/>
                </a:solidFill>
                <a:latin typeface="Calibri"/>
              </a:rPr>
              <a:t>ПРО КОМПАНІЮ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ZEK — «Zesty Especial Kingdom», власний бренд Hanjin Food. Компанія заснована 2002 року у Вейхаї, головний офіс із 2014-го — у Шанхаї. Партнери групи — тайська Singha Group і корейська SPC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2002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у Вейхаї, Шаньдун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№1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частка ринку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приправленої норі в КНР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23822"/>
                </a:solidFill>
                <a:latin typeface="Calibri"/>
              </a:rPr>
              <a:t>СИРОВИНА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626864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4241F"/>
                </a:solidFill>
                <a:latin typeface="Calibri"/>
              </a:rPr>
              <a:t>Норі з острова Чеджу (Корея) та плантацій під Вейхаєм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E8C4B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Tempura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zek_tempura_corn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76" y="1225295"/>
            <a:ext cx="772526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Листи норі в хрусткому клярі темпура зі смаком солодкої кукурудзи. Пакет 30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30,33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36,04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44,02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zek_tempura_wasabi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909" y="1225295"/>
            <a:ext cx="76734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Wasabi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 в клярі темпура з васабі. Гострий варіант тієї самої лінійки, 30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30,33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36,04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44,02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zek_tempura_mala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156" y="1225295"/>
            <a:ext cx="772526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Mala Crawfish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 в темпурі з приправою мала — гостро-пряний китайський смак раків. 30 г.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30,33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36,04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$0,978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44,02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zek_tempura_corn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404" y="1225295"/>
            <a:ext cx="777711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Corn · 50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Кукурудзяна темпура у великому пакеті 50 г. Ціна за грам нижча, ніж у 30 г.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$1,019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45,84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54,47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$1,396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$1,479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66,54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«ZEK -Retail».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Tempura Seaweed та Sandwich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zek_tempura_wasabi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76" y="1225295"/>
            <a:ext cx="772526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Wasabi · 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Темпура з васабі у пакеті 50 г — формат для домашнього споживання.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$1,019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45,84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54,47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$1,396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$1,479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66,54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zek_tempura_mala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01" y="1225295"/>
            <a:ext cx="762157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Mala · 50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Темпура мала у пакеті 50 г. Замикає лінійку великих фасовок.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$1,019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45,84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$1,210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54,47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$1,396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$1,479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66,54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zek_sandwich_meat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849" y="1225295"/>
            <a:ext cx="749141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25 Г · 30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Sandwich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Meat Floss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Два листи норі з прошарком сушеної м’ясної стружки між ними. Пакет 25 г.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$0,486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21,86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$0,577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25,98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$0,666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29,96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$0,705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31,74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zek_sandwich_sesame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048" y="1225295"/>
            <a:ext cx="734422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25 Г · 30 ШТ/КАРТ.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Sandwich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Два листи норі з кунжутним прошарком. Вегетаріанський варіант сендвіча.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$0,486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22,35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7939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$0,577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26,56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1655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$0,666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30,63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53712"/>
            <a:ext cx="46853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$0,705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53712"/>
            <a:ext cx="53547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32,44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«ZEK -Retail».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zek_topping_chicken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50" y="1225295"/>
            <a:ext cx="745259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Chicken Floss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Подрібнена норі з курячою стружкою — присипка до рису та супів. Збагачена DHA.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28,21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$0,745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33,52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38,66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40,95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zek_topping_veg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48" y="1225295"/>
            <a:ext cx="743902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Vegetables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Норі-присипка з овочами. Паковання орієнтоване на дитячу аудиторію.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28,21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$0,745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33,52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38,66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40,95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zek_topping_sesam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003" y="1225295"/>
            <a:ext cx="736233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Норі-присипка з кунжутом — базовий смак напрямку, без м’ясних добавок.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$0,627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28,84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$0,745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34,27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$0,859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39,52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41,86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«ZEK -Retail».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36284" y="530352"/>
            <a:ext cx="2841955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36284" y="530352"/>
            <a:ext cx="284195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роздрібною 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zek_topping_veg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02" y="1225295"/>
            <a:ext cx="694755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Vegetables · 70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Овочева присипка у великому пакеті 70 г. Розрахована на родину або HoReCa.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$1,269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59,66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70,90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$1,740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81,77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$1,843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86,61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zek_topping_sesam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029" y="1225295"/>
            <a:ext cx="699940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 · 70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Кунжутна присипка у пакеті 70 г — удвічі більший обсяг за той самий смак.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$1,269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60,93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$1,508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72,41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$1,740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83,51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$1,843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88,45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zek_topping_chicken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149" y="1225295"/>
            <a:ext cx="699940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Chicken · 70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Присипка з курячою стружкою, 70 г. Найдорожча позиція в розрахунку ZEK.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$1,269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62,20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7939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$1,508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73,91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1655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$1,740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85,25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53712"/>
            <a:ext cx="66909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$1,843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53712"/>
            <a:ext cx="76468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90,30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Собівартість повна: ціна постачальника + логістика + мито + ПДВ 20%. Це не ціна продажу. Джерело: SelfCost.xlsx, «ZEK -Retail».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