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4.png"/><Relationship Id="rId4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3246120" cy="5143500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74320" y="768096"/>
            <a:ext cx="12801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900895"/>
            <a:ext cx="1133855" cy="1471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691640" y="768096"/>
            <a:ext cx="12801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k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4792" y="920179"/>
            <a:ext cx="1133856" cy="143319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74320" y="2642615"/>
            <a:ext cx="12801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tmk_roll_or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394" y="2715768"/>
            <a:ext cx="914010" cy="159105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691640" y="2642615"/>
            <a:ext cx="12801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veg3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4792" y="2747518"/>
            <a:ext cx="1133856" cy="15275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49039" y="1133856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DC04B"/>
                </a:solidFill>
                <a:latin typeface="Calibri"/>
              </a:rPr>
              <a:t>КАТАЛОГ ПОСТАЧАЛЬНИКІВ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1481328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100" b="1" i="0">
                <a:solidFill>
                  <a:srgbClr val="FFFFFF"/>
                </a:solidFill>
                <a:latin typeface="Cambria"/>
              </a:rPr>
              <a:t>Азійські снеки</a:t>
            </a:r>
          </a:p>
          <a:p>
            <a:pPr algn="l">
              <a:lnSpc>
                <a:spcPct val="112000"/>
              </a:lnSpc>
            </a:pPr>
            <a:r>
              <a:rPr sz="3100" b="1" i="0">
                <a:solidFill>
                  <a:srgbClr val="FFFFFF"/>
                </a:solidFill>
                <a:latin typeface="Cambria"/>
              </a:rPr>
              <a:t>з водоростей і рису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39" y="2907792"/>
            <a:ext cx="1188720" cy="45720"/>
          </a:xfrm>
          <a:prstGeom prst="rect">
            <a:avLst/>
          </a:prstGeom>
          <a:solidFill>
            <a:srgbClr val="6DC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749039" y="3163824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Продукти постачальників, короткі описи та собівартість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одиниці товару в доларах і гривні — за всіма сценаріями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доставки з файлу Self Cost.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1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806440" y="960120"/>
            <a:ext cx="2926080" cy="2926080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897880" y="1234440"/>
            <a:ext cx="274320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500" b="1" i="0">
                <a:solidFill>
                  <a:srgbClr val="FFFFFF"/>
                </a:solidFill>
                <a:latin typeface="Cambria"/>
              </a:rPr>
              <a:t>SINGHA</a:t>
            </a:r>
          </a:p>
          <a:p>
            <a:pPr algn="ctr">
              <a:lnSpc>
                <a:spcPct val="108000"/>
              </a:lnSpc>
            </a:pPr>
            <a:r>
              <a:rPr sz="2500" b="1" i="0">
                <a:solidFill>
                  <a:srgbClr val="FFFFFF"/>
                </a:solidFill>
                <a:latin typeface="Cambria"/>
              </a:rPr>
              <a:t>KAMEDA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2761488"/>
            <a:ext cx="640080" cy="36576"/>
          </a:xfrm>
          <a:prstGeom prst="rect">
            <a:avLst/>
          </a:prstGeom>
          <a:solidFill>
            <a:srgbClr val="6DC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897880" y="2962656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DC04B"/>
                </a:solidFill>
                <a:latin typeface="Calibri"/>
              </a:rPr>
              <a:t>Arare Norimaki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4133087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 SKU із собівартістю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66928"/>
            <a:ext cx="237744" cy="237744"/>
          </a:xfrm>
          <a:prstGeom prst="rect">
            <a:avLst/>
          </a:prstGeom>
          <a:solidFill>
            <a:srgbClr val="6DC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54864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6E4A"/>
                </a:solidFill>
                <a:latin typeface="Calibri"/>
              </a:rPr>
              <a:t>ПОСТАЧАЛЬНИК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060704"/>
            <a:ext cx="4709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1A3A2A"/>
                </a:solidFill>
                <a:latin typeface="Cambria"/>
              </a:rPr>
              <a:t>Singha Kameda</a:t>
            </a:r>
          </a:p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1A3A2A"/>
                </a:solidFill>
                <a:latin typeface="Cambria"/>
              </a:rPr>
              <a:t>(Thailand) Co.,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42032"/>
            <a:ext cx="1188720" cy="45720"/>
          </a:xfrm>
          <a:prstGeom prst="rect">
            <a:avLst/>
          </a:prstGeom>
          <a:solidFill>
            <a:srgbClr val="6DC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5760" y="2779776"/>
            <a:ext cx="4663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2E1C"/>
                </a:solidFill>
                <a:latin typeface="Calibri"/>
              </a:rPr>
              <a:t>Спільне підприємство японської Kameda Seika — світового лідера ринку рисових крекерів — та тайської групи Singha. Виробництво в Таїланді за японськими стандартами.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59936"/>
            <a:ext cx="946404" cy="310896"/>
          </a:xfrm>
          <a:prstGeom prst="roundRect">
            <a:avLst>
              <a:gd name="adj" fmla="val 22000"/>
            </a:avLst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4059936"/>
            <a:ext cx="946404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2E6E4A"/>
                </a:solidFill>
                <a:latin typeface="Calibri"/>
              </a:rPr>
              <a:t>Таїланд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58468" y="4059936"/>
            <a:ext cx="1257300" cy="310896"/>
          </a:xfrm>
          <a:prstGeom prst="roundRect">
            <a:avLst>
              <a:gd name="adj" fmla="val 22000"/>
            </a:avLst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458468" y="4059936"/>
            <a:ext cx="1257300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2E6E4A"/>
                </a:solidFill>
                <a:latin typeface="Calibri"/>
              </a:rPr>
              <a:t>FOB Bangkok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0"/>
            <a:ext cx="621791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79" y="0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6DC04B"/>
                </a:solidFill>
                <a:latin typeface="Calibri"/>
              </a:rPr>
              <a:t>Arare Norimaki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98448"/>
            <a:ext cx="4069079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781" y="1426464"/>
            <a:ext cx="897037" cy="113385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600200" y="2651760"/>
            <a:ext cx="1600200" cy="274320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600200" y="2651760"/>
            <a:ext cx="1600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99232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A3A2A"/>
                </a:solidFill>
                <a:latin typeface="Cambria"/>
              </a:rPr>
              <a:t>Arare Norimaki Original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419856"/>
            <a:ext cx="33009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2E1C"/>
                </a:solidFill>
                <a:latin typeface="Calibri"/>
              </a:rPr>
              <a:t>Японські рисові крекери арарe у хрусткій водорості норі. Класичний смак соєвого соусу.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3877056"/>
            <a:ext cx="3630167" cy="914400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13232" y="3931920"/>
            <a:ext cx="337413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4114800"/>
            <a:ext cx="843533" cy="603503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13232" y="4178808"/>
            <a:ext cx="84353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343400"/>
            <a:ext cx="8435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mbria"/>
              </a:rPr>
              <a:t>$1,035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590288"/>
            <a:ext cx="84353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46,59 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6766" y="4178808"/>
            <a:ext cx="84353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3D5A40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6766" y="4343400"/>
            <a:ext cx="8435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A3A2A"/>
                </a:solidFill>
                <a:latin typeface="Cambria"/>
              </a:rPr>
              <a:t>$1,298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6766" y="4590288"/>
            <a:ext cx="84353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D5A40"/>
                </a:solidFill>
                <a:latin typeface="Calibri"/>
              </a:rPr>
              <a:t>58,40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0300" y="4178808"/>
            <a:ext cx="84353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3D5A40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00300" y="4343400"/>
            <a:ext cx="8435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A3A2A"/>
                </a:solidFill>
                <a:latin typeface="Cambria"/>
              </a:rPr>
              <a:t>$1,281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00300" y="4590288"/>
            <a:ext cx="84353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D5A40"/>
                </a:solidFill>
                <a:latin typeface="Calibri"/>
              </a:rPr>
              <a:t>57,66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3834" y="4178808"/>
            <a:ext cx="84353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3D5A40"/>
                </a:solidFill>
                <a:latin typeface="Calibri"/>
              </a:rPr>
              <a:t>Збірний 17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3834" y="4343400"/>
            <a:ext cx="8435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A3A2A"/>
                </a:solidFill>
                <a:latin typeface="Cambria"/>
              </a:rPr>
              <a:t>$1,806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3834" y="4590288"/>
            <a:ext cx="84353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D5A40"/>
                </a:solidFill>
                <a:latin typeface="Calibri"/>
              </a:rPr>
              <a:t>81,28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09159" y="1298448"/>
            <a:ext cx="4069079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381" y="1426464"/>
            <a:ext cx="860637" cy="1133856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5943599" y="2651760"/>
            <a:ext cx="1600200" cy="274320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943599" y="2651760"/>
            <a:ext cx="1600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83479" y="2999232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A3A2A"/>
                </a:solidFill>
                <a:latin typeface="Cambria"/>
              </a:rPr>
              <a:t>Arare Norimaki Wasabi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93207" y="3419856"/>
            <a:ext cx="33009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2E1C"/>
                </a:solidFill>
                <a:latin typeface="Calibri"/>
              </a:rPr>
              <a:t>Ті самі крекери арарe в норі, але з пікантною ноткою японського васабі.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28616" y="3877056"/>
            <a:ext cx="3630167" cy="914400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056631" y="3931920"/>
            <a:ext cx="337413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56631" y="4114800"/>
            <a:ext cx="843533" cy="603503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056631" y="4178808"/>
            <a:ext cx="84353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56631" y="4343400"/>
            <a:ext cx="8435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mbria"/>
              </a:rPr>
              <a:t>$1,035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56631" y="4590288"/>
            <a:ext cx="84353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46,59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00165" y="4178808"/>
            <a:ext cx="84353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3D5A40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00165" y="4343400"/>
            <a:ext cx="8435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A3A2A"/>
                </a:solidFill>
                <a:latin typeface="Cambria"/>
              </a:rPr>
              <a:t>$1,298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00165" y="4590288"/>
            <a:ext cx="84353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D5A40"/>
                </a:solidFill>
                <a:latin typeface="Calibri"/>
              </a:rPr>
              <a:t>58,40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43699" y="4178808"/>
            <a:ext cx="84353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3D5A40"/>
                </a:solidFill>
                <a:latin typeface="Calibri"/>
              </a:rPr>
              <a:t>Збірний 34 м³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43699" y="4343400"/>
            <a:ext cx="8435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A3A2A"/>
                </a:solidFill>
                <a:latin typeface="Cambria"/>
              </a:rPr>
              <a:t>$1,281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3699" y="4590288"/>
            <a:ext cx="84353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D5A40"/>
                </a:solidFill>
                <a:latin typeface="Calibri"/>
              </a:rPr>
              <a:t>57,66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7233" y="4178808"/>
            <a:ext cx="84353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3D5A40"/>
                </a:solidFill>
                <a:latin typeface="Calibri"/>
              </a:rPr>
              <a:t>Збірний 17 м³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7233" y="4343400"/>
            <a:ext cx="8435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A3A2A"/>
                </a:solidFill>
                <a:latin typeface="Cambria"/>
              </a:rPr>
              <a:t>$1,806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87233" y="4590288"/>
            <a:ext cx="84353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D5A40"/>
                </a:solidFill>
                <a:latin typeface="Calibri"/>
              </a:rPr>
              <a:t>81,28 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1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806440" y="960120"/>
            <a:ext cx="2926080" cy="2926080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897880" y="1234440"/>
            <a:ext cx="274320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500" b="1" i="0">
                <a:solidFill>
                  <a:srgbClr val="FFFFFF"/>
                </a:solidFill>
                <a:latin typeface="Cambria"/>
              </a:rPr>
              <a:t>THAI</a:t>
            </a:r>
          </a:p>
          <a:p>
            <a:pPr algn="ctr">
              <a:lnSpc>
                <a:spcPct val="108000"/>
              </a:lnSpc>
            </a:pPr>
            <a:r>
              <a:rPr sz="2500" b="1" i="0">
                <a:solidFill>
                  <a:srgbClr val="FFFFFF"/>
                </a:solidFill>
                <a:latin typeface="Cambria"/>
              </a:rPr>
              <a:t>NICHI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2761488"/>
            <a:ext cx="640080" cy="36576"/>
          </a:xfrm>
          <a:prstGeom prst="rect">
            <a:avLst/>
          </a:prstGeom>
          <a:solidFill>
            <a:srgbClr val="6DC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897880" y="2962656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DC04B"/>
                </a:solidFill>
                <a:latin typeface="Calibri"/>
              </a:rPr>
              <a:t>Mizuho · Norimaki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4133087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 SKU із собівартістю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66928"/>
            <a:ext cx="237744" cy="237744"/>
          </a:xfrm>
          <a:prstGeom prst="rect">
            <a:avLst/>
          </a:prstGeom>
          <a:solidFill>
            <a:srgbClr val="6DC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54864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6E4A"/>
                </a:solidFill>
                <a:latin typeface="Calibri"/>
              </a:rPr>
              <a:t>ПОСТАЧАЛЬНИК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060704"/>
            <a:ext cx="4709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1A3A2A"/>
                </a:solidFill>
                <a:latin typeface="Cambria"/>
              </a:rPr>
              <a:t>Thai-Nichi</a:t>
            </a:r>
          </a:p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1A3A2A"/>
                </a:solidFill>
                <a:latin typeface="Cambria"/>
              </a:rPr>
              <a:t>Industries Co.,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42032"/>
            <a:ext cx="1188720" cy="45720"/>
          </a:xfrm>
          <a:prstGeom prst="rect">
            <a:avLst/>
          </a:prstGeom>
          <a:solidFill>
            <a:srgbClr val="6DC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5760" y="2779776"/>
            <a:ext cx="4663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2E1C"/>
                </a:solidFill>
                <a:latin typeface="Calibri"/>
              </a:rPr>
              <a:t>Тайсько-японський виробник рисових снеків із найширшим прайсом серед усіх постачальників — 28 позицій. Одна фабрика закриває і крекери, і чипси, і протеїнові снеки.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59936"/>
            <a:ext cx="946404" cy="310896"/>
          </a:xfrm>
          <a:prstGeom prst="roundRect">
            <a:avLst>
              <a:gd name="adj" fmla="val 22000"/>
            </a:avLst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4059936"/>
            <a:ext cx="946404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2E6E4A"/>
                </a:solidFill>
                <a:latin typeface="Calibri"/>
              </a:rPr>
              <a:t>Таїланд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58468" y="4059936"/>
            <a:ext cx="1257300" cy="310896"/>
          </a:xfrm>
          <a:prstGeom prst="roundRect">
            <a:avLst>
              <a:gd name="adj" fmla="val 22000"/>
            </a:avLst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458468" y="4059936"/>
            <a:ext cx="1257300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2E6E4A"/>
                </a:solidFill>
                <a:latin typeface="Calibri"/>
              </a:rPr>
              <a:t>FOB Bangkok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0"/>
            <a:ext cx="621791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79" y="0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6DC04B"/>
                </a:solidFill>
                <a:latin typeface="Calibri"/>
              </a:rPr>
              <a:t>Mizuho · Norimaki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98448"/>
            <a:ext cx="4069079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6383" y="1426464"/>
            <a:ext cx="947832" cy="113385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600200" y="2651760"/>
            <a:ext cx="1600200" cy="274320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600200" y="2651760"/>
            <a:ext cx="1600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99232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A3A2A"/>
                </a:solidFill>
                <a:latin typeface="Cambria"/>
              </a:rPr>
              <a:t>Norimaki Original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419856"/>
            <a:ext cx="33009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2E1C"/>
                </a:solidFill>
                <a:latin typeface="Calibri"/>
              </a:rPr>
              <a:t>Рисовий крекер у норі за японською рецептурою. Хрусткий, з делікатним смаком соєвого соусу.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3877056"/>
            <a:ext cx="3630167" cy="914400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13232" y="3931920"/>
            <a:ext cx="337413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4114800"/>
            <a:ext cx="843533" cy="603503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13232" y="4178808"/>
            <a:ext cx="84353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343400"/>
            <a:ext cx="8435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mbria"/>
              </a:rPr>
              <a:t>$0,794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590288"/>
            <a:ext cx="84353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35,74 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6766" y="4178808"/>
            <a:ext cx="84353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3D5A40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6766" y="4343400"/>
            <a:ext cx="8435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A3A2A"/>
                </a:solidFill>
                <a:latin typeface="Cambria"/>
              </a:rPr>
              <a:t>$1,034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6766" y="4590288"/>
            <a:ext cx="84353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D5A40"/>
                </a:solidFill>
                <a:latin typeface="Calibri"/>
              </a:rPr>
              <a:t>46,53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0300" y="4178808"/>
            <a:ext cx="84353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3D5A40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00300" y="4343400"/>
            <a:ext cx="8435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A3A2A"/>
                </a:solidFill>
                <a:latin typeface="Cambria"/>
              </a:rPr>
              <a:t>$0,973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00300" y="4590288"/>
            <a:ext cx="84353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D5A40"/>
                </a:solidFill>
                <a:latin typeface="Calibri"/>
              </a:rPr>
              <a:t>43,80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3834" y="4178808"/>
            <a:ext cx="84353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3D5A40"/>
                </a:solidFill>
                <a:latin typeface="Calibri"/>
              </a:rPr>
              <a:t>Збірний 17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3834" y="4343400"/>
            <a:ext cx="8435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A3A2A"/>
                </a:solidFill>
                <a:latin typeface="Cambria"/>
              </a:rPr>
              <a:t>$1,453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3834" y="4590288"/>
            <a:ext cx="84353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D5A40"/>
                </a:solidFill>
                <a:latin typeface="Calibri"/>
              </a:rPr>
              <a:t>65,39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09159" y="1298448"/>
            <a:ext cx="4069079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5273" y="1426464"/>
            <a:ext cx="936853" cy="1133856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5943599" y="2651760"/>
            <a:ext cx="1600200" cy="274320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943599" y="2651760"/>
            <a:ext cx="1600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83479" y="2999232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A3A2A"/>
                </a:solidFill>
                <a:latin typeface="Cambria"/>
              </a:rPr>
              <a:t>Norimaki Wasabi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93207" y="3419856"/>
            <a:ext cx="33009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2E1C"/>
                </a:solidFill>
                <a:latin typeface="Calibri"/>
              </a:rPr>
              <a:t>Рисовий крекер у норі з гострим васабі. Найбільша фасовка лінійки — 55 г.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28616" y="3877056"/>
            <a:ext cx="3630167" cy="914400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056631" y="3931920"/>
            <a:ext cx="337413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56631" y="4114800"/>
            <a:ext cx="843533" cy="603503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056631" y="4178808"/>
            <a:ext cx="84353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56631" y="4343400"/>
            <a:ext cx="8435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mbria"/>
              </a:rPr>
              <a:t>$0,993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56631" y="4590288"/>
            <a:ext cx="84353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44,67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00165" y="4178808"/>
            <a:ext cx="84353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3D5A40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00165" y="4343400"/>
            <a:ext cx="8435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A3A2A"/>
                </a:solidFill>
                <a:latin typeface="Cambria"/>
              </a:rPr>
              <a:t>$1,293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00165" y="4590288"/>
            <a:ext cx="84353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D5A40"/>
                </a:solidFill>
                <a:latin typeface="Calibri"/>
              </a:rPr>
              <a:t>58,17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43699" y="4178808"/>
            <a:ext cx="84353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3D5A40"/>
                </a:solidFill>
                <a:latin typeface="Calibri"/>
              </a:rPr>
              <a:t>Збірний 34 м³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43699" y="4343400"/>
            <a:ext cx="8435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A3A2A"/>
                </a:solidFill>
                <a:latin typeface="Cambria"/>
              </a:rPr>
              <a:t>$1,217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3699" y="4590288"/>
            <a:ext cx="84353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D5A40"/>
                </a:solidFill>
                <a:latin typeface="Calibri"/>
              </a:rPr>
              <a:t>54,75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7233" y="4178808"/>
            <a:ext cx="84353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3D5A40"/>
                </a:solidFill>
                <a:latin typeface="Calibri"/>
              </a:rPr>
              <a:t>Збірний 17 м³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7233" y="4343400"/>
            <a:ext cx="8435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A3A2A"/>
                </a:solidFill>
                <a:latin typeface="Cambria"/>
              </a:rPr>
              <a:t>$1,817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87233" y="4590288"/>
            <a:ext cx="84353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D5A40"/>
                </a:solidFill>
                <a:latin typeface="Calibri"/>
              </a:rPr>
              <a:t>81,74 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1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806440" y="960120"/>
            <a:ext cx="2926080" cy="2926080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897880" y="1234440"/>
            <a:ext cx="274320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500" b="1" i="0">
                <a:solidFill>
                  <a:srgbClr val="FFFFFF"/>
                </a:solidFill>
                <a:latin typeface="Cambria"/>
              </a:rPr>
              <a:t>KOKIRI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2761488"/>
            <a:ext cx="640080" cy="36576"/>
          </a:xfrm>
          <a:prstGeom prst="rect">
            <a:avLst/>
          </a:prstGeom>
          <a:solidFill>
            <a:srgbClr val="6DC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897880" y="2962656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DC04B"/>
                </a:solidFill>
                <a:latin typeface="Calibri"/>
              </a:rPr>
              <a:t>KOKIRI Wow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4133087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10 SKU із собівартістю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66928"/>
            <a:ext cx="237744" cy="237744"/>
          </a:xfrm>
          <a:prstGeom prst="rect">
            <a:avLst/>
          </a:prstGeom>
          <a:solidFill>
            <a:srgbClr val="6DC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54864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6E4A"/>
                </a:solidFill>
                <a:latin typeface="Calibri"/>
              </a:rPr>
              <a:t>ПОСТАЧАЛЬНИК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060704"/>
            <a:ext cx="4709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1A3A2A"/>
                </a:solidFill>
                <a:latin typeface="Cambria"/>
              </a:rPr>
              <a:t>TMK (Thailand)</a:t>
            </a:r>
          </a:p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1A3A2A"/>
                </a:solidFill>
                <a:latin typeface="Cambria"/>
              </a:rPr>
              <a:t>Co.,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42032"/>
            <a:ext cx="1188720" cy="45720"/>
          </a:xfrm>
          <a:prstGeom prst="rect">
            <a:avLst/>
          </a:prstGeom>
          <a:solidFill>
            <a:srgbClr val="6DC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5760" y="2779776"/>
            <a:ext cx="4663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2E1C"/>
                </a:solidFill>
                <a:latin typeface="Calibri"/>
              </a:rPr>
              <a:t>Тайський виробник снеків із водоростей під брендом KOKIRI Wow. Найнижча собівартість одиниці в каталозі — за рахунок мінімальної фасовки та дитячого позиціонування.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59936"/>
            <a:ext cx="946404" cy="310896"/>
          </a:xfrm>
          <a:prstGeom prst="roundRect">
            <a:avLst>
              <a:gd name="adj" fmla="val 22000"/>
            </a:avLst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4059936"/>
            <a:ext cx="946404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2E6E4A"/>
                </a:solidFill>
                <a:latin typeface="Calibri"/>
              </a:rPr>
              <a:t>Таїланд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58468" y="4059936"/>
            <a:ext cx="1257300" cy="310896"/>
          </a:xfrm>
          <a:prstGeom prst="roundRect">
            <a:avLst>
              <a:gd name="adj" fmla="val 22000"/>
            </a:avLst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458468" y="4059936"/>
            <a:ext cx="1257300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2E6E4A"/>
                </a:solidFill>
                <a:latin typeface="Calibri"/>
              </a:rPr>
              <a:t>FOB Bangkok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0"/>
            <a:ext cx="621791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TMK · KOKIRI ·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79" y="0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6DC04B"/>
                </a:solidFill>
                <a:latin typeface="Calibri"/>
              </a:rPr>
              <a:t>KOKIRI Wow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98448"/>
            <a:ext cx="1979676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927" y="1408176"/>
            <a:ext cx="609340" cy="10607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0674" y="2560320"/>
            <a:ext cx="1069848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0674" y="2560320"/>
            <a:ext cx="1069848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2,5 г · пакетик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871215"/>
            <a:ext cx="16870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Wow ROLL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Original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310128"/>
            <a:ext cx="16870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Рулетик із водорості норі з рисовим крекером усередині. У коробці 10 пакетиків.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3877056"/>
            <a:ext cx="1760220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3922776"/>
            <a:ext cx="15773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4096512"/>
            <a:ext cx="1650492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03504" y="4096512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167" y="4096512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7233" y="4096512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4261104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167" y="4261104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$0,238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7233" y="4261104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10,72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" y="4425696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167" y="4425696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$0,235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7233" y="4425696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10,59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4590288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167" y="4590288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$0,345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7233" y="4590288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15,55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10028" y="1298448"/>
            <a:ext cx="1979676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3911" y="1408176"/>
            <a:ext cx="631908" cy="1060704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2964942" y="2560320"/>
            <a:ext cx="1069848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964942" y="2560320"/>
            <a:ext cx="1069848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2,5 г · пакетик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6332" y="2871215"/>
            <a:ext cx="16870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Wow ROLL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Hot Spicy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6332" y="3310128"/>
            <a:ext cx="16870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Той самий рулетик норі з гострою приправою. Найпопулярніший смак лінійки.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19756" y="3877056"/>
            <a:ext cx="1760220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711196" y="3922776"/>
            <a:ext cx="15773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74620" y="4096512"/>
            <a:ext cx="1650492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2747772" y="4096512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53435" y="4096512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81501" y="4096512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7772" y="4261104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53435" y="4261104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$0,238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81501" y="4261104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10,72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7772" y="4425696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53435" y="4425696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$0,235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81501" y="4425696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10,59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7772" y="4590288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53435" y="4590288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$0,345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81501" y="4590288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15,55 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54296" y="1298448"/>
            <a:ext cx="1979676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9463" y="1408176"/>
            <a:ext cx="609340" cy="1060704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5109210" y="2560320"/>
            <a:ext cx="1069848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5109210" y="2560320"/>
            <a:ext cx="1069848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2,5 г · пакетик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600" y="2871215"/>
            <a:ext cx="16870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Wow ROLL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Spicy Squid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00600" y="3310128"/>
            <a:ext cx="16870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Рулетик норі зі смаком гострого кальмара — азійський смаковий профіль.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64024" y="3877056"/>
            <a:ext cx="1760220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855464" y="3922776"/>
            <a:ext cx="15773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18888" y="4096512"/>
            <a:ext cx="1650492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4892040" y="4096512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97703" y="4096512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25769" y="4096512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4261104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97703" y="4261104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$0,238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25769" y="4261104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10,72 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92040" y="4425696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7703" y="4425696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25769" y="4425696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10,59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92040" y="4590288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97703" y="4590288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$0,345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25769" y="4590288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15,55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798564" y="1298448"/>
            <a:ext cx="1979676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0" name="Picture 69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0432" y="1408176"/>
            <a:ext cx="675938" cy="1060704"/>
          </a:xfrm>
          <a:prstGeom prst="rect">
            <a:avLst/>
          </a:prstGeom>
        </p:spPr>
      </p:pic>
      <p:sp>
        <p:nvSpPr>
          <p:cNvPr id="71" name="Rounded Rectangle 70"/>
          <p:cNvSpPr/>
          <p:nvPr/>
        </p:nvSpPr>
        <p:spPr>
          <a:xfrm>
            <a:off x="7306513" y="2560320"/>
            <a:ext cx="963777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7306513" y="2560320"/>
            <a:ext cx="963777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5 г · пакетик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4868" y="2871215"/>
            <a:ext cx="16870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Original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44868" y="3310128"/>
            <a:ext cx="16870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Подвійна порція рулетиків норі. У коробці 5 пакетиків.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908292" y="3877056"/>
            <a:ext cx="1760220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999732" y="3922776"/>
            <a:ext cx="15773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963156" y="4096512"/>
            <a:ext cx="1650492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7036308" y="4096512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541971" y="4096512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$0,303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70037" y="4096512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13,66 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36308" y="4261104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41971" y="4261104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$0,426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070037" y="4261104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19,15 ₴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036308" y="4425696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41971" y="4425696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$0,420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70037" y="4425696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18,92 ₴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36308" y="4590288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41971" y="4590288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$0,617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70037" y="4590288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27,78 ₴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5760" y="4924044"/>
            <a:ext cx="8412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1">
                <a:solidFill>
                  <a:srgbClr val="3D5A40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0"/>
            <a:ext cx="621791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TMK · KOKIRI ·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79" y="0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6DC04B"/>
                </a:solidFill>
                <a:latin typeface="Calibri"/>
              </a:rPr>
              <a:t>KOKIRI Wow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98448"/>
            <a:ext cx="2694432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tmk_dbl_sp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989" y="1408176"/>
            <a:ext cx="689972" cy="10607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231087" y="2560320"/>
            <a:ext cx="963777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31087" y="2560320"/>
            <a:ext cx="963777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5 г · пакетик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871215"/>
            <a:ext cx="24018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Hot Spicy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310128"/>
            <a:ext cx="2401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Подвійна порція рулетиків норі з гострою приправою.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3877056"/>
            <a:ext cx="2474976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3922776"/>
            <a:ext cx="2292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4096512"/>
            <a:ext cx="2365248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03504" y="4096512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6479" y="4096512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$0,303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972" y="4096512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13,66 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4261104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6479" y="4261104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$0,426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8972" y="4261104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19,15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" y="4425696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66479" y="4425696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$0,420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8972" y="4425696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18,92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4590288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66479" y="4590288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$0,617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8972" y="4590288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27,78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24784" y="1298448"/>
            <a:ext cx="2694432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tmk_sw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6870" y="1408176"/>
            <a:ext cx="810260" cy="1060704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31005" y="2560320"/>
            <a:ext cx="1281988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931005" y="2560320"/>
            <a:ext cx="1281988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71088" y="2871215"/>
            <a:ext cx="24018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Wow SEAWEED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Original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71088" y="3310128"/>
            <a:ext cx="2401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Смажені листи норі, приправлені та нарізані на порційні шматочки.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34512" y="3877056"/>
            <a:ext cx="2474976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425952" y="3922776"/>
            <a:ext cx="2292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89376" y="4096512"/>
            <a:ext cx="2365248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462528" y="4096512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5503" y="4096512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67996" y="4096512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27,90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62528" y="4261104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25503" y="4261104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$0,877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67996" y="4261104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39,45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62528" y="4425696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25503" y="4425696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$0,866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67996" y="4425696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38,97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62528" y="4590288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25503" y="4590288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$1,272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67996" y="4590288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57,22 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83808" y="1298448"/>
            <a:ext cx="2694432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tmk_sw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626" y="1408176"/>
            <a:ext cx="780796" cy="1060704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6790029" y="2560320"/>
            <a:ext cx="1281988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790029" y="2560320"/>
            <a:ext cx="1281988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0112" y="2871215"/>
            <a:ext cx="24018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Wow SEAWEED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Spicy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0112" y="3310128"/>
            <a:ext cx="2401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Смажена норі з гострою приправою. Термін придатності 7 місяців.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93536" y="3877056"/>
            <a:ext cx="2474976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284976" y="3922776"/>
            <a:ext cx="2292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48400" y="4096512"/>
            <a:ext cx="2365248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321552" y="4096512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4527" y="4096512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27020" y="4096512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27,90 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1552" y="4261104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84527" y="4261104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$0,877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27020" y="4261104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39,45 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21552" y="4425696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84527" y="4425696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$0,866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27020" y="4425696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38,97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1552" y="4590288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84527" y="4590288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$1,272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27020" y="4590288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57,22 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924044"/>
            <a:ext cx="8412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1">
                <a:solidFill>
                  <a:srgbClr val="3D5A40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0"/>
            <a:ext cx="621791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TMK · KOKIRI ·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79" y="0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6DC04B"/>
                </a:solidFill>
                <a:latin typeface="Calibri"/>
              </a:rPr>
              <a:t>KOKIRI Wow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98448"/>
            <a:ext cx="2694432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tmk_sw_squ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212" y="1408176"/>
            <a:ext cx="795528" cy="10607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71981" y="2560320"/>
            <a:ext cx="1281988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71981" y="2560320"/>
            <a:ext cx="1281988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871215"/>
            <a:ext cx="24018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Wow SEAWEED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Squid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310128"/>
            <a:ext cx="2401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Смажена норі зі смаком кальмара — позиція для спеціалізованої роздрібу.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3877056"/>
            <a:ext cx="2474976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3922776"/>
            <a:ext cx="2292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4096512"/>
            <a:ext cx="2365248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03504" y="4096512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6479" y="4096512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972" y="4096512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28,52 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4261104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6479" y="4261104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$0,877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8972" y="4261104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40,33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" y="4425696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66479" y="4425696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$0,866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8972" y="4425696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39,84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4590288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66479" y="4590288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$1,272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8972" y="4590288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58,50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24784" y="1298448"/>
            <a:ext cx="2694432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tmk_mini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5430" y="1408176"/>
            <a:ext cx="673139" cy="1060704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31005" y="2560320"/>
            <a:ext cx="1281988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931005" y="2560320"/>
            <a:ext cx="1281988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71088" y="2871215"/>
            <a:ext cx="24018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Wow MINI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Original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71088" y="3310128"/>
            <a:ext cx="2401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Міні-формат смаженої норі для імпульсної покупки біля каси.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34512" y="3877056"/>
            <a:ext cx="2474976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425952" y="3922776"/>
            <a:ext cx="2292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89376" y="4096512"/>
            <a:ext cx="2365248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462528" y="4096512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5503" y="4096512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$0,624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67996" y="4096512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28,10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62528" y="4261104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25503" y="4261104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$0,871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67996" y="4261104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39,18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62528" y="4425696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25503" y="4425696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$0,860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67996" y="4425696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38,71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62528" y="4590288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25503" y="4590288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$1,263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67996" y="4590288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56,84 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83808" y="1298448"/>
            <a:ext cx="2694432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tmk_mini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1782" y="1408176"/>
            <a:ext cx="638482" cy="1060704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6790029" y="2560320"/>
            <a:ext cx="1281988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790029" y="2560320"/>
            <a:ext cx="1281988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0112" y="2871215"/>
            <a:ext cx="24018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Wow MINI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Hot Spicy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0112" y="3310128"/>
            <a:ext cx="2401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Гострий міні-формат норі. Пара до Original для викладки у прикасовій зоні.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93536" y="3877056"/>
            <a:ext cx="2474976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284976" y="3922776"/>
            <a:ext cx="2292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48400" y="4096512"/>
            <a:ext cx="2365248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321552" y="4096512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4527" y="4096512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$0,624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27020" y="4096512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28,10 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1552" y="4261104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84527" y="4261104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$0,871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27020" y="4261104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39,18 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21552" y="4425696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84527" y="4425696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$0,860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27020" y="4425696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38,71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1552" y="4590288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84527" y="4590288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$1,263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27020" y="4590288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56,84 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924044"/>
            <a:ext cx="8412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1">
                <a:solidFill>
                  <a:srgbClr val="3D5A40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1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806440" y="960120"/>
            <a:ext cx="2926080" cy="2926080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897880" y="1234440"/>
            <a:ext cx="274320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500" b="1" i="0">
                <a:solidFill>
                  <a:srgbClr val="FFFFFF"/>
                </a:solidFill>
                <a:latin typeface="Cambria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2761488"/>
            <a:ext cx="640080" cy="36576"/>
          </a:xfrm>
          <a:prstGeom prst="rect">
            <a:avLst/>
          </a:prstGeom>
          <a:solidFill>
            <a:srgbClr val="6DC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897880" y="2962656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DC04B"/>
                </a:solidFill>
                <a:latin typeface="Calibri"/>
              </a:rPr>
              <a:t>ZEK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4133087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 SKU із собівартістю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66928"/>
            <a:ext cx="237744" cy="237744"/>
          </a:xfrm>
          <a:prstGeom prst="rect">
            <a:avLst/>
          </a:prstGeom>
          <a:solidFill>
            <a:srgbClr val="6DC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54864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6E4A"/>
                </a:solidFill>
                <a:latin typeface="Calibri"/>
              </a:rPr>
              <a:t>ПОСТАЧАЛЬНИК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060704"/>
            <a:ext cx="4709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1A3A2A"/>
                </a:solidFill>
                <a:latin typeface="Cambria"/>
              </a:rPr>
              <a:t>HanJin Food Co. Ltd</a:t>
            </a:r>
          </a:p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1A3A2A"/>
                </a:solidFill>
                <a:latin typeface="Cambria"/>
              </a:rPr>
              <a:t>бренд ZEK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42032"/>
            <a:ext cx="1188720" cy="45720"/>
          </a:xfrm>
          <a:prstGeom prst="rect">
            <a:avLst/>
          </a:prstGeom>
          <a:solidFill>
            <a:srgbClr val="6DC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5760" y="2779776"/>
            <a:ext cx="4663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2E1C"/>
                </a:solidFill>
                <a:latin typeface="Calibri"/>
              </a:rPr>
              <a:t>Найбільший за глибиною розрахунку постачальник: 14 позицій у трьох напрямках — темпура, сендвіч і присипка з норі. Єдиний постачальник з відвантаженням із Циндао.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59936"/>
            <a:ext cx="790956" cy="310896"/>
          </a:xfrm>
          <a:prstGeom prst="roundRect">
            <a:avLst>
              <a:gd name="adj" fmla="val 22000"/>
            </a:avLst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4059936"/>
            <a:ext cx="790956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2E6E4A"/>
                </a:solidFill>
                <a:latin typeface="Calibri"/>
              </a:rPr>
              <a:t>Китай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03019" y="4059936"/>
            <a:ext cx="1257300" cy="310896"/>
          </a:xfrm>
          <a:prstGeom prst="roundRect">
            <a:avLst>
              <a:gd name="adj" fmla="val 22000"/>
            </a:avLst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303019" y="4059936"/>
            <a:ext cx="1257300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2E6E4A"/>
                </a:solidFill>
                <a:latin typeface="Calibri"/>
              </a:rPr>
              <a:t>FOB Qingdao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0"/>
            <a:ext cx="621791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HanJin · ZEK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79" y="0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6DC04B"/>
                </a:solidFill>
                <a:latin typeface="Calibri"/>
              </a:rPr>
              <a:t>ZEK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98448"/>
            <a:ext cx="1979676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010" y="1408176"/>
            <a:ext cx="817175" cy="10607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1121" y="2560320"/>
            <a:ext cx="1228953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1121" y="2560320"/>
            <a:ext cx="1228953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871215"/>
            <a:ext cx="16870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Corn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310128"/>
            <a:ext cx="16870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Листи норі у хрусткому клярі темпура зі смаком солодкої кукурудзи.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3877056"/>
            <a:ext cx="1760220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3922776"/>
            <a:ext cx="15773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4096512"/>
            <a:ext cx="1650492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03504" y="4096512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167" y="4096512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7233" y="4096512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4261104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167" y="4261104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$0,879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7233" y="4261104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39,54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" y="4425696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167" y="4425696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$0,947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7233" y="4425696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42,60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4590288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167" y="4590288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$1,443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7233" y="4590288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64,94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10028" y="1298448"/>
            <a:ext cx="1979676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3984" y="1408176"/>
            <a:ext cx="811763" cy="1060704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2885389" y="2560320"/>
            <a:ext cx="1228953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885389" y="2560320"/>
            <a:ext cx="1228953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6332" y="2871215"/>
            <a:ext cx="16870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Wasabi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6332" y="3310128"/>
            <a:ext cx="16870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Норі у клярі темпура з японським васабі. Гострий, впізнаваний смак.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19756" y="3877056"/>
            <a:ext cx="1760220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711196" y="3922776"/>
            <a:ext cx="15773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74620" y="4096512"/>
            <a:ext cx="1650492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2747772" y="4096512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53435" y="4096512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81501" y="4096512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7772" y="4261104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53435" y="4261104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$0,879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81501" y="4261104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39,54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7772" y="4425696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53435" y="4425696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$0,947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81501" y="4425696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42,60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7772" y="4590288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53435" y="4590288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$1,443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81501" y="4590288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64,94 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54296" y="1298448"/>
            <a:ext cx="1979676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5546" y="1408176"/>
            <a:ext cx="817175" cy="1060704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5029657" y="2560320"/>
            <a:ext cx="1228953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5029657" y="2560320"/>
            <a:ext cx="1228953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600" y="2871215"/>
            <a:ext cx="16870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Mala Crawfish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00600" y="3310128"/>
            <a:ext cx="16870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Норі у темпурі зі смаком раків мала — трендовий китайський смак.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64024" y="3877056"/>
            <a:ext cx="1760220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855464" y="3922776"/>
            <a:ext cx="15773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18888" y="4096512"/>
            <a:ext cx="1650492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4892040" y="4096512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97703" y="4096512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25769" y="4096512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4261104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97703" y="4261104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$0,879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25769" y="4261104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39,54 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92040" y="4425696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7703" y="4425696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$0,947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25769" y="4425696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42,60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92040" y="4590288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97703" y="4590288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$1,443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25769" y="4590288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64,94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798564" y="1298448"/>
            <a:ext cx="1979676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0" name="Picture 69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7108" y="1408176"/>
            <a:ext cx="822586" cy="1060704"/>
          </a:xfrm>
          <a:prstGeom prst="rect">
            <a:avLst/>
          </a:prstGeom>
        </p:spPr>
      </p:pic>
      <p:sp>
        <p:nvSpPr>
          <p:cNvPr id="71" name="Rounded Rectangle 70"/>
          <p:cNvSpPr/>
          <p:nvPr/>
        </p:nvSpPr>
        <p:spPr>
          <a:xfrm>
            <a:off x="7173925" y="2560320"/>
            <a:ext cx="1228953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7173925" y="2560320"/>
            <a:ext cx="1228953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4868" y="2871215"/>
            <a:ext cx="16870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Corn · 50 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44868" y="3310128"/>
            <a:ext cx="16870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Сімейна фасовка кукурудзяної темпури. Найкраща ціна за грам у напрямку.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908292" y="3877056"/>
            <a:ext cx="1760220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999732" y="3922776"/>
            <a:ext cx="15773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963156" y="4096512"/>
            <a:ext cx="1650492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7036308" y="4096512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541971" y="4096512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70037" y="4096512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36308" y="4261104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41971" y="4261104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$1,328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070037" y="4261104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59,77 ₴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036308" y="4425696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41971" y="4425696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$1,431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70037" y="4425696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64,40 ₴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36308" y="4590288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41971" y="4590288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$2,181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70037" y="4590288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98,16 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0"/>
            <a:ext cx="621791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HanJin · ZEK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79" y="0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6DC04B"/>
                </a:solidFill>
                <a:latin typeface="Calibri"/>
              </a:rPr>
              <a:t>ZEK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98448"/>
            <a:ext cx="1979676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zek_tempura_wasabi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010" y="1408176"/>
            <a:ext cx="817175" cy="10607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1121" y="2560320"/>
            <a:ext cx="1228953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1121" y="2560320"/>
            <a:ext cx="1228953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871215"/>
            <a:ext cx="16870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Wasabi · 50 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310128"/>
            <a:ext cx="16870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Сімейна фасовка темпури з васабі — формат для домашнього споживання.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3877056"/>
            <a:ext cx="1760220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3922776"/>
            <a:ext cx="15773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4096512"/>
            <a:ext cx="1650492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03504" y="4096512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167" y="4096512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7233" y="4096512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4261104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167" y="4261104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$1,328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7233" y="4261104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59,77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" y="4425696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167" y="4425696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$1,431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7233" y="4425696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64,40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4590288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167" y="4590288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$2,181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7233" y="4590288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98,16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10028" y="1298448"/>
            <a:ext cx="1979676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zek_tempura_mala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6690" y="1408176"/>
            <a:ext cx="806351" cy="1060704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2885389" y="2560320"/>
            <a:ext cx="1228953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885389" y="2560320"/>
            <a:ext cx="1228953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6332" y="2871215"/>
            <a:ext cx="16870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Mala · 50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6332" y="3310128"/>
            <a:ext cx="16870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Сімейна фасовка темпури мала. Замикає лінійку 50 г з трьох смаків.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19756" y="3877056"/>
            <a:ext cx="1760220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711196" y="3922776"/>
            <a:ext cx="15773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74620" y="4096512"/>
            <a:ext cx="1650492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2747772" y="4096512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53435" y="4096512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81501" y="4096512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7772" y="4261104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53435" y="4261104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$1,328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81501" y="4261104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59,77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7772" y="4425696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53435" y="4425696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$1,431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81501" y="4425696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64,40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7772" y="4590288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53435" y="4590288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$2,181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81501" y="4590288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98,16 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54296" y="1298448"/>
            <a:ext cx="1979676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zek_sandwich_meat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7736" y="1408176"/>
            <a:ext cx="792794" cy="1060704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5029657" y="2560320"/>
            <a:ext cx="1228953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5029657" y="2560320"/>
            <a:ext cx="1228953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600" y="2871215"/>
            <a:ext cx="16870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Meat Floss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00600" y="3310128"/>
            <a:ext cx="16870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Сендвіч із двох листів норі з прошарком м’ясної стружки.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64024" y="3877056"/>
            <a:ext cx="1760220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855464" y="3922776"/>
            <a:ext cx="15773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18888" y="4096512"/>
            <a:ext cx="1650492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4892040" y="4096512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97703" y="4096512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$0,481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25769" y="4096512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21,65 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4261104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97703" y="4261104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$0,633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25769" y="4261104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28,51 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92040" y="4425696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7703" y="4425696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$0,682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25769" y="4425696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30,71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92040" y="4590288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97703" y="4590288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$1,040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25769" y="4590288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46,81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798564" y="1298448"/>
            <a:ext cx="1979676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0" name="Picture 69" descr="zek_sandwich_sesame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662" y="1408176"/>
            <a:ext cx="777479" cy="1060704"/>
          </a:xfrm>
          <a:prstGeom prst="rect">
            <a:avLst/>
          </a:prstGeom>
        </p:spPr>
      </p:pic>
      <p:sp>
        <p:nvSpPr>
          <p:cNvPr id="71" name="Rounded Rectangle 70"/>
          <p:cNvSpPr/>
          <p:nvPr/>
        </p:nvSpPr>
        <p:spPr>
          <a:xfrm>
            <a:off x="7173925" y="2560320"/>
            <a:ext cx="1228953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7173925" y="2560320"/>
            <a:ext cx="1228953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4868" y="2871215"/>
            <a:ext cx="16870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Sesame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44868" y="3310128"/>
            <a:ext cx="16870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Сендвіч норі з кунжутним прошарком. Вегетаріанська альтернатива.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908292" y="3877056"/>
            <a:ext cx="1760220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999732" y="3922776"/>
            <a:ext cx="15773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963156" y="4096512"/>
            <a:ext cx="1650492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7036308" y="4096512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541971" y="4096512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$0,481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70037" y="4096512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22,14 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36308" y="4261104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41971" y="4261104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$0,633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070037" y="4261104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29,14 ₴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036308" y="4425696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41971" y="4425696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$0,682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70037" y="4425696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31,40 ₴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36308" y="4590288"/>
            <a:ext cx="50566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41971" y="4590288"/>
            <a:ext cx="52806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$1,040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70037" y="4590288"/>
            <a:ext cx="4704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47,85 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0"/>
            <a:ext cx="621791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79" y="0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6DC04B"/>
                </a:solidFill>
                <a:latin typeface="Calibri"/>
              </a:rPr>
              <a:t>ZEK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98448"/>
            <a:ext cx="2694432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611" y="1408176"/>
            <a:ext cx="788728" cy="10607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98499" y="2560320"/>
            <a:ext cx="1228953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98499" y="2560320"/>
            <a:ext cx="1228953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871215"/>
            <a:ext cx="24018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Chicken Floss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310128"/>
            <a:ext cx="2401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Норі-присипка до рису та страв із курячою стружкою. Збагачена DHA.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3877056"/>
            <a:ext cx="2474976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3922776"/>
            <a:ext cx="2292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4096512"/>
            <a:ext cx="2365248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03504" y="4096512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6479" y="4096512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972" y="4096512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27,94 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4261104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6479" y="4261104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$0,817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8972" y="4261104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36,78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" y="4425696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66479" y="4425696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$0,881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8972" y="4425696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39,63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4590288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66479" y="4590288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$1,342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8972" y="4590288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60,41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24784" y="1298448"/>
            <a:ext cx="2694432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336" y="1408176"/>
            <a:ext cx="787326" cy="1060704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57523" y="2560320"/>
            <a:ext cx="1228953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957523" y="2560320"/>
            <a:ext cx="1228953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71088" y="2871215"/>
            <a:ext cx="24018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Vegetables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71088" y="3310128"/>
            <a:ext cx="2401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Норі-присипка з овочами. Дитячий дизайн паковання.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34512" y="3877056"/>
            <a:ext cx="2474976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425952" y="3922776"/>
            <a:ext cx="2292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89376" y="4096512"/>
            <a:ext cx="2365248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462528" y="4096512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5503" y="4096512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67996" y="4096512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27,94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62528" y="4261104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25503" y="4261104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$0,817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67996" y="4261104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36,78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62528" y="4425696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25503" y="4425696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$0,881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67996" y="4425696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39,63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62528" y="4590288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25503" y="4590288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$1,342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67996" y="4590288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60,41 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83808" y="1298448"/>
            <a:ext cx="2694432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377" y="1408176"/>
            <a:ext cx="779292" cy="1060704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6816547" y="2560320"/>
            <a:ext cx="1228953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816547" y="2560320"/>
            <a:ext cx="1228953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0112" y="2871215"/>
            <a:ext cx="24018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Sesame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0112" y="3310128"/>
            <a:ext cx="2401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Норі-присипка з кунжутом. Базовий смак напрямку.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93536" y="3877056"/>
            <a:ext cx="2474976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284976" y="3922776"/>
            <a:ext cx="2292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48400" y="4096512"/>
            <a:ext cx="2365248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321552" y="4096512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4527" y="4096512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27020" y="4096512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28,56 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1552" y="4261104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84527" y="4261104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$0,817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27020" y="4261104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37,60 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21552" y="4425696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84527" y="4425696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$0,881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27020" y="4425696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40,51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1552" y="4590288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84527" y="4590288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$1,342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27020" y="4590288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61,75 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0"/>
            <a:ext cx="621791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79" y="0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6DC04B"/>
                </a:solidFill>
                <a:latin typeface="Calibri"/>
              </a:rPr>
              <a:t>ZEK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98448"/>
            <a:ext cx="2694432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976" y="1408176"/>
            <a:ext cx="735998" cy="10607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98499" y="2560320"/>
            <a:ext cx="1228953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98499" y="2560320"/>
            <a:ext cx="1228953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871215"/>
            <a:ext cx="24018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Vegetables · 70 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310128"/>
            <a:ext cx="2401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Велика фасовка овочевої присипки для родинного споживання.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3877056"/>
            <a:ext cx="2474976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3922776"/>
            <a:ext cx="2292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4096512"/>
            <a:ext cx="2365248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03504" y="4096512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6479" y="4096512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972" y="4096512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59,10 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4261104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6479" y="4261104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$1,655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8972" y="4261104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77,79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" y="4425696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66479" y="4425696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$1,783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8972" y="4425696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83,82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4590288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66479" y="4590288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$2,718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8972" y="4590288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127,76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24784" y="1298448"/>
            <a:ext cx="2694432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1294" y="1408176"/>
            <a:ext cx="741410" cy="1060704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57523" y="2560320"/>
            <a:ext cx="1228953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957523" y="2560320"/>
            <a:ext cx="1228953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71088" y="2871215"/>
            <a:ext cx="24018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Sesame · 70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71088" y="3310128"/>
            <a:ext cx="2401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Велика фасовка кунжутної присипки — формат для родин та HoReCa.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34512" y="3877056"/>
            <a:ext cx="2474976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425952" y="3922776"/>
            <a:ext cx="2292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89376" y="4096512"/>
            <a:ext cx="2365248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462528" y="4096512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5503" y="4096512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67996" y="4096512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60,35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62528" y="4261104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25503" y="4261104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$1,655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67996" y="4261104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79,45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62528" y="4425696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25503" y="4425696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$1,783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67996" y="4425696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85,60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62528" y="4590288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25503" y="4590288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$2,718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67996" y="4590288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130,48 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83808" y="1298448"/>
            <a:ext cx="2694432" cy="35844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0318" y="1408176"/>
            <a:ext cx="741410" cy="1060704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6816547" y="2560320"/>
            <a:ext cx="1228953" cy="237744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816547" y="2560320"/>
            <a:ext cx="1228953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0112" y="2871215"/>
            <a:ext cx="24018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1A3A2A"/>
                </a:solidFill>
                <a:latin typeface="Cambria"/>
              </a:rPr>
              <a:t>Chicken · 70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0112" y="3310128"/>
            <a:ext cx="2401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Велика фасовка присипки з курячою стружкою. Замикає лінійку 70 г.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93536" y="3877056"/>
            <a:ext cx="2474976" cy="896112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284976" y="3922776"/>
            <a:ext cx="2292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48400" y="4096512"/>
            <a:ext cx="2365248" cy="164592"/>
          </a:xfrm>
          <a:prstGeom prst="rect">
            <a:avLst/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321552" y="4096512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4527" y="4096512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27020" y="4096512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61,61 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1552" y="4261104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20′ конт.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84527" y="4261104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$1,655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27020" y="4261104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81,10 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21552" y="4425696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34 м³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84527" y="4425696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$1,783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27020" y="4425696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87,38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1552" y="4590288"/>
            <a:ext cx="7629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5A40"/>
                </a:solidFill>
                <a:latin typeface="Calibri"/>
              </a:rPr>
              <a:t>Збірн. 17 м³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84527" y="4590288"/>
            <a:ext cx="7424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$2,718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27020" y="4590288"/>
            <a:ext cx="71347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3D5A40"/>
                </a:solidFill>
                <a:latin typeface="Calibri"/>
              </a:rPr>
              <a:t>133,19 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0"/>
            <a:ext cx="621791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Nature Best Food Co., Ltd.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79" y="0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6DC04B"/>
                </a:solidFill>
                <a:latin typeface="Calibri"/>
              </a:rPr>
              <a:t>KoriKo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59536"/>
            <a:ext cx="8412480" cy="420624"/>
          </a:xfrm>
          <a:prstGeom prst="rect">
            <a:avLst/>
          </a:prstGeom>
          <a:solidFill>
            <a:srgbClr val="E8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859536"/>
            <a:ext cx="80467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3D5A40"/>
                </a:solidFill>
                <a:latin typeface="Calibri"/>
              </a:rPr>
              <a:t>Вкладка «Koriko» у файлі Self Cost порожня — собівартість ще не розрахована. Нижче асортимент і ціни FOB як основа для розрахунку.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44752"/>
            <a:ext cx="2724912" cy="160934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kk_chew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431" y="1572768"/>
            <a:ext cx="1043393" cy="13533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82495" y="16459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3A2A"/>
                </a:solidFill>
                <a:latin typeface="Cambria"/>
              </a:rPr>
              <a:t>KoriKo Chewy</a:t>
            </a:r>
          </a:p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3A2A"/>
                </a:solidFill>
                <a:latin typeface="Cambria"/>
              </a:rPr>
              <a:t>Original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82495" y="2103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4,5 г × 12 пакетів / постер · 12 постерів у картоні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82495" y="2560320"/>
            <a:ext cx="1243584" cy="274320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682495" y="2560320"/>
            <a:ext cx="1243584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$1,15 / постер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55264" y="1444752"/>
            <a:ext cx="2724912" cy="160934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kk_chewy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7841" y="1572768"/>
            <a:ext cx="1031581" cy="13533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2000" y="16459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3A2A"/>
                </a:solidFill>
                <a:latin typeface="Cambria"/>
              </a:rPr>
              <a:t>KoriKo Chewy</a:t>
            </a:r>
          </a:p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3A2A"/>
                </a:solidFill>
                <a:latin typeface="Cambria"/>
              </a:rPr>
              <a:t>Hot &amp; Spicy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103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4,5 г × 12 пакетів / постер · 12 постерів у картоні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2560320"/>
            <a:ext cx="1243584" cy="274320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0" y="2560320"/>
            <a:ext cx="1243584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$1,15 / постер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444752"/>
            <a:ext cx="2724912" cy="160934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kk_big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0447" y="1572768"/>
            <a:ext cx="1025376" cy="135331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461504" y="16459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3A2A"/>
                </a:solidFill>
                <a:latin typeface="Cambria"/>
              </a:rPr>
              <a:t>Big Sheet 50 г</a:t>
            </a:r>
          </a:p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3A2A"/>
                </a:solidFill>
                <a:latin typeface="Cambria"/>
              </a:rPr>
              <a:t>Original / Squid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1504" y="2103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5 г × 10 пакетів · 12 наборів у картоні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61504" y="2560320"/>
            <a:ext cx="1243584" cy="274320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61504" y="2560320"/>
            <a:ext cx="1243584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$1,30 / набір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200400"/>
            <a:ext cx="2724912" cy="160934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kk_ro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02" y="3328416"/>
            <a:ext cx="743450" cy="135331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682495" y="3401568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3A2A"/>
                </a:solidFill>
                <a:latin typeface="Cambria"/>
              </a:rPr>
              <a:t>Roll Seaweed 36 г</a:t>
            </a:r>
          </a:p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3A2A"/>
                </a:solidFill>
                <a:latin typeface="Cambria"/>
              </a:rPr>
              <a:t>Original / Spicy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82495" y="3858768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10 рулетів у коробці · 12 коробок у картоні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82495" y="4315968"/>
            <a:ext cx="1243584" cy="274320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682495" y="4315968"/>
            <a:ext cx="1243584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$1,20 / коробка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55264" y="3200400"/>
            <a:ext cx="2724912" cy="160934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kk_sandwi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24156"/>
            <a:ext cx="1060704" cy="76183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572000" y="3401568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3A2A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3A2A"/>
                </a:solidFill>
                <a:latin typeface="Cambria"/>
              </a:rPr>
              <a:t>5 смаків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858768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Original, Kimchi, Wasabi… · 24 пакети в картоні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0" y="4315968"/>
            <a:ext cx="1243584" cy="274320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572000" y="4315968"/>
            <a:ext cx="1243584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$1,03 / пакет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44768" y="3200400"/>
            <a:ext cx="2724912" cy="160934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kk_fizz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1332" y="3328416"/>
            <a:ext cx="723607" cy="135331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461504" y="3401568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3A2A"/>
                </a:solidFill>
                <a:latin typeface="Cambria"/>
              </a:rPr>
              <a:t>Fizze Sheet 72 г</a:t>
            </a:r>
          </a:p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3A2A"/>
                </a:solidFill>
                <a:latin typeface="Cambria"/>
              </a:rPr>
              <a:t>3 смаки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1504" y="3858768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A2E1C"/>
                </a:solidFill>
                <a:latin typeface="Calibri"/>
              </a:rPr>
              <a:t>6 пакетів у коробці · 8 коробок у картоні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61504" y="4315968"/>
            <a:ext cx="1243584" cy="274320"/>
          </a:xfrm>
          <a:prstGeom prst="roundRect">
            <a:avLst>
              <a:gd name="adj" fmla="val 22000"/>
            </a:avLst>
          </a:prstGeom>
          <a:solidFill>
            <a:srgbClr val="2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461504" y="4315968"/>
            <a:ext cx="1243584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$1,30 / коробка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