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6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image" Target="../media/image9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11.png"/><Relationship Id="rId4" Type="http://schemas.openxmlformats.org/officeDocument/2006/relationships/image" Target="../media/image12.png"/><Relationship Id="rId5" Type="http://schemas.openxmlformats.org/officeDocument/2006/relationships/image" Target="../media/image13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Relationship Id="rId3" Type="http://schemas.openxmlformats.org/officeDocument/2006/relationships/image" Target="../media/image15.png"/><Relationship Id="rId4" Type="http://schemas.openxmlformats.org/officeDocument/2006/relationships/image" Target="../media/image16.png"/><Relationship Id="rId5" Type="http://schemas.openxmlformats.org/officeDocument/2006/relationships/image" Target="../media/image17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Relationship Id="rId3" Type="http://schemas.openxmlformats.org/officeDocument/2006/relationships/image" Target="../media/image19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1.png"/><Relationship Id="rId4" Type="http://schemas.openxmlformats.org/officeDocument/2006/relationships/image" Target="../media/image22.png"/><Relationship Id="rId5" Type="http://schemas.openxmlformats.org/officeDocument/2006/relationships/image" Target="../media/image23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png"/><Relationship Id="rId3" Type="http://schemas.openxmlformats.org/officeDocument/2006/relationships/image" Target="../media/image25.png"/><Relationship Id="rId4" Type="http://schemas.openxmlformats.org/officeDocument/2006/relationships/image" Target="../media/image26.png"/><Relationship Id="rId5" Type="http://schemas.openxmlformats.org/officeDocument/2006/relationships/image" Target="../media/image27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8.png"/><Relationship Id="rId3" Type="http://schemas.openxmlformats.org/officeDocument/2006/relationships/image" Target="../media/image4.png"/><Relationship Id="rId4" Type="http://schemas.openxmlformats.org/officeDocument/2006/relationships/image" Target="../media/image29.png"/><Relationship Id="rId5" Type="http://schemas.openxmlformats.org/officeDocument/2006/relationships/image" Target="../media/image30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1.png"/><Relationship Id="rId3" Type="http://schemas.openxmlformats.org/officeDocument/2006/relationships/image" Target="../media/image32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3.png"/><Relationship Id="rId3" Type="http://schemas.openxmlformats.org/officeDocument/2006/relationships/image" Target="../media/image34.png"/><Relationship Id="rId4" Type="http://schemas.openxmlformats.org/officeDocument/2006/relationships/image" Target="../media/image35.png"/><Relationship Id="rId5" Type="http://schemas.openxmlformats.org/officeDocument/2006/relationships/image" Target="../media/image36.png"/><Relationship Id="rId6" Type="http://schemas.openxmlformats.org/officeDocument/2006/relationships/image" Target="../media/image37.png"/><Relationship Id="rId7" Type="http://schemas.openxmlformats.org/officeDocument/2006/relationships/image" Target="../media/image38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423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0" y="0"/>
            <a:ext cx="2880360" cy="5143500"/>
          </a:xfrm>
          <a:prstGeom prst="rect">
            <a:avLst/>
          </a:prstGeom>
          <a:solidFill>
            <a:srgbClr val="1E33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ectangle 3"/>
          <p:cNvSpPr/>
          <p:nvPr/>
        </p:nvSpPr>
        <p:spPr>
          <a:xfrm>
            <a:off x="0" y="0"/>
            <a:ext cx="91440" cy="5143500"/>
          </a:xfrm>
          <a:prstGeom prst="rect">
            <a:avLst/>
          </a:prstGeom>
          <a:solidFill>
            <a:srgbClr val="C15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5" name="Picture 4" descr="zek_tempura_corn3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0337" y="384048"/>
            <a:ext cx="739684" cy="960120"/>
          </a:xfrm>
          <a:prstGeom prst="rect">
            <a:avLst/>
          </a:prstGeom>
        </p:spPr>
      </p:pic>
      <p:pic>
        <p:nvPicPr>
          <p:cNvPr id="6" name="Picture 5" descr="tmk_roll_orig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64400" y="1481328"/>
            <a:ext cx="551558" cy="960120"/>
          </a:xfrm>
          <a:prstGeom prst="rect">
            <a:avLst/>
          </a:prstGeom>
        </p:spPr>
      </p:pic>
      <p:pic>
        <p:nvPicPr>
          <p:cNvPr id="7" name="Picture 6" descr="sk_origina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60385" y="2578608"/>
            <a:ext cx="759588" cy="960120"/>
          </a:xfrm>
          <a:prstGeom prst="rect">
            <a:avLst/>
          </a:prstGeom>
        </p:spPr>
      </p:pic>
      <p:pic>
        <p:nvPicPr>
          <p:cNvPr id="8" name="Picture 7" descr="zek_topping_veg35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83846" y="3675887"/>
            <a:ext cx="712666" cy="96012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3429000" y="932688"/>
            <a:ext cx="53949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 i="0">
                <a:solidFill>
                  <a:srgbClr val="D9A441"/>
                </a:solidFill>
                <a:latin typeface="Calibri"/>
              </a:rPr>
              <a:t>КАТАЛОГ ПОСТАЧАЛЬНИКІВ · 2026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429000" y="1280160"/>
            <a:ext cx="5394960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3400" b="1" i="0">
                <a:solidFill>
                  <a:srgbClr val="FFFFFF"/>
                </a:solidFill>
                <a:latin typeface="Cambria"/>
              </a:rPr>
              <a:t>Азійські снеки</a:t>
            </a:r>
          </a:p>
          <a:p>
            <a:pPr algn="l">
              <a:lnSpc>
                <a:spcPct val="95000"/>
              </a:lnSpc>
              <a:spcBef>
                <a:spcPts val="0"/>
              </a:spcBef>
            </a:pPr>
            <a:r>
              <a:rPr sz="3400" b="1" i="0">
                <a:solidFill>
                  <a:srgbClr val="FFFFFF"/>
                </a:solidFill>
                <a:latin typeface="Cambria"/>
              </a:rPr>
              <a:t>з водоростей і рису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429000" y="2761488"/>
            <a:ext cx="1371600" cy="32004"/>
          </a:xfrm>
          <a:prstGeom prst="rect">
            <a:avLst/>
          </a:prstGeom>
          <a:solidFill>
            <a:srgbClr val="C15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3429000" y="2962656"/>
            <a:ext cx="534924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i="0">
                <a:solidFill>
                  <a:srgbClr val="FFFFFF"/>
                </a:solidFill>
                <a:latin typeface="Calibri"/>
              </a:rPr>
              <a:t>Продуктові лінійки, короткі описи та собівартість одиниці
у доларах і гривні — за даними файлів Self Cost і Price Comparison.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429000" y="3950208"/>
            <a:ext cx="1572768" cy="658368"/>
          </a:xfrm>
          <a:prstGeom prst="roundRect">
            <a:avLst>
              <a:gd name="adj" fmla="val 12000"/>
            </a:avLst>
          </a:prstGeom>
          <a:solidFill>
            <a:srgbClr val="1423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3429000" y="4041648"/>
            <a:ext cx="157276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700" b="1" i="0">
                <a:solidFill>
                  <a:srgbClr val="D9A441"/>
                </a:solidFill>
                <a:latin typeface="Cambria"/>
              </a:rPr>
              <a:t>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29000" y="4334256"/>
            <a:ext cx="1572768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750" b="0" i="0">
                <a:solidFill>
                  <a:srgbClr val="FFFFFF"/>
                </a:solidFill>
                <a:latin typeface="Calibri"/>
              </a:rPr>
              <a:t>постачальників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129784" y="3950208"/>
            <a:ext cx="1572768" cy="658368"/>
          </a:xfrm>
          <a:prstGeom prst="roundRect">
            <a:avLst>
              <a:gd name="adj" fmla="val 12000"/>
            </a:avLst>
          </a:prstGeom>
          <a:solidFill>
            <a:srgbClr val="1423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5129784" y="4041648"/>
            <a:ext cx="157276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700" b="1" i="0">
                <a:solidFill>
                  <a:srgbClr val="D9A441"/>
                </a:solidFill>
                <a:latin typeface="Cambria"/>
              </a:rPr>
              <a:t>28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129784" y="4334256"/>
            <a:ext cx="1572768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750" b="0" i="0">
                <a:solidFill>
                  <a:srgbClr val="FFFFFF"/>
                </a:solidFill>
                <a:latin typeface="Calibri"/>
              </a:rPr>
              <a:t>SKU із собівартістю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830568" y="3950208"/>
            <a:ext cx="1572768" cy="658368"/>
          </a:xfrm>
          <a:prstGeom prst="roundRect">
            <a:avLst>
              <a:gd name="adj" fmla="val 12000"/>
            </a:avLst>
          </a:prstGeom>
          <a:solidFill>
            <a:srgbClr val="1423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6830568" y="4041648"/>
            <a:ext cx="157276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700" b="1" i="0">
                <a:solidFill>
                  <a:srgbClr val="D9A441"/>
                </a:solidFill>
                <a:latin typeface="Cambria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830568" y="4334256"/>
            <a:ext cx="1572768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750" b="0" i="0">
                <a:solidFill>
                  <a:srgbClr val="FFFFFF"/>
                </a:solidFill>
                <a:latin typeface="Calibri"/>
              </a:rPr>
              <a:t>сценарії логістики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1423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ectangle 3"/>
          <p:cNvSpPr/>
          <p:nvPr/>
        </p:nvSpPr>
        <p:spPr>
          <a:xfrm>
            <a:off x="365760" y="617219"/>
            <a:ext cx="1737360" cy="41148"/>
          </a:xfrm>
          <a:prstGeom prst="rect">
            <a:avLst/>
          </a:prstGeom>
          <a:solidFill>
            <a:srgbClr val="C15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365760" y="91440"/>
            <a:ext cx="6400799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50" b="1" i="0">
                <a:solidFill>
                  <a:srgbClr val="D9A441"/>
                </a:solidFill>
                <a:latin typeface="Calibri"/>
              </a:rPr>
              <a:t>ОГЛЯД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256032"/>
            <a:ext cx="640079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 i="0">
                <a:solidFill>
                  <a:srgbClr val="FFFFFF"/>
                </a:solidFill>
                <a:latin typeface="Cambria"/>
              </a:rPr>
              <a:t>Постачальники у деці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65760" y="960120"/>
            <a:ext cx="2084831" cy="1874519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9525">
            <a:solidFill>
              <a:srgbClr val="E2E6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ectangle 7"/>
          <p:cNvSpPr/>
          <p:nvPr/>
        </p:nvSpPr>
        <p:spPr>
          <a:xfrm>
            <a:off x="365760" y="960120"/>
            <a:ext cx="2084831" cy="45720"/>
          </a:xfrm>
          <a:prstGeom prst="rect">
            <a:avLst/>
          </a:prstGeom>
          <a:solidFill>
            <a:srgbClr val="0E5C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512064" y="1133856"/>
            <a:ext cx="1792223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1250" b="1" i="0">
                <a:solidFill>
                  <a:srgbClr val="1C2A2F"/>
                </a:solidFill>
                <a:latin typeface="Cambria"/>
              </a:rPr>
              <a:t>Singha Kameda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064" y="1591056"/>
            <a:ext cx="1792223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00" b="0" i="0">
                <a:solidFill>
                  <a:srgbClr val="64757B"/>
                </a:solidFill>
                <a:latin typeface="Calibri"/>
              </a:rPr>
              <a:t>Singha Kameda (Thailand) Co., Ltd.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12064" y="2029968"/>
            <a:ext cx="681228" cy="201168"/>
          </a:xfrm>
          <a:prstGeom prst="roundRect">
            <a:avLst>
              <a:gd name="adj" fmla="val 50000"/>
            </a:avLst>
          </a:prstGeom>
          <a:solidFill>
            <a:srgbClr val="E4EF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512064" y="2029968"/>
            <a:ext cx="681228" cy="20116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650" b="1" i="0">
                <a:solidFill>
                  <a:srgbClr val="0E5C51"/>
                </a:solidFill>
                <a:latin typeface="Calibri"/>
              </a:rPr>
              <a:t>ТАЇЛАНД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12064" y="2322576"/>
            <a:ext cx="1792223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50" b="1" i="0">
                <a:solidFill>
                  <a:srgbClr val="1C2A2F"/>
                </a:solidFill>
                <a:latin typeface="Calibri"/>
              </a:rPr>
              <a:t>2 SKU із собівартістю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12064" y="2523744"/>
            <a:ext cx="1792223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1" i="0">
                <a:solidFill>
                  <a:srgbClr val="C1512A"/>
                </a:solidFill>
                <a:latin typeface="Calibri"/>
              </a:rPr>
              <a:t>с/в 46,59 ₴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2596896" y="960120"/>
            <a:ext cx="2084831" cy="1874519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9525">
            <a:solidFill>
              <a:srgbClr val="E2E6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ectangle 15"/>
          <p:cNvSpPr/>
          <p:nvPr/>
        </p:nvSpPr>
        <p:spPr>
          <a:xfrm>
            <a:off x="2596896" y="960120"/>
            <a:ext cx="2084831" cy="45720"/>
          </a:xfrm>
          <a:prstGeom prst="rect">
            <a:avLst/>
          </a:prstGeom>
          <a:solidFill>
            <a:srgbClr val="0E5C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2743200" y="1133856"/>
            <a:ext cx="1792223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1250" b="1" i="0">
                <a:solidFill>
                  <a:srgbClr val="1C2A2F"/>
                </a:solidFill>
                <a:latin typeface="Cambria"/>
              </a:rPr>
              <a:t>Thai-Nichi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743200" y="1591056"/>
            <a:ext cx="1792223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00" b="0" i="0">
                <a:solidFill>
                  <a:srgbClr val="64757B"/>
                </a:solidFill>
                <a:latin typeface="Calibri"/>
              </a:rPr>
              <a:t>Thai-Nichi Industries Co., Ltd.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2743200" y="2029968"/>
            <a:ext cx="681228" cy="201168"/>
          </a:xfrm>
          <a:prstGeom prst="roundRect">
            <a:avLst>
              <a:gd name="adj" fmla="val 50000"/>
            </a:avLst>
          </a:prstGeom>
          <a:solidFill>
            <a:srgbClr val="E4EF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2743200" y="2029968"/>
            <a:ext cx="681228" cy="20116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650" b="1" i="0">
                <a:solidFill>
                  <a:srgbClr val="0E5C51"/>
                </a:solidFill>
                <a:latin typeface="Calibri"/>
              </a:rPr>
              <a:t>ТАЇЛАНД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743200" y="2322576"/>
            <a:ext cx="1792223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50" b="1" i="0">
                <a:solidFill>
                  <a:srgbClr val="1C2A2F"/>
                </a:solidFill>
                <a:latin typeface="Calibri"/>
              </a:rPr>
              <a:t>2 SKU із собівартістю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743200" y="2523744"/>
            <a:ext cx="1792223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1" i="0">
                <a:solidFill>
                  <a:srgbClr val="C1512A"/>
                </a:solidFill>
                <a:latin typeface="Calibri"/>
              </a:rPr>
              <a:t>с/в 35,74 – 44,67 ₴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828031" y="960120"/>
            <a:ext cx="2084831" cy="1874519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9525">
            <a:solidFill>
              <a:srgbClr val="E2E6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Rectangle 23"/>
          <p:cNvSpPr/>
          <p:nvPr/>
        </p:nvSpPr>
        <p:spPr>
          <a:xfrm>
            <a:off x="4828031" y="960120"/>
            <a:ext cx="2084831" cy="45720"/>
          </a:xfrm>
          <a:prstGeom prst="rect">
            <a:avLst/>
          </a:prstGeom>
          <a:solidFill>
            <a:srgbClr val="0E5C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4974336" y="1133856"/>
            <a:ext cx="1792223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1250" b="1" i="0">
                <a:solidFill>
                  <a:srgbClr val="1C2A2F"/>
                </a:solidFill>
                <a:latin typeface="Cambria"/>
              </a:rPr>
              <a:t>TMK · KOKIRI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974336" y="1591056"/>
            <a:ext cx="1792223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00" b="0" i="0">
                <a:solidFill>
                  <a:srgbClr val="64757B"/>
                </a:solidFill>
                <a:latin typeface="Calibri"/>
              </a:rPr>
              <a:t>TMK (Thailand) Co., Ltd.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974336" y="2029968"/>
            <a:ext cx="681228" cy="201168"/>
          </a:xfrm>
          <a:prstGeom prst="roundRect">
            <a:avLst>
              <a:gd name="adj" fmla="val 50000"/>
            </a:avLst>
          </a:prstGeom>
          <a:solidFill>
            <a:srgbClr val="E4EF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TextBox 27"/>
          <p:cNvSpPr txBox="1"/>
          <p:nvPr/>
        </p:nvSpPr>
        <p:spPr>
          <a:xfrm>
            <a:off x="4974336" y="2029968"/>
            <a:ext cx="681228" cy="20116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650" b="1" i="0">
                <a:solidFill>
                  <a:srgbClr val="0E5C51"/>
                </a:solidFill>
                <a:latin typeface="Calibri"/>
              </a:rPr>
              <a:t>ТАЇЛАНД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974336" y="2322576"/>
            <a:ext cx="1792223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50" b="1" i="0">
                <a:solidFill>
                  <a:srgbClr val="1C2A2F"/>
                </a:solidFill>
                <a:latin typeface="Calibri"/>
              </a:rPr>
              <a:t>10 SKU із собівартістю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974336" y="2523744"/>
            <a:ext cx="1792223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1" i="0">
                <a:solidFill>
                  <a:srgbClr val="C1512A"/>
                </a:solidFill>
                <a:latin typeface="Calibri"/>
              </a:rPr>
              <a:t>с/в 7,61 – 28,52 ₴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7059167" y="960120"/>
            <a:ext cx="2084831" cy="1874519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9525">
            <a:solidFill>
              <a:srgbClr val="E2E6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2" name="Rectangle 31"/>
          <p:cNvSpPr/>
          <p:nvPr/>
        </p:nvSpPr>
        <p:spPr>
          <a:xfrm>
            <a:off x="7059167" y="960120"/>
            <a:ext cx="2084831" cy="45720"/>
          </a:xfrm>
          <a:prstGeom prst="rect">
            <a:avLst/>
          </a:prstGeom>
          <a:solidFill>
            <a:srgbClr val="0E5C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TextBox 32"/>
          <p:cNvSpPr txBox="1"/>
          <p:nvPr/>
        </p:nvSpPr>
        <p:spPr>
          <a:xfrm>
            <a:off x="7205471" y="1133856"/>
            <a:ext cx="1792223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1250" b="1" i="0">
                <a:solidFill>
                  <a:srgbClr val="1C2A2F"/>
                </a:solidFill>
                <a:latin typeface="Cambria"/>
              </a:rPr>
              <a:t>HanJin · ZEK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205471" y="1591056"/>
            <a:ext cx="1792223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00" b="0" i="0">
                <a:solidFill>
                  <a:srgbClr val="64757B"/>
                </a:solidFill>
                <a:latin typeface="Calibri"/>
              </a:rPr>
              <a:t>HanJin Food Co. Ltd — бренд ZEK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7205471" y="2029968"/>
            <a:ext cx="544068" cy="201168"/>
          </a:xfrm>
          <a:prstGeom prst="roundRect">
            <a:avLst>
              <a:gd name="adj" fmla="val 50000"/>
            </a:avLst>
          </a:prstGeom>
          <a:solidFill>
            <a:srgbClr val="E4EF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6" name="TextBox 35"/>
          <p:cNvSpPr txBox="1"/>
          <p:nvPr/>
        </p:nvSpPr>
        <p:spPr>
          <a:xfrm>
            <a:off x="7205471" y="2029968"/>
            <a:ext cx="544068" cy="20116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650" b="1" i="0">
                <a:solidFill>
                  <a:srgbClr val="0E5C51"/>
                </a:solidFill>
                <a:latin typeface="Calibri"/>
              </a:rPr>
              <a:t>КИТАЙ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205471" y="2322576"/>
            <a:ext cx="1792223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50" b="1" i="0">
                <a:solidFill>
                  <a:srgbClr val="1C2A2F"/>
                </a:solidFill>
                <a:latin typeface="Calibri"/>
              </a:rPr>
              <a:t>14 SKU із собівартістю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205471" y="2523744"/>
            <a:ext cx="1792223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1" i="0">
                <a:solidFill>
                  <a:srgbClr val="C1512A"/>
                </a:solidFill>
                <a:latin typeface="Calibri"/>
              </a:rPr>
              <a:t>с/в 21,65 – 61,61 ₴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365760" y="3017520"/>
            <a:ext cx="2084831" cy="1481328"/>
          </a:xfrm>
          <a:prstGeom prst="roundRect">
            <a:avLst>
              <a:gd name="adj" fmla="val 9000"/>
            </a:avLst>
          </a:prstGeom>
          <a:solidFill>
            <a:srgbClr val="F7F4EE"/>
          </a:solidFill>
          <a:ln w="9525">
            <a:solidFill>
              <a:srgbClr val="E2E6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0" name="TextBox 39"/>
          <p:cNvSpPr txBox="1"/>
          <p:nvPr/>
        </p:nvSpPr>
        <p:spPr>
          <a:xfrm>
            <a:off x="512064" y="3163824"/>
            <a:ext cx="1792223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1250" b="1" i="0">
                <a:solidFill>
                  <a:srgbClr val="1C2A2F"/>
                </a:solidFill>
                <a:latin typeface="Cambria"/>
              </a:rPr>
              <a:t>Nature Best
KoriKo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512064" y="3621024"/>
            <a:ext cx="681228" cy="201168"/>
          </a:xfrm>
          <a:prstGeom prst="roundRect">
            <a:avLst>
              <a:gd name="adj" fmla="val 50000"/>
            </a:avLst>
          </a:prstGeom>
          <a:solidFill>
            <a:srgbClr val="E4EF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2" name="TextBox 41"/>
          <p:cNvSpPr txBox="1"/>
          <p:nvPr/>
        </p:nvSpPr>
        <p:spPr>
          <a:xfrm>
            <a:off x="512064" y="3621024"/>
            <a:ext cx="681228" cy="20116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650" b="1" i="0">
                <a:solidFill>
                  <a:srgbClr val="0E5C51"/>
                </a:solidFill>
                <a:latin typeface="Calibri"/>
              </a:rPr>
              <a:t>ТАЇЛАНД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12064" y="3895344"/>
            <a:ext cx="1792223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750" b="0" i="0">
                <a:solidFill>
                  <a:srgbClr val="64757B"/>
                </a:solidFill>
                <a:latin typeface="Calibri"/>
              </a:rPr>
              <a:t>24 позиції у прайсі.
Собівартість ще не
розрахована.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2596896" y="3017520"/>
            <a:ext cx="6181344" cy="1481328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9525">
            <a:solidFill>
              <a:srgbClr val="E2E6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5" name="TextBox 44"/>
          <p:cNvSpPr txBox="1"/>
          <p:nvPr/>
        </p:nvSpPr>
        <p:spPr>
          <a:xfrm>
            <a:off x="2798064" y="3163824"/>
            <a:ext cx="603504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1" i="0">
                <a:solidFill>
                  <a:srgbClr val="C1512A"/>
                </a:solidFill>
                <a:latin typeface="Calibri"/>
              </a:rPr>
              <a:t>ЯК ЧИТАТИ ЦЮ ПРЕЗЕНТАЦІЮ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2816352" y="3497579"/>
            <a:ext cx="105156" cy="105156"/>
          </a:xfrm>
          <a:prstGeom prst="roundRect">
            <a:avLst>
              <a:gd name="adj" fmla="val 50000"/>
            </a:avLst>
          </a:prstGeom>
          <a:solidFill>
            <a:srgbClr val="C15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7" name="TextBox 46"/>
          <p:cNvSpPr txBox="1"/>
          <p:nvPr/>
        </p:nvSpPr>
        <p:spPr>
          <a:xfrm>
            <a:off x="3017520" y="3456432"/>
            <a:ext cx="576072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 i="0">
                <a:solidFill>
                  <a:srgbClr val="1C2A2F"/>
                </a:solidFill>
                <a:latin typeface="Calibri"/>
              </a:rPr>
              <a:t>Кожен постачальник — це профіль компанії, картки продуктів і таблиця собівартості.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2816352" y="3753611"/>
            <a:ext cx="105156" cy="105156"/>
          </a:xfrm>
          <a:prstGeom prst="roundRect">
            <a:avLst>
              <a:gd name="adj" fmla="val 50000"/>
            </a:avLst>
          </a:prstGeom>
          <a:solidFill>
            <a:srgbClr val="C15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9" name="TextBox 48"/>
          <p:cNvSpPr txBox="1"/>
          <p:nvPr/>
        </p:nvSpPr>
        <p:spPr>
          <a:xfrm>
            <a:off x="3017520" y="3712463"/>
            <a:ext cx="576072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 i="0">
                <a:solidFill>
                  <a:srgbClr val="1C2A2F"/>
                </a:solidFill>
                <a:latin typeface="Calibri"/>
              </a:rPr>
              <a:t>На картці показано собівартість за сценарієм 40′ контейнер — він найвигідніший.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2816352" y="4009644"/>
            <a:ext cx="105156" cy="105156"/>
          </a:xfrm>
          <a:prstGeom prst="roundRect">
            <a:avLst>
              <a:gd name="adj" fmla="val 50000"/>
            </a:avLst>
          </a:prstGeom>
          <a:solidFill>
            <a:srgbClr val="C15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1" name="TextBox 50"/>
          <p:cNvSpPr txBox="1"/>
          <p:nvPr/>
        </p:nvSpPr>
        <p:spPr>
          <a:xfrm>
            <a:off x="3017520" y="3968496"/>
            <a:ext cx="576072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 i="0">
                <a:solidFill>
                  <a:srgbClr val="1C2A2F"/>
                </a:solidFill>
                <a:latin typeface="Calibri"/>
              </a:rPr>
              <a:t>Повна таблиця за чотирма сценаріями логістики йде одразу після карток.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2816352" y="4265676"/>
            <a:ext cx="105156" cy="105156"/>
          </a:xfrm>
          <a:prstGeom prst="roundRect">
            <a:avLst>
              <a:gd name="adj" fmla="val 50000"/>
            </a:avLst>
          </a:prstGeom>
          <a:solidFill>
            <a:srgbClr val="C15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3" name="TextBox 52"/>
          <p:cNvSpPr txBox="1"/>
          <p:nvPr/>
        </p:nvSpPr>
        <p:spPr>
          <a:xfrm>
            <a:off x="3017520" y="4224528"/>
            <a:ext cx="576072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 i="0">
                <a:solidFill>
                  <a:srgbClr val="1C2A2F"/>
                </a:solidFill>
                <a:latin typeface="Calibri"/>
              </a:rPr>
              <a:t>Усі суми — за одиницю товару (пакет або пакетик), а не за картон.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4869180"/>
            <a:ext cx="8412480" cy="9144"/>
          </a:xfrm>
          <a:prstGeom prst="rect">
            <a:avLst/>
          </a:prstGeom>
          <a:solidFill>
            <a:srgbClr val="E2E6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5" name="TextBox 54"/>
          <p:cNvSpPr txBox="1"/>
          <p:nvPr/>
        </p:nvSpPr>
        <p:spPr>
          <a:xfrm>
            <a:off x="8229600" y="4914900"/>
            <a:ext cx="5486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750" b="1" i="0">
                <a:solidFill>
                  <a:srgbClr val="64757B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1423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ectangle 3"/>
          <p:cNvSpPr/>
          <p:nvPr/>
        </p:nvSpPr>
        <p:spPr>
          <a:xfrm>
            <a:off x="365760" y="617219"/>
            <a:ext cx="1737360" cy="41148"/>
          </a:xfrm>
          <a:prstGeom prst="rect">
            <a:avLst/>
          </a:prstGeom>
          <a:solidFill>
            <a:srgbClr val="C15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365760" y="91440"/>
            <a:ext cx="6400799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50" b="1" i="0">
                <a:solidFill>
                  <a:srgbClr val="D9A441"/>
                </a:solidFill>
                <a:latin typeface="Calibri"/>
              </a:rPr>
              <a:t>МЕТОДОЛОГІЯ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256032"/>
            <a:ext cx="640079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 i="0">
                <a:solidFill>
                  <a:srgbClr val="FFFFFF"/>
                </a:solidFill>
                <a:latin typeface="Cambria"/>
              </a:rPr>
              <a:t>Як формується собівартість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868680"/>
            <a:ext cx="53949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 i="1">
                <a:solidFill>
                  <a:srgbClr val="64757B"/>
                </a:solidFill>
                <a:latin typeface="Calibri"/>
              </a:rPr>
              <a:t>Приклад: ZEK Tempura Seaweed Corn 30 г, 20′ контейнер, 1 728 пакетів</a:t>
            </a:r>
          </a:p>
        </p:txBody>
      </p:sp>
      <p:sp>
        <p:nvSpPr>
          <p:cNvPr id="8" name="Rectangle 7"/>
          <p:cNvSpPr/>
          <p:nvPr/>
        </p:nvSpPr>
        <p:spPr>
          <a:xfrm>
            <a:off x="365760" y="1225296"/>
            <a:ext cx="4219813" cy="420624"/>
          </a:xfrm>
          <a:prstGeom prst="rect">
            <a:avLst/>
          </a:prstGeom>
          <a:solidFill>
            <a:srgbClr val="0E5C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365760" y="1225296"/>
            <a:ext cx="4219813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1" i="0">
                <a:solidFill>
                  <a:srgbClr val="FFFFFF"/>
                </a:solidFill>
                <a:latin typeface="Calibri"/>
              </a:rPr>
              <a:t>50.2%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85573" y="1225296"/>
            <a:ext cx="2327984" cy="420624"/>
          </a:xfrm>
          <a:prstGeom prst="rect">
            <a:avLst/>
          </a:prstGeom>
          <a:solidFill>
            <a:srgbClr val="1423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4585573" y="1225296"/>
            <a:ext cx="2327984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1" i="0">
                <a:solidFill>
                  <a:srgbClr val="FFFFFF"/>
                </a:solidFill>
                <a:latin typeface="Calibri"/>
              </a:rPr>
              <a:t>27.7%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913557" y="1225296"/>
            <a:ext cx="578475" cy="420624"/>
          </a:xfrm>
          <a:prstGeom prst="rect">
            <a:avLst/>
          </a:prstGeom>
          <a:solidFill>
            <a:srgbClr val="D9A4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6913557" y="1225296"/>
            <a:ext cx="578475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1" i="0">
                <a:solidFill>
                  <a:srgbClr val="FFFFFF"/>
                </a:solidFill>
                <a:latin typeface="Calibri"/>
              </a:rPr>
              <a:t>6.9%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492032" y="1225296"/>
            <a:ext cx="1272804" cy="420624"/>
          </a:xfrm>
          <a:prstGeom prst="rect">
            <a:avLst/>
          </a:prstGeom>
          <a:solidFill>
            <a:srgbClr val="C15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7492032" y="1225296"/>
            <a:ext cx="1272804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1" i="0">
                <a:solidFill>
                  <a:srgbClr val="FFFFFF"/>
                </a:solidFill>
                <a:latin typeface="Calibri"/>
              </a:rPr>
              <a:t>15.1%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764837" y="1225296"/>
            <a:ext cx="13402" cy="420624"/>
          </a:xfrm>
          <a:prstGeom prst="rect">
            <a:avLst/>
          </a:prstGeom>
          <a:solidFill>
            <a:srgbClr val="6475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365760" y="1728216"/>
            <a:ext cx="4219813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50" b="1" i="0">
                <a:solidFill>
                  <a:srgbClr val="1C2A2F"/>
                </a:solidFill>
                <a:latin typeface="Calibri"/>
              </a:rPr>
              <a:t>Товар FOB</a:t>
            </a:r>
          </a:p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700" b="0" i="0">
                <a:solidFill>
                  <a:srgbClr val="64757B"/>
                </a:solidFill>
                <a:latin typeface="Calibri"/>
              </a:rPr>
              <a:t>$743,04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85573" y="1728216"/>
            <a:ext cx="2327984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50" b="1" i="0">
                <a:solidFill>
                  <a:srgbClr val="1C2A2F"/>
                </a:solidFill>
                <a:latin typeface="Calibri"/>
              </a:rPr>
              <a:t>Транспорт і брокер</a:t>
            </a:r>
          </a:p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700" b="0" i="0">
                <a:solidFill>
                  <a:srgbClr val="64757B"/>
                </a:solidFill>
                <a:latin typeface="Calibri"/>
              </a:rPr>
              <a:t>$409,92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92032" y="1728216"/>
            <a:ext cx="1272804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50" b="1" i="0">
                <a:solidFill>
                  <a:srgbClr val="1C2A2F"/>
                </a:solidFill>
                <a:latin typeface="Calibri"/>
              </a:rPr>
              <a:t>ПДВ 20%</a:t>
            </a:r>
          </a:p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700" b="0" i="0">
                <a:solidFill>
                  <a:srgbClr val="64757B"/>
                </a:solidFill>
                <a:latin typeface="Calibri"/>
              </a:rPr>
              <a:t>$224,12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803136" y="2080260"/>
            <a:ext cx="82296" cy="82296"/>
          </a:xfrm>
          <a:prstGeom prst="roundRect">
            <a:avLst>
              <a:gd name="adj" fmla="val 50000"/>
            </a:avLst>
          </a:prstGeom>
          <a:solidFill>
            <a:srgbClr val="6475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6949440" y="2048256"/>
            <a:ext cx="1792224" cy="1828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00" b="0" i="0">
                <a:solidFill>
                  <a:srgbClr val="64757B"/>
                </a:solidFill>
                <a:latin typeface="Calibri"/>
              </a:rPr>
              <a:t>Термінал, сертифікація · 0.2% · $2,36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468112" y="2080260"/>
            <a:ext cx="82296" cy="82296"/>
          </a:xfrm>
          <a:prstGeom prst="roundRect">
            <a:avLst>
              <a:gd name="adj" fmla="val 50000"/>
            </a:avLst>
          </a:prstGeom>
          <a:solidFill>
            <a:srgbClr val="D9A4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5614416" y="2048256"/>
            <a:ext cx="1152144" cy="1828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00" b="0" i="0">
                <a:solidFill>
                  <a:srgbClr val="64757B"/>
                </a:solidFill>
                <a:latin typeface="Calibri"/>
              </a:rPr>
              <a:t>Мито 10% · 6.9% · $101,86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65760" y="2359152"/>
            <a:ext cx="4114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1" i="0">
                <a:solidFill>
                  <a:srgbClr val="C1512A"/>
                </a:solidFill>
                <a:latin typeface="Calibri"/>
              </a:rPr>
              <a:t>СКЛАДОВІ РОЗРАХУНКУ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65760" y="2633472"/>
            <a:ext cx="4114800" cy="224028"/>
          </a:xfrm>
          <a:prstGeom prst="rect">
            <a:avLst/>
          </a:prstGeom>
          <a:solidFill>
            <a:srgbClr val="F7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457200" y="2633472"/>
            <a:ext cx="1801368" cy="2240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0" i="0">
                <a:solidFill>
                  <a:srgbClr val="64757B"/>
                </a:solidFill>
                <a:latin typeface="Calibri"/>
              </a:rPr>
              <a:t>Ціна постачальника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258568" y="2633472"/>
            <a:ext cx="2130552" cy="2240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1" i="0">
                <a:solidFill>
                  <a:srgbClr val="1C2A2F"/>
                </a:solidFill>
                <a:latin typeface="Calibri"/>
              </a:rPr>
              <a:t>FOB, USD за одиницю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" y="2857500"/>
            <a:ext cx="1801368" cy="2240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0" i="0">
                <a:solidFill>
                  <a:srgbClr val="64757B"/>
                </a:solidFill>
                <a:latin typeface="Calibri"/>
              </a:rPr>
              <a:t>Логістика ЗЕД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258568" y="2857500"/>
            <a:ext cx="2130552" cy="2240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1" i="0">
                <a:solidFill>
                  <a:srgbClr val="1C2A2F"/>
                </a:solidFill>
                <a:latin typeface="Calibri"/>
              </a:rPr>
              <a:t>фрахт, розподіл на вагу/об’єм</a:t>
            </a:r>
          </a:p>
        </p:txBody>
      </p:sp>
      <p:sp>
        <p:nvSpPr>
          <p:cNvPr id="30" name="Rectangle 29"/>
          <p:cNvSpPr/>
          <p:nvPr/>
        </p:nvSpPr>
        <p:spPr>
          <a:xfrm>
            <a:off x="365760" y="3081528"/>
            <a:ext cx="4114800" cy="224028"/>
          </a:xfrm>
          <a:prstGeom prst="rect">
            <a:avLst/>
          </a:prstGeom>
          <a:solidFill>
            <a:srgbClr val="F7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1" name="TextBox 30"/>
          <p:cNvSpPr txBox="1"/>
          <p:nvPr/>
        </p:nvSpPr>
        <p:spPr>
          <a:xfrm>
            <a:off x="457200" y="3081528"/>
            <a:ext cx="1801368" cy="2240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0" i="0">
                <a:solidFill>
                  <a:srgbClr val="64757B"/>
                </a:solidFill>
                <a:latin typeface="Calibri"/>
              </a:rPr>
              <a:t>Мито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258568" y="3081528"/>
            <a:ext cx="2130552" cy="2240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1" i="0">
                <a:solidFill>
                  <a:srgbClr val="1C2A2F"/>
                </a:solidFill>
                <a:latin typeface="Calibri"/>
              </a:rPr>
              <a:t>10% від митної вартості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57200" y="3305556"/>
            <a:ext cx="1801368" cy="2240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0" i="0">
                <a:solidFill>
                  <a:srgbClr val="64757B"/>
                </a:solidFill>
                <a:latin typeface="Calibri"/>
              </a:rPr>
              <a:t>ПДВ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2258568" y="3305556"/>
            <a:ext cx="2130552" cy="2240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1" i="0">
                <a:solidFill>
                  <a:srgbClr val="1C2A2F"/>
                </a:solidFill>
                <a:latin typeface="Calibri"/>
              </a:rPr>
              <a:t>20% від (митна вартість + мито)</a:t>
            </a:r>
          </a:p>
        </p:txBody>
      </p:sp>
      <p:sp>
        <p:nvSpPr>
          <p:cNvPr id="35" name="Rectangle 34"/>
          <p:cNvSpPr/>
          <p:nvPr/>
        </p:nvSpPr>
        <p:spPr>
          <a:xfrm>
            <a:off x="365760" y="3529584"/>
            <a:ext cx="4114800" cy="224028"/>
          </a:xfrm>
          <a:prstGeom prst="rect">
            <a:avLst/>
          </a:prstGeom>
          <a:solidFill>
            <a:srgbClr val="F7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6" name="TextBox 35"/>
          <p:cNvSpPr txBox="1"/>
          <p:nvPr/>
        </p:nvSpPr>
        <p:spPr>
          <a:xfrm>
            <a:off x="457200" y="3529584"/>
            <a:ext cx="1801368" cy="2240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0" i="0">
                <a:solidFill>
                  <a:srgbClr val="64757B"/>
                </a:solidFill>
                <a:latin typeface="Calibri"/>
              </a:rPr>
              <a:t>Транспорт по Україні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2258568" y="3529584"/>
            <a:ext cx="2130552" cy="2240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1" i="0">
                <a:solidFill>
                  <a:srgbClr val="1C2A2F"/>
                </a:solidFill>
                <a:latin typeface="Calibri"/>
              </a:rPr>
              <a:t>авто + брокерські послуги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57200" y="3753612"/>
            <a:ext cx="1801368" cy="2240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0" i="0">
                <a:solidFill>
                  <a:srgbClr val="64757B"/>
                </a:solidFill>
                <a:latin typeface="Calibri"/>
              </a:rPr>
              <a:t>Термінал і сертифікація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258568" y="3753612"/>
            <a:ext cx="2130552" cy="2240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1" i="0">
                <a:solidFill>
                  <a:srgbClr val="1C2A2F"/>
                </a:solidFill>
                <a:latin typeface="Calibri"/>
              </a:rPr>
              <a:t>карантин, декларації, аутсорс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977639"/>
            <a:ext cx="4114800" cy="224028"/>
          </a:xfrm>
          <a:prstGeom prst="rect">
            <a:avLst/>
          </a:prstGeom>
          <a:solidFill>
            <a:srgbClr val="F7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1" name="TextBox 40"/>
          <p:cNvSpPr txBox="1"/>
          <p:nvPr/>
        </p:nvSpPr>
        <p:spPr>
          <a:xfrm>
            <a:off x="457200" y="3977639"/>
            <a:ext cx="1801368" cy="2240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0" i="0">
                <a:solidFill>
                  <a:srgbClr val="64757B"/>
                </a:solidFill>
                <a:latin typeface="Calibri"/>
              </a:rPr>
              <a:t>Кредитні гроші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2258568" y="3977639"/>
            <a:ext cx="2130552" cy="2240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1" i="0">
                <a:solidFill>
                  <a:srgbClr val="1C2A2F"/>
                </a:solidFill>
                <a:latin typeface="Calibri"/>
              </a:rPr>
              <a:t>+2,5% на 120 днів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4846320" y="2359152"/>
            <a:ext cx="3931919" cy="2231136"/>
          </a:xfrm>
          <a:prstGeom prst="roundRect">
            <a:avLst>
              <a:gd name="adj" fmla="val 9000"/>
            </a:avLst>
          </a:prstGeom>
          <a:solidFill>
            <a:srgbClr val="F7F4EE"/>
          </a:solidFill>
          <a:ln w="9525">
            <a:solidFill>
              <a:srgbClr val="E2E6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4" name="TextBox 43"/>
          <p:cNvSpPr txBox="1"/>
          <p:nvPr/>
        </p:nvSpPr>
        <p:spPr>
          <a:xfrm>
            <a:off x="5047488" y="2505456"/>
            <a:ext cx="3529583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1" i="0">
                <a:solidFill>
                  <a:srgbClr val="C1512A"/>
                </a:solidFill>
                <a:latin typeface="Calibri"/>
              </a:rPr>
              <a:t>ЩО ВАЖЛИВО ЗНАТИ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5047488" y="2825496"/>
            <a:ext cx="91440" cy="91440"/>
          </a:xfrm>
          <a:prstGeom prst="roundRect">
            <a:avLst>
              <a:gd name="adj" fmla="val 50000"/>
            </a:avLst>
          </a:prstGeom>
          <a:solidFill>
            <a:srgbClr val="C15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6" name="TextBox 45"/>
          <p:cNvSpPr txBox="1"/>
          <p:nvPr/>
        </p:nvSpPr>
        <p:spPr>
          <a:xfrm>
            <a:off x="5230368" y="2761488"/>
            <a:ext cx="3328415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1" i="0">
                <a:solidFill>
                  <a:srgbClr val="1C2A2F"/>
                </a:solidFill>
                <a:latin typeface="Calibri"/>
              </a:rPr>
              <a:t>Валюта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5230368" y="2953512"/>
            <a:ext cx="3328415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750" b="0" i="0">
                <a:solidFill>
                  <a:srgbClr val="64757B"/>
                </a:solidFill>
                <a:latin typeface="Calibri"/>
              </a:rPr>
              <a:t>Підсумкова колонка у Self Cost підписана «€», але вхідні ціни — FOB у доларах і перерахунку в євро в розрахунку немає. Тому в деці показник наведено як $.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5047488" y="3410712"/>
            <a:ext cx="91440" cy="91440"/>
          </a:xfrm>
          <a:prstGeom prst="roundRect">
            <a:avLst>
              <a:gd name="adj" fmla="val 50000"/>
            </a:avLst>
          </a:prstGeom>
          <a:solidFill>
            <a:srgbClr val="C15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9" name="TextBox 48"/>
          <p:cNvSpPr txBox="1"/>
          <p:nvPr/>
        </p:nvSpPr>
        <p:spPr>
          <a:xfrm>
            <a:off x="5230368" y="3346704"/>
            <a:ext cx="3328415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1" i="0">
                <a:solidFill>
                  <a:srgbClr val="1C2A2F"/>
                </a:solidFill>
                <a:latin typeface="Calibri"/>
              </a:rPr>
              <a:t>ПДВ у собівартості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230368" y="3538728"/>
            <a:ext cx="3328415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750" b="0" i="0">
                <a:solidFill>
                  <a:srgbClr val="64757B"/>
                </a:solidFill>
                <a:latin typeface="Calibri"/>
              </a:rPr>
              <a:t>ПДВ 20% включено в підсумкову суму — у прикладі це 15,1%. Якщо ПДВ відшкодовується, фактична база для націнки нижча.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5047488" y="3995928"/>
            <a:ext cx="91440" cy="91440"/>
          </a:xfrm>
          <a:prstGeom prst="roundRect">
            <a:avLst>
              <a:gd name="adj" fmla="val 50000"/>
            </a:avLst>
          </a:prstGeom>
          <a:solidFill>
            <a:srgbClr val="C15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2" name="TextBox 51"/>
          <p:cNvSpPr txBox="1"/>
          <p:nvPr/>
        </p:nvSpPr>
        <p:spPr>
          <a:xfrm>
            <a:off x="5230368" y="3931920"/>
            <a:ext cx="3328415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1" i="0">
                <a:solidFill>
                  <a:srgbClr val="1C2A2F"/>
                </a:solidFill>
                <a:latin typeface="Calibri"/>
              </a:rPr>
              <a:t>Курс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30368" y="4123944"/>
            <a:ext cx="3328415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750" b="0" i="0">
                <a:solidFill>
                  <a:srgbClr val="64757B"/>
                </a:solidFill>
                <a:latin typeface="Calibri"/>
              </a:rPr>
              <a:t>Гривневі суми взято з файлу без перерахунку: застосовано курс від 45 до 49 ₴ залежно від позиції.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4869180"/>
            <a:ext cx="8412480" cy="9144"/>
          </a:xfrm>
          <a:prstGeom prst="rect">
            <a:avLst/>
          </a:prstGeom>
          <a:solidFill>
            <a:srgbClr val="E2E6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5" name="TextBox 54"/>
          <p:cNvSpPr txBox="1"/>
          <p:nvPr/>
        </p:nvSpPr>
        <p:spPr>
          <a:xfrm>
            <a:off x="365760" y="4914900"/>
            <a:ext cx="78638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64757B"/>
                </a:solidFill>
                <a:latin typeface="Calibri"/>
              </a:rPr>
              <a:t>Джерело: SelfCost.xlsx, вкладка «ZEK -Retail», рядок 6 (20′ контейнер).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8229600" y="4914900"/>
            <a:ext cx="5486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750" b="1" i="0">
                <a:solidFill>
                  <a:srgbClr val="64757B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1423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ectangle 3"/>
          <p:cNvSpPr/>
          <p:nvPr/>
        </p:nvSpPr>
        <p:spPr>
          <a:xfrm>
            <a:off x="365760" y="617219"/>
            <a:ext cx="1737360" cy="41148"/>
          </a:xfrm>
          <a:prstGeom prst="rect">
            <a:avLst/>
          </a:prstGeom>
          <a:solidFill>
            <a:srgbClr val="C15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365760" y="91440"/>
            <a:ext cx="6400799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50" b="1" i="0">
                <a:solidFill>
                  <a:srgbClr val="D9A441"/>
                </a:solidFill>
                <a:latin typeface="Calibri"/>
              </a:rPr>
              <a:t>ЯК ДОСТАВКА ВПЛИВАЄ НА ЦІНУ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256032"/>
            <a:ext cx="640079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 i="0">
                <a:solidFill>
                  <a:srgbClr val="FFFFFF"/>
                </a:solidFill>
                <a:latin typeface="Cambria"/>
              </a:rPr>
              <a:t>Чотири сценарії логістики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65760" y="960120"/>
            <a:ext cx="2084831" cy="2249424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9525">
            <a:solidFill>
              <a:srgbClr val="E2E6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365760" y="960120"/>
            <a:ext cx="2084831" cy="402336"/>
          </a:xfrm>
          <a:prstGeom prst="roundRect">
            <a:avLst>
              <a:gd name="adj" fmla="val 9000"/>
            </a:avLst>
          </a:prstGeom>
          <a:solidFill>
            <a:srgbClr val="0E5C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ectangle 8"/>
          <p:cNvSpPr/>
          <p:nvPr/>
        </p:nvSpPr>
        <p:spPr>
          <a:xfrm>
            <a:off x="365760" y="1188720"/>
            <a:ext cx="2084831" cy="173736"/>
          </a:xfrm>
          <a:prstGeom prst="rect">
            <a:avLst/>
          </a:prstGeom>
          <a:solidFill>
            <a:srgbClr val="0E5C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365760" y="960120"/>
            <a:ext cx="2084831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 i="0">
                <a:solidFill>
                  <a:srgbClr val="FFFFFF"/>
                </a:solidFill>
                <a:latin typeface="Cambria"/>
              </a:rPr>
              <a:t>40′ контейнер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93776" y="1463040"/>
            <a:ext cx="182879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900" b="1" i="0">
                <a:solidFill>
                  <a:srgbClr val="C1512A"/>
                </a:solidFill>
                <a:latin typeface="Cambria"/>
              </a:rPr>
              <a:t>$0,667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93776" y="1773936"/>
            <a:ext cx="1828799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 i="0">
                <a:solidFill>
                  <a:srgbClr val="1C2A2F"/>
                </a:solidFill>
                <a:latin typeface="Calibri"/>
              </a:rPr>
              <a:t>30,04 ₴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13815" y="2029968"/>
            <a:ext cx="1188720" cy="201168"/>
          </a:xfrm>
          <a:prstGeom prst="roundRect">
            <a:avLst>
              <a:gd name="adj" fmla="val 50000"/>
            </a:avLst>
          </a:prstGeom>
          <a:solidFill>
            <a:srgbClr val="E4EF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13815" y="2029968"/>
            <a:ext cx="1188720" cy="20116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650" b="1" i="0">
                <a:solidFill>
                  <a:srgbClr val="0E5C51"/>
                </a:solidFill>
                <a:latin typeface="Calibri"/>
              </a:rPr>
              <a:t>БАЗОВИЙ СЦЕНАРІЙ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12064" y="2340864"/>
            <a:ext cx="1792223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750" b="0" i="0">
                <a:solidFill>
                  <a:srgbClr val="64757B"/>
                </a:solidFill>
                <a:latin typeface="Calibri"/>
              </a:rPr>
              <a:t>Повний 40-футовий контейнер. Максимальний обсяг — мінімальна логістична частка в одиниці товару. Базовий сценарій цієї деки.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2596896" y="960120"/>
            <a:ext cx="2084831" cy="2249424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9525">
            <a:solidFill>
              <a:srgbClr val="E2E6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2596896" y="960120"/>
            <a:ext cx="2084831" cy="402336"/>
          </a:xfrm>
          <a:prstGeom prst="roundRect">
            <a:avLst>
              <a:gd name="adj" fmla="val 9000"/>
            </a:avLst>
          </a:prstGeom>
          <a:solidFill>
            <a:srgbClr val="1423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Rectangle 17"/>
          <p:cNvSpPr/>
          <p:nvPr/>
        </p:nvSpPr>
        <p:spPr>
          <a:xfrm>
            <a:off x="2596896" y="1188720"/>
            <a:ext cx="2084831" cy="173736"/>
          </a:xfrm>
          <a:prstGeom prst="rect">
            <a:avLst/>
          </a:prstGeom>
          <a:solidFill>
            <a:srgbClr val="1423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2596896" y="960120"/>
            <a:ext cx="2084831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 i="0">
                <a:solidFill>
                  <a:srgbClr val="FFFFFF"/>
                </a:solidFill>
                <a:latin typeface="Cambria"/>
              </a:rPr>
              <a:t>20′ контейнер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724912" y="1463040"/>
            <a:ext cx="182879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900" b="1" i="0">
                <a:solidFill>
                  <a:srgbClr val="C1512A"/>
                </a:solidFill>
                <a:latin typeface="Cambria"/>
              </a:rPr>
              <a:t>$0,879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724912" y="1773936"/>
            <a:ext cx="1828799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 i="0">
                <a:solidFill>
                  <a:srgbClr val="1C2A2F"/>
                </a:solidFill>
                <a:latin typeface="Calibri"/>
              </a:rPr>
              <a:t>39,54 ₴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3044951" y="2029968"/>
            <a:ext cx="1188720" cy="201168"/>
          </a:xfrm>
          <a:prstGeom prst="roundRect">
            <a:avLst>
              <a:gd name="adj" fmla="val 50000"/>
            </a:avLst>
          </a:prstGeom>
          <a:solidFill>
            <a:srgbClr val="F8E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3044951" y="2029968"/>
            <a:ext cx="1188720" cy="20116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650" b="1" i="0">
                <a:solidFill>
                  <a:srgbClr val="C1512A"/>
                </a:solidFill>
                <a:latin typeface="Calibri"/>
              </a:rPr>
              <a:t>+32% ДО БАЗОВОГО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743200" y="2340864"/>
            <a:ext cx="1792223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750" b="0" i="0">
                <a:solidFill>
                  <a:srgbClr val="64757B"/>
                </a:solidFill>
                <a:latin typeface="Calibri"/>
              </a:rPr>
              <a:t>Повний 20-футовий контейнер. Менший обсяг, ті самі фіксовані витрати — собівартість помітно вища.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828031" y="960120"/>
            <a:ext cx="2084831" cy="2249424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9525">
            <a:solidFill>
              <a:srgbClr val="E2E6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Rounded Rectangle 25"/>
          <p:cNvSpPr/>
          <p:nvPr/>
        </p:nvSpPr>
        <p:spPr>
          <a:xfrm>
            <a:off x="4828031" y="960120"/>
            <a:ext cx="2084831" cy="402336"/>
          </a:xfrm>
          <a:prstGeom prst="roundRect">
            <a:avLst>
              <a:gd name="adj" fmla="val 9000"/>
            </a:avLst>
          </a:prstGeom>
          <a:solidFill>
            <a:srgbClr val="1423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Rectangle 26"/>
          <p:cNvSpPr/>
          <p:nvPr/>
        </p:nvSpPr>
        <p:spPr>
          <a:xfrm>
            <a:off x="4828031" y="1188720"/>
            <a:ext cx="2084831" cy="173736"/>
          </a:xfrm>
          <a:prstGeom prst="rect">
            <a:avLst/>
          </a:prstGeom>
          <a:solidFill>
            <a:srgbClr val="1423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TextBox 27"/>
          <p:cNvSpPr txBox="1"/>
          <p:nvPr/>
        </p:nvSpPr>
        <p:spPr>
          <a:xfrm>
            <a:off x="4828031" y="960120"/>
            <a:ext cx="2084831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 i="0">
                <a:solidFill>
                  <a:srgbClr val="FFFFFF"/>
                </a:solidFill>
                <a:latin typeface="Cambria"/>
              </a:rPr>
              <a:t>Збірний 34 м³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956047" y="1463040"/>
            <a:ext cx="182879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900" b="1" i="0">
                <a:solidFill>
                  <a:srgbClr val="C1512A"/>
                </a:solidFill>
                <a:latin typeface="Cambria"/>
              </a:rPr>
              <a:t>$0,947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956047" y="1773936"/>
            <a:ext cx="1828799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 i="0">
                <a:solidFill>
                  <a:srgbClr val="1C2A2F"/>
                </a:solidFill>
                <a:latin typeface="Calibri"/>
              </a:rPr>
              <a:t>42,60 ₴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5276088" y="2029968"/>
            <a:ext cx="1188720" cy="201168"/>
          </a:xfrm>
          <a:prstGeom prst="roundRect">
            <a:avLst>
              <a:gd name="adj" fmla="val 50000"/>
            </a:avLst>
          </a:prstGeom>
          <a:solidFill>
            <a:srgbClr val="F8E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2" name="TextBox 31"/>
          <p:cNvSpPr txBox="1"/>
          <p:nvPr/>
        </p:nvSpPr>
        <p:spPr>
          <a:xfrm>
            <a:off x="5276088" y="2029968"/>
            <a:ext cx="1188720" cy="20116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650" b="1" i="0">
                <a:solidFill>
                  <a:srgbClr val="C1512A"/>
                </a:solidFill>
                <a:latin typeface="Calibri"/>
              </a:rPr>
              <a:t>+42% ДО БАЗОВОГО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974336" y="2340864"/>
            <a:ext cx="1792223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750" b="0" i="0">
                <a:solidFill>
                  <a:srgbClr val="64757B"/>
                </a:solidFill>
                <a:latin typeface="Calibri"/>
              </a:rPr>
              <a:t>Збірний вантаж 34 м³. Компроміс для середніх обсягів, коли контейнер ще не набирається.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7059167" y="960120"/>
            <a:ext cx="2084831" cy="2249424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9525">
            <a:solidFill>
              <a:srgbClr val="E2E6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5" name="Rounded Rectangle 34"/>
          <p:cNvSpPr/>
          <p:nvPr/>
        </p:nvSpPr>
        <p:spPr>
          <a:xfrm>
            <a:off x="7059167" y="960120"/>
            <a:ext cx="2084831" cy="402336"/>
          </a:xfrm>
          <a:prstGeom prst="roundRect">
            <a:avLst>
              <a:gd name="adj" fmla="val 9000"/>
            </a:avLst>
          </a:prstGeom>
          <a:solidFill>
            <a:srgbClr val="1423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6" name="Rectangle 35"/>
          <p:cNvSpPr/>
          <p:nvPr/>
        </p:nvSpPr>
        <p:spPr>
          <a:xfrm>
            <a:off x="7059167" y="1188720"/>
            <a:ext cx="2084831" cy="173736"/>
          </a:xfrm>
          <a:prstGeom prst="rect">
            <a:avLst/>
          </a:prstGeom>
          <a:solidFill>
            <a:srgbClr val="1423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7" name="TextBox 36"/>
          <p:cNvSpPr txBox="1"/>
          <p:nvPr/>
        </p:nvSpPr>
        <p:spPr>
          <a:xfrm>
            <a:off x="7059167" y="960120"/>
            <a:ext cx="2084831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 i="0">
                <a:solidFill>
                  <a:srgbClr val="FFFFFF"/>
                </a:solidFill>
                <a:latin typeface="Cambria"/>
              </a:rPr>
              <a:t>Збірний 17 м³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187183" y="1463040"/>
            <a:ext cx="182879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900" b="1" i="0">
                <a:solidFill>
                  <a:srgbClr val="C1512A"/>
                </a:solidFill>
                <a:latin typeface="Cambria"/>
              </a:rPr>
              <a:t>$1,443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187183" y="1773936"/>
            <a:ext cx="1828799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 i="0">
                <a:solidFill>
                  <a:srgbClr val="1C2A2F"/>
                </a:solidFill>
                <a:latin typeface="Calibri"/>
              </a:rPr>
              <a:t>64,94 ₴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7507223" y="2029968"/>
            <a:ext cx="1188720" cy="201168"/>
          </a:xfrm>
          <a:prstGeom prst="roundRect">
            <a:avLst>
              <a:gd name="adj" fmla="val 50000"/>
            </a:avLst>
          </a:prstGeom>
          <a:solidFill>
            <a:srgbClr val="F8E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1" name="TextBox 40"/>
          <p:cNvSpPr txBox="1"/>
          <p:nvPr/>
        </p:nvSpPr>
        <p:spPr>
          <a:xfrm>
            <a:off x="7507223" y="2029968"/>
            <a:ext cx="1188720" cy="20116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650" b="1" i="0">
                <a:solidFill>
                  <a:srgbClr val="C1512A"/>
                </a:solidFill>
                <a:latin typeface="Calibri"/>
              </a:rPr>
              <a:t>+116% ДО БАЗОВОГО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205471" y="2340864"/>
            <a:ext cx="1792223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750" b="0" i="0">
                <a:solidFill>
                  <a:srgbClr val="64757B"/>
                </a:solidFill>
                <a:latin typeface="Calibri"/>
              </a:rPr>
              <a:t>Збірний вантаж 17 м³. Найдорожчий варіант — підходить для тесту товару чи першої партії.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365760" y="3529584"/>
            <a:ext cx="8412480" cy="932688"/>
          </a:xfrm>
          <a:prstGeom prst="roundRect">
            <a:avLst>
              <a:gd name="adj" fmla="val 9000"/>
            </a:avLst>
          </a:prstGeom>
          <a:solidFill>
            <a:srgbClr val="F7F4EE"/>
          </a:solidFill>
          <a:ln w="9525">
            <a:solidFill>
              <a:srgbClr val="E2E6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4" name="Rectangle 43"/>
          <p:cNvSpPr/>
          <p:nvPr/>
        </p:nvSpPr>
        <p:spPr>
          <a:xfrm>
            <a:off x="365760" y="3529584"/>
            <a:ext cx="45720" cy="932688"/>
          </a:xfrm>
          <a:prstGeom prst="rect">
            <a:avLst/>
          </a:prstGeom>
          <a:solidFill>
            <a:srgbClr val="C15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5" name="TextBox 44"/>
          <p:cNvSpPr txBox="1"/>
          <p:nvPr/>
        </p:nvSpPr>
        <p:spPr>
          <a:xfrm>
            <a:off x="585216" y="3675887"/>
            <a:ext cx="7955279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1" i="0">
                <a:solidFill>
                  <a:srgbClr val="C1512A"/>
                </a:solidFill>
                <a:latin typeface="Calibri"/>
              </a:rPr>
              <a:t>ГОЛОВНИЙ ВИСНОВОК ДЛЯ ЦІНОУТВОРЕННЯ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85216" y="3913632"/>
            <a:ext cx="7955279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0" i="0">
                <a:solidFill>
                  <a:srgbClr val="1C2A2F"/>
                </a:solidFill>
                <a:latin typeface="Calibri"/>
              </a:rPr>
              <a:t>Різниця між найдешевшим і найдорожчим сценарієм — понад дві собівартості: 30,04 ₴ проти 64,94 ₴ за той самий пакет 30 г. Перш ніж рахувати націнку, треба зафіксувати сценарій доставки — інакше маржа «попливе» на 100%+.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4869180"/>
            <a:ext cx="8412480" cy="9144"/>
          </a:xfrm>
          <a:prstGeom prst="rect">
            <a:avLst/>
          </a:prstGeom>
          <a:solidFill>
            <a:srgbClr val="E2E6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8" name="TextBox 47"/>
          <p:cNvSpPr txBox="1"/>
          <p:nvPr/>
        </p:nvSpPr>
        <p:spPr>
          <a:xfrm>
            <a:off x="365760" y="4914900"/>
            <a:ext cx="78638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64757B"/>
                </a:solidFill>
                <a:latin typeface="Calibri"/>
              </a:rPr>
              <a:t>Приклад розрахований на ZEK Tempura Seaweed Corn 30 г.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229600" y="4914900"/>
            <a:ext cx="5486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750" b="1" i="0">
                <a:solidFill>
                  <a:srgbClr val="64757B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1423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ectangle 3"/>
          <p:cNvSpPr/>
          <p:nvPr/>
        </p:nvSpPr>
        <p:spPr>
          <a:xfrm>
            <a:off x="365760" y="617219"/>
            <a:ext cx="1737360" cy="41148"/>
          </a:xfrm>
          <a:prstGeom prst="rect">
            <a:avLst/>
          </a:prstGeom>
          <a:solidFill>
            <a:srgbClr val="C15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365760" y="91440"/>
            <a:ext cx="6400799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50" b="1" i="0">
                <a:solidFill>
                  <a:srgbClr val="D9A441"/>
                </a:solidFill>
                <a:latin typeface="Calibri"/>
              </a:rPr>
              <a:t>ПРОФІЛЬ ПОСТАЧАЛЬНИКА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256032"/>
            <a:ext cx="640079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 i="0">
                <a:solidFill>
                  <a:srgbClr val="FFFFFF"/>
                </a:solidFill>
                <a:latin typeface="Cambria"/>
              </a:rPr>
              <a:t>Singha Kameda (Thailand) Co., Ltd.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0" y="219456"/>
            <a:ext cx="237744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1" i="0">
                <a:solidFill>
                  <a:srgbClr val="FFFFFF"/>
                </a:solidFill>
                <a:latin typeface="Calibri"/>
              </a:rPr>
              <a:t>Arare Norimaki · Okome Snacks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65760" y="932688"/>
            <a:ext cx="5029200" cy="1188720"/>
          </a:xfrm>
          <a:prstGeom prst="roundRect">
            <a:avLst>
              <a:gd name="adj" fmla="val 9000"/>
            </a:avLst>
          </a:prstGeom>
          <a:solidFill>
            <a:srgbClr val="F7F4EE"/>
          </a:solidFill>
          <a:ln w="9525">
            <a:solidFill>
              <a:srgbClr val="E2E6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ectangle 8"/>
          <p:cNvSpPr/>
          <p:nvPr/>
        </p:nvSpPr>
        <p:spPr>
          <a:xfrm>
            <a:off x="365760" y="932688"/>
            <a:ext cx="45720" cy="1188720"/>
          </a:xfrm>
          <a:prstGeom prst="rect">
            <a:avLst/>
          </a:prstGeom>
          <a:solidFill>
            <a:srgbClr val="0E5C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585216" y="1078992"/>
            <a:ext cx="45720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1" i="0">
                <a:solidFill>
                  <a:srgbClr val="C1512A"/>
                </a:solidFill>
                <a:latin typeface="Calibri"/>
              </a:rPr>
              <a:t>ПРО КОМПАНІЮ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85216" y="1316736"/>
            <a:ext cx="461772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900" b="0" i="0">
                <a:solidFill>
                  <a:srgbClr val="1C2A2F"/>
                </a:solidFill>
                <a:latin typeface="Calibri"/>
              </a:rPr>
              <a:t>Спільне підприємство японської Kameda Seika — світового лідера ринку рисових крекерів — та тайської групи Singha (Boon Rawd Brewery). Виробництво в Таїланді за японськими стандартами якості.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65760" y="2249424"/>
            <a:ext cx="1572768" cy="859536"/>
          </a:xfrm>
          <a:prstGeom prst="roundRect">
            <a:avLst>
              <a:gd name="adj" fmla="val 10000"/>
            </a:avLst>
          </a:prstGeom>
          <a:solidFill>
            <a:srgbClr val="F7F4EE"/>
          </a:solidFill>
          <a:ln w="9525">
            <a:solidFill>
              <a:srgbClr val="E2E6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ectangle 12"/>
          <p:cNvSpPr/>
          <p:nvPr/>
        </p:nvSpPr>
        <p:spPr>
          <a:xfrm>
            <a:off x="365760" y="2249424"/>
            <a:ext cx="41148" cy="859536"/>
          </a:xfrm>
          <a:prstGeom prst="rect">
            <a:avLst/>
          </a:prstGeom>
          <a:solidFill>
            <a:srgbClr val="0E5C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530352" y="2368296"/>
            <a:ext cx="1298448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1" i="0">
                <a:solidFill>
                  <a:srgbClr val="0E5C51"/>
                </a:solidFill>
                <a:latin typeface="Cambri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30352" y="2724912"/>
            <a:ext cx="1298448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750" b="0" i="0">
                <a:solidFill>
                  <a:srgbClr val="64757B"/>
                </a:solidFill>
                <a:latin typeface="Calibri"/>
              </a:rPr>
              <a:t>SKU з розрахованою
собівартістю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2093976" y="2249424"/>
            <a:ext cx="1572768" cy="859536"/>
          </a:xfrm>
          <a:prstGeom prst="roundRect">
            <a:avLst>
              <a:gd name="adj" fmla="val 10000"/>
            </a:avLst>
          </a:prstGeom>
          <a:solidFill>
            <a:srgbClr val="F7F4EE"/>
          </a:solidFill>
          <a:ln w="9525">
            <a:solidFill>
              <a:srgbClr val="E2E6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ectangle 16"/>
          <p:cNvSpPr/>
          <p:nvPr/>
        </p:nvSpPr>
        <p:spPr>
          <a:xfrm>
            <a:off x="2093976" y="2249424"/>
            <a:ext cx="41148" cy="859536"/>
          </a:xfrm>
          <a:prstGeom prst="rect">
            <a:avLst/>
          </a:prstGeom>
          <a:solidFill>
            <a:srgbClr val="0E5C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2258568" y="2368296"/>
            <a:ext cx="1298448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1" i="0">
                <a:solidFill>
                  <a:srgbClr val="0E5C51"/>
                </a:solidFill>
                <a:latin typeface="Cambria"/>
              </a:rPr>
              <a:t>9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258568" y="2724912"/>
            <a:ext cx="1298448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750" b="0" i="0">
                <a:solidFill>
                  <a:srgbClr val="64757B"/>
                </a:solidFill>
                <a:latin typeface="Calibri"/>
              </a:rPr>
              <a:t>позицій
у прайс-листі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822191" y="2249424"/>
            <a:ext cx="1572768" cy="859536"/>
          </a:xfrm>
          <a:prstGeom prst="roundRect">
            <a:avLst>
              <a:gd name="adj" fmla="val 10000"/>
            </a:avLst>
          </a:prstGeom>
          <a:solidFill>
            <a:srgbClr val="F7F4EE"/>
          </a:solidFill>
          <a:ln w="9525">
            <a:solidFill>
              <a:srgbClr val="E2E6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ectangle 20"/>
          <p:cNvSpPr/>
          <p:nvPr/>
        </p:nvSpPr>
        <p:spPr>
          <a:xfrm>
            <a:off x="3822191" y="2249424"/>
            <a:ext cx="41148" cy="859536"/>
          </a:xfrm>
          <a:prstGeom prst="rect">
            <a:avLst/>
          </a:prstGeom>
          <a:solidFill>
            <a:srgbClr val="0E5C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3986783" y="2368296"/>
            <a:ext cx="1298448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1" i="0">
                <a:solidFill>
                  <a:srgbClr val="0E5C51"/>
                </a:solidFill>
                <a:latin typeface="Cambria"/>
              </a:rPr>
              <a:t>12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986783" y="2724912"/>
            <a:ext cx="1298448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750" b="0" i="0">
                <a:solidFill>
                  <a:srgbClr val="64757B"/>
                </a:solidFill>
                <a:latin typeface="Calibri"/>
              </a:rPr>
              <a:t>місяців
термін придатності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65760" y="3255264"/>
            <a:ext cx="50292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1" i="0">
                <a:solidFill>
                  <a:srgbClr val="C1512A"/>
                </a:solidFill>
                <a:latin typeface="Calibri"/>
              </a:rPr>
              <a:t>КЛЮЧОВІ ПАРАМЕТРИ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65760" y="3511296"/>
            <a:ext cx="5029200" cy="214884"/>
          </a:xfrm>
          <a:prstGeom prst="rect">
            <a:avLst/>
          </a:prstGeom>
          <a:solidFill>
            <a:srgbClr val="F7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457200" y="3511296"/>
            <a:ext cx="2020824" cy="2148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0" i="0">
                <a:solidFill>
                  <a:srgbClr val="64757B"/>
                </a:solidFill>
                <a:latin typeface="Calibri"/>
              </a:rPr>
              <a:t>Країна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478024" y="3511296"/>
            <a:ext cx="2825496" cy="2148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1" i="0">
                <a:solidFill>
                  <a:srgbClr val="1C2A2F"/>
                </a:solidFill>
                <a:latin typeface="Calibri"/>
              </a:rPr>
              <a:t>Таїланд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" y="3726180"/>
            <a:ext cx="2020824" cy="2148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0" i="0">
                <a:solidFill>
                  <a:srgbClr val="64757B"/>
                </a:solidFill>
                <a:latin typeface="Calibri"/>
              </a:rPr>
              <a:t>Умови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478024" y="3726180"/>
            <a:ext cx="2825496" cy="2148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1" i="0">
                <a:solidFill>
                  <a:srgbClr val="1C2A2F"/>
                </a:solidFill>
                <a:latin typeface="Calibri"/>
              </a:rPr>
              <a:t>FOB Bangkok</a:t>
            </a:r>
          </a:p>
        </p:txBody>
      </p:sp>
      <p:sp>
        <p:nvSpPr>
          <p:cNvPr id="30" name="Rectangle 29"/>
          <p:cNvSpPr/>
          <p:nvPr/>
        </p:nvSpPr>
        <p:spPr>
          <a:xfrm>
            <a:off x="365760" y="3941063"/>
            <a:ext cx="5029200" cy="214884"/>
          </a:xfrm>
          <a:prstGeom prst="rect">
            <a:avLst/>
          </a:prstGeom>
          <a:solidFill>
            <a:srgbClr val="F7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1" name="TextBox 30"/>
          <p:cNvSpPr txBox="1"/>
          <p:nvPr/>
        </p:nvSpPr>
        <p:spPr>
          <a:xfrm>
            <a:off x="457200" y="3941063"/>
            <a:ext cx="2020824" cy="2148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0" i="0">
                <a:solidFill>
                  <a:srgbClr val="64757B"/>
                </a:solidFill>
                <a:latin typeface="Calibri"/>
              </a:rPr>
              <a:t>Фасовка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478024" y="3941063"/>
            <a:ext cx="2825496" cy="2148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1" i="0">
                <a:solidFill>
                  <a:srgbClr val="1C2A2F"/>
                </a:solidFill>
                <a:latin typeface="Calibri"/>
              </a:rPr>
              <a:t>24 шт / картон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57200" y="4155948"/>
            <a:ext cx="2020824" cy="2148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0" i="0">
                <a:solidFill>
                  <a:srgbClr val="64757B"/>
                </a:solidFill>
                <a:latin typeface="Calibri"/>
              </a:rPr>
              <a:t>Місткість 20′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2478024" y="4155948"/>
            <a:ext cx="2825496" cy="2148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1" i="0">
                <a:solidFill>
                  <a:srgbClr val="1C2A2F"/>
                </a:solidFill>
                <a:latin typeface="Calibri"/>
              </a:rPr>
              <a:t>1 485 картонів</a:t>
            </a:r>
          </a:p>
        </p:txBody>
      </p:sp>
      <p:sp>
        <p:nvSpPr>
          <p:cNvPr id="35" name="Rectangle 34"/>
          <p:cNvSpPr/>
          <p:nvPr/>
        </p:nvSpPr>
        <p:spPr>
          <a:xfrm>
            <a:off x="365760" y="4370831"/>
            <a:ext cx="5029200" cy="214884"/>
          </a:xfrm>
          <a:prstGeom prst="rect">
            <a:avLst/>
          </a:prstGeom>
          <a:solidFill>
            <a:srgbClr val="F7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6" name="TextBox 35"/>
          <p:cNvSpPr txBox="1"/>
          <p:nvPr/>
        </p:nvSpPr>
        <p:spPr>
          <a:xfrm>
            <a:off x="457200" y="4370831"/>
            <a:ext cx="2020824" cy="2148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0" i="0">
                <a:solidFill>
                  <a:srgbClr val="64757B"/>
                </a:solidFill>
                <a:latin typeface="Calibri"/>
              </a:rPr>
              <a:t>Місткість 40′HC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2478024" y="4370831"/>
            <a:ext cx="2825496" cy="2148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1" i="0">
                <a:solidFill>
                  <a:srgbClr val="1C2A2F"/>
                </a:solidFill>
                <a:latin typeface="Calibri"/>
              </a:rPr>
              <a:t>3 626 картонів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57200" y="4585716"/>
            <a:ext cx="2020824" cy="2148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0" i="0">
                <a:solidFill>
                  <a:srgbClr val="64757B"/>
                </a:solidFill>
                <a:latin typeface="Calibri"/>
              </a:rPr>
              <a:t>Термін придатності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478024" y="4585716"/>
            <a:ext cx="2825496" cy="2148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1" i="0">
                <a:solidFill>
                  <a:srgbClr val="1C2A2F"/>
                </a:solidFill>
                <a:latin typeface="Calibri"/>
              </a:rPr>
              <a:t>12 місяців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5623560" y="932688"/>
            <a:ext cx="3154679" cy="3749039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9525">
            <a:solidFill>
              <a:srgbClr val="E2E6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41" name="Picture 40" descr="sk_okom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17414" y="1078992"/>
            <a:ext cx="1566971" cy="1170432"/>
          </a:xfrm>
          <a:prstGeom prst="rect">
            <a:avLst/>
          </a:prstGeom>
        </p:spPr>
      </p:pic>
      <p:sp>
        <p:nvSpPr>
          <p:cNvPr id="42" name="TextBox 41"/>
          <p:cNvSpPr txBox="1"/>
          <p:nvPr/>
        </p:nvSpPr>
        <p:spPr>
          <a:xfrm>
            <a:off x="5806440" y="2377440"/>
            <a:ext cx="2788919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1" i="0">
                <a:solidFill>
                  <a:srgbClr val="C1512A"/>
                </a:solidFill>
                <a:latin typeface="Calibri"/>
              </a:rPr>
              <a:t>Решта асортименту (собівартість ще не розрахована)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5824728" y="2843784"/>
            <a:ext cx="73152" cy="73152"/>
          </a:xfrm>
          <a:prstGeom prst="roundRect">
            <a:avLst>
              <a:gd name="adj" fmla="val 50000"/>
            </a:avLst>
          </a:prstGeom>
          <a:solidFill>
            <a:srgbClr val="0E5C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4" name="TextBox 43"/>
          <p:cNvSpPr txBox="1"/>
          <p:nvPr/>
        </p:nvSpPr>
        <p:spPr>
          <a:xfrm>
            <a:off x="5989320" y="2779776"/>
            <a:ext cx="2587751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50" b="0" i="0">
                <a:solidFill>
                  <a:srgbClr val="64757B"/>
                </a:solidFill>
                <a:latin typeface="Calibri"/>
              </a:rPr>
              <a:t>Arare Norimaki — Squid Chili, 42 г · FOB $0,77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5824728" y="3145536"/>
            <a:ext cx="73152" cy="73152"/>
          </a:xfrm>
          <a:prstGeom prst="roundRect">
            <a:avLst>
              <a:gd name="adj" fmla="val 50000"/>
            </a:avLst>
          </a:prstGeom>
          <a:solidFill>
            <a:srgbClr val="0E5C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6" name="TextBox 45"/>
          <p:cNvSpPr txBox="1"/>
          <p:nvPr/>
        </p:nvSpPr>
        <p:spPr>
          <a:xfrm>
            <a:off x="5989320" y="3081528"/>
            <a:ext cx="2587751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50" b="0" i="0">
                <a:solidFill>
                  <a:srgbClr val="64757B"/>
                </a:solidFill>
                <a:latin typeface="Calibri"/>
              </a:rPr>
              <a:t>Arare Norimaki — Mala, 42 г · FOB $0,77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5824728" y="3447288"/>
            <a:ext cx="73152" cy="73152"/>
          </a:xfrm>
          <a:prstGeom prst="roundRect">
            <a:avLst>
              <a:gd name="adj" fmla="val 50000"/>
            </a:avLst>
          </a:prstGeom>
          <a:solidFill>
            <a:srgbClr val="0E5C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8" name="TextBox 47"/>
          <p:cNvSpPr txBox="1"/>
          <p:nvPr/>
        </p:nvSpPr>
        <p:spPr>
          <a:xfrm>
            <a:off x="5989320" y="3383280"/>
            <a:ext cx="2587751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50" b="0" i="0">
                <a:solidFill>
                  <a:srgbClr val="64757B"/>
                </a:solidFill>
                <a:latin typeface="Calibri"/>
              </a:rPr>
              <a:t>Okome Snacks — Japanese Mix, 85 г · FOB $0,80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5824728" y="3749039"/>
            <a:ext cx="73152" cy="73152"/>
          </a:xfrm>
          <a:prstGeom prst="roundRect">
            <a:avLst>
              <a:gd name="adj" fmla="val 50000"/>
            </a:avLst>
          </a:prstGeom>
          <a:solidFill>
            <a:srgbClr val="0E5C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0" name="TextBox 49"/>
          <p:cNvSpPr txBox="1"/>
          <p:nvPr/>
        </p:nvSpPr>
        <p:spPr>
          <a:xfrm>
            <a:off x="5989320" y="3685032"/>
            <a:ext cx="2587751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50" b="0" i="0">
                <a:solidFill>
                  <a:srgbClr val="64757B"/>
                </a:solidFill>
                <a:latin typeface="Calibri"/>
              </a:rPr>
              <a:t>Okome Snacks — Edo Mix, 85 г · FOB $0,80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5824728" y="4050791"/>
            <a:ext cx="73152" cy="73152"/>
          </a:xfrm>
          <a:prstGeom prst="roundRect">
            <a:avLst>
              <a:gd name="adj" fmla="val 50000"/>
            </a:avLst>
          </a:prstGeom>
          <a:solidFill>
            <a:srgbClr val="0E5C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2" name="TextBox 51"/>
          <p:cNvSpPr txBox="1"/>
          <p:nvPr/>
        </p:nvSpPr>
        <p:spPr>
          <a:xfrm>
            <a:off x="5989320" y="3986784"/>
            <a:ext cx="2587751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50" b="0" i="0">
                <a:solidFill>
                  <a:srgbClr val="64757B"/>
                </a:solidFill>
                <a:latin typeface="Calibri"/>
              </a:rPr>
              <a:t>Okome Snacks — Cheesy Corn, 60 г · FOB $0,98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5824728" y="4352544"/>
            <a:ext cx="73152" cy="73152"/>
          </a:xfrm>
          <a:prstGeom prst="roundRect">
            <a:avLst>
              <a:gd name="adj" fmla="val 50000"/>
            </a:avLst>
          </a:prstGeom>
          <a:solidFill>
            <a:srgbClr val="0E5C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4" name="TextBox 53"/>
          <p:cNvSpPr txBox="1"/>
          <p:nvPr/>
        </p:nvSpPr>
        <p:spPr>
          <a:xfrm>
            <a:off x="5989320" y="4288536"/>
            <a:ext cx="2587751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50" b="0" i="0">
                <a:solidFill>
                  <a:srgbClr val="64757B"/>
                </a:solidFill>
                <a:latin typeface="Calibri"/>
              </a:rPr>
              <a:t>Okome Snacks — Honey Shoyu, 40 г / 100 г · FOB $0,63 / $1,30</a:t>
            </a:r>
          </a:p>
        </p:txBody>
      </p:sp>
      <p:sp>
        <p:nvSpPr>
          <p:cNvPr id="55" name="Rectangle 54"/>
          <p:cNvSpPr/>
          <p:nvPr/>
        </p:nvSpPr>
        <p:spPr>
          <a:xfrm>
            <a:off x="365760" y="4869180"/>
            <a:ext cx="8412480" cy="9144"/>
          </a:xfrm>
          <a:prstGeom prst="rect">
            <a:avLst/>
          </a:prstGeom>
          <a:solidFill>
            <a:srgbClr val="E2E6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6" name="TextBox 55"/>
          <p:cNvSpPr txBox="1"/>
          <p:nvPr/>
        </p:nvSpPr>
        <p:spPr>
          <a:xfrm>
            <a:off x="8229600" y="4914900"/>
            <a:ext cx="5486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750" b="1" i="0">
                <a:solidFill>
                  <a:srgbClr val="64757B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1423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ectangle 3"/>
          <p:cNvSpPr/>
          <p:nvPr/>
        </p:nvSpPr>
        <p:spPr>
          <a:xfrm>
            <a:off x="365760" y="617219"/>
            <a:ext cx="1737360" cy="41148"/>
          </a:xfrm>
          <a:prstGeom prst="rect">
            <a:avLst/>
          </a:prstGeom>
          <a:solidFill>
            <a:srgbClr val="C15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365760" y="91440"/>
            <a:ext cx="6400799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50" b="1" i="0">
                <a:solidFill>
                  <a:srgbClr val="D9A441"/>
                </a:solidFill>
                <a:latin typeface="Calibri"/>
              </a:rPr>
              <a:t>КАРТКИ ТОВАРІВ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256032"/>
            <a:ext cx="640079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 i="0">
                <a:solidFill>
                  <a:srgbClr val="FFFFFF"/>
                </a:solidFill>
                <a:latin typeface="Cambria"/>
              </a:rPr>
              <a:t>Singha Kameda — продукти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0" y="219456"/>
            <a:ext cx="237744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1" i="0">
                <a:solidFill>
                  <a:srgbClr val="FFFFFF"/>
                </a:solidFill>
                <a:latin typeface="Calibri"/>
              </a:rPr>
              <a:t>Arare Norimaki · Okome Snacks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65760" y="1005840"/>
            <a:ext cx="4114800" cy="30175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2E6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475488" y="1115568"/>
            <a:ext cx="1645920" cy="2798063"/>
          </a:xfrm>
          <a:prstGeom prst="roundRect">
            <a:avLst>
              <a:gd name="adj" fmla="val 5000"/>
            </a:avLst>
          </a:prstGeom>
          <a:solidFill>
            <a:srgbClr val="F7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0" name="Picture 9" descr="sk_origin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566842"/>
            <a:ext cx="1499616" cy="1895514"/>
          </a:xfrm>
          <a:prstGeom prst="rect">
            <a:avLst/>
          </a:prstGeom>
        </p:spPr>
      </p:pic>
      <p:sp>
        <p:nvSpPr>
          <p:cNvPr id="11" name="Rounded Rectangle 10"/>
          <p:cNvSpPr/>
          <p:nvPr/>
        </p:nvSpPr>
        <p:spPr>
          <a:xfrm>
            <a:off x="2267712" y="1207008"/>
            <a:ext cx="954633" cy="201168"/>
          </a:xfrm>
          <a:prstGeom prst="roundRect">
            <a:avLst>
              <a:gd name="adj" fmla="val 50000"/>
            </a:avLst>
          </a:prstGeom>
          <a:solidFill>
            <a:srgbClr val="F8E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2267712" y="1207008"/>
            <a:ext cx="954633" cy="20116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650" b="1" i="0">
                <a:solidFill>
                  <a:srgbClr val="C1512A"/>
                </a:solidFill>
                <a:latin typeface="Calibri"/>
              </a:rPr>
              <a:t>42 Г · ПАКЕТ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267712" y="1517904"/>
            <a:ext cx="2066544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1C2A2F"/>
                </a:solidFill>
                <a:latin typeface="Cambria"/>
              </a:rPr>
              <a:t>Arare Norimaki
Original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267712" y="2048256"/>
            <a:ext cx="2066544" cy="7863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50" b="0" i="0">
                <a:solidFill>
                  <a:srgbClr val="64757B"/>
                </a:solidFill>
                <a:latin typeface="Calibri"/>
              </a:rPr>
              <a:t>Японські рисові крекери арарe, загорнуті у хрустку водорість норі. Класичний смак соєвого соусу — база лінійки.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267712" y="2871216"/>
            <a:ext cx="2066544" cy="9144"/>
          </a:xfrm>
          <a:prstGeom prst="rect">
            <a:avLst/>
          </a:prstGeom>
          <a:solidFill>
            <a:srgbClr val="E2E6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2267712" y="2944368"/>
            <a:ext cx="206654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50" b="0" i="0">
                <a:solidFill>
                  <a:srgbClr val="1C2A2F"/>
                </a:solidFill>
                <a:latin typeface="Calibri"/>
              </a:rPr>
              <a:t>24 шт/карт. · FOB $0,77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2267712" y="3346704"/>
            <a:ext cx="2066544" cy="530352"/>
          </a:xfrm>
          <a:prstGeom prst="roundRect">
            <a:avLst>
              <a:gd name="adj" fmla="val 10000"/>
            </a:avLst>
          </a:prstGeom>
          <a:solidFill>
            <a:srgbClr val="C15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2267712" y="3419856"/>
            <a:ext cx="2066544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650" b="1" i="0">
                <a:solidFill>
                  <a:srgbClr val="FFFFFF"/>
                </a:solidFill>
                <a:latin typeface="Calibri"/>
              </a:rPr>
              <a:t>СОБІВАРТІСТЬ · 40′ КОНТЕЙНЕР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267712" y="3584448"/>
            <a:ext cx="2066544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350" b="1" i="0">
                <a:solidFill>
                  <a:srgbClr val="FFFFFF"/>
                </a:solidFill>
                <a:latin typeface="Cambria"/>
              </a:rPr>
              <a:t>$1,035  ·  46,59 ₴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663440" y="1005840"/>
            <a:ext cx="4114800" cy="30175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2E6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4773168" y="1115568"/>
            <a:ext cx="1645920" cy="2798063"/>
          </a:xfrm>
          <a:prstGeom prst="roundRect">
            <a:avLst>
              <a:gd name="adj" fmla="val 5000"/>
            </a:avLst>
          </a:prstGeom>
          <a:solidFill>
            <a:srgbClr val="F7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22" name="Picture 21" descr="sk_wasabi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46320" y="1526757"/>
            <a:ext cx="1499616" cy="1975684"/>
          </a:xfrm>
          <a:prstGeom prst="rect">
            <a:avLst/>
          </a:prstGeom>
        </p:spPr>
      </p:pic>
      <p:sp>
        <p:nvSpPr>
          <p:cNvPr id="23" name="Rounded Rectangle 22"/>
          <p:cNvSpPr/>
          <p:nvPr/>
        </p:nvSpPr>
        <p:spPr>
          <a:xfrm>
            <a:off x="6565392" y="1207008"/>
            <a:ext cx="954633" cy="201168"/>
          </a:xfrm>
          <a:prstGeom prst="roundRect">
            <a:avLst>
              <a:gd name="adj" fmla="val 50000"/>
            </a:avLst>
          </a:prstGeom>
          <a:solidFill>
            <a:srgbClr val="F8E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TextBox 23"/>
          <p:cNvSpPr txBox="1"/>
          <p:nvPr/>
        </p:nvSpPr>
        <p:spPr>
          <a:xfrm>
            <a:off x="6565392" y="1207008"/>
            <a:ext cx="954633" cy="20116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650" b="1" i="0">
                <a:solidFill>
                  <a:srgbClr val="C1512A"/>
                </a:solidFill>
                <a:latin typeface="Calibri"/>
              </a:rPr>
              <a:t>42 Г · ПАКЕТ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565392" y="1517904"/>
            <a:ext cx="2066544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1C2A2F"/>
                </a:solidFill>
                <a:latin typeface="Cambria"/>
              </a:rPr>
              <a:t>Arare Norimaki
Wasabi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565392" y="2048256"/>
            <a:ext cx="2066544" cy="7863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50" b="0" i="0">
                <a:solidFill>
                  <a:srgbClr val="64757B"/>
                </a:solidFill>
                <a:latin typeface="Calibri"/>
              </a:rPr>
              <a:t>Ті самі крекери арарe в норі, але з пікантною ноткою японського васабі. Найдинамічніший смак категорії.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565392" y="2871216"/>
            <a:ext cx="2066544" cy="9144"/>
          </a:xfrm>
          <a:prstGeom prst="rect">
            <a:avLst/>
          </a:prstGeom>
          <a:solidFill>
            <a:srgbClr val="E2E6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TextBox 27"/>
          <p:cNvSpPr txBox="1"/>
          <p:nvPr/>
        </p:nvSpPr>
        <p:spPr>
          <a:xfrm>
            <a:off x="6565392" y="2944368"/>
            <a:ext cx="206654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50" b="0" i="0">
                <a:solidFill>
                  <a:srgbClr val="1C2A2F"/>
                </a:solidFill>
                <a:latin typeface="Calibri"/>
              </a:rPr>
              <a:t>24 шт/карт. · FOB $0,77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565392" y="3346704"/>
            <a:ext cx="2066544" cy="530352"/>
          </a:xfrm>
          <a:prstGeom prst="roundRect">
            <a:avLst>
              <a:gd name="adj" fmla="val 10000"/>
            </a:avLst>
          </a:prstGeom>
          <a:solidFill>
            <a:srgbClr val="C15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6565392" y="3419856"/>
            <a:ext cx="2066544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650" b="1" i="0">
                <a:solidFill>
                  <a:srgbClr val="FFFFFF"/>
                </a:solidFill>
                <a:latin typeface="Calibri"/>
              </a:rPr>
              <a:t>СОБІВАРТІСТЬ · 40′ КОНТЕЙНЕР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565392" y="3584448"/>
            <a:ext cx="2066544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350" b="1" i="0">
                <a:solidFill>
                  <a:srgbClr val="FFFFFF"/>
                </a:solidFill>
                <a:latin typeface="Cambria"/>
              </a:rPr>
              <a:t>$1,035  ·  46,59 ₴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365760" y="4224528"/>
            <a:ext cx="8412480" cy="512064"/>
          </a:xfrm>
          <a:prstGeom prst="roundRect">
            <a:avLst>
              <a:gd name="adj" fmla="val 8000"/>
            </a:avLst>
          </a:prstGeom>
          <a:solidFill>
            <a:srgbClr val="F7F4EE"/>
          </a:solidFill>
          <a:ln w="9525">
            <a:solidFill>
              <a:srgbClr val="E2E6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Rectangle 32"/>
          <p:cNvSpPr/>
          <p:nvPr/>
        </p:nvSpPr>
        <p:spPr>
          <a:xfrm>
            <a:off x="365760" y="4224528"/>
            <a:ext cx="45720" cy="512064"/>
          </a:xfrm>
          <a:prstGeom prst="rect">
            <a:avLst/>
          </a:prstGeom>
          <a:solidFill>
            <a:srgbClr val="0E5C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TextBox 33"/>
          <p:cNvSpPr txBox="1"/>
          <p:nvPr/>
        </p:nvSpPr>
        <p:spPr>
          <a:xfrm>
            <a:off x="566928" y="4334256"/>
            <a:ext cx="7955279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50" b="0" i="0">
                <a:solidFill>
                  <a:srgbClr val="1C2A2F"/>
                </a:solidFill>
                <a:latin typeface="Calibri"/>
              </a:rPr>
              <a:t>Решта прайсу цього постачальника — на попередньому слайді профілю. Повна таблиця собівартості за чотирма сценаріями логістики — на наступному.</a:t>
            </a:r>
          </a:p>
        </p:txBody>
      </p:sp>
      <p:sp>
        <p:nvSpPr>
          <p:cNvPr id="35" name="Rectangle 34"/>
          <p:cNvSpPr/>
          <p:nvPr/>
        </p:nvSpPr>
        <p:spPr>
          <a:xfrm>
            <a:off x="365760" y="4869180"/>
            <a:ext cx="8412480" cy="9144"/>
          </a:xfrm>
          <a:prstGeom prst="rect">
            <a:avLst/>
          </a:prstGeom>
          <a:solidFill>
            <a:srgbClr val="E2E6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6" name="TextBox 35"/>
          <p:cNvSpPr txBox="1"/>
          <p:nvPr/>
        </p:nvSpPr>
        <p:spPr>
          <a:xfrm>
            <a:off x="365760" y="4914900"/>
            <a:ext cx="78638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64757B"/>
                </a:solidFill>
                <a:latin typeface="Calibri"/>
              </a:rPr>
              <a:t>Собівартість — за одиницю товару, сценарій 40′ контейнер. Джерело: SelfCost.xlsx.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229600" y="4914900"/>
            <a:ext cx="5486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750" b="1" i="0">
                <a:solidFill>
                  <a:srgbClr val="64757B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1423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ectangle 3"/>
          <p:cNvSpPr/>
          <p:nvPr/>
        </p:nvSpPr>
        <p:spPr>
          <a:xfrm>
            <a:off x="365760" y="617219"/>
            <a:ext cx="1737360" cy="41148"/>
          </a:xfrm>
          <a:prstGeom prst="rect">
            <a:avLst/>
          </a:prstGeom>
          <a:solidFill>
            <a:srgbClr val="C15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365760" y="91440"/>
            <a:ext cx="6400799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50" b="1" i="0">
                <a:solidFill>
                  <a:srgbClr val="D9A441"/>
                </a:solidFill>
                <a:latin typeface="Calibri"/>
              </a:rPr>
              <a:t>ПОВНА ТАБЛИЦЯ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256032"/>
            <a:ext cx="640079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 i="0">
                <a:solidFill>
                  <a:srgbClr val="FFFFFF"/>
                </a:solidFill>
                <a:latin typeface="Cambria"/>
              </a:rPr>
              <a:t>Singha Kameda — собівартість за сценаріями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0" y="219456"/>
            <a:ext cx="237744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1" i="0">
                <a:solidFill>
                  <a:srgbClr val="FFFFFF"/>
                </a:solidFill>
                <a:latin typeface="Calibri"/>
              </a:rPr>
              <a:t>Arare Norimaki · Okome Snacks</a:t>
            </a:r>
          </a:p>
        </p:txBody>
      </p:sp>
      <p:sp>
        <p:nvSpPr>
          <p:cNvPr id="8" name="Rectangle 7"/>
          <p:cNvSpPr/>
          <p:nvPr/>
        </p:nvSpPr>
        <p:spPr>
          <a:xfrm>
            <a:off x="365760" y="969264"/>
            <a:ext cx="8266176" cy="475488"/>
          </a:xfrm>
          <a:prstGeom prst="rect">
            <a:avLst/>
          </a:prstGeom>
          <a:solidFill>
            <a:srgbClr val="1423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475488" y="969264"/>
            <a:ext cx="2907791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800" b="1" i="0">
                <a:solidFill>
                  <a:srgbClr val="FFFFFF"/>
                </a:solidFill>
                <a:latin typeface="Calibri"/>
              </a:rPr>
              <a:t>Продукт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383279" y="969264"/>
            <a:ext cx="713232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800" b="1" i="0">
                <a:solidFill>
                  <a:srgbClr val="FFFFFF"/>
                </a:solidFill>
                <a:latin typeface="Calibri"/>
              </a:rPr>
              <a:t>FOB $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096511" y="969264"/>
            <a:ext cx="1133856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800" b="1" i="0">
                <a:solidFill>
                  <a:srgbClr val="FFFFFF"/>
                </a:solidFill>
                <a:latin typeface="Calibri"/>
              </a:rPr>
              <a:t>20′ контейнер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230368" y="969264"/>
            <a:ext cx="1133856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800" b="1" i="0">
                <a:solidFill>
                  <a:srgbClr val="FFFFFF"/>
                </a:solidFill>
                <a:latin typeface="Calibri"/>
              </a:rPr>
              <a:t>40′ контейнер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230368" y="969264"/>
            <a:ext cx="1133856" cy="41148"/>
          </a:xfrm>
          <a:prstGeom prst="rect">
            <a:avLst/>
          </a:prstGeom>
          <a:solidFill>
            <a:srgbClr val="D9A4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6364224" y="969264"/>
            <a:ext cx="1133856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800" b="1" i="0">
                <a:solidFill>
                  <a:srgbClr val="FFFFFF"/>
                </a:solidFill>
                <a:latin typeface="Calibri"/>
              </a:rPr>
              <a:t>Збірний 17 м³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498079" y="969264"/>
            <a:ext cx="1133856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800" b="1" i="0">
                <a:solidFill>
                  <a:srgbClr val="FFFFFF"/>
                </a:solidFill>
                <a:latin typeface="Calibri"/>
              </a:rPr>
              <a:t>Збірний 34 м³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65760" y="1444752"/>
            <a:ext cx="8266176" cy="475488"/>
          </a:xfrm>
          <a:prstGeom prst="rect">
            <a:avLst/>
          </a:prstGeom>
          <a:solidFill>
            <a:srgbClr val="F7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ectangle 16"/>
          <p:cNvSpPr/>
          <p:nvPr/>
        </p:nvSpPr>
        <p:spPr>
          <a:xfrm>
            <a:off x="5230368" y="1444752"/>
            <a:ext cx="1133856" cy="475488"/>
          </a:xfrm>
          <a:prstGeom prst="rect">
            <a:avLst/>
          </a:prstGeom>
          <a:solidFill>
            <a:srgbClr val="E4EF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475488" y="1444752"/>
            <a:ext cx="2834639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1" i="0">
                <a:solidFill>
                  <a:srgbClr val="1C2A2F"/>
                </a:solidFill>
                <a:latin typeface="Calibri"/>
              </a:rPr>
              <a:t>Arare Norimaki Original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383279" y="1444752"/>
            <a:ext cx="713232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750" b="0" i="0">
                <a:solidFill>
                  <a:srgbClr val="64757B"/>
                </a:solidFill>
                <a:latin typeface="Calibri"/>
              </a:rPr>
              <a:t>$0,77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096511" y="1444752"/>
            <a:ext cx="1133856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1" i="0">
                <a:solidFill>
                  <a:srgbClr val="1C2A2F"/>
                </a:solidFill>
                <a:latin typeface="Calibri"/>
              </a:rPr>
              <a:t>$1,298</a:t>
            </a:r>
          </a:p>
          <a:p>
            <a:pPr algn="ctr">
              <a:lnSpc>
                <a:spcPct val="100000"/>
              </a:lnSpc>
              <a:spcBef>
                <a:spcPts val="0"/>
              </a:spcBef>
            </a:pPr>
            <a:r>
              <a:rPr sz="700" b="0" i="0">
                <a:solidFill>
                  <a:srgbClr val="64757B"/>
                </a:solidFill>
                <a:latin typeface="Calibri"/>
              </a:rPr>
              <a:t>58,40 ₴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230368" y="1444752"/>
            <a:ext cx="1133856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1" i="0">
                <a:solidFill>
                  <a:srgbClr val="C1512A"/>
                </a:solidFill>
                <a:latin typeface="Calibri"/>
              </a:rPr>
              <a:t>$1,035</a:t>
            </a:r>
          </a:p>
          <a:p>
            <a:pPr algn="ctr">
              <a:lnSpc>
                <a:spcPct val="100000"/>
              </a:lnSpc>
              <a:spcBef>
                <a:spcPts val="0"/>
              </a:spcBef>
            </a:pPr>
            <a:r>
              <a:rPr sz="700" b="0" i="0">
                <a:solidFill>
                  <a:srgbClr val="64757B"/>
                </a:solidFill>
                <a:latin typeface="Calibri"/>
              </a:rPr>
              <a:t>46,59 ₴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64224" y="1444752"/>
            <a:ext cx="1133856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1" i="0">
                <a:solidFill>
                  <a:srgbClr val="1C2A2F"/>
                </a:solidFill>
                <a:latin typeface="Calibri"/>
              </a:rPr>
              <a:t>$1,806</a:t>
            </a:r>
          </a:p>
          <a:p>
            <a:pPr algn="ctr">
              <a:lnSpc>
                <a:spcPct val="100000"/>
              </a:lnSpc>
              <a:spcBef>
                <a:spcPts val="0"/>
              </a:spcBef>
            </a:pPr>
            <a:r>
              <a:rPr sz="700" b="0" i="0">
                <a:solidFill>
                  <a:srgbClr val="64757B"/>
                </a:solidFill>
                <a:latin typeface="Calibri"/>
              </a:rPr>
              <a:t>81,28 ₴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498079" y="1444752"/>
            <a:ext cx="1133856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1" i="0">
                <a:solidFill>
                  <a:srgbClr val="1C2A2F"/>
                </a:solidFill>
                <a:latin typeface="Calibri"/>
              </a:rPr>
              <a:t>$1,281</a:t>
            </a:r>
          </a:p>
          <a:p>
            <a:pPr algn="ctr">
              <a:lnSpc>
                <a:spcPct val="100000"/>
              </a:lnSpc>
              <a:spcBef>
                <a:spcPts val="0"/>
              </a:spcBef>
            </a:pPr>
            <a:r>
              <a:rPr sz="700" b="0" i="0">
                <a:solidFill>
                  <a:srgbClr val="64757B"/>
                </a:solidFill>
                <a:latin typeface="Calibri"/>
              </a:rPr>
              <a:t>57,66 ₴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230368" y="1920240"/>
            <a:ext cx="1133856" cy="475488"/>
          </a:xfrm>
          <a:prstGeom prst="rect">
            <a:avLst/>
          </a:prstGeom>
          <a:solidFill>
            <a:srgbClr val="E4EF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475488" y="1920240"/>
            <a:ext cx="2834639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1" i="0">
                <a:solidFill>
                  <a:srgbClr val="1C2A2F"/>
                </a:solidFill>
                <a:latin typeface="Calibri"/>
              </a:rPr>
              <a:t>Arare Norimaki Wasabi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383279" y="1920240"/>
            <a:ext cx="713232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750" b="0" i="0">
                <a:solidFill>
                  <a:srgbClr val="64757B"/>
                </a:solidFill>
                <a:latin typeface="Calibri"/>
              </a:rPr>
              <a:t>$0,77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096511" y="1920240"/>
            <a:ext cx="1133856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1" i="0">
                <a:solidFill>
                  <a:srgbClr val="1C2A2F"/>
                </a:solidFill>
                <a:latin typeface="Calibri"/>
              </a:rPr>
              <a:t>$1,298</a:t>
            </a:r>
          </a:p>
          <a:p>
            <a:pPr algn="ctr">
              <a:lnSpc>
                <a:spcPct val="100000"/>
              </a:lnSpc>
              <a:spcBef>
                <a:spcPts val="0"/>
              </a:spcBef>
            </a:pPr>
            <a:r>
              <a:rPr sz="700" b="0" i="0">
                <a:solidFill>
                  <a:srgbClr val="64757B"/>
                </a:solidFill>
                <a:latin typeface="Calibri"/>
              </a:rPr>
              <a:t>58,40 ₴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230368" y="1920240"/>
            <a:ext cx="1133856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1" i="0">
                <a:solidFill>
                  <a:srgbClr val="C1512A"/>
                </a:solidFill>
                <a:latin typeface="Calibri"/>
              </a:rPr>
              <a:t>$1,035</a:t>
            </a:r>
          </a:p>
          <a:p>
            <a:pPr algn="ctr">
              <a:lnSpc>
                <a:spcPct val="100000"/>
              </a:lnSpc>
              <a:spcBef>
                <a:spcPts val="0"/>
              </a:spcBef>
            </a:pPr>
            <a:r>
              <a:rPr sz="700" b="0" i="0">
                <a:solidFill>
                  <a:srgbClr val="64757B"/>
                </a:solidFill>
                <a:latin typeface="Calibri"/>
              </a:rPr>
              <a:t>46,59 ₴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364224" y="1920240"/>
            <a:ext cx="1133856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1" i="0">
                <a:solidFill>
                  <a:srgbClr val="1C2A2F"/>
                </a:solidFill>
                <a:latin typeface="Calibri"/>
              </a:rPr>
              <a:t>$1,806</a:t>
            </a:r>
          </a:p>
          <a:p>
            <a:pPr algn="ctr">
              <a:lnSpc>
                <a:spcPct val="100000"/>
              </a:lnSpc>
              <a:spcBef>
                <a:spcPts val="0"/>
              </a:spcBef>
            </a:pPr>
            <a:r>
              <a:rPr sz="700" b="0" i="0">
                <a:solidFill>
                  <a:srgbClr val="64757B"/>
                </a:solidFill>
                <a:latin typeface="Calibri"/>
              </a:rPr>
              <a:t>81,28 ₴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498079" y="1920240"/>
            <a:ext cx="1133856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1" i="0">
                <a:solidFill>
                  <a:srgbClr val="1C2A2F"/>
                </a:solidFill>
                <a:latin typeface="Calibri"/>
              </a:rPr>
              <a:t>$1,281</a:t>
            </a:r>
          </a:p>
          <a:p>
            <a:pPr algn="ctr">
              <a:lnSpc>
                <a:spcPct val="100000"/>
              </a:lnSpc>
              <a:spcBef>
                <a:spcPts val="0"/>
              </a:spcBef>
            </a:pPr>
            <a:r>
              <a:rPr sz="700" b="0" i="0">
                <a:solidFill>
                  <a:srgbClr val="64757B"/>
                </a:solidFill>
                <a:latin typeface="Calibri"/>
              </a:rPr>
              <a:t>57,66 ₴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65760" y="2395728"/>
            <a:ext cx="8266176" cy="10972"/>
          </a:xfrm>
          <a:prstGeom prst="rect">
            <a:avLst/>
          </a:prstGeom>
          <a:solidFill>
            <a:srgbClr val="E2E6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2" name="TextBox 31"/>
          <p:cNvSpPr txBox="1"/>
          <p:nvPr/>
        </p:nvSpPr>
        <p:spPr>
          <a:xfrm>
            <a:off x="365760" y="2523744"/>
            <a:ext cx="84124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750" b="0" i="0">
                <a:solidFill>
                  <a:srgbClr val="64757B"/>
                </a:solidFill>
                <a:latin typeface="Calibri"/>
              </a:rPr>
              <a:t>Виділена колонка — 40′ контейнер: саме ці цифри показані на картках товарів. Курс у розрахунку — 45–49 ₴ за $ залежно від позиції.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365760" y="2852928"/>
            <a:ext cx="8412480" cy="1225296"/>
          </a:xfrm>
          <a:prstGeom prst="roundRect">
            <a:avLst>
              <a:gd name="adj" fmla="val 9000"/>
            </a:avLst>
          </a:prstGeom>
          <a:solidFill>
            <a:srgbClr val="F7F4EE"/>
          </a:solidFill>
          <a:ln w="9525">
            <a:solidFill>
              <a:srgbClr val="E2E6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Rectangle 33"/>
          <p:cNvSpPr/>
          <p:nvPr/>
        </p:nvSpPr>
        <p:spPr>
          <a:xfrm>
            <a:off x="365760" y="2852928"/>
            <a:ext cx="45720" cy="1225296"/>
          </a:xfrm>
          <a:prstGeom prst="rect">
            <a:avLst/>
          </a:prstGeom>
          <a:solidFill>
            <a:srgbClr val="0E5C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5" name="TextBox 34"/>
          <p:cNvSpPr txBox="1"/>
          <p:nvPr/>
        </p:nvSpPr>
        <p:spPr>
          <a:xfrm>
            <a:off x="585216" y="2980944"/>
            <a:ext cx="36576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1" i="0">
                <a:solidFill>
                  <a:srgbClr val="C1512A"/>
                </a:solidFill>
                <a:latin typeface="Calibri"/>
              </a:rPr>
              <a:t>ЧИТАННЯ ПОРТФЕЛЯ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85216" y="3236976"/>
            <a:ext cx="178308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C1512A"/>
                </a:solidFill>
                <a:latin typeface="Cambria"/>
              </a:rPr>
              <a:t>46,59 ₴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85216" y="3529584"/>
            <a:ext cx="178308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00" b="0" i="0">
                <a:solidFill>
                  <a:srgbClr val="64757B"/>
                </a:solidFill>
                <a:latin typeface="Calibri"/>
              </a:rPr>
              <a:t>розкид собівартості
у портфелі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2468880" y="3236976"/>
            <a:ext cx="178308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C1512A"/>
                </a:solidFill>
                <a:latin typeface="Cambria"/>
              </a:rPr>
              <a:t>46,59 ₴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468880" y="3529584"/>
            <a:ext cx="178308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00" b="0" i="0">
                <a:solidFill>
                  <a:srgbClr val="64757B"/>
                </a:solidFill>
                <a:latin typeface="Calibri"/>
              </a:rPr>
              <a:t>середня собівартість
одиниці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352544" y="3236976"/>
            <a:ext cx="178308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C1512A"/>
                </a:solidFill>
                <a:latin typeface="Cambria"/>
              </a:rPr>
              <a:t>+74%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352544" y="3529584"/>
            <a:ext cx="178308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00" b="0" i="0">
                <a:solidFill>
                  <a:srgbClr val="64757B"/>
                </a:solidFill>
                <a:latin typeface="Calibri"/>
              </a:rPr>
              <a:t>надбавка збірного
вантажу 17 м³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327648" y="3218688"/>
            <a:ext cx="2267711" cy="7132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800" b="0" i="0">
                <a:solidFill>
                  <a:srgbClr val="1C2A2F"/>
                </a:solidFill>
                <a:latin typeface="Calibri"/>
              </a:rPr>
              <a:t>Перехід із 40′ контейнера на 20′ додає в середньому +25% до собівартості, а збірний вантаж 17 м³ — +74%. Для цього постачальника сценарій доставки важить більше, ніж різниця між його найдешевшою і найдорожчою позицією.</a:t>
            </a:r>
          </a:p>
        </p:txBody>
      </p:sp>
      <p:sp>
        <p:nvSpPr>
          <p:cNvPr id="43" name="Rectangle 42"/>
          <p:cNvSpPr/>
          <p:nvPr/>
        </p:nvSpPr>
        <p:spPr>
          <a:xfrm>
            <a:off x="365760" y="4869180"/>
            <a:ext cx="8412480" cy="9144"/>
          </a:xfrm>
          <a:prstGeom prst="rect">
            <a:avLst/>
          </a:prstGeom>
          <a:solidFill>
            <a:srgbClr val="E2E6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4" name="TextBox 43"/>
          <p:cNvSpPr txBox="1"/>
          <p:nvPr/>
        </p:nvSpPr>
        <p:spPr>
          <a:xfrm>
            <a:off x="365760" y="4914900"/>
            <a:ext cx="78638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64757B"/>
                </a:solidFill>
                <a:latin typeface="Calibri"/>
              </a:rPr>
              <a:t>Джерело: SelfCost.xlsx, вкладка «SINGHA KAMEDA - Retail».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229600" y="4914900"/>
            <a:ext cx="5486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750" b="1" i="0">
                <a:solidFill>
                  <a:srgbClr val="64757B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1423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ectangle 3"/>
          <p:cNvSpPr/>
          <p:nvPr/>
        </p:nvSpPr>
        <p:spPr>
          <a:xfrm>
            <a:off x="365760" y="617219"/>
            <a:ext cx="1737360" cy="41148"/>
          </a:xfrm>
          <a:prstGeom prst="rect">
            <a:avLst/>
          </a:prstGeom>
          <a:solidFill>
            <a:srgbClr val="C15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365760" y="91440"/>
            <a:ext cx="6400799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50" b="1" i="0">
                <a:solidFill>
                  <a:srgbClr val="D9A441"/>
                </a:solidFill>
                <a:latin typeface="Calibri"/>
              </a:rPr>
              <a:t>ПРОФІЛЬ ПОСТАЧАЛЬНИКА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256032"/>
            <a:ext cx="640079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 i="0">
                <a:solidFill>
                  <a:srgbClr val="FFFFFF"/>
                </a:solidFill>
                <a:latin typeface="Cambria"/>
              </a:rPr>
              <a:t>Thai-Nichi Industries Co., Ltd.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0" y="219456"/>
            <a:ext cx="237744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1" i="0">
                <a:solidFill>
                  <a:srgbClr val="FFFFFF"/>
                </a:solidFill>
                <a:latin typeface="Calibri"/>
              </a:rPr>
              <a:t>Mizuho · Norimaki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65760" y="932688"/>
            <a:ext cx="5029200" cy="1188720"/>
          </a:xfrm>
          <a:prstGeom prst="roundRect">
            <a:avLst>
              <a:gd name="adj" fmla="val 9000"/>
            </a:avLst>
          </a:prstGeom>
          <a:solidFill>
            <a:srgbClr val="F7F4EE"/>
          </a:solidFill>
          <a:ln w="9525">
            <a:solidFill>
              <a:srgbClr val="E2E6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ectangle 8"/>
          <p:cNvSpPr/>
          <p:nvPr/>
        </p:nvSpPr>
        <p:spPr>
          <a:xfrm>
            <a:off x="365760" y="932688"/>
            <a:ext cx="45720" cy="1188720"/>
          </a:xfrm>
          <a:prstGeom prst="rect">
            <a:avLst/>
          </a:prstGeom>
          <a:solidFill>
            <a:srgbClr val="0E5C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585216" y="1078992"/>
            <a:ext cx="45720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1" i="0">
                <a:solidFill>
                  <a:srgbClr val="C1512A"/>
                </a:solidFill>
                <a:latin typeface="Calibri"/>
              </a:rPr>
              <a:t>ПРО КОМПАНІЮ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85216" y="1316736"/>
            <a:ext cx="461772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900" b="0" i="0">
                <a:solidFill>
                  <a:srgbClr val="1C2A2F"/>
                </a:solidFill>
                <a:latin typeface="Calibri"/>
              </a:rPr>
              <a:t>Тайсько-японський виробник рисових снеків із найширшим прайсом серед усіх постачальників — 28 позицій, з них 11 нових. Одна фабрика закриває і рисові крекери, і чипси, і протеїнові снеки.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65760" y="2249424"/>
            <a:ext cx="1572768" cy="859536"/>
          </a:xfrm>
          <a:prstGeom prst="roundRect">
            <a:avLst>
              <a:gd name="adj" fmla="val 10000"/>
            </a:avLst>
          </a:prstGeom>
          <a:solidFill>
            <a:srgbClr val="F7F4EE"/>
          </a:solidFill>
          <a:ln w="9525">
            <a:solidFill>
              <a:srgbClr val="E2E6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ectangle 12"/>
          <p:cNvSpPr/>
          <p:nvPr/>
        </p:nvSpPr>
        <p:spPr>
          <a:xfrm>
            <a:off x="365760" y="2249424"/>
            <a:ext cx="41148" cy="859536"/>
          </a:xfrm>
          <a:prstGeom prst="rect">
            <a:avLst/>
          </a:prstGeom>
          <a:solidFill>
            <a:srgbClr val="0E5C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530352" y="2368296"/>
            <a:ext cx="1298448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1" i="0">
                <a:solidFill>
                  <a:srgbClr val="0E5C51"/>
                </a:solidFill>
                <a:latin typeface="Cambri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30352" y="2724912"/>
            <a:ext cx="1298448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750" b="0" i="0">
                <a:solidFill>
                  <a:srgbClr val="64757B"/>
                </a:solidFill>
                <a:latin typeface="Calibri"/>
              </a:rPr>
              <a:t>SKU з розрахованою
собівартістю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2093976" y="2249424"/>
            <a:ext cx="1572768" cy="859536"/>
          </a:xfrm>
          <a:prstGeom prst="roundRect">
            <a:avLst>
              <a:gd name="adj" fmla="val 10000"/>
            </a:avLst>
          </a:prstGeom>
          <a:solidFill>
            <a:srgbClr val="F7F4EE"/>
          </a:solidFill>
          <a:ln w="9525">
            <a:solidFill>
              <a:srgbClr val="E2E6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ectangle 16"/>
          <p:cNvSpPr/>
          <p:nvPr/>
        </p:nvSpPr>
        <p:spPr>
          <a:xfrm>
            <a:off x="2093976" y="2249424"/>
            <a:ext cx="41148" cy="859536"/>
          </a:xfrm>
          <a:prstGeom prst="rect">
            <a:avLst/>
          </a:prstGeom>
          <a:solidFill>
            <a:srgbClr val="0E5C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2258568" y="2368296"/>
            <a:ext cx="1298448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1" i="0">
                <a:solidFill>
                  <a:srgbClr val="0E5C51"/>
                </a:solidFill>
                <a:latin typeface="Cambria"/>
              </a:rPr>
              <a:t>28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258568" y="2724912"/>
            <a:ext cx="1298448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750" b="0" i="0">
                <a:solidFill>
                  <a:srgbClr val="64757B"/>
                </a:solidFill>
                <a:latin typeface="Calibri"/>
              </a:rPr>
              <a:t>позицій
у прайс-листі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822191" y="2249424"/>
            <a:ext cx="1572768" cy="859536"/>
          </a:xfrm>
          <a:prstGeom prst="roundRect">
            <a:avLst>
              <a:gd name="adj" fmla="val 10000"/>
            </a:avLst>
          </a:prstGeom>
          <a:solidFill>
            <a:srgbClr val="F7F4EE"/>
          </a:solidFill>
          <a:ln w="9525">
            <a:solidFill>
              <a:srgbClr val="E2E6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ectangle 20"/>
          <p:cNvSpPr/>
          <p:nvPr/>
        </p:nvSpPr>
        <p:spPr>
          <a:xfrm>
            <a:off x="3822191" y="2249424"/>
            <a:ext cx="41148" cy="859536"/>
          </a:xfrm>
          <a:prstGeom prst="rect">
            <a:avLst/>
          </a:prstGeom>
          <a:solidFill>
            <a:srgbClr val="0E5C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3986783" y="2368296"/>
            <a:ext cx="1298448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1" i="0">
                <a:solidFill>
                  <a:srgbClr val="0E5C51"/>
                </a:solidFill>
                <a:latin typeface="Cambria"/>
              </a:rPr>
              <a:t>11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986783" y="2724912"/>
            <a:ext cx="1298448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750" b="0" i="0">
                <a:solidFill>
                  <a:srgbClr val="64757B"/>
                </a:solidFill>
                <a:latin typeface="Calibri"/>
              </a:rPr>
              <a:t>нових SKU
(позначені NEW)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65760" y="3255264"/>
            <a:ext cx="50292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1" i="0">
                <a:solidFill>
                  <a:srgbClr val="C1512A"/>
                </a:solidFill>
                <a:latin typeface="Calibri"/>
              </a:rPr>
              <a:t>КЛЮЧОВІ ПАРАМЕТРИ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65760" y="3511296"/>
            <a:ext cx="5029200" cy="214884"/>
          </a:xfrm>
          <a:prstGeom prst="rect">
            <a:avLst/>
          </a:prstGeom>
          <a:solidFill>
            <a:srgbClr val="F7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457200" y="3511296"/>
            <a:ext cx="2020824" cy="2148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0" i="0">
                <a:solidFill>
                  <a:srgbClr val="64757B"/>
                </a:solidFill>
                <a:latin typeface="Calibri"/>
              </a:rPr>
              <a:t>Країна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478024" y="3511296"/>
            <a:ext cx="2825496" cy="2148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1" i="0">
                <a:solidFill>
                  <a:srgbClr val="1C2A2F"/>
                </a:solidFill>
                <a:latin typeface="Calibri"/>
              </a:rPr>
              <a:t>Таїланд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" y="3726180"/>
            <a:ext cx="2020824" cy="2148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0" i="0">
                <a:solidFill>
                  <a:srgbClr val="64757B"/>
                </a:solidFill>
                <a:latin typeface="Calibri"/>
              </a:rPr>
              <a:t>Умови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478024" y="3726180"/>
            <a:ext cx="2825496" cy="2148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1" i="0">
                <a:solidFill>
                  <a:srgbClr val="1C2A2F"/>
                </a:solidFill>
                <a:latin typeface="Calibri"/>
              </a:rPr>
              <a:t>FOB Bangkok</a:t>
            </a:r>
          </a:p>
        </p:txBody>
      </p:sp>
      <p:sp>
        <p:nvSpPr>
          <p:cNvPr id="30" name="Rectangle 29"/>
          <p:cNvSpPr/>
          <p:nvPr/>
        </p:nvSpPr>
        <p:spPr>
          <a:xfrm>
            <a:off x="365760" y="3941063"/>
            <a:ext cx="5029200" cy="214884"/>
          </a:xfrm>
          <a:prstGeom prst="rect">
            <a:avLst/>
          </a:prstGeom>
          <a:solidFill>
            <a:srgbClr val="F7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1" name="TextBox 30"/>
          <p:cNvSpPr txBox="1"/>
          <p:nvPr/>
        </p:nvSpPr>
        <p:spPr>
          <a:xfrm>
            <a:off x="457200" y="3941063"/>
            <a:ext cx="2020824" cy="2148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0" i="0">
                <a:solidFill>
                  <a:srgbClr val="64757B"/>
                </a:solidFill>
                <a:latin typeface="Calibri"/>
              </a:rPr>
              <a:t>Фасовка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478024" y="3941063"/>
            <a:ext cx="2825496" cy="2148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1" i="0">
                <a:solidFill>
                  <a:srgbClr val="1C2A2F"/>
                </a:solidFill>
                <a:latin typeface="Calibri"/>
              </a:rPr>
              <a:t>36 шт / картон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57200" y="4155948"/>
            <a:ext cx="2020824" cy="2148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0" i="0">
                <a:solidFill>
                  <a:srgbClr val="64757B"/>
                </a:solidFill>
                <a:latin typeface="Calibri"/>
              </a:rPr>
              <a:t>Місткість 20′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2478024" y="4155948"/>
            <a:ext cx="2825496" cy="2148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1" i="0">
                <a:solidFill>
                  <a:srgbClr val="1C2A2F"/>
                </a:solidFill>
                <a:latin typeface="Calibri"/>
              </a:rPr>
              <a:t>1 013 картонів</a:t>
            </a:r>
          </a:p>
        </p:txBody>
      </p:sp>
      <p:sp>
        <p:nvSpPr>
          <p:cNvPr id="35" name="Rectangle 34"/>
          <p:cNvSpPr/>
          <p:nvPr/>
        </p:nvSpPr>
        <p:spPr>
          <a:xfrm>
            <a:off x="365760" y="4370831"/>
            <a:ext cx="5029200" cy="214884"/>
          </a:xfrm>
          <a:prstGeom prst="rect">
            <a:avLst/>
          </a:prstGeom>
          <a:solidFill>
            <a:srgbClr val="F7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6" name="TextBox 35"/>
          <p:cNvSpPr txBox="1"/>
          <p:nvPr/>
        </p:nvSpPr>
        <p:spPr>
          <a:xfrm>
            <a:off x="457200" y="4370831"/>
            <a:ext cx="2020824" cy="2148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0" i="0">
                <a:solidFill>
                  <a:srgbClr val="64757B"/>
                </a:solidFill>
                <a:latin typeface="Calibri"/>
              </a:rPr>
              <a:t>Місткість 40′HQ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2478024" y="4370831"/>
            <a:ext cx="2825496" cy="2148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1" i="0">
                <a:solidFill>
                  <a:srgbClr val="1C2A2F"/>
                </a:solidFill>
                <a:latin typeface="Calibri"/>
              </a:rPr>
              <a:t>2 370 картонів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57200" y="4585716"/>
            <a:ext cx="2020824" cy="2148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0" i="0">
                <a:solidFill>
                  <a:srgbClr val="64757B"/>
                </a:solidFill>
                <a:latin typeface="Calibri"/>
              </a:rPr>
              <a:t>MOQ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478024" y="4585716"/>
            <a:ext cx="2825496" cy="2148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1" i="0">
                <a:solidFill>
                  <a:srgbClr val="1C2A2F"/>
                </a:solidFill>
                <a:latin typeface="Calibri"/>
              </a:rPr>
              <a:t>від 300 картонів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5623560" y="932688"/>
            <a:ext cx="3154679" cy="3749039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9525">
            <a:solidFill>
              <a:srgbClr val="E2E6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41" name="Picture 40" descr="tn_chip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78308" y="1078992"/>
            <a:ext cx="1045182" cy="1170432"/>
          </a:xfrm>
          <a:prstGeom prst="rect">
            <a:avLst/>
          </a:prstGeom>
        </p:spPr>
      </p:pic>
      <p:sp>
        <p:nvSpPr>
          <p:cNvPr id="42" name="TextBox 41"/>
          <p:cNvSpPr txBox="1"/>
          <p:nvPr/>
        </p:nvSpPr>
        <p:spPr>
          <a:xfrm>
            <a:off x="5806440" y="2377440"/>
            <a:ext cx="2788919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1" i="0">
                <a:solidFill>
                  <a:srgbClr val="C1512A"/>
                </a:solidFill>
                <a:latin typeface="Calibri"/>
              </a:rPr>
              <a:t>Ключові напрямки прайсу (собівартість ще не розрахована)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5824728" y="2843784"/>
            <a:ext cx="73152" cy="73152"/>
          </a:xfrm>
          <a:prstGeom prst="roundRect">
            <a:avLst>
              <a:gd name="adj" fmla="val 50000"/>
            </a:avLst>
          </a:prstGeom>
          <a:solidFill>
            <a:srgbClr val="0E5C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4" name="TextBox 43"/>
          <p:cNvSpPr txBox="1"/>
          <p:nvPr/>
        </p:nvSpPr>
        <p:spPr>
          <a:xfrm>
            <a:off x="5989320" y="2779776"/>
            <a:ext cx="2587751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50" b="0" i="0">
                <a:solidFill>
                  <a:srgbClr val="64757B"/>
                </a:solidFill>
                <a:latin typeface="Calibri"/>
              </a:rPr>
              <a:t>Norimaki California Roll / Cheese Ring · FOB $0,60 – $0,72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5824728" y="3145536"/>
            <a:ext cx="73152" cy="73152"/>
          </a:xfrm>
          <a:prstGeom prst="roundRect">
            <a:avLst>
              <a:gd name="adj" fmla="val 50000"/>
            </a:avLst>
          </a:prstGeom>
          <a:solidFill>
            <a:srgbClr val="0E5C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6" name="TextBox 45"/>
          <p:cNvSpPr txBox="1"/>
          <p:nvPr/>
        </p:nvSpPr>
        <p:spPr>
          <a:xfrm>
            <a:off x="5989320" y="3081528"/>
            <a:ext cx="2587751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50" b="0" i="0">
                <a:solidFill>
                  <a:srgbClr val="64757B"/>
                </a:solidFill>
                <a:latin typeface="Calibri"/>
              </a:rPr>
              <a:t>Kakinotane та Kakinotane Mala, 50 г · FOB $0,36 – $0,43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5824728" y="3447288"/>
            <a:ext cx="73152" cy="73152"/>
          </a:xfrm>
          <a:prstGeom prst="roundRect">
            <a:avLst>
              <a:gd name="adj" fmla="val 50000"/>
            </a:avLst>
          </a:prstGeom>
          <a:solidFill>
            <a:srgbClr val="0E5C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8" name="TextBox 47"/>
          <p:cNvSpPr txBox="1"/>
          <p:nvPr/>
        </p:nvSpPr>
        <p:spPr>
          <a:xfrm>
            <a:off x="5989320" y="3383280"/>
            <a:ext cx="2587751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50" b="0" i="0">
                <a:solidFill>
                  <a:srgbClr val="64757B"/>
                </a:solidFill>
                <a:latin typeface="Calibri"/>
              </a:rPr>
              <a:t>Hokkaido Milk / Matcha Cream, 35 г · FOB $0,49 – $0,51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5824728" y="3749039"/>
            <a:ext cx="73152" cy="73152"/>
          </a:xfrm>
          <a:prstGeom prst="roundRect">
            <a:avLst>
              <a:gd name="adj" fmla="val 50000"/>
            </a:avLst>
          </a:prstGeom>
          <a:solidFill>
            <a:srgbClr val="0E5C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0" name="TextBox 49"/>
          <p:cNvSpPr txBox="1"/>
          <p:nvPr/>
        </p:nvSpPr>
        <p:spPr>
          <a:xfrm>
            <a:off x="5989320" y="3685032"/>
            <a:ext cx="2587751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50" b="0" i="0">
                <a:solidFill>
                  <a:srgbClr val="64757B"/>
                </a:solidFill>
                <a:latin typeface="Calibri"/>
              </a:rPr>
              <a:t>Rice &amp; Beans Chips — 5 смаків, 90 г · FOB $0,63 – $0,78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5824728" y="4050791"/>
            <a:ext cx="73152" cy="73152"/>
          </a:xfrm>
          <a:prstGeom prst="roundRect">
            <a:avLst>
              <a:gd name="adj" fmla="val 50000"/>
            </a:avLst>
          </a:prstGeom>
          <a:solidFill>
            <a:srgbClr val="0E5C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2" name="TextBox 51"/>
          <p:cNvSpPr txBox="1"/>
          <p:nvPr/>
        </p:nvSpPr>
        <p:spPr>
          <a:xfrm>
            <a:off x="5989320" y="3986784"/>
            <a:ext cx="2587751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50" b="0" i="0">
                <a:solidFill>
                  <a:srgbClr val="64757B"/>
                </a:solidFill>
                <a:latin typeface="Calibri"/>
              </a:rPr>
              <a:t>Soy Protein Rice Cracker — 3 смаки, 50 г · FOB $0,61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5824728" y="4352544"/>
            <a:ext cx="73152" cy="73152"/>
          </a:xfrm>
          <a:prstGeom prst="roundRect">
            <a:avLst>
              <a:gd name="adj" fmla="val 50000"/>
            </a:avLst>
          </a:prstGeom>
          <a:solidFill>
            <a:srgbClr val="0E5C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4" name="TextBox 53"/>
          <p:cNvSpPr txBox="1"/>
          <p:nvPr/>
        </p:nvSpPr>
        <p:spPr>
          <a:xfrm>
            <a:off x="5989320" y="4288536"/>
            <a:ext cx="2587751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50" b="0" i="0">
                <a:solidFill>
                  <a:srgbClr val="64757B"/>
                </a:solidFill>
                <a:latin typeface="Calibri"/>
              </a:rPr>
              <a:t>Міні-формат Norimaki 15 г для каси · FOB $0,23</a:t>
            </a:r>
          </a:p>
        </p:txBody>
      </p:sp>
      <p:sp>
        <p:nvSpPr>
          <p:cNvPr id="55" name="Rectangle 54"/>
          <p:cNvSpPr/>
          <p:nvPr/>
        </p:nvSpPr>
        <p:spPr>
          <a:xfrm>
            <a:off x="365760" y="4869180"/>
            <a:ext cx="8412480" cy="9144"/>
          </a:xfrm>
          <a:prstGeom prst="rect">
            <a:avLst/>
          </a:prstGeom>
          <a:solidFill>
            <a:srgbClr val="E2E6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6" name="TextBox 55"/>
          <p:cNvSpPr txBox="1"/>
          <p:nvPr/>
        </p:nvSpPr>
        <p:spPr>
          <a:xfrm>
            <a:off x="8229600" y="4914900"/>
            <a:ext cx="5486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750" b="1" i="0">
                <a:solidFill>
                  <a:srgbClr val="64757B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1423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ectangle 3"/>
          <p:cNvSpPr/>
          <p:nvPr/>
        </p:nvSpPr>
        <p:spPr>
          <a:xfrm>
            <a:off x="365760" y="617219"/>
            <a:ext cx="1737360" cy="41148"/>
          </a:xfrm>
          <a:prstGeom prst="rect">
            <a:avLst/>
          </a:prstGeom>
          <a:solidFill>
            <a:srgbClr val="C15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365760" y="91440"/>
            <a:ext cx="6400799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50" b="1" i="0">
                <a:solidFill>
                  <a:srgbClr val="D9A441"/>
                </a:solidFill>
                <a:latin typeface="Calibri"/>
              </a:rPr>
              <a:t>КАРТКИ ТОВАРІВ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256032"/>
            <a:ext cx="640079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 i="0">
                <a:solidFill>
                  <a:srgbClr val="FFFFFF"/>
                </a:solidFill>
                <a:latin typeface="Cambria"/>
              </a:rPr>
              <a:t>Thai-Nichi — продукти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0" y="219456"/>
            <a:ext cx="237744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1" i="0">
                <a:solidFill>
                  <a:srgbClr val="FFFFFF"/>
                </a:solidFill>
                <a:latin typeface="Calibri"/>
              </a:rPr>
              <a:t>Mizuho · Norimaki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65760" y="1005840"/>
            <a:ext cx="4114800" cy="30175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2E6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475488" y="1115568"/>
            <a:ext cx="1645920" cy="2798063"/>
          </a:xfrm>
          <a:prstGeom prst="roundRect">
            <a:avLst>
              <a:gd name="adj" fmla="val 5000"/>
            </a:avLst>
          </a:prstGeom>
          <a:solidFill>
            <a:srgbClr val="F7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0" name="Picture 9" descr="tn_origin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617633"/>
            <a:ext cx="1499616" cy="1793933"/>
          </a:xfrm>
          <a:prstGeom prst="rect">
            <a:avLst/>
          </a:prstGeom>
        </p:spPr>
      </p:pic>
      <p:sp>
        <p:nvSpPr>
          <p:cNvPr id="11" name="Rounded Rectangle 10"/>
          <p:cNvSpPr/>
          <p:nvPr/>
        </p:nvSpPr>
        <p:spPr>
          <a:xfrm>
            <a:off x="2267712" y="1207008"/>
            <a:ext cx="954633" cy="201168"/>
          </a:xfrm>
          <a:prstGeom prst="roundRect">
            <a:avLst>
              <a:gd name="adj" fmla="val 50000"/>
            </a:avLst>
          </a:prstGeom>
          <a:solidFill>
            <a:srgbClr val="F8E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2267712" y="1207008"/>
            <a:ext cx="954633" cy="20116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650" b="1" i="0">
                <a:solidFill>
                  <a:srgbClr val="C1512A"/>
                </a:solidFill>
                <a:latin typeface="Calibri"/>
              </a:rPr>
              <a:t>50 Г · ПАКЕТ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267712" y="1517904"/>
            <a:ext cx="2066544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1C2A2F"/>
                </a:solidFill>
                <a:latin typeface="Cambria"/>
              </a:rPr>
              <a:t>Norimaki
Original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267712" y="2048256"/>
            <a:ext cx="2066544" cy="7863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50" b="0" i="0">
                <a:solidFill>
                  <a:srgbClr val="64757B"/>
                </a:solidFill>
                <a:latin typeface="Calibri"/>
              </a:rPr>
              <a:t>Рисовий крекер у норі за японською рецептурою. Хрусткий, з делікатним смаком соєвого соусу.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267712" y="2871216"/>
            <a:ext cx="2066544" cy="9144"/>
          </a:xfrm>
          <a:prstGeom prst="rect">
            <a:avLst/>
          </a:prstGeom>
          <a:solidFill>
            <a:srgbClr val="E2E6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2267712" y="2944368"/>
            <a:ext cx="206654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50" b="0" i="0">
                <a:solidFill>
                  <a:srgbClr val="1C2A2F"/>
                </a:solidFill>
                <a:latin typeface="Calibri"/>
              </a:rPr>
              <a:t>36 шт/карт. · FOB $0,60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2267712" y="3346704"/>
            <a:ext cx="2066544" cy="530352"/>
          </a:xfrm>
          <a:prstGeom prst="roundRect">
            <a:avLst>
              <a:gd name="adj" fmla="val 10000"/>
            </a:avLst>
          </a:prstGeom>
          <a:solidFill>
            <a:srgbClr val="C15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2267712" y="3419856"/>
            <a:ext cx="2066544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650" b="1" i="0">
                <a:solidFill>
                  <a:srgbClr val="FFFFFF"/>
                </a:solidFill>
                <a:latin typeface="Calibri"/>
              </a:rPr>
              <a:t>СОБІВАРТІСТЬ · 40′ КОНТЕЙНЕР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267712" y="3584448"/>
            <a:ext cx="2066544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350" b="1" i="0">
                <a:solidFill>
                  <a:srgbClr val="FFFFFF"/>
                </a:solidFill>
                <a:latin typeface="Cambria"/>
              </a:rPr>
              <a:t>$0,794  ·  35,74 ₴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663440" y="1005840"/>
            <a:ext cx="4114800" cy="30175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2E6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4773168" y="1115568"/>
            <a:ext cx="1645920" cy="2798063"/>
          </a:xfrm>
          <a:prstGeom prst="roundRect">
            <a:avLst>
              <a:gd name="adj" fmla="val 5000"/>
            </a:avLst>
          </a:prstGeom>
          <a:solidFill>
            <a:srgbClr val="F7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22" name="Picture 21" descr="tn_wasabi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46320" y="1607122"/>
            <a:ext cx="1499616" cy="1814955"/>
          </a:xfrm>
          <a:prstGeom prst="rect">
            <a:avLst/>
          </a:prstGeom>
        </p:spPr>
      </p:pic>
      <p:sp>
        <p:nvSpPr>
          <p:cNvPr id="23" name="Rounded Rectangle 22"/>
          <p:cNvSpPr/>
          <p:nvPr/>
        </p:nvSpPr>
        <p:spPr>
          <a:xfrm>
            <a:off x="6565392" y="1207008"/>
            <a:ext cx="954633" cy="201168"/>
          </a:xfrm>
          <a:prstGeom prst="roundRect">
            <a:avLst>
              <a:gd name="adj" fmla="val 50000"/>
            </a:avLst>
          </a:prstGeom>
          <a:solidFill>
            <a:srgbClr val="F8E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TextBox 23"/>
          <p:cNvSpPr txBox="1"/>
          <p:nvPr/>
        </p:nvSpPr>
        <p:spPr>
          <a:xfrm>
            <a:off x="6565392" y="1207008"/>
            <a:ext cx="954633" cy="20116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650" b="1" i="0">
                <a:solidFill>
                  <a:srgbClr val="C1512A"/>
                </a:solidFill>
                <a:latin typeface="Calibri"/>
              </a:rPr>
              <a:t>55 Г · ПАКЕТ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565392" y="1517904"/>
            <a:ext cx="2066544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1C2A2F"/>
                </a:solidFill>
                <a:latin typeface="Cambria"/>
              </a:rPr>
              <a:t>Norimaki
Wasabi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565392" y="2048256"/>
            <a:ext cx="2066544" cy="7863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50" b="0" i="0">
                <a:solidFill>
                  <a:srgbClr val="64757B"/>
                </a:solidFill>
                <a:latin typeface="Calibri"/>
              </a:rPr>
              <a:t>Рисовий крекер у норі з гострим васабі. Найбільша фасовка лінійки — 55 г.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565392" y="2871216"/>
            <a:ext cx="2066544" cy="9144"/>
          </a:xfrm>
          <a:prstGeom prst="rect">
            <a:avLst/>
          </a:prstGeom>
          <a:solidFill>
            <a:srgbClr val="E2E6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TextBox 27"/>
          <p:cNvSpPr txBox="1"/>
          <p:nvPr/>
        </p:nvSpPr>
        <p:spPr>
          <a:xfrm>
            <a:off x="6565392" y="2944368"/>
            <a:ext cx="206654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50" b="0" i="0">
                <a:solidFill>
                  <a:srgbClr val="1C2A2F"/>
                </a:solidFill>
                <a:latin typeface="Calibri"/>
              </a:rPr>
              <a:t>36 шт/карт. · FOB $0,75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565392" y="3346704"/>
            <a:ext cx="2066544" cy="530352"/>
          </a:xfrm>
          <a:prstGeom prst="roundRect">
            <a:avLst>
              <a:gd name="adj" fmla="val 10000"/>
            </a:avLst>
          </a:prstGeom>
          <a:solidFill>
            <a:srgbClr val="C15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6565392" y="3419856"/>
            <a:ext cx="2066544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650" b="1" i="0">
                <a:solidFill>
                  <a:srgbClr val="FFFFFF"/>
                </a:solidFill>
                <a:latin typeface="Calibri"/>
              </a:rPr>
              <a:t>СОБІВАРТІСТЬ · 40′ КОНТЕЙНЕР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565392" y="3584448"/>
            <a:ext cx="2066544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350" b="1" i="0">
                <a:solidFill>
                  <a:srgbClr val="FFFFFF"/>
                </a:solidFill>
                <a:latin typeface="Cambria"/>
              </a:rPr>
              <a:t>$0,993  ·  44,67 ₴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365760" y="4224528"/>
            <a:ext cx="8412480" cy="512064"/>
          </a:xfrm>
          <a:prstGeom prst="roundRect">
            <a:avLst>
              <a:gd name="adj" fmla="val 8000"/>
            </a:avLst>
          </a:prstGeom>
          <a:solidFill>
            <a:srgbClr val="F7F4EE"/>
          </a:solidFill>
          <a:ln w="9525">
            <a:solidFill>
              <a:srgbClr val="E2E6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Rectangle 32"/>
          <p:cNvSpPr/>
          <p:nvPr/>
        </p:nvSpPr>
        <p:spPr>
          <a:xfrm>
            <a:off x="365760" y="4224528"/>
            <a:ext cx="45720" cy="512064"/>
          </a:xfrm>
          <a:prstGeom prst="rect">
            <a:avLst/>
          </a:prstGeom>
          <a:solidFill>
            <a:srgbClr val="0E5C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TextBox 33"/>
          <p:cNvSpPr txBox="1"/>
          <p:nvPr/>
        </p:nvSpPr>
        <p:spPr>
          <a:xfrm>
            <a:off x="566928" y="4334256"/>
            <a:ext cx="7955279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50" b="0" i="0">
                <a:solidFill>
                  <a:srgbClr val="1C2A2F"/>
                </a:solidFill>
                <a:latin typeface="Calibri"/>
              </a:rPr>
              <a:t>Решта прайсу цього постачальника — на попередньому слайді профілю. Повна таблиця собівартості за чотирма сценаріями логістики — на наступному.</a:t>
            </a:r>
          </a:p>
        </p:txBody>
      </p:sp>
      <p:sp>
        <p:nvSpPr>
          <p:cNvPr id="35" name="Rectangle 34"/>
          <p:cNvSpPr/>
          <p:nvPr/>
        </p:nvSpPr>
        <p:spPr>
          <a:xfrm>
            <a:off x="365760" y="4869180"/>
            <a:ext cx="8412480" cy="9144"/>
          </a:xfrm>
          <a:prstGeom prst="rect">
            <a:avLst/>
          </a:prstGeom>
          <a:solidFill>
            <a:srgbClr val="E2E6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6" name="TextBox 35"/>
          <p:cNvSpPr txBox="1"/>
          <p:nvPr/>
        </p:nvSpPr>
        <p:spPr>
          <a:xfrm>
            <a:off x="365760" y="4914900"/>
            <a:ext cx="78638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64757B"/>
                </a:solidFill>
                <a:latin typeface="Calibri"/>
              </a:rPr>
              <a:t>Собівартість — за одиницю товару, сценарій 40′ контейнер. Джерело: SelfCost.xlsx.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229600" y="4914900"/>
            <a:ext cx="5486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750" b="1" i="0">
                <a:solidFill>
                  <a:srgbClr val="64757B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1423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ectangle 3"/>
          <p:cNvSpPr/>
          <p:nvPr/>
        </p:nvSpPr>
        <p:spPr>
          <a:xfrm>
            <a:off x="365760" y="617219"/>
            <a:ext cx="1737360" cy="41148"/>
          </a:xfrm>
          <a:prstGeom prst="rect">
            <a:avLst/>
          </a:prstGeom>
          <a:solidFill>
            <a:srgbClr val="C15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365760" y="91440"/>
            <a:ext cx="6400799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50" b="1" i="0">
                <a:solidFill>
                  <a:srgbClr val="D9A441"/>
                </a:solidFill>
                <a:latin typeface="Calibri"/>
              </a:rPr>
              <a:t>ПОВНА ТАБЛИЦЯ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256032"/>
            <a:ext cx="640079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 i="0">
                <a:solidFill>
                  <a:srgbClr val="FFFFFF"/>
                </a:solidFill>
                <a:latin typeface="Cambria"/>
              </a:rPr>
              <a:t>Thai-Nichi — собівартість за сценаріями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0" y="219456"/>
            <a:ext cx="237744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1" i="0">
                <a:solidFill>
                  <a:srgbClr val="FFFFFF"/>
                </a:solidFill>
                <a:latin typeface="Calibri"/>
              </a:rPr>
              <a:t>Mizuho · Norimaki</a:t>
            </a:r>
          </a:p>
        </p:txBody>
      </p:sp>
      <p:sp>
        <p:nvSpPr>
          <p:cNvPr id="8" name="Rectangle 7"/>
          <p:cNvSpPr/>
          <p:nvPr/>
        </p:nvSpPr>
        <p:spPr>
          <a:xfrm>
            <a:off x="365760" y="969264"/>
            <a:ext cx="8266176" cy="475488"/>
          </a:xfrm>
          <a:prstGeom prst="rect">
            <a:avLst/>
          </a:prstGeom>
          <a:solidFill>
            <a:srgbClr val="1423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475488" y="969264"/>
            <a:ext cx="2907791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800" b="1" i="0">
                <a:solidFill>
                  <a:srgbClr val="FFFFFF"/>
                </a:solidFill>
                <a:latin typeface="Calibri"/>
              </a:rPr>
              <a:t>Продукт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383279" y="969264"/>
            <a:ext cx="713232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800" b="1" i="0">
                <a:solidFill>
                  <a:srgbClr val="FFFFFF"/>
                </a:solidFill>
                <a:latin typeface="Calibri"/>
              </a:rPr>
              <a:t>FOB $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096511" y="969264"/>
            <a:ext cx="1133856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800" b="1" i="0">
                <a:solidFill>
                  <a:srgbClr val="FFFFFF"/>
                </a:solidFill>
                <a:latin typeface="Calibri"/>
              </a:rPr>
              <a:t>20′ контейнер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230368" y="969264"/>
            <a:ext cx="1133856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800" b="1" i="0">
                <a:solidFill>
                  <a:srgbClr val="FFFFFF"/>
                </a:solidFill>
                <a:latin typeface="Calibri"/>
              </a:rPr>
              <a:t>40′ контейнер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230368" y="969264"/>
            <a:ext cx="1133856" cy="41148"/>
          </a:xfrm>
          <a:prstGeom prst="rect">
            <a:avLst/>
          </a:prstGeom>
          <a:solidFill>
            <a:srgbClr val="D9A4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6364224" y="969264"/>
            <a:ext cx="1133856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800" b="1" i="0">
                <a:solidFill>
                  <a:srgbClr val="FFFFFF"/>
                </a:solidFill>
                <a:latin typeface="Calibri"/>
              </a:rPr>
              <a:t>Збірний 17 м³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498079" y="969264"/>
            <a:ext cx="1133856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800" b="1" i="0">
                <a:solidFill>
                  <a:srgbClr val="FFFFFF"/>
                </a:solidFill>
                <a:latin typeface="Calibri"/>
              </a:rPr>
              <a:t>Збірний 34 м³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65760" y="1444752"/>
            <a:ext cx="8266176" cy="475488"/>
          </a:xfrm>
          <a:prstGeom prst="rect">
            <a:avLst/>
          </a:prstGeom>
          <a:solidFill>
            <a:srgbClr val="F7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ectangle 16"/>
          <p:cNvSpPr/>
          <p:nvPr/>
        </p:nvSpPr>
        <p:spPr>
          <a:xfrm>
            <a:off x="5230368" y="1444752"/>
            <a:ext cx="1133856" cy="475488"/>
          </a:xfrm>
          <a:prstGeom prst="rect">
            <a:avLst/>
          </a:prstGeom>
          <a:solidFill>
            <a:srgbClr val="E4EF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475488" y="1444752"/>
            <a:ext cx="2834639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1" i="0">
                <a:solidFill>
                  <a:srgbClr val="1C2A2F"/>
                </a:solidFill>
                <a:latin typeface="Calibri"/>
              </a:rPr>
              <a:t>Norimaki Original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383279" y="1444752"/>
            <a:ext cx="713232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750" b="0" i="0">
                <a:solidFill>
                  <a:srgbClr val="64757B"/>
                </a:solidFill>
                <a:latin typeface="Calibri"/>
              </a:rPr>
              <a:t>$0,60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096511" y="1444752"/>
            <a:ext cx="1133856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1" i="0">
                <a:solidFill>
                  <a:srgbClr val="1C2A2F"/>
                </a:solidFill>
                <a:latin typeface="Calibri"/>
              </a:rPr>
              <a:t>$1,034</a:t>
            </a:r>
          </a:p>
          <a:p>
            <a:pPr algn="ctr">
              <a:lnSpc>
                <a:spcPct val="100000"/>
              </a:lnSpc>
              <a:spcBef>
                <a:spcPts val="0"/>
              </a:spcBef>
            </a:pPr>
            <a:r>
              <a:rPr sz="700" b="0" i="0">
                <a:solidFill>
                  <a:srgbClr val="64757B"/>
                </a:solidFill>
                <a:latin typeface="Calibri"/>
              </a:rPr>
              <a:t>46,53 ₴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230368" y="1444752"/>
            <a:ext cx="1133856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1" i="0">
                <a:solidFill>
                  <a:srgbClr val="C1512A"/>
                </a:solidFill>
                <a:latin typeface="Calibri"/>
              </a:rPr>
              <a:t>$0,794</a:t>
            </a:r>
          </a:p>
          <a:p>
            <a:pPr algn="ctr">
              <a:lnSpc>
                <a:spcPct val="100000"/>
              </a:lnSpc>
              <a:spcBef>
                <a:spcPts val="0"/>
              </a:spcBef>
            </a:pPr>
            <a:r>
              <a:rPr sz="700" b="0" i="0">
                <a:solidFill>
                  <a:srgbClr val="64757B"/>
                </a:solidFill>
                <a:latin typeface="Calibri"/>
              </a:rPr>
              <a:t>35,74 ₴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64224" y="1444752"/>
            <a:ext cx="1133856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1" i="0">
                <a:solidFill>
                  <a:srgbClr val="1C2A2F"/>
                </a:solidFill>
                <a:latin typeface="Calibri"/>
              </a:rPr>
              <a:t>$1,453</a:t>
            </a:r>
          </a:p>
          <a:p>
            <a:pPr algn="ctr">
              <a:lnSpc>
                <a:spcPct val="100000"/>
              </a:lnSpc>
              <a:spcBef>
                <a:spcPts val="0"/>
              </a:spcBef>
            </a:pPr>
            <a:r>
              <a:rPr sz="700" b="0" i="0">
                <a:solidFill>
                  <a:srgbClr val="64757B"/>
                </a:solidFill>
                <a:latin typeface="Calibri"/>
              </a:rPr>
              <a:t>65,39 ₴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498079" y="1444752"/>
            <a:ext cx="1133856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1" i="0">
                <a:solidFill>
                  <a:srgbClr val="1C2A2F"/>
                </a:solidFill>
                <a:latin typeface="Calibri"/>
              </a:rPr>
              <a:t>$0,973</a:t>
            </a:r>
          </a:p>
          <a:p>
            <a:pPr algn="ctr">
              <a:lnSpc>
                <a:spcPct val="100000"/>
              </a:lnSpc>
              <a:spcBef>
                <a:spcPts val="0"/>
              </a:spcBef>
            </a:pPr>
            <a:r>
              <a:rPr sz="700" b="0" i="0">
                <a:solidFill>
                  <a:srgbClr val="64757B"/>
                </a:solidFill>
                <a:latin typeface="Calibri"/>
              </a:rPr>
              <a:t>43,80 ₴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230368" y="1920240"/>
            <a:ext cx="1133856" cy="475488"/>
          </a:xfrm>
          <a:prstGeom prst="rect">
            <a:avLst/>
          </a:prstGeom>
          <a:solidFill>
            <a:srgbClr val="E4EF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475488" y="1920240"/>
            <a:ext cx="2834639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1" i="0">
                <a:solidFill>
                  <a:srgbClr val="1C2A2F"/>
                </a:solidFill>
                <a:latin typeface="Calibri"/>
              </a:rPr>
              <a:t>Norimaki Wasabi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383279" y="1920240"/>
            <a:ext cx="713232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750" b="0" i="0">
                <a:solidFill>
                  <a:srgbClr val="64757B"/>
                </a:solidFill>
                <a:latin typeface="Calibri"/>
              </a:rPr>
              <a:t>$0,75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096511" y="1920240"/>
            <a:ext cx="1133856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1" i="0">
                <a:solidFill>
                  <a:srgbClr val="1C2A2F"/>
                </a:solidFill>
                <a:latin typeface="Calibri"/>
              </a:rPr>
              <a:t>$1,293</a:t>
            </a:r>
          </a:p>
          <a:p>
            <a:pPr algn="ctr">
              <a:lnSpc>
                <a:spcPct val="100000"/>
              </a:lnSpc>
              <a:spcBef>
                <a:spcPts val="0"/>
              </a:spcBef>
            </a:pPr>
            <a:r>
              <a:rPr sz="700" b="0" i="0">
                <a:solidFill>
                  <a:srgbClr val="64757B"/>
                </a:solidFill>
                <a:latin typeface="Calibri"/>
              </a:rPr>
              <a:t>58,17 ₴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230368" y="1920240"/>
            <a:ext cx="1133856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1" i="0">
                <a:solidFill>
                  <a:srgbClr val="C1512A"/>
                </a:solidFill>
                <a:latin typeface="Calibri"/>
              </a:rPr>
              <a:t>$0,993</a:t>
            </a:r>
          </a:p>
          <a:p>
            <a:pPr algn="ctr">
              <a:lnSpc>
                <a:spcPct val="100000"/>
              </a:lnSpc>
              <a:spcBef>
                <a:spcPts val="0"/>
              </a:spcBef>
            </a:pPr>
            <a:r>
              <a:rPr sz="700" b="0" i="0">
                <a:solidFill>
                  <a:srgbClr val="64757B"/>
                </a:solidFill>
                <a:latin typeface="Calibri"/>
              </a:rPr>
              <a:t>44,67 ₴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364224" y="1920240"/>
            <a:ext cx="1133856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1" i="0">
                <a:solidFill>
                  <a:srgbClr val="1C2A2F"/>
                </a:solidFill>
                <a:latin typeface="Calibri"/>
              </a:rPr>
              <a:t>$1,817</a:t>
            </a:r>
          </a:p>
          <a:p>
            <a:pPr algn="ctr">
              <a:lnSpc>
                <a:spcPct val="100000"/>
              </a:lnSpc>
              <a:spcBef>
                <a:spcPts val="0"/>
              </a:spcBef>
            </a:pPr>
            <a:r>
              <a:rPr sz="700" b="0" i="0">
                <a:solidFill>
                  <a:srgbClr val="64757B"/>
                </a:solidFill>
                <a:latin typeface="Calibri"/>
              </a:rPr>
              <a:t>81,74 ₴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498079" y="1920240"/>
            <a:ext cx="1133856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1" i="0">
                <a:solidFill>
                  <a:srgbClr val="1C2A2F"/>
                </a:solidFill>
                <a:latin typeface="Calibri"/>
              </a:rPr>
              <a:t>$1,217</a:t>
            </a:r>
          </a:p>
          <a:p>
            <a:pPr algn="ctr">
              <a:lnSpc>
                <a:spcPct val="100000"/>
              </a:lnSpc>
              <a:spcBef>
                <a:spcPts val="0"/>
              </a:spcBef>
            </a:pPr>
            <a:r>
              <a:rPr sz="700" b="0" i="0">
                <a:solidFill>
                  <a:srgbClr val="64757B"/>
                </a:solidFill>
                <a:latin typeface="Calibri"/>
              </a:rPr>
              <a:t>54,75 ₴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65760" y="2395728"/>
            <a:ext cx="8266176" cy="10972"/>
          </a:xfrm>
          <a:prstGeom prst="rect">
            <a:avLst/>
          </a:prstGeom>
          <a:solidFill>
            <a:srgbClr val="E2E6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2" name="TextBox 31"/>
          <p:cNvSpPr txBox="1"/>
          <p:nvPr/>
        </p:nvSpPr>
        <p:spPr>
          <a:xfrm>
            <a:off x="365760" y="2523744"/>
            <a:ext cx="84124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750" b="0" i="0">
                <a:solidFill>
                  <a:srgbClr val="64757B"/>
                </a:solidFill>
                <a:latin typeface="Calibri"/>
              </a:rPr>
              <a:t>Виділена колонка — 40′ контейнер: саме ці цифри показані на картках товарів. Курс у розрахунку — 45–49 ₴ за $ залежно від позиції.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365760" y="2852928"/>
            <a:ext cx="8412480" cy="1225296"/>
          </a:xfrm>
          <a:prstGeom prst="roundRect">
            <a:avLst>
              <a:gd name="adj" fmla="val 9000"/>
            </a:avLst>
          </a:prstGeom>
          <a:solidFill>
            <a:srgbClr val="F7F4EE"/>
          </a:solidFill>
          <a:ln w="9525">
            <a:solidFill>
              <a:srgbClr val="E2E6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Rectangle 33"/>
          <p:cNvSpPr/>
          <p:nvPr/>
        </p:nvSpPr>
        <p:spPr>
          <a:xfrm>
            <a:off x="365760" y="2852928"/>
            <a:ext cx="45720" cy="1225296"/>
          </a:xfrm>
          <a:prstGeom prst="rect">
            <a:avLst/>
          </a:prstGeom>
          <a:solidFill>
            <a:srgbClr val="0E5C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5" name="TextBox 34"/>
          <p:cNvSpPr txBox="1"/>
          <p:nvPr/>
        </p:nvSpPr>
        <p:spPr>
          <a:xfrm>
            <a:off x="585216" y="2980944"/>
            <a:ext cx="36576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1" i="0">
                <a:solidFill>
                  <a:srgbClr val="C1512A"/>
                </a:solidFill>
                <a:latin typeface="Calibri"/>
              </a:rPr>
              <a:t>ЧИТАННЯ ПОРТФЕЛЯ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85216" y="3236976"/>
            <a:ext cx="178308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C1512A"/>
                </a:solidFill>
                <a:latin typeface="Cambria"/>
              </a:rPr>
              <a:t>35,74 – 44,67 ₴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85216" y="3529584"/>
            <a:ext cx="178308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00" b="0" i="0">
                <a:solidFill>
                  <a:srgbClr val="64757B"/>
                </a:solidFill>
                <a:latin typeface="Calibri"/>
              </a:rPr>
              <a:t>розкид собівартості
у портфелі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2468880" y="3236976"/>
            <a:ext cx="178308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C1512A"/>
                </a:solidFill>
                <a:latin typeface="Cambria"/>
              </a:rPr>
              <a:t>40,20 ₴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468880" y="3529584"/>
            <a:ext cx="178308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00" b="0" i="0">
                <a:solidFill>
                  <a:srgbClr val="64757B"/>
                </a:solidFill>
                <a:latin typeface="Calibri"/>
              </a:rPr>
              <a:t>середня собівартість
одиниці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352544" y="3236976"/>
            <a:ext cx="178308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C1512A"/>
                </a:solidFill>
                <a:latin typeface="Cambria"/>
              </a:rPr>
              <a:t>+83%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352544" y="3529584"/>
            <a:ext cx="178308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00" b="0" i="0">
                <a:solidFill>
                  <a:srgbClr val="64757B"/>
                </a:solidFill>
                <a:latin typeface="Calibri"/>
              </a:rPr>
              <a:t>надбавка збірного
вантажу 17 м³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327648" y="3218688"/>
            <a:ext cx="2267711" cy="7132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800" b="0" i="0">
                <a:solidFill>
                  <a:srgbClr val="1C2A2F"/>
                </a:solidFill>
                <a:latin typeface="Calibri"/>
              </a:rPr>
              <a:t>Перехід із 40′ контейнера на 20′ додає в середньому +30% до собівартості, а збірний вантаж 17 м³ — +83%. Для цього постачальника сценарій доставки важить більше, ніж різниця між його найдешевшою і найдорожчою позицією.</a:t>
            </a:r>
          </a:p>
        </p:txBody>
      </p:sp>
      <p:sp>
        <p:nvSpPr>
          <p:cNvPr id="43" name="Rectangle 42"/>
          <p:cNvSpPr/>
          <p:nvPr/>
        </p:nvSpPr>
        <p:spPr>
          <a:xfrm>
            <a:off x="365760" y="4869180"/>
            <a:ext cx="8412480" cy="9144"/>
          </a:xfrm>
          <a:prstGeom prst="rect">
            <a:avLst/>
          </a:prstGeom>
          <a:solidFill>
            <a:srgbClr val="E2E6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4" name="TextBox 43"/>
          <p:cNvSpPr txBox="1"/>
          <p:nvPr/>
        </p:nvSpPr>
        <p:spPr>
          <a:xfrm>
            <a:off x="365760" y="4914900"/>
            <a:ext cx="78638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64757B"/>
                </a:solidFill>
                <a:latin typeface="Calibri"/>
              </a:rPr>
              <a:t>Джерело: SelfCost.xlsx, вкладка «Thai-Nichi - Retail».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229600" y="4914900"/>
            <a:ext cx="5486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750" b="1" i="0">
                <a:solidFill>
                  <a:srgbClr val="64757B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1423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ectangle 3"/>
          <p:cNvSpPr/>
          <p:nvPr/>
        </p:nvSpPr>
        <p:spPr>
          <a:xfrm>
            <a:off x="365760" y="617219"/>
            <a:ext cx="1737360" cy="41148"/>
          </a:xfrm>
          <a:prstGeom prst="rect">
            <a:avLst/>
          </a:prstGeom>
          <a:solidFill>
            <a:srgbClr val="C15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365760" y="91440"/>
            <a:ext cx="6400799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50" b="1" i="0">
                <a:solidFill>
                  <a:srgbClr val="D9A441"/>
                </a:solidFill>
                <a:latin typeface="Calibri"/>
              </a:rPr>
              <a:t>ПРОФІЛЬ ПОСТАЧАЛЬНИКА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256032"/>
            <a:ext cx="640079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 i="0">
                <a:solidFill>
                  <a:srgbClr val="FFFFFF"/>
                </a:solidFill>
                <a:latin typeface="Cambria"/>
              </a:rPr>
              <a:t>TMK (Thailand) Co., Ltd.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0" y="219456"/>
            <a:ext cx="237744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1" i="0">
                <a:solidFill>
                  <a:srgbClr val="FFFFFF"/>
                </a:solidFill>
                <a:latin typeface="Calibri"/>
              </a:rPr>
              <a:t>KOKIRI Wow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65760" y="932688"/>
            <a:ext cx="5029200" cy="1188720"/>
          </a:xfrm>
          <a:prstGeom prst="roundRect">
            <a:avLst>
              <a:gd name="adj" fmla="val 9000"/>
            </a:avLst>
          </a:prstGeom>
          <a:solidFill>
            <a:srgbClr val="F7F4EE"/>
          </a:solidFill>
          <a:ln w="9525">
            <a:solidFill>
              <a:srgbClr val="E2E6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ectangle 8"/>
          <p:cNvSpPr/>
          <p:nvPr/>
        </p:nvSpPr>
        <p:spPr>
          <a:xfrm>
            <a:off x="365760" y="932688"/>
            <a:ext cx="45720" cy="1188720"/>
          </a:xfrm>
          <a:prstGeom prst="rect">
            <a:avLst/>
          </a:prstGeom>
          <a:solidFill>
            <a:srgbClr val="0E5C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585216" y="1078992"/>
            <a:ext cx="45720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1" i="0">
                <a:solidFill>
                  <a:srgbClr val="C1512A"/>
                </a:solidFill>
                <a:latin typeface="Calibri"/>
              </a:rPr>
              <a:t>ПРО КОМПАНІЮ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85216" y="1316736"/>
            <a:ext cx="461772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900" b="0" i="0">
                <a:solidFill>
                  <a:srgbClr val="1C2A2F"/>
                </a:solidFill>
                <a:latin typeface="Calibri"/>
              </a:rPr>
              <a:t>Тайський виробник снеків із водоростей під брендом KOKIRI Wow. Найдешевша собівартість одиниці серед усіх постачальників — за рахунок мінімальної фасовки (від 2,5 г) та дитячого позиціонування.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65760" y="2249424"/>
            <a:ext cx="1572768" cy="859536"/>
          </a:xfrm>
          <a:prstGeom prst="roundRect">
            <a:avLst>
              <a:gd name="adj" fmla="val 10000"/>
            </a:avLst>
          </a:prstGeom>
          <a:solidFill>
            <a:srgbClr val="F7F4EE"/>
          </a:solidFill>
          <a:ln w="9525">
            <a:solidFill>
              <a:srgbClr val="E2E6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ectangle 12"/>
          <p:cNvSpPr/>
          <p:nvPr/>
        </p:nvSpPr>
        <p:spPr>
          <a:xfrm>
            <a:off x="365760" y="2249424"/>
            <a:ext cx="41148" cy="859536"/>
          </a:xfrm>
          <a:prstGeom prst="rect">
            <a:avLst/>
          </a:prstGeom>
          <a:solidFill>
            <a:srgbClr val="0E5C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530352" y="2368296"/>
            <a:ext cx="1298448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1" i="0">
                <a:solidFill>
                  <a:srgbClr val="0E5C51"/>
                </a:solidFill>
                <a:latin typeface="Cambria"/>
              </a:rPr>
              <a:t>10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30352" y="2724912"/>
            <a:ext cx="1298448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750" b="0" i="0">
                <a:solidFill>
                  <a:srgbClr val="64757B"/>
                </a:solidFill>
                <a:latin typeface="Calibri"/>
              </a:rPr>
              <a:t>SKU з розрахованою
собівартістю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2093976" y="2249424"/>
            <a:ext cx="1572768" cy="859536"/>
          </a:xfrm>
          <a:prstGeom prst="roundRect">
            <a:avLst>
              <a:gd name="adj" fmla="val 10000"/>
            </a:avLst>
          </a:prstGeom>
          <a:solidFill>
            <a:srgbClr val="F7F4EE"/>
          </a:solidFill>
          <a:ln w="9525">
            <a:solidFill>
              <a:srgbClr val="E2E6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ectangle 16"/>
          <p:cNvSpPr/>
          <p:nvPr/>
        </p:nvSpPr>
        <p:spPr>
          <a:xfrm>
            <a:off x="2093976" y="2249424"/>
            <a:ext cx="41148" cy="859536"/>
          </a:xfrm>
          <a:prstGeom prst="rect">
            <a:avLst/>
          </a:prstGeom>
          <a:solidFill>
            <a:srgbClr val="0E5C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2258568" y="2368296"/>
            <a:ext cx="1298448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1" i="0">
                <a:solidFill>
                  <a:srgbClr val="0E5C51"/>
                </a:solidFill>
                <a:latin typeface="Cambria"/>
              </a:rPr>
              <a:t>9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258568" y="2724912"/>
            <a:ext cx="1298448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750" b="0" i="0">
                <a:solidFill>
                  <a:srgbClr val="64757B"/>
                </a:solidFill>
                <a:latin typeface="Calibri"/>
              </a:rPr>
              <a:t>лінійок
у прайс-листі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822191" y="2249424"/>
            <a:ext cx="1572768" cy="859536"/>
          </a:xfrm>
          <a:prstGeom prst="roundRect">
            <a:avLst>
              <a:gd name="adj" fmla="val 10000"/>
            </a:avLst>
          </a:prstGeom>
          <a:solidFill>
            <a:srgbClr val="F7F4EE"/>
          </a:solidFill>
          <a:ln w="9525">
            <a:solidFill>
              <a:srgbClr val="E2E6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ectangle 20"/>
          <p:cNvSpPr/>
          <p:nvPr/>
        </p:nvSpPr>
        <p:spPr>
          <a:xfrm>
            <a:off x="3822191" y="2249424"/>
            <a:ext cx="41148" cy="859536"/>
          </a:xfrm>
          <a:prstGeom prst="rect">
            <a:avLst/>
          </a:prstGeom>
          <a:solidFill>
            <a:srgbClr val="0E5C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3986783" y="2368296"/>
            <a:ext cx="1298448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1" i="0">
                <a:solidFill>
                  <a:srgbClr val="0E5C51"/>
                </a:solidFill>
                <a:latin typeface="Cambria"/>
              </a:rPr>
              <a:t>7,61 ₴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986783" y="2724912"/>
            <a:ext cx="1298448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750" b="0" i="0">
                <a:solidFill>
                  <a:srgbClr val="64757B"/>
                </a:solidFill>
                <a:latin typeface="Calibri"/>
              </a:rPr>
              <a:t>найнижча собівартість
одиниці у деці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65760" y="3255264"/>
            <a:ext cx="50292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1" i="0">
                <a:solidFill>
                  <a:srgbClr val="C1512A"/>
                </a:solidFill>
                <a:latin typeface="Calibri"/>
              </a:rPr>
              <a:t>КЛЮЧОВІ ПАРАМЕТРИ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65760" y="3511296"/>
            <a:ext cx="5029200" cy="214884"/>
          </a:xfrm>
          <a:prstGeom prst="rect">
            <a:avLst/>
          </a:prstGeom>
          <a:solidFill>
            <a:srgbClr val="F7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457200" y="3511296"/>
            <a:ext cx="2020824" cy="2148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0" i="0">
                <a:solidFill>
                  <a:srgbClr val="64757B"/>
                </a:solidFill>
                <a:latin typeface="Calibri"/>
              </a:rPr>
              <a:t>Країна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478024" y="3511296"/>
            <a:ext cx="2825496" cy="2148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1" i="0">
                <a:solidFill>
                  <a:srgbClr val="1C2A2F"/>
                </a:solidFill>
                <a:latin typeface="Calibri"/>
              </a:rPr>
              <a:t>Таїланд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" y="3726180"/>
            <a:ext cx="2020824" cy="2148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0" i="0">
                <a:solidFill>
                  <a:srgbClr val="64757B"/>
                </a:solidFill>
                <a:latin typeface="Calibri"/>
              </a:rPr>
              <a:t>Бренд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478024" y="3726180"/>
            <a:ext cx="2825496" cy="2148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1" i="0">
                <a:solidFill>
                  <a:srgbClr val="1C2A2F"/>
                </a:solidFill>
                <a:latin typeface="Calibri"/>
              </a:rPr>
              <a:t>KOKIRI Wow</a:t>
            </a:r>
          </a:p>
        </p:txBody>
      </p:sp>
      <p:sp>
        <p:nvSpPr>
          <p:cNvPr id="30" name="Rectangle 29"/>
          <p:cNvSpPr/>
          <p:nvPr/>
        </p:nvSpPr>
        <p:spPr>
          <a:xfrm>
            <a:off x="365760" y="3941063"/>
            <a:ext cx="5029200" cy="214884"/>
          </a:xfrm>
          <a:prstGeom prst="rect">
            <a:avLst/>
          </a:prstGeom>
          <a:solidFill>
            <a:srgbClr val="F7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1" name="TextBox 30"/>
          <p:cNvSpPr txBox="1"/>
          <p:nvPr/>
        </p:nvSpPr>
        <p:spPr>
          <a:xfrm>
            <a:off x="457200" y="3941063"/>
            <a:ext cx="2020824" cy="2148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0" i="0">
                <a:solidFill>
                  <a:srgbClr val="64757B"/>
                </a:solidFill>
                <a:latin typeface="Calibri"/>
              </a:rPr>
              <a:t>Умови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478024" y="3941063"/>
            <a:ext cx="2825496" cy="2148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1" i="0">
                <a:solidFill>
                  <a:srgbClr val="1C2A2F"/>
                </a:solidFill>
                <a:latin typeface="Calibri"/>
              </a:rPr>
              <a:t>FOB Bangkok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57200" y="4155948"/>
            <a:ext cx="2020824" cy="2148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0" i="0">
                <a:solidFill>
                  <a:srgbClr val="64757B"/>
                </a:solidFill>
                <a:latin typeface="Calibri"/>
              </a:rPr>
              <a:t>Термін придатності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2478024" y="4155948"/>
            <a:ext cx="2825496" cy="2148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1" i="0">
                <a:solidFill>
                  <a:srgbClr val="1C2A2F"/>
                </a:solidFill>
                <a:latin typeface="Calibri"/>
              </a:rPr>
              <a:t>7 – 12 місяців</a:t>
            </a:r>
          </a:p>
        </p:txBody>
      </p:sp>
      <p:sp>
        <p:nvSpPr>
          <p:cNvPr id="35" name="Rectangle 34"/>
          <p:cNvSpPr/>
          <p:nvPr/>
        </p:nvSpPr>
        <p:spPr>
          <a:xfrm>
            <a:off x="365760" y="4370831"/>
            <a:ext cx="5029200" cy="214884"/>
          </a:xfrm>
          <a:prstGeom prst="rect">
            <a:avLst/>
          </a:prstGeom>
          <a:solidFill>
            <a:srgbClr val="F7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6" name="TextBox 35"/>
          <p:cNvSpPr txBox="1"/>
          <p:nvPr/>
        </p:nvSpPr>
        <p:spPr>
          <a:xfrm>
            <a:off x="457200" y="4370831"/>
            <a:ext cx="2020824" cy="2148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0" i="0">
                <a:solidFill>
                  <a:srgbClr val="64757B"/>
                </a:solidFill>
                <a:latin typeface="Calibri"/>
              </a:rPr>
              <a:t>MOQ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2478024" y="4370831"/>
            <a:ext cx="2825496" cy="2148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1" i="0">
                <a:solidFill>
                  <a:srgbClr val="1C2A2F"/>
                </a:solidFill>
                <a:latin typeface="Calibri"/>
              </a:rPr>
              <a:t>20′ контейнер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57200" y="4585716"/>
            <a:ext cx="2020824" cy="2148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0" i="0">
                <a:solidFill>
                  <a:srgbClr val="64757B"/>
                </a:solidFill>
                <a:latin typeface="Calibri"/>
              </a:rPr>
              <a:t>Увага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478024" y="4585716"/>
            <a:ext cx="2825496" cy="2148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1" i="0">
                <a:solidFill>
                  <a:srgbClr val="1C2A2F"/>
                </a:solidFill>
                <a:latin typeface="Calibri"/>
              </a:rPr>
              <a:t>собівартість — за 1 пакетик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5623560" y="932688"/>
            <a:ext cx="3154679" cy="3749039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9525">
            <a:solidFill>
              <a:srgbClr val="E2E6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41" name="Picture 40" descr="tmk_li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29301" y="1078992"/>
            <a:ext cx="1743196" cy="1170432"/>
          </a:xfrm>
          <a:prstGeom prst="rect">
            <a:avLst/>
          </a:prstGeom>
        </p:spPr>
      </p:pic>
      <p:sp>
        <p:nvSpPr>
          <p:cNvPr id="42" name="TextBox 41"/>
          <p:cNvSpPr txBox="1"/>
          <p:nvPr/>
        </p:nvSpPr>
        <p:spPr>
          <a:xfrm>
            <a:off x="5806440" y="2377440"/>
            <a:ext cx="2788919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1" i="0">
                <a:solidFill>
                  <a:srgbClr val="C1512A"/>
                </a:solidFill>
                <a:latin typeface="Calibri"/>
              </a:rPr>
              <a:t>Решта асортименту (собівартість ще не розрахована)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5824728" y="2843784"/>
            <a:ext cx="73152" cy="73152"/>
          </a:xfrm>
          <a:prstGeom prst="roundRect">
            <a:avLst>
              <a:gd name="adj" fmla="val 50000"/>
            </a:avLst>
          </a:prstGeom>
          <a:solidFill>
            <a:srgbClr val="0E5C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4" name="TextBox 43"/>
          <p:cNvSpPr txBox="1"/>
          <p:nvPr/>
        </p:nvSpPr>
        <p:spPr>
          <a:xfrm>
            <a:off x="5989320" y="2779776"/>
            <a:ext cx="2587751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50" b="0" i="0">
                <a:solidFill>
                  <a:srgbClr val="64757B"/>
                </a:solidFill>
                <a:latin typeface="Calibri"/>
              </a:rPr>
              <a:t>KOKIRI Wow Double Roll (Costco), 110 г · $4,84 / $4,18 промо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5824728" y="3145536"/>
            <a:ext cx="73152" cy="73152"/>
          </a:xfrm>
          <a:prstGeom prst="roundRect">
            <a:avLst>
              <a:gd name="adj" fmla="val 50000"/>
            </a:avLst>
          </a:prstGeom>
          <a:solidFill>
            <a:srgbClr val="0E5C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6" name="TextBox 45"/>
          <p:cNvSpPr txBox="1"/>
          <p:nvPr/>
        </p:nvSpPr>
        <p:spPr>
          <a:xfrm>
            <a:off x="5989320" y="3081528"/>
            <a:ext cx="2587751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50" b="0" i="0">
                <a:solidFill>
                  <a:srgbClr val="64757B"/>
                </a:solidFill>
                <a:latin typeface="Calibri"/>
              </a:rPr>
              <a:t>KOKIRI Wow Seaweed, 30 г · $1,032 / $0,875 промо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5824728" y="3447288"/>
            <a:ext cx="73152" cy="73152"/>
          </a:xfrm>
          <a:prstGeom prst="roundRect">
            <a:avLst>
              <a:gd name="adj" fmla="val 50000"/>
            </a:avLst>
          </a:prstGeom>
          <a:solidFill>
            <a:srgbClr val="0E5C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8" name="TextBox 47"/>
          <p:cNvSpPr txBox="1"/>
          <p:nvPr/>
        </p:nvSpPr>
        <p:spPr>
          <a:xfrm>
            <a:off x="5989320" y="3383280"/>
            <a:ext cx="2587751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50" b="0" i="0">
                <a:solidFill>
                  <a:srgbClr val="64757B"/>
                </a:solidFill>
                <a:latin typeface="Calibri"/>
              </a:rPr>
              <a:t>KOKIRI Wow Booga Chips, 20 г — 3 смаки · $0,528 / $0,447 промо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5824728" y="3749039"/>
            <a:ext cx="73152" cy="73152"/>
          </a:xfrm>
          <a:prstGeom prst="roundRect">
            <a:avLst>
              <a:gd name="adj" fmla="val 50000"/>
            </a:avLst>
          </a:prstGeom>
          <a:solidFill>
            <a:srgbClr val="0E5C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0" name="TextBox 49"/>
          <p:cNvSpPr txBox="1"/>
          <p:nvPr/>
        </p:nvSpPr>
        <p:spPr>
          <a:xfrm>
            <a:off x="5989320" y="3685032"/>
            <a:ext cx="2587751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50" b="0" i="0">
                <a:solidFill>
                  <a:srgbClr val="64757B"/>
                </a:solidFill>
                <a:latin typeface="Calibri"/>
              </a:rPr>
              <a:t>KOKIRI Wow 7 Roll, 14 г · $0,634 / $0,540 промо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5824728" y="4050791"/>
            <a:ext cx="73152" cy="73152"/>
          </a:xfrm>
          <a:prstGeom prst="roundRect">
            <a:avLst>
              <a:gd name="adj" fmla="val 50000"/>
            </a:avLst>
          </a:prstGeom>
          <a:solidFill>
            <a:srgbClr val="0E5C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2" name="TextBox 51"/>
          <p:cNvSpPr txBox="1"/>
          <p:nvPr/>
        </p:nvSpPr>
        <p:spPr>
          <a:xfrm>
            <a:off x="5989320" y="3986784"/>
            <a:ext cx="2587751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50" b="0" i="0">
                <a:solidFill>
                  <a:srgbClr val="64757B"/>
                </a:solidFill>
                <a:latin typeface="Calibri"/>
              </a:rPr>
              <a:t>KOKIRI Wow Sheet, 24 г · $1,901 / $1,620 промо</a:t>
            </a:r>
          </a:p>
        </p:txBody>
      </p:sp>
      <p:sp>
        <p:nvSpPr>
          <p:cNvPr id="53" name="Rectangle 52"/>
          <p:cNvSpPr/>
          <p:nvPr/>
        </p:nvSpPr>
        <p:spPr>
          <a:xfrm>
            <a:off x="365760" y="4869180"/>
            <a:ext cx="8412480" cy="9144"/>
          </a:xfrm>
          <a:prstGeom prst="rect">
            <a:avLst/>
          </a:prstGeom>
          <a:solidFill>
            <a:srgbClr val="E2E6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4" name="TextBox 53"/>
          <p:cNvSpPr txBox="1"/>
          <p:nvPr/>
        </p:nvSpPr>
        <p:spPr>
          <a:xfrm>
            <a:off x="8229600" y="4914900"/>
            <a:ext cx="5486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750" b="1" i="0">
                <a:solidFill>
                  <a:srgbClr val="64757B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1423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ectangle 3"/>
          <p:cNvSpPr/>
          <p:nvPr/>
        </p:nvSpPr>
        <p:spPr>
          <a:xfrm>
            <a:off x="365760" y="617219"/>
            <a:ext cx="1737360" cy="41148"/>
          </a:xfrm>
          <a:prstGeom prst="rect">
            <a:avLst/>
          </a:prstGeom>
          <a:solidFill>
            <a:srgbClr val="C15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365760" y="91440"/>
            <a:ext cx="6400799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50" b="1" i="0">
                <a:solidFill>
                  <a:srgbClr val="D9A441"/>
                </a:solidFill>
                <a:latin typeface="Calibri"/>
              </a:rPr>
              <a:t>КАРТКИ ТОВАРІВ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256032"/>
            <a:ext cx="640079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 i="0">
                <a:solidFill>
                  <a:srgbClr val="FFFFFF"/>
                </a:solidFill>
                <a:latin typeface="Cambria"/>
              </a:rPr>
              <a:t>TMK · KOKIRI — продукти · 1/3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0" y="219456"/>
            <a:ext cx="237744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1" i="0">
                <a:solidFill>
                  <a:srgbClr val="FFFFFF"/>
                </a:solidFill>
                <a:latin typeface="Calibri"/>
              </a:rPr>
              <a:t>KOKIRI Wow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65760" y="932688"/>
            <a:ext cx="1993391" cy="3657600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 w="9525">
            <a:solidFill>
              <a:srgbClr val="E2E6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448056" y="1014984"/>
            <a:ext cx="1828799" cy="1261872"/>
          </a:xfrm>
          <a:prstGeom prst="roundRect">
            <a:avLst>
              <a:gd name="adj" fmla="val 6000"/>
            </a:avLst>
          </a:prstGeom>
          <a:solidFill>
            <a:srgbClr val="F7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0" name="Picture 9" descr="tmk_roll_ori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1521" y="1069848"/>
            <a:ext cx="661869" cy="1152144"/>
          </a:xfrm>
          <a:prstGeom prst="rect">
            <a:avLst/>
          </a:prstGeom>
        </p:spPr>
      </p:pic>
      <p:sp>
        <p:nvSpPr>
          <p:cNvPr id="11" name="Rounded Rectangle 10"/>
          <p:cNvSpPr/>
          <p:nvPr/>
        </p:nvSpPr>
        <p:spPr>
          <a:xfrm>
            <a:off x="493776" y="2359152"/>
            <a:ext cx="1124712" cy="201168"/>
          </a:xfrm>
          <a:prstGeom prst="roundRect">
            <a:avLst>
              <a:gd name="adj" fmla="val 50000"/>
            </a:avLst>
          </a:prstGeom>
          <a:solidFill>
            <a:srgbClr val="F8E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493776" y="2359152"/>
            <a:ext cx="1124712" cy="20116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650" b="1" i="0">
                <a:solidFill>
                  <a:srgbClr val="C1512A"/>
                </a:solidFill>
                <a:latin typeface="Calibri"/>
              </a:rPr>
              <a:t>2,5 Г · ПАКЕТИК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93776" y="2633472"/>
            <a:ext cx="1737359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8000"/>
              </a:lnSpc>
            </a:pPr>
            <a:r>
              <a:rPr sz="1100" b="1" i="0">
                <a:solidFill>
                  <a:srgbClr val="1C2A2F"/>
                </a:solidFill>
                <a:latin typeface="Cambria"/>
              </a:rPr>
              <a:t>Wow ROLL
Original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93776" y="3072384"/>
            <a:ext cx="1737359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750" b="0" i="0">
                <a:solidFill>
                  <a:srgbClr val="64757B"/>
                </a:solidFill>
                <a:latin typeface="Calibri"/>
              </a:rPr>
              <a:t>Рулетик із водорості норі з рисовим крекером усередині. У коробці 10 пакетиків — формат для дітей.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93776" y="3767328"/>
            <a:ext cx="1737359" cy="9144"/>
          </a:xfrm>
          <a:prstGeom prst="rect">
            <a:avLst/>
          </a:prstGeom>
          <a:solidFill>
            <a:srgbClr val="E2E6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493776" y="3831335"/>
            <a:ext cx="1737359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00" b="0" i="0">
                <a:solidFill>
                  <a:srgbClr val="1C2A2F"/>
                </a:solidFill>
                <a:latin typeface="Calibri"/>
              </a:rPr>
              <a:t>120 пак./карт. · FOB $0,122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93776" y="4023359"/>
            <a:ext cx="1737359" cy="475488"/>
          </a:xfrm>
          <a:prstGeom prst="roundRect">
            <a:avLst>
              <a:gd name="adj" fmla="val 12000"/>
            </a:avLst>
          </a:prstGeom>
          <a:solidFill>
            <a:srgbClr val="C15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493776" y="4078223"/>
            <a:ext cx="1737359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600" b="1" i="0">
                <a:solidFill>
                  <a:srgbClr val="FFFFFF"/>
                </a:solidFill>
                <a:latin typeface="Calibri"/>
              </a:rPr>
              <a:t>СОБІВАРТІСТЬ · 40′ КОНТЕЙНЕР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93776" y="4233672"/>
            <a:ext cx="173735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250" b="1" i="0">
                <a:solidFill>
                  <a:srgbClr val="FFFFFF"/>
                </a:solidFill>
                <a:latin typeface="Cambria"/>
              </a:rPr>
              <a:t>$0,169  ·  7,61 ₴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2505456" y="932688"/>
            <a:ext cx="1993391" cy="3657600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 w="9525">
            <a:solidFill>
              <a:srgbClr val="E2E6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2587751" y="1014984"/>
            <a:ext cx="1828799" cy="1261872"/>
          </a:xfrm>
          <a:prstGeom prst="roundRect">
            <a:avLst>
              <a:gd name="adj" fmla="val 6000"/>
            </a:avLst>
          </a:prstGeom>
          <a:solidFill>
            <a:srgbClr val="F7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22" name="Picture 21" descr="tmk_roll_spic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58960" y="1069848"/>
            <a:ext cx="686383" cy="1152144"/>
          </a:xfrm>
          <a:prstGeom prst="rect">
            <a:avLst/>
          </a:prstGeom>
        </p:spPr>
      </p:pic>
      <p:sp>
        <p:nvSpPr>
          <p:cNvPr id="23" name="Rounded Rectangle 22"/>
          <p:cNvSpPr/>
          <p:nvPr/>
        </p:nvSpPr>
        <p:spPr>
          <a:xfrm>
            <a:off x="2633472" y="2359152"/>
            <a:ext cx="1124712" cy="201168"/>
          </a:xfrm>
          <a:prstGeom prst="roundRect">
            <a:avLst>
              <a:gd name="adj" fmla="val 50000"/>
            </a:avLst>
          </a:prstGeom>
          <a:solidFill>
            <a:srgbClr val="F8E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TextBox 23"/>
          <p:cNvSpPr txBox="1"/>
          <p:nvPr/>
        </p:nvSpPr>
        <p:spPr>
          <a:xfrm>
            <a:off x="2633472" y="2359152"/>
            <a:ext cx="1124712" cy="20116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650" b="1" i="0">
                <a:solidFill>
                  <a:srgbClr val="C1512A"/>
                </a:solidFill>
                <a:latin typeface="Calibri"/>
              </a:rPr>
              <a:t>2,5 Г · ПАКЕТИК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633472" y="2633472"/>
            <a:ext cx="1737359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8000"/>
              </a:lnSpc>
            </a:pPr>
            <a:r>
              <a:rPr sz="1100" b="1" i="0">
                <a:solidFill>
                  <a:srgbClr val="1C2A2F"/>
                </a:solidFill>
                <a:latin typeface="Cambria"/>
              </a:rPr>
              <a:t>Wow ROLL
Hot Spicy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633472" y="3072384"/>
            <a:ext cx="1737359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750" b="0" i="0">
                <a:solidFill>
                  <a:srgbClr val="64757B"/>
                </a:solidFill>
                <a:latin typeface="Calibri"/>
              </a:rPr>
              <a:t>Той самий рулетик норі, але з гострою приправою. Найпопулярніший смак лінійки у Таїланді.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2633472" y="3767328"/>
            <a:ext cx="1737359" cy="9144"/>
          </a:xfrm>
          <a:prstGeom prst="rect">
            <a:avLst/>
          </a:prstGeom>
          <a:solidFill>
            <a:srgbClr val="E2E6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TextBox 27"/>
          <p:cNvSpPr txBox="1"/>
          <p:nvPr/>
        </p:nvSpPr>
        <p:spPr>
          <a:xfrm>
            <a:off x="2633472" y="3831335"/>
            <a:ext cx="1737359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00" b="0" i="0">
                <a:solidFill>
                  <a:srgbClr val="1C2A2F"/>
                </a:solidFill>
                <a:latin typeface="Calibri"/>
              </a:rPr>
              <a:t>120 пак./карт. · FOB $0,122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2633472" y="4023359"/>
            <a:ext cx="1737359" cy="475488"/>
          </a:xfrm>
          <a:prstGeom prst="roundRect">
            <a:avLst>
              <a:gd name="adj" fmla="val 12000"/>
            </a:avLst>
          </a:prstGeom>
          <a:solidFill>
            <a:srgbClr val="C15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2633472" y="4078223"/>
            <a:ext cx="1737359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600" b="1" i="0">
                <a:solidFill>
                  <a:srgbClr val="FFFFFF"/>
                </a:solidFill>
                <a:latin typeface="Calibri"/>
              </a:rPr>
              <a:t>СОБІВАРТІСТЬ · 40′ КОНТЕЙНЕР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633472" y="4233672"/>
            <a:ext cx="173735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250" b="1" i="0">
                <a:solidFill>
                  <a:srgbClr val="FFFFFF"/>
                </a:solidFill>
                <a:latin typeface="Cambria"/>
              </a:rPr>
              <a:t>$0,169  ·  7,61 ₴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4645152" y="932688"/>
            <a:ext cx="1993391" cy="3657600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 w="9525">
            <a:solidFill>
              <a:srgbClr val="E2E6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Rounded Rectangle 32"/>
          <p:cNvSpPr/>
          <p:nvPr/>
        </p:nvSpPr>
        <p:spPr>
          <a:xfrm>
            <a:off x="4727448" y="1014984"/>
            <a:ext cx="1828799" cy="1261872"/>
          </a:xfrm>
          <a:prstGeom prst="roundRect">
            <a:avLst>
              <a:gd name="adj" fmla="val 6000"/>
            </a:avLst>
          </a:prstGeom>
          <a:solidFill>
            <a:srgbClr val="F7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34" name="Picture 33" descr="tmk_roll_squi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310913" y="1069848"/>
            <a:ext cx="661869" cy="1152144"/>
          </a:xfrm>
          <a:prstGeom prst="rect">
            <a:avLst/>
          </a:prstGeom>
        </p:spPr>
      </p:pic>
      <p:sp>
        <p:nvSpPr>
          <p:cNvPr id="35" name="Rounded Rectangle 34"/>
          <p:cNvSpPr/>
          <p:nvPr/>
        </p:nvSpPr>
        <p:spPr>
          <a:xfrm>
            <a:off x="4773168" y="2359152"/>
            <a:ext cx="1124712" cy="201168"/>
          </a:xfrm>
          <a:prstGeom prst="roundRect">
            <a:avLst>
              <a:gd name="adj" fmla="val 50000"/>
            </a:avLst>
          </a:prstGeom>
          <a:solidFill>
            <a:srgbClr val="F8E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6" name="TextBox 35"/>
          <p:cNvSpPr txBox="1"/>
          <p:nvPr/>
        </p:nvSpPr>
        <p:spPr>
          <a:xfrm>
            <a:off x="4773168" y="2359152"/>
            <a:ext cx="1124712" cy="20116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650" b="1" i="0">
                <a:solidFill>
                  <a:srgbClr val="C1512A"/>
                </a:solidFill>
                <a:latin typeface="Calibri"/>
              </a:rPr>
              <a:t>2,5 Г · ПАКЕТИК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773168" y="2633472"/>
            <a:ext cx="1737359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8000"/>
              </a:lnSpc>
            </a:pPr>
            <a:r>
              <a:rPr sz="1100" b="1" i="0">
                <a:solidFill>
                  <a:srgbClr val="1C2A2F"/>
                </a:solidFill>
                <a:latin typeface="Cambria"/>
              </a:rPr>
              <a:t>Wow ROLL
Spicy Squid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773168" y="3072384"/>
            <a:ext cx="1737359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750" b="0" i="0">
                <a:solidFill>
                  <a:srgbClr val="64757B"/>
                </a:solidFill>
                <a:latin typeface="Calibri"/>
              </a:rPr>
              <a:t>Рулетик норі зі смаком гострого кальмара — азійський смаковий профіль для сміливої аудиторії.</a:t>
            </a:r>
          </a:p>
        </p:txBody>
      </p:sp>
      <p:sp>
        <p:nvSpPr>
          <p:cNvPr id="39" name="Rectangle 38"/>
          <p:cNvSpPr/>
          <p:nvPr/>
        </p:nvSpPr>
        <p:spPr>
          <a:xfrm>
            <a:off x="4773168" y="3767328"/>
            <a:ext cx="1737359" cy="9144"/>
          </a:xfrm>
          <a:prstGeom prst="rect">
            <a:avLst/>
          </a:prstGeom>
          <a:solidFill>
            <a:srgbClr val="E2E6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0" name="TextBox 39"/>
          <p:cNvSpPr txBox="1"/>
          <p:nvPr/>
        </p:nvSpPr>
        <p:spPr>
          <a:xfrm>
            <a:off x="4773168" y="3831335"/>
            <a:ext cx="1737359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00" b="0" i="0">
                <a:solidFill>
                  <a:srgbClr val="1C2A2F"/>
                </a:solidFill>
                <a:latin typeface="Calibri"/>
              </a:rPr>
              <a:t>120 пак./карт. · FOB $0,122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4773168" y="4023359"/>
            <a:ext cx="1737359" cy="475488"/>
          </a:xfrm>
          <a:prstGeom prst="roundRect">
            <a:avLst>
              <a:gd name="adj" fmla="val 12000"/>
            </a:avLst>
          </a:prstGeom>
          <a:solidFill>
            <a:srgbClr val="C15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2" name="TextBox 41"/>
          <p:cNvSpPr txBox="1"/>
          <p:nvPr/>
        </p:nvSpPr>
        <p:spPr>
          <a:xfrm>
            <a:off x="4773168" y="4078223"/>
            <a:ext cx="1737359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600" b="1" i="0">
                <a:solidFill>
                  <a:srgbClr val="FFFFFF"/>
                </a:solidFill>
                <a:latin typeface="Calibri"/>
              </a:rPr>
              <a:t>СОБІВАРТІСТЬ · 40′ КОНТЕЙНЕР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773168" y="4233672"/>
            <a:ext cx="173735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250" b="1" i="0">
                <a:solidFill>
                  <a:srgbClr val="FFFFFF"/>
                </a:solidFill>
                <a:latin typeface="Cambria"/>
              </a:rPr>
              <a:t>$0,169  ·  7,61 ₴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6784848" y="932688"/>
            <a:ext cx="1993391" cy="3657600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 w="9525">
            <a:solidFill>
              <a:srgbClr val="E2E6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5" name="Rounded Rectangle 44"/>
          <p:cNvSpPr/>
          <p:nvPr/>
        </p:nvSpPr>
        <p:spPr>
          <a:xfrm>
            <a:off x="6867144" y="1014984"/>
            <a:ext cx="1828799" cy="1261872"/>
          </a:xfrm>
          <a:prstGeom prst="roundRect">
            <a:avLst>
              <a:gd name="adj" fmla="val 6000"/>
            </a:avLst>
          </a:prstGeom>
          <a:solidFill>
            <a:srgbClr val="F7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46" name="Picture 45" descr="tmk_dbl_orig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414439" y="1069848"/>
            <a:ext cx="734209" cy="1152144"/>
          </a:xfrm>
          <a:prstGeom prst="rect">
            <a:avLst/>
          </a:prstGeom>
        </p:spPr>
      </p:pic>
      <p:sp>
        <p:nvSpPr>
          <p:cNvPr id="47" name="Rounded Rectangle 46"/>
          <p:cNvSpPr/>
          <p:nvPr/>
        </p:nvSpPr>
        <p:spPr>
          <a:xfrm>
            <a:off x="6912864" y="2359152"/>
            <a:ext cx="1011326" cy="201168"/>
          </a:xfrm>
          <a:prstGeom prst="roundRect">
            <a:avLst>
              <a:gd name="adj" fmla="val 50000"/>
            </a:avLst>
          </a:prstGeom>
          <a:solidFill>
            <a:srgbClr val="F8E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8" name="TextBox 47"/>
          <p:cNvSpPr txBox="1"/>
          <p:nvPr/>
        </p:nvSpPr>
        <p:spPr>
          <a:xfrm>
            <a:off x="6912864" y="2359152"/>
            <a:ext cx="1011326" cy="20116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650" b="1" i="0">
                <a:solidFill>
                  <a:srgbClr val="C1512A"/>
                </a:solidFill>
                <a:latin typeface="Calibri"/>
              </a:rPr>
              <a:t>5 Г · ПАКЕТИК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912864" y="2633472"/>
            <a:ext cx="1737359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8000"/>
              </a:lnSpc>
            </a:pPr>
            <a:r>
              <a:rPr sz="1100" b="1" i="0">
                <a:solidFill>
                  <a:srgbClr val="1C2A2F"/>
                </a:solidFill>
                <a:latin typeface="Cambria"/>
              </a:rPr>
              <a:t>Wow DOUBLE ROLL
Original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912864" y="3072384"/>
            <a:ext cx="1737359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750" b="0" i="0">
                <a:solidFill>
                  <a:srgbClr val="64757B"/>
                </a:solidFill>
                <a:latin typeface="Calibri"/>
              </a:rPr>
              <a:t>Подвійна порція рулетиків норі у пакетику 5 г. У коробці 5 пакетиків.</a:t>
            </a:r>
          </a:p>
        </p:txBody>
      </p:sp>
      <p:sp>
        <p:nvSpPr>
          <p:cNvPr id="51" name="Rectangle 50"/>
          <p:cNvSpPr/>
          <p:nvPr/>
        </p:nvSpPr>
        <p:spPr>
          <a:xfrm>
            <a:off x="6912864" y="3767328"/>
            <a:ext cx="1737359" cy="9144"/>
          </a:xfrm>
          <a:prstGeom prst="rect">
            <a:avLst/>
          </a:prstGeom>
          <a:solidFill>
            <a:srgbClr val="E2E6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2" name="TextBox 51"/>
          <p:cNvSpPr txBox="1"/>
          <p:nvPr/>
        </p:nvSpPr>
        <p:spPr>
          <a:xfrm>
            <a:off x="6912864" y="3831335"/>
            <a:ext cx="1737359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00" b="0" i="0">
                <a:solidFill>
                  <a:srgbClr val="1C2A2F"/>
                </a:solidFill>
                <a:latin typeface="Calibri"/>
              </a:rPr>
              <a:t>60 пак./карт. · FOB $0,218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6912864" y="4023359"/>
            <a:ext cx="1737359" cy="475488"/>
          </a:xfrm>
          <a:prstGeom prst="roundRect">
            <a:avLst>
              <a:gd name="adj" fmla="val 12000"/>
            </a:avLst>
          </a:prstGeom>
          <a:solidFill>
            <a:srgbClr val="C15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4" name="TextBox 53"/>
          <p:cNvSpPr txBox="1"/>
          <p:nvPr/>
        </p:nvSpPr>
        <p:spPr>
          <a:xfrm>
            <a:off x="6912864" y="4078223"/>
            <a:ext cx="1737359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600" b="1" i="0">
                <a:solidFill>
                  <a:srgbClr val="FFFFFF"/>
                </a:solidFill>
                <a:latin typeface="Calibri"/>
              </a:rPr>
              <a:t>СОБІВАРТІСТЬ · 40′ КОНТЕЙНЕР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6912864" y="4233672"/>
            <a:ext cx="173735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250" b="1" i="0">
                <a:solidFill>
                  <a:srgbClr val="FFFFFF"/>
                </a:solidFill>
                <a:latin typeface="Cambria"/>
              </a:rPr>
              <a:t>$0,303  ·  13,66 ₴</a:t>
            </a:r>
          </a:p>
        </p:txBody>
      </p:sp>
      <p:sp>
        <p:nvSpPr>
          <p:cNvPr id="56" name="Rectangle 55"/>
          <p:cNvSpPr/>
          <p:nvPr/>
        </p:nvSpPr>
        <p:spPr>
          <a:xfrm>
            <a:off x="365760" y="4869180"/>
            <a:ext cx="8412480" cy="9144"/>
          </a:xfrm>
          <a:prstGeom prst="rect">
            <a:avLst/>
          </a:prstGeom>
          <a:solidFill>
            <a:srgbClr val="E2E6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7" name="TextBox 56"/>
          <p:cNvSpPr txBox="1"/>
          <p:nvPr/>
        </p:nvSpPr>
        <p:spPr>
          <a:xfrm>
            <a:off x="365760" y="4914900"/>
            <a:ext cx="78638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64757B"/>
                </a:solidFill>
                <a:latin typeface="Calibri"/>
              </a:rPr>
              <a:t>Собівартість наведено за 1 пакетик (inner pack), а не за коробку: Wow ROLL — 2,5 г, Double Roll — 5 г.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8229600" y="4914900"/>
            <a:ext cx="5486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750" b="1" i="0">
                <a:solidFill>
                  <a:srgbClr val="64757B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1423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ectangle 3"/>
          <p:cNvSpPr/>
          <p:nvPr/>
        </p:nvSpPr>
        <p:spPr>
          <a:xfrm>
            <a:off x="365760" y="617219"/>
            <a:ext cx="1737360" cy="41148"/>
          </a:xfrm>
          <a:prstGeom prst="rect">
            <a:avLst/>
          </a:prstGeom>
          <a:solidFill>
            <a:srgbClr val="C15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365760" y="91440"/>
            <a:ext cx="6400799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50" b="1" i="0">
                <a:solidFill>
                  <a:srgbClr val="D9A441"/>
                </a:solidFill>
                <a:latin typeface="Calibri"/>
              </a:rPr>
              <a:t>КАРТКИ ТОВАРІВ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256032"/>
            <a:ext cx="640079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 i="0">
                <a:solidFill>
                  <a:srgbClr val="FFFFFF"/>
                </a:solidFill>
                <a:latin typeface="Cambria"/>
              </a:rPr>
              <a:t>TMK · KOKIRI — продукти · 2/3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0" y="219456"/>
            <a:ext cx="237744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1" i="0">
                <a:solidFill>
                  <a:srgbClr val="FFFFFF"/>
                </a:solidFill>
                <a:latin typeface="Calibri"/>
              </a:rPr>
              <a:t>KOKIRI Wow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65760" y="932688"/>
            <a:ext cx="1993391" cy="3657600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 w="9525">
            <a:solidFill>
              <a:srgbClr val="E2E6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448056" y="1014984"/>
            <a:ext cx="1828799" cy="1261872"/>
          </a:xfrm>
          <a:prstGeom prst="roundRect">
            <a:avLst>
              <a:gd name="adj" fmla="val 6000"/>
            </a:avLst>
          </a:prstGeom>
          <a:solidFill>
            <a:srgbClr val="F7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0" name="Picture 9" descr="tmk_dbl_spic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7729" y="1069848"/>
            <a:ext cx="749452" cy="1152144"/>
          </a:xfrm>
          <a:prstGeom prst="rect">
            <a:avLst/>
          </a:prstGeom>
        </p:spPr>
      </p:pic>
      <p:sp>
        <p:nvSpPr>
          <p:cNvPr id="11" name="Rounded Rectangle 10"/>
          <p:cNvSpPr/>
          <p:nvPr/>
        </p:nvSpPr>
        <p:spPr>
          <a:xfrm>
            <a:off x="493776" y="2359152"/>
            <a:ext cx="1011326" cy="201168"/>
          </a:xfrm>
          <a:prstGeom prst="roundRect">
            <a:avLst>
              <a:gd name="adj" fmla="val 50000"/>
            </a:avLst>
          </a:prstGeom>
          <a:solidFill>
            <a:srgbClr val="F8E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493776" y="2359152"/>
            <a:ext cx="1011326" cy="20116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650" b="1" i="0">
                <a:solidFill>
                  <a:srgbClr val="C1512A"/>
                </a:solidFill>
                <a:latin typeface="Calibri"/>
              </a:rPr>
              <a:t>5 Г · ПАКЕТИК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93776" y="2633472"/>
            <a:ext cx="1737359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8000"/>
              </a:lnSpc>
            </a:pPr>
            <a:r>
              <a:rPr sz="1100" b="1" i="0">
                <a:solidFill>
                  <a:srgbClr val="1C2A2F"/>
                </a:solidFill>
                <a:latin typeface="Cambria"/>
              </a:rPr>
              <a:t>Wow DOUBLE ROLL
Hot Spicy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93776" y="3072384"/>
            <a:ext cx="1737359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750" b="0" i="0">
                <a:solidFill>
                  <a:srgbClr val="64757B"/>
                </a:solidFill>
                <a:latin typeface="Calibri"/>
              </a:rPr>
              <a:t>Подвійна порція рулетиків норі з гострою приправою. Крок нагору від базового формату 2,5 г.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93776" y="3767328"/>
            <a:ext cx="1737359" cy="9144"/>
          </a:xfrm>
          <a:prstGeom prst="rect">
            <a:avLst/>
          </a:prstGeom>
          <a:solidFill>
            <a:srgbClr val="E2E6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493776" y="3831335"/>
            <a:ext cx="1737359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00" b="0" i="0">
                <a:solidFill>
                  <a:srgbClr val="1C2A2F"/>
                </a:solidFill>
                <a:latin typeface="Calibri"/>
              </a:rPr>
              <a:t>60 пак./карт. · FOB $0,218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93776" y="4023359"/>
            <a:ext cx="1737359" cy="475488"/>
          </a:xfrm>
          <a:prstGeom prst="roundRect">
            <a:avLst>
              <a:gd name="adj" fmla="val 12000"/>
            </a:avLst>
          </a:prstGeom>
          <a:solidFill>
            <a:srgbClr val="C15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493776" y="4078223"/>
            <a:ext cx="1737359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600" b="1" i="0">
                <a:solidFill>
                  <a:srgbClr val="FFFFFF"/>
                </a:solidFill>
                <a:latin typeface="Calibri"/>
              </a:rPr>
              <a:t>СОБІВАРТІСТЬ · 40′ КОНТЕЙНЕР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93776" y="4233672"/>
            <a:ext cx="173735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250" b="1" i="0">
                <a:solidFill>
                  <a:srgbClr val="FFFFFF"/>
                </a:solidFill>
                <a:latin typeface="Cambria"/>
              </a:rPr>
              <a:t>$0,303  ·  13,66 ₴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2505456" y="932688"/>
            <a:ext cx="1993391" cy="3657600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 w="9525">
            <a:solidFill>
              <a:srgbClr val="E2E6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2587751" y="1014984"/>
            <a:ext cx="1828799" cy="1261872"/>
          </a:xfrm>
          <a:prstGeom prst="roundRect">
            <a:avLst>
              <a:gd name="adj" fmla="val 6000"/>
            </a:avLst>
          </a:prstGeom>
          <a:solidFill>
            <a:srgbClr val="F7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22" name="Picture 21" descr="tmk_sw_orig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62096" y="1069848"/>
            <a:ext cx="880110" cy="1152144"/>
          </a:xfrm>
          <a:prstGeom prst="rect">
            <a:avLst/>
          </a:prstGeom>
        </p:spPr>
      </p:pic>
      <p:sp>
        <p:nvSpPr>
          <p:cNvPr id="23" name="Rounded Rectangle 22"/>
          <p:cNvSpPr/>
          <p:nvPr/>
        </p:nvSpPr>
        <p:spPr>
          <a:xfrm>
            <a:off x="2633472" y="2359152"/>
            <a:ext cx="954633" cy="201168"/>
          </a:xfrm>
          <a:prstGeom prst="roundRect">
            <a:avLst>
              <a:gd name="adj" fmla="val 50000"/>
            </a:avLst>
          </a:prstGeom>
          <a:solidFill>
            <a:srgbClr val="F8E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TextBox 23"/>
          <p:cNvSpPr txBox="1"/>
          <p:nvPr/>
        </p:nvSpPr>
        <p:spPr>
          <a:xfrm>
            <a:off x="2633472" y="2359152"/>
            <a:ext cx="954633" cy="20116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650" b="1" i="0">
                <a:solidFill>
                  <a:srgbClr val="C1512A"/>
                </a:solidFill>
                <a:latin typeface="Calibri"/>
              </a:rPr>
              <a:t>12 Г · ПАКЕТ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633472" y="2633472"/>
            <a:ext cx="1737359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8000"/>
              </a:lnSpc>
            </a:pPr>
            <a:r>
              <a:rPr sz="1100" b="1" i="0">
                <a:solidFill>
                  <a:srgbClr val="1C2A2F"/>
                </a:solidFill>
                <a:latin typeface="Cambria"/>
              </a:rPr>
              <a:t>Wow SEAWEED
Original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633472" y="3072384"/>
            <a:ext cx="1737359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750" b="0" i="0">
                <a:solidFill>
                  <a:srgbClr val="64757B"/>
                </a:solidFill>
                <a:latin typeface="Calibri"/>
              </a:rPr>
              <a:t>Смажені листи норі, приправлені та нарізані на порційні шматочки. Класичний смак.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2633472" y="3767328"/>
            <a:ext cx="1737359" cy="9144"/>
          </a:xfrm>
          <a:prstGeom prst="rect">
            <a:avLst/>
          </a:prstGeom>
          <a:solidFill>
            <a:srgbClr val="E2E6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TextBox 27"/>
          <p:cNvSpPr txBox="1"/>
          <p:nvPr/>
        </p:nvSpPr>
        <p:spPr>
          <a:xfrm>
            <a:off x="2633472" y="3831335"/>
            <a:ext cx="1737359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00" b="0" i="0">
                <a:solidFill>
                  <a:srgbClr val="1C2A2F"/>
                </a:solidFill>
                <a:latin typeface="Calibri"/>
              </a:rPr>
              <a:t>36 пак./карт. · FOB $0,449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2633472" y="4023359"/>
            <a:ext cx="1737359" cy="475488"/>
          </a:xfrm>
          <a:prstGeom prst="roundRect">
            <a:avLst>
              <a:gd name="adj" fmla="val 12000"/>
            </a:avLst>
          </a:prstGeom>
          <a:solidFill>
            <a:srgbClr val="C15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2633472" y="4078223"/>
            <a:ext cx="1737359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600" b="1" i="0">
                <a:solidFill>
                  <a:srgbClr val="FFFFFF"/>
                </a:solidFill>
                <a:latin typeface="Calibri"/>
              </a:rPr>
              <a:t>СОБІВАРТІСТЬ · 40′ КОНТЕЙНЕР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633472" y="4233672"/>
            <a:ext cx="173735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250" b="1" i="0">
                <a:solidFill>
                  <a:srgbClr val="FFFFFF"/>
                </a:solidFill>
                <a:latin typeface="Cambria"/>
              </a:rPr>
              <a:t>$0,620  ·  27,90 ₴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4645152" y="932688"/>
            <a:ext cx="1993391" cy="3657600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 w="9525">
            <a:solidFill>
              <a:srgbClr val="E2E6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Rounded Rectangle 32"/>
          <p:cNvSpPr/>
          <p:nvPr/>
        </p:nvSpPr>
        <p:spPr>
          <a:xfrm>
            <a:off x="4727448" y="1014984"/>
            <a:ext cx="1828799" cy="1261872"/>
          </a:xfrm>
          <a:prstGeom prst="roundRect">
            <a:avLst>
              <a:gd name="adj" fmla="val 6000"/>
            </a:avLst>
          </a:prstGeom>
          <a:solidFill>
            <a:srgbClr val="F7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34" name="Picture 33" descr="tmk_sw_spicy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217795" y="1069848"/>
            <a:ext cx="848106" cy="1152144"/>
          </a:xfrm>
          <a:prstGeom prst="rect">
            <a:avLst/>
          </a:prstGeom>
        </p:spPr>
      </p:pic>
      <p:sp>
        <p:nvSpPr>
          <p:cNvPr id="35" name="Rounded Rectangle 34"/>
          <p:cNvSpPr/>
          <p:nvPr/>
        </p:nvSpPr>
        <p:spPr>
          <a:xfrm>
            <a:off x="4773168" y="2359152"/>
            <a:ext cx="954633" cy="201168"/>
          </a:xfrm>
          <a:prstGeom prst="roundRect">
            <a:avLst>
              <a:gd name="adj" fmla="val 50000"/>
            </a:avLst>
          </a:prstGeom>
          <a:solidFill>
            <a:srgbClr val="F8E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6" name="TextBox 35"/>
          <p:cNvSpPr txBox="1"/>
          <p:nvPr/>
        </p:nvSpPr>
        <p:spPr>
          <a:xfrm>
            <a:off x="4773168" y="2359152"/>
            <a:ext cx="954633" cy="20116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650" b="1" i="0">
                <a:solidFill>
                  <a:srgbClr val="C1512A"/>
                </a:solidFill>
                <a:latin typeface="Calibri"/>
              </a:rPr>
              <a:t>12 Г · ПАКЕТ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773168" y="2633472"/>
            <a:ext cx="1737359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8000"/>
              </a:lnSpc>
            </a:pPr>
            <a:r>
              <a:rPr sz="1100" b="1" i="0">
                <a:solidFill>
                  <a:srgbClr val="1C2A2F"/>
                </a:solidFill>
                <a:latin typeface="Cambria"/>
              </a:rPr>
              <a:t>Wow SEAWEED
Spicy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773168" y="3072384"/>
            <a:ext cx="1737359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750" b="0" i="0">
                <a:solidFill>
                  <a:srgbClr val="64757B"/>
                </a:solidFill>
                <a:latin typeface="Calibri"/>
              </a:rPr>
              <a:t>Смажена норі з гострою приправою. Термін придатності 7 місяців — планувати обіг.</a:t>
            </a:r>
          </a:p>
        </p:txBody>
      </p:sp>
      <p:sp>
        <p:nvSpPr>
          <p:cNvPr id="39" name="Rectangle 38"/>
          <p:cNvSpPr/>
          <p:nvPr/>
        </p:nvSpPr>
        <p:spPr>
          <a:xfrm>
            <a:off x="4773168" y="3767328"/>
            <a:ext cx="1737359" cy="9144"/>
          </a:xfrm>
          <a:prstGeom prst="rect">
            <a:avLst/>
          </a:prstGeom>
          <a:solidFill>
            <a:srgbClr val="E2E6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0" name="TextBox 39"/>
          <p:cNvSpPr txBox="1"/>
          <p:nvPr/>
        </p:nvSpPr>
        <p:spPr>
          <a:xfrm>
            <a:off x="4773168" y="3831335"/>
            <a:ext cx="1737359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00" b="0" i="0">
                <a:solidFill>
                  <a:srgbClr val="1C2A2F"/>
                </a:solidFill>
                <a:latin typeface="Calibri"/>
              </a:rPr>
              <a:t>36 пак./карт. · FOB $0,449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4773168" y="4023359"/>
            <a:ext cx="1737359" cy="475488"/>
          </a:xfrm>
          <a:prstGeom prst="roundRect">
            <a:avLst>
              <a:gd name="adj" fmla="val 12000"/>
            </a:avLst>
          </a:prstGeom>
          <a:solidFill>
            <a:srgbClr val="C15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2" name="TextBox 41"/>
          <p:cNvSpPr txBox="1"/>
          <p:nvPr/>
        </p:nvSpPr>
        <p:spPr>
          <a:xfrm>
            <a:off x="4773168" y="4078223"/>
            <a:ext cx="1737359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600" b="1" i="0">
                <a:solidFill>
                  <a:srgbClr val="FFFFFF"/>
                </a:solidFill>
                <a:latin typeface="Calibri"/>
              </a:rPr>
              <a:t>СОБІВАРТІСТЬ · 40′ КОНТЕЙНЕР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773168" y="4233672"/>
            <a:ext cx="173735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250" b="1" i="0">
                <a:solidFill>
                  <a:srgbClr val="FFFFFF"/>
                </a:solidFill>
                <a:latin typeface="Cambria"/>
              </a:rPr>
              <a:t>$0,620  ·  27,90 ₴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6784848" y="932688"/>
            <a:ext cx="1993391" cy="3657600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 w="9525">
            <a:solidFill>
              <a:srgbClr val="E2E6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5" name="Rounded Rectangle 44"/>
          <p:cNvSpPr/>
          <p:nvPr/>
        </p:nvSpPr>
        <p:spPr>
          <a:xfrm>
            <a:off x="6867144" y="1014984"/>
            <a:ext cx="1828799" cy="1261872"/>
          </a:xfrm>
          <a:prstGeom prst="roundRect">
            <a:avLst>
              <a:gd name="adj" fmla="val 6000"/>
            </a:avLst>
          </a:prstGeom>
          <a:solidFill>
            <a:srgbClr val="F7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46" name="Picture 45" descr="tmk_sw_squi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349490" y="1069848"/>
            <a:ext cx="864108" cy="1152144"/>
          </a:xfrm>
          <a:prstGeom prst="rect">
            <a:avLst/>
          </a:prstGeom>
        </p:spPr>
      </p:pic>
      <p:sp>
        <p:nvSpPr>
          <p:cNvPr id="47" name="Rounded Rectangle 46"/>
          <p:cNvSpPr/>
          <p:nvPr/>
        </p:nvSpPr>
        <p:spPr>
          <a:xfrm>
            <a:off x="6912864" y="2359152"/>
            <a:ext cx="954633" cy="201168"/>
          </a:xfrm>
          <a:prstGeom prst="roundRect">
            <a:avLst>
              <a:gd name="adj" fmla="val 50000"/>
            </a:avLst>
          </a:prstGeom>
          <a:solidFill>
            <a:srgbClr val="F8E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8" name="TextBox 47"/>
          <p:cNvSpPr txBox="1"/>
          <p:nvPr/>
        </p:nvSpPr>
        <p:spPr>
          <a:xfrm>
            <a:off x="6912864" y="2359152"/>
            <a:ext cx="954633" cy="20116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650" b="1" i="0">
                <a:solidFill>
                  <a:srgbClr val="C1512A"/>
                </a:solidFill>
                <a:latin typeface="Calibri"/>
              </a:rPr>
              <a:t>12 Г · ПАКЕТ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912864" y="2633472"/>
            <a:ext cx="1737359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8000"/>
              </a:lnSpc>
            </a:pPr>
            <a:r>
              <a:rPr sz="1100" b="1" i="0">
                <a:solidFill>
                  <a:srgbClr val="1C2A2F"/>
                </a:solidFill>
                <a:latin typeface="Cambria"/>
              </a:rPr>
              <a:t>Wow SEAWEED
Squid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912864" y="3072384"/>
            <a:ext cx="1737359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750" b="0" i="0">
                <a:solidFill>
                  <a:srgbClr val="64757B"/>
                </a:solidFill>
                <a:latin typeface="Calibri"/>
              </a:rPr>
              <a:t>Смажена норі зі смаком кальмара. Найвужча ніша лінійки, працює у спеціалізованій рознице.</a:t>
            </a:r>
          </a:p>
        </p:txBody>
      </p:sp>
      <p:sp>
        <p:nvSpPr>
          <p:cNvPr id="51" name="Rectangle 50"/>
          <p:cNvSpPr/>
          <p:nvPr/>
        </p:nvSpPr>
        <p:spPr>
          <a:xfrm>
            <a:off x="6912864" y="3767328"/>
            <a:ext cx="1737359" cy="9144"/>
          </a:xfrm>
          <a:prstGeom prst="rect">
            <a:avLst/>
          </a:prstGeom>
          <a:solidFill>
            <a:srgbClr val="E2E6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2" name="TextBox 51"/>
          <p:cNvSpPr txBox="1"/>
          <p:nvPr/>
        </p:nvSpPr>
        <p:spPr>
          <a:xfrm>
            <a:off x="6912864" y="3831335"/>
            <a:ext cx="1737359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00" b="0" i="0">
                <a:solidFill>
                  <a:srgbClr val="1C2A2F"/>
                </a:solidFill>
                <a:latin typeface="Calibri"/>
              </a:rPr>
              <a:t>36 пак./карт. · FOB $0,449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6912864" y="4023359"/>
            <a:ext cx="1737359" cy="475488"/>
          </a:xfrm>
          <a:prstGeom prst="roundRect">
            <a:avLst>
              <a:gd name="adj" fmla="val 12000"/>
            </a:avLst>
          </a:prstGeom>
          <a:solidFill>
            <a:srgbClr val="C15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4" name="TextBox 53"/>
          <p:cNvSpPr txBox="1"/>
          <p:nvPr/>
        </p:nvSpPr>
        <p:spPr>
          <a:xfrm>
            <a:off x="6912864" y="4078223"/>
            <a:ext cx="1737359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600" b="1" i="0">
                <a:solidFill>
                  <a:srgbClr val="FFFFFF"/>
                </a:solidFill>
                <a:latin typeface="Calibri"/>
              </a:rPr>
              <a:t>СОБІВАРТІСТЬ · 40′ КОНТЕЙНЕР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6912864" y="4233672"/>
            <a:ext cx="173735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250" b="1" i="0">
                <a:solidFill>
                  <a:srgbClr val="FFFFFF"/>
                </a:solidFill>
                <a:latin typeface="Cambria"/>
              </a:rPr>
              <a:t>$0,620  ·  28,52 ₴</a:t>
            </a:r>
          </a:p>
        </p:txBody>
      </p:sp>
      <p:sp>
        <p:nvSpPr>
          <p:cNvPr id="56" name="Rectangle 55"/>
          <p:cNvSpPr/>
          <p:nvPr/>
        </p:nvSpPr>
        <p:spPr>
          <a:xfrm>
            <a:off x="365760" y="4869180"/>
            <a:ext cx="8412480" cy="9144"/>
          </a:xfrm>
          <a:prstGeom prst="rect">
            <a:avLst/>
          </a:prstGeom>
          <a:solidFill>
            <a:srgbClr val="E2E6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7" name="TextBox 56"/>
          <p:cNvSpPr txBox="1"/>
          <p:nvPr/>
        </p:nvSpPr>
        <p:spPr>
          <a:xfrm>
            <a:off x="365760" y="4914900"/>
            <a:ext cx="78638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64757B"/>
                </a:solidFill>
                <a:latin typeface="Calibri"/>
              </a:rPr>
              <a:t>Собівартість наведено за 1 пакетик (inner pack), а не за коробку: Wow ROLL — 2,5 г, Double Roll — 5 г.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8229600" y="4914900"/>
            <a:ext cx="5486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750" b="1" i="0">
                <a:solidFill>
                  <a:srgbClr val="64757B"/>
                </a:solidFill>
                <a:latin typeface="Calibri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1423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ectangle 3"/>
          <p:cNvSpPr/>
          <p:nvPr/>
        </p:nvSpPr>
        <p:spPr>
          <a:xfrm>
            <a:off x="365760" y="617219"/>
            <a:ext cx="1737360" cy="41148"/>
          </a:xfrm>
          <a:prstGeom prst="rect">
            <a:avLst/>
          </a:prstGeom>
          <a:solidFill>
            <a:srgbClr val="C15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365760" y="91440"/>
            <a:ext cx="6400799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50" b="1" i="0">
                <a:solidFill>
                  <a:srgbClr val="D9A441"/>
                </a:solidFill>
                <a:latin typeface="Calibri"/>
              </a:rPr>
              <a:t>КАРТКИ ТОВАРІВ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256032"/>
            <a:ext cx="640079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 i="0">
                <a:solidFill>
                  <a:srgbClr val="FFFFFF"/>
                </a:solidFill>
                <a:latin typeface="Cambria"/>
              </a:rPr>
              <a:t>TMK · KOKIRI — продукти · 3/3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0" y="219456"/>
            <a:ext cx="237744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1" i="0">
                <a:solidFill>
                  <a:srgbClr val="FFFFFF"/>
                </a:solidFill>
                <a:latin typeface="Calibri"/>
              </a:rPr>
              <a:t>KOKIRI Wow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65760" y="932688"/>
            <a:ext cx="1993391" cy="3657600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 w="9525">
            <a:solidFill>
              <a:srgbClr val="E2E6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448056" y="1014984"/>
            <a:ext cx="1828799" cy="1261872"/>
          </a:xfrm>
          <a:prstGeom prst="roundRect">
            <a:avLst>
              <a:gd name="adj" fmla="val 6000"/>
            </a:avLst>
          </a:prstGeom>
          <a:solidFill>
            <a:srgbClr val="F7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0" name="Picture 9" descr="tmk_mini_ori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6871" y="1069848"/>
            <a:ext cx="731168" cy="1152144"/>
          </a:xfrm>
          <a:prstGeom prst="rect">
            <a:avLst/>
          </a:prstGeom>
        </p:spPr>
      </p:pic>
      <p:sp>
        <p:nvSpPr>
          <p:cNvPr id="11" name="Rounded Rectangle 10"/>
          <p:cNvSpPr/>
          <p:nvPr/>
        </p:nvSpPr>
        <p:spPr>
          <a:xfrm>
            <a:off x="493776" y="2359152"/>
            <a:ext cx="954633" cy="201168"/>
          </a:xfrm>
          <a:prstGeom prst="roundRect">
            <a:avLst>
              <a:gd name="adj" fmla="val 50000"/>
            </a:avLst>
          </a:prstGeom>
          <a:solidFill>
            <a:srgbClr val="F8E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493776" y="2359152"/>
            <a:ext cx="954633" cy="20116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650" b="1" i="0">
                <a:solidFill>
                  <a:srgbClr val="C1512A"/>
                </a:solidFill>
                <a:latin typeface="Calibri"/>
              </a:rPr>
              <a:t>10 Г · ПАКЕТ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93776" y="2633472"/>
            <a:ext cx="1737359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8000"/>
              </a:lnSpc>
            </a:pPr>
            <a:r>
              <a:rPr sz="1100" b="1" i="0">
                <a:solidFill>
                  <a:srgbClr val="1C2A2F"/>
                </a:solidFill>
                <a:latin typeface="Cambria"/>
              </a:rPr>
              <a:t>Wow MINI
Original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93776" y="3072384"/>
            <a:ext cx="1737359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750" b="0" i="0">
                <a:solidFill>
                  <a:srgbClr val="64757B"/>
                </a:solidFill>
                <a:latin typeface="Calibri"/>
              </a:rPr>
              <a:t>Міні-формат смаженої норі для імпульсної покупки біля каси. Термін придатності 12 місяців.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93776" y="3767328"/>
            <a:ext cx="1737359" cy="9144"/>
          </a:xfrm>
          <a:prstGeom prst="rect">
            <a:avLst/>
          </a:prstGeom>
          <a:solidFill>
            <a:srgbClr val="E2E6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493776" y="3831335"/>
            <a:ext cx="1737359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00" b="0" i="0">
                <a:solidFill>
                  <a:srgbClr val="1C2A2F"/>
                </a:solidFill>
                <a:latin typeface="Calibri"/>
              </a:rPr>
              <a:t>36 пак./карт. · FOB $0,446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93776" y="4023359"/>
            <a:ext cx="1737359" cy="475488"/>
          </a:xfrm>
          <a:prstGeom prst="roundRect">
            <a:avLst>
              <a:gd name="adj" fmla="val 12000"/>
            </a:avLst>
          </a:prstGeom>
          <a:solidFill>
            <a:srgbClr val="C15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493776" y="4078223"/>
            <a:ext cx="1737359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600" b="1" i="0">
                <a:solidFill>
                  <a:srgbClr val="FFFFFF"/>
                </a:solidFill>
                <a:latin typeface="Calibri"/>
              </a:rPr>
              <a:t>СОБІВАРТІСТЬ · 40′ КОНТЕЙНЕР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93776" y="4233672"/>
            <a:ext cx="173735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250" b="1" i="0">
                <a:solidFill>
                  <a:srgbClr val="FFFFFF"/>
                </a:solidFill>
                <a:latin typeface="Cambria"/>
              </a:rPr>
              <a:t>$0,624  ·  28,10 ₴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2505456" y="932688"/>
            <a:ext cx="1993391" cy="3657600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 w="9525">
            <a:solidFill>
              <a:srgbClr val="E2E6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2587751" y="1014984"/>
            <a:ext cx="1828799" cy="1261872"/>
          </a:xfrm>
          <a:prstGeom prst="roundRect">
            <a:avLst>
              <a:gd name="adj" fmla="val 6000"/>
            </a:avLst>
          </a:prstGeom>
          <a:solidFill>
            <a:srgbClr val="F7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22" name="Picture 21" descr="tmk_mini_spic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55390" y="1069848"/>
            <a:ext cx="693523" cy="1152144"/>
          </a:xfrm>
          <a:prstGeom prst="rect">
            <a:avLst/>
          </a:prstGeom>
        </p:spPr>
      </p:pic>
      <p:sp>
        <p:nvSpPr>
          <p:cNvPr id="23" name="Rounded Rectangle 22"/>
          <p:cNvSpPr/>
          <p:nvPr/>
        </p:nvSpPr>
        <p:spPr>
          <a:xfrm>
            <a:off x="2633472" y="2359152"/>
            <a:ext cx="954633" cy="201168"/>
          </a:xfrm>
          <a:prstGeom prst="roundRect">
            <a:avLst>
              <a:gd name="adj" fmla="val 50000"/>
            </a:avLst>
          </a:prstGeom>
          <a:solidFill>
            <a:srgbClr val="F8E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TextBox 23"/>
          <p:cNvSpPr txBox="1"/>
          <p:nvPr/>
        </p:nvSpPr>
        <p:spPr>
          <a:xfrm>
            <a:off x="2633472" y="2359152"/>
            <a:ext cx="954633" cy="20116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650" b="1" i="0">
                <a:solidFill>
                  <a:srgbClr val="C1512A"/>
                </a:solidFill>
                <a:latin typeface="Calibri"/>
              </a:rPr>
              <a:t>10 Г · ПАКЕТ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633472" y="2633472"/>
            <a:ext cx="1737359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8000"/>
              </a:lnSpc>
            </a:pPr>
            <a:r>
              <a:rPr sz="1100" b="1" i="0">
                <a:solidFill>
                  <a:srgbClr val="1C2A2F"/>
                </a:solidFill>
                <a:latin typeface="Cambria"/>
              </a:rPr>
              <a:t>Wow MINI
Hot Spicy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633472" y="3072384"/>
            <a:ext cx="1737359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750" b="0" i="0">
                <a:solidFill>
                  <a:srgbClr val="64757B"/>
                </a:solidFill>
                <a:latin typeface="Calibri"/>
              </a:rPr>
              <a:t>Гострий міні-формат норі. Пара до Original для викладки у прикасовій зоні.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2633472" y="3767328"/>
            <a:ext cx="1737359" cy="9144"/>
          </a:xfrm>
          <a:prstGeom prst="rect">
            <a:avLst/>
          </a:prstGeom>
          <a:solidFill>
            <a:srgbClr val="E2E6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TextBox 27"/>
          <p:cNvSpPr txBox="1"/>
          <p:nvPr/>
        </p:nvSpPr>
        <p:spPr>
          <a:xfrm>
            <a:off x="2633472" y="3831335"/>
            <a:ext cx="1737359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00" b="0" i="0">
                <a:solidFill>
                  <a:srgbClr val="1C2A2F"/>
                </a:solidFill>
                <a:latin typeface="Calibri"/>
              </a:rPr>
              <a:t>36 пак./карт. · FOB $0,446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2633472" y="4023359"/>
            <a:ext cx="1737359" cy="475488"/>
          </a:xfrm>
          <a:prstGeom prst="roundRect">
            <a:avLst>
              <a:gd name="adj" fmla="val 12000"/>
            </a:avLst>
          </a:prstGeom>
          <a:solidFill>
            <a:srgbClr val="C15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2633472" y="4078223"/>
            <a:ext cx="1737359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600" b="1" i="0">
                <a:solidFill>
                  <a:srgbClr val="FFFFFF"/>
                </a:solidFill>
                <a:latin typeface="Calibri"/>
              </a:rPr>
              <a:t>СОБІВАРТІСТЬ · 40′ КОНТЕЙНЕР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633472" y="4233672"/>
            <a:ext cx="173735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250" b="1" i="0">
                <a:solidFill>
                  <a:srgbClr val="FFFFFF"/>
                </a:solidFill>
                <a:latin typeface="Cambria"/>
              </a:rPr>
              <a:t>$0,624  ·  28,10 ₴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4645152" y="932688"/>
            <a:ext cx="4133087" cy="3657600"/>
          </a:xfrm>
          <a:prstGeom prst="roundRect">
            <a:avLst>
              <a:gd name="adj" fmla="val 7500"/>
            </a:avLst>
          </a:prstGeom>
          <a:solidFill>
            <a:srgbClr val="F7F4EE"/>
          </a:solidFill>
          <a:ln w="9525">
            <a:solidFill>
              <a:srgbClr val="E2E6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Rectangle 32"/>
          <p:cNvSpPr/>
          <p:nvPr/>
        </p:nvSpPr>
        <p:spPr>
          <a:xfrm>
            <a:off x="4645152" y="932688"/>
            <a:ext cx="45720" cy="3657600"/>
          </a:xfrm>
          <a:prstGeom prst="rect">
            <a:avLst/>
          </a:prstGeom>
          <a:solidFill>
            <a:srgbClr val="0E5C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TextBox 33"/>
          <p:cNvSpPr txBox="1"/>
          <p:nvPr/>
        </p:nvSpPr>
        <p:spPr>
          <a:xfrm>
            <a:off x="4901184" y="1170432"/>
            <a:ext cx="3621023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1" i="0">
                <a:solidFill>
                  <a:srgbClr val="C1512A"/>
                </a:solidFill>
                <a:latin typeface="Calibri"/>
              </a:rPr>
              <a:t>ПІДСУМОК ЛІНІЙКИ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901184" y="1408176"/>
            <a:ext cx="3621023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1" i="0">
                <a:solidFill>
                  <a:srgbClr val="1C2A2F"/>
                </a:solidFill>
                <a:latin typeface="Cambria"/>
              </a:rPr>
              <a:t>TMK · KOKIRI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4901184" y="2011680"/>
            <a:ext cx="82296" cy="82296"/>
          </a:xfrm>
          <a:prstGeom prst="roundRect">
            <a:avLst>
              <a:gd name="adj" fmla="val 50000"/>
            </a:avLst>
          </a:prstGeom>
          <a:solidFill>
            <a:srgbClr val="C15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7" name="TextBox 36"/>
          <p:cNvSpPr txBox="1"/>
          <p:nvPr/>
        </p:nvSpPr>
        <p:spPr>
          <a:xfrm>
            <a:off x="5065776" y="1938528"/>
            <a:ext cx="3438144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C1512A"/>
                </a:solidFill>
                <a:latin typeface="Cambria"/>
              </a:rPr>
              <a:t>10 SKU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065776" y="2176272"/>
            <a:ext cx="3438144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750" b="0" i="0">
                <a:solidFill>
                  <a:srgbClr val="64757B"/>
                </a:solidFill>
                <a:latin typeface="Calibri"/>
              </a:rPr>
              <a:t>позицій із розрахованою собівартістю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4901184" y="2688336"/>
            <a:ext cx="82296" cy="82296"/>
          </a:xfrm>
          <a:prstGeom prst="roundRect">
            <a:avLst>
              <a:gd name="adj" fmla="val 50000"/>
            </a:avLst>
          </a:prstGeom>
          <a:solidFill>
            <a:srgbClr val="C15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0" name="TextBox 39"/>
          <p:cNvSpPr txBox="1"/>
          <p:nvPr/>
        </p:nvSpPr>
        <p:spPr>
          <a:xfrm>
            <a:off x="5065776" y="2615184"/>
            <a:ext cx="3438144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C1512A"/>
                </a:solidFill>
                <a:latin typeface="Cambria"/>
              </a:rPr>
              <a:t>7,61 – 28,52 ₴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065776" y="2852928"/>
            <a:ext cx="3438144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750" b="0" i="0">
                <a:solidFill>
                  <a:srgbClr val="64757B"/>
                </a:solidFill>
                <a:latin typeface="Calibri"/>
              </a:rPr>
              <a:t>розкид собівартості за сценарієм 40′ контейнер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4901184" y="3364992"/>
            <a:ext cx="82296" cy="82296"/>
          </a:xfrm>
          <a:prstGeom prst="roundRect">
            <a:avLst>
              <a:gd name="adj" fmla="val 50000"/>
            </a:avLst>
          </a:prstGeom>
          <a:solidFill>
            <a:srgbClr val="C15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3" name="TextBox 42"/>
          <p:cNvSpPr txBox="1"/>
          <p:nvPr/>
        </p:nvSpPr>
        <p:spPr>
          <a:xfrm>
            <a:off x="5065776" y="3291840"/>
            <a:ext cx="3438144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C1512A"/>
                </a:solidFill>
                <a:latin typeface="Cambria"/>
              </a:rPr>
              <a:t>7,61 ₴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065776" y="3529584"/>
            <a:ext cx="3438144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750" b="0" i="0">
                <a:solidFill>
                  <a:srgbClr val="64757B"/>
                </a:solidFill>
                <a:latin typeface="Calibri"/>
              </a:rPr>
              <a:t>найдешевша позиція — Wow ROLL Original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901184" y="3931920"/>
            <a:ext cx="3621023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800" b="0" i="0">
                <a:solidFill>
                  <a:srgbClr val="1C2A2F"/>
                </a:solidFill>
                <a:latin typeface="Calibri"/>
              </a:rPr>
              <a:t>Повна таблиця собівартості за чотирма сценаріями логістики — на наступному слайді.</a:t>
            </a:r>
          </a:p>
        </p:txBody>
      </p:sp>
      <p:sp>
        <p:nvSpPr>
          <p:cNvPr id="46" name="Rectangle 45"/>
          <p:cNvSpPr/>
          <p:nvPr/>
        </p:nvSpPr>
        <p:spPr>
          <a:xfrm>
            <a:off x="365760" y="4869180"/>
            <a:ext cx="8412480" cy="9144"/>
          </a:xfrm>
          <a:prstGeom prst="rect">
            <a:avLst/>
          </a:prstGeom>
          <a:solidFill>
            <a:srgbClr val="E2E6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7" name="TextBox 46"/>
          <p:cNvSpPr txBox="1"/>
          <p:nvPr/>
        </p:nvSpPr>
        <p:spPr>
          <a:xfrm>
            <a:off x="365760" y="4914900"/>
            <a:ext cx="78638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64757B"/>
                </a:solidFill>
                <a:latin typeface="Calibri"/>
              </a:rPr>
              <a:t>Собівартість наведено за 1 пакетик (inner pack), а не за коробку: Wow ROLL — 2,5 г, Double Roll — 5 г.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229600" y="4914900"/>
            <a:ext cx="5486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750" b="1" i="0">
                <a:solidFill>
                  <a:srgbClr val="64757B"/>
                </a:solidFill>
                <a:latin typeface="Calibri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1423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ectangle 3"/>
          <p:cNvSpPr/>
          <p:nvPr/>
        </p:nvSpPr>
        <p:spPr>
          <a:xfrm>
            <a:off x="365760" y="617219"/>
            <a:ext cx="1737360" cy="41148"/>
          </a:xfrm>
          <a:prstGeom prst="rect">
            <a:avLst/>
          </a:prstGeom>
          <a:solidFill>
            <a:srgbClr val="C15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365760" y="91440"/>
            <a:ext cx="6400799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50" b="1" i="0">
                <a:solidFill>
                  <a:srgbClr val="D9A441"/>
                </a:solidFill>
                <a:latin typeface="Calibri"/>
              </a:rPr>
              <a:t>ПОВНА ТАБЛИЦЯ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256032"/>
            <a:ext cx="640079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 i="0">
                <a:solidFill>
                  <a:srgbClr val="FFFFFF"/>
                </a:solidFill>
                <a:latin typeface="Cambria"/>
              </a:rPr>
              <a:t>TMK · KOKIRI — собівартість за сценаріями · 1/2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0" y="219456"/>
            <a:ext cx="237744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1" i="0">
                <a:solidFill>
                  <a:srgbClr val="FFFFFF"/>
                </a:solidFill>
                <a:latin typeface="Calibri"/>
              </a:rPr>
              <a:t>KOKIRI Wow</a:t>
            </a:r>
          </a:p>
        </p:txBody>
      </p:sp>
      <p:sp>
        <p:nvSpPr>
          <p:cNvPr id="8" name="Rectangle 7"/>
          <p:cNvSpPr/>
          <p:nvPr/>
        </p:nvSpPr>
        <p:spPr>
          <a:xfrm>
            <a:off x="365760" y="969264"/>
            <a:ext cx="8266176" cy="475488"/>
          </a:xfrm>
          <a:prstGeom prst="rect">
            <a:avLst/>
          </a:prstGeom>
          <a:solidFill>
            <a:srgbClr val="1423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475488" y="969264"/>
            <a:ext cx="2907791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800" b="1" i="0">
                <a:solidFill>
                  <a:srgbClr val="FFFFFF"/>
                </a:solidFill>
                <a:latin typeface="Calibri"/>
              </a:rPr>
              <a:t>Продукт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383279" y="969264"/>
            <a:ext cx="713232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800" b="1" i="0">
                <a:solidFill>
                  <a:srgbClr val="FFFFFF"/>
                </a:solidFill>
                <a:latin typeface="Calibri"/>
              </a:rPr>
              <a:t>FOB $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096511" y="969264"/>
            <a:ext cx="1133856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800" b="1" i="0">
                <a:solidFill>
                  <a:srgbClr val="FFFFFF"/>
                </a:solidFill>
                <a:latin typeface="Calibri"/>
              </a:rPr>
              <a:t>20′ контейнер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230368" y="969264"/>
            <a:ext cx="1133856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800" b="1" i="0">
                <a:solidFill>
                  <a:srgbClr val="FFFFFF"/>
                </a:solidFill>
                <a:latin typeface="Calibri"/>
              </a:rPr>
              <a:t>40′ контейнер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230368" y="969264"/>
            <a:ext cx="1133856" cy="41148"/>
          </a:xfrm>
          <a:prstGeom prst="rect">
            <a:avLst/>
          </a:prstGeom>
          <a:solidFill>
            <a:srgbClr val="D9A4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6364224" y="969264"/>
            <a:ext cx="1133856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800" b="1" i="0">
                <a:solidFill>
                  <a:srgbClr val="FFFFFF"/>
                </a:solidFill>
                <a:latin typeface="Calibri"/>
              </a:rPr>
              <a:t>Збірний 17 м³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498079" y="969264"/>
            <a:ext cx="1133856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800" b="1" i="0">
                <a:solidFill>
                  <a:srgbClr val="FFFFFF"/>
                </a:solidFill>
                <a:latin typeface="Calibri"/>
              </a:rPr>
              <a:t>Збірний 34 м³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65760" y="1444752"/>
            <a:ext cx="8266176" cy="274320"/>
          </a:xfrm>
          <a:prstGeom prst="rect">
            <a:avLst/>
          </a:prstGeom>
          <a:solidFill>
            <a:srgbClr val="F7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ectangle 16"/>
          <p:cNvSpPr/>
          <p:nvPr/>
        </p:nvSpPr>
        <p:spPr>
          <a:xfrm>
            <a:off x="5230368" y="1444752"/>
            <a:ext cx="1133856" cy="274320"/>
          </a:xfrm>
          <a:prstGeom prst="rect">
            <a:avLst/>
          </a:prstGeom>
          <a:solidFill>
            <a:srgbClr val="E4EF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475488" y="1444752"/>
            <a:ext cx="2834639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1" i="0">
                <a:solidFill>
                  <a:srgbClr val="1C2A2F"/>
                </a:solidFill>
                <a:latin typeface="Calibri"/>
              </a:rPr>
              <a:t>Wow ROLL Original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383279" y="1444752"/>
            <a:ext cx="713232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750" b="0" i="0">
                <a:solidFill>
                  <a:srgbClr val="64757B"/>
                </a:solidFill>
                <a:latin typeface="Calibri"/>
              </a:rPr>
              <a:t>$0,122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096511" y="1444752"/>
            <a:ext cx="1133856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1" i="0">
                <a:solidFill>
                  <a:srgbClr val="1C2A2F"/>
                </a:solidFill>
                <a:latin typeface="Calibri"/>
              </a:rPr>
              <a:t>$0,238</a:t>
            </a:r>
          </a:p>
          <a:p>
            <a:pPr algn="ctr">
              <a:lnSpc>
                <a:spcPct val="100000"/>
              </a:lnSpc>
              <a:spcBef>
                <a:spcPts val="0"/>
              </a:spcBef>
            </a:pPr>
            <a:r>
              <a:rPr sz="700" b="0" i="0">
                <a:solidFill>
                  <a:srgbClr val="64757B"/>
                </a:solidFill>
                <a:latin typeface="Calibri"/>
              </a:rPr>
              <a:t>10,72 ₴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230368" y="1444752"/>
            <a:ext cx="1133856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1" i="0">
                <a:solidFill>
                  <a:srgbClr val="C1512A"/>
                </a:solidFill>
                <a:latin typeface="Calibri"/>
              </a:rPr>
              <a:t>$0,169</a:t>
            </a:r>
          </a:p>
          <a:p>
            <a:pPr algn="ctr">
              <a:lnSpc>
                <a:spcPct val="100000"/>
              </a:lnSpc>
              <a:spcBef>
                <a:spcPts val="0"/>
              </a:spcBef>
            </a:pPr>
            <a:r>
              <a:rPr sz="700" b="0" i="0">
                <a:solidFill>
                  <a:srgbClr val="64757B"/>
                </a:solidFill>
                <a:latin typeface="Calibri"/>
              </a:rPr>
              <a:t>7,61 ₴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64224" y="1444752"/>
            <a:ext cx="1133856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1" i="0">
                <a:solidFill>
                  <a:srgbClr val="1C2A2F"/>
                </a:solidFill>
                <a:latin typeface="Calibri"/>
              </a:rPr>
              <a:t>$0,345</a:t>
            </a:r>
          </a:p>
          <a:p>
            <a:pPr algn="ctr">
              <a:lnSpc>
                <a:spcPct val="100000"/>
              </a:lnSpc>
              <a:spcBef>
                <a:spcPts val="0"/>
              </a:spcBef>
            </a:pPr>
            <a:r>
              <a:rPr sz="700" b="0" i="0">
                <a:solidFill>
                  <a:srgbClr val="64757B"/>
                </a:solidFill>
                <a:latin typeface="Calibri"/>
              </a:rPr>
              <a:t>15,55 ₴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498079" y="1444752"/>
            <a:ext cx="1133856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1" i="0">
                <a:solidFill>
                  <a:srgbClr val="1C2A2F"/>
                </a:solidFill>
                <a:latin typeface="Calibri"/>
              </a:rPr>
              <a:t>$0,235</a:t>
            </a:r>
          </a:p>
          <a:p>
            <a:pPr algn="ctr">
              <a:lnSpc>
                <a:spcPct val="100000"/>
              </a:lnSpc>
              <a:spcBef>
                <a:spcPts val="0"/>
              </a:spcBef>
            </a:pPr>
            <a:r>
              <a:rPr sz="700" b="0" i="0">
                <a:solidFill>
                  <a:srgbClr val="64757B"/>
                </a:solidFill>
                <a:latin typeface="Calibri"/>
              </a:rPr>
              <a:t>10,59 ₴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230368" y="1719072"/>
            <a:ext cx="1133856" cy="274320"/>
          </a:xfrm>
          <a:prstGeom prst="rect">
            <a:avLst/>
          </a:prstGeom>
          <a:solidFill>
            <a:srgbClr val="E4EF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475488" y="1719072"/>
            <a:ext cx="2834639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1" i="0">
                <a:solidFill>
                  <a:srgbClr val="1C2A2F"/>
                </a:solidFill>
                <a:latin typeface="Calibri"/>
              </a:rPr>
              <a:t>Wow ROLL Hot Spicy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383279" y="1719072"/>
            <a:ext cx="713232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750" b="0" i="0">
                <a:solidFill>
                  <a:srgbClr val="64757B"/>
                </a:solidFill>
                <a:latin typeface="Calibri"/>
              </a:rPr>
              <a:t>$0,122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096511" y="1719072"/>
            <a:ext cx="1133856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1" i="0">
                <a:solidFill>
                  <a:srgbClr val="1C2A2F"/>
                </a:solidFill>
                <a:latin typeface="Calibri"/>
              </a:rPr>
              <a:t>$0,238</a:t>
            </a:r>
          </a:p>
          <a:p>
            <a:pPr algn="ctr">
              <a:lnSpc>
                <a:spcPct val="100000"/>
              </a:lnSpc>
              <a:spcBef>
                <a:spcPts val="0"/>
              </a:spcBef>
            </a:pPr>
            <a:r>
              <a:rPr sz="700" b="0" i="0">
                <a:solidFill>
                  <a:srgbClr val="64757B"/>
                </a:solidFill>
                <a:latin typeface="Calibri"/>
              </a:rPr>
              <a:t>10,72 ₴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230368" y="1719072"/>
            <a:ext cx="1133856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1" i="0">
                <a:solidFill>
                  <a:srgbClr val="C1512A"/>
                </a:solidFill>
                <a:latin typeface="Calibri"/>
              </a:rPr>
              <a:t>$0,169</a:t>
            </a:r>
          </a:p>
          <a:p>
            <a:pPr algn="ctr">
              <a:lnSpc>
                <a:spcPct val="100000"/>
              </a:lnSpc>
              <a:spcBef>
                <a:spcPts val="0"/>
              </a:spcBef>
            </a:pPr>
            <a:r>
              <a:rPr sz="700" b="0" i="0">
                <a:solidFill>
                  <a:srgbClr val="64757B"/>
                </a:solidFill>
                <a:latin typeface="Calibri"/>
              </a:rPr>
              <a:t>7,61 ₴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364224" y="1719072"/>
            <a:ext cx="1133856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1" i="0">
                <a:solidFill>
                  <a:srgbClr val="1C2A2F"/>
                </a:solidFill>
                <a:latin typeface="Calibri"/>
              </a:rPr>
              <a:t>$0,345</a:t>
            </a:r>
          </a:p>
          <a:p>
            <a:pPr algn="ctr">
              <a:lnSpc>
                <a:spcPct val="100000"/>
              </a:lnSpc>
              <a:spcBef>
                <a:spcPts val="0"/>
              </a:spcBef>
            </a:pPr>
            <a:r>
              <a:rPr sz="700" b="0" i="0">
                <a:solidFill>
                  <a:srgbClr val="64757B"/>
                </a:solidFill>
                <a:latin typeface="Calibri"/>
              </a:rPr>
              <a:t>15,55 ₴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498079" y="1719072"/>
            <a:ext cx="1133856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1" i="0">
                <a:solidFill>
                  <a:srgbClr val="1C2A2F"/>
                </a:solidFill>
                <a:latin typeface="Calibri"/>
              </a:rPr>
              <a:t>$0,235</a:t>
            </a:r>
          </a:p>
          <a:p>
            <a:pPr algn="ctr">
              <a:lnSpc>
                <a:spcPct val="100000"/>
              </a:lnSpc>
              <a:spcBef>
                <a:spcPts val="0"/>
              </a:spcBef>
            </a:pPr>
            <a:r>
              <a:rPr sz="700" b="0" i="0">
                <a:solidFill>
                  <a:srgbClr val="64757B"/>
                </a:solidFill>
                <a:latin typeface="Calibri"/>
              </a:rPr>
              <a:t>10,59 ₴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65760" y="1993392"/>
            <a:ext cx="8266176" cy="274320"/>
          </a:xfrm>
          <a:prstGeom prst="rect">
            <a:avLst/>
          </a:prstGeom>
          <a:solidFill>
            <a:srgbClr val="F7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2" name="Rectangle 31"/>
          <p:cNvSpPr/>
          <p:nvPr/>
        </p:nvSpPr>
        <p:spPr>
          <a:xfrm>
            <a:off x="5230368" y="1993392"/>
            <a:ext cx="1133856" cy="274320"/>
          </a:xfrm>
          <a:prstGeom prst="rect">
            <a:avLst/>
          </a:prstGeom>
          <a:solidFill>
            <a:srgbClr val="E4EF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TextBox 32"/>
          <p:cNvSpPr txBox="1"/>
          <p:nvPr/>
        </p:nvSpPr>
        <p:spPr>
          <a:xfrm>
            <a:off x="475488" y="1993392"/>
            <a:ext cx="2834639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1" i="0">
                <a:solidFill>
                  <a:srgbClr val="1C2A2F"/>
                </a:solidFill>
                <a:latin typeface="Calibri"/>
              </a:rPr>
              <a:t>Wow ROLL Spicy Squid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383279" y="1993392"/>
            <a:ext cx="713232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750" b="0" i="0">
                <a:solidFill>
                  <a:srgbClr val="64757B"/>
                </a:solidFill>
                <a:latin typeface="Calibri"/>
              </a:rPr>
              <a:t>$0,122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096511" y="1993392"/>
            <a:ext cx="1133856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1" i="0">
                <a:solidFill>
                  <a:srgbClr val="1C2A2F"/>
                </a:solidFill>
                <a:latin typeface="Calibri"/>
              </a:rPr>
              <a:t>$0,238</a:t>
            </a:r>
          </a:p>
          <a:p>
            <a:pPr algn="ctr">
              <a:lnSpc>
                <a:spcPct val="100000"/>
              </a:lnSpc>
              <a:spcBef>
                <a:spcPts val="0"/>
              </a:spcBef>
            </a:pPr>
            <a:r>
              <a:rPr sz="700" b="0" i="0">
                <a:solidFill>
                  <a:srgbClr val="64757B"/>
                </a:solidFill>
                <a:latin typeface="Calibri"/>
              </a:rPr>
              <a:t>10,72 ₴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230368" y="1993392"/>
            <a:ext cx="1133856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1" i="0">
                <a:solidFill>
                  <a:srgbClr val="C1512A"/>
                </a:solidFill>
                <a:latin typeface="Calibri"/>
              </a:rPr>
              <a:t>$0,169</a:t>
            </a:r>
          </a:p>
          <a:p>
            <a:pPr algn="ctr">
              <a:lnSpc>
                <a:spcPct val="100000"/>
              </a:lnSpc>
              <a:spcBef>
                <a:spcPts val="0"/>
              </a:spcBef>
            </a:pPr>
            <a:r>
              <a:rPr sz="700" b="0" i="0">
                <a:solidFill>
                  <a:srgbClr val="64757B"/>
                </a:solidFill>
                <a:latin typeface="Calibri"/>
              </a:rPr>
              <a:t>7,61 ₴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364224" y="1993392"/>
            <a:ext cx="1133856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1" i="0">
                <a:solidFill>
                  <a:srgbClr val="1C2A2F"/>
                </a:solidFill>
                <a:latin typeface="Calibri"/>
              </a:rPr>
              <a:t>$0,345</a:t>
            </a:r>
          </a:p>
          <a:p>
            <a:pPr algn="ctr">
              <a:lnSpc>
                <a:spcPct val="100000"/>
              </a:lnSpc>
              <a:spcBef>
                <a:spcPts val="0"/>
              </a:spcBef>
            </a:pPr>
            <a:r>
              <a:rPr sz="700" b="0" i="0">
                <a:solidFill>
                  <a:srgbClr val="64757B"/>
                </a:solidFill>
                <a:latin typeface="Calibri"/>
              </a:rPr>
              <a:t>15,55 ₴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498079" y="1993392"/>
            <a:ext cx="1133856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1" i="0">
                <a:solidFill>
                  <a:srgbClr val="1C2A2F"/>
                </a:solidFill>
                <a:latin typeface="Calibri"/>
              </a:rPr>
              <a:t>$0,235</a:t>
            </a:r>
          </a:p>
          <a:p>
            <a:pPr algn="ctr">
              <a:lnSpc>
                <a:spcPct val="100000"/>
              </a:lnSpc>
              <a:spcBef>
                <a:spcPts val="0"/>
              </a:spcBef>
            </a:pPr>
            <a:r>
              <a:rPr sz="700" b="0" i="0">
                <a:solidFill>
                  <a:srgbClr val="64757B"/>
                </a:solidFill>
                <a:latin typeface="Calibri"/>
              </a:rPr>
              <a:t>10,59 ₴</a:t>
            </a:r>
          </a:p>
        </p:txBody>
      </p:sp>
      <p:sp>
        <p:nvSpPr>
          <p:cNvPr id="39" name="Rectangle 38"/>
          <p:cNvSpPr/>
          <p:nvPr/>
        </p:nvSpPr>
        <p:spPr>
          <a:xfrm>
            <a:off x="5230368" y="2267712"/>
            <a:ext cx="1133856" cy="274320"/>
          </a:xfrm>
          <a:prstGeom prst="rect">
            <a:avLst/>
          </a:prstGeom>
          <a:solidFill>
            <a:srgbClr val="E4EF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0" name="TextBox 39"/>
          <p:cNvSpPr txBox="1"/>
          <p:nvPr/>
        </p:nvSpPr>
        <p:spPr>
          <a:xfrm>
            <a:off x="475488" y="2267712"/>
            <a:ext cx="2834639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1" i="0">
                <a:solidFill>
                  <a:srgbClr val="1C2A2F"/>
                </a:solidFill>
                <a:latin typeface="Calibri"/>
              </a:rPr>
              <a:t>Wow DOUBLE ROLL Original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383279" y="2267712"/>
            <a:ext cx="713232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750" b="0" i="0">
                <a:solidFill>
                  <a:srgbClr val="64757B"/>
                </a:solidFill>
                <a:latin typeface="Calibri"/>
              </a:rPr>
              <a:t>$0,218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096511" y="2267712"/>
            <a:ext cx="1133856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1" i="0">
                <a:solidFill>
                  <a:srgbClr val="1C2A2F"/>
                </a:solidFill>
                <a:latin typeface="Calibri"/>
              </a:rPr>
              <a:t>$0,426</a:t>
            </a:r>
          </a:p>
          <a:p>
            <a:pPr algn="ctr">
              <a:lnSpc>
                <a:spcPct val="100000"/>
              </a:lnSpc>
              <a:spcBef>
                <a:spcPts val="0"/>
              </a:spcBef>
            </a:pPr>
            <a:r>
              <a:rPr sz="700" b="0" i="0">
                <a:solidFill>
                  <a:srgbClr val="64757B"/>
                </a:solidFill>
                <a:latin typeface="Calibri"/>
              </a:rPr>
              <a:t>19,15 ₴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230368" y="2267712"/>
            <a:ext cx="1133856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1" i="0">
                <a:solidFill>
                  <a:srgbClr val="C1512A"/>
                </a:solidFill>
                <a:latin typeface="Calibri"/>
              </a:rPr>
              <a:t>$0,303</a:t>
            </a:r>
          </a:p>
          <a:p>
            <a:pPr algn="ctr">
              <a:lnSpc>
                <a:spcPct val="100000"/>
              </a:lnSpc>
              <a:spcBef>
                <a:spcPts val="0"/>
              </a:spcBef>
            </a:pPr>
            <a:r>
              <a:rPr sz="700" b="0" i="0">
                <a:solidFill>
                  <a:srgbClr val="64757B"/>
                </a:solidFill>
                <a:latin typeface="Calibri"/>
              </a:rPr>
              <a:t>13,66 ₴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364224" y="2267712"/>
            <a:ext cx="1133856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1" i="0">
                <a:solidFill>
                  <a:srgbClr val="1C2A2F"/>
                </a:solidFill>
                <a:latin typeface="Calibri"/>
              </a:rPr>
              <a:t>$0,617</a:t>
            </a:r>
          </a:p>
          <a:p>
            <a:pPr algn="ctr">
              <a:lnSpc>
                <a:spcPct val="100000"/>
              </a:lnSpc>
              <a:spcBef>
                <a:spcPts val="0"/>
              </a:spcBef>
            </a:pPr>
            <a:r>
              <a:rPr sz="700" b="0" i="0">
                <a:solidFill>
                  <a:srgbClr val="64757B"/>
                </a:solidFill>
                <a:latin typeface="Calibri"/>
              </a:rPr>
              <a:t>27,78 ₴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498079" y="2267712"/>
            <a:ext cx="1133856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1" i="0">
                <a:solidFill>
                  <a:srgbClr val="1C2A2F"/>
                </a:solidFill>
                <a:latin typeface="Calibri"/>
              </a:rPr>
              <a:t>$0,420</a:t>
            </a:r>
          </a:p>
          <a:p>
            <a:pPr algn="ctr">
              <a:lnSpc>
                <a:spcPct val="100000"/>
              </a:lnSpc>
              <a:spcBef>
                <a:spcPts val="0"/>
              </a:spcBef>
            </a:pPr>
            <a:r>
              <a:rPr sz="700" b="0" i="0">
                <a:solidFill>
                  <a:srgbClr val="64757B"/>
                </a:solidFill>
                <a:latin typeface="Calibri"/>
              </a:rPr>
              <a:t>18,92 ₴</a:t>
            </a:r>
          </a:p>
        </p:txBody>
      </p:sp>
      <p:sp>
        <p:nvSpPr>
          <p:cNvPr id="46" name="Rectangle 45"/>
          <p:cNvSpPr/>
          <p:nvPr/>
        </p:nvSpPr>
        <p:spPr>
          <a:xfrm>
            <a:off x="365760" y="2542032"/>
            <a:ext cx="8266176" cy="274320"/>
          </a:xfrm>
          <a:prstGeom prst="rect">
            <a:avLst/>
          </a:prstGeom>
          <a:solidFill>
            <a:srgbClr val="F7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7" name="Rectangle 46"/>
          <p:cNvSpPr/>
          <p:nvPr/>
        </p:nvSpPr>
        <p:spPr>
          <a:xfrm>
            <a:off x="5230368" y="2542032"/>
            <a:ext cx="1133856" cy="274320"/>
          </a:xfrm>
          <a:prstGeom prst="rect">
            <a:avLst/>
          </a:prstGeom>
          <a:solidFill>
            <a:srgbClr val="E4EF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8" name="TextBox 47"/>
          <p:cNvSpPr txBox="1"/>
          <p:nvPr/>
        </p:nvSpPr>
        <p:spPr>
          <a:xfrm>
            <a:off x="475488" y="2542032"/>
            <a:ext cx="2834639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1" i="0">
                <a:solidFill>
                  <a:srgbClr val="1C2A2F"/>
                </a:solidFill>
                <a:latin typeface="Calibri"/>
              </a:rPr>
              <a:t>Wow DOUBLE ROLL Hot Spicy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3383279" y="2542032"/>
            <a:ext cx="713232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750" b="0" i="0">
                <a:solidFill>
                  <a:srgbClr val="64757B"/>
                </a:solidFill>
                <a:latin typeface="Calibri"/>
              </a:rPr>
              <a:t>$0,218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4096511" y="2542032"/>
            <a:ext cx="1133856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1" i="0">
                <a:solidFill>
                  <a:srgbClr val="1C2A2F"/>
                </a:solidFill>
                <a:latin typeface="Calibri"/>
              </a:rPr>
              <a:t>$0,426</a:t>
            </a:r>
          </a:p>
          <a:p>
            <a:pPr algn="ctr">
              <a:lnSpc>
                <a:spcPct val="100000"/>
              </a:lnSpc>
              <a:spcBef>
                <a:spcPts val="0"/>
              </a:spcBef>
            </a:pPr>
            <a:r>
              <a:rPr sz="700" b="0" i="0">
                <a:solidFill>
                  <a:srgbClr val="64757B"/>
                </a:solidFill>
                <a:latin typeface="Calibri"/>
              </a:rPr>
              <a:t>19,15 ₴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230368" y="2542032"/>
            <a:ext cx="1133856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1" i="0">
                <a:solidFill>
                  <a:srgbClr val="C1512A"/>
                </a:solidFill>
                <a:latin typeface="Calibri"/>
              </a:rPr>
              <a:t>$0,303</a:t>
            </a:r>
          </a:p>
          <a:p>
            <a:pPr algn="ctr">
              <a:lnSpc>
                <a:spcPct val="100000"/>
              </a:lnSpc>
              <a:spcBef>
                <a:spcPts val="0"/>
              </a:spcBef>
            </a:pPr>
            <a:r>
              <a:rPr sz="700" b="0" i="0">
                <a:solidFill>
                  <a:srgbClr val="64757B"/>
                </a:solidFill>
                <a:latin typeface="Calibri"/>
              </a:rPr>
              <a:t>13,66 ₴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364224" y="2542032"/>
            <a:ext cx="1133856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1" i="0">
                <a:solidFill>
                  <a:srgbClr val="1C2A2F"/>
                </a:solidFill>
                <a:latin typeface="Calibri"/>
              </a:rPr>
              <a:t>$0,617</a:t>
            </a:r>
          </a:p>
          <a:p>
            <a:pPr algn="ctr">
              <a:lnSpc>
                <a:spcPct val="100000"/>
              </a:lnSpc>
              <a:spcBef>
                <a:spcPts val="0"/>
              </a:spcBef>
            </a:pPr>
            <a:r>
              <a:rPr sz="700" b="0" i="0">
                <a:solidFill>
                  <a:srgbClr val="64757B"/>
                </a:solidFill>
                <a:latin typeface="Calibri"/>
              </a:rPr>
              <a:t>27,78 ₴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7498079" y="2542032"/>
            <a:ext cx="1133856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1" i="0">
                <a:solidFill>
                  <a:srgbClr val="1C2A2F"/>
                </a:solidFill>
                <a:latin typeface="Calibri"/>
              </a:rPr>
              <a:t>$0,420</a:t>
            </a:r>
          </a:p>
          <a:p>
            <a:pPr algn="ctr">
              <a:lnSpc>
                <a:spcPct val="100000"/>
              </a:lnSpc>
              <a:spcBef>
                <a:spcPts val="0"/>
              </a:spcBef>
            </a:pPr>
            <a:r>
              <a:rPr sz="700" b="0" i="0">
                <a:solidFill>
                  <a:srgbClr val="64757B"/>
                </a:solidFill>
                <a:latin typeface="Calibri"/>
              </a:rPr>
              <a:t>18,92 ₴</a:t>
            </a:r>
          </a:p>
        </p:txBody>
      </p:sp>
      <p:sp>
        <p:nvSpPr>
          <p:cNvPr id="54" name="Rectangle 53"/>
          <p:cNvSpPr/>
          <p:nvPr/>
        </p:nvSpPr>
        <p:spPr>
          <a:xfrm>
            <a:off x="5230368" y="2816351"/>
            <a:ext cx="1133856" cy="274320"/>
          </a:xfrm>
          <a:prstGeom prst="rect">
            <a:avLst/>
          </a:prstGeom>
          <a:solidFill>
            <a:srgbClr val="E4EF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5" name="TextBox 54"/>
          <p:cNvSpPr txBox="1"/>
          <p:nvPr/>
        </p:nvSpPr>
        <p:spPr>
          <a:xfrm>
            <a:off x="475488" y="2816351"/>
            <a:ext cx="2834639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1" i="0">
                <a:solidFill>
                  <a:srgbClr val="1C2A2F"/>
                </a:solidFill>
                <a:latin typeface="Calibri"/>
              </a:rPr>
              <a:t>Wow SEAWEED Original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3383279" y="2816351"/>
            <a:ext cx="713232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750" b="0" i="0">
                <a:solidFill>
                  <a:srgbClr val="64757B"/>
                </a:solidFill>
                <a:latin typeface="Calibri"/>
              </a:rPr>
              <a:t>$0,449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4096511" y="2816351"/>
            <a:ext cx="1133856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1" i="0">
                <a:solidFill>
                  <a:srgbClr val="1C2A2F"/>
                </a:solidFill>
                <a:latin typeface="Calibri"/>
              </a:rPr>
              <a:t>$0,877</a:t>
            </a:r>
          </a:p>
          <a:p>
            <a:pPr algn="ctr">
              <a:lnSpc>
                <a:spcPct val="100000"/>
              </a:lnSpc>
              <a:spcBef>
                <a:spcPts val="0"/>
              </a:spcBef>
            </a:pPr>
            <a:r>
              <a:rPr sz="700" b="0" i="0">
                <a:solidFill>
                  <a:srgbClr val="64757B"/>
                </a:solidFill>
                <a:latin typeface="Calibri"/>
              </a:rPr>
              <a:t>39,45 ₴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5230368" y="2816351"/>
            <a:ext cx="1133856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1" i="0">
                <a:solidFill>
                  <a:srgbClr val="C1512A"/>
                </a:solidFill>
                <a:latin typeface="Calibri"/>
              </a:rPr>
              <a:t>$0,620</a:t>
            </a:r>
          </a:p>
          <a:p>
            <a:pPr algn="ctr">
              <a:lnSpc>
                <a:spcPct val="100000"/>
              </a:lnSpc>
              <a:spcBef>
                <a:spcPts val="0"/>
              </a:spcBef>
            </a:pPr>
            <a:r>
              <a:rPr sz="700" b="0" i="0">
                <a:solidFill>
                  <a:srgbClr val="64757B"/>
                </a:solidFill>
                <a:latin typeface="Calibri"/>
              </a:rPr>
              <a:t>27,90 ₴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6364224" y="2816351"/>
            <a:ext cx="1133856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1" i="0">
                <a:solidFill>
                  <a:srgbClr val="1C2A2F"/>
                </a:solidFill>
                <a:latin typeface="Calibri"/>
              </a:rPr>
              <a:t>$1,272</a:t>
            </a:r>
          </a:p>
          <a:p>
            <a:pPr algn="ctr">
              <a:lnSpc>
                <a:spcPct val="100000"/>
              </a:lnSpc>
              <a:spcBef>
                <a:spcPts val="0"/>
              </a:spcBef>
            </a:pPr>
            <a:r>
              <a:rPr sz="700" b="0" i="0">
                <a:solidFill>
                  <a:srgbClr val="64757B"/>
                </a:solidFill>
                <a:latin typeface="Calibri"/>
              </a:rPr>
              <a:t>57,22 ₴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7498079" y="2816351"/>
            <a:ext cx="1133856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1" i="0">
                <a:solidFill>
                  <a:srgbClr val="1C2A2F"/>
                </a:solidFill>
                <a:latin typeface="Calibri"/>
              </a:rPr>
              <a:t>$0,866</a:t>
            </a:r>
          </a:p>
          <a:p>
            <a:pPr algn="ctr">
              <a:lnSpc>
                <a:spcPct val="100000"/>
              </a:lnSpc>
              <a:spcBef>
                <a:spcPts val="0"/>
              </a:spcBef>
            </a:pPr>
            <a:r>
              <a:rPr sz="700" b="0" i="0">
                <a:solidFill>
                  <a:srgbClr val="64757B"/>
                </a:solidFill>
                <a:latin typeface="Calibri"/>
              </a:rPr>
              <a:t>38,97 ₴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3090671"/>
            <a:ext cx="8266176" cy="274320"/>
          </a:xfrm>
          <a:prstGeom prst="rect">
            <a:avLst/>
          </a:prstGeom>
          <a:solidFill>
            <a:srgbClr val="F7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2" name="Rectangle 61"/>
          <p:cNvSpPr/>
          <p:nvPr/>
        </p:nvSpPr>
        <p:spPr>
          <a:xfrm>
            <a:off x="5230368" y="3090671"/>
            <a:ext cx="1133856" cy="274320"/>
          </a:xfrm>
          <a:prstGeom prst="rect">
            <a:avLst/>
          </a:prstGeom>
          <a:solidFill>
            <a:srgbClr val="E4EF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3" name="TextBox 62"/>
          <p:cNvSpPr txBox="1"/>
          <p:nvPr/>
        </p:nvSpPr>
        <p:spPr>
          <a:xfrm>
            <a:off x="475488" y="3090671"/>
            <a:ext cx="2834639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1" i="0">
                <a:solidFill>
                  <a:srgbClr val="1C2A2F"/>
                </a:solidFill>
                <a:latin typeface="Calibri"/>
              </a:rPr>
              <a:t>Wow SEAWEED Spicy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3383279" y="3090671"/>
            <a:ext cx="713232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750" b="0" i="0">
                <a:solidFill>
                  <a:srgbClr val="64757B"/>
                </a:solidFill>
                <a:latin typeface="Calibri"/>
              </a:rPr>
              <a:t>$0,449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4096511" y="3090671"/>
            <a:ext cx="1133856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1" i="0">
                <a:solidFill>
                  <a:srgbClr val="1C2A2F"/>
                </a:solidFill>
                <a:latin typeface="Calibri"/>
              </a:rPr>
              <a:t>$0,877</a:t>
            </a:r>
          </a:p>
          <a:p>
            <a:pPr algn="ctr">
              <a:lnSpc>
                <a:spcPct val="100000"/>
              </a:lnSpc>
              <a:spcBef>
                <a:spcPts val="0"/>
              </a:spcBef>
            </a:pPr>
            <a:r>
              <a:rPr sz="700" b="0" i="0">
                <a:solidFill>
                  <a:srgbClr val="64757B"/>
                </a:solidFill>
                <a:latin typeface="Calibri"/>
              </a:rPr>
              <a:t>39,45 ₴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5230368" y="3090671"/>
            <a:ext cx="1133856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1" i="0">
                <a:solidFill>
                  <a:srgbClr val="C1512A"/>
                </a:solidFill>
                <a:latin typeface="Calibri"/>
              </a:rPr>
              <a:t>$0,620</a:t>
            </a:r>
          </a:p>
          <a:p>
            <a:pPr algn="ctr">
              <a:lnSpc>
                <a:spcPct val="100000"/>
              </a:lnSpc>
              <a:spcBef>
                <a:spcPts val="0"/>
              </a:spcBef>
            </a:pPr>
            <a:r>
              <a:rPr sz="700" b="0" i="0">
                <a:solidFill>
                  <a:srgbClr val="64757B"/>
                </a:solidFill>
                <a:latin typeface="Calibri"/>
              </a:rPr>
              <a:t>27,90 ₴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6364224" y="3090671"/>
            <a:ext cx="1133856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1" i="0">
                <a:solidFill>
                  <a:srgbClr val="1C2A2F"/>
                </a:solidFill>
                <a:latin typeface="Calibri"/>
              </a:rPr>
              <a:t>$1,272</a:t>
            </a:r>
          </a:p>
          <a:p>
            <a:pPr algn="ctr">
              <a:lnSpc>
                <a:spcPct val="100000"/>
              </a:lnSpc>
              <a:spcBef>
                <a:spcPts val="0"/>
              </a:spcBef>
            </a:pPr>
            <a:r>
              <a:rPr sz="700" b="0" i="0">
                <a:solidFill>
                  <a:srgbClr val="64757B"/>
                </a:solidFill>
                <a:latin typeface="Calibri"/>
              </a:rPr>
              <a:t>57,22 ₴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7498079" y="3090671"/>
            <a:ext cx="1133856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1" i="0">
                <a:solidFill>
                  <a:srgbClr val="1C2A2F"/>
                </a:solidFill>
                <a:latin typeface="Calibri"/>
              </a:rPr>
              <a:t>$0,866</a:t>
            </a:r>
          </a:p>
          <a:p>
            <a:pPr algn="ctr">
              <a:lnSpc>
                <a:spcPct val="100000"/>
              </a:lnSpc>
              <a:spcBef>
                <a:spcPts val="0"/>
              </a:spcBef>
            </a:pPr>
            <a:r>
              <a:rPr sz="700" b="0" i="0">
                <a:solidFill>
                  <a:srgbClr val="64757B"/>
                </a:solidFill>
                <a:latin typeface="Calibri"/>
              </a:rPr>
              <a:t>38,97 ₴</a:t>
            </a:r>
          </a:p>
        </p:txBody>
      </p:sp>
      <p:sp>
        <p:nvSpPr>
          <p:cNvPr id="69" name="Rectangle 68"/>
          <p:cNvSpPr/>
          <p:nvPr/>
        </p:nvSpPr>
        <p:spPr>
          <a:xfrm>
            <a:off x="5230368" y="3364991"/>
            <a:ext cx="1133856" cy="274320"/>
          </a:xfrm>
          <a:prstGeom prst="rect">
            <a:avLst/>
          </a:prstGeom>
          <a:solidFill>
            <a:srgbClr val="E4EF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0" name="TextBox 69"/>
          <p:cNvSpPr txBox="1"/>
          <p:nvPr/>
        </p:nvSpPr>
        <p:spPr>
          <a:xfrm>
            <a:off x="475488" y="3364991"/>
            <a:ext cx="2834639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1" i="0">
                <a:solidFill>
                  <a:srgbClr val="1C2A2F"/>
                </a:solidFill>
                <a:latin typeface="Calibri"/>
              </a:rPr>
              <a:t>Wow SEAWEED Squid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3383279" y="3364991"/>
            <a:ext cx="713232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750" b="0" i="0">
                <a:solidFill>
                  <a:srgbClr val="64757B"/>
                </a:solidFill>
                <a:latin typeface="Calibri"/>
              </a:rPr>
              <a:t>$0,449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4096511" y="3364991"/>
            <a:ext cx="1133856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1" i="0">
                <a:solidFill>
                  <a:srgbClr val="1C2A2F"/>
                </a:solidFill>
                <a:latin typeface="Calibri"/>
              </a:rPr>
              <a:t>$0,877</a:t>
            </a:r>
          </a:p>
          <a:p>
            <a:pPr algn="ctr">
              <a:lnSpc>
                <a:spcPct val="100000"/>
              </a:lnSpc>
              <a:spcBef>
                <a:spcPts val="0"/>
              </a:spcBef>
            </a:pPr>
            <a:r>
              <a:rPr sz="700" b="0" i="0">
                <a:solidFill>
                  <a:srgbClr val="64757B"/>
                </a:solidFill>
                <a:latin typeface="Calibri"/>
              </a:rPr>
              <a:t>40,33 ₴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5230368" y="3364991"/>
            <a:ext cx="1133856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1" i="0">
                <a:solidFill>
                  <a:srgbClr val="C1512A"/>
                </a:solidFill>
                <a:latin typeface="Calibri"/>
              </a:rPr>
              <a:t>$0,620</a:t>
            </a:r>
          </a:p>
          <a:p>
            <a:pPr algn="ctr">
              <a:lnSpc>
                <a:spcPct val="100000"/>
              </a:lnSpc>
              <a:spcBef>
                <a:spcPts val="0"/>
              </a:spcBef>
            </a:pPr>
            <a:r>
              <a:rPr sz="700" b="0" i="0">
                <a:solidFill>
                  <a:srgbClr val="64757B"/>
                </a:solidFill>
                <a:latin typeface="Calibri"/>
              </a:rPr>
              <a:t>28,52 ₴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6364224" y="3364991"/>
            <a:ext cx="1133856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1" i="0">
                <a:solidFill>
                  <a:srgbClr val="1C2A2F"/>
                </a:solidFill>
                <a:latin typeface="Calibri"/>
              </a:rPr>
              <a:t>$1,272</a:t>
            </a:r>
          </a:p>
          <a:p>
            <a:pPr algn="ctr">
              <a:lnSpc>
                <a:spcPct val="100000"/>
              </a:lnSpc>
              <a:spcBef>
                <a:spcPts val="0"/>
              </a:spcBef>
            </a:pPr>
            <a:r>
              <a:rPr sz="700" b="0" i="0">
                <a:solidFill>
                  <a:srgbClr val="64757B"/>
                </a:solidFill>
                <a:latin typeface="Calibri"/>
              </a:rPr>
              <a:t>58,50 ₴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7498079" y="3364991"/>
            <a:ext cx="1133856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1" i="0">
                <a:solidFill>
                  <a:srgbClr val="1C2A2F"/>
                </a:solidFill>
                <a:latin typeface="Calibri"/>
              </a:rPr>
              <a:t>$0,866</a:t>
            </a:r>
          </a:p>
          <a:p>
            <a:pPr algn="ctr">
              <a:lnSpc>
                <a:spcPct val="100000"/>
              </a:lnSpc>
              <a:spcBef>
                <a:spcPts val="0"/>
              </a:spcBef>
            </a:pPr>
            <a:r>
              <a:rPr sz="700" b="0" i="0">
                <a:solidFill>
                  <a:srgbClr val="64757B"/>
                </a:solidFill>
                <a:latin typeface="Calibri"/>
              </a:rPr>
              <a:t>39,84 ₴</a:t>
            </a:r>
          </a:p>
        </p:txBody>
      </p:sp>
      <p:sp>
        <p:nvSpPr>
          <p:cNvPr id="76" name="Rectangle 75"/>
          <p:cNvSpPr/>
          <p:nvPr/>
        </p:nvSpPr>
        <p:spPr>
          <a:xfrm>
            <a:off x="365760" y="3639311"/>
            <a:ext cx="8266176" cy="10972"/>
          </a:xfrm>
          <a:prstGeom prst="rect">
            <a:avLst/>
          </a:prstGeom>
          <a:solidFill>
            <a:srgbClr val="E2E6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7" name="TextBox 76"/>
          <p:cNvSpPr txBox="1"/>
          <p:nvPr/>
        </p:nvSpPr>
        <p:spPr>
          <a:xfrm>
            <a:off x="365760" y="3767327"/>
            <a:ext cx="84124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750" b="0" i="0">
                <a:solidFill>
                  <a:srgbClr val="64757B"/>
                </a:solidFill>
                <a:latin typeface="Calibri"/>
              </a:rPr>
              <a:t>Виділена колонка — 40′ контейнер: саме ці цифри показані на картках товарів. Курс у розрахунку — 45–49 ₴ за $ залежно від позиції.</a:t>
            </a:r>
          </a:p>
        </p:txBody>
      </p:sp>
      <p:sp>
        <p:nvSpPr>
          <p:cNvPr id="78" name="Rectangle 77"/>
          <p:cNvSpPr/>
          <p:nvPr/>
        </p:nvSpPr>
        <p:spPr>
          <a:xfrm>
            <a:off x="365760" y="4869180"/>
            <a:ext cx="8412480" cy="9144"/>
          </a:xfrm>
          <a:prstGeom prst="rect">
            <a:avLst/>
          </a:prstGeom>
          <a:solidFill>
            <a:srgbClr val="E2E6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9" name="TextBox 78"/>
          <p:cNvSpPr txBox="1"/>
          <p:nvPr/>
        </p:nvSpPr>
        <p:spPr>
          <a:xfrm>
            <a:off x="365760" y="4914900"/>
            <a:ext cx="78638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64757B"/>
                </a:solidFill>
                <a:latin typeface="Calibri"/>
              </a:rPr>
              <a:t>Джерело: SelfCost.xlsx, вкладка «TMK Thailand Co., Ltd -Retail».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229600" y="4914900"/>
            <a:ext cx="5486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750" b="1" i="0">
                <a:solidFill>
                  <a:srgbClr val="64757B"/>
                </a:solidFill>
                <a:latin typeface="Calibri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1423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ectangle 3"/>
          <p:cNvSpPr/>
          <p:nvPr/>
        </p:nvSpPr>
        <p:spPr>
          <a:xfrm>
            <a:off x="365760" y="617219"/>
            <a:ext cx="1737360" cy="41148"/>
          </a:xfrm>
          <a:prstGeom prst="rect">
            <a:avLst/>
          </a:prstGeom>
          <a:solidFill>
            <a:srgbClr val="C15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365760" y="91440"/>
            <a:ext cx="6400799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50" b="1" i="0">
                <a:solidFill>
                  <a:srgbClr val="D9A441"/>
                </a:solidFill>
                <a:latin typeface="Calibri"/>
              </a:rPr>
              <a:t>ПОВНА ТАБЛИЦЯ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256032"/>
            <a:ext cx="640079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 i="0">
                <a:solidFill>
                  <a:srgbClr val="FFFFFF"/>
                </a:solidFill>
                <a:latin typeface="Cambria"/>
              </a:rPr>
              <a:t>TMK · KOKIRI — собівартість за сценаріями · 2/2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0" y="219456"/>
            <a:ext cx="237744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1" i="0">
                <a:solidFill>
                  <a:srgbClr val="FFFFFF"/>
                </a:solidFill>
                <a:latin typeface="Calibri"/>
              </a:rPr>
              <a:t>KOKIRI Wow</a:t>
            </a:r>
          </a:p>
        </p:txBody>
      </p:sp>
      <p:sp>
        <p:nvSpPr>
          <p:cNvPr id="8" name="Rectangle 7"/>
          <p:cNvSpPr/>
          <p:nvPr/>
        </p:nvSpPr>
        <p:spPr>
          <a:xfrm>
            <a:off x="365760" y="969264"/>
            <a:ext cx="8266176" cy="475488"/>
          </a:xfrm>
          <a:prstGeom prst="rect">
            <a:avLst/>
          </a:prstGeom>
          <a:solidFill>
            <a:srgbClr val="1423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475488" y="969264"/>
            <a:ext cx="2907791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800" b="1" i="0">
                <a:solidFill>
                  <a:srgbClr val="FFFFFF"/>
                </a:solidFill>
                <a:latin typeface="Calibri"/>
              </a:rPr>
              <a:t>Продукт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383279" y="969264"/>
            <a:ext cx="713232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800" b="1" i="0">
                <a:solidFill>
                  <a:srgbClr val="FFFFFF"/>
                </a:solidFill>
                <a:latin typeface="Calibri"/>
              </a:rPr>
              <a:t>FOB $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096511" y="969264"/>
            <a:ext cx="1133856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800" b="1" i="0">
                <a:solidFill>
                  <a:srgbClr val="FFFFFF"/>
                </a:solidFill>
                <a:latin typeface="Calibri"/>
              </a:rPr>
              <a:t>20′ контейнер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230368" y="969264"/>
            <a:ext cx="1133856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800" b="1" i="0">
                <a:solidFill>
                  <a:srgbClr val="FFFFFF"/>
                </a:solidFill>
                <a:latin typeface="Calibri"/>
              </a:rPr>
              <a:t>40′ контейнер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230368" y="969264"/>
            <a:ext cx="1133856" cy="41148"/>
          </a:xfrm>
          <a:prstGeom prst="rect">
            <a:avLst/>
          </a:prstGeom>
          <a:solidFill>
            <a:srgbClr val="D9A4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6364224" y="969264"/>
            <a:ext cx="1133856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800" b="1" i="0">
                <a:solidFill>
                  <a:srgbClr val="FFFFFF"/>
                </a:solidFill>
                <a:latin typeface="Calibri"/>
              </a:rPr>
              <a:t>Збірний 17 м³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498079" y="969264"/>
            <a:ext cx="1133856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800" b="1" i="0">
                <a:solidFill>
                  <a:srgbClr val="FFFFFF"/>
                </a:solidFill>
                <a:latin typeface="Calibri"/>
              </a:rPr>
              <a:t>Збірний 34 м³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65760" y="1444752"/>
            <a:ext cx="8266176" cy="475488"/>
          </a:xfrm>
          <a:prstGeom prst="rect">
            <a:avLst/>
          </a:prstGeom>
          <a:solidFill>
            <a:srgbClr val="F7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ectangle 16"/>
          <p:cNvSpPr/>
          <p:nvPr/>
        </p:nvSpPr>
        <p:spPr>
          <a:xfrm>
            <a:off x="5230368" y="1444752"/>
            <a:ext cx="1133856" cy="475488"/>
          </a:xfrm>
          <a:prstGeom prst="rect">
            <a:avLst/>
          </a:prstGeom>
          <a:solidFill>
            <a:srgbClr val="E4EF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475488" y="1444752"/>
            <a:ext cx="2834639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1" i="0">
                <a:solidFill>
                  <a:srgbClr val="1C2A2F"/>
                </a:solidFill>
                <a:latin typeface="Calibri"/>
              </a:rPr>
              <a:t>Wow MINI Original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383279" y="1444752"/>
            <a:ext cx="713232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750" b="0" i="0">
                <a:solidFill>
                  <a:srgbClr val="64757B"/>
                </a:solidFill>
                <a:latin typeface="Calibri"/>
              </a:rPr>
              <a:t>$0,446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096511" y="1444752"/>
            <a:ext cx="1133856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1" i="0">
                <a:solidFill>
                  <a:srgbClr val="1C2A2F"/>
                </a:solidFill>
                <a:latin typeface="Calibri"/>
              </a:rPr>
              <a:t>$0,871</a:t>
            </a:r>
          </a:p>
          <a:p>
            <a:pPr algn="ctr">
              <a:lnSpc>
                <a:spcPct val="100000"/>
              </a:lnSpc>
              <a:spcBef>
                <a:spcPts val="0"/>
              </a:spcBef>
            </a:pPr>
            <a:r>
              <a:rPr sz="700" b="0" i="0">
                <a:solidFill>
                  <a:srgbClr val="64757B"/>
                </a:solidFill>
                <a:latin typeface="Calibri"/>
              </a:rPr>
              <a:t>39,18 ₴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230368" y="1444752"/>
            <a:ext cx="1133856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1" i="0">
                <a:solidFill>
                  <a:srgbClr val="C1512A"/>
                </a:solidFill>
                <a:latin typeface="Calibri"/>
              </a:rPr>
              <a:t>$0,624</a:t>
            </a:r>
          </a:p>
          <a:p>
            <a:pPr algn="ctr">
              <a:lnSpc>
                <a:spcPct val="100000"/>
              </a:lnSpc>
              <a:spcBef>
                <a:spcPts val="0"/>
              </a:spcBef>
            </a:pPr>
            <a:r>
              <a:rPr sz="700" b="0" i="0">
                <a:solidFill>
                  <a:srgbClr val="64757B"/>
                </a:solidFill>
                <a:latin typeface="Calibri"/>
              </a:rPr>
              <a:t>28,10 ₴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64224" y="1444752"/>
            <a:ext cx="1133856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1" i="0">
                <a:solidFill>
                  <a:srgbClr val="1C2A2F"/>
                </a:solidFill>
                <a:latin typeface="Calibri"/>
              </a:rPr>
              <a:t>$1,263</a:t>
            </a:r>
          </a:p>
          <a:p>
            <a:pPr algn="ctr">
              <a:lnSpc>
                <a:spcPct val="100000"/>
              </a:lnSpc>
              <a:spcBef>
                <a:spcPts val="0"/>
              </a:spcBef>
            </a:pPr>
            <a:r>
              <a:rPr sz="700" b="0" i="0">
                <a:solidFill>
                  <a:srgbClr val="64757B"/>
                </a:solidFill>
                <a:latin typeface="Calibri"/>
              </a:rPr>
              <a:t>56,84 ₴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498079" y="1444752"/>
            <a:ext cx="1133856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1" i="0">
                <a:solidFill>
                  <a:srgbClr val="1C2A2F"/>
                </a:solidFill>
                <a:latin typeface="Calibri"/>
              </a:rPr>
              <a:t>$0,860</a:t>
            </a:r>
          </a:p>
          <a:p>
            <a:pPr algn="ctr">
              <a:lnSpc>
                <a:spcPct val="100000"/>
              </a:lnSpc>
              <a:spcBef>
                <a:spcPts val="0"/>
              </a:spcBef>
            </a:pPr>
            <a:r>
              <a:rPr sz="700" b="0" i="0">
                <a:solidFill>
                  <a:srgbClr val="64757B"/>
                </a:solidFill>
                <a:latin typeface="Calibri"/>
              </a:rPr>
              <a:t>38,71 ₴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230368" y="1920240"/>
            <a:ext cx="1133856" cy="475488"/>
          </a:xfrm>
          <a:prstGeom prst="rect">
            <a:avLst/>
          </a:prstGeom>
          <a:solidFill>
            <a:srgbClr val="E4EF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475488" y="1920240"/>
            <a:ext cx="2834639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1" i="0">
                <a:solidFill>
                  <a:srgbClr val="1C2A2F"/>
                </a:solidFill>
                <a:latin typeface="Calibri"/>
              </a:rPr>
              <a:t>Wow MINI Hot Spicy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383279" y="1920240"/>
            <a:ext cx="713232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750" b="0" i="0">
                <a:solidFill>
                  <a:srgbClr val="64757B"/>
                </a:solidFill>
                <a:latin typeface="Calibri"/>
              </a:rPr>
              <a:t>$0,446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096511" y="1920240"/>
            <a:ext cx="1133856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1" i="0">
                <a:solidFill>
                  <a:srgbClr val="1C2A2F"/>
                </a:solidFill>
                <a:latin typeface="Calibri"/>
              </a:rPr>
              <a:t>$0,871</a:t>
            </a:r>
          </a:p>
          <a:p>
            <a:pPr algn="ctr">
              <a:lnSpc>
                <a:spcPct val="100000"/>
              </a:lnSpc>
              <a:spcBef>
                <a:spcPts val="0"/>
              </a:spcBef>
            </a:pPr>
            <a:r>
              <a:rPr sz="700" b="0" i="0">
                <a:solidFill>
                  <a:srgbClr val="64757B"/>
                </a:solidFill>
                <a:latin typeface="Calibri"/>
              </a:rPr>
              <a:t>39,18 ₴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230368" y="1920240"/>
            <a:ext cx="1133856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1" i="0">
                <a:solidFill>
                  <a:srgbClr val="C1512A"/>
                </a:solidFill>
                <a:latin typeface="Calibri"/>
              </a:rPr>
              <a:t>$0,624</a:t>
            </a:r>
          </a:p>
          <a:p>
            <a:pPr algn="ctr">
              <a:lnSpc>
                <a:spcPct val="100000"/>
              </a:lnSpc>
              <a:spcBef>
                <a:spcPts val="0"/>
              </a:spcBef>
            </a:pPr>
            <a:r>
              <a:rPr sz="700" b="0" i="0">
                <a:solidFill>
                  <a:srgbClr val="64757B"/>
                </a:solidFill>
                <a:latin typeface="Calibri"/>
              </a:rPr>
              <a:t>28,10 ₴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364224" y="1920240"/>
            <a:ext cx="1133856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1" i="0">
                <a:solidFill>
                  <a:srgbClr val="1C2A2F"/>
                </a:solidFill>
                <a:latin typeface="Calibri"/>
              </a:rPr>
              <a:t>$1,263</a:t>
            </a:r>
          </a:p>
          <a:p>
            <a:pPr algn="ctr">
              <a:lnSpc>
                <a:spcPct val="100000"/>
              </a:lnSpc>
              <a:spcBef>
                <a:spcPts val="0"/>
              </a:spcBef>
            </a:pPr>
            <a:r>
              <a:rPr sz="700" b="0" i="0">
                <a:solidFill>
                  <a:srgbClr val="64757B"/>
                </a:solidFill>
                <a:latin typeface="Calibri"/>
              </a:rPr>
              <a:t>56,84 ₴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498079" y="1920240"/>
            <a:ext cx="1133856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1" i="0">
                <a:solidFill>
                  <a:srgbClr val="1C2A2F"/>
                </a:solidFill>
                <a:latin typeface="Calibri"/>
              </a:rPr>
              <a:t>$0,860</a:t>
            </a:r>
          </a:p>
          <a:p>
            <a:pPr algn="ctr">
              <a:lnSpc>
                <a:spcPct val="100000"/>
              </a:lnSpc>
              <a:spcBef>
                <a:spcPts val="0"/>
              </a:spcBef>
            </a:pPr>
            <a:r>
              <a:rPr sz="700" b="0" i="0">
                <a:solidFill>
                  <a:srgbClr val="64757B"/>
                </a:solidFill>
                <a:latin typeface="Calibri"/>
              </a:rPr>
              <a:t>38,71 ₴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65760" y="2395728"/>
            <a:ext cx="8266176" cy="10972"/>
          </a:xfrm>
          <a:prstGeom prst="rect">
            <a:avLst/>
          </a:prstGeom>
          <a:solidFill>
            <a:srgbClr val="E2E6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2" name="TextBox 31"/>
          <p:cNvSpPr txBox="1"/>
          <p:nvPr/>
        </p:nvSpPr>
        <p:spPr>
          <a:xfrm>
            <a:off x="365760" y="2523744"/>
            <a:ext cx="84124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750" b="0" i="0">
                <a:solidFill>
                  <a:srgbClr val="64757B"/>
                </a:solidFill>
                <a:latin typeface="Calibri"/>
              </a:rPr>
              <a:t>Виділена колонка — 40′ контейнер: саме ці цифри показані на картках товарів. Курс у розрахунку — 45–49 ₴ за $ залежно від позиції.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365760" y="2852928"/>
            <a:ext cx="8412480" cy="1225296"/>
          </a:xfrm>
          <a:prstGeom prst="roundRect">
            <a:avLst>
              <a:gd name="adj" fmla="val 9000"/>
            </a:avLst>
          </a:prstGeom>
          <a:solidFill>
            <a:srgbClr val="F7F4EE"/>
          </a:solidFill>
          <a:ln w="9525">
            <a:solidFill>
              <a:srgbClr val="E2E6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Rectangle 33"/>
          <p:cNvSpPr/>
          <p:nvPr/>
        </p:nvSpPr>
        <p:spPr>
          <a:xfrm>
            <a:off x="365760" y="2852928"/>
            <a:ext cx="45720" cy="1225296"/>
          </a:xfrm>
          <a:prstGeom prst="rect">
            <a:avLst/>
          </a:prstGeom>
          <a:solidFill>
            <a:srgbClr val="0E5C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5" name="TextBox 34"/>
          <p:cNvSpPr txBox="1"/>
          <p:nvPr/>
        </p:nvSpPr>
        <p:spPr>
          <a:xfrm>
            <a:off x="585216" y="2980944"/>
            <a:ext cx="36576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1" i="0">
                <a:solidFill>
                  <a:srgbClr val="C1512A"/>
                </a:solidFill>
                <a:latin typeface="Calibri"/>
              </a:rPr>
              <a:t>ЧИТАННЯ ПОРТФЕЛЯ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85216" y="3236976"/>
            <a:ext cx="178308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C1512A"/>
                </a:solidFill>
                <a:latin typeface="Cambria"/>
              </a:rPr>
              <a:t>7,61 – 28,52 ₴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85216" y="3529584"/>
            <a:ext cx="178308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00" b="0" i="0">
                <a:solidFill>
                  <a:srgbClr val="64757B"/>
                </a:solidFill>
                <a:latin typeface="Calibri"/>
              </a:rPr>
              <a:t>розкид собівартості
у портфелі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2468880" y="3236976"/>
            <a:ext cx="178308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C1512A"/>
                </a:solidFill>
                <a:latin typeface="Cambria"/>
              </a:rPr>
              <a:t>19,07 ₴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468880" y="3529584"/>
            <a:ext cx="178308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00" b="0" i="0">
                <a:solidFill>
                  <a:srgbClr val="64757B"/>
                </a:solidFill>
                <a:latin typeface="Calibri"/>
              </a:rPr>
              <a:t>середня собівартість
одиниці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352544" y="3236976"/>
            <a:ext cx="178308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C1512A"/>
                </a:solidFill>
                <a:latin typeface="Cambria"/>
              </a:rPr>
              <a:t>+104%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352544" y="3529584"/>
            <a:ext cx="178308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00" b="0" i="0">
                <a:solidFill>
                  <a:srgbClr val="64757B"/>
                </a:solidFill>
                <a:latin typeface="Calibri"/>
              </a:rPr>
              <a:t>надбавка збірного
вантажу 17 м³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327648" y="3218688"/>
            <a:ext cx="2267711" cy="7132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800" b="0" i="0">
                <a:solidFill>
                  <a:srgbClr val="1C2A2F"/>
                </a:solidFill>
                <a:latin typeface="Calibri"/>
              </a:rPr>
              <a:t>Перехід із 40′ контейнера на 20′ додає в середньому +41% до собівартості, а збірний вантаж 17 м³ — +104%. Для цього постачальника сценарій доставки важить більше, ніж різниця між його найдешевшою і найдорожчою позицією.</a:t>
            </a:r>
          </a:p>
        </p:txBody>
      </p:sp>
      <p:sp>
        <p:nvSpPr>
          <p:cNvPr id="43" name="Rectangle 42"/>
          <p:cNvSpPr/>
          <p:nvPr/>
        </p:nvSpPr>
        <p:spPr>
          <a:xfrm>
            <a:off x="365760" y="4869180"/>
            <a:ext cx="8412480" cy="9144"/>
          </a:xfrm>
          <a:prstGeom prst="rect">
            <a:avLst/>
          </a:prstGeom>
          <a:solidFill>
            <a:srgbClr val="E2E6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4" name="TextBox 43"/>
          <p:cNvSpPr txBox="1"/>
          <p:nvPr/>
        </p:nvSpPr>
        <p:spPr>
          <a:xfrm>
            <a:off x="365760" y="4914900"/>
            <a:ext cx="78638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64757B"/>
                </a:solidFill>
                <a:latin typeface="Calibri"/>
              </a:rPr>
              <a:t>Джерело: SelfCost.xlsx, вкладка «TMK Thailand Co., Ltd -Retail».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229600" y="4914900"/>
            <a:ext cx="5486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750" b="1" i="0">
                <a:solidFill>
                  <a:srgbClr val="64757B"/>
                </a:solidFill>
                <a:latin typeface="Calibri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1423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ectangle 3"/>
          <p:cNvSpPr/>
          <p:nvPr/>
        </p:nvSpPr>
        <p:spPr>
          <a:xfrm>
            <a:off x="365760" y="617219"/>
            <a:ext cx="1737360" cy="41148"/>
          </a:xfrm>
          <a:prstGeom prst="rect">
            <a:avLst/>
          </a:prstGeom>
          <a:solidFill>
            <a:srgbClr val="C15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365760" y="91440"/>
            <a:ext cx="6400799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50" b="1" i="0">
                <a:solidFill>
                  <a:srgbClr val="D9A441"/>
                </a:solidFill>
                <a:latin typeface="Calibri"/>
              </a:rPr>
              <a:t>ПРОФІЛЬ ПОСТАЧАЛЬНИКА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256032"/>
            <a:ext cx="640079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 i="0">
                <a:solidFill>
                  <a:srgbClr val="FFFFFF"/>
                </a:solidFill>
                <a:latin typeface="Cambria"/>
              </a:rPr>
              <a:t>HanJin Food Co. Ltd — бренд ZEK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0" y="219456"/>
            <a:ext cx="237744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1" i="0">
                <a:solidFill>
                  <a:srgbClr val="FFFFFF"/>
                </a:solidFill>
                <a:latin typeface="Calibri"/>
              </a:rPr>
              <a:t>ZEK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65760" y="932688"/>
            <a:ext cx="5029200" cy="1188720"/>
          </a:xfrm>
          <a:prstGeom prst="roundRect">
            <a:avLst>
              <a:gd name="adj" fmla="val 9000"/>
            </a:avLst>
          </a:prstGeom>
          <a:solidFill>
            <a:srgbClr val="F7F4EE"/>
          </a:solidFill>
          <a:ln w="9525">
            <a:solidFill>
              <a:srgbClr val="E2E6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ectangle 8"/>
          <p:cNvSpPr/>
          <p:nvPr/>
        </p:nvSpPr>
        <p:spPr>
          <a:xfrm>
            <a:off x="365760" y="932688"/>
            <a:ext cx="45720" cy="1188720"/>
          </a:xfrm>
          <a:prstGeom prst="rect">
            <a:avLst/>
          </a:prstGeom>
          <a:solidFill>
            <a:srgbClr val="0E5C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585216" y="1078992"/>
            <a:ext cx="45720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1" i="0">
                <a:solidFill>
                  <a:srgbClr val="C1512A"/>
                </a:solidFill>
                <a:latin typeface="Calibri"/>
              </a:rPr>
              <a:t>ПРО КОМПАНІЮ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85216" y="1316736"/>
            <a:ext cx="461772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900" b="0" i="0">
                <a:solidFill>
                  <a:srgbClr val="1C2A2F"/>
                </a:solidFill>
                <a:latin typeface="Calibri"/>
              </a:rPr>
              <a:t>Найбільший за глибиною розрахунку постачальник: 14 SKU з порахованою собівартістю у трьох продуктових напрямках — темпура, сендвіч і присипка з норі. Єдиний постачальник з відвантаженням із Циндао.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65760" y="2249424"/>
            <a:ext cx="1572768" cy="859536"/>
          </a:xfrm>
          <a:prstGeom prst="roundRect">
            <a:avLst>
              <a:gd name="adj" fmla="val 10000"/>
            </a:avLst>
          </a:prstGeom>
          <a:solidFill>
            <a:srgbClr val="F7F4EE"/>
          </a:solidFill>
          <a:ln w="9525">
            <a:solidFill>
              <a:srgbClr val="E2E6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ectangle 12"/>
          <p:cNvSpPr/>
          <p:nvPr/>
        </p:nvSpPr>
        <p:spPr>
          <a:xfrm>
            <a:off x="365760" y="2249424"/>
            <a:ext cx="41148" cy="859536"/>
          </a:xfrm>
          <a:prstGeom prst="rect">
            <a:avLst/>
          </a:prstGeom>
          <a:solidFill>
            <a:srgbClr val="0E5C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530352" y="2368296"/>
            <a:ext cx="1298448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1" i="0">
                <a:solidFill>
                  <a:srgbClr val="0E5C51"/>
                </a:solidFill>
                <a:latin typeface="Cambria"/>
              </a:rPr>
              <a:t>14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30352" y="2724912"/>
            <a:ext cx="1298448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750" b="0" i="0">
                <a:solidFill>
                  <a:srgbClr val="64757B"/>
                </a:solidFill>
                <a:latin typeface="Calibri"/>
              </a:rPr>
              <a:t>SKU з розрахованою
собівартістю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2093976" y="2249424"/>
            <a:ext cx="1572768" cy="859536"/>
          </a:xfrm>
          <a:prstGeom prst="roundRect">
            <a:avLst>
              <a:gd name="adj" fmla="val 10000"/>
            </a:avLst>
          </a:prstGeom>
          <a:solidFill>
            <a:srgbClr val="F7F4EE"/>
          </a:solidFill>
          <a:ln w="9525">
            <a:solidFill>
              <a:srgbClr val="E2E6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ectangle 16"/>
          <p:cNvSpPr/>
          <p:nvPr/>
        </p:nvSpPr>
        <p:spPr>
          <a:xfrm>
            <a:off x="2093976" y="2249424"/>
            <a:ext cx="41148" cy="859536"/>
          </a:xfrm>
          <a:prstGeom prst="rect">
            <a:avLst/>
          </a:prstGeom>
          <a:solidFill>
            <a:srgbClr val="0E5C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2258568" y="2368296"/>
            <a:ext cx="1298448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1" i="0">
                <a:solidFill>
                  <a:srgbClr val="0E5C51"/>
                </a:solidFill>
                <a:latin typeface="Cambria"/>
              </a:rPr>
              <a:t>35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258568" y="2724912"/>
            <a:ext cx="1298448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750" b="0" i="0">
                <a:solidFill>
                  <a:srgbClr val="64757B"/>
                </a:solidFill>
                <a:latin typeface="Calibri"/>
              </a:rPr>
              <a:t>позицій
у прайс-листі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822191" y="2249424"/>
            <a:ext cx="1572768" cy="859536"/>
          </a:xfrm>
          <a:prstGeom prst="roundRect">
            <a:avLst>
              <a:gd name="adj" fmla="val 10000"/>
            </a:avLst>
          </a:prstGeom>
          <a:solidFill>
            <a:srgbClr val="F7F4EE"/>
          </a:solidFill>
          <a:ln w="9525">
            <a:solidFill>
              <a:srgbClr val="E2E6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ectangle 20"/>
          <p:cNvSpPr/>
          <p:nvPr/>
        </p:nvSpPr>
        <p:spPr>
          <a:xfrm>
            <a:off x="3822191" y="2249424"/>
            <a:ext cx="41148" cy="859536"/>
          </a:xfrm>
          <a:prstGeom prst="rect">
            <a:avLst/>
          </a:prstGeom>
          <a:solidFill>
            <a:srgbClr val="0E5C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3986783" y="2368296"/>
            <a:ext cx="1298448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1" i="0">
                <a:solidFill>
                  <a:srgbClr val="0E5C51"/>
                </a:solidFill>
                <a:latin typeface="Cambria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986783" y="2724912"/>
            <a:ext cx="1298448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750" b="0" i="0">
                <a:solidFill>
                  <a:srgbClr val="64757B"/>
                </a:solidFill>
                <a:latin typeface="Calibri"/>
              </a:rPr>
              <a:t>продуктові
напрямки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65760" y="3255264"/>
            <a:ext cx="50292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1" i="0">
                <a:solidFill>
                  <a:srgbClr val="C1512A"/>
                </a:solidFill>
                <a:latin typeface="Calibri"/>
              </a:rPr>
              <a:t>КЛЮЧОВІ ПАРАМЕТРИ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65760" y="3511296"/>
            <a:ext cx="5029200" cy="214884"/>
          </a:xfrm>
          <a:prstGeom prst="rect">
            <a:avLst/>
          </a:prstGeom>
          <a:solidFill>
            <a:srgbClr val="F7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457200" y="3511296"/>
            <a:ext cx="2020824" cy="2148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0" i="0">
                <a:solidFill>
                  <a:srgbClr val="64757B"/>
                </a:solidFill>
                <a:latin typeface="Calibri"/>
              </a:rPr>
              <a:t>Країна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478024" y="3511296"/>
            <a:ext cx="2825496" cy="2148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1" i="0">
                <a:solidFill>
                  <a:srgbClr val="1C2A2F"/>
                </a:solidFill>
                <a:latin typeface="Calibri"/>
              </a:rPr>
              <a:t>Китай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" y="3726180"/>
            <a:ext cx="2020824" cy="2148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0" i="0">
                <a:solidFill>
                  <a:srgbClr val="64757B"/>
                </a:solidFill>
                <a:latin typeface="Calibri"/>
              </a:rPr>
              <a:t>Умови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478024" y="3726180"/>
            <a:ext cx="2825496" cy="2148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1" i="0">
                <a:solidFill>
                  <a:srgbClr val="1C2A2F"/>
                </a:solidFill>
                <a:latin typeface="Calibri"/>
              </a:rPr>
              <a:t>FOB Qingdao</a:t>
            </a:r>
          </a:p>
        </p:txBody>
      </p:sp>
      <p:sp>
        <p:nvSpPr>
          <p:cNvPr id="30" name="Rectangle 29"/>
          <p:cNvSpPr/>
          <p:nvPr/>
        </p:nvSpPr>
        <p:spPr>
          <a:xfrm>
            <a:off x="365760" y="3941063"/>
            <a:ext cx="5029200" cy="214884"/>
          </a:xfrm>
          <a:prstGeom prst="rect">
            <a:avLst/>
          </a:prstGeom>
          <a:solidFill>
            <a:srgbClr val="F7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1" name="TextBox 30"/>
          <p:cNvSpPr txBox="1"/>
          <p:nvPr/>
        </p:nvSpPr>
        <p:spPr>
          <a:xfrm>
            <a:off x="457200" y="3941063"/>
            <a:ext cx="2020824" cy="2148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0" i="0">
                <a:solidFill>
                  <a:srgbClr val="64757B"/>
                </a:solidFill>
                <a:latin typeface="Calibri"/>
              </a:rPr>
              <a:t>Напрямки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478024" y="3941063"/>
            <a:ext cx="2825496" cy="2148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1" i="0">
                <a:solidFill>
                  <a:srgbClr val="1C2A2F"/>
                </a:solidFill>
                <a:latin typeface="Calibri"/>
              </a:rPr>
              <a:t>Tempura · Sandwich · Topping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57200" y="4155948"/>
            <a:ext cx="2020824" cy="2148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0" i="0">
                <a:solidFill>
                  <a:srgbClr val="64757B"/>
                </a:solidFill>
                <a:latin typeface="Calibri"/>
              </a:rPr>
              <a:t>Фасовка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2478024" y="4155948"/>
            <a:ext cx="2825496" cy="2148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1" i="0">
                <a:solidFill>
                  <a:srgbClr val="1C2A2F"/>
                </a:solidFill>
                <a:latin typeface="Calibri"/>
              </a:rPr>
              <a:t>12 – 30 шт / картон</a:t>
            </a:r>
          </a:p>
        </p:txBody>
      </p:sp>
      <p:sp>
        <p:nvSpPr>
          <p:cNvPr id="35" name="Rectangle 34"/>
          <p:cNvSpPr/>
          <p:nvPr/>
        </p:nvSpPr>
        <p:spPr>
          <a:xfrm>
            <a:off x="365760" y="4370831"/>
            <a:ext cx="5029200" cy="214884"/>
          </a:xfrm>
          <a:prstGeom prst="rect">
            <a:avLst/>
          </a:prstGeom>
          <a:solidFill>
            <a:srgbClr val="F7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6" name="TextBox 35"/>
          <p:cNvSpPr txBox="1"/>
          <p:nvPr/>
        </p:nvSpPr>
        <p:spPr>
          <a:xfrm>
            <a:off x="457200" y="4370831"/>
            <a:ext cx="2020824" cy="2148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0" i="0">
                <a:solidFill>
                  <a:srgbClr val="64757B"/>
                </a:solidFill>
                <a:latin typeface="Calibri"/>
              </a:rPr>
              <a:t>Термін придатності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2478024" y="4370831"/>
            <a:ext cx="2825496" cy="2148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1" i="0">
                <a:solidFill>
                  <a:srgbClr val="1C2A2F"/>
                </a:solidFill>
                <a:latin typeface="Calibri"/>
              </a:rPr>
              <a:t>9 – 12 місяців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57200" y="4585716"/>
            <a:ext cx="2020824" cy="2148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0" i="0">
                <a:solidFill>
                  <a:srgbClr val="64757B"/>
                </a:solidFill>
                <a:latin typeface="Calibri"/>
              </a:rPr>
              <a:t>Особливість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478024" y="4585716"/>
            <a:ext cx="2825496" cy="2148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1" i="0">
                <a:solidFill>
                  <a:srgbClr val="1C2A2F"/>
                </a:solidFill>
                <a:latin typeface="Calibri"/>
              </a:rPr>
              <a:t>збагачення DHA та вітамінами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5623560" y="932688"/>
            <a:ext cx="3154679" cy="3749039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9525">
            <a:solidFill>
              <a:srgbClr val="E2E6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41" name="Picture 40" descr="zek_classi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41937" y="1078992"/>
            <a:ext cx="2117924" cy="1170432"/>
          </a:xfrm>
          <a:prstGeom prst="rect">
            <a:avLst/>
          </a:prstGeom>
        </p:spPr>
      </p:pic>
      <p:sp>
        <p:nvSpPr>
          <p:cNvPr id="42" name="TextBox 41"/>
          <p:cNvSpPr txBox="1"/>
          <p:nvPr/>
        </p:nvSpPr>
        <p:spPr>
          <a:xfrm>
            <a:off x="5806440" y="2377440"/>
            <a:ext cx="2788919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1" i="0">
                <a:solidFill>
                  <a:srgbClr val="C1512A"/>
                </a:solidFill>
                <a:latin typeface="Calibri"/>
              </a:rPr>
              <a:t>Решта асортименту (собівартість ще не розрахована)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5824728" y="2843784"/>
            <a:ext cx="73152" cy="73152"/>
          </a:xfrm>
          <a:prstGeom prst="roundRect">
            <a:avLst>
              <a:gd name="adj" fmla="val 50000"/>
            </a:avLst>
          </a:prstGeom>
          <a:solidFill>
            <a:srgbClr val="0E5C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4" name="TextBox 43"/>
          <p:cNvSpPr txBox="1"/>
          <p:nvPr/>
        </p:nvSpPr>
        <p:spPr>
          <a:xfrm>
            <a:off x="5989320" y="2779776"/>
            <a:ext cx="2587751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50" b="0" i="0">
                <a:solidFill>
                  <a:srgbClr val="64757B"/>
                </a:solidFill>
                <a:latin typeface="Calibri"/>
              </a:rPr>
              <a:t>ZEK Original / Bamboo Salt / Olive Oil Seaweed, 15 – 60 г · $0,52 – $2,09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5824728" y="3145536"/>
            <a:ext cx="73152" cy="73152"/>
          </a:xfrm>
          <a:prstGeom prst="roundRect">
            <a:avLst>
              <a:gd name="adj" fmla="val 50000"/>
            </a:avLst>
          </a:prstGeom>
          <a:solidFill>
            <a:srgbClr val="0E5C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6" name="TextBox 45"/>
          <p:cNvSpPr txBox="1"/>
          <p:nvPr/>
        </p:nvSpPr>
        <p:spPr>
          <a:xfrm>
            <a:off x="5989320" y="3081528"/>
            <a:ext cx="2587751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50" b="0" i="0">
                <a:solidFill>
                  <a:srgbClr val="64757B"/>
                </a:solidFill>
                <a:latin typeface="Calibri"/>
              </a:rPr>
              <a:t>ZEK Seasoned Seaweed with Prebiotics, 21 г · $0,60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5824728" y="3447288"/>
            <a:ext cx="73152" cy="73152"/>
          </a:xfrm>
          <a:prstGeom prst="roundRect">
            <a:avLst>
              <a:gd name="adj" fmla="val 50000"/>
            </a:avLst>
          </a:prstGeom>
          <a:solidFill>
            <a:srgbClr val="0E5C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8" name="TextBox 47"/>
          <p:cNvSpPr txBox="1"/>
          <p:nvPr/>
        </p:nvSpPr>
        <p:spPr>
          <a:xfrm>
            <a:off x="5989320" y="3383280"/>
            <a:ext cx="2587751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50" b="0" i="0">
                <a:solidFill>
                  <a:srgbClr val="64757B"/>
                </a:solidFill>
                <a:latin typeface="Calibri"/>
              </a:rPr>
              <a:t>ZEK Seaweed Topping, 48 г та 100 г · $0,57 – $1,16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5824728" y="3749039"/>
            <a:ext cx="73152" cy="73152"/>
          </a:xfrm>
          <a:prstGeom prst="roundRect">
            <a:avLst>
              <a:gd name="adj" fmla="val 50000"/>
            </a:avLst>
          </a:prstGeom>
          <a:solidFill>
            <a:srgbClr val="0E5C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0" name="TextBox 49"/>
          <p:cNvSpPr txBox="1"/>
          <p:nvPr/>
        </p:nvSpPr>
        <p:spPr>
          <a:xfrm>
            <a:off x="5989320" y="3685032"/>
            <a:ext cx="2587751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50" b="0" i="0">
                <a:solidFill>
                  <a:srgbClr val="64757B"/>
                </a:solidFill>
                <a:latin typeface="Calibri"/>
              </a:rPr>
              <a:t>ZEK Sandwich Seaweed, 40 г та 60 г · $0,75 – $0,97</a:t>
            </a:r>
          </a:p>
        </p:txBody>
      </p:sp>
      <p:sp>
        <p:nvSpPr>
          <p:cNvPr id="51" name="Rectangle 50"/>
          <p:cNvSpPr/>
          <p:nvPr/>
        </p:nvSpPr>
        <p:spPr>
          <a:xfrm>
            <a:off x="365760" y="4869180"/>
            <a:ext cx="8412480" cy="9144"/>
          </a:xfrm>
          <a:prstGeom prst="rect">
            <a:avLst/>
          </a:prstGeom>
          <a:solidFill>
            <a:srgbClr val="E2E6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2" name="TextBox 51"/>
          <p:cNvSpPr txBox="1"/>
          <p:nvPr/>
        </p:nvSpPr>
        <p:spPr>
          <a:xfrm>
            <a:off x="8229600" y="4914900"/>
            <a:ext cx="5486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750" b="1" i="0">
                <a:solidFill>
                  <a:srgbClr val="64757B"/>
                </a:solidFill>
                <a:latin typeface="Calibri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1423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ectangle 3"/>
          <p:cNvSpPr/>
          <p:nvPr/>
        </p:nvSpPr>
        <p:spPr>
          <a:xfrm>
            <a:off x="365760" y="617219"/>
            <a:ext cx="1737360" cy="41148"/>
          </a:xfrm>
          <a:prstGeom prst="rect">
            <a:avLst/>
          </a:prstGeom>
          <a:solidFill>
            <a:srgbClr val="C15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365760" y="91440"/>
            <a:ext cx="6400799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50" b="1" i="0">
                <a:solidFill>
                  <a:srgbClr val="D9A441"/>
                </a:solidFill>
                <a:latin typeface="Calibri"/>
              </a:rPr>
              <a:t>КАРТКИ ТОВАРІВ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256032"/>
            <a:ext cx="640079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 i="0">
                <a:solidFill>
                  <a:srgbClr val="FFFFFF"/>
                </a:solidFill>
                <a:latin typeface="Cambria"/>
              </a:rPr>
              <a:t>HanJin · ZEK — продукти · 1/4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0" y="219456"/>
            <a:ext cx="237744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1" i="0">
                <a:solidFill>
                  <a:srgbClr val="FFFFFF"/>
                </a:solidFill>
                <a:latin typeface="Calibri"/>
              </a:rPr>
              <a:t>ZEK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65760" y="932688"/>
            <a:ext cx="1993391" cy="3657600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 w="9525">
            <a:solidFill>
              <a:srgbClr val="E2E6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448056" y="1014984"/>
            <a:ext cx="1828799" cy="1261872"/>
          </a:xfrm>
          <a:prstGeom prst="roundRect">
            <a:avLst>
              <a:gd name="adj" fmla="val 6000"/>
            </a:avLst>
          </a:prstGeom>
          <a:solidFill>
            <a:srgbClr val="F7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0" name="Picture 9" descr="zek_tempura_corn3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8645" y="1069848"/>
            <a:ext cx="887621" cy="1152144"/>
          </a:xfrm>
          <a:prstGeom prst="rect">
            <a:avLst/>
          </a:prstGeom>
        </p:spPr>
      </p:pic>
      <p:sp>
        <p:nvSpPr>
          <p:cNvPr id="11" name="Rounded Rectangle 10"/>
          <p:cNvSpPr/>
          <p:nvPr/>
        </p:nvSpPr>
        <p:spPr>
          <a:xfrm>
            <a:off x="493776" y="2359152"/>
            <a:ext cx="954633" cy="201168"/>
          </a:xfrm>
          <a:prstGeom prst="roundRect">
            <a:avLst>
              <a:gd name="adj" fmla="val 50000"/>
            </a:avLst>
          </a:prstGeom>
          <a:solidFill>
            <a:srgbClr val="F8E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493776" y="2359152"/>
            <a:ext cx="954633" cy="20116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650" b="1" i="0">
                <a:solidFill>
                  <a:srgbClr val="C1512A"/>
                </a:solidFill>
                <a:latin typeface="Calibri"/>
              </a:rPr>
              <a:t>30 Г · ПАКЕТ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93776" y="2633472"/>
            <a:ext cx="1737359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8000"/>
              </a:lnSpc>
            </a:pPr>
            <a:r>
              <a:rPr sz="1100" b="1" i="0">
                <a:solidFill>
                  <a:srgbClr val="1C2A2F"/>
                </a:solidFill>
                <a:latin typeface="Cambria"/>
              </a:rPr>
              <a:t>Tempura Seaweed
Corn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93776" y="3072384"/>
            <a:ext cx="1737359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750" b="0" i="0">
                <a:solidFill>
                  <a:srgbClr val="64757B"/>
                </a:solidFill>
                <a:latin typeface="Calibri"/>
              </a:rPr>
              <a:t>Листи норі у хрусткому клярі темпура зі смаком солодкої кукурудзи. Найм’якший смак напрямку.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93776" y="3767328"/>
            <a:ext cx="1737359" cy="9144"/>
          </a:xfrm>
          <a:prstGeom prst="rect">
            <a:avLst/>
          </a:prstGeom>
          <a:solidFill>
            <a:srgbClr val="E2E6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493776" y="3831335"/>
            <a:ext cx="1737359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00" b="0" i="0">
                <a:solidFill>
                  <a:srgbClr val="1C2A2F"/>
                </a:solidFill>
                <a:latin typeface="Calibri"/>
              </a:rPr>
              <a:t>24 шт/карт. · FOB $0,43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93776" y="4023359"/>
            <a:ext cx="1737359" cy="475488"/>
          </a:xfrm>
          <a:prstGeom prst="roundRect">
            <a:avLst>
              <a:gd name="adj" fmla="val 12000"/>
            </a:avLst>
          </a:prstGeom>
          <a:solidFill>
            <a:srgbClr val="C15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493776" y="4078223"/>
            <a:ext cx="1737359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600" b="1" i="0">
                <a:solidFill>
                  <a:srgbClr val="FFFFFF"/>
                </a:solidFill>
                <a:latin typeface="Calibri"/>
              </a:rPr>
              <a:t>СОБІВАРТІСТЬ · 40′ КОНТЕЙНЕР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93776" y="4233672"/>
            <a:ext cx="173735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250" b="1" i="0">
                <a:solidFill>
                  <a:srgbClr val="FFFFFF"/>
                </a:solidFill>
                <a:latin typeface="Cambria"/>
              </a:rPr>
              <a:t>$0,667  ·  30,04 ₴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2505456" y="932688"/>
            <a:ext cx="1993391" cy="3657600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 w="9525">
            <a:solidFill>
              <a:srgbClr val="E2E6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2587751" y="1014984"/>
            <a:ext cx="1828799" cy="1261872"/>
          </a:xfrm>
          <a:prstGeom prst="roundRect">
            <a:avLst>
              <a:gd name="adj" fmla="val 6000"/>
            </a:avLst>
          </a:prstGeom>
          <a:solidFill>
            <a:srgbClr val="F7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22" name="Picture 21" descr="zek_tempura_wasabi3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61280" y="1069848"/>
            <a:ext cx="881742" cy="1152144"/>
          </a:xfrm>
          <a:prstGeom prst="rect">
            <a:avLst/>
          </a:prstGeom>
        </p:spPr>
      </p:pic>
      <p:sp>
        <p:nvSpPr>
          <p:cNvPr id="23" name="Rounded Rectangle 22"/>
          <p:cNvSpPr/>
          <p:nvPr/>
        </p:nvSpPr>
        <p:spPr>
          <a:xfrm>
            <a:off x="2633472" y="2359152"/>
            <a:ext cx="954633" cy="201168"/>
          </a:xfrm>
          <a:prstGeom prst="roundRect">
            <a:avLst>
              <a:gd name="adj" fmla="val 50000"/>
            </a:avLst>
          </a:prstGeom>
          <a:solidFill>
            <a:srgbClr val="F8E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TextBox 23"/>
          <p:cNvSpPr txBox="1"/>
          <p:nvPr/>
        </p:nvSpPr>
        <p:spPr>
          <a:xfrm>
            <a:off x="2633472" y="2359152"/>
            <a:ext cx="954633" cy="20116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650" b="1" i="0">
                <a:solidFill>
                  <a:srgbClr val="C1512A"/>
                </a:solidFill>
                <a:latin typeface="Calibri"/>
              </a:rPr>
              <a:t>30 Г · ПАКЕТ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633472" y="2633472"/>
            <a:ext cx="1737359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8000"/>
              </a:lnSpc>
            </a:pPr>
            <a:r>
              <a:rPr sz="1100" b="1" i="0">
                <a:solidFill>
                  <a:srgbClr val="1C2A2F"/>
                </a:solidFill>
                <a:latin typeface="Cambria"/>
              </a:rPr>
              <a:t>Tempura Seaweed
Wasabi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633472" y="3072384"/>
            <a:ext cx="1737359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750" b="0" i="0">
                <a:solidFill>
                  <a:srgbClr val="64757B"/>
                </a:solidFill>
                <a:latin typeface="Calibri"/>
              </a:rPr>
              <a:t>Норі у клярі темпура з японським васабі. Гострий, впізнаваний смаковий профіль.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2633472" y="3767328"/>
            <a:ext cx="1737359" cy="9144"/>
          </a:xfrm>
          <a:prstGeom prst="rect">
            <a:avLst/>
          </a:prstGeom>
          <a:solidFill>
            <a:srgbClr val="E2E6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TextBox 27"/>
          <p:cNvSpPr txBox="1"/>
          <p:nvPr/>
        </p:nvSpPr>
        <p:spPr>
          <a:xfrm>
            <a:off x="2633472" y="3831335"/>
            <a:ext cx="1737359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00" b="0" i="0">
                <a:solidFill>
                  <a:srgbClr val="1C2A2F"/>
                </a:solidFill>
                <a:latin typeface="Calibri"/>
              </a:rPr>
              <a:t>24 шт/карт. · FOB $0,43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2633472" y="4023359"/>
            <a:ext cx="1737359" cy="475488"/>
          </a:xfrm>
          <a:prstGeom prst="roundRect">
            <a:avLst>
              <a:gd name="adj" fmla="val 12000"/>
            </a:avLst>
          </a:prstGeom>
          <a:solidFill>
            <a:srgbClr val="C15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2633472" y="4078223"/>
            <a:ext cx="1737359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600" b="1" i="0">
                <a:solidFill>
                  <a:srgbClr val="FFFFFF"/>
                </a:solidFill>
                <a:latin typeface="Calibri"/>
              </a:rPr>
              <a:t>СОБІВАРТІСТЬ · 40′ КОНТЕЙНЕР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633472" y="4233672"/>
            <a:ext cx="173735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250" b="1" i="0">
                <a:solidFill>
                  <a:srgbClr val="FFFFFF"/>
                </a:solidFill>
                <a:latin typeface="Cambria"/>
              </a:rPr>
              <a:t>$0,667  ·  30,04 ₴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4645152" y="932688"/>
            <a:ext cx="1993391" cy="3657600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 w="9525">
            <a:solidFill>
              <a:srgbClr val="E2E6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Rounded Rectangle 32"/>
          <p:cNvSpPr/>
          <p:nvPr/>
        </p:nvSpPr>
        <p:spPr>
          <a:xfrm>
            <a:off x="4727448" y="1014984"/>
            <a:ext cx="1828799" cy="1261872"/>
          </a:xfrm>
          <a:prstGeom prst="roundRect">
            <a:avLst>
              <a:gd name="adj" fmla="val 6000"/>
            </a:avLst>
          </a:prstGeom>
          <a:solidFill>
            <a:srgbClr val="F7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34" name="Picture 33" descr="zek_tempura_mala30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198037" y="1069848"/>
            <a:ext cx="887621" cy="1152144"/>
          </a:xfrm>
          <a:prstGeom prst="rect">
            <a:avLst/>
          </a:prstGeom>
        </p:spPr>
      </p:pic>
      <p:sp>
        <p:nvSpPr>
          <p:cNvPr id="35" name="Rounded Rectangle 34"/>
          <p:cNvSpPr/>
          <p:nvPr/>
        </p:nvSpPr>
        <p:spPr>
          <a:xfrm>
            <a:off x="4773168" y="2359152"/>
            <a:ext cx="954633" cy="201168"/>
          </a:xfrm>
          <a:prstGeom prst="roundRect">
            <a:avLst>
              <a:gd name="adj" fmla="val 50000"/>
            </a:avLst>
          </a:prstGeom>
          <a:solidFill>
            <a:srgbClr val="F8E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6" name="TextBox 35"/>
          <p:cNvSpPr txBox="1"/>
          <p:nvPr/>
        </p:nvSpPr>
        <p:spPr>
          <a:xfrm>
            <a:off x="4773168" y="2359152"/>
            <a:ext cx="954633" cy="20116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650" b="1" i="0">
                <a:solidFill>
                  <a:srgbClr val="C1512A"/>
                </a:solidFill>
                <a:latin typeface="Calibri"/>
              </a:rPr>
              <a:t>30 Г · ПАКЕТ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773168" y="2633472"/>
            <a:ext cx="1737359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8000"/>
              </a:lnSpc>
            </a:pPr>
            <a:r>
              <a:rPr sz="1100" b="1" i="0">
                <a:solidFill>
                  <a:srgbClr val="1C2A2F"/>
                </a:solidFill>
                <a:latin typeface="Cambria"/>
              </a:rPr>
              <a:t>Tempura Seaweed
Mala Crawfish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773168" y="3072384"/>
            <a:ext cx="1737359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750" b="0" i="0">
                <a:solidFill>
                  <a:srgbClr val="64757B"/>
                </a:solidFill>
                <a:latin typeface="Calibri"/>
              </a:rPr>
              <a:t>Норі у темпурі зі смаком раків мала — трендовий китайський смак для молодої аудиторії.</a:t>
            </a:r>
          </a:p>
        </p:txBody>
      </p:sp>
      <p:sp>
        <p:nvSpPr>
          <p:cNvPr id="39" name="Rectangle 38"/>
          <p:cNvSpPr/>
          <p:nvPr/>
        </p:nvSpPr>
        <p:spPr>
          <a:xfrm>
            <a:off x="4773168" y="3767328"/>
            <a:ext cx="1737359" cy="9144"/>
          </a:xfrm>
          <a:prstGeom prst="rect">
            <a:avLst/>
          </a:prstGeom>
          <a:solidFill>
            <a:srgbClr val="E2E6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0" name="TextBox 39"/>
          <p:cNvSpPr txBox="1"/>
          <p:nvPr/>
        </p:nvSpPr>
        <p:spPr>
          <a:xfrm>
            <a:off x="4773168" y="3831335"/>
            <a:ext cx="1737359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00" b="0" i="0">
                <a:solidFill>
                  <a:srgbClr val="1C2A2F"/>
                </a:solidFill>
                <a:latin typeface="Calibri"/>
              </a:rPr>
              <a:t>24 шт/карт. · FOB $0,43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4773168" y="4023359"/>
            <a:ext cx="1737359" cy="475488"/>
          </a:xfrm>
          <a:prstGeom prst="roundRect">
            <a:avLst>
              <a:gd name="adj" fmla="val 12000"/>
            </a:avLst>
          </a:prstGeom>
          <a:solidFill>
            <a:srgbClr val="C15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2" name="TextBox 41"/>
          <p:cNvSpPr txBox="1"/>
          <p:nvPr/>
        </p:nvSpPr>
        <p:spPr>
          <a:xfrm>
            <a:off x="4773168" y="4078223"/>
            <a:ext cx="1737359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600" b="1" i="0">
                <a:solidFill>
                  <a:srgbClr val="FFFFFF"/>
                </a:solidFill>
                <a:latin typeface="Calibri"/>
              </a:rPr>
              <a:t>СОБІВАРТІСТЬ · 40′ КОНТЕЙНЕР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773168" y="4233672"/>
            <a:ext cx="173735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250" b="1" i="0">
                <a:solidFill>
                  <a:srgbClr val="FFFFFF"/>
                </a:solidFill>
                <a:latin typeface="Cambria"/>
              </a:rPr>
              <a:t>$0,667  ·  30,04 ₴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6784848" y="932688"/>
            <a:ext cx="1993391" cy="3657600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 w="9525">
            <a:solidFill>
              <a:srgbClr val="E2E6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5" name="Rounded Rectangle 44"/>
          <p:cNvSpPr/>
          <p:nvPr/>
        </p:nvSpPr>
        <p:spPr>
          <a:xfrm>
            <a:off x="6867144" y="1014984"/>
            <a:ext cx="1828799" cy="1261872"/>
          </a:xfrm>
          <a:prstGeom prst="roundRect">
            <a:avLst>
              <a:gd name="adj" fmla="val 6000"/>
            </a:avLst>
          </a:prstGeom>
          <a:solidFill>
            <a:srgbClr val="F7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46" name="Picture 45" descr="zek_tempura_corn50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334794" y="1069848"/>
            <a:ext cx="893499" cy="1152144"/>
          </a:xfrm>
          <a:prstGeom prst="rect">
            <a:avLst/>
          </a:prstGeom>
        </p:spPr>
      </p:pic>
      <p:sp>
        <p:nvSpPr>
          <p:cNvPr id="47" name="Rounded Rectangle 46"/>
          <p:cNvSpPr/>
          <p:nvPr/>
        </p:nvSpPr>
        <p:spPr>
          <a:xfrm>
            <a:off x="6912864" y="2359152"/>
            <a:ext cx="954633" cy="201168"/>
          </a:xfrm>
          <a:prstGeom prst="roundRect">
            <a:avLst>
              <a:gd name="adj" fmla="val 50000"/>
            </a:avLst>
          </a:prstGeom>
          <a:solidFill>
            <a:srgbClr val="F8E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8" name="TextBox 47"/>
          <p:cNvSpPr txBox="1"/>
          <p:nvPr/>
        </p:nvSpPr>
        <p:spPr>
          <a:xfrm>
            <a:off x="6912864" y="2359152"/>
            <a:ext cx="954633" cy="20116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650" b="1" i="0">
                <a:solidFill>
                  <a:srgbClr val="C1512A"/>
                </a:solidFill>
                <a:latin typeface="Calibri"/>
              </a:rPr>
              <a:t>50 Г · ПАКЕТ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912864" y="2633472"/>
            <a:ext cx="1737359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8000"/>
              </a:lnSpc>
            </a:pPr>
            <a:r>
              <a:rPr sz="1100" b="1" i="0">
                <a:solidFill>
                  <a:srgbClr val="1C2A2F"/>
                </a:solidFill>
                <a:latin typeface="Cambria"/>
              </a:rPr>
              <a:t>Tempura Seaweed
Corn · 50 г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912864" y="3072384"/>
            <a:ext cx="1737359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750" b="0" i="0">
                <a:solidFill>
                  <a:srgbClr val="64757B"/>
                </a:solidFill>
                <a:latin typeface="Calibri"/>
              </a:rPr>
              <a:t>Сімейна фасовка кукурудзяної темпури. Кращий показник ціни за грам у напрямку.</a:t>
            </a:r>
          </a:p>
        </p:txBody>
      </p:sp>
      <p:sp>
        <p:nvSpPr>
          <p:cNvPr id="51" name="Rectangle 50"/>
          <p:cNvSpPr/>
          <p:nvPr/>
        </p:nvSpPr>
        <p:spPr>
          <a:xfrm>
            <a:off x="6912864" y="3767328"/>
            <a:ext cx="1737359" cy="9144"/>
          </a:xfrm>
          <a:prstGeom prst="rect">
            <a:avLst/>
          </a:prstGeom>
          <a:solidFill>
            <a:srgbClr val="E2E6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2" name="TextBox 51"/>
          <p:cNvSpPr txBox="1"/>
          <p:nvPr/>
        </p:nvSpPr>
        <p:spPr>
          <a:xfrm>
            <a:off x="6912864" y="3831335"/>
            <a:ext cx="1737359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00" b="0" i="0">
                <a:solidFill>
                  <a:srgbClr val="1C2A2F"/>
                </a:solidFill>
                <a:latin typeface="Calibri"/>
              </a:rPr>
              <a:t>24 шт/карт. · FOB $0,65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6912864" y="4023359"/>
            <a:ext cx="1737359" cy="475488"/>
          </a:xfrm>
          <a:prstGeom prst="roundRect">
            <a:avLst>
              <a:gd name="adj" fmla="val 12000"/>
            </a:avLst>
          </a:prstGeom>
          <a:solidFill>
            <a:srgbClr val="C15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4" name="TextBox 53"/>
          <p:cNvSpPr txBox="1"/>
          <p:nvPr/>
        </p:nvSpPr>
        <p:spPr>
          <a:xfrm>
            <a:off x="6912864" y="4078223"/>
            <a:ext cx="1737359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600" b="1" i="0">
                <a:solidFill>
                  <a:srgbClr val="FFFFFF"/>
                </a:solidFill>
                <a:latin typeface="Calibri"/>
              </a:rPr>
              <a:t>СОБІВАРТІСТЬ · 40′ КОНТЕЙНЕР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6912864" y="4233672"/>
            <a:ext cx="173735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250" b="1" i="0">
                <a:solidFill>
                  <a:srgbClr val="FFFFFF"/>
                </a:solidFill>
                <a:latin typeface="Cambria"/>
              </a:rPr>
              <a:t>$1,009  ·  45,40 ₴</a:t>
            </a:r>
          </a:p>
        </p:txBody>
      </p:sp>
      <p:sp>
        <p:nvSpPr>
          <p:cNvPr id="56" name="Rectangle 55"/>
          <p:cNvSpPr/>
          <p:nvPr/>
        </p:nvSpPr>
        <p:spPr>
          <a:xfrm>
            <a:off x="365760" y="4869180"/>
            <a:ext cx="8412480" cy="9144"/>
          </a:xfrm>
          <a:prstGeom prst="rect">
            <a:avLst/>
          </a:prstGeom>
          <a:solidFill>
            <a:srgbClr val="E2E6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7" name="TextBox 56"/>
          <p:cNvSpPr txBox="1"/>
          <p:nvPr/>
        </p:nvSpPr>
        <p:spPr>
          <a:xfrm>
            <a:off x="365760" y="4914900"/>
            <a:ext cx="78638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64757B"/>
                </a:solidFill>
                <a:latin typeface="Calibri"/>
              </a:rPr>
              <a:t>Собівартість — за одиницю товару, сценарій 40′ контейнер. Джерело: SelfCost.xlsx.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8229600" y="4914900"/>
            <a:ext cx="5486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750" b="1" i="0">
                <a:solidFill>
                  <a:srgbClr val="64757B"/>
                </a:solidFill>
                <a:latin typeface="Calibri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1423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ectangle 3"/>
          <p:cNvSpPr/>
          <p:nvPr/>
        </p:nvSpPr>
        <p:spPr>
          <a:xfrm>
            <a:off x="365760" y="617219"/>
            <a:ext cx="1737360" cy="41148"/>
          </a:xfrm>
          <a:prstGeom prst="rect">
            <a:avLst/>
          </a:prstGeom>
          <a:solidFill>
            <a:srgbClr val="C15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365760" y="91440"/>
            <a:ext cx="6400799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50" b="1" i="0">
                <a:solidFill>
                  <a:srgbClr val="D9A441"/>
                </a:solidFill>
                <a:latin typeface="Calibri"/>
              </a:rPr>
              <a:t>КАРТКИ ТОВАРІВ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256032"/>
            <a:ext cx="640079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 i="0">
                <a:solidFill>
                  <a:srgbClr val="FFFFFF"/>
                </a:solidFill>
                <a:latin typeface="Cambria"/>
              </a:rPr>
              <a:t>HanJin · ZEK — продукти · 2/4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0" y="219456"/>
            <a:ext cx="237744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1" i="0">
                <a:solidFill>
                  <a:srgbClr val="FFFFFF"/>
                </a:solidFill>
                <a:latin typeface="Calibri"/>
              </a:rPr>
              <a:t>ZEK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65760" y="932688"/>
            <a:ext cx="1993391" cy="3657600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 w="9525">
            <a:solidFill>
              <a:srgbClr val="E2E6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448056" y="1014984"/>
            <a:ext cx="1828799" cy="1261872"/>
          </a:xfrm>
          <a:prstGeom prst="roundRect">
            <a:avLst>
              <a:gd name="adj" fmla="val 6000"/>
            </a:avLst>
          </a:prstGeom>
          <a:solidFill>
            <a:srgbClr val="F7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0" name="Picture 9" descr="zek_tempura_wasabi5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8645" y="1069848"/>
            <a:ext cx="887621" cy="1152144"/>
          </a:xfrm>
          <a:prstGeom prst="rect">
            <a:avLst/>
          </a:prstGeom>
        </p:spPr>
      </p:pic>
      <p:sp>
        <p:nvSpPr>
          <p:cNvPr id="11" name="Rounded Rectangle 10"/>
          <p:cNvSpPr/>
          <p:nvPr/>
        </p:nvSpPr>
        <p:spPr>
          <a:xfrm>
            <a:off x="493776" y="2359152"/>
            <a:ext cx="954633" cy="201168"/>
          </a:xfrm>
          <a:prstGeom prst="roundRect">
            <a:avLst>
              <a:gd name="adj" fmla="val 50000"/>
            </a:avLst>
          </a:prstGeom>
          <a:solidFill>
            <a:srgbClr val="F8E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493776" y="2359152"/>
            <a:ext cx="954633" cy="20116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650" b="1" i="0">
                <a:solidFill>
                  <a:srgbClr val="C1512A"/>
                </a:solidFill>
                <a:latin typeface="Calibri"/>
              </a:rPr>
              <a:t>50 Г · ПАКЕТ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93776" y="2633472"/>
            <a:ext cx="1737359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8000"/>
              </a:lnSpc>
            </a:pPr>
            <a:r>
              <a:rPr sz="1100" b="1" i="0">
                <a:solidFill>
                  <a:srgbClr val="1C2A2F"/>
                </a:solidFill>
                <a:latin typeface="Cambria"/>
              </a:rPr>
              <a:t>Tempura Seaweed
Wasabi · 50 г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93776" y="3072384"/>
            <a:ext cx="1737359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750" b="0" i="0">
                <a:solidFill>
                  <a:srgbClr val="64757B"/>
                </a:solidFill>
                <a:latin typeface="Calibri"/>
              </a:rPr>
              <a:t>Сімейна фасовка темпури з васабі — формат для домашнього споживання та подарункових наборів.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93776" y="3767328"/>
            <a:ext cx="1737359" cy="9144"/>
          </a:xfrm>
          <a:prstGeom prst="rect">
            <a:avLst/>
          </a:prstGeom>
          <a:solidFill>
            <a:srgbClr val="E2E6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493776" y="3831335"/>
            <a:ext cx="1737359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00" b="0" i="0">
                <a:solidFill>
                  <a:srgbClr val="1C2A2F"/>
                </a:solidFill>
                <a:latin typeface="Calibri"/>
              </a:rPr>
              <a:t>24 шт/карт. · FOB $0,65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93776" y="4023359"/>
            <a:ext cx="1737359" cy="475488"/>
          </a:xfrm>
          <a:prstGeom prst="roundRect">
            <a:avLst>
              <a:gd name="adj" fmla="val 12000"/>
            </a:avLst>
          </a:prstGeom>
          <a:solidFill>
            <a:srgbClr val="C15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493776" y="4078223"/>
            <a:ext cx="1737359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600" b="1" i="0">
                <a:solidFill>
                  <a:srgbClr val="FFFFFF"/>
                </a:solidFill>
                <a:latin typeface="Calibri"/>
              </a:rPr>
              <a:t>СОБІВАРТІСТЬ · 40′ КОНТЕЙНЕР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93776" y="4233672"/>
            <a:ext cx="173735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250" b="1" i="0">
                <a:solidFill>
                  <a:srgbClr val="FFFFFF"/>
                </a:solidFill>
                <a:latin typeface="Cambria"/>
              </a:rPr>
              <a:t>$1,009  ·  45,40 ₴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2505456" y="932688"/>
            <a:ext cx="1993391" cy="3657600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 w="9525">
            <a:solidFill>
              <a:srgbClr val="E2E6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2587751" y="1014984"/>
            <a:ext cx="1828799" cy="1261872"/>
          </a:xfrm>
          <a:prstGeom prst="roundRect">
            <a:avLst>
              <a:gd name="adj" fmla="val 6000"/>
            </a:avLst>
          </a:prstGeom>
          <a:solidFill>
            <a:srgbClr val="F7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22" name="Picture 21" descr="zek_tempura_mala5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64219" y="1069848"/>
            <a:ext cx="875864" cy="1152144"/>
          </a:xfrm>
          <a:prstGeom prst="rect">
            <a:avLst/>
          </a:prstGeom>
        </p:spPr>
      </p:pic>
      <p:sp>
        <p:nvSpPr>
          <p:cNvPr id="23" name="Rounded Rectangle 22"/>
          <p:cNvSpPr/>
          <p:nvPr/>
        </p:nvSpPr>
        <p:spPr>
          <a:xfrm>
            <a:off x="2633472" y="2359152"/>
            <a:ext cx="954633" cy="201168"/>
          </a:xfrm>
          <a:prstGeom prst="roundRect">
            <a:avLst>
              <a:gd name="adj" fmla="val 50000"/>
            </a:avLst>
          </a:prstGeom>
          <a:solidFill>
            <a:srgbClr val="F8E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TextBox 23"/>
          <p:cNvSpPr txBox="1"/>
          <p:nvPr/>
        </p:nvSpPr>
        <p:spPr>
          <a:xfrm>
            <a:off x="2633472" y="2359152"/>
            <a:ext cx="954633" cy="20116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650" b="1" i="0">
                <a:solidFill>
                  <a:srgbClr val="C1512A"/>
                </a:solidFill>
                <a:latin typeface="Calibri"/>
              </a:rPr>
              <a:t>50 Г · ПАКЕТ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633472" y="2633472"/>
            <a:ext cx="1737359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8000"/>
              </a:lnSpc>
            </a:pPr>
            <a:r>
              <a:rPr sz="1100" b="1" i="0">
                <a:solidFill>
                  <a:srgbClr val="1C2A2F"/>
                </a:solidFill>
                <a:latin typeface="Cambria"/>
              </a:rPr>
              <a:t>Tempura Seaweed
Mala · 50 г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633472" y="3072384"/>
            <a:ext cx="1737359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750" b="0" i="0">
                <a:solidFill>
                  <a:srgbClr val="64757B"/>
                </a:solidFill>
                <a:latin typeface="Calibri"/>
              </a:rPr>
              <a:t>Сімейна фасовка темпури мала. Замикає лінійку 50 г з трьох смаків.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2633472" y="3767328"/>
            <a:ext cx="1737359" cy="9144"/>
          </a:xfrm>
          <a:prstGeom prst="rect">
            <a:avLst/>
          </a:prstGeom>
          <a:solidFill>
            <a:srgbClr val="E2E6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TextBox 27"/>
          <p:cNvSpPr txBox="1"/>
          <p:nvPr/>
        </p:nvSpPr>
        <p:spPr>
          <a:xfrm>
            <a:off x="2633472" y="3831335"/>
            <a:ext cx="1737359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00" b="0" i="0">
                <a:solidFill>
                  <a:srgbClr val="1C2A2F"/>
                </a:solidFill>
                <a:latin typeface="Calibri"/>
              </a:rPr>
              <a:t>24 шт/карт. · FOB $0,65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2633472" y="4023359"/>
            <a:ext cx="1737359" cy="475488"/>
          </a:xfrm>
          <a:prstGeom prst="roundRect">
            <a:avLst>
              <a:gd name="adj" fmla="val 12000"/>
            </a:avLst>
          </a:prstGeom>
          <a:solidFill>
            <a:srgbClr val="C15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2633472" y="4078223"/>
            <a:ext cx="1737359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600" b="1" i="0">
                <a:solidFill>
                  <a:srgbClr val="FFFFFF"/>
                </a:solidFill>
                <a:latin typeface="Calibri"/>
              </a:rPr>
              <a:t>СОБІВАРТІСТЬ · 40′ КОНТЕЙНЕР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633472" y="4233672"/>
            <a:ext cx="173735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250" b="1" i="0">
                <a:solidFill>
                  <a:srgbClr val="FFFFFF"/>
                </a:solidFill>
                <a:latin typeface="Cambria"/>
              </a:rPr>
              <a:t>$1,009  ·  45,40 ₴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4645152" y="932688"/>
            <a:ext cx="1993391" cy="3657600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 w="9525">
            <a:solidFill>
              <a:srgbClr val="E2E6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Rounded Rectangle 32"/>
          <p:cNvSpPr/>
          <p:nvPr/>
        </p:nvSpPr>
        <p:spPr>
          <a:xfrm>
            <a:off x="4727448" y="1014984"/>
            <a:ext cx="1828799" cy="1261872"/>
          </a:xfrm>
          <a:prstGeom prst="roundRect">
            <a:avLst>
              <a:gd name="adj" fmla="val 6000"/>
            </a:avLst>
          </a:prstGeom>
          <a:solidFill>
            <a:srgbClr val="F7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34" name="Picture 33" descr="zek_sandwich_meat25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211278" y="1069848"/>
            <a:ext cx="861138" cy="1152144"/>
          </a:xfrm>
          <a:prstGeom prst="rect">
            <a:avLst/>
          </a:prstGeom>
        </p:spPr>
      </p:pic>
      <p:sp>
        <p:nvSpPr>
          <p:cNvPr id="35" name="Rounded Rectangle 34"/>
          <p:cNvSpPr/>
          <p:nvPr/>
        </p:nvSpPr>
        <p:spPr>
          <a:xfrm>
            <a:off x="4773168" y="2359152"/>
            <a:ext cx="954633" cy="201168"/>
          </a:xfrm>
          <a:prstGeom prst="roundRect">
            <a:avLst>
              <a:gd name="adj" fmla="val 50000"/>
            </a:avLst>
          </a:prstGeom>
          <a:solidFill>
            <a:srgbClr val="F8E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6" name="TextBox 35"/>
          <p:cNvSpPr txBox="1"/>
          <p:nvPr/>
        </p:nvSpPr>
        <p:spPr>
          <a:xfrm>
            <a:off x="4773168" y="2359152"/>
            <a:ext cx="954633" cy="20116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650" b="1" i="0">
                <a:solidFill>
                  <a:srgbClr val="C1512A"/>
                </a:solidFill>
                <a:latin typeface="Calibri"/>
              </a:rPr>
              <a:t>25 Г · ПАКЕТ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773168" y="2633472"/>
            <a:ext cx="1737359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8000"/>
              </a:lnSpc>
            </a:pPr>
            <a:r>
              <a:rPr sz="1100" b="1" i="0">
                <a:solidFill>
                  <a:srgbClr val="1C2A2F"/>
                </a:solidFill>
                <a:latin typeface="Cambria"/>
              </a:rPr>
              <a:t>Sandwich Seaweed
Meat Floss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773168" y="3072384"/>
            <a:ext cx="1737359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750" b="0" i="0">
                <a:solidFill>
                  <a:srgbClr val="64757B"/>
                </a:solidFill>
                <a:latin typeface="Calibri"/>
              </a:rPr>
              <a:t>Сендвіч із двох листів норі з прошарком м’ясної стружки. Найнижчий FOB серед ZEK.</a:t>
            </a:r>
          </a:p>
        </p:txBody>
      </p:sp>
      <p:sp>
        <p:nvSpPr>
          <p:cNvPr id="39" name="Rectangle 38"/>
          <p:cNvSpPr/>
          <p:nvPr/>
        </p:nvSpPr>
        <p:spPr>
          <a:xfrm>
            <a:off x="4773168" y="3767328"/>
            <a:ext cx="1737359" cy="9144"/>
          </a:xfrm>
          <a:prstGeom prst="rect">
            <a:avLst/>
          </a:prstGeom>
          <a:solidFill>
            <a:srgbClr val="E2E6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0" name="TextBox 39"/>
          <p:cNvSpPr txBox="1"/>
          <p:nvPr/>
        </p:nvSpPr>
        <p:spPr>
          <a:xfrm>
            <a:off x="4773168" y="3831335"/>
            <a:ext cx="1737359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00" b="0" i="0">
                <a:solidFill>
                  <a:srgbClr val="1C2A2F"/>
                </a:solidFill>
                <a:latin typeface="Calibri"/>
              </a:rPr>
              <a:t>30 шт/карт. · FOB $0,31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4773168" y="4023359"/>
            <a:ext cx="1737359" cy="475488"/>
          </a:xfrm>
          <a:prstGeom prst="roundRect">
            <a:avLst>
              <a:gd name="adj" fmla="val 12000"/>
            </a:avLst>
          </a:prstGeom>
          <a:solidFill>
            <a:srgbClr val="C15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2" name="TextBox 41"/>
          <p:cNvSpPr txBox="1"/>
          <p:nvPr/>
        </p:nvSpPr>
        <p:spPr>
          <a:xfrm>
            <a:off x="4773168" y="4078223"/>
            <a:ext cx="1737359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600" b="1" i="0">
                <a:solidFill>
                  <a:srgbClr val="FFFFFF"/>
                </a:solidFill>
                <a:latin typeface="Calibri"/>
              </a:rPr>
              <a:t>СОБІВАРТІСТЬ · 40′ КОНТЕЙНЕР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773168" y="4233672"/>
            <a:ext cx="173735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250" b="1" i="0">
                <a:solidFill>
                  <a:srgbClr val="FFFFFF"/>
                </a:solidFill>
                <a:latin typeface="Cambria"/>
              </a:rPr>
              <a:t>$0,481  ·  21,65 ₴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6784848" y="932688"/>
            <a:ext cx="1993391" cy="3657600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 w="9525">
            <a:solidFill>
              <a:srgbClr val="E2E6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5" name="Rounded Rectangle 44"/>
          <p:cNvSpPr/>
          <p:nvPr/>
        </p:nvSpPr>
        <p:spPr>
          <a:xfrm>
            <a:off x="6867144" y="1014984"/>
            <a:ext cx="1828799" cy="1261872"/>
          </a:xfrm>
          <a:prstGeom prst="roundRect">
            <a:avLst>
              <a:gd name="adj" fmla="val 6000"/>
            </a:avLst>
          </a:prstGeom>
          <a:solidFill>
            <a:srgbClr val="F7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46" name="Picture 45" descr="zek_sandwich_sesame25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359292" y="1069848"/>
            <a:ext cx="844503" cy="1152144"/>
          </a:xfrm>
          <a:prstGeom prst="rect">
            <a:avLst/>
          </a:prstGeom>
        </p:spPr>
      </p:pic>
      <p:sp>
        <p:nvSpPr>
          <p:cNvPr id="47" name="Rounded Rectangle 46"/>
          <p:cNvSpPr/>
          <p:nvPr/>
        </p:nvSpPr>
        <p:spPr>
          <a:xfrm>
            <a:off x="6912864" y="2359152"/>
            <a:ext cx="954633" cy="201168"/>
          </a:xfrm>
          <a:prstGeom prst="roundRect">
            <a:avLst>
              <a:gd name="adj" fmla="val 50000"/>
            </a:avLst>
          </a:prstGeom>
          <a:solidFill>
            <a:srgbClr val="F8E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8" name="TextBox 47"/>
          <p:cNvSpPr txBox="1"/>
          <p:nvPr/>
        </p:nvSpPr>
        <p:spPr>
          <a:xfrm>
            <a:off x="6912864" y="2359152"/>
            <a:ext cx="954633" cy="20116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650" b="1" i="0">
                <a:solidFill>
                  <a:srgbClr val="C1512A"/>
                </a:solidFill>
                <a:latin typeface="Calibri"/>
              </a:rPr>
              <a:t>25 Г · ПАКЕТ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912864" y="2633472"/>
            <a:ext cx="1737359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8000"/>
              </a:lnSpc>
            </a:pPr>
            <a:r>
              <a:rPr sz="1100" b="1" i="0">
                <a:solidFill>
                  <a:srgbClr val="1C2A2F"/>
                </a:solidFill>
                <a:latin typeface="Cambria"/>
              </a:rPr>
              <a:t>Sandwich Seaweed
Sesame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912864" y="3072384"/>
            <a:ext cx="1737359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750" b="0" i="0">
                <a:solidFill>
                  <a:srgbClr val="64757B"/>
                </a:solidFill>
                <a:latin typeface="Calibri"/>
              </a:rPr>
              <a:t>Сендвіч норі з кунжутним прошарком. Вегетаріанська альтернатива м’ясному варіанту.</a:t>
            </a:r>
          </a:p>
        </p:txBody>
      </p:sp>
      <p:sp>
        <p:nvSpPr>
          <p:cNvPr id="51" name="Rectangle 50"/>
          <p:cNvSpPr/>
          <p:nvPr/>
        </p:nvSpPr>
        <p:spPr>
          <a:xfrm>
            <a:off x="6912864" y="3767328"/>
            <a:ext cx="1737359" cy="9144"/>
          </a:xfrm>
          <a:prstGeom prst="rect">
            <a:avLst/>
          </a:prstGeom>
          <a:solidFill>
            <a:srgbClr val="E2E6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2" name="TextBox 51"/>
          <p:cNvSpPr txBox="1"/>
          <p:nvPr/>
        </p:nvSpPr>
        <p:spPr>
          <a:xfrm>
            <a:off x="6912864" y="3831335"/>
            <a:ext cx="1737359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00" b="0" i="0">
                <a:solidFill>
                  <a:srgbClr val="1C2A2F"/>
                </a:solidFill>
                <a:latin typeface="Calibri"/>
              </a:rPr>
              <a:t>30 шт/карт. · FOB $0,31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6912864" y="4023359"/>
            <a:ext cx="1737359" cy="475488"/>
          </a:xfrm>
          <a:prstGeom prst="roundRect">
            <a:avLst>
              <a:gd name="adj" fmla="val 12000"/>
            </a:avLst>
          </a:prstGeom>
          <a:solidFill>
            <a:srgbClr val="C15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4" name="TextBox 53"/>
          <p:cNvSpPr txBox="1"/>
          <p:nvPr/>
        </p:nvSpPr>
        <p:spPr>
          <a:xfrm>
            <a:off x="6912864" y="4078223"/>
            <a:ext cx="1737359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600" b="1" i="0">
                <a:solidFill>
                  <a:srgbClr val="FFFFFF"/>
                </a:solidFill>
                <a:latin typeface="Calibri"/>
              </a:rPr>
              <a:t>СОБІВАРТІСТЬ · 40′ КОНТЕЙНЕР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6912864" y="4233672"/>
            <a:ext cx="173735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250" b="1" i="0">
                <a:solidFill>
                  <a:srgbClr val="FFFFFF"/>
                </a:solidFill>
                <a:latin typeface="Cambria"/>
              </a:rPr>
              <a:t>$0,481  ·  22,14 ₴</a:t>
            </a:r>
          </a:p>
        </p:txBody>
      </p:sp>
      <p:sp>
        <p:nvSpPr>
          <p:cNvPr id="56" name="Rectangle 55"/>
          <p:cNvSpPr/>
          <p:nvPr/>
        </p:nvSpPr>
        <p:spPr>
          <a:xfrm>
            <a:off x="365760" y="4869180"/>
            <a:ext cx="8412480" cy="9144"/>
          </a:xfrm>
          <a:prstGeom prst="rect">
            <a:avLst/>
          </a:prstGeom>
          <a:solidFill>
            <a:srgbClr val="E2E6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7" name="TextBox 56"/>
          <p:cNvSpPr txBox="1"/>
          <p:nvPr/>
        </p:nvSpPr>
        <p:spPr>
          <a:xfrm>
            <a:off x="365760" y="4914900"/>
            <a:ext cx="78638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64757B"/>
                </a:solidFill>
                <a:latin typeface="Calibri"/>
              </a:rPr>
              <a:t>Собівартість — за одиницю товару, сценарій 40′ контейнер. Джерело: SelfCost.xlsx.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8229600" y="4914900"/>
            <a:ext cx="5486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750" b="1" i="0">
                <a:solidFill>
                  <a:srgbClr val="64757B"/>
                </a:solidFill>
                <a:latin typeface="Calibri"/>
              </a:rP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1423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ectangle 3"/>
          <p:cNvSpPr/>
          <p:nvPr/>
        </p:nvSpPr>
        <p:spPr>
          <a:xfrm>
            <a:off x="365760" y="617219"/>
            <a:ext cx="1737360" cy="41148"/>
          </a:xfrm>
          <a:prstGeom prst="rect">
            <a:avLst/>
          </a:prstGeom>
          <a:solidFill>
            <a:srgbClr val="C15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365760" y="91440"/>
            <a:ext cx="6400799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50" b="1" i="0">
                <a:solidFill>
                  <a:srgbClr val="D9A441"/>
                </a:solidFill>
                <a:latin typeface="Calibri"/>
              </a:rPr>
              <a:t>КАРТКИ ТОВАРІВ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256032"/>
            <a:ext cx="640079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 i="0">
                <a:solidFill>
                  <a:srgbClr val="FFFFFF"/>
                </a:solidFill>
                <a:latin typeface="Cambria"/>
              </a:rPr>
              <a:t>HanJin · ZEK — продукти · 3/4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0" y="219456"/>
            <a:ext cx="237744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1" i="0">
                <a:solidFill>
                  <a:srgbClr val="FFFFFF"/>
                </a:solidFill>
                <a:latin typeface="Calibri"/>
              </a:rPr>
              <a:t>ZEK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65760" y="932688"/>
            <a:ext cx="1993391" cy="3657600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 w="9525">
            <a:solidFill>
              <a:srgbClr val="E2E6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448056" y="1014984"/>
            <a:ext cx="1828799" cy="1261872"/>
          </a:xfrm>
          <a:prstGeom prst="roundRect">
            <a:avLst>
              <a:gd name="adj" fmla="val 6000"/>
            </a:avLst>
          </a:prstGeom>
          <a:solidFill>
            <a:srgbClr val="F7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0" name="Picture 9" descr="zek_topping_chicken3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4094" y="1069848"/>
            <a:ext cx="856722" cy="1152144"/>
          </a:xfrm>
          <a:prstGeom prst="rect">
            <a:avLst/>
          </a:prstGeom>
        </p:spPr>
      </p:pic>
      <p:sp>
        <p:nvSpPr>
          <p:cNvPr id="11" name="Rounded Rectangle 10"/>
          <p:cNvSpPr/>
          <p:nvPr/>
        </p:nvSpPr>
        <p:spPr>
          <a:xfrm>
            <a:off x="493776" y="2359152"/>
            <a:ext cx="954633" cy="201168"/>
          </a:xfrm>
          <a:prstGeom prst="roundRect">
            <a:avLst>
              <a:gd name="adj" fmla="val 50000"/>
            </a:avLst>
          </a:prstGeom>
          <a:solidFill>
            <a:srgbClr val="F8E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493776" y="2359152"/>
            <a:ext cx="954633" cy="20116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650" b="1" i="0">
                <a:solidFill>
                  <a:srgbClr val="C1512A"/>
                </a:solidFill>
                <a:latin typeface="Calibri"/>
              </a:rPr>
              <a:t>35 Г · ПАКЕТ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93776" y="2633472"/>
            <a:ext cx="1737359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8000"/>
              </a:lnSpc>
            </a:pPr>
            <a:r>
              <a:rPr sz="1100" b="1" i="0">
                <a:solidFill>
                  <a:srgbClr val="1C2A2F"/>
                </a:solidFill>
                <a:latin typeface="Cambria"/>
              </a:rPr>
              <a:t>Seaweed Topping
Chicken Floss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93776" y="3072384"/>
            <a:ext cx="1737359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750" b="0" i="0">
                <a:solidFill>
                  <a:srgbClr val="64757B"/>
                </a:solidFill>
                <a:latin typeface="Calibri"/>
              </a:rPr>
              <a:t>Подрібнена норі-присипка до рису та страв із курячою стружкою. Збагачена DHA та вітамінами.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93776" y="3767328"/>
            <a:ext cx="1737359" cy="9144"/>
          </a:xfrm>
          <a:prstGeom prst="rect">
            <a:avLst/>
          </a:prstGeom>
          <a:solidFill>
            <a:srgbClr val="E2E6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493776" y="3831335"/>
            <a:ext cx="1737359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00" b="0" i="0">
                <a:solidFill>
                  <a:srgbClr val="1C2A2F"/>
                </a:solidFill>
                <a:latin typeface="Calibri"/>
              </a:rPr>
              <a:t>24 шт/карт. · FOB $0,40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93776" y="4023359"/>
            <a:ext cx="1737359" cy="475488"/>
          </a:xfrm>
          <a:prstGeom prst="roundRect">
            <a:avLst>
              <a:gd name="adj" fmla="val 12000"/>
            </a:avLst>
          </a:prstGeom>
          <a:solidFill>
            <a:srgbClr val="C15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493776" y="4078223"/>
            <a:ext cx="1737359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600" b="1" i="0">
                <a:solidFill>
                  <a:srgbClr val="FFFFFF"/>
                </a:solidFill>
                <a:latin typeface="Calibri"/>
              </a:rPr>
              <a:t>СОБІВАРТІСТЬ · 40′ КОНТЕЙНЕР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93776" y="4233672"/>
            <a:ext cx="173735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250" b="1" i="0">
                <a:solidFill>
                  <a:srgbClr val="FFFFFF"/>
                </a:solidFill>
                <a:latin typeface="Cambria"/>
              </a:rPr>
              <a:t>$0,621  ·  27,94 ₴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2505456" y="932688"/>
            <a:ext cx="1993391" cy="3657600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 w="9525">
            <a:solidFill>
              <a:srgbClr val="E2E6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2587751" y="1014984"/>
            <a:ext cx="1828799" cy="1261872"/>
          </a:xfrm>
          <a:prstGeom prst="roundRect">
            <a:avLst>
              <a:gd name="adj" fmla="val 6000"/>
            </a:avLst>
          </a:prstGeom>
          <a:solidFill>
            <a:srgbClr val="F7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22" name="Picture 21" descr="zek_topping_veg3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74552" y="1069848"/>
            <a:ext cx="855199" cy="1152144"/>
          </a:xfrm>
          <a:prstGeom prst="rect">
            <a:avLst/>
          </a:prstGeom>
        </p:spPr>
      </p:pic>
      <p:sp>
        <p:nvSpPr>
          <p:cNvPr id="23" name="Rounded Rectangle 22"/>
          <p:cNvSpPr/>
          <p:nvPr/>
        </p:nvSpPr>
        <p:spPr>
          <a:xfrm>
            <a:off x="2633472" y="2359152"/>
            <a:ext cx="954633" cy="201168"/>
          </a:xfrm>
          <a:prstGeom prst="roundRect">
            <a:avLst>
              <a:gd name="adj" fmla="val 50000"/>
            </a:avLst>
          </a:prstGeom>
          <a:solidFill>
            <a:srgbClr val="F8E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TextBox 23"/>
          <p:cNvSpPr txBox="1"/>
          <p:nvPr/>
        </p:nvSpPr>
        <p:spPr>
          <a:xfrm>
            <a:off x="2633472" y="2359152"/>
            <a:ext cx="954633" cy="20116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650" b="1" i="0">
                <a:solidFill>
                  <a:srgbClr val="C1512A"/>
                </a:solidFill>
                <a:latin typeface="Calibri"/>
              </a:rPr>
              <a:t>35 Г · ПАКЕТ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633472" y="2633472"/>
            <a:ext cx="1737359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8000"/>
              </a:lnSpc>
            </a:pPr>
            <a:r>
              <a:rPr sz="1100" b="1" i="0">
                <a:solidFill>
                  <a:srgbClr val="1C2A2F"/>
                </a:solidFill>
                <a:latin typeface="Cambria"/>
              </a:rPr>
              <a:t>Seaweed Topping
Vegetables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633472" y="3072384"/>
            <a:ext cx="1737359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750" b="0" i="0">
                <a:solidFill>
                  <a:srgbClr val="64757B"/>
                </a:solidFill>
                <a:latin typeface="Calibri"/>
              </a:rPr>
              <a:t>Норі-присипка з овочами. Дитячий дизайн паковання — позиція для полиці «здорове харчування».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2633472" y="3767328"/>
            <a:ext cx="1737359" cy="9144"/>
          </a:xfrm>
          <a:prstGeom prst="rect">
            <a:avLst/>
          </a:prstGeom>
          <a:solidFill>
            <a:srgbClr val="E2E6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TextBox 27"/>
          <p:cNvSpPr txBox="1"/>
          <p:nvPr/>
        </p:nvSpPr>
        <p:spPr>
          <a:xfrm>
            <a:off x="2633472" y="3831335"/>
            <a:ext cx="1737359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00" b="0" i="0">
                <a:solidFill>
                  <a:srgbClr val="1C2A2F"/>
                </a:solidFill>
                <a:latin typeface="Calibri"/>
              </a:rPr>
              <a:t>24 шт/карт. · FOB $0,40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2633472" y="4023359"/>
            <a:ext cx="1737359" cy="475488"/>
          </a:xfrm>
          <a:prstGeom prst="roundRect">
            <a:avLst>
              <a:gd name="adj" fmla="val 12000"/>
            </a:avLst>
          </a:prstGeom>
          <a:solidFill>
            <a:srgbClr val="C15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2633472" y="4078223"/>
            <a:ext cx="1737359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600" b="1" i="0">
                <a:solidFill>
                  <a:srgbClr val="FFFFFF"/>
                </a:solidFill>
                <a:latin typeface="Calibri"/>
              </a:rPr>
              <a:t>СОБІВАРТІСТЬ · 40′ КОНТЕЙНЕР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633472" y="4233672"/>
            <a:ext cx="173735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250" b="1" i="0">
                <a:solidFill>
                  <a:srgbClr val="FFFFFF"/>
                </a:solidFill>
                <a:latin typeface="Cambria"/>
              </a:rPr>
              <a:t>$0,621  ·  27,94 ₴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4645152" y="932688"/>
            <a:ext cx="1993391" cy="3657600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 w="9525">
            <a:solidFill>
              <a:srgbClr val="E2E6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Rounded Rectangle 32"/>
          <p:cNvSpPr/>
          <p:nvPr/>
        </p:nvSpPr>
        <p:spPr>
          <a:xfrm>
            <a:off x="4727448" y="1014984"/>
            <a:ext cx="1828799" cy="1261872"/>
          </a:xfrm>
          <a:prstGeom prst="roundRect">
            <a:avLst>
              <a:gd name="adj" fmla="val 6000"/>
            </a:avLst>
          </a:prstGeom>
          <a:solidFill>
            <a:srgbClr val="F7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34" name="Picture 33" descr="zek_topping_sesame35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218611" y="1069848"/>
            <a:ext cx="846473" cy="1152144"/>
          </a:xfrm>
          <a:prstGeom prst="rect">
            <a:avLst/>
          </a:prstGeom>
        </p:spPr>
      </p:pic>
      <p:sp>
        <p:nvSpPr>
          <p:cNvPr id="35" name="Rounded Rectangle 34"/>
          <p:cNvSpPr/>
          <p:nvPr/>
        </p:nvSpPr>
        <p:spPr>
          <a:xfrm>
            <a:off x="4773168" y="2359152"/>
            <a:ext cx="954633" cy="201168"/>
          </a:xfrm>
          <a:prstGeom prst="roundRect">
            <a:avLst>
              <a:gd name="adj" fmla="val 50000"/>
            </a:avLst>
          </a:prstGeom>
          <a:solidFill>
            <a:srgbClr val="F8E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6" name="TextBox 35"/>
          <p:cNvSpPr txBox="1"/>
          <p:nvPr/>
        </p:nvSpPr>
        <p:spPr>
          <a:xfrm>
            <a:off x="4773168" y="2359152"/>
            <a:ext cx="954633" cy="20116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650" b="1" i="0">
                <a:solidFill>
                  <a:srgbClr val="C1512A"/>
                </a:solidFill>
                <a:latin typeface="Calibri"/>
              </a:rPr>
              <a:t>35 Г · ПАКЕТ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773168" y="2633472"/>
            <a:ext cx="1737359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8000"/>
              </a:lnSpc>
            </a:pPr>
            <a:r>
              <a:rPr sz="1100" b="1" i="0">
                <a:solidFill>
                  <a:srgbClr val="1C2A2F"/>
                </a:solidFill>
                <a:latin typeface="Cambria"/>
              </a:rPr>
              <a:t>Seaweed Topping
Sesame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773168" y="3072384"/>
            <a:ext cx="1737359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750" b="0" i="0">
                <a:solidFill>
                  <a:srgbClr val="64757B"/>
                </a:solidFill>
                <a:latin typeface="Calibri"/>
              </a:rPr>
              <a:t>Норі-присипка з кунжутом. Базовий смак напрямку для щоденного вжитку.</a:t>
            </a:r>
          </a:p>
        </p:txBody>
      </p:sp>
      <p:sp>
        <p:nvSpPr>
          <p:cNvPr id="39" name="Rectangle 38"/>
          <p:cNvSpPr/>
          <p:nvPr/>
        </p:nvSpPr>
        <p:spPr>
          <a:xfrm>
            <a:off x="4773168" y="3767328"/>
            <a:ext cx="1737359" cy="9144"/>
          </a:xfrm>
          <a:prstGeom prst="rect">
            <a:avLst/>
          </a:prstGeom>
          <a:solidFill>
            <a:srgbClr val="E2E6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0" name="TextBox 39"/>
          <p:cNvSpPr txBox="1"/>
          <p:nvPr/>
        </p:nvSpPr>
        <p:spPr>
          <a:xfrm>
            <a:off x="4773168" y="3831335"/>
            <a:ext cx="1737359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00" b="0" i="0">
                <a:solidFill>
                  <a:srgbClr val="1C2A2F"/>
                </a:solidFill>
                <a:latin typeface="Calibri"/>
              </a:rPr>
              <a:t>24 шт/карт. · FOB $0,40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4773168" y="4023359"/>
            <a:ext cx="1737359" cy="475488"/>
          </a:xfrm>
          <a:prstGeom prst="roundRect">
            <a:avLst>
              <a:gd name="adj" fmla="val 12000"/>
            </a:avLst>
          </a:prstGeom>
          <a:solidFill>
            <a:srgbClr val="C15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2" name="TextBox 41"/>
          <p:cNvSpPr txBox="1"/>
          <p:nvPr/>
        </p:nvSpPr>
        <p:spPr>
          <a:xfrm>
            <a:off x="4773168" y="4078223"/>
            <a:ext cx="1737359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600" b="1" i="0">
                <a:solidFill>
                  <a:srgbClr val="FFFFFF"/>
                </a:solidFill>
                <a:latin typeface="Calibri"/>
              </a:rPr>
              <a:t>СОБІВАРТІСТЬ · 40′ КОНТЕЙНЕР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773168" y="4233672"/>
            <a:ext cx="173735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250" b="1" i="0">
                <a:solidFill>
                  <a:srgbClr val="FFFFFF"/>
                </a:solidFill>
                <a:latin typeface="Cambria"/>
              </a:rPr>
              <a:t>$0,621  ·  28,56 ₴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6784848" y="932688"/>
            <a:ext cx="1993391" cy="3657600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 w="9525">
            <a:solidFill>
              <a:srgbClr val="E2E6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5" name="Rounded Rectangle 44"/>
          <p:cNvSpPr/>
          <p:nvPr/>
        </p:nvSpPr>
        <p:spPr>
          <a:xfrm>
            <a:off x="6867144" y="1014984"/>
            <a:ext cx="1828799" cy="1261872"/>
          </a:xfrm>
          <a:prstGeom prst="roundRect">
            <a:avLst>
              <a:gd name="adj" fmla="val 6000"/>
            </a:avLst>
          </a:prstGeom>
          <a:solidFill>
            <a:srgbClr val="F7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46" name="Picture 45" descr="zek_topping_veg70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381820" y="1069848"/>
            <a:ext cx="799446" cy="1152144"/>
          </a:xfrm>
          <a:prstGeom prst="rect">
            <a:avLst/>
          </a:prstGeom>
        </p:spPr>
      </p:pic>
      <p:sp>
        <p:nvSpPr>
          <p:cNvPr id="47" name="Rounded Rectangle 46"/>
          <p:cNvSpPr/>
          <p:nvPr/>
        </p:nvSpPr>
        <p:spPr>
          <a:xfrm>
            <a:off x="6912864" y="2359152"/>
            <a:ext cx="954633" cy="201168"/>
          </a:xfrm>
          <a:prstGeom prst="roundRect">
            <a:avLst>
              <a:gd name="adj" fmla="val 50000"/>
            </a:avLst>
          </a:prstGeom>
          <a:solidFill>
            <a:srgbClr val="F8E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8" name="TextBox 47"/>
          <p:cNvSpPr txBox="1"/>
          <p:nvPr/>
        </p:nvSpPr>
        <p:spPr>
          <a:xfrm>
            <a:off x="6912864" y="2359152"/>
            <a:ext cx="954633" cy="20116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650" b="1" i="0">
                <a:solidFill>
                  <a:srgbClr val="C1512A"/>
                </a:solidFill>
                <a:latin typeface="Calibri"/>
              </a:rPr>
              <a:t>70 Г · ПАКЕТ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912864" y="2633472"/>
            <a:ext cx="1737359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8000"/>
              </a:lnSpc>
            </a:pPr>
            <a:r>
              <a:rPr sz="1100" b="1" i="0">
                <a:solidFill>
                  <a:srgbClr val="1C2A2F"/>
                </a:solidFill>
                <a:latin typeface="Cambria"/>
              </a:rPr>
              <a:t>Seaweed Topping
Vegetables · 70 г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912864" y="3072384"/>
            <a:ext cx="1737359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750" b="0" i="0">
                <a:solidFill>
                  <a:srgbClr val="64757B"/>
                </a:solidFill>
                <a:latin typeface="Calibri"/>
              </a:rPr>
              <a:t>Велика фасовка овочевої присипки. Найдорожча позиція у розрахунку ZEK.</a:t>
            </a:r>
          </a:p>
        </p:txBody>
      </p:sp>
      <p:sp>
        <p:nvSpPr>
          <p:cNvPr id="51" name="Rectangle 50"/>
          <p:cNvSpPr/>
          <p:nvPr/>
        </p:nvSpPr>
        <p:spPr>
          <a:xfrm>
            <a:off x="6912864" y="3767328"/>
            <a:ext cx="1737359" cy="9144"/>
          </a:xfrm>
          <a:prstGeom prst="rect">
            <a:avLst/>
          </a:prstGeom>
          <a:solidFill>
            <a:srgbClr val="E2E6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2" name="TextBox 51"/>
          <p:cNvSpPr txBox="1"/>
          <p:nvPr/>
        </p:nvSpPr>
        <p:spPr>
          <a:xfrm>
            <a:off x="6912864" y="3831335"/>
            <a:ext cx="1737359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00" b="0" i="0">
                <a:solidFill>
                  <a:srgbClr val="1C2A2F"/>
                </a:solidFill>
                <a:latin typeface="Calibri"/>
              </a:rPr>
              <a:t>24 шт/карт. · FOB $0,81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6912864" y="4023359"/>
            <a:ext cx="1737359" cy="475488"/>
          </a:xfrm>
          <a:prstGeom prst="roundRect">
            <a:avLst>
              <a:gd name="adj" fmla="val 12000"/>
            </a:avLst>
          </a:prstGeom>
          <a:solidFill>
            <a:srgbClr val="C15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4" name="TextBox 53"/>
          <p:cNvSpPr txBox="1"/>
          <p:nvPr/>
        </p:nvSpPr>
        <p:spPr>
          <a:xfrm>
            <a:off x="6912864" y="4078223"/>
            <a:ext cx="1737359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600" b="1" i="0">
                <a:solidFill>
                  <a:srgbClr val="FFFFFF"/>
                </a:solidFill>
                <a:latin typeface="Calibri"/>
              </a:rPr>
              <a:t>СОБІВАРТІСТЬ · 40′ КОНТЕЙНЕР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6912864" y="4233672"/>
            <a:ext cx="173735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250" b="1" i="0">
                <a:solidFill>
                  <a:srgbClr val="FFFFFF"/>
                </a:solidFill>
                <a:latin typeface="Cambria"/>
              </a:rPr>
              <a:t>$1,257  ·  59,10 ₴</a:t>
            </a:r>
          </a:p>
        </p:txBody>
      </p:sp>
      <p:sp>
        <p:nvSpPr>
          <p:cNvPr id="56" name="Rectangle 55"/>
          <p:cNvSpPr/>
          <p:nvPr/>
        </p:nvSpPr>
        <p:spPr>
          <a:xfrm>
            <a:off x="365760" y="4869180"/>
            <a:ext cx="8412480" cy="9144"/>
          </a:xfrm>
          <a:prstGeom prst="rect">
            <a:avLst/>
          </a:prstGeom>
          <a:solidFill>
            <a:srgbClr val="E2E6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7" name="TextBox 56"/>
          <p:cNvSpPr txBox="1"/>
          <p:nvPr/>
        </p:nvSpPr>
        <p:spPr>
          <a:xfrm>
            <a:off x="365760" y="4914900"/>
            <a:ext cx="78638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64757B"/>
                </a:solidFill>
                <a:latin typeface="Calibri"/>
              </a:rPr>
              <a:t>Собівартість — за одиницю товару, сценарій 40′ контейнер. Джерело: SelfCost.xlsx.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8229600" y="4914900"/>
            <a:ext cx="5486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750" b="1" i="0">
                <a:solidFill>
                  <a:srgbClr val="64757B"/>
                </a:solidFill>
                <a:latin typeface="Calibri"/>
              </a:rP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1423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ectangle 3"/>
          <p:cNvSpPr/>
          <p:nvPr/>
        </p:nvSpPr>
        <p:spPr>
          <a:xfrm>
            <a:off x="365760" y="617219"/>
            <a:ext cx="1737360" cy="41148"/>
          </a:xfrm>
          <a:prstGeom prst="rect">
            <a:avLst/>
          </a:prstGeom>
          <a:solidFill>
            <a:srgbClr val="C15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365760" y="91440"/>
            <a:ext cx="6400799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50" b="1" i="0">
                <a:solidFill>
                  <a:srgbClr val="D9A441"/>
                </a:solidFill>
                <a:latin typeface="Calibri"/>
              </a:rPr>
              <a:t>КАРТКИ ТОВАРІВ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256032"/>
            <a:ext cx="640079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 i="0">
                <a:solidFill>
                  <a:srgbClr val="FFFFFF"/>
                </a:solidFill>
                <a:latin typeface="Cambria"/>
              </a:rPr>
              <a:t>HanJin · ZEK — продукти · 4/4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0" y="219456"/>
            <a:ext cx="237744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1" i="0">
                <a:solidFill>
                  <a:srgbClr val="FFFFFF"/>
                </a:solidFill>
                <a:latin typeface="Calibri"/>
              </a:rPr>
              <a:t>ZEK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65760" y="932688"/>
            <a:ext cx="1993391" cy="3657600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 w="9525">
            <a:solidFill>
              <a:srgbClr val="E2E6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448056" y="1014984"/>
            <a:ext cx="1828799" cy="1261872"/>
          </a:xfrm>
          <a:prstGeom prst="roundRect">
            <a:avLst>
              <a:gd name="adj" fmla="val 6000"/>
            </a:avLst>
          </a:prstGeom>
          <a:solidFill>
            <a:srgbClr val="F7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0" name="Picture 9" descr="zek_topping_sesame7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9793" y="1069848"/>
            <a:ext cx="805325" cy="1152144"/>
          </a:xfrm>
          <a:prstGeom prst="rect">
            <a:avLst/>
          </a:prstGeom>
        </p:spPr>
      </p:pic>
      <p:sp>
        <p:nvSpPr>
          <p:cNvPr id="11" name="Rounded Rectangle 10"/>
          <p:cNvSpPr/>
          <p:nvPr/>
        </p:nvSpPr>
        <p:spPr>
          <a:xfrm>
            <a:off x="493776" y="2359152"/>
            <a:ext cx="954633" cy="201168"/>
          </a:xfrm>
          <a:prstGeom prst="roundRect">
            <a:avLst>
              <a:gd name="adj" fmla="val 50000"/>
            </a:avLst>
          </a:prstGeom>
          <a:solidFill>
            <a:srgbClr val="F8E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493776" y="2359152"/>
            <a:ext cx="954633" cy="20116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650" b="1" i="0">
                <a:solidFill>
                  <a:srgbClr val="C1512A"/>
                </a:solidFill>
                <a:latin typeface="Calibri"/>
              </a:rPr>
              <a:t>70 Г · ПАКЕТ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93776" y="2633472"/>
            <a:ext cx="1737359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8000"/>
              </a:lnSpc>
            </a:pPr>
            <a:r>
              <a:rPr sz="1100" b="1" i="0">
                <a:solidFill>
                  <a:srgbClr val="1C2A2F"/>
                </a:solidFill>
                <a:latin typeface="Cambria"/>
              </a:rPr>
              <a:t>Seaweed Topping
Sesame · 70 г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93776" y="3072384"/>
            <a:ext cx="1737359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750" b="0" i="0">
                <a:solidFill>
                  <a:srgbClr val="64757B"/>
                </a:solidFill>
                <a:latin typeface="Calibri"/>
              </a:rPr>
              <a:t>Велика фасовка кунжутної присипки — формат для родин та HoReCa.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93776" y="3767328"/>
            <a:ext cx="1737359" cy="9144"/>
          </a:xfrm>
          <a:prstGeom prst="rect">
            <a:avLst/>
          </a:prstGeom>
          <a:solidFill>
            <a:srgbClr val="E2E6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493776" y="3831335"/>
            <a:ext cx="1737359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00" b="0" i="0">
                <a:solidFill>
                  <a:srgbClr val="1C2A2F"/>
                </a:solidFill>
                <a:latin typeface="Calibri"/>
              </a:rPr>
              <a:t>24 шт/карт. · FOB $0,81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93776" y="4023359"/>
            <a:ext cx="1737359" cy="475488"/>
          </a:xfrm>
          <a:prstGeom prst="roundRect">
            <a:avLst>
              <a:gd name="adj" fmla="val 12000"/>
            </a:avLst>
          </a:prstGeom>
          <a:solidFill>
            <a:srgbClr val="C15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493776" y="4078223"/>
            <a:ext cx="1737359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600" b="1" i="0">
                <a:solidFill>
                  <a:srgbClr val="FFFFFF"/>
                </a:solidFill>
                <a:latin typeface="Calibri"/>
              </a:rPr>
              <a:t>СОБІВАРТІСТЬ · 40′ КОНТЕЙНЕР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93776" y="4233672"/>
            <a:ext cx="173735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250" b="1" i="0">
                <a:solidFill>
                  <a:srgbClr val="FFFFFF"/>
                </a:solidFill>
                <a:latin typeface="Cambria"/>
              </a:rPr>
              <a:t>$1,257  ·  60,35 ₴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2505456" y="932688"/>
            <a:ext cx="1993391" cy="3657600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 w="9525">
            <a:solidFill>
              <a:srgbClr val="E2E6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2587751" y="1014984"/>
            <a:ext cx="1828799" cy="1261872"/>
          </a:xfrm>
          <a:prstGeom prst="roundRect">
            <a:avLst>
              <a:gd name="adj" fmla="val 6000"/>
            </a:avLst>
          </a:prstGeom>
          <a:solidFill>
            <a:srgbClr val="F7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22" name="Picture 21" descr="zek_topping_chicken7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99489" y="1069848"/>
            <a:ext cx="805325" cy="1152144"/>
          </a:xfrm>
          <a:prstGeom prst="rect">
            <a:avLst/>
          </a:prstGeom>
        </p:spPr>
      </p:pic>
      <p:sp>
        <p:nvSpPr>
          <p:cNvPr id="23" name="Rounded Rectangle 22"/>
          <p:cNvSpPr/>
          <p:nvPr/>
        </p:nvSpPr>
        <p:spPr>
          <a:xfrm>
            <a:off x="2633472" y="2359152"/>
            <a:ext cx="954633" cy="201168"/>
          </a:xfrm>
          <a:prstGeom prst="roundRect">
            <a:avLst>
              <a:gd name="adj" fmla="val 50000"/>
            </a:avLst>
          </a:prstGeom>
          <a:solidFill>
            <a:srgbClr val="F8E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TextBox 23"/>
          <p:cNvSpPr txBox="1"/>
          <p:nvPr/>
        </p:nvSpPr>
        <p:spPr>
          <a:xfrm>
            <a:off x="2633472" y="2359152"/>
            <a:ext cx="954633" cy="20116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650" b="1" i="0">
                <a:solidFill>
                  <a:srgbClr val="C1512A"/>
                </a:solidFill>
                <a:latin typeface="Calibri"/>
              </a:rPr>
              <a:t>70 Г · ПАКЕТ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633472" y="2633472"/>
            <a:ext cx="1737359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8000"/>
              </a:lnSpc>
            </a:pPr>
            <a:r>
              <a:rPr sz="1100" b="1" i="0">
                <a:solidFill>
                  <a:srgbClr val="1C2A2F"/>
                </a:solidFill>
                <a:latin typeface="Cambria"/>
              </a:rPr>
              <a:t>Seaweed Topping
Chicken · 70 г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633472" y="3072384"/>
            <a:ext cx="1737359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750" b="0" i="0">
                <a:solidFill>
                  <a:srgbClr val="64757B"/>
                </a:solidFill>
                <a:latin typeface="Calibri"/>
              </a:rPr>
              <a:t>Велика фасовка присипки з курячою стружкою. Замикає лінійку 70 г.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2633472" y="3767328"/>
            <a:ext cx="1737359" cy="9144"/>
          </a:xfrm>
          <a:prstGeom prst="rect">
            <a:avLst/>
          </a:prstGeom>
          <a:solidFill>
            <a:srgbClr val="E2E6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TextBox 27"/>
          <p:cNvSpPr txBox="1"/>
          <p:nvPr/>
        </p:nvSpPr>
        <p:spPr>
          <a:xfrm>
            <a:off x="2633472" y="3831335"/>
            <a:ext cx="1737359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00" b="0" i="0">
                <a:solidFill>
                  <a:srgbClr val="1C2A2F"/>
                </a:solidFill>
                <a:latin typeface="Calibri"/>
              </a:rPr>
              <a:t>24 шт/карт. · FOB $0,81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2633472" y="4023359"/>
            <a:ext cx="1737359" cy="475488"/>
          </a:xfrm>
          <a:prstGeom prst="roundRect">
            <a:avLst>
              <a:gd name="adj" fmla="val 12000"/>
            </a:avLst>
          </a:prstGeom>
          <a:solidFill>
            <a:srgbClr val="C15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2633472" y="4078223"/>
            <a:ext cx="1737359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600" b="1" i="0">
                <a:solidFill>
                  <a:srgbClr val="FFFFFF"/>
                </a:solidFill>
                <a:latin typeface="Calibri"/>
              </a:rPr>
              <a:t>СОБІВАРТІСТЬ · 40′ КОНТЕЙНЕР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633472" y="4233672"/>
            <a:ext cx="173735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250" b="1" i="0">
                <a:solidFill>
                  <a:srgbClr val="FFFFFF"/>
                </a:solidFill>
                <a:latin typeface="Cambria"/>
              </a:rPr>
              <a:t>$1,257  ·  61,61 ₴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4645152" y="932688"/>
            <a:ext cx="4133087" cy="3657600"/>
          </a:xfrm>
          <a:prstGeom prst="roundRect">
            <a:avLst>
              <a:gd name="adj" fmla="val 7500"/>
            </a:avLst>
          </a:prstGeom>
          <a:solidFill>
            <a:srgbClr val="F7F4EE"/>
          </a:solidFill>
          <a:ln w="9525">
            <a:solidFill>
              <a:srgbClr val="E2E6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Rectangle 32"/>
          <p:cNvSpPr/>
          <p:nvPr/>
        </p:nvSpPr>
        <p:spPr>
          <a:xfrm>
            <a:off x="4645152" y="932688"/>
            <a:ext cx="45720" cy="3657600"/>
          </a:xfrm>
          <a:prstGeom prst="rect">
            <a:avLst/>
          </a:prstGeom>
          <a:solidFill>
            <a:srgbClr val="0E5C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TextBox 33"/>
          <p:cNvSpPr txBox="1"/>
          <p:nvPr/>
        </p:nvSpPr>
        <p:spPr>
          <a:xfrm>
            <a:off x="4901184" y="1170432"/>
            <a:ext cx="3621023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1" i="0">
                <a:solidFill>
                  <a:srgbClr val="C1512A"/>
                </a:solidFill>
                <a:latin typeface="Calibri"/>
              </a:rPr>
              <a:t>ПІДСУМОК ЛІНІЙКИ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901184" y="1408176"/>
            <a:ext cx="3621023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1" i="0">
                <a:solidFill>
                  <a:srgbClr val="1C2A2F"/>
                </a:solidFill>
                <a:latin typeface="Cambria"/>
              </a:rPr>
              <a:t>HanJin · ZEK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4901184" y="2011680"/>
            <a:ext cx="82296" cy="82296"/>
          </a:xfrm>
          <a:prstGeom prst="roundRect">
            <a:avLst>
              <a:gd name="adj" fmla="val 50000"/>
            </a:avLst>
          </a:prstGeom>
          <a:solidFill>
            <a:srgbClr val="C15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7" name="TextBox 36"/>
          <p:cNvSpPr txBox="1"/>
          <p:nvPr/>
        </p:nvSpPr>
        <p:spPr>
          <a:xfrm>
            <a:off x="5065776" y="1938528"/>
            <a:ext cx="3438144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C1512A"/>
                </a:solidFill>
                <a:latin typeface="Cambria"/>
              </a:rPr>
              <a:t>14 SKU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065776" y="2176272"/>
            <a:ext cx="3438144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750" b="0" i="0">
                <a:solidFill>
                  <a:srgbClr val="64757B"/>
                </a:solidFill>
                <a:latin typeface="Calibri"/>
              </a:rPr>
              <a:t>позицій із розрахованою собівартістю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4901184" y="2688336"/>
            <a:ext cx="82296" cy="82296"/>
          </a:xfrm>
          <a:prstGeom prst="roundRect">
            <a:avLst>
              <a:gd name="adj" fmla="val 50000"/>
            </a:avLst>
          </a:prstGeom>
          <a:solidFill>
            <a:srgbClr val="C15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0" name="TextBox 39"/>
          <p:cNvSpPr txBox="1"/>
          <p:nvPr/>
        </p:nvSpPr>
        <p:spPr>
          <a:xfrm>
            <a:off x="5065776" y="2615184"/>
            <a:ext cx="3438144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C1512A"/>
                </a:solidFill>
                <a:latin typeface="Cambria"/>
              </a:rPr>
              <a:t>21,65 – 61,61 ₴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065776" y="2852928"/>
            <a:ext cx="3438144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750" b="0" i="0">
                <a:solidFill>
                  <a:srgbClr val="64757B"/>
                </a:solidFill>
                <a:latin typeface="Calibri"/>
              </a:rPr>
              <a:t>розкид собівартості за сценарієм 40′ контейнер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4901184" y="3364992"/>
            <a:ext cx="82296" cy="82296"/>
          </a:xfrm>
          <a:prstGeom prst="roundRect">
            <a:avLst>
              <a:gd name="adj" fmla="val 50000"/>
            </a:avLst>
          </a:prstGeom>
          <a:solidFill>
            <a:srgbClr val="C15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3" name="TextBox 42"/>
          <p:cNvSpPr txBox="1"/>
          <p:nvPr/>
        </p:nvSpPr>
        <p:spPr>
          <a:xfrm>
            <a:off x="5065776" y="3291840"/>
            <a:ext cx="3438144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C1512A"/>
                </a:solidFill>
                <a:latin typeface="Cambria"/>
              </a:rPr>
              <a:t>21,65 ₴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065776" y="3529584"/>
            <a:ext cx="3438144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750" b="0" i="0">
                <a:solidFill>
                  <a:srgbClr val="64757B"/>
                </a:solidFill>
                <a:latin typeface="Calibri"/>
              </a:rPr>
              <a:t>найдешевша позиція — Sandwich Seaweed Meat Floss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901184" y="3931920"/>
            <a:ext cx="3621023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800" b="0" i="0">
                <a:solidFill>
                  <a:srgbClr val="1C2A2F"/>
                </a:solidFill>
                <a:latin typeface="Calibri"/>
              </a:rPr>
              <a:t>Повна таблиця собівартості за чотирма сценаріями логістики — на наступному слайді.</a:t>
            </a:r>
          </a:p>
        </p:txBody>
      </p:sp>
      <p:sp>
        <p:nvSpPr>
          <p:cNvPr id="46" name="Rectangle 45"/>
          <p:cNvSpPr/>
          <p:nvPr/>
        </p:nvSpPr>
        <p:spPr>
          <a:xfrm>
            <a:off x="365760" y="4869180"/>
            <a:ext cx="8412480" cy="9144"/>
          </a:xfrm>
          <a:prstGeom prst="rect">
            <a:avLst/>
          </a:prstGeom>
          <a:solidFill>
            <a:srgbClr val="E2E6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7" name="TextBox 46"/>
          <p:cNvSpPr txBox="1"/>
          <p:nvPr/>
        </p:nvSpPr>
        <p:spPr>
          <a:xfrm>
            <a:off x="365760" y="4914900"/>
            <a:ext cx="78638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64757B"/>
                </a:solidFill>
                <a:latin typeface="Calibri"/>
              </a:rPr>
              <a:t>Собівартість — за одиницю товару, сценарій 40′ контейнер. Джерело: SelfCost.xlsx.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229600" y="4914900"/>
            <a:ext cx="5486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750" b="1" i="0">
                <a:solidFill>
                  <a:srgbClr val="64757B"/>
                </a:solidFill>
                <a:latin typeface="Calibri"/>
              </a:rPr>
              <a:t>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1423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ectangle 3"/>
          <p:cNvSpPr/>
          <p:nvPr/>
        </p:nvSpPr>
        <p:spPr>
          <a:xfrm>
            <a:off x="365760" y="617219"/>
            <a:ext cx="1737360" cy="41148"/>
          </a:xfrm>
          <a:prstGeom prst="rect">
            <a:avLst/>
          </a:prstGeom>
          <a:solidFill>
            <a:srgbClr val="C15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365760" y="91440"/>
            <a:ext cx="6400799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50" b="1" i="0">
                <a:solidFill>
                  <a:srgbClr val="D9A441"/>
                </a:solidFill>
                <a:latin typeface="Calibri"/>
              </a:rPr>
              <a:t>ПОВНА ТАБЛИЦЯ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256032"/>
            <a:ext cx="640079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 i="0">
                <a:solidFill>
                  <a:srgbClr val="FFFFFF"/>
                </a:solidFill>
                <a:latin typeface="Cambria"/>
              </a:rPr>
              <a:t>HanJin · ZEK — собівартість за сценаріями · 1/2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0" y="219456"/>
            <a:ext cx="237744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1" i="0">
                <a:solidFill>
                  <a:srgbClr val="FFFFFF"/>
                </a:solidFill>
                <a:latin typeface="Calibri"/>
              </a:rPr>
              <a:t>ZEK</a:t>
            </a:r>
          </a:p>
        </p:txBody>
      </p:sp>
      <p:sp>
        <p:nvSpPr>
          <p:cNvPr id="8" name="Rectangle 7"/>
          <p:cNvSpPr/>
          <p:nvPr/>
        </p:nvSpPr>
        <p:spPr>
          <a:xfrm>
            <a:off x="365760" y="969264"/>
            <a:ext cx="8266176" cy="475488"/>
          </a:xfrm>
          <a:prstGeom prst="rect">
            <a:avLst/>
          </a:prstGeom>
          <a:solidFill>
            <a:srgbClr val="1423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475488" y="969264"/>
            <a:ext cx="2907791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800" b="1" i="0">
                <a:solidFill>
                  <a:srgbClr val="FFFFFF"/>
                </a:solidFill>
                <a:latin typeface="Calibri"/>
              </a:rPr>
              <a:t>Продукт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383279" y="969264"/>
            <a:ext cx="713232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800" b="1" i="0">
                <a:solidFill>
                  <a:srgbClr val="FFFFFF"/>
                </a:solidFill>
                <a:latin typeface="Calibri"/>
              </a:rPr>
              <a:t>FOB $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096511" y="969264"/>
            <a:ext cx="1133856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800" b="1" i="0">
                <a:solidFill>
                  <a:srgbClr val="FFFFFF"/>
                </a:solidFill>
                <a:latin typeface="Calibri"/>
              </a:rPr>
              <a:t>20′ контейнер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230368" y="969264"/>
            <a:ext cx="1133856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800" b="1" i="0">
                <a:solidFill>
                  <a:srgbClr val="FFFFFF"/>
                </a:solidFill>
                <a:latin typeface="Calibri"/>
              </a:rPr>
              <a:t>40′ контейнер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230368" y="969264"/>
            <a:ext cx="1133856" cy="41148"/>
          </a:xfrm>
          <a:prstGeom prst="rect">
            <a:avLst/>
          </a:prstGeom>
          <a:solidFill>
            <a:srgbClr val="D9A4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6364224" y="969264"/>
            <a:ext cx="1133856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800" b="1" i="0">
                <a:solidFill>
                  <a:srgbClr val="FFFFFF"/>
                </a:solidFill>
                <a:latin typeface="Calibri"/>
              </a:rPr>
              <a:t>Збірний 17 м³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498079" y="969264"/>
            <a:ext cx="1133856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800" b="1" i="0">
                <a:solidFill>
                  <a:srgbClr val="FFFFFF"/>
                </a:solidFill>
                <a:latin typeface="Calibri"/>
              </a:rPr>
              <a:t>Збірний 34 м³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65760" y="1444752"/>
            <a:ext cx="8266176" cy="274320"/>
          </a:xfrm>
          <a:prstGeom prst="rect">
            <a:avLst/>
          </a:prstGeom>
          <a:solidFill>
            <a:srgbClr val="F7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ectangle 16"/>
          <p:cNvSpPr/>
          <p:nvPr/>
        </p:nvSpPr>
        <p:spPr>
          <a:xfrm>
            <a:off x="5230368" y="1444752"/>
            <a:ext cx="1133856" cy="274320"/>
          </a:xfrm>
          <a:prstGeom prst="rect">
            <a:avLst/>
          </a:prstGeom>
          <a:solidFill>
            <a:srgbClr val="E4EF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475488" y="1444752"/>
            <a:ext cx="2834639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1" i="0">
                <a:solidFill>
                  <a:srgbClr val="1C2A2F"/>
                </a:solidFill>
                <a:latin typeface="Calibri"/>
              </a:rPr>
              <a:t>Tempura Seaweed Corn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383279" y="1444752"/>
            <a:ext cx="713232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750" b="0" i="0">
                <a:solidFill>
                  <a:srgbClr val="64757B"/>
                </a:solidFill>
                <a:latin typeface="Calibri"/>
              </a:rPr>
              <a:t>$0,43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096511" y="1444752"/>
            <a:ext cx="1133856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1" i="0">
                <a:solidFill>
                  <a:srgbClr val="1C2A2F"/>
                </a:solidFill>
                <a:latin typeface="Calibri"/>
              </a:rPr>
              <a:t>$0,879</a:t>
            </a:r>
          </a:p>
          <a:p>
            <a:pPr algn="ctr">
              <a:lnSpc>
                <a:spcPct val="100000"/>
              </a:lnSpc>
              <a:spcBef>
                <a:spcPts val="0"/>
              </a:spcBef>
            </a:pPr>
            <a:r>
              <a:rPr sz="700" b="0" i="0">
                <a:solidFill>
                  <a:srgbClr val="64757B"/>
                </a:solidFill>
                <a:latin typeface="Calibri"/>
              </a:rPr>
              <a:t>39,54 ₴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230368" y="1444752"/>
            <a:ext cx="1133856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1" i="0">
                <a:solidFill>
                  <a:srgbClr val="C1512A"/>
                </a:solidFill>
                <a:latin typeface="Calibri"/>
              </a:rPr>
              <a:t>$0,667</a:t>
            </a:r>
          </a:p>
          <a:p>
            <a:pPr algn="ctr">
              <a:lnSpc>
                <a:spcPct val="100000"/>
              </a:lnSpc>
              <a:spcBef>
                <a:spcPts val="0"/>
              </a:spcBef>
            </a:pPr>
            <a:r>
              <a:rPr sz="700" b="0" i="0">
                <a:solidFill>
                  <a:srgbClr val="64757B"/>
                </a:solidFill>
                <a:latin typeface="Calibri"/>
              </a:rPr>
              <a:t>30,04 ₴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64224" y="1444752"/>
            <a:ext cx="1133856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1" i="0">
                <a:solidFill>
                  <a:srgbClr val="1C2A2F"/>
                </a:solidFill>
                <a:latin typeface="Calibri"/>
              </a:rPr>
              <a:t>$1,443</a:t>
            </a:r>
          </a:p>
          <a:p>
            <a:pPr algn="ctr">
              <a:lnSpc>
                <a:spcPct val="100000"/>
              </a:lnSpc>
              <a:spcBef>
                <a:spcPts val="0"/>
              </a:spcBef>
            </a:pPr>
            <a:r>
              <a:rPr sz="700" b="0" i="0">
                <a:solidFill>
                  <a:srgbClr val="64757B"/>
                </a:solidFill>
                <a:latin typeface="Calibri"/>
              </a:rPr>
              <a:t>64,94 ₴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498079" y="1444752"/>
            <a:ext cx="1133856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1" i="0">
                <a:solidFill>
                  <a:srgbClr val="1C2A2F"/>
                </a:solidFill>
                <a:latin typeface="Calibri"/>
              </a:rPr>
              <a:t>$0,947</a:t>
            </a:r>
          </a:p>
          <a:p>
            <a:pPr algn="ctr">
              <a:lnSpc>
                <a:spcPct val="100000"/>
              </a:lnSpc>
              <a:spcBef>
                <a:spcPts val="0"/>
              </a:spcBef>
            </a:pPr>
            <a:r>
              <a:rPr sz="700" b="0" i="0">
                <a:solidFill>
                  <a:srgbClr val="64757B"/>
                </a:solidFill>
                <a:latin typeface="Calibri"/>
              </a:rPr>
              <a:t>42,60 ₴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230368" y="1719072"/>
            <a:ext cx="1133856" cy="274320"/>
          </a:xfrm>
          <a:prstGeom prst="rect">
            <a:avLst/>
          </a:prstGeom>
          <a:solidFill>
            <a:srgbClr val="E4EF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475488" y="1719072"/>
            <a:ext cx="2834639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1" i="0">
                <a:solidFill>
                  <a:srgbClr val="1C2A2F"/>
                </a:solidFill>
                <a:latin typeface="Calibri"/>
              </a:rPr>
              <a:t>Tempura Seaweed Wasabi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383279" y="1719072"/>
            <a:ext cx="713232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750" b="0" i="0">
                <a:solidFill>
                  <a:srgbClr val="64757B"/>
                </a:solidFill>
                <a:latin typeface="Calibri"/>
              </a:rPr>
              <a:t>$0,43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096511" y="1719072"/>
            <a:ext cx="1133856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1" i="0">
                <a:solidFill>
                  <a:srgbClr val="1C2A2F"/>
                </a:solidFill>
                <a:latin typeface="Calibri"/>
              </a:rPr>
              <a:t>$0,879</a:t>
            </a:r>
          </a:p>
          <a:p>
            <a:pPr algn="ctr">
              <a:lnSpc>
                <a:spcPct val="100000"/>
              </a:lnSpc>
              <a:spcBef>
                <a:spcPts val="0"/>
              </a:spcBef>
            </a:pPr>
            <a:r>
              <a:rPr sz="700" b="0" i="0">
                <a:solidFill>
                  <a:srgbClr val="64757B"/>
                </a:solidFill>
                <a:latin typeface="Calibri"/>
              </a:rPr>
              <a:t>39,54 ₴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230368" y="1719072"/>
            <a:ext cx="1133856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1" i="0">
                <a:solidFill>
                  <a:srgbClr val="C1512A"/>
                </a:solidFill>
                <a:latin typeface="Calibri"/>
              </a:rPr>
              <a:t>$0,667</a:t>
            </a:r>
          </a:p>
          <a:p>
            <a:pPr algn="ctr">
              <a:lnSpc>
                <a:spcPct val="100000"/>
              </a:lnSpc>
              <a:spcBef>
                <a:spcPts val="0"/>
              </a:spcBef>
            </a:pPr>
            <a:r>
              <a:rPr sz="700" b="0" i="0">
                <a:solidFill>
                  <a:srgbClr val="64757B"/>
                </a:solidFill>
                <a:latin typeface="Calibri"/>
              </a:rPr>
              <a:t>30,04 ₴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364224" y="1719072"/>
            <a:ext cx="1133856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1" i="0">
                <a:solidFill>
                  <a:srgbClr val="1C2A2F"/>
                </a:solidFill>
                <a:latin typeface="Calibri"/>
              </a:rPr>
              <a:t>$1,443</a:t>
            </a:r>
          </a:p>
          <a:p>
            <a:pPr algn="ctr">
              <a:lnSpc>
                <a:spcPct val="100000"/>
              </a:lnSpc>
              <a:spcBef>
                <a:spcPts val="0"/>
              </a:spcBef>
            </a:pPr>
            <a:r>
              <a:rPr sz="700" b="0" i="0">
                <a:solidFill>
                  <a:srgbClr val="64757B"/>
                </a:solidFill>
                <a:latin typeface="Calibri"/>
              </a:rPr>
              <a:t>64,94 ₴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498079" y="1719072"/>
            <a:ext cx="1133856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1" i="0">
                <a:solidFill>
                  <a:srgbClr val="1C2A2F"/>
                </a:solidFill>
                <a:latin typeface="Calibri"/>
              </a:rPr>
              <a:t>$0,947</a:t>
            </a:r>
          </a:p>
          <a:p>
            <a:pPr algn="ctr">
              <a:lnSpc>
                <a:spcPct val="100000"/>
              </a:lnSpc>
              <a:spcBef>
                <a:spcPts val="0"/>
              </a:spcBef>
            </a:pPr>
            <a:r>
              <a:rPr sz="700" b="0" i="0">
                <a:solidFill>
                  <a:srgbClr val="64757B"/>
                </a:solidFill>
                <a:latin typeface="Calibri"/>
              </a:rPr>
              <a:t>42,60 ₴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65760" y="1993392"/>
            <a:ext cx="8266176" cy="274320"/>
          </a:xfrm>
          <a:prstGeom prst="rect">
            <a:avLst/>
          </a:prstGeom>
          <a:solidFill>
            <a:srgbClr val="F7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2" name="Rectangle 31"/>
          <p:cNvSpPr/>
          <p:nvPr/>
        </p:nvSpPr>
        <p:spPr>
          <a:xfrm>
            <a:off x="5230368" y="1993392"/>
            <a:ext cx="1133856" cy="274320"/>
          </a:xfrm>
          <a:prstGeom prst="rect">
            <a:avLst/>
          </a:prstGeom>
          <a:solidFill>
            <a:srgbClr val="E4EF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TextBox 32"/>
          <p:cNvSpPr txBox="1"/>
          <p:nvPr/>
        </p:nvSpPr>
        <p:spPr>
          <a:xfrm>
            <a:off x="475488" y="1993392"/>
            <a:ext cx="2834639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1" i="0">
                <a:solidFill>
                  <a:srgbClr val="1C2A2F"/>
                </a:solidFill>
                <a:latin typeface="Calibri"/>
              </a:rPr>
              <a:t>Tempura Seaweed Mala Crawfish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383279" y="1993392"/>
            <a:ext cx="713232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750" b="0" i="0">
                <a:solidFill>
                  <a:srgbClr val="64757B"/>
                </a:solidFill>
                <a:latin typeface="Calibri"/>
              </a:rPr>
              <a:t>$0,43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096511" y="1993392"/>
            <a:ext cx="1133856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1" i="0">
                <a:solidFill>
                  <a:srgbClr val="1C2A2F"/>
                </a:solidFill>
                <a:latin typeface="Calibri"/>
              </a:rPr>
              <a:t>$0,879</a:t>
            </a:r>
          </a:p>
          <a:p>
            <a:pPr algn="ctr">
              <a:lnSpc>
                <a:spcPct val="100000"/>
              </a:lnSpc>
              <a:spcBef>
                <a:spcPts val="0"/>
              </a:spcBef>
            </a:pPr>
            <a:r>
              <a:rPr sz="700" b="0" i="0">
                <a:solidFill>
                  <a:srgbClr val="64757B"/>
                </a:solidFill>
                <a:latin typeface="Calibri"/>
              </a:rPr>
              <a:t>39,54 ₴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230368" y="1993392"/>
            <a:ext cx="1133856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1" i="0">
                <a:solidFill>
                  <a:srgbClr val="C1512A"/>
                </a:solidFill>
                <a:latin typeface="Calibri"/>
              </a:rPr>
              <a:t>$0,667</a:t>
            </a:r>
          </a:p>
          <a:p>
            <a:pPr algn="ctr">
              <a:lnSpc>
                <a:spcPct val="100000"/>
              </a:lnSpc>
              <a:spcBef>
                <a:spcPts val="0"/>
              </a:spcBef>
            </a:pPr>
            <a:r>
              <a:rPr sz="700" b="0" i="0">
                <a:solidFill>
                  <a:srgbClr val="64757B"/>
                </a:solidFill>
                <a:latin typeface="Calibri"/>
              </a:rPr>
              <a:t>30,04 ₴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364224" y="1993392"/>
            <a:ext cx="1133856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1" i="0">
                <a:solidFill>
                  <a:srgbClr val="1C2A2F"/>
                </a:solidFill>
                <a:latin typeface="Calibri"/>
              </a:rPr>
              <a:t>$1,443</a:t>
            </a:r>
          </a:p>
          <a:p>
            <a:pPr algn="ctr">
              <a:lnSpc>
                <a:spcPct val="100000"/>
              </a:lnSpc>
              <a:spcBef>
                <a:spcPts val="0"/>
              </a:spcBef>
            </a:pPr>
            <a:r>
              <a:rPr sz="700" b="0" i="0">
                <a:solidFill>
                  <a:srgbClr val="64757B"/>
                </a:solidFill>
                <a:latin typeface="Calibri"/>
              </a:rPr>
              <a:t>64,94 ₴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498079" y="1993392"/>
            <a:ext cx="1133856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1" i="0">
                <a:solidFill>
                  <a:srgbClr val="1C2A2F"/>
                </a:solidFill>
                <a:latin typeface="Calibri"/>
              </a:rPr>
              <a:t>$0,947</a:t>
            </a:r>
          </a:p>
          <a:p>
            <a:pPr algn="ctr">
              <a:lnSpc>
                <a:spcPct val="100000"/>
              </a:lnSpc>
              <a:spcBef>
                <a:spcPts val="0"/>
              </a:spcBef>
            </a:pPr>
            <a:r>
              <a:rPr sz="700" b="0" i="0">
                <a:solidFill>
                  <a:srgbClr val="64757B"/>
                </a:solidFill>
                <a:latin typeface="Calibri"/>
              </a:rPr>
              <a:t>42,60 ₴</a:t>
            </a:r>
          </a:p>
        </p:txBody>
      </p:sp>
      <p:sp>
        <p:nvSpPr>
          <p:cNvPr id="39" name="Rectangle 38"/>
          <p:cNvSpPr/>
          <p:nvPr/>
        </p:nvSpPr>
        <p:spPr>
          <a:xfrm>
            <a:off x="5230368" y="2267712"/>
            <a:ext cx="1133856" cy="274320"/>
          </a:xfrm>
          <a:prstGeom prst="rect">
            <a:avLst/>
          </a:prstGeom>
          <a:solidFill>
            <a:srgbClr val="E4EF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0" name="TextBox 39"/>
          <p:cNvSpPr txBox="1"/>
          <p:nvPr/>
        </p:nvSpPr>
        <p:spPr>
          <a:xfrm>
            <a:off x="475488" y="2267712"/>
            <a:ext cx="2834639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1" i="0">
                <a:solidFill>
                  <a:srgbClr val="1C2A2F"/>
                </a:solidFill>
                <a:latin typeface="Calibri"/>
              </a:rPr>
              <a:t>Tempura Seaweed Corn · 50 г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383279" y="2267712"/>
            <a:ext cx="713232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750" b="0" i="0">
                <a:solidFill>
                  <a:srgbClr val="64757B"/>
                </a:solidFill>
                <a:latin typeface="Calibri"/>
              </a:rPr>
              <a:t>$0,65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096511" y="2267712"/>
            <a:ext cx="1133856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1" i="0">
                <a:solidFill>
                  <a:srgbClr val="1C2A2F"/>
                </a:solidFill>
                <a:latin typeface="Calibri"/>
              </a:rPr>
              <a:t>$1,328</a:t>
            </a:r>
          </a:p>
          <a:p>
            <a:pPr algn="ctr">
              <a:lnSpc>
                <a:spcPct val="100000"/>
              </a:lnSpc>
              <a:spcBef>
                <a:spcPts val="0"/>
              </a:spcBef>
            </a:pPr>
            <a:r>
              <a:rPr sz="700" b="0" i="0">
                <a:solidFill>
                  <a:srgbClr val="64757B"/>
                </a:solidFill>
                <a:latin typeface="Calibri"/>
              </a:rPr>
              <a:t>59,77 ₴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230368" y="2267712"/>
            <a:ext cx="1133856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1" i="0">
                <a:solidFill>
                  <a:srgbClr val="C1512A"/>
                </a:solidFill>
                <a:latin typeface="Calibri"/>
              </a:rPr>
              <a:t>$1,009</a:t>
            </a:r>
          </a:p>
          <a:p>
            <a:pPr algn="ctr">
              <a:lnSpc>
                <a:spcPct val="100000"/>
              </a:lnSpc>
              <a:spcBef>
                <a:spcPts val="0"/>
              </a:spcBef>
            </a:pPr>
            <a:r>
              <a:rPr sz="700" b="0" i="0">
                <a:solidFill>
                  <a:srgbClr val="64757B"/>
                </a:solidFill>
                <a:latin typeface="Calibri"/>
              </a:rPr>
              <a:t>45,40 ₴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364224" y="2267712"/>
            <a:ext cx="1133856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1" i="0">
                <a:solidFill>
                  <a:srgbClr val="1C2A2F"/>
                </a:solidFill>
                <a:latin typeface="Calibri"/>
              </a:rPr>
              <a:t>$2,181</a:t>
            </a:r>
          </a:p>
          <a:p>
            <a:pPr algn="ctr">
              <a:lnSpc>
                <a:spcPct val="100000"/>
              </a:lnSpc>
              <a:spcBef>
                <a:spcPts val="0"/>
              </a:spcBef>
            </a:pPr>
            <a:r>
              <a:rPr sz="700" b="0" i="0">
                <a:solidFill>
                  <a:srgbClr val="64757B"/>
                </a:solidFill>
                <a:latin typeface="Calibri"/>
              </a:rPr>
              <a:t>98,16 ₴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498079" y="2267712"/>
            <a:ext cx="1133856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1" i="0">
                <a:solidFill>
                  <a:srgbClr val="1C2A2F"/>
                </a:solidFill>
                <a:latin typeface="Calibri"/>
              </a:rPr>
              <a:t>$1,431</a:t>
            </a:r>
          </a:p>
          <a:p>
            <a:pPr algn="ctr">
              <a:lnSpc>
                <a:spcPct val="100000"/>
              </a:lnSpc>
              <a:spcBef>
                <a:spcPts val="0"/>
              </a:spcBef>
            </a:pPr>
            <a:r>
              <a:rPr sz="700" b="0" i="0">
                <a:solidFill>
                  <a:srgbClr val="64757B"/>
                </a:solidFill>
                <a:latin typeface="Calibri"/>
              </a:rPr>
              <a:t>64,40 ₴</a:t>
            </a:r>
          </a:p>
        </p:txBody>
      </p:sp>
      <p:sp>
        <p:nvSpPr>
          <p:cNvPr id="46" name="Rectangle 45"/>
          <p:cNvSpPr/>
          <p:nvPr/>
        </p:nvSpPr>
        <p:spPr>
          <a:xfrm>
            <a:off x="365760" y="2542032"/>
            <a:ext cx="8266176" cy="274320"/>
          </a:xfrm>
          <a:prstGeom prst="rect">
            <a:avLst/>
          </a:prstGeom>
          <a:solidFill>
            <a:srgbClr val="F7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7" name="Rectangle 46"/>
          <p:cNvSpPr/>
          <p:nvPr/>
        </p:nvSpPr>
        <p:spPr>
          <a:xfrm>
            <a:off x="5230368" y="2542032"/>
            <a:ext cx="1133856" cy="274320"/>
          </a:xfrm>
          <a:prstGeom prst="rect">
            <a:avLst/>
          </a:prstGeom>
          <a:solidFill>
            <a:srgbClr val="E4EF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8" name="TextBox 47"/>
          <p:cNvSpPr txBox="1"/>
          <p:nvPr/>
        </p:nvSpPr>
        <p:spPr>
          <a:xfrm>
            <a:off x="475488" y="2542032"/>
            <a:ext cx="2834639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1" i="0">
                <a:solidFill>
                  <a:srgbClr val="1C2A2F"/>
                </a:solidFill>
                <a:latin typeface="Calibri"/>
              </a:rPr>
              <a:t>Tempura Seaweed Wasabi · 50 г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3383279" y="2542032"/>
            <a:ext cx="713232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750" b="0" i="0">
                <a:solidFill>
                  <a:srgbClr val="64757B"/>
                </a:solidFill>
                <a:latin typeface="Calibri"/>
              </a:rPr>
              <a:t>$0,65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4096511" y="2542032"/>
            <a:ext cx="1133856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1" i="0">
                <a:solidFill>
                  <a:srgbClr val="1C2A2F"/>
                </a:solidFill>
                <a:latin typeface="Calibri"/>
              </a:rPr>
              <a:t>$1,328</a:t>
            </a:r>
          </a:p>
          <a:p>
            <a:pPr algn="ctr">
              <a:lnSpc>
                <a:spcPct val="100000"/>
              </a:lnSpc>
              <a:spcBef>
                <a:spcPts val="0"/>
              </a:spcBef>
            </a:pPr>
            <a:r>
              <a:rPr sz="700" b="0" i="0">
                <a:solidFill>
                  <a:srgbClr val="64757B"/>
                </a:solidFill>
                <a:latin typeface="Calibri"/>
              </a:rPr>
              <a:t>59,77 ₴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230368" y="2542032"/>
            <a:ext cx="1133856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1" i="0">
                <a:solidFill>
                  <a:srgbClr val="C1512A"/>
                </a:solidFill>
                <a:latin typeface="Calibri"/>
              </a:rPr>
              <a:t>$1,009</a:t>
            </a:r>
          </a:p>
          <a:p>
            <a:pPr algn="ctr">
              <a:lnSpc>
                <a:spcPct val="100000"/>
              </a:lnSpc>
              <a:spcBef>
                <a:spcPts val="0"/>
              </a:spcBef>
            </a:pPr>
            <a:r>
              <a:rPr sz="700" b="0" i="0">
                <a:solidFill>
                  <a:srgbClr val="64757B"/>
                </a:solidFill>
                <a:latin typeface="Calibri"/>
              </a:rPr>
              <a:t>45,40 ₴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364224" y="2542032"/>
            <a:ext cx="1133856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1" i="0">
                <a:solidFill>
                  <a:srgbClr val="1C2A2F"/>
                </a:solidFill>
                <a:latin typeface="Calibri"/>
              </a:rPr>
              <a:t>$2,181</a:t>
            </a:r>
          </a:p>
          <a:p>
            <a:pPr algn="ctr">
              <a:lnSpc>
                <a:spcPct val="100000"/>
              </a:lnSpc>
              <a:spcBef>
                <a:spcPts val="0"/>
              </a:spcBef>
            </a:pPr>
            <a:r>
              <a:rPr sz="700" b="0" i="0">
                <a:solidFill>
                  <a:srgbClr val="64757B"/>
                </a:solidFill>
                <a:latin typeface="Calibri"/>
              </a:rPr>
              <a:t>98,16 ₴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7498079" y="2542032"/>
            <a:ext cx="1133856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1" i="0">
                <a:solidFill>
                  <a:srgbClr val="1C2A2F"/>
                </a:solidFill>
                <a:latin typeface="Calibri"/>
              </a:rPr>
              <a:t>$1,431</a:t>
            </a:r>
          </a:p>
          <a:p>
            <a:pPr algn="ctr">
              <a:lnSpc>
                <a:spcPct val="100000"/>
              </a:lnSpc>
              <a:spcBef>
                <a:spcPts val="0"/>
              </a:spcBef>
            </a:pPr>
            <a:r>
              <a:rPr sz="700" b="0" i="0">
                <a:solidFill>
                  <a:srgbClr val="64757B"/>
                </a:solidFill>
                <a:latin typeface="Calibri"/>
              </a:rPr>
              <a:t>64,40 ₴</a:t>
            </a:r>
          </a:p>
        </p:txBody>
      </p:sp>
      <p:sp>
        <p:nvSpPr>
          <p:cNvPr id="54" name="Rectangle 53"/>
          <p:cNvSpPr/>
          <p:nvPr/>
        </p:nvSpPr>
        <p:spPr>
          <a:xfrm>
            <a:off x="5230368" y="2816351"/>
            <a:ext cx="1133856" cy="274320"/>
          </a:xfrm>
          <a:prstGeom prst="rect">
            <a:avLst/>
          </a:prstGeom>
          <a:solidFill>
            <a:srgbClr val="E4EF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5" name="TextBox 54"/>
          <p:cNvSpPr txBox="1"/>
          <p:nvPr/>
        </p:nvSpPr>
        <p:spPr>
          <a:xfrm>
            <a:off x="475488" y="2816351"/>
            <a:ext cx="2834639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1" i="0">
                <a:solidFill>
                  <a:srgbClr val="1C2A2F"/>
                </a:solidFill>
                <a:latin typeface="Calibri"/>
              </a:rPr>
              <a:t>Tempura Seaweed Mala · 50 г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3383279" y="2816351"/>
            <a:ext cx="713232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750" b="0" i="0">
                <a:solidFill>
                  <a:srgbClr val="64757B"/>
                </a:solidFill>
                <a:latin typeface="Calibri"/>
              </a:rPr>
              <a:t>$0,65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4096511" y="2816351"/>
            <a:ext cx="1133856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1" i="0">
                <a:solidFill>
                  <a:srgbClr val="1C2A2F"/>
                </a:solidFill>
                <a:latin typeface="Calibri"/>
              </a:rPr>
              <a:t>$1,328</a:t>
            </a:r>
          </a:p>
          <a:p>
            <a:pPr algn="ctr">
              <a:lnSpc>
                <a:spcPct val="100000"/>
              </a:lnSpc>
              <a:spcBef>
                <a:spcPts val="0"/>
              </a:spcBef>
            </a:pPr>
            <a:r>
              <a:rPr sz="700" b="0" i="0">
                <a:solidFill>
                  <a:srgbClr val="64757B"/>
                </a:solidFill>
                <a:latin typeface="Calibri"/>
              </a:rPr>
              <a:t>59,77 ₴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5230368" y="2816351"/>
            <a:ext cx="1133856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1" i="0">
                <a:solidFill>
                  <a:srgbClr val="C1512A"/>
                </a:solidFill>
                <a:latin typeface="Calibri"/>
              </a:rPr>
              <a:t>$1,009</a:t>
            </a:r>
          </a:p>
          <a:p>
            <a:pPr algn="ctr">
              <a:lnSpc>
                <a:spcPct val="100000"/>
              </a:lnSpc>
              <a:spcBef>
                <a:spcPts val="0"/>
              </a:spcBef>
            </a:pPr>
            <a:r>
              <a:rPr sz="700" b="0" i="0">
                <a:solidFill>
                  <a:srgbClr val="64757B"/>
                </a:solidFill>
                <a:latin typeface="Calibri"/>
              </a:rPr>
              <a:t>45,40 ₴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6364224" y="2816351"/>
            <a:ext cx="1133856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1" i="0">
                <a:solidFill>
                  <a:srgbClr val="1C2A2F"/>
                </a:solidFill>
                <a:latin typeface="Calibri"/>
              </a:rPr>
              <a:t>$2,181</a:t>
            </a:r>
          </a:p>
          <a:p>
            <a:pPr algn="ctr">
              <a:lnSpc>
                <a:spcPct val="100000"/>
              </a:lnSpc>
              <a:spcBef>
                <a:spcPts val="0"/>
              </a:spcBef>
            </a:pPr>
            <a:r>
              <a:rPr sz="700" b="0" i="0">
                <a:solidFill>
                  <a:srgbClr val="64757B"/>
                </a:solidFill>
                <a:latin typeface="Calibri"/>
              </a:rPr>
              <a:t>98,16 ₴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7498079" y="2816351"/>
            <a:ext cx="1133856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1" i="0">
                <a:solidFill>
                  <a:srgbClr val="1C2A2F"/>
                </a:solidFill>
                <a:latin typeface="Calibri"/>
              </a:rPr>
              <a:t>$1,431</a:t>
            </a:r>
          </a:p>
          <a:p>
            <a:pPr algn="ctr">
              <a:lnSpc>
                <a:spcPct val="100000"/>
              </a:lnSpc>
              <a:spcBef>
                <a:spcPts val="0"/>
              </a:spcBef>
            </a:pPr>
            <a:r>
              <a:rPr sz="700" b="0" i="0">
                <a:solidFill>
                  <a:srgbClr val="64757B"/>
                </a:solidFill>
                <a:latin typeface="Calibri"/>
              </a:rPr>
              <a:t>64,40 ₴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3090671"/>
            <a:ext cx="8266176" cy="274320"/>
          </a:xfrm>
          <a:prstGeom prst="rect">
            <a:avLst/>
          </a:prstGeom>
          <a:solidFill>
            <a:srgbClr val="F7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2" name="Rectangle 61"/>
          <p:cNvSpPr/>
          <p:nvPr/>
        </p:nvSpPr>
        <p:spPr>
          <a:xfrm>
            <a:off x="5230368" y="3090671"/>
            <a:ext cx="1133856" cy="274320"/>
          </a:xfrm>
          <a:prstGeom prst="rect">
            <a:avLst/>
          </a:prstGeom>
          <a:solidFill>
            <a:srgbClr val="E4EF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3" name="TextBox 62"/>
          <p:cNvSpPr txBox="1"/>
          <p:nvPr/>
        </p:nvSpPr>
        <p:spPr>
          <a:xfrm>
            <a:off x="475488" y="3090671"/>
            <a:ext cx="2834639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1" i="0">
                <a:solidFill>
                  <a:srgbClr val="1C2A2F"/>
                </a:solidFill>
                <a:latin typeface="Calibri"/>
              </a:rPr>
              <a:t>Sandwich Seaweed Meat Floss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3383279" y="3090671"/>
            <a:ext cx="713232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750" b="0" i="0">
                <a:solidFill>
                  <a:srgbClr val="64757B"/>
                </a:solidFill>
                <a:latin typeface="Calibri"/>
              </a:rPr>
              <a:t>$0,31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4096511" y="3090671"/>
            <a:ext cx="1133856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1" i="0">
                <a:solidFill>
                  <a:srgbClr val="1C2A2F"/>
                </a:solidFill>
                <a:latin typeface="Calibri"/>
              </a:rPr>
              <a:t>$0,633</a:t>
            </a:r>
          </a:p>
          <a:p>
            <a:pPr algn="ctr">
              <a:lnSpc>
                <a:spcPct val="100000"/>
              </a:lnSpc>
              <a:spcBef>
                <a:spcPts val="0"/>
              </a:spcBef>
            </a:pPr>
            <a:r>
              <a:rPr sz="700" b="0" i="0">
                <a:solidFill>
                  <a:srgbClr val="64757B"/>
                </a:solidFill>
                <a:latin typeface="Calibri"/>
              </a:rPr>
              <a:t>28,51 ₴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5230368" y="3090671"/>
            <a:ext cx="1133856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1" i="0">
                <a:solidFill>
                  <a:srgbClr val="C1512A"/>
                </a:solidFill>
                <a:latin typeface="Calibri"/>
              </a:rPr>
              <a:t>$0,481</a:t>
            </a:r>
          </a:p>
          <a:p>
            <a:pPr algn="ctr">
              <a:lnSpc>
                <a:spcPct val="100000"/>
              </a:lnSpc>
              <a:spcBef>
                <a:spcPts val="0"/>
              </a:spcBef>
            </a:pPr>
            <a:r>
              <a:rPr sz="700" b="0" i="0">
                <a:solidFill>
                  <a:srgbClr val="64757B"/>
                </a:solidFill>
                <a:latin typeface="Calibri"/>
              </a:rPr>
              <a:t>21,65 ₴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6364224" y="3090671"/>
            <a:ext cx="1133856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1" i="0">
                <a:solidFill>
                  <a:srgbClr val="1C2A2F"/>
                </a:solidFill>
                <a:latin typeface="Calibri"/>
              </a:rPr>
              <a:t>$1,040</a:t>
            </a:r>
          </a:p>
          <a:p>
            <a:pPr algn="ctr">
              <a:lnSpc>
                <a:spcPct val="100000"/>
              </a:lnSpc>
              <a:spcBef>
                <a:spcPts val="0"/>
              </a:spcBef>
            </a:pPr>
            <a:r>
              <a:rPr sz="700" b="0" i="0">
                <a:solidFill>
                  <a:srgbClr val="64757B"/>
                </a:solidFill>
                <a:latin typeface="Calibri"/>
              </a:rPr>
              <a:t>46,81 ₴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7498079" y="3090671"/>
            <a:ext cx="1133856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1" i="0">
                <a:solidFill>
                  <a:srgbClr val="1C2A2F"/>
                </a:solidFill>
                <a:latin typeface="Calibri"/>
              </a:rPr>
              <a:t>$0,682</a:t>
            </a:r>
          </a:p>
          <a:p>
            <a:pPr algn="ctr">
              <a:lnSpc>
                <a:spcPct val="100000"/>
              </a:lnSpc>
              <a:spcBef>
                <a:spcPts val="0"/>
              </a:spcBef>
            </a:pPr>
            <a:r>
              <a:rPr sz="700" b="0" i="0">
                <a:solidFill>
                  <a:srgbClr val="64757B"/>
                </a:solidFill>
                <a:latin typeface="Calibri"/>
              </a:rPr>
              <a:t>30,71 ₴</a:t>
            </a:r>
          </a:p>
        </p:txBody>
      </p:sp>
      <p:sp>
        <p:nvSpPr>
          <p:cNvPr id="69" name="Rectangle 68"/>
          <p:cNvSpPr/>
          <p:nvPr/>
        </p:nvSpPr>
        <p:spPr>
          <a:xfrm>
            <a:off x="5230368" y="3364991"/>
            <a:ext cx="1133856" cy="274320"/>
          </a:xfrm>
          <a:prstGeom prst="rect">
            <a:avLst/>
          </a:prstGeom>
          <a:solidFill>
            <a:srgbClr val="E4EF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0" name="TextBox 69"/>
          <p:cNvSpPr txBox="1"/>
          <p:nvPr/>
        </p:nvSpPr>
        <p:spPr>
          <a:xfrm>
            <a:off x="475488" y="3364991"/>
            <a:ext cx="2834639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1" i="0">
                <a:solidFill>
                  <a:srgbClr val="1C2A2F"/>
                </a:solidFill>
                <a:latin typeface="Calibri"/>
              </a:rPr>
              <a:t>Sandwich Seaweed Sesame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3383279" y="3364991"/>
            <a:ext cx="713232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750" b="0" i="0">
                <a:solidFill>
                  <a:srgbClr val="64757B"/>
                </a:solidFill>
                <a:latin typeface="Calibri"/>
              </a:rPr>
              <a:t>$0,31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4096511" y="3364991"/>
            <a:ext cx="1133856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1" i="0">
                <a:solidFill>
                  <a:srgbClr val="1C2A2F"/>
                </a:solidFill>
                <a:latin typeface="Calibri"/>
              </a:rPr>
              <a:t>$0,633</a:t>
            </a:r>
          </a:p>
          <a:p>
            <a:pPr algn="ctr">
              <a:lnSpc>
                <a:spcPct val="100000"/>
              </a:lnSpc>
              <a:spcBef>
                <a:spcPts val="0"/>
              </a:spcBef>
            </a:pPr>
            <a:r>
              <a:rPr sz="700" b="0" i="0">
                <a:solidFill>
                  <a:srgbClr val="64757B"/>
                </a:solidFill>
                <a:latin typeface="Calibri"/>
              </a:rPr>
              <a:t>29,14 ₴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5230368" y="3364991"/>
            <a:ext cx="1133856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1" i="0">
                <a:solidFill>
                  <a:srgbClr val="C1512A"/>
                </a:solidFill>
                <a:latin typeface="Calibri"/>
              </a:rPr>
              <a:t>$0,481</a:t>
            </a:r>
          </a:p>
          <a:p>
            <a:pPr algn="ctr">
              <a:lnSpc>
                <a:spcPct val="100000"/>
              </a:lnSpc>
              <a:spcBef>
                <a:spcPts val="0"/>
              </a:spcBef>
            </a:pPr>
            <a:r>
              <a:rPr sz="700" b="0" i="0">
                <a:solidFill>
                  <a:srgbClr val="64757B"/>
                </a:solidFill>
                <a:latin typeface="Calibri"/>
              </a:rPr>
              <a:t>22,14 ₴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6364224" y="3364991"/>
            <a:ext cx="1133856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1" i="0">
                <a:solidFill>
                  <a:srgbClr val="1C2A2F"/>
                </a:solidFill>
                <a:latin typeface="Calibri"/>
              </a:rPr>
              <a:t>$1,040</a:t>
            </a:r>
          </a:p>
          <a:p>
            <a:pPr algn="ctr">
              <a:lnSpc>
                <a:spcPct val="100000"/>
              </a:lnSpc>
              <a:spcBef>
                <a:spcPts val="0"/>
              </a:spcBef>
            </a:pPr>
            <a:r>
              <a:rPr sz="700" b="0" i="0">
                <a:solidFill>
                  <a:srgbClr val="64757B"/>
                </a:solidFill>
                <a:latin typeface="Calibri"/>
              </a:rPr>
              <a:t>47,85 ₴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7498079" y="3364991"/>
            <a:ext cx="1133856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1" i="0">
                <a:solidFill>
                  <a:srgbClr val="1C2A2F"/>
                </a:solidFill>
                <a:latin typeface="Calibri"/>
              </a:rPr>
              <a:t>$0,682</a:t>
            </a:r>
          </a:p>
          <a:p>
            <a:pPr algn="ctr">
              <a:lnSpc>
                <a:spcPct val="100000"/>
              </a:lnSpc>
              <a:spcBef>
                <a:spcPts val="0"/>
              </a:spcBef>
            </a:pPr>
            <a:r>
              <a:rPr sz="700" b="0" i="0">
                <a:solidFill>
                  <a:srgbClr val="64757B"/>
                </a:solidFill>
                <a:latin typeface="Calibri"/>
              </a:rPr>
              <a:t>31,40 ₴</a:t>
            </a:r>
          </a:p>
        </p:txBody>
      </p:sp>
      <p:sp>
        <p:nvSpPr>
          <p:cNvPr id="76" name="Rectangle 75"/>
          <p:cNvSpPr/>
          <p:nvPr/>
        </p:nvSpPr>
        <p:spPr>
          <a:xfrm>
            <a:off x="365760" y="3639311"/>
            <a:ext cx="8266176" cy="10972"/>
          </a:xfrm>
          <a:prstGeom prst="rect">
            <a:avLst/>
          </a:prstGeom>
          <a:solidFill>
            <a:srgbClr val="E2E6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7" name="TextBox 76"/>
          <p:cNvSpPr txBox="1"/>
          <p:nvPr/>
        </p:nvSpPr>
        <p:spPr>
          <a:xfrm>
            <a:off x="365760" y="3767327"/>
            <a:ext cx="84124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750" b="0" i="0">
                <a:solidFill>
                  <a:srgbClr val="64757B"/>
                </a:solidFill>
                <a:latin typeface="Calibri"/>
              </a:rPr>
              <a:t>Виділена колонка — 40′ контейнер: саме ці цифри показані на картках товарів. Курс у розрахунку — 45–49 ₴ за $ залежно від позиції.</a:t>
            </a:r>
          </a:p>
        </p:txBody>
      </p:sp>
      <p:sp>
        <p:nvSpPr>
          <p:cNvPr id="78" name="Rectangle 77"/>
          <p:cNvSpPr/>
          <p:nvPr/>
        </p:nvSpPr>
        <p:spPr>
          <a:xfrm>
            <a:off x="365760" y="4869180"/>
            <a:ext cx="8412480" cy="9144"/>
          </a:xfrm>
          <a:prstGeom prst="rect">
            <a:avLst/>
          </a:prstGeom>
          <a:solidFill>
            <a:srgbClr val="E2E6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9" name="TextBox 78"/>
          <p:cNvSpPr txBox="1"/>
          <p:nvPr/>
        </p:nvSpPr>
        <p:spPr>
          <a:xfrm>
            <a:off x="365760" y="4914900"/>
            <a:ext cx="78638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64757B"/>
                </a:solidFill>
                <a:latin typeface="Calibri"/>
              </a:rPr>
              <a:t>Джерело: SelfCost.xlsx, вкладка «ZEK -Retail».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229600" y="4914900"/>
            <a:ext cx="5486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750" b="1" i="0">
                <a:solidFill>
                  <a:srgbClr val="64757B"/>
                </a:solidFill>
                <a:latin typeface="Calibri"/>
              </a:rPr>
              <a:t>22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1423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ectangle 3"/>
          <p:cNvSpPr/>
          <p:nvPr/>
        </p:nvSpPr>
        <p:spPr>
          <a:xfrm>
            <a:off x="365760" y="617219"/>
            <a:ext cx="1737360" cy="41148"/>
          </a:xfrm>
          <a:prstGeom prst="rect">
            <a:avLst/>
          </a:prstGeom>
          <a:solidFill>
            <a:srgbClr val="C15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365760" y="91440"/>
            <a:ext cx="6400799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50" b="1" i="0">
                <a:solidFill>
                  <a:srgbClr val="D9A441"/>
                </a:solidFill>
                <a:latin typeface="Calibri"/>
              </a:rPr>
              <a:t>ПОВНА ТАБЛИЦЯ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256032"/>
            <a:ext cx="640079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 i="0">
                <a:solidFill>
                  <a:srgbClr val="FFFFFF"/>
                </a:solidFill>
                <a:latin typeface="Cambria"/>
              </a:rPr>
              <a:t>HanJin · ZEK — собівартість за сценаріями · 2/2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0" y="219456"/>
            <a:ext cx="237744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1" i="0">
                <a:solidFill>
                  <a:srgbClr val="FFFFFF"/>
                </a:solidFill>
                <a:latin typeface="Calibri"/>
              </a:rPr>
              <a:t>ZEK</a:t>
            </a:r>
          </a:p>
        </p:txBody>
      </p:sp>
      <p:sp>
        <p:nvSpPr>
          <p:cNvPr id="8" name="Rectangle 7"/>
          <p:cNvSpPr/>
          <p:nvPr/>
        </p:nvSpPr>
        <p:spPr>
          <a:xfrm>
            <a:off x="365760" y="969264"/>
            <a:ext cx="8266176" cy="475488"/>
          </a:xfrm>
          <a:prstGeom prst="rect">
            <a:avLst/>
          </a:prstGeom>
          <a:solidFill>
            <a:srgbClr val="1423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475488" y="969264"/>
            <a:ext cx="2907791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800" b="1" i="0">
                <a:solidFill>
                  <a:srgbClr val="FFFFFF"/>
                </a:solidFill>
                <a:latin typeface="Calibri"/>
              </a:rPr>
              <a:t>Продукт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383279" y="969264"/>
            <a:ext cx="713232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800" b="1" i="0">
                <a:solidFill>
                  <a:srgbClr val="FFFFFF"/>
                </a:solidFill>
                <a:latin typeface="Calibri"/>
              </a:rPr>
              <a:t>FOB $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096511" y="969264"/>
            <a:ext cx="1133856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800" b="1" i="0">
                <a:solidFill>
                  <a:srgbClr val="FFFFFF"/>
                </a:solidFill>
                <a:latin typeface="Calibri"/>
              </a:rPr>
              <a:t>20′ контейнер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230368" y="969264"/>
            <a:ext cx="1133856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800" b="1" i="0">
                <a:solidFill>
                  <a:srgbClr val="FFFFFF"/>
                </a:solidFill>
                <a:latin typeface="Calibri"/>
              </a:rPr>
              <a:t>40′ контейнер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230368" y="969264"/>
            <a:ext cx="1133856" cy="41148"/>
          </a:xfrm>
          <a:prstGeom prst="rect">
            <a:avLst/>
          </a:prstGeom>
          <a:solidFill>
            <a:srgbClr val="D9A4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6364224" y="969264"/>
            <a:ext cx="1133856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800" b="1" i="0">
                <a:solidFill>
                  <a:srgbClr val="FFFFFF"/>
                </a:solidFill>
                <a:latin typeface="Calibri"/>
              </a:rPr>
              <a:t>Збірний 17 м³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498079" y="969264"/>
            <a:ext cx="1133856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800" b="1" i="0">
                <a:solidFill>
                  <a:srgbClr val="FFFFFF"/>
                </a:solidFill>
                <a:latin typeface="Calibri"/>
              </a:rPr>
              <a:t>Збірний 34 м³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65760" y="1444752"/>
            <a:ext cx="8266176" cy="329184"/>
          </a:xfrm>
          <a:prstGeom prst="rect">
            <a:avLst/>
          </a:prstGeom>
          <a:solidFill>
            <a:srgbClr val="F7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ectangle 16"/>
          <p:cNvSpPr/>
          <p:nvPr/>
        </p:nvSpPr>
        <p:spPr>
          <a:xfrm>
            <a:off x="5230368" y="1444752"/>
            <a:ext cx="1133856" cy="329184"/>
          </a:xfrm>
          <a:prstGeom prst="rect">
            <a:avLst/>
          </a:prstGeom>
          <a:solidFill>
            <a:srgbClr val="E4EF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475488" y="1444752"/>
            <a:ext cx="2834639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1" i="0">
                <a:solidFill>
                  <a:srgbClr val="1C2A2F"/>
                </a:solidFill>
                <a:latin typeface="Calibri"/>
              </a:rPr>
              <a:t>Seaweed Topping Chicken Floss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383279" y="1444752"/>
            <a:ext cx="713232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750" b="0" i="0">
                <a:solidFill>
                  <a:srgbClr val="64757B"/>
                </a:solidFill>
                <a:latin typeface="Calibri"/>
              </a:rPr>
              <a:t>$0,40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096511" y="1444752"/>
            <a:ext cx="1133856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1" i="0">
                <a:solidFill>
                  <a:srgbClr val="1C2A2F"/>
                </a:solidFill>
                <a:latin typeface="Calibri"/>
              </a:rPr>
              <a:t>$0,817</a:t>
            </a:r>
          </a:p>
          <a:p>
            <a:pPr algn="ctr">
              <a:lnSpc>
                <a:spcPct val="100000"/>
              </a:lnSpc>
              <a:spcBef>
                <a:spcPts val="0"/>
              </a:spcBef>
            </a:pPr>
            <a:r>
              <a:rPr sz="700" b="0" i="0">
                <a:solidFill>
                  <a:srgbClr val="64757B"/>
                </a:solidFill>
                <a:latin typeface="Calibri"/>
              </a:rPr>
              <a:t>36,78 ₴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230368" y="1444752"/>
            <a:ext cx="1133856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1" i="0">
                <a:solidFill>
                  <a:srgbClr val="C1512A"/>
                </a:solidFill>
                <a:latin typeface="Calibri"/>
              </a:rPr>
              <a:t>$0,621</a:t>
            </a:r>
          </a:p>
          <a:p>
            <a:pPr algn="ctr">
              <a:lnSpc>
                <a:spcPct val="100000"/>
              </a:lnSpc>
              <a:spcBef>
                <a:spcPts val="0"/>
              </a:spcBef>
            </a:pPr>
            <a:r>
              <a:rPr sz="700" b="0" i="0">
                <a:solidFill>
                  <a:srgbClr val="64757B"/>
                </a:solidFill>
                <a:latin typeface="Calibri"/>
              </a:rPr>
              <a:t>27,94 ₴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64224" y="1444752"/>
            <a:ext cx="1133856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1" i="0">
                <a:solidFill>
                  <a:srgbClr val="1C2A2F"/>
                </a:solidFill>
                <a:latin typeface="Calibri"/>
              </a:rPr>
              <a:t>$1,342</a:t>
            </a:r>
          </a:p>
          <a:p>
            <a:pPr algn="ctr">
              <a:lnSpc>
                <a:spcPct val="100000"/>
              </a:lnSpc>
              <a:spcBef>
                <a:spcPts val="0"/>
              </a:spcBef>
            </a:pPr>
            <a:r>
              <a:rPr sz="700" b="0" i="0">
                <a:solidFill>
                  <a:srgbClr val="64757B"/>
                </a:solidFill>
                <a:latin typeface="Calibri"/>
              </a:rPr>
              <a:t>60,41 ₴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498079" y="1444752"/>
            <a:ext cx="1133856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1" i="0">
                <a:solidFill>
                  <a:srgbClr val="1C2A2F"/>
                </a:solidFill>
                <a:latin typeface="Calibri"/>
              </a:rPr>
              <a:t>$0,881</a:t>
            </a:r>
          </a:p>
          <a:p>
            <a:pPr algn="ctr">
              <a:lnSpc>
                <a:spcPct val="100000"/>
              </a:lnSpc>
              <a:spcBef>
                <a:spcPts val="0"/>
              </a:spcBef>
            </a:pPr>
            <a:r>
              <a:rPr sz="700" b="0" i="0">
                <a:solidFill>
                  <a:srgbClr val="64757B"/>
                </a:solidFill>
                <a:latin typeface="Calibri"/>
              </a:rPr>
              <a:t>39,63 ₴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230368" y="1773936"/>
            <a:ext cx="1133856" cy="329184"/>
          </a:xfrm>
          <a:prstGeom prst="rect">
            <a:avLst/>
          </a:prstGeom>
          <a:solidFill>
            <a:srgbClr val="E4EF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475488" y="1773936"/>
            <a:ext cx="2834639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1" i="0">
                <a:solidFill>
                  <a:srgbClr val="1C2A2F"/>
                </a:solidFill>
                <a:latin typeface="Calibri"/>
              </a:rPr>
              <a:t>Seaweed Topping Vegetables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383279" y="1773936"/>
            <a:ext cx="713232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750" b="0" i="0">
                <a:solidFill>
                  <a:srgbClr val="64757B"/>
                </a:solidFill>
                <a:latin typeface="Calibri"/>
              </a:rPr>
              <a:t>$0,40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096511" y="1773936"/>
            <a:ext cx="1133856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1" i="0">
                <a:solidFill>
                  <a:srgbClr val="1C2A2F"/>
                </a:solidFill>
                <a:latin typeface="Calibri"/>
              </a:rPr>
              <a:t>$0,817</a:t>
            </a:r>
          </a:p>
          <a:p>
            <a:pPr algn="ctr">
              <a:lnSpc>
                <a:spcPct val="100000"/>
              </a:lnSpc>
              <a:spcBef>
                <a:spcPts val="0"/>
              </a:spcBef>
            </a:pPr>
            <a:r>
              <a:rPr sz="700" b="0" i="0">
                <a:solidFill>
                  <a:srgbClr val="64757B"/>
                </a:solidFill>
                <a:latin typeface="Calibri"/>
              </a:rPr>
              <a:t>36,78 ₴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230368" y="1773936"/>
            <a:ext cx="1133856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1" i="0">
                <a:solidFill>
                  <a:srgbClr val="C1512A"/>
                </a:solidFill>
                <a:latin typeface="Calibri"/>
              </a:rPr>
              <a:t>$0,621</a:t>
            </a:r>
          </a:p>
          <a:p>
            <a:pPr algn="ctr">
              <a:lnSpc>
                <a:spcPct val="100000"/>
              </a:lnSpc>
              <a:spcBef>
                <a:spcPts val="0"/>
              </a:spcBef>
            </a:pPr>
            <a:r>
              <a:rPr sz="700" b="0" i="0">
                <a:solidFill>
                  <a:srgbClr val="64757B"/>
                </a:solidFill>
                <a:latin typeface="Calibri"/>
              </a:rPr>
              <a:t>27,94 ₴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364224" y="1773936"/>
            <a:ext cx="1133856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1" i="0">
                <a:solidFill>
                  <a:srgbClr val="1C2A2F"/>
                </a:solidFill>
                <a:latin typeface="Calibri"/>
              </a:rPr>
              <a:t>$1,342</a:t>
            </a:r>
          </a:p>
          <a:p>
            <a:pPr algn="ctr">
              <a:lnSpc>
                <a:spcPct val="100000"/>
              </a:lnSpc>
              <a:spcBef>
                <a:spcPts val="0"/>
              </a:spcBef>
            </a:pPr>
            <a:r>
              <a:rPr sz="700" b="0" i="0">
                <a:solidFill>
                  <a:srgbClr val="64757B"/>
                </a:solidFill>
                <a:latin typeface="Calibri"/>
              </a:rPr>
              <a:t>60,41 ₴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498079" y="1773936"/>
            <a:ext cx="1133856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1" i="0">
                <a:solidFill>
                  <a:srgbClr val="1C2A2F"/>
                </a:solidFill>
                <a:latin typeface="Calibri"/>
              </a:rPr>
              <a:t>$0,881</a:t>
            </a:r>
          </a:p>
          <a:p>
            <a:pPr algn="ctr">
              <a:lnSpc>
                <a:spcPct val="100000"/>
              </a:lnSpc>
              <a:spcBef>
                <a:spcPts val="0"/>
              </a:spcBef>
            </a:pPr>
            <a:r>
              <a:rPr sz="700" b="0" i="0">
                <a:solidFill>
                  <a:srgbClr val="64757B"/>
                </a:solidFill>
                <a:latin typeface="Calibri"/>
              </a:rPr>
              <a:t>39,63 ₴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65760" y="2103120"/>
            <a:ext cx="8266176" cy="329184"/>
          </a:xfrm>
          <a:prstGeom prst="rect">
            <a:avLst/>
          </a:prstGeom>
          <a:solidFill>
            <a:srgbClr val="F7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2" name="Rectangle 31"/>
          <p:cNvSpPr/>
          <p:nvPr/>
        </p:nvSpPr>
        <p:spPr>
          <a:xfrm>
            <a:off x="5230368" y="2103120"/>
            <a:ext cx="1133856" cy="329184"/>
          </a:xfrm>
          <a:prstGeom prst="rect">
            <a:avLst/>
          </a:prstGeom>
          <a:solidFill>
            <a:srgbClr val="E4EF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TextBox 32"/>
          <p:cNvSpPr txBox="1"/>
          <p:nvPr/>
        </p:nvSpPr>
        <p:spPr>
          <a:xfrm>
            <a:off x="475488" y="2103120"/>
            <a:ext cx="2834639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1" i="0">
                <a:solidFill>
                  <a:srgbClr val="1C2A2F"/>
                </a:solidFill>
                <a:latin typeface="Calibri"/>
              </a:rPr>
              <a:t>Seaweed Topping Sesame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383279" y="2103120"/>
            <a:ext cx="713232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750" b="0" i="0">
                <a:solidFill>
                  <a:srgbClr val="64757B"/>
                </a:solidFill>
                <a:latin typeface="Calibri"/>
              </a:rPr>
              <a:t>$0,40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096511" y="2103120"/>
            <a:ext cx="1133856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1" i="0">
                <a:solidFill>
                  <a:srgbClr val="1C2A2F"/>
                </a:solidFill>
                <a:latin typeface="Calibri"/>
              </a:rPr>
              <a:t>$0,817</a:t>
            </a:r>
          </a:p>
          <a:p>
            <a:pPr algn="ctr">
              <a:lnSpc>
                <a:spcPct val="100000"/>
              </a:lnSpc>
              <a:spcBef>
                <a:spcPts val="0"/>
              </a:spcBef>
            </a:pPr>
            <a:r>
              <a:rPr sz="700" b="0" i="0">
                <a:solidFill>
                  <a:srgbClr val="64757B"/>
                </a:solidFill>
                <a:latin typeface="Calibri"/>
              </a:rPr>
              <a:t>37,60 ₴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230368" y="2103120"/>
            <a:ext cx="1133856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1" i="0">
                <a:solidFill>
                  <a:srgbClr val="C1512A"/>
                </a:solidFill>
                <a:latin typeface="Calibri"/>
              </a:rPr>
              <a:t>$0,621</a:t>
            </a:r>
          </a:p>
          <a:p>
            <a:pPr algn="ctr">
              <a:lnSpc>
                <a:spcPct val="100000"/>
              </a:lnSpc>
              <a:spcBef>
                <a:spcPts val="0"/>
              </a:spcBef>
            </a:pPr>
            <a:r>
              <a:rPr sz="700" b="0" i="0">
                <a:solidFill>
                  <a:srgbClr val="64757B"/>
                </a:solidFill>
                <a:latin typeface="Calibri"/>
              </a:rPr>
              <a:t>28,56 ₴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364224" y="2103120"/>
            <a:ext cx="1133856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1" i="0">
                <a:solidFill>
                  <a:srgbClr val="1C2A2F"/>
                </a:solidFill>
                <a:latin typeface="Calibri"/>
              </a:rPr>
              <a:t>$1,342</a:t>
            </a:r>
          </a:p>
          <a:p>
            <a:pPr algn="ctr">
              <a:lnSpc>
                <a:spcPct val="100000"/>
              </a:lnSpc>
              <a:spcBef>
                <a:spcPts val="0"/>
              </a:spcBef>
            </a:pPr>
            <a:r>
              <a:rPr sz="700" b="0" i="0">
                <a:solidFill>
                  <a:srgbClr val="64757B"/>
                </a:solidFill>
                <a:latin typeface="Calibri"/>
              </a:rPr>
              <a:t>61,75 ₴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498079" y="2103120"/>
            <a:ext cx="1133856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1" i="0">
                <a:solidFill>
                  <a:srgbClr val="1C2A2F"/>
                </a:solidFill>
                <a:latin typeface="Calibri"/>
              </a:rPr>
              <a:t>$0,881</a:t>
            </a:r>
          </a:p>
          <a:p>
            <a:pPr algn="ctr">
              <a:lnSpc>
                <a:spcPct val="100000"/>
              </a:lnSpc>
              <a:spcBef>
                <a:spcPts val="0"/>
              </a:spcBef>
            </a:pPr>
            <a:r>
              <a:rPr sz="700" b="0" i="0">
                <a:solidFill>
                  <a:srgbClr val="64757B"/>
                </a:solidFill>
                <a:latin typeface="Calibri"/>
              </a:rPr>
              <a:t>40,51 ₴</a:t>
            </a:r>
          </a:p>
        </p:txBody>
      </p:sp>
      <p:sp>
        <p:nvSpPr>
          <p:cNvPr id="39" name="Rectangle 38"/>
          <p:cNvSpPr/>
          <p:nvPr/>
        </p:nvSpPr>
        <p:spPr>
          <a:xfrm>
            <a:off x="5230368" y="2432303"/>
            <a:ext cx="1133856" cy="329184"/>
          </a:xfrm>
          <a:prstGeom prst="rect">
            <a:avLst/>
          </a:prstGeom>
          <a:solidFill>
            <a:srgbClr val="E4EF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0" name="TextBox 39"/>
          <p:cNvSpPr txBox="1"/>
          <p:nvPr/>
        </p:nvSpPr>
        <p:spPr>
          <a:xfrm>
            <a:off x="475488" y="2432303"/>
            <a:ext cx="2834639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1" i="0">
                <a:solidFill>
                  <a:srgbClr val="1C2A2F"/>
                </a:solidFill>
                <a:latin typeface="Calibri"/>
              </a:rPr>
              <a:t>Seaweed Topping Vegetables · 70 г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383279" y="2432303"/>
            <a:ext cx="713232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750" b="0" i="0">
                <a:solidFill>
                  <a:srgbClr val="64757B"/>
                </a:solidFill>
                <a:latin typeface="Calibri"/>
              </a:rPr>
              <a:t>$0,81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096511" y="2432303"/>
            <a:ext cx="1133856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1" i="0">
                <a:solidFill>
                  <a:srgbClr val="1C2A2F"/>
                </a:solidFill>
                <a:latin typeface="Calibri"/>
              </a:rPr>
              <a:t>$1,655</a:t>
            </a:r>
          </a:p>
          <a:p>
            <a:pPr algn="ctr">
              <a:lnSpc>
                <a:spcPct val="100000"/>
              </a:lnSpc>
              <a:spcBef>
                <a:spcPts val="0"/>
              </a:spcBef>
            </a:pPr>
            <a:r>
              <a:rPr sz="700" b="0" i="0">
                <a:solidFill>
                  <a:srgbClr val="64757B"/>
                </a:solidFill>
                <a:latin typeface="Calibri"/>
              </a:rPr>
              <a:t>77,79 ₴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230368" y="2432303"/>
            <a:ext cx="1133856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1" i="0">
                <a:solidFill>
                  <a:srgbClr val="C1512A"/>
                </a:solidFill>
                <a:latin typeface="Calibri"/>
              </a:rPr>
              <a:t>$1,257</a:t>
            </a:r>
          </a:p>
          <a:p>
            <a:pPr algn="ctr">
              <a:lnSpc>
                <a:spcPct val="100000"/>
              </a:lnSpc>
              <a:spcBef>
                <a:spcPts val="0"/>
              </a:spcBef>
            </a:pPr>
            <a:r>
              <a:rPr sz="700" b="0" i="0">
                <a:solidFill>
                  <a:srgbClr val="64757B"/>
                </a:solidFill>
                <a:latin typeface="Calibri"/>
              </a:rPr>
              <a:t>59,10 ₴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364224" y="2432303"/>
            <a:ext cx="1133856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1" i="0">
                <a:solidFill>
                  <a:srgbClr val="1C2A2F"/>
                </a:solidFill>
                <a:latin typeface="Calibri"/>
              </a:rPr>
              <a:t>$2,718</a:t>
            </a:r>
          </a:p>
          <a:p>
            <a:pPr algn="ctr">
              <a:lnSpc>
                <a:spcPct val="100000"/>
              </a:lnSpc>
              <a:spcBef>
                <a:spcPts val="0"/>
              </a:spcBef>
            </a:pPr>
            <a:r>
              <a:rPr sz="700" b="0" i="0">
                <a:solidFill>
                  <a:srgbClr val="64757B"/>
                </a:solidFill>
                <a:latin typeface="Calibri"/>
              </a:rPr>
              <a:t>127,76 ₴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498079" y="2432303"/>
            <a:ext cx="1133856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1" i="0">
                <a:solidFill>
                  <a:srgbClr val="1C2A2F"/>
                </a:solidFill>
                <a:latin typeface="Calibri"/>
              </a:rPr>
              <a:t>$1,783</a:t>
            </a:r>
          </a:p>
          <a:p>
            <a:pPr algn="ctr">
              <a:lnSpc>
                <a:spcPct val="100000"/>
              </a:lnSpc>
              <a:spcBef>
                <a:spcPts val="0"/>
              </a:spcBef>
            </a:pPr>
            <a:r>
              <a:rPr sz="700" b="0" i="0">
                <a:solidFill>
                  <a:srgbClr val="64757B"/>
                </a:solidFill>
                <a:latin typeface="Calibri"/>
              </a:rPr>
              <a:t>83,82 ₴</a:t>
            </a:r>
          </a:p>
        </p:txBody>
      </p:sp>
      <p:sp>
        <p:nvSpPr>
          <p:cNvPr id="46" name="Rectangle 45"/>
          <p:cNvSpPr/>
          <p:nvPr/>
        </p:nvSpPr>
        <p:spPr>
          <a:xfrm>
            <a:off x="365760" y="2761487"/>
            <a:ext cx="8266176" cy="329184"/>
          </a:xfrm>
          <a:prstGeom prst="rect">
            <a:avLst/>
          </a:prstGeom>
          <a:solidFill>
            <a:srgbClr val="F7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7" name="Rectangle 46"/>
          <p:cNvSpPr/>
          <p:nvPr/>
        </p:nvSpPr>
        <p:spPr>
          <a:xfrm>
            <a:off x="5230368" y="2761487"/>
            <a:ext cx="1133856" cy="329184"/>
          </a:xfrm>
          <a:prstGeom prst="rect">
            <a:avLst/>
          </a:prstGeom>
          <a:solidFill>
            <a:srgbClr val="E4EF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8" name="TextBox 47"/>
          <p:cNvSpPr txBox="1"/>
          <p:nvPr/>
        </p:nvSpPr>
        <p:spPr>
          <a:xfrm>
            <a:off x="475488" y="2761487"/>
            <a:ext cx="2834639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1" i="0">
                <a:solidFill>
                  <a:srgbClr val="1C2A2F"/>
                </a:solidFill>
                <a:latin typeface="Calibri"/>
              </a:rPr>
              <a:t>Seaweed Topping Sesame · 70 г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3383279" y="2761487"/>
            <a:ext cx="713232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750" b="0" i="0">
                <a:solidFill>
                  <a:srgbClr val="64757B"/>
                </a:solidFill>
                <a:latin typeface="Calibri"/>
              </a:rPr>
              <a:t>$0,81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4096511" y="2761487"/>
            <a:ext cx="1133856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1" i="0">
                <a:solidFill>
                  <a:srgbClr val="1C2A2F"/>
                </a:solidFill>
                <a:latin typeface="Calibri"/>
              </a:rPr>
              <a:t>$1,655</a:t>
            </a:r>
          </a:p>
          <a:p>
            <a:pPr algn="ctr">
              <a:lnSpc>
                <a:spcPct val="100000"/>
              </a:lnSpc>
              <a:spcBef>
                <a:spcPts val="0"/>
              </a:spcBef>
            </a:pPr>
            <a:r>
              <a:rPr sz="700" b="0" i="0">
                <a:solidFill>
                  <a:srgbClr val="64757B"/>
                </a:solidFill>
                <a:latin typeface="Calibri"/>
              </a:rPr>
              <a:t>79,45 ₴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230368" y="2761487"/>
            <a:ext cx="1133856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1" i="0">
                <a:solidFill>
                  <a:srgbClr val="C1512A"/>
                </a:solidFill>
                <a:latin typeface="Calibri"/>
              </a:rPr>
              <a:t>$1,257</a:t>
            </a:r>
          </a:p>
          <a:p>
            <a:pPr algn="ctr">
              <a:lnSpc>
                <a:spcPct val="100000"/>
              </a:lnSpc>
              <a:spcBef>
                <a:spcPts val="0"/>
              </a:spcBef>
            </a:pPr>
            <a:r>
              <a:rPr sz="700" b="0" i="0">
                <a:solidFill>
                  <a:srgbClr val="64757B"/>
                </a:solidFill>
                <a:latin typeface="Calibri"/>
              </a:rPr>
              <a:t>60,35 ₴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364224" y="2761487"/>
            <a:ext cx="1133856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1" i="0">
                <a:solidFill>
                  <a:srgbClr val="1C2A2F"/>
                </a:solidFill>
                <a:latin typeface="Calibri"/>
              </a:rPr>
              <a:t>$2,718</a:t>
            </a:r>
          </a:p>
          <a:p>
            <a:pPr algn="ctr">
              <a:lnSpc>
                <a:spcPct val="100000"/>
              </a:lnSpc>
              <a:spcBef>
                <a:spcPts val="0"/>
              </a:spcBef>
            </a:pPr>
            <a:r>
              <a:rPr sz="700" b="0" i="0">
                <a:solidFill>
                  <a:srgbClr val="64757B"/>
                </a:solidFill>
                <a:latin typeface="Calibri"/>
              </a:rPr>
              <a:t>130,48 ₴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7498079" y="2761487"/>
            <a:ext cx="1133856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1" i="0">
                <a:solidFill>
                  <a:srgbClr val="1C2A2F"/>
                </a:solidFill>
                <a:latin typeface="Calibri"/>
              </a:rPr>
              <a:t>$1,783</a:t>
            </a:r>
          </a:p>
          <a:p>
            <a:pPr algn="ctr">
              <a:lnSpc>
                <a:spcPct val="100000"/>
              </a:lnSpc>
              <a:spcBef>
                <a:spcPts val="0"/>
              </a:spcBef>
            </a:pPr>
            <a:r>
              <a:rPr sz="700" b="0" i="0">
                <a:solidFill>
                  <a:srgbClr val="64757B"/>
                </a:solidFill>
                <a:latin typeface="Calibri"/>
              </a:rPr>
              <a:t>85,60 ₴</a:t>
            </a:r>
          </a:p>
        </p:txBody>
      </p:sp>
      <p:sp>
        <p:nvSpPr>
          <p:cNvPr id="54" name="Rectangle 53"/>
          <p:cNvSpPr/>
          <p:nvPr/>
        </p:nvSpPr>
        <p:spPr>
          <a:xfrm>
            <a:off x="5230368" y="3090671"/>
            <a:ext cx="1133856" cy="329184"/>
          </a:xfrm>
          <a:prstGeom prst="rect">
            <a:avLst/>
          </a:prstGeom>
          <a:solidFill>
            <a:srgbClr val="E4EF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5" name="TextBox 54"/>
          <p:cNvSpPr txBox="1"/>
          <p:nvPr/>
        </p:nvSpPr>
        <p:spPr>
          <a:xfrm>
            <a:off x="475488" y="3090671"/>
            <a:ext cx="2834639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1" i="0">
                <a:solidFill>
                  <a:srgbClr val="1C2A2F"/>
                </a:solidFill>
                <a:latin typeface="Calibri"/>
              </a:rPr>
              <a:t>Seaweed Topping Chicken · 70 г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3383279" y="3090671"/>
            <a:ext cx="713232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750" b="0" i="0">
                <a:solidFill>
                  <a:srgbClr val="64757B"/>
                </a:solidFill>
                <a:latin typeface="Calibri"/>
              </a:rPr>
              <a:t>$0,81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4096511" y="3090671"/>
            <a:ext cx="1133856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1" i="0">
                <a:solidFill>
                  <a:srgbClr val="1C2A2F"/>
                </a:solidFill>
                <a:latin typeface="Calibri"/>
              </a:rPr>
              <a:t>$1,655</a:t>
            </a:r>
          </a:p>
          <a:p>
            <a:pPr algn="ctr">
              <a:lnSpc>
                <a:spcPct val="100000"/>
              </a:lnSpc>
              <a:spcBef>
                <a:spcPts val="0"/>
              </a:spcBef>
            </a:pPr>
            <a:r>
              <a:rPr sz="700" b="0" i="0">
                <a:solidFill>
                  <a:srgbClr val="64757B"/>
                </a:solidFill>
                <a:latin typeface="Calibri"/>
              </a:rPr>
              <a:t>81,10 ₴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5230368" y="3090671"/>
            <a:ext cx="1133856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1" i="0">
                <a:solidFill>
                  <a:srgbClr val="C1512A"/>
                </a:solidFill>
                <a:latin typeface="Calibri"/>
              </a:rPr>
              <a:t>$1,257</a:t>
            </a:r>
          </a:p>
          <a:p>
            <a:pPr algn="ctr">
              <a:lnSpc>
                <a:spcPct val="100000"/>
              </a:lnSpc>
              <a:spcBef>
                <a:spcPts val="0"/>
              </a:spcBef>
            </a:pPr>
            <a:r>
              <a:rPr sz="700" b="0" i="0">
                <a:solidFill>
                  <a:srgbClr val="64757B"/>
                </a:solidFill>
                <a:latin typeface="Calibri"/>
              </a:rPr>
              <a:t>61,61 ₴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6364224" y="3090671"/>
            <a:ext cx="1133856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1" i="0">
                <a:solidFill>
                  <a:srgbClr val="1C2A2F"/>
                </a:solidFill>
                <a:latin typeface="Calibri"/>
              </a:rPr>
              <a:t>$2,718</a:t>
            </a:r>
          </a:p>
          <a:p>
            <a:pPr algn="ctr">
              <a:lnSpc>
                <a:spcPct val="100000"/>
              </a:lnSpc>
              <a:spcBef>
                <a:spcPts val="0"/>
              </a:spcBef>
            </a:pPr>
            <a:r>
              <a:rPr sz="700" b="0" i="0">
                <a:solidFill>
                  <a:srgbClr val="64757B"/>
                </a:solidFill>
                <a:latin typeface="Calibri"/>
              </a:rPr>
              <a:t>133,19 ₴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7498079" y="3090671"/>
            <a:ext cx="1133856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1" i="0">
                <a:solidFill>
                  <a:srgbClr val="1C2A2F"/>
                </a:solidFill>
                <a:latin typeface="Calibri"/>
              </a:rPr>
              <a:t>$1,783</a:t>
            </a:r>
          </a:p>
          <a:p>
            <a:pPr algn="ctr">
              <a:lnSpc>
                <a:spcPct val="100000"/>
              </a:lnSpc>
              <a:spcBef>
                <a:spcPts val="0"/>
              </a:spcBef>
            </a:pPr>
            <a:r>
              <a:rPr sz="700" b="0" i="0">
                <a:solidFill>
                  <a:srgbClr val="64757B"/>
                </a:solidFill>
                <a:latin typeface="Calibri"/>
              </a:rPr>
              <a:t>87,38 ₴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3419855"/>
            <a:ext cx="8266176" cy="10972"/>
          </a:xfrm>
          <a:prstGeom prst="rect">
            <a:avLst/>
          </a:prstGeom>
          <a:solidFill>
            <a:srgbClr val="E2E6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2" name="TextBox 61"/>
          <p:cNvSpPr txBox="1"/>
          <p:nvPr/>
        </p:nvSpPr>
        <p:spPr>
          <a:xfrm>
            <a:off x="365760" y="3547871"/>
            <a:ext cx="84124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750" b="0" i="0">
                <a:solidFill>
                  <a:srgbClr val="64757B"/>
                </a:solidFill>
                <a:latin typeface="Calibri"/>
              </a:rPr>
              <a:t>Виділена колонка — 40′ контейнер: саме ці цифри показані на картках товарів. Курс у розрахунку — 45–49 ₴ за $ залежно від позиції.</a:t>
            </a:r>
          </a:p>
        </p:txBody>
      </p:sp>
      <p:sp>
        <p:nvSpPr>
          <p:cNvPr id="63" name="Rounded Rectangle 62"/>
          <p:cNvSpPr/>
          <p:nvPr/>
        </p:nvSpPr>
        <p:spPr>
          <a:xfrm>
            <a:off x="365760" y="3877055"/>
            <a:ext cx="8412480" cy="809244"/>
          </a:xfrm>
          <a:prstGeom prst="roundRect">
            <a:avLst>
              <a:gd name="adj" fmla="val 9000"/>
            </a:avLst>
          </a:prstGeom>
          <a:solidFill>
            <a:srgbClr val="F7F4EE"/>
          </a:solidFill>
          <a:ln w="9525">
            <a:solidFill>
              <a:srgbClr val="E2E6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4" name="Rectangle 63"/>
          <p:cNvSpPr/>
          <p:nvPr/>
        </p:nvSpPr>
        <p:spPr>
          <a:xfrm>
            <a:off x="365760" y="3877055"/>
            <a:ext cx="45720" cy="809244"/>
          </a:xfrm>
          <a:prstGeom prst="rect">
            <a:avLst/>
          </a:prstGeom>
          <a:solidFill>
            <a:srgbClr val="0E5C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5" name="TextBox 64"/>
          <p:cNvSpPr txBox="1"/>
          <p:nvPr/>
        </p:nvSpPr>
        <p:spPr>
          <a:xfrm>
            <a:off x="585216" y="3877055"/>
            <a:ext cx="2743200" cy="8092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1" i="0">
                <a:solidFill>
                  <a:srgbClr val="1C2A2F"/>
                </a:solidFill>
                <a:latin typeface="Calibri"/>
              </a:rPr>
              <a:t>21,65 – 61,61 ₴ — розкид собівартості у портфелі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3374136" y="3877055"/>
            <a:ext cx="2743200" cy="8092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1" i="0">
                <a:solidFill>
                  <a:srgbClr val="1C2A2F"/>
                </a:solidFill>
                <a:latin typeface="Calibri"/>
              </a:rPr>
              <a:t>38,26 ₴ — середня собівартість одиниці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6163056" y="3877055"/>
            <a:ext cx="2743200" cy="8092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1" i="0">
                <a:solidFill>
                  <a:srgbClr val="1C2A2F"/>
                </a:solidFill>
                <a:latin typeface="Calibri"/>
              </a:rPr>
              <a:t>+116% — надбавка збірного вантажу 17 м³</a:t>
            </a:r>
          </a:p>
        </p:txBody>
      </p:sp>
      <p:sp>
        <p:nvSpPr>
          <p:cNvPr id="68" name="Rectangle 67"/>
          <p:cNvSpPr/>
          <p:nvPr/>
        </p:nvSpPr>
        <p:spPr>
          <a:xfrm>
            <a:off x="365760" y="4869180"/>
            <a:ext cx="8412480" cy="9144"/>
          </a:xfrm>
          <a:prstGeom prst="rect">
            <a:avLst/>
          </a:prstGeom>
          <a:solidFill>
            <a:srgbClr val="E2E6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9" name="TextBox 68"/>
          <p:cNvSpPr txBox="1"/>
          <p:nvPr/>
        </p:nvSpPr>
        <p:spPr>
          <a:xfrm>
            <a:off x="365760" y="4914900"/>
            <a:ext cx="78638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64757B"/>
                </a:solidFill>
                <a:latin typeface="Calibri"/>
              </a:rPr>
              <a:t>Джерело: SelfCost.xlsx, вкладка «ZEK -Retail».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8229600" y="4914900"/>
            <a:ext cx="5486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750" b="1" i="0">
                <a:solidFill>
                  <a:srgbClr val="64757B"/>
                </a:solidFill>
                <a:latin typeface="Calibri"/>
              </a:rPr>
              <a:t>23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1423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ectangle 3"/>
          <p:cNvSpPr/>
          <p:nvPr/>
        </p:nvSpPr>
        <p:spPr>
          <a:xfrm>
            <a:off x="365760" y="617219"/>
            <a:ext cx="1737360" cy="41148"/>
          </a:xfrm>
          <a:prstGeom prst="rect">
            <a:avLst/>
          </a:prstGeom>
          <a:solidFill>
            <a:srgbClr val="C15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365760" y="91440"/>
            <a:ext cx="6400799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50" b="1" i="0">
                <a:solidFill>
                  <a:srgbClr val="D9A441"/>
                </a:solidFill>
                <a:latin typeface="Calibri"/>
              </a:rPr>
              <a:t>ПОСТАЧАЛЬНИК БЕЗ РОЗРАХУНКУ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256032"/>
            <a:ext cx="640079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 i="0">
                <a:solidFill>
                  <a:srgbClr val="FFFFFF"/>
                </a:solidFill>
                <a:latin typeface="Cambria"/>
              </a:rPr>
              <a:t>Nature Best Food Co., Ltd.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0" y="219456"/>
            <a:ext cx="237744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1" i="0">
                <a:solidFill>
                  <a:srgbClr val="FFFFFF"/>
                </a:solidFill>
                <a:latin typeface="Calibri"/>
              </a:rPr>
              <a:t>KoriKo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65760" y="932688"/>
            <a:ext cx="8412480" cy="786384"/>
          </a:xfrm>
          <a:prstGeom prst="roundRect">
            <a:avLst>
              <a:gd name="adj" fmla="val 9000"/>
            </a:avLst>
          </a:prstGeom>
          <a:solidFill>
            <a:srgbClr val="F8E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ectangle 8"/>
          <p:cNvSpPr/>
          <p:nvPr/>
        </p:nvSpPr>
        <p:spPr>
          <a:xfrm>
            <a:off x="365760" y="932688"/>
            <a:ext cx="45720" cy="786384"/>
          </a:xfrm>
          <a:prstGeom prst="rect">
            <a:avLst/>
          </a:prstGeom>
          <a:solidFill>
            <a:srgbClr val="C15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585216" y="1060704"/>
            <a:ext cx="7955279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1" i="0">
                <a:solidFill>
                  <a:srgbClr val="C1512A"/>
                </a:solidFill>
                <a:latin typeface="Calibri"/>
              </a:rPr>
              <a:t>СОБІВАРТІСТЬ ЩЕ НЕ РОЗРАХОВАНА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85216" y="1280160"/>
            <a:ext cx="7955279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850" b="0" i="0">
                <a:solidFill>
                  <a:srgbClr val="1C2A2F"/>
                </a:solidFill>
                <a:latin typeface="Calibri"/>
              </a:rPr>
              <a:t>Постачальник присутній у файлі Price Comparison (24 позиції), але вкладка «Koriko» у файлі Self Cost порожня — розрахунок собівартості ще не виконано. Нижче наведено асортимент і ціни FOB як основу для майбутнього розрахунку.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65760" y="1883664"/>
            <a:ext cx="2724912" cy="1335024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 w="9525">
            <a:solidFill>
              <a:srgbClr val="E2E6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457200" y="1975104"/>
            <a:ext cx="1005840" cy="1152144"/>
          </a:xfrm>
          <a:prstGeom prst="roundRect">
            <a:avLst>
              <a:gd name="adj" fmla="val 6000"/>
            </a:avLst>
          </a:prstGeom>
          <a:solidFill>
            <a:srgbClr val="F7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4" name="Picture 13" descr="kk_chew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8272" y="2029968"/>
            <a:ext cx="803694" cy="1042415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1572768" y="2029968"/>
            <a:ext cx="138988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900" b="1" i="0">
                <a:solidFill>
                  <a:srgbClr val="1C2A2F"/>
                </a:solidFill>
                <a:latin typeface="Cambria"/>
              </a:rPr>
              <a:t>KoriKo Chewy — Original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572768" y="2432304"/>
            <a:ext cx="1389888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700" b="0" i="0">
                <a:solidFill>
                  <a:srgbClr val="64757B"/>
                </a:solidFill>
                <a:latin typeface="Calibri"/>
              </a:rPr>
              <a:t>4,5 г × 12 пакетів / постер
12 постерів/карт.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572768" y="2834640"/>
            <a:ext cx="1163116" cy="237744"/>
          </a:xfrm>
          <a:prstGeom prst="roundRect">
            <a:avLst>
              <a:gd name="adj" fmla="val 50000"/>
            </a:avLst>
          </a:prstGeom>
          <a:solidFill>
            <a:srgbClr val="F8E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1572768" y="2834640"/>
            <a:ext cx="1163116" cy="237744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750" b="1" i="0">
                <a:solidFill>
                  <a:srgbClr val="C1512A"/>
                </a:solidFill>
                <a:latin typeface="Calibri"/>
              </a:rPr>
              <a:t>$1,15 / ПОСТЕР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3255264" y="1883664"/>
            <a:ext cx="2724912" cy="1335024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 w="9525">
            <a:solidFill>
              <a:srgbClr val="E2E6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ounded Rectangle 19"/>
          <p:cNvSpPr/>
          <p:nvPr/>
        </p:nvSpPr>
        <p:spPr>
          <a:xfrm>
            <a:off x="3346704" y="1975104"/>
            <a:ext cx="1005840" cy="1152144"/>
          </a:xfrm>
          <a:prstGeom prst="roundRect">
            <a:avLst>
              <a:gd name="adj" fmla="val 6000"/>
            </a:avLst>
          </a:prstGeom>
          <a:solidFill>
            <a:srgbClr val="F7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21" name="Picture 20" descr="kk_chewy_spic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52325" y="2029968"/>
            <a:ext cx="794596" cy="1042415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4462272" y="2029968"/>
            <a:ext cx="138988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900" b="1" i="0">
                <a:solidFill>
                  <a:srgbClr val="1C2A2F"/>
                </a:solidFill>
                <a:latin typeface="Cambria"/>
              </a:rPr>
              <a:t>KoriKo Chewy — Hot &amp; Spicy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462272" y="2432304"/>
            <a:ext cx="1389888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700" b="0" i="0">
                <a:solidFill>
                  <a:srgbClr val="64757B"/>
                </a:solidFill>
                <a:latin typeface="Calibri"/>
              </a:rPr>
              <a:t>4,5 г × 12 пакетів / постер
12 постерів/карт.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462272" y="2834640"/>
            <a:ext cx="1163116" cy="237744"/>
          </a:xfrm>
          <a:prstGeom prst="roundRect">
            <a:avLst>
              <a:gd name="adj" fmla="val 50000"/>
            </a:avLst>
          </a:prstGeom>
          <a:solidFill>
            <a:srgbClr val="F8E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4462272" y="2834640"/>
            <a:ext cx="1163116" cy="237744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750" b="1" i="0">
                <a:solidFill>
                  <a:srgbClr val="C1512A"/>
                </a:solidFill>
                <a:latin typeface="Calibri"/>
              </a:rPr>
              <a:t>$1,15 / ПОСТЕР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144768" y="1883664"/>
            <a:ext cx="2724912" cy="1335024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 w="9525">
            <a:solidFill>
              <a:srgbClr val="E2E6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Rounded Rectangle 26"/>
          <p:cNvSpPr/>
          <p:nvPr/>
        </p:nvSpPr>
        <p:spPr>
          <a:xfrm>
            <a:off x="6236208" y="1975104"/>
            <a:ext cx="1005840" cy="1152144"/>
          </a:xfrm>
          <a:prstGeom prst="roundRect">
            <a:avLst>
              <a:gd name="adj" fmla="val 6000"/>
            </a:avLst>
          </a:prstGeom>
          <a:solidFill>
            <a:srgbClr val="F7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28" name="Picture 27" descr="kk_bigshee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44219" y="2029968"/>
            <a:ext cx="789816" cy="1042415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7351776" y="2029968"/>
            <a:ext cx="138988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900" b="1" i="0">
                <a:solidFill>
                  <a:srgbClr val="1C2A2F"/>
                </a:solidFill>
                <a:latin typeface="Cambria"/>
              </a:rPr>
              <a:t>Big Sheet 50 г — Original / Squid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351776" y="2432304"/>
            <a:ext cx="1389888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700" b="0" i="0">
                <a:solidFill>
                  <a:srgbClr val="64757B"/>
                </a:solidFill>
                <a:latin typeface="Calibri"/>
              </a:rPr>
              <a:t>5 г × 10 пакетів
12 наборів/карт.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7351776" y="2834640"/>
            <a:ext cx="1100937" cy="237744"/>
          </a:xfrm>
          <a:prstGeom prst="roundRect">
            <a:avLst>
              <a:gd name="adj" fmla="val 50000"/>
            </a:avLst>
          </a:prstGeom>
          <a:solidFill>
            <a:srgbClr val="F8E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2" name="TextBox 31"/>
          <p:cNvSpPr txBox="1"/>
          <p:nvPr/>
        </p:nvSpPr>
        <p:spPr>
          <a:xfrm>
            <a:off x="7351776" y="2834640"/>
            <a:ext cx="1100937" cy="237744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750" b="1" i="0">
                <a:solidFill>
                  <a:srgbClr val="C1512A"/>
                </a:solidFill>
                <a:latin typeface="Calibri"/>
              </a:rPr>
              <a:t>$1,30 / НАБІР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365760" y="3364992"/>
            <a:ext cx="2724912" cy="1335024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 w="9525">
            <a:solidFill>
              <a:srgbClr val="E2E6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Rounded Rectangle 33"/>
          <p:cNvSpPr/>
          <p:nvPr/>
        </p:nvSpPr>
        <p:spPr>
          <a:xfrm>
            <a:off x="457200" y="3456432"/>
            <a:ext cx="1005840" cy="1152144"/>
          </a:xfrm>
          <a:prstGeom prst="roundRect">
            <a:avLst>
              <a:gd name="adj" fmla="val 6000"/>
            </a:avLst>
          </a:prstGeom>
          <a:solidFill>
            <a:srgbClr val="F7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35" name="Picture 34" descr="kk_roll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73791" y="3511296"/>
            <a:ext cx="572657" cy="1042415"/>
          </a:xfrm>
          <a:prstGeom prst="rect">
            <a:avLst/>
          </a:prstGeom>
        </p:spPr>
      </p:pic>
      <p:sp>
        <p:nvSpPr>
          <p:cNvPr id="36" name="TextBox 35"/>
          <p:cNvSpPr txBox="1"/>
          <p:nvPr/>
        </p:nvSpPr>
        <p:spPr>
          <a:xfrm>
            <a:off x="1572768" y="3511296"/>
            <a:ext cx="138988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900" b="1" i="0">
                <a:solidFill>
                  <a:srgbClr val="1C2A2F"/>
                </a:solidFill>
                <a:latin typeface="Cambria"/>
              </a:rPr>
              <a:t>Roll Seaweed 36 г — Original / Spicy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572768" y="3913632"/>
            <a:ext cx="1389888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700" b="0" i="0">
                <a:solidFill>
                  <a:srgbClr val="64757B"/>
                </a:solidFill>
                <a:latin typeface="Calibri"/>
              </a:rPr>
              <a:t>10 рулетів / коробка
12 коробок/карт.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1572768" y="4315968"/>
            <a:ext cx="1225296" cy="237744"/>
          </a:xfrm>
          <a:prstGeom prst="roundRect">
            <a:avLst>
              <a:gd name="adj" fmla="val 50000"/>
            </a:avLst>
          </a:prstGeom>
          <a:solidFill>
            <a:srgbClr val="F8E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9" name="TextBox 38"/>
          <p:cNvSpPr txBox="1"/>
          <p:nvPr/>
        </p:nvSpPr>
        <p:spPr>
          <a:xfrm>
            <a:off x="1572768" y="4315968"/>
            <a:ext cx="1225296" cy="237744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750" b="1" i="0">
                <a:solidFill>
                  <a:srgbClr val="C1512A"/>
                </a:solidFill>
                <a:latin typeface="Calibri"/>
              </a:rPr>
              <a:t>$1,20 / КОРОБКА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3255264" y="3364992"/>
            <a:ext cx="2724912" cy="1335024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 w="9525">
            <a:solidFill>
              <a:srgbClr val="E2E6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1" name="Rounded Rectangle 40"/>
          <p:cNvSpPr/>
          <p:nvPr/>
        </p:nvSpPr>
        <p:spPr>
          <a:xfrm>
            <a:off x="3346704" y="3456432"/>
            <a:ext cx="1005840" cy="1152144"/>
          </a:xfrm>
          <a:prstGeom prst="roundRect">
            <a:avLst>
              <a:gd name="adj" fmla="val 6000"/>
            </a:avLst>
          </a:prstGeom>
          <a:solidFill>
            <a:srgbClr val="F7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42" name="Picture 41" descr="kk_sandwich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401568" y="3710695"/>
            <a:ext cx="896111" cy="643616"/>
          </a:xfrm>
          <a:prstGeom prst="rect">
            <a:avLst/>
          </a:prstGeom>
        </p:spPr>
      </p:pic>
      <p:sp>
        <p:nvSpPr>
          <p:cNvPr id="43" name="TextBox 42"/>
          <p:cNvSpPr txBox="1"/>
          <p:nvPr/>
        </p:nvSpPr>
        <p:spPr>
          <a:xfrm>
            <a:off x="4462272" y="3511296"/>
            <a:ext cx="138988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900" b="1" i="0">
                <a:solidFill>
                  <a:srgbClr val="1C2A2F"/>
                </a:solidFill>
                <a:latin typeface="Cambria"/>
              </a:rPr>
              <a:t>Sandwich Seaweed — 5 смаків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462272" y="3913632"/>
            <a:ext cx="1389888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700" b="0" i="0">
                <a:solidFill>
                  <a:srgbClr val="64757B"/>
                </a:solidFill>
                <a:latin typeface="Calibri"/>
              </a:rPr>
              <a:t>24 пакети / картон
Original, Kimchi, Wasabi…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4462272" y="4315968"/>
            <a:ext cx="1100937" cy="237744"/>
          </a:xfrm>
          <a:prstGeom prst="roundRect">
            <a:avLst>
              <a:gd name="adj" fmla="val 50000"/>
            </a:avLst>
          </a:prstGeom>
          <a:solidFill>
            <a:srgbClr val="F8E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6" name="TextBox 45"/>
          <p:cNvSpPr txBox="1"/>
          <p:nvPr/>
        </p:nvSpPr>
        <p:spPr>
          <a:xfrm>
            <a:off x="4462272" y="4315968"/>
            <a:ext cx="1100937" cy="237744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750" b="1" i="0">
                <a:solidFill>
                  <a:srgbClr val="C1512A"/>
                </a:solidFill>
                <a:latin typeface="Calibri"/>
              </a:rPr>
              <a:t>$1,03 / ПАКЕТ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6144768" y="3364992"/>
            <a:ext cx="2724912" cy="1335024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 w="9525">
            <a:solidFill>
              <a:srgbClr val="E2E6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8" name="Rounded Rectangle 47"/>
          <p:cNvSpPr/>
          <p:nvPr/>
        </p:nvSpPr>
        <p:spPr>
          <a:xfrm>
            <a:off x="6236208" y="3456432"/>
            <a:ext cx="1005840" cy="1152144"/>
          </a:xfrm>
          <a:prstGeom prst="roundRect">
            <a:avLst>
              <a:gd name="adj" fmla="val 6000"/>
            </a:avLst>
          </a:prstGeom>
          <a:solidFill>
            <a:srgbClr val="F7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49" name="Picture 48" descr="kk_fizz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460441" y="3511296"/>
            <a:ext cx="557373" cy="1042415"/>
          </a:xfrm>
          <a:prstGeom prst="rect">
            <a:avLst/>
          </a:prstGeom>
        </p:spPr>
      </p:pic>
      <p:sp>
        <p:nvSpPr>
          <p:cNvPr id="50" name="TextBox 49"/>
          <p:cNvSpPr txBox="1"/>
          <p:nvPr/>
        </p:nvSpPr>
        <p:spPr>
          <a:xfrm>
            <a:off x="7351776" y="3511296"/>
            <a:ext cx="138988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900" b="1" i="0">
                <a:solidFill>
                  <a:srgbClr val="1C2A2F"/>
                </a:solidFill>
                <a:latin typeface="Cambria"/>
              </a:rPr>
              <a:t>Fizze Sheet 72 г — 3 смаки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7351776" y="3913632"/>
            <a:ext cx="1389888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700" b="0" i="0">
                <a:solidFill>
                  <a:srgbClr val="64757B"/>
                </a:solidFill>
                <a:latin typeface="Calibri"/>
              </a:rPr>
              <a:t>6 пакетів / коробка
8 коробок/карт.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7351776" y="4315968"/>
            <a:ext cx="1225296" cy="237744"/>
          </a:xfrm>
          <a:prstGeom prst="roundRect">
            <a:avLst>
              <a:gd name="adj" fmla="val 50000"/>
            </a:avLst>
          </a:prstGeom>
          <a:solidFill>
            <a:srgbClr val="F8E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3" name="TextBox 52"/>
          <p:cNvSpPr txBox="1"/>
          <p:nvPr/>
        </p:nvSpPr>
        <p:spPr>
          <a:xfrm>
            <a:off x="7351776" y="4315968"/>
            <a:ext cx="1225296" cy="237744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750" b="1" i="0">
                <a:solidFill>
                  <a:srgbClr val="C1512A"/>
                </a:solidFill>
                <a:latin typeface="Calibri"/>
              </a:rPr>
              <a:t>$1,30 / КОРОБКА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4869180"/>
            <a:ext cx="8412480" cy="9144"/>
          </a:xfrm>
          <a:prstGeom prst="rect">
            <a:avLst/>
          </a:prstGeom>
          <a:solidFill>
            <a:srgbClr val="E2E6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5" name="TextBox 54"/>
          <p:cNvSpPr txBox="1"/>
          <p:nvPr/>
        </p:nvSpPr>
        <p:spPr>
          <a:xfrm>
            <a:off x="365760" y="4914900"/>
            <a:ext cx="78638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64757B"/>
                </a:solidFill>
                <a:latin typeface="Calibri"/>
              </a:rPr>
              <a:t>Джерело: Snacks. Price Comparison.xlsx, вкладка «Nature Best Food Co., Ltd».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8229600" y="4914900"/>
            <a:ext cx="5486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750" b="1" i="0">
                <a:solidFill>
                  <a:srgbClr val="64757B"/>
                </a:solidFill>
                <a:latin typeface="Calibri"/>
              </a:rPr>
              <a:t>24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1423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ectangle 3"/>
          <p:cNvSpPr/>
          <p:nvPr/>
        </p:nvSpPr>
        <p:spPr>
          <a:xfrm>
            <a:off x="365760" y="617219"/>
            <a:ext cx="1737360" cy="41148"/>
          </a:xfrm>
          <a:prstGeom prst="rect">
            <a:avLst/>
          </a:prstGeom>
          <a:solidFill>
            <a:srgbClr val="C15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365760" y="91440"/>
            <a:ext cx="6400799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50" b="1" i="0">
                <a:solidFill>
                  <a:srgbClr val="D9A441"/>
                </a:solidFill>
                <a:latin typeface="Calibri"/>
              </a:rPr>
              <a:t>ЗВЕДЕНИЙ РЕЙТИНГ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256032"/>
            <a:ext cx="640079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 i="0">
                <a:solidFill>
                  <a:srgbClr val="FFFFFF"/>
                </a:solidFill>
                <a:latin typeface="Cambria"/>
              </a:rPr>
              <a:t>Усі 28 SKU за собівартістю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0" y="219456"/>
            <a:ext cx="237744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1" i="0">
                <a:solidFill>
                  <a:srgbClr val="FFFFFF"/>
                </a:solidFill>
                <a:latin typeface="Calibri"/>
              </a:rPr>
              <a:t>40′ контейнер</a:t>
            </a:r>
          </a:p>
        </p:txBody>
      </p:sp>
      <p:sp>
        <p:nvSpPr>
          <p:cNvPr id="8" name="Rectangle 7"/>
          <p:cNvSpPr/>
          <p:nvPr/>
        </p:nvSpPr>
        <p:spPr>
          <a:xfrm>
            <a:off x="365760" y="932688"/>
            <a:ext cx="4069079" cy="274320"/>
          </a:xfrm>
          <a:prstGeom prst="rect">
            <a:avLst/>
          </a:prstGeom>
          <a:solidFill>
            <a:srgbClr val="1423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438912" y="932688"/>
            <a:ext cx="219456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700" b="1" i="0">
                <a:solidFill>
                  <a:srgbClr val="FFFFFF"/>
                </a:solidFill>
                <a:latin typeface="Calibri"/>
              </a:rPr>
              <a:t>#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76656" y="932688"/>
            <a:ext cx="14173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700" b="1" i="0">
                <a:solidFill>
                  <a:srgbClr val="FFFFFF"/>
                </a:solidFill>
                <a:latin typeface="Calibri"/>
              </a:rPr>
              <a:t>Продукт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39696" y="932688"/>
            <a:ext cx="566928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700" b="1" i="0">
                <a:solidFill>
                  <a:srgbClr val="FFFFFF"/>
                </a:solidFill>
                <a:latin typeface="Calibri"/>
              </a:rPr>
              <a:t>Постачальник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401568" y="932688"/>
            <a:ext cx="566928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FFFFFF"/>
                </a:solidFill>
                <a:latin typeface="Calibri"/>
              </a:rPr>
              <a:t>₴ / од.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005072" y="932688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FFFFFF"/>
                </a:solidFill>
                <a:latin typeface="Calibri"/>
              </a:rPr>
              <a:t>$ / од.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65760" y="1207008"/>
            <a:ext cx="4069079" cy="242316"/>
          </a:xfrm>
          <a:prstGeom prst="rect">
            <a:avLst/>
          </a:prstGeom>
          <a:solidFill>
            <a:srgbClr val="F7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438912" y="1207008"/>
            <a:ext cx="219456" cy="2423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700" b="1" i="0">
                <a:solidFill>
                  <a:srgbClr val="64757B"/>
                </a:solidFill>
                <a:latin typeface="Calibri"/>
              </a:rPr>
              <a:t>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76656" y="1207008"/>
            <a:ext cx="1417320" cy="2423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700" b="1" i="0">
                <a:solidFill>
                  <a:srgbClr val="1C2A2F"/>
                </a:solidFill>
                <a:latin typeface="Calibri"/>
              </a:rPr>
              <a:t>Wow ROLL Original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139696" y="1207008"/>
            <a:ext cx="566928" cy="2423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64757B"/>
                </a:solidFill>
                <a:latin typeface="Calibri"/>
              </a:rPr>
              <a:t>TMK · KOKIRI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724912" y="1293876"/>
            <a:ext cx="621792" cy="68580"/>
          </a:xfrm>
          <a:prstGeom prst="rect">
            <a:avLst/>
          </a:prstGeom>
          <a:solidFill>
            <a:srgbClr val="F8E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Rectangle 18"/>
          <p:cNvSpPr/>
          <p:nvPr/>
        </p:nvSpPr>
        <p:spPr>
          <a:xfrm>
            <a:off x="2724912" y="1293876"/>
            <a:ext cx="76803" cy="68580"/>
          </a:xfrm>
          <a:prstGeom prst="rect">
            <a:avLst/>
          </a:prstGeom>
          <a:solidFill>
            <a:srgbClr val="C15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3401568" y="1207008"/>
            <a:ext cx="566928" cy="2423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1C2A2F"/>
                </a:solidFill>
                <a:latin typeface="Calibri"/>
              </a:rPr>
              <a:t>7,61 ₴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005072" y="1207008"/>
            <a:ext cx="402336" cy="2423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C1512A"/>
                </a:solidFill>
                <a:latin typeface="Calibri"/>
              </a:rPr>
              <a:t>$0,169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38912" y="1449324"/>
            <a:ext cx="219456" cy="2423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700" b="1" i="0">
                <a:solidFill>
                  <a:srgbClr val="64757B"/>
                </a:solidFill>
                <a:latin typeface="Calibri"/>
              </a:rPr>
              <a:t>2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76656" y="1449324"/>
            <a:ext cx="1417320" cy="2423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700" b="1" i="0">
                <a:solidFill>
                  <a:srgbClr val="1C2A2F"/>
                </a:solidFill>
                <a:latin typeface="Calibri"/>
              </a:rPr>
              <a:t>Wow ROLL Hot Spicy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139696" y="1449324"/>
            <a:ext cx="566928" cy="2423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64757B"/>
                </a:solidFill>
                <a:latin typeface="Calibri"/>
              </a:rPr>
              <a:t>TMK · KOKIRI</a:t>
            </a:r>
          </a:p>
        </p:txBody>
      </p:sp>
      <p:sp>
        <p:nvSpPr>
          <p:cNvPr id="25" name="Rectangle 24"/>
          <p:cNvSpPr/>
          <p:nvPr/>
        </p:nvSpPr>
        <p:spPr>
          <a:xfrm>
            <a:off x="2724912" y="1536192"/>
            <a:ext cx="621792" cy="68580"/>
          </a:xfrm>
          <a:prstGeom prst="rect">
            <a:avLst/>
          </a:prstGeom>
          <a:solidFill>
            <a:srgbClr val="F8E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Rectangle 25"/>
          <p:cNvSpPr/>
          <p:nvPr/>
        </p:nvSpPr>
        <p:spPr>
          <a:xfrm>
            <a:off x="2724912" y="1536192"/>
            <a:ext cx="76803" cy="68580"/>
          </a:xfrm>
          <a:prstGeom prst="rect">
            <a:avLst/>
          </a:prstGeom>
          <a:solidFill>
            <a:srgbClr val="C15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TextBox 26"/>
          <p:cNvSpPr txBox="1"/>
          <p:nvPr/>
        </p:nvSpPr>
        <p:spPr>
          <a:xfrm>
            <a:off x="3401568" y="1449324"/>
            <a:ext cx="566928" cy="2423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1C2A2F"/>
                </a:solidFill>
                <a:latin typeface="Calibri"/>
              </a:rPr>
              <a:t>7,61 ₴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005072" y="1449324"/>
            <a:ext cx="402336" cy="2423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C1512A"/>
                </a:solidFill>
                <a:latin typeface="Calibri"/>
              </a:rPr>
              <a:t>$0,169</a:t>
            </a:r>
          </a:p>
        </p:txBody>
      </p:sp>
      <p:sp>
        <p:nvSpPr>
          <p:cNvPr id="29" name="Rectangle 28"/>
          <p:cNvSpPr/>
          <p:nvPr/>
        </p:nvSpPr>
        <p:spPr>
          <a:xfrm>
            <a:off x="365760" y="1691640"/>
            <a:ext cx="4069079" cy="242316"/>
          </a:xfrm>
          <a:prstGeom prst="rect">
            <a:avLst/>
          </a:prstGeom>
          <a:solidFill>
            <a:srgbClr val="F7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438912" y="1691640"/>
            <a:ext cx="219456" cy="2423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700" b="1" i="0">
                <a:solidFill>
                  <a:srgbClr val="64757B"/>
                </a:solidFill>
                <a:latin typeface="Calibri"/>
              </a:rPr>
              <a:t>3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76656" y="1691640"/>
            <a:ext cx="1417320" cy="2423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700" b="1" i="0">
                <a:solidFill>
                  <a:srgbClr val="1C2A2F"/>
                </a:solidFill>
                <a:latin typeface="Calibri"/>
              </a:rPr>
              <a:t>Wow ROLL Spicy Squid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139696" y="1691640"/>
            <a:ext cx="566928" cy="2423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64757B"/>
                </a:solidFill>
                <a:latin typeface="Calibri"/>
              </a:rPr>
              <a:t>TMK · KOKIRI</a:t>
            </a:r>
          </a:p>
        </p:txBody>
      </p:sp>
      <p:sp>
        <p:nvSpPr>
          <p:cNvPr id="33" name="Rectangle 32"/>
          <p:cNvSpPr/>
          <p:nvPr/>
        </p:nvSpPr>
        <p:spPr>
          <a:xfrm>
            <a:off x="2724912" y="1778508"/>
            <a:ext cx="621792" cy="68580"/>
          </a:xfrm>
          <a:prstGeom prst="rect">
            <a:avLst/>
          </a:prstGeom>
          <a:solidFill>
            <a:srgbClr val="F8E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Rectangle 33"/>
          <p:cNvSpPr/>
          <p:nvPr/>
        </p:nvSpPr>
        <p:spPr>
          <a:xfrm>
            <a:off x="2724912" y="1778508"/>
            <a:ext cx="76803" cy="68580"/>
          </a:xfrm>
          <a:prstGeom prst="rect">
            <a:avLst/>
          </a:prstGeom>
          <a:solidFill>
            <a:srgbClr val="C15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5" name="TextBox 34"/>
          <p:cNvSpPr txBox="1"/>
          <p:nvPr/>
        </p:nvSpPr>
        <p:spPr>
          <a:xfrm>
            <a:off x="3401568" y="1691640"/>
            <a:ext cx="566928" cy="2423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1C2A2F"/>
                </a:solidFill>
                <a:latin typeface="Calibri"/>
              </a:rPr>
              <a:t>7,61 ₴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005072" y="1691640"/>
            <a:ext cx="402336" cy="2423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C1512A"/>
                </a:solidFill>
                <a:latin typeface="Calibri"/>
              </a:rPr>
              <a:t>$0,169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38912" y="1933956"/>
            <a:ext cx="219456" cy="2423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700" b="1" i="0">
                <a:solidFill>
                  <a:srgbClr val="64757B"/>
                </a:solidFill>
                <a:latin typeface="Calibri"/>
              </a:rPr>
              <a:t>4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76656" y="1933956"/>
            <a:ext cx="1417320" cy="2423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700" b="1" i="0">
                <a:solidFill>
                  <a:srgbClr val="1C2A2F"/>
                </a:solidFill>
                <a:latin typeface="Calibri"/>
              </a:rPr>
              <a:t>Wow DOUBLE ROLL Original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139696" y="1933956"/>
            <a:ext cx="566928" cy="2423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64757B"/>
                </a:solidFill>
                <a:latin typeface="Calibri"/>
              </a:rPr>
              <a:t>TMK · KOKIRI</a:t>
            </a:r>
          </a:p>
        </p:txBody>
      </p:sp>
      <p:sp>
        <p:nvSpPr>
          <p:cNvPr id="40" name="Rectangle 39"/>
          <p:cNvSpPr/>
          <p:nvPr/>
        </p:nvSpPr>
        <p:spPr>
          <a:xfrm>
            <a:off x="2724912" y="2020824"/>
            <a:ext cx="621792" cy="68580"/>
          </a:xfrm>
          <a:prstGeom prst="rect">
            <a:avLst/>
          </a:prstGeom>
          <a:solidFill>
            <a:srgbClr val="F8E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1" name="Rectangle 40"/>
          <p:cNvSpPr/>
          <p:nvPr/>
        </p:nvSpPr>
        <p:spPr>
          <a:xfrm>
            <a:off x="2724912" y="2020824"/>
            <a:ext cx="137862" cy="68580"/>
          </a:xfrm>
          <a:prstGeom prst="rect">
            <a:avLst/>
          </a:prstGeom>
          <a:solidFill>
            <a:srgbClr val="C15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2" name="TextBox 41"/>
          <p:cNvSpPr txBox="1"/>
          <p:nvPr/>
        </p:nvSpPr>
        <p:spPr>
          <a:xfrm>
            <a:off x="3401568" y="1933956"/>
            <a:ext cx="566928" cy="2423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1C2A2F"/>
                </a:solidFill>
                <a:latin typeface="Calibri"/>
              </a:rPr>
              <a:t>13,66 ₴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005072" y="1933956"/>
            <a:ext cx="402336" cy="2423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C1512A"/>
                </a:solidFill>
                <a:latin typeface="Calibri"/>
              </a:rPr>
              <a:t>$0,303</a:t>
            </a:r>
          </a:p>
        </p:txBody>
      </p:sp>
      <p:sp>
        <p:nvSpPr>
          <p:cNvPr id="44" name="Rectangle 43"/>
          <p:cNvSpPr/>
          <p:nvPr/>
        </p:nvSpPr>
        <p:spPr>
          <a:xfrm>
            <a:off x="365760" y="2176272"/>
            <a:ext cx="4069079" cy="242316"/>
          </a:xfrm>
          <a:prstGeom prst="rect">
            <a:avLst/>
          </a:prstGeom>
          <a:solidFill>
            <a:srgbClr val="F7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5" name="TextBox 44"/>
          <p:cNvSpPr txBox="1"/>
          <p:nvPr/>
        </p:nvSpPr>
        <p:spPr>
          <a:xfrm>
            <a:off x="438912" y="2176272"/>
            <a:ext cx="219456" cy="2423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700" b="1" i="0">
                <a:solidFill>
                  <a:srgbClr val="64757B"/>
                </a:solidFill>
                <a:latin typeface="Calibri"/>
              </a:rPr>
              <a:t>5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76656" y="2176272"/>
            <a:ext cx="1417320" cy="2423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700" b="1" i="0">
                <a:solidFill>
                  <a:srgbClr val="1C2A2F"/>
                </a:solidFill>
                <a:latin typeface="Calibri"/>
              </a:rPr>
              <a:t>Wow DOUBLE ROLL Hot Spicy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2139696" y="2176272"/>
            <a:ext cx="566928" cy="2423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64757B"/>
                </a:solidFill>
                <a:latin typeface="Calibri"/>
              </a:rPr>
              <a:t>TMK · KOKIRI</a:t>
            </a:r>
          </a:p>
        </p:txBody>
      </p:sp>
      <p:sp>
        <p:nvSpPr>
          <p:cNvPr id="48" name="Rectangle 47"/>
          <p:cNvSpPr/>
          <p:nvPr/>
        </p:nvSpPr>
        <p:spPr>
          <a:xfrm>
            <a:off x="2724912" y="2263140"/>
            <a:ext cx="621792" cy="68580"/>
          </a:xfrm>
          <a:prstGeom prst="rect">
            <a:avLst/>
          </a:prstGeom>
          <a:solidFill>
            <a:srgbClr val="F8E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9" name="Rectangle 48"/>
          <p:cNvSpPr/>
          <p:nvPr/>
        </p:nvSpPr>
        <p:spPr>
          <a:xfrm>
            <a:off x="2724912" y="2263140"/>
            <a:ext cx="137862" cy="68580"/>
          </a:xfrm>
          <a:prstGeom prst="rect">
            <a:avLst/>
          </a:prstGeom>
          <a:solidFill>
            <a:srgbClr val="C15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0" name="TextBox 49"/>
          <p:cNvSpPr txBox="1"/>
          <p:nvPr/>
        </p:nvSpPr>
        <p:spPr>
          <a:xfrm>
            <a:off x="3401568" y="2176272"/>
            <a:ext cx="566928" cy="2423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1C2A2F"/>
                </a:solidFill>
                <a:latin typeface="Calibri"/>
              </a:rPr>
              <a:t>13,66 ₴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4005072" y="2176272"/>
            <a:ext cx="402336" cy="2423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C1512A"/>
                </a:solidFill>
                <a:latin typeface="Calibri"/>
              </a:rPr>
              <a:t>$0,303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38912" y="2418588"/>
            <a:ext cx="219456" cy="2423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700" b="1" i="0">
                <a:solidFill>
                  <a:srgbClr val="64757B"/>
                </a:solidFill>
                <a:latin typeface="Calibri"/>
              </a:rPr>
              <a:t>6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76656" y="2418588"/>
            <a:ext cx="1417320" cy="2423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700" b="1" i="0">
                <a:solidFill>
                  <a:srgbClr val="1C2A2F"/>
                </a:solidFill>
                <a:latin typeface="Calibri"/>
              </a:rPr>
              <a:t>Sandwich Seaweed Meat Floss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2139696" y="2418588"/>
            <a:ext cx="566928" cy="2423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64757B"/>
                </a:solidFill>
                <a:latin typeface="Calibri"/>
              </a:rPr>
              <a:t>HanJin · ZEK</a:t>
            </a:r>
          </a:p>
        </p:txBody>
      </p:sp>
      <p:sp>
        <p:nvSpPr>
          <p:cNvPr id="55" name="Rectangle 54"/>
          <p:cNvSpPr/>
          <p:nvPr/>
        </p:nvSpPr>
        <p:spPr>
          <a:xfrm>
            <a:off x="2724912" y="2505456"/>
            <a:ext cx="621792" cy="68580"/>
          </a:xfrm>
          <a:prstGeom prst="rect">
            <a:avLst/>
          </a:prstGeom>
          <a:solidFill>
            <a:srgbClr val="F8E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6" name="Rectangle 55"/>
          <p:cNvSpPr/>
          <p:nvPr/>
        </p:nvSpPr>
        <p:spPr>
          <a:xfrm>
            <a:off x="2724912" y="2505456"/>
            <a:ext cx="218500" cy="68580"/>
          </a:xfrm>
          <a:prstGeom prst="rect">
            <a:avLst/>
          </a:prstGeom>
          <a:solidFill>
            <a:srgbClr val="C15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7" name="TextBox 56"/>
          <p:cNvSpPr txBox="1"/>
          <p:nvPr/>
        </p:nvSpPr>
        <p:spPr>
          <a:xfrm>
            <a:off x="3401568" y="2418588"/>
            <a:ext cx="566928" cy="2423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1C2A2F"/>
                </a:solidFill>
                <a:latin typeface="Calibri"/>
              </a:rPr>
              <a:t>21,65 ₴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4005072" y="2418588"/>
            <a:ext cx="402336" cy="2423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C1512A"/>
                </a:solidFill>
                <a:latin typeface="Calibri"/>
              </a:rPr>
              <a:t>$0,481</a:t>
            </a:r>
          </a:p>
        </p:txBody>
      </p:sp>
      <p:sp>
        <p:nvSpPr>
          <p:cNvPr id="59" name="Rectangle 58"/>
          <p:cNvSpPr/>
          <p:nvPr/>
        </p:nvSpPr>
        <p:spPr>
          <a:xfrm>
            <a:off x="365760" y="2660904"/>
            <a:ext cx="4069079" cy="242316"/>
          </a:xfrm>
          <a:prstGeom prst="rect">
            <a:avLst/>
          </a:prstGeom>
          <a:solidFill>
            <a:srgbClr val="F7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0" name="TextBox 59"/>
          <p:cNvSpPr txBox="1"/>
          <p:nvPr/>
        </p:nvSpPr>
        <p:spPr>
          <a:xfrm>
            <a:off x="438912" y="2660904"/>
            <a:ext cx="219456" cy="2423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700" b="1" i="0">
                <a:solidFill>
                  <a:srgbClr val="64757B"/>
                </a:solidFill>
                <a:latin typeface="Calibri"/>
              </a:rPr>
              <a:t>7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676656" y="2660904"/>
            <a:ext cx="1417320" cy="2423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700" b="1" i="0">
                <a:solidFill>
                  <a:srgbClr val="1C2A2F"/>
                </a:solidFill>
                <a:latin typeface="Calibri"/>
              </a:rPr>
              <a:t>Sandwich Seaweed Sesame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2139696" y="2660904"/>
            <a:ext cx="566928" cy="2423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64757B"/>
                </a:solidFill>
                <a:latin typeface="Calibri"/>
              </a:rPr>
              <a:t>HanJin · ZEK</a:t>
            </a:r>
          </a:p>
        </p:txBody>
      </p:sp>
      <p:sp>
        <p:nvSpPr>
          <p:cNvPr id="63" name="Rectangle 62"/>
          <p:cNvSpPr/>
          <p:nvPr/>
        </p:nvSpPr>
        <p:spPr>
          <a:xfrm>
            <a:off x="2724912" y="2747772"/>
            <a:ext cx="621792" cy="68580"/>
          </a:xfrm>
          <a:prstGeom prst="rect">
            <a:avLst/>
          </a:prstGeom>
          <a:solidFill>
            <a:srgbClr val="F8E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4" name="Rectangle 63"/>
          <p:cNvSpPr/>
          <p:nvPr/>
        </p:nvSpPr>
        <p:spPr>
          <a:xfrm>
            <a:off x="2724912" y="2747772"/>
            <a:ext cx="223445" cy="68580"/>
          </a:xfrm>
          <a:prstGeom prst="rect">
            <a:avLst/>
          </a:prstGeom>
          <a:solidFill>
            <a:srgbClr val="C15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5" name="TextBox 64"/>
          <p:cNvSpPr txBox="1"/>
          <p:nvPr/>
        </p:nvSpPr>
        <p:spPr>
          <a:xfrm>
            <a:off x="3401568" y="2660904"/>
            <a:ext cx="566928" cy="2423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1C2A2F"/>
                </a:solidFill>
                <a:latin typeface="Calibri"/>
              </a:rPr>
              <a:t>22,14 ₴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005072" y="2660904"/>
            <a:ext cx="402336" cy="2423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C1512A"/>
                </a:solidFill>
                <a:latin typeface="Calibri"/>
              </a:rPr>
              <a:t>$0,481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438912" y="2903220"/>
            <a:ext cx="219456" cy="2423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700" b="1" i="0">
                <a:solidFill>
                  <a:srgbClr val="64757B"/>
                </a:solidFill>
                <a:latin typeface="Calibri"/>
              </a:rPr>
              <a:t>8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676656" y="2903220"/>
            <a:ext cx="1417320" cy="2423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700" b="1" i="0">
                <a:solidFill>
                  <a:srgbClr val="1C2A2F"/>
                </a:solidFill>
                <a:latin typeface="Calibri"/>
              </a:rPr>
              <a:t>Wow SEAWEED Original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2139696" y="2903220"/>
            <a:ext cx="566928" cy="2423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64757B"/>
                </a:solidFill>
                <a:latin typeface="Calibri"/>
              </a:rPr>
              <a:t>TMK · KOKIRI</a:t>
            </a:r>
          </a:p>
        </p:txBody>
      </p:sp>
      <p:sp>
        <p:nvSpPr>
          <p:cNvPr id="70" name="Rectangle 69"/>
          <p:cNvSpPr/>
          <p:nvPr/>
        </p:nvSpPr>
        <p:spPr>
          <a:xfrm>
            <a:off x="2724912" y="2990088"/>
            <a:ext cx="621792" cy="68580"/>
          </a:xfrm>
          <a:prstGeom prst="rect">
            <a:avLst/>
          </a:prstGeom>
          <a:solidFill>
            <a:srgbClr val="F8E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1" name="Rectangle 70"/>
          <p:cNvSpPr/>
          <p:nvPr/>
        </p:nvSpPr>
        <p:spPr>
          <a:xfrm>
            <a:off x="2724912" y="2990088"/>
            <a:ext cx="281577" cy="68580"/>
          </a:xfrm>
          <a:prstGeom prst="rect">
            <a:avLst/>
          </a:prstGeom>
          <a:solidFill>
            <a:srgbClr val="C15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2" name="TextBox 71"/>
          <p:cNvSpPr txBox="1"/>
          <p:nvPr/>
        </p:nvSpPr>
        <p:spPr>
          <a:xfrm>
            <a:off x="3401568" y="2903220"/>
            <a:ext cx="566928" cy="2423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1C2A2F"/>
                </a:solidFill>
                <a:latin typeface="Calibri"/>
              </a:rPr>
              <a:t>27,90 ₴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4005072" y="2903220"/>
            <a:ext cx="402336" cy="2423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C1512A"/>
                </a:solidFill>
                <a:latin typeface="Calibri"/>
              </a:rPr>
              <a:t>$0,620</a:t>
            </a:r>
          </a:p>
        </p:txBody>
      </p:sp>
      <p:sp>
        <p:nvSpPr>
          <p:cNvPr id="74" name="Rectangle 73"/>
          <p:cNvSpPr/>
          <p:nvPr/>
        </p:nvSpPr>
        <p:spPr>
          <a:xfrm>
            <a:off x="365760" y="3145536"/>
            <a:ext cx="4069079" cy="242316"/>
          </a:xfrm>
          <a:prstGeom prst="rect">
            <a:avLst/>
          </a:prstGeom>
          <a:solidFill>
            <a:srgbClr val="F7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5" name="TextBox 74"/>
          <p:cNvSpPr txBox="1"/>
          <p:nvPr/>
        </p:nvSpPr>
        <p:spPr>
          <a:xfrm>
            <a:off x="438912" y="3145536"/>
            <a:ext cx="219456" cy="2423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700" b="1" i="0">
                <a:solidFill>
                  <a:srgbClr val="64757B"/>
                </a:solidFill>
                <a:latin typeface="Calibri"/>
              </a:rPr>
              <a:t>9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676656" y="3145536"/>
            <a:ext cx="1417320" cy="2423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700" b="1" i="0">
                <a:solidFill>
                  <a:srgbClr val="1C2A2F"/>
                </a:solidFill>
                <a:latin typeface="Calibri"/>
              </a:rPr>
              <a:t>Wow SEAWEED Spicy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2139696" y="3145536"/>
            <a:ext cx="566928" cy="2423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64757B"/>
                </a:solidFill>
                <a:latin typeface="Calibri"/>
              </a:rPr>
              <a:t>TMK · KOKIRI</a:t>
            </a:r>
          </a:p>
        </p:txBody>
      </p:sp>
      <p:sp>
        <p:nvSpPr>
          <p:cNvPr id="78" name="Rectangle 77"/>
          <p:cNvSpPr/>
          <p:nvPr/>
        </p:nvSpPr>
        <p:spPr>
          <a:xfrm>
            <a:off x="2724912" y="3232404"/>
            <a:ext cx="621792" cy="68580"/>
          </a:xfrm>
          <a:prstGeom prst="rect">
            <a:avLst/>
          </a:prstGeom>
          <a:solidFill>
            <a:srgbClr val="F8E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9" name="Rectangle 78"/>
          <p:cNvSpPr/>
          <p:nvPr/>
        </p:nvSpPr>
        <p:spPr>
          <a:xfrm>
            <a:off x="2724912" y="3232404"/>
            <a:ext cx="281577" cy="68580"/>
          </a:xfrm>
          <a:prstGeom prst="rect">
            <a:avLst/>
          </a:prstGeom>
          <a:solidFill>
            <a:srgbClr val="C15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0" name="TextBox 79"/>
          <p:cNvSpPr txBox="1"/>
          <p:nvPr/>
        </p:nvSpPr>
        <p:spPr>
          <a:xfrm>
            <a:off x="3401568" y="3145536"/>
            <a:ext cx="566928" cy="2423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1C2A2F"/>
                </a:solidFill>
                <a:latin typeface="Calibri"/>
              </a:rPr>
              <a:t>27,90 ₴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4005072" y="3145536"/>
            <a:ext cx="402336" cy="2423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C1512A"/>
                </a:solidFill>
                <a:latin typeface="Calibri"/>
              </a:rPr>
              <a:t>$0,620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438912" y="3387852"/>
            <a:ext cx="219456" cy="2423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700" b="1" i="0">
                <a:solidFill>
                  <a:srgbClr val="64757B"/>
                </a:solidFill>
                <a:latin typeface="Calibri"/>
              </a:rPr>
              <a:t>10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676656" y="3387852"/>
            <a:ext cx="1417320" cy="2423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700" b="1" i="0">
                <a:solidFill>
                  <a:srgbClr val="1C2A2F"/>
                </a:solidFill>
                <a:latin typeface="Calibri"/>
              </a:rPr>
              <a:t>Seaweed Topping Chicken Floss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2139696" y="3387852"/>
            <a:ext cx="566928" cy="2423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64757B"/>
                </a:solidFill>
                <a:latin typeface="Calibri"/>
              </a:rPr>
              <a:t>HanJin · ZEK</a:t>
            </a:r>
          </a:p>
        </p:txBody>
      </p:sp>
      <p:sp>
        <p:nvSpPr>
          <p:cNvPr id="85" name="Rectangle 84"/>
          <p:cNvSpPr/>
          <p:nvPr/>
        </p:nvSpPr>
        <p:spPr>
          <a:xfrm>
            <a:off x="2724912" y="3474720"/>
            <a:ext cx="621792" cy="68580"/>
          </a:xfrm>
          <a:prstGeom prst="rect">
            <a:avLst/>
          </a:prstGeom>
          <a:solidFill>
            <a:srgbClr val="F8E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6" name="Rectangle 85"/>
          <p:cNvSpPr/>
          <p:nvPr/>
        </p:nvSpPr>
        <p:spPr>
          <a:xfrm>
            <a:off x="2724912" y="3474720"/>
            <a:ext cx="281981" cy="68580"/>
          </a:xfrm>
          <a:prstGeom prst="rect">
            <a:avLst/>
          </a:prstGeom>
          <a:solidFill>
            <a:srgbClr val="C15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7" name="TextBox 86"/>
          <p:cNvSpPr txBox="1"/>
          <p:nvPr/>
        </p:nvSpPr>
        <p:spPr>
          <a:xfrm>
            <a:off x="3401568" y="3387852"/>
            <a:ext cx="566928" cy="2423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1C2A2F"/>
                </a:solidFill>
                <a:latin typeface="Calibri"/>
              </a:rPr>
              <a:t>27,94 ₴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4005072" y="3387852"/>
            <a:ext cx="402336" cy="2423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C1512A"/>
                </a:solidFill>
                <a:latin typeface="Calibri"/>
              </a:rPr>
              <a:t>$0,621</a:t>
            </a:r>
          </a:p>
        </p:txBody>
      </p:sp>
      <p:sp>
        <p:nvSpPr>
          <p:cNvPr id="89" name="Rectangle 88"/>
          <p:cNvSpPr/>
          <p:nvPr/>
        </p:nvSpPr>
        <p:spPr>
          <a:xfrm>
            <a:off x="365760" y="3630168"/>
            <a:ext cx="4069079" cy="242316"/>
          </a:xfrm>
          <a:prstGeom prst="rect">
            <a:avLst/>
          </a:prstGeom>
          <a:solidFill>
            <a:srgbClr val="F7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0" name="TextBox 89"/>
          <p:cNvSpPr txBox="1"/>
          <p:nvPr/>
        </p:nvSpPr>
        <p:spPr>
          <a:xfrm>
            <a:off x="438912" y="3630168"/>
            <a:ext cx="219456" cy="2423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700" b="1" i="0">
                <a:solidFill>
                  <a:srgbClr val="64757B"/>
                </a:solidFill>
                <a:latin typeface="Calibri"/>
              </a:rPr>
              <a:t>11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676656" y="3630168"/>
            <a:ext cx="1417320" cy="2423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700" b="1" i="0">
                <a:solidFill>
                  <a:srgbClr val="1C2A2F"/>
                </a:solidFill>
                <a:latin typeface="Calibri"/>
              </a:rPr>
              <a:t>Seaweed Topping Vegetables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2139696" y="3630168"/>
            <a:ext cx="566928" cy="2423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64757B"/>
                </a:solidFill>
                <a:latin typeface="Calibri"/>
              </a:rPr>
              <a:t>HanJin · ZEK</a:t>
            </a:r>
          </a:p>
        </p:txBody>
      </p:sp>
      <p:sp>
        <p:nvSpPr>
          <p:cNvPr id="93" name="Rectangle 92"/>
          <p:cNvSpPr/>
          <p:nvPr/>
        </p:nvSpPr>
        <p:spPr>
          <a:xfrm>
            <a:off x="2724912" y="3717036"/>
            <a:ext cx="621792" cy="68580"/>
          </a:xfrm>
          <a:prstGeom prst="rect">
            <a:avLst/>
          </a:prstGeom>
          <a:solidFill>
            <a:srgbClr val="F8E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4" name="Rectangle 93"/>
          <p:cNvSpPr/>
          <p:nvPr/>
        </p:nvSpPr>
        <p:spPr>
          <a:xfrm>
            <a:off x="2724912" y="3717036"/>
            <a:ext cx="281981" cy="68580"/>
          </a:xfrm>
          <a:prstGeom prst="rect">
            <a:avLst/>
          </a:prstGeom>
          <a:solidFill>
            <a:srgbClr val="C15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5" name="TextBox 94"/>
          <p:cNvSpPr txBox="1"/>
          <p:nvPr/>
        </p:nvSpPr>
        <p:spPr>
          <a:xfrm>
            <a:off x="3401568" y="3630168"/>
            <a:ext cx="566928" cy="2423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1C2A2F"/>
                </a:solidFill>
                <a:latin typeface="Calibri"/>
              </a:rPr>
              <a:t>27,94 ₴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4005072" y="3630168"/>
            <a:ext cx="402336" cy="2423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C1512A"/>
                </a:solidFill>
                <a:latin typeface="Calibri"/>
              </a:rPr>
              <a:t>$0,621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438912" y="3872484"/>
            <a:ext cx="219456" cy="2423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700" b="1" i="0">
                <a:solidFill>
                  <a:srgbClr val="64757B"/>
                </a:solidFill>
                <a:latin typeface="Calibri"/>
              </a:rPr>
              <a:t>12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676656" y="3872484"/>
            <a:ext cx="1417320" cy="2423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700" b="1" i="0">
                <a:solidFill>
                  <a:srgbClr val="1C2A2F"/>
                </a:solidFill>
                <a:latin typeface="Calibri"/>
              </a:rPr>
              <a:t>Wow MINI Original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2139696" y="3872484"/>
            <a:ext cx="566928" cy="2423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64757B"/>
                </a:solidFill>
                <a:latin typeface="Calibri"/>
              </a:rPr>
              <a:t>TMK · KOKIRI</a:t>
            </a:r>
          </a:p>
        </p:txBody>
      </p:sp>
      <p:sp>
        <p:nvSpPr>
          <p:cNvPr id="100" name="Rectangle 99"/>
          <p:cNvSpPr/>
          <p:nvPr/>
        </p:nvSpPr>
        <p:spPr>
          <a:xfrm>
            <a:off x="2724912" y="3959352"/>
            <a:ext cx="621792" cy="68580"/>
          </a:xfrm>
          <a:prstGeom prst="rect">
            <a:avLst/>
          </a:prstGeom>
          <a:solidFill>
            <a:srgbClr val="F8E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1" name="Rectangle 100"/>
          <p:cNvSpPr/>
          <p:nvPr/>
        </p:nvSpPr>
        <p:spPr>
          <a:xfrm>
            <a:off x="2724912" y="3959352"/>
            <a:ext cx="283596" cy="68580"/>
          </a:xfrm>
          <a:prstGeom prst="rect">
            <a:avLst/>
          </a:prstGeom>
          <a:solidFill>
            <a:srgbClr val="C15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2" name="TextBox 101"/>
          <p:cNvSpPr txBox="1"/>
          <p:nvPr/>
        </p:nvSpPr>
        <p:spPr>
          <a:xfrm>
            <a:off x="3401568" y="3872484"/>
            <a:ext cx="566928" cy="2423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1C2A2F"/>
                </a:solidFill>
                <a:latin typeface="Calibri"/>
              </a:rPr>
              <a:t>28,10 ₴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4005072" y="3872484"/>
            <a:ext cx="402336" cy="2423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C1512A"/>
                </a:solidFill>
                <a:latin typeface="Calibri"/>
              </a:rPr>
              <a:t>$0,624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365760" y="4114800"/>
            <a:ext cx="4069079" cy="242316"/>
          </a:xfrm>
          <a:prstGeom prst="rect">
            <a:avLst/>
          </a:prstGeom>
          <a:solidFill>
            <a:srgbClr val="F7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5" name="TextBox 104"/>
          <p:cNvSpPr txBox="1"/>
          <p:nvPr/>
        </p:nvSpPr>
        <p:spPr>
          <a:xfrm>
            <a:off x="438912" y="4114800"/>
            <a:ext cx="219456" cy="2423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700" b="1" i="0">
                <a:solidFill>
                  <a:srgbClr val="64757B"/>
                </a:solidFill>
                <a:latin typeface="Calibri"/>
              </a:rPr>
              <a:t>13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676656" y="4114800"/>
            <a:ext cx="1417320" cy="2423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700" b="1" i="0">
                <a:solidFill>
                  <a:srgbClr val="1C2A2F"/>
                </a:solidFill>
                <a:latin typeface="Calibri"/>
              </a:rPr>
              <a:t>Wow MINI Hot Spicy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2139696" y="4114800"/>
            <a:ext cx="566928" cy="2423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64757B"/>
                </a:solidFill>
                <a:latin typeface="Calibri"/>
              </a:rPr>
              <a:t>TMK · KOKIRI</a:t>
            </a:r>
          </a:p>
        </p:txBody>
      </p:sp>
      <p:sp>
        <p:nvSpPr>
          <p:cNvPr id="108" name="Rectangle 107"/>
          <p:cNvSpPr/>
          <p:nvPr/>
        </p:nvSpPr>
        <p:spPr>
          <a:xfrm>
            <a:off x="2724912" y="4201668"/>
            <a:ext cx="621792" cy="68580"/>
          </a:xfrm>
          <a:prstGeom prst="rect">
            <a:avLst/>
          </a:prstGeom>
          <a:solidFill>
            <a:srgbClr val="F8E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9" name="Rectangle 108"/>
          <p:cNvSpPr/>
          <p:nvPr/>
        </p:nvSpPr>
        <p:spPr>
          <a:xfrm>
            <a:off x="2724912" y="4201668"/>
            <a:ext cx="283596" cy="68580"/>
          </a:xfrm>
          <a:prstGeom prst="rect">
            <a:avLst/>
          </a:prstGeom>
          <a:solidFill>
            <a:srgbClr val="C15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0" name="TextBox 109"/>
          <p:cNvSpPr txBox="1"/>
          <p:nvPr/>
        </p:nvSpPr>
        <p:spPr>
          <a:xfrm>
            <a:off x="3401568" y="4114800"/>
            <a:ext cx="566928" cy="2423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1C2A2F"/>
                </a:solidFill>
                <a:latin typeface="Calibri"/>
              </a:rPr>
              <a:t>28,10 ₴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4005072" y="4114800"/>
            <a:ext cx="402336" cy="2423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C1512A"/>
                </a:solidFill>
                <a:latin typeface="Calibri"/>
              </a:rPr>
              <a:t>$0,624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438912" y="4357116"/>
            <a:ext cx="219456" cy="2423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700" b="1" i="0">
                <a:solidFill>
                  <a:srgbClr val="64757B"/>
                </a:solidFill>
                <a:latin typeface="Calibri"/>
              </a:rPr>
              <a:t>14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676656" y="4357116"/>
            <a:ext cx="1417320" cy="2423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700" b="1" i="0">
                <a:solidFill>
                  <a:srgbClr val="1C2A2F"/>
                </a:solidFill>
                <a:latin typeface="Calibri"/>
              </a:rPr>
              <a:t>Wow SEAWEED Squid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2139696" y="4357116"/>
            <a:ext cx="566928" cy="2423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64757B"/>
                </a:solidFill>
                <a:latin typeface="Calibri"/>
              </a:rPr>
              <a:t>TMK · KOKIRI</a:t>
            </a:r>
          </a:p>
        </p:txBody>
      </p:sp>
      <p:sp>
        <p:nvSpPr>
          <p:cNvPr id="115" name="Rectangle 114"/>
          <p:cNvSpPr/>
          <p:nvPr/>
        </p:nvSpPr>
        <p:spPr>
          <a:xfrm>
            <a:off x="2724912" y="4443984"/>
            <a:ext cx="621792" cy="68580"/>
          </a:xfrm>
          <a:prstGeom prst="rect">
            <a:avLst/>
          </a:prstGeom>
          <a:solidFill>
            <a:srgbClr val="F8E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6" name="Rectangle 115"/>
          <p:cNvSpPr/>
          <p:nvPr/>
        </p:nvSpPr>
        <p:spPr>
          <a:xfrm>
            <a:off x="2724912" y="4443984"/>
            <a:ext cx="287834" cy="68580"/>
          </a:xfrm>
          <a:prstGeom prst="rect">
            <a:avLst/>
          </a:prstGeom>
          <a:solidFill>
            <a:srgbClr val="C15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7" name="TextBox 116"/>
          <p:cNvSpPr txBox="1"/>
          <p:nvPr/>
        </p:nvSpPr>
        <p:spPr>
          <a:xfrm>
            <a:off x="3401568" y="4357116"/>
            <a:ext cx="566928" cy="2423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1C2A2F"/>
                </a:solidFill>
                <a:latin typeface="Calibri"/>
              </a:rPr>
              <a:t>28,52 ₴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4005072" y="4357116"/>
            <a:ext cx="402336" cy="2423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C1512A"/>
                </a:solidFill>
                <a:latin typeface="Calibri"/>
              </a:rPr>
              <a:t>$0,620</a:t>
            </a:r>
          </a:p>
        </p:txBody>
      </p:sp>
      <p:sp>
        <p:nvSpPr>
          <p:cNvPr id="119" name="Rectangle 118"/>
          <p:cNvSpPr/>
          <p:nvPr/>
        </p:nvSpPr>
        <p:spPr>
          <a:xfrm>
            <a:off x="4709159" y="932688"/>
            <a:ext cx="4069079" cy="274320"/>
          </a:xfrm>
          <a:prstGeom prst="rect">
            <a:avLst/>
          </a:prstGeom>
          <a:solidFill>
            <a:srgbClr val="1423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0" name="TextBox 119"/>
          <p:cNvSpPr txBox="1"/>
          <p:nvPr/>
        </p:nvSpPr>
        <p:spPr>
          <a:xfrm>
            <a:off x="4782312" y="932688"/>
            <a:ext cx="219456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700" b="1" i="0">
                <a:solidFill>
                  <a:srgbClr val="FFFFFF"/>
                </a:solidFill>
                <a:latin typeface="Calibri"/>
              </a:rPr>
              <a:t>#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5020055" y="932688"/>
            <a:ext cx="14173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700" b="1" i="0">
                <a:solidFill>
                  <a:srgbClr val="FFFFFF"/>
                </a:solidFill>
                <a:latin typeface="Calibri"/>
              </a:rPr>
              <a:t>Продукт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6483096" y="932688"/>
            <a:ext cx="566928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700" b="1" i="0">
                <a:solidFill>
                  <a:srgbClr val="FFFFFF"/>
                </a:solidFill>
                <a:latin typeface="Calibri"/>
              </a:rPr>
              <a:t>Постачальник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7744967" y="932688"/>
            <a:ext cx="566928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FFFFFF"/>
                </a:solidFill>
                <a:latin typeface="Calibri"/>
              </a:rPr>
              <a:t>₴ / од.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8348471" y="932688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FFFFFF"/>
                </a:solidFill>
                <a:latin typeface="Calibri"/>
              </a:rPr>
              <a:t>$ / од.</a:t>
            </a:r>
          </a:p>
        </p:txBody>
      </p:sp>
      <p:sp>
        <p:nvSpPr>
          <p:cNvPr id="125" name="Rectangle 124"/>
          <p:cNvSpPr/>
          <p:nvPr/>
        </p:nvSpPr>
        <p:spPr>
          <a:xfrm>
            <a:off x="4709159" y="1207008"/>
            <a:ext cx="4069079" cy="242316"/>
          </a:xfrm>
          <a:prstGeom prst="rect">
            <a:avLst/>
          </a:prstGeom>
          <a:solidFill>
            <a:srgbClr val="F7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6" name="TextBox 125"/>
          <p:cNvSpPr txBox="1"/>
          <p:nvPr/>
        </p:nvSpPr>
        <p:spPr>
          <a:xfrm>
            <a:off x="4782312" y="1207008"/>
            <a:ext cx="219456" cy="2423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700" b="1" i="0">
                <a:solidFill>
                  <a:srgbClr val="64757B"/>
                </a:solidFill>
                <a:latin typeface="Calibri"/>
              </a:rPr>
              <a:t>15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020055" y="1207008"/>
            <a:ext cx="1417320" cy="2423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700" b="1" i="0">
                <a:solidFill>
                  <a:srgbClr val="1C2A2F"/>
                </a:solidFill>
                <a:latin typeface="Calibri"/>
              </a:rPr>
              <a:t>Seaweed Topping Sesame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483096" y="1207008"/>
            <a:ext cx="566928" cy="2423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64757B"/>
                </a:solidFill>
                <a:latin typeface="Calibri"/>
              </a:rPr>
              <a:t>HanJin · ZEK</a:t>
            </a:r>
          </a:p>
        </p:txBody>
      </p:sp>
      <p:sp>
        <p:nvSpPr>
          <p:cNvPr id="129" name="Rectangle 128"/>
          <p:cNvSpPr/>
          <p:nvPr/>
        </p:nvSpPr>
        <p:spPr>
          <a:xfrm>
            <a:off x="7068312" y="1293876"/>
            <a:ext cx="621792" cy="68580"/>
          </a:xfrm>
          <a:prstGeom prst="rect">
            <a:avLst/>
          </a:prstGeom>
          <a:solidFill>
            <a:srgbClr val="F8E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0" name="Rectangle 129"/>
          <p:cNvSpPr/>
          <p:nvPr/>
        </p:nvSpPr>
        <p:spPr>
          <a:xfrm>
            <a:off x="7068312" y="1293876"/>
            <a:ext cx="288238" cy="68580"/>
          </a:xfrm>
          <a:prstGeom prst="rect">
            <a:avLst/>
          </a:prstGeom>
          <a:solidFill>
            <a:srgbClr val="C15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1" name="TextBox 130"/>
          <p:cNvSpPr txBox="1"/>
          <p:nvPr/>
        </p:nvSpPr>
        <p:spPr>
          <a:xfrm>
            <a:off x="7744967" y="1207008"/>
            <a:ext cx="566928" cy="2423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1C2A2F"/>
                </a:solidFill>
                <a:latin typeface="Calibri"/>
              </a:rPr>
              <a:t>28,56 ₴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8348471" y="1207008"/>
            <a:ext cx="402336" cy="2423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C1512A"/>
                </a:solidFill>
                <a:latin typeface="Calibri"/>
              </a:rPr>
              <a:t>$0,621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4782312" y="1449324"/>
            <a:ext cx="219456" cy="2423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700" b="1" i="0">
                <a:solidFill>
                  <a:srgbClr val="64757B"/>
                </a:solidFill>
                <a:latin typeface="Calibri"/>
              </a:rPr>
              <a:t>16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5020055" y="1449324"/>
            <a:ext cx="1417320" cy="2423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700" b="1" i="0">
                <a:solidFill>
                  <a:srgbClr val="1C2A2F"/>
                </a:solidFill>
                <a:latin typeface="Calibri"/>
              </a:rPr>
              <a:t>Tempura Seaweed Corn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6483096" y="1449324"/>
            <a:ext cx="566928" cy="2423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64757B"/>
                </a:solidFill>
                <a:latin typeface="Calibri"/>
              </a:rPr>
              <a:t>HanJin · ZEK</a:t>
            </a:r>
          </a:p>
        </p:txBody>
      </p:sp>
      <p:sp>
        <p:nvSpPr>
          <p:cNvPr id="136" name="Rectangle 135"/>
          <p:cNvSpPr/>
          <p:nvPr/>
        </p:nvSpPr>
        <p:spPr>
          <a:xfrm>
            <a:off x="7068312" y="1536192"/>
            <a:ext cx="621792" cy="68580"/>
          </a:xfrm>
          <a:prstGeom prst="rect">
            <a:avLst/>
          </a:prstGeom>
          <a:solidFill>
            <a:srgbClr val="F8E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7" name="Rectangle 136"/>
          <p:cNvSpPr/>
          <p:nvPr/>
        </p:nvSpPr>
        <p:spPr>
          <a:xfrm>
            <a:off x="7068312" y="1536192"/>
            <a:ext cx="303175" cy="68580"/>
          </a:xfrm>
          <a:prstGeom prst="rect">
            <a:avLst/>
          </a:prstGeom>
          <a:solidFill>
            <a:srgbClr val="C15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8" name="TextBox 137"/>
          <p:cNvSpPr txBox="1"/>
          <p:nvPr/>
        </p:nvSpPr>
        <p:spPr>
          <a:xfrm>
            <a:off x="7744967" y="1449324"/>
            <a:ext cx="566928" cy="2423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1C2A2F"/>
                </a:solidFill>
                <a:latin typeface="Calibri"/>
              </a:rPr>
              <a:t>30,04 ₴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8348471" y="1449324"/>
            <a:ext cx="402336" cy="2423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C1512A"/>
                </a:solidFill>
                <a:latin typeface="Calibri"/>
              </a:rPr>
              <a:t>$0,667</a:t>
            </a:r>
          </a:p>
        </p:txBody>
      </p:sp>
      <p:sp>
        <p:nvSpPr>
          <p:cNvPr id="140" name="Rectangle 139"/>
          <p:cNvSpPr/>
          <p:nvPr/>
        </p:nvSpPr>
        <p:spPr>
          <a:xfrm>
            <a:off x="4709159" y="1691640"/>
            <a:ext cx="4069079" cy="242316"/>
          </a:xfrm>
          <a:prstGeom prst="rect">
            <a:avLst/>
          </a:prstGeom>
          <a:solidFill>
            <a:srgbClr val="F7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1" name="TextBox 140"/>
          <p:cNvSpPr txBox="1"/>
          <p:nvPr/>
        </p:nvSpPr>
        <p:spPr>
          <a:xfrm>
            <a:off x="4782312" y="1691640"/>
            <a:ext cx="219456" cy="2423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700" b="1" i="0">
                <a:solidFill>
                  <a:srgbClr val="64757B"/>
                </a:solidFill>
                <a:latin typeface="Calibri"/>
              </a:rPr>
              <a:t>17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5020055" y="1691640"/>
            <a:ext cx="1417320" cy="2423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700" b="1" i="0">
                <a:solidFill>
                  <a:srgbClr val="1C2A2F"/>
                </a:solidFill>
                <a:latin typeface="Calibri"/>
              </a:rPr>
              <a:t>Tempura Seaweed Wasabi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6483096" y="1691640"/>
            <a:ext cx="566928" cy="2423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64757B"/>
                </a:solidFill>
                <a:latin typeface="Calibri"/>
              </a:rPr>
              <a:t>HanJin · ZEK</a:t>
            </a:r>
          </a:p>
        </p:txBody>
      </p:sp>
      <p:sp>
        <p:nvSpPr>
          <p:cNvPr id="144" name="Rectangle 143"/>
          <p:cNvSpPr/>
          <p:nvPr/>
        </p:nvSpPr>
        <p:spPr>
          <a:xfrm>
            <a:off x="7068312" y="1778508"/>
            <a:ext cx="621792" cy="68580"/>
          </a:xfrm>
          <a:prstGeom prst="rect">
            <a:avLst/>
          </a:prstGeom>
          <a:solidFill>
            <a:srgbClr val="F8E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5" name="Rectangle 144"/>
          <p:cNvSpPr/>
          <p:nvPr/>
        </p:nvSpPr>
        <p:spPr>
          <a:xfrm>
            <a:off x="7068312" y="1778508"/>
            <a:ext cx="303175" cy="68580"/>
          </a:xfrm>
          <a:prstGeom prst="rect">
            <a:avLst/>
          </a:prstGeom>
          <a:solidFill>
            <a:srgbClr val="C15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6" name="TextBox 145"/>
          <p:cNvSpPr txBox="1"/>
          <p:nvPr/>
        </p:nvSpPr>
        <p:spPr>
          <a:xfrm>
            <a:off x="7744967" y="1691640"/>
            <a:ext cx="566928" cy="2423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1C2A2F"/>
                </a:solidFill>
                <a:latin typeface="Calibri"/>
              </a:rPr>
              <a:t>30,04 ₴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8348471" y="1691640"/>
            <a:ext cx="402336" cy="2423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C1512A"/>
                </a:solidFill>
                <a:latin typeface="Calibri"/>
              </a:rPr>
              <a:t>$0,667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4782312" y="1933956"/>
            <a:ext cx="219456" cy="2423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700" b="1" i="0">
                <a:solidFill>
                  <a:srgbClr val="64757B"/>
                </a:solidFill>
                <a:latin typeface="Calibri"/>
              </a:rPr>
              <a:t>18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5020055" y="1933956"/>
            <a:ext cx="1417320" cy="2423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700" b="1" i="0">
                <a:solidFill>
                  <a:srgbClr val="1C2A2F"/>
                </a:solidFill>
                <a:latin typeface="Calibri"/>
              </a:rPr>
              <a:t>Tempura Seaweed Mala Crawfish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6483096" y="1933956"/>
            <a:ext cx="566928" cy="2423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64757B"/>
                </a:solidFill>
                <a:latin typeface="Calibri"/>
              </a:rPr>
              <a:t>HanJin · ZEK</a:t>
            </a:r>
          </a:p>
        </p:txBody>
      </p:sp>
      <p:sp>
        <p:nvSpPr>
          <p:cNvPr id="151" name="Rectangle 150"/>
          <p:cNvSpPr/>
          <p:nvPr/>
        </p:nvSpPr>
        <p:spPr>
          <a:xfrm>
            <a:off x="7068312" y="2020824"/>
            <a:ext cx="621792" cy="68580"/>
          </a:xfrm>
          <a:prstGeom prst="rect">
            <a:avLst/>
          </a:prstGeom>
          <a:solidFill>
            <a:srgbClr val="F8E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2" name="Rectangle 151"/>
          <p:cNvSpPr/>
          <p:nvPr/>
        </p:nvSpPr>
        <p:spPr>
          <a:xfrm>
            <a:off x="7068312" y="2020824"/>
            <a:ext cx="303175" cy="68580"/>
          </a:xfrm>
          <a:prstGeom prst="rect">
            <a:avLst/>
          </a:prstGeom>
          <a:solidFill>
            <a:srgbClr val="C15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3" name="TextBox 152"/>
          <p:cNvSpPr txBox="1"/>
          <p:nvPr/>
        </p:nvSpPr>
        <p:spPr>
          <a:xfrm>
            <a:off x="7744967" y="1933956"/>
            <a:ext cx="566928" cy="2423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1C2A2F"/>
                </a:solidFill>
                <a:latin typeface="Calibri"/>
              </a:rPr>
              <a:t>30,04 ₴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8348471" y="1933956"/>
            <a:ext cx="402336" cy="2423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C1512A"/>
                </a:solidFill>
                <a:latin typeface="Calibri"/>
              </a:rPr>
              <a:t>$0,667</a:t>
            </a:r>
          </a:p>
        </p:txBody>
      </p:sp>
      <p:sp>
        <p:nvSpPr>
          <p:cNvPr id="155" name="Rectangle 154"/>
          <p:cNvSpPr/>
          <p:nvPr/>
        </p:nvSpPr>
        <p:spPr>
          <a:xfrm>
            <a:off x="4709159" y="2176272"/>
            <a:ext cx="4069079" cy="242316"/>
          </a:xfrm>
          <a:prstGeom prst="rect">
            <a:avLst/>
          </a:prstGeom>
          <a:solidFill>
            <a:srgbClr val="F7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6" name="TextBox 155"/>
          <p:cNvSpPr txBox="1"/>
          <p:nvPr/>
        </p:nvSpPr>
        <p:spPr>
          <a:xfrm>
            <a:off x="4782312" y="2176272"/>
            <a:ext cx="219456" cy="2423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700" b="1" i="0">
                <a:solidFill>
                  <a:srgbClr val="64757B"/>
                </a:solidFill>
                <a:latin typeface="Calibri"/>
              </a:rPr>
              <a:t>19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5020055" y="2176272"/>
            <a:ext cx="1417320" cy="2423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700" b="1" i="0">
                <a:solidFill>
                  <a:srgbClr val="1C2A2F"/>
                </a:solidFill>
                <a:latin typeface="Calibri"/>
              </a:rPr>
              <a:t>Norimaki Original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6483096" y="2176272"/>
            <a:ext cx="566928" cy="2423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64757B"/>
                </a:solidFill>
                <a:latin typeface="Calibri"/>
              </a:rPr>
              <a:t>Thai-Nichi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7068312" y="2263140"/>
            <a:ext cx="621792" cy="68580"/>
          </a:xfrm>
          <a:prstGeom prst="rect">
            <a:avLst/>
          </a:prstGeom>
          <a:solidFill>
            <a:srgbClr val="F8E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0" name="Rectangle 159"/>
          <p:cNvSpPr/>
          <p:nvPr/>
        </p:nvSpPr>
        <p:spPr>
          <a:xfrm>
            <a:off x="7068312" y="2263140"/>
            <a:ext cx="360701" cy="68580"/>
          </a:xfrm>
          <a:prstGeom prst="rect">
            <a:avLst/>
          </a:prstGeom>
          <a:solidFill>
            <a:srgbClr val="C15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1" name="TextBox 160"/>
          <p:cNvSpPr txBox="1"/>
          <p:nvPr/>
        </p:nvSpPr>
        <p:spPr>
          <a:xfrm>
            <a:off x="7744967" y="2176272"/>
            <a:ext cx="566928" cy="2423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1C2A2F"/>
                </a:solidFill>
                <a:latin typeface="Calibri"/>
              </a:rPr>
              <a:t>35,74 ₴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8348471" y="2176272"/>
            <a:ext cx="402336" cy="2423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C1512A"/>
                </a:solidFill>
                <a:latin typeface="Calibri"/>
              </a:rPr>
              <a:t>$0,794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782312" y="2418588"/>
            <a:ext cx="219456" cy="2423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700" b="1" i="0">
                <a:solidFill>
                  <a:srgbClr val="64757B"/>
                </a:solidFill>
                <a:latin typeface="Calibri"/>
              </a:rPr>
              <a:t>20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5020055" y="2418588"/>
            <a:ext cx="1417320" cy="2423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700" b="1" i="0">
                <a:solidFill>
                  <a:srgbClr val="1C2A2F"/>
                </a:solidFill>
                <a:latin typeface="Calibri"/>
              </a:rPr>
              <a:t>Norimaki Wasabi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6483096" y="2418588"/>
            <a:ext cx="566928" cy="2423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64757B"/>
                </a:solidFill>
                <a:latin typeface="Calibri"/>
              </a:rPr>
              <a:t>Thai-Nichi</a:t>
            </a:r>
          </a:p>
        </p:txBody>
      </p:sp>
      <p:sp>
        <p:nvSpPr>
          <p:cNvPr id="166" name="Rectangle 165"/>
          <p:cNvSpPr/>
          <p:nvPr/>
        </p:nvSpPr>
        <p:spPr>
          <a:xfrm>
            <a:off x="7068312" y="2505456"/>
            <a:ext cx="621792" cy="68580"/>
          </a:xfrm>
          <a:prstGeom prst="rect">
            <a:avLst/>
          </a:prstGeom>
          <a:solidFill>
            <a:srgbClr val="F8E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7" name="Rectangle 166"/>
          <p:cNvSpPr/>
          <p:nvPr/>
        </p:nvSpPr>
        <p:spPr>
          <a:xfrm>
            <a:off x="7068312" y="2505456"/>
            <a:ext cx="450826" cy="68580"/>
          </a:xfrm>
          <a:prstGeom prst="rect">
            <a:avLst/>
          </a:prstGeom>
          <a:solidFill>
            <a:srgbClr val="C15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8" name="TextBox 167"/>
          <p:cNvSpPr txBox="1"/>
          <p:nvPr/>
        </p:nvSpPr>
        <p:spPr>
          <a:xfrm>
            <a:off x="7744967" y="2418588"/>
            <a:ext cx="566928" cy="2423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1C2A2F"/>
                </a:solidFill>
                <a:latin typeface="Calibri"/>
              </a:rPr>
              <a:t>44,67 ₴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8348471" y="2418588"/>
            <a:ext cx="402336" cy="2423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C1512A"/>
                </a:solidFill>
                <a:latin typeface="Calibri"/>
              </a:rPr>
              <a:t>$0,993</a:t>
            </a:r>
          </a:p>
        </p:txBody>
      </p:sp>
      <p:sp>
        <p:nvSpPr>
          <p:cNvPr id="170" name="Rectangle 169"/>
          <p:cNvSpPr/>
          <p:nvPr/>
        </p:nvSpPr>
        <p:spPr>
          <a:xfrm>
            <a:off x="4709159" y="2660904"/>
            <a:ext cx="4069079" cy="242316"/>
          </a:xfrm>
          <a:prstGeom prst="rect">
            <a:avLst/>
          </a:prstGeom>
          <a:solidFill>
            <a:srgbClr val="F7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1" name="TextBox 170"/>
          <p:cNvSpPr txBox="1"/>
          <p:nvPr/>
        </p:nvSpPr>
        <p:spPr>
          <a:xfrm>
            <a:off x="4782312" y="2660904"/>
            <a:ext cx="219456" cy="2423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700" b="1" i="0">
                <a:solidFill>
                  <a:srgbClr val="64757B"/>
                </a:solidFill>
                <a:latin typeface="Calibri"/>
              </a:rPr>
              <a:t>21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5020055" y="2660904"/>
            <a:ext cx="1417320" cy="2423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700" b="1" i="0">
                <a:solidFill>
                  <a:srgbClr val="1C2A2F"/>
                </a:solidFill>
                <a:latin typeface="Calibri"/>
              </a:rPr>
              <a:t>Tempura Seaweed Corn · 50 г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6483096" y="2660904"/>
            <a:ext cx="566928" cy="2423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64757B"/>
                </a:solidFill>
                <a:latin typeface="Calibri"/>
              </a:rPr>
              <a:t>HanJin · ZEK</a:t>
            </a:r>
          </a:p>
        </p:txBody>
      </p:sp>
      <p:sp>
        <p:nvSpPr>
          <p:cNvPr id="174" name="Rectangle 173"/>
          <p:cNvSpPr/>
          <p:nvPr/>
        </p:nvSpPr>
        <p:spPr>
          <a:xfrm>
            <a:off x="7068312" y="2747772"/>
            <a:ext cx="621792" cy="68580"/>
          </a:xfrm>
          <a:prstGeom prst="rect">
            <a:avLst/>
          </a:prstGeom>
          <a:solidFill>
            <a:srgbClr val="F8E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5" name="Rectangle 174"/>
          <p:cNvSpPr/>
          <p:nvPr/>
        </p:nvSpPr>
        <p:spPr>
          <a:xfrm>
            <a:off x="7068312" y="2747772"/>
            <a:ext cx="458194" cy="68580"/>
          </a:xfrm>
          <a:prstGeom prst="rect">
            <a:avLst/>
          </a:prstGeom>
          <a:solidFill>
            <a:srgbClr val="C15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6" name="TextBox 175"/>
          <p:cNvSpPr txBox="1"/>
          <p:nvPr/>
        </p:nvSpPr>
        <p:spPr>
          <a:xfrm>
            <a:off x="7744967" y="2660904"/>
            <a:ext cx="566928" cy="2423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1C2A2F"/>
                </a:solidFill>
                <a:latin typeface="Calibri"/>
              </a:rPr>
              <a:t>45,40 ₴</a:t>
            </a:r>
          </a:p>
        </p:txBody>
      </p:sp>
      <p:sp>
        <p:nvSpPr>
          <p:cNvPr id="177" name="TextBox 176"/>
          <p:cNvSpPr txBox="1"/>
          <p:nvPr/>
        </p:nvSpPr>
        <p:spPr>
          <a:xfrm>
            <a:off x="8348471" y="2660904"/>
            <a:ext cx="402336" cy="2423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C1512A"/>
                </a:solidFill>
                <a:latin typeface="Calibri"/>
              </a:rPr>
              <a:t>$1,009</a:t>
            </a:r>
          </a:p>
        </p:txBody>
      </p:sp>
      <p:sp>
        <p:nvSpPr>
          <p:cNvPr id="178" name="TextBox 177"/>
          <p:cNvSpPr txBox="1"/>
          <p:nvPr/>
        </p:nvSpPr>
        <p:spPr>
          <a:xfrm>
            <a:off x="4782312" y="2903220"/>
            <a:ext cx="219456" cy="2423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700" b="1" i="0">
                <a:solidFill>
                  <a:srgbClr val="64757B"/>
                </a:solidFill>
                <a:latin typeface="Calibri"/>
              </a:rPr>
              <a:t>22</a:t>
            </a:r>
          </a:p>
        </p:txBody>
      </p:sp>
      <p:sp>
        <p:nvSpPr>
          <p:cNvPr id="179" name="TextBox 178"/>
          <p:cNvSpPr txBox="1"/>
          <p:nvPr/>
        </p:nvSpPr>
        <p:spPr>
          <a:xfrm>
            <a:off x="5020055" y="2903220"/>
            <a:ext cx="1417320" cy="2423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700" b="1" i="0">
                <a:solidFill>
                  <a:srgbClr val="1C2A2F"/>
                </a:solidFill>
                <a:latin typeface="Calibri"/>
              </a:rPr>
              <a:t>Tempura Seaweed Wasabi · 50 г</a:t>
            </a:r>
          </a:p>
        </p:txBody>
      </p:sp>
      <p:sp>
        <p:nvSpPr>
          <p:cNvPr id="180" name="TextBox 179"/>
          <p:cNvSpPr txBox="1"/>
          <p:nvPr/>
        </p:nvSpPr>
        <p:spPr>
          <a:xfrm>
            <a:off x="6483096" y="2903220"/>
            <a:ext cx="566928" cy="2423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64757B"/>
                </a:solidFill>
                <a:latin typeface="Calibri"/>
              </a:rPr>
              <a:t>HanJin · ZEK</a:t>
            </a:r>
          </a:p>
        </p:txBody>
      </p:sp>
      <p:sp>
        <p:nvSpPr>
          <p:cNvPr id="181" name="Rectangle 180"/>
          <p:cNvSpPr/>
          <p:nvPr/>
        </p:nvSpPr>
        <p:spPr>
          <a:xfrm>
            <a:off x="7068312" y="2990088"/>
            <a:ext cx="621792" cy="68580"/>
          </a:xfrm>
          <a:prstGeom prst="rect">
            <a:avLst/>
          </a:prstGeom>
          <a:solidFill>
            <a:srgbClr val="F8E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2" name="Rectangle 181"/>
          <p:cNvSpPr/>
          <p:nvPr/>
        </p:nvSpPr>
        <p:spPr>
          <a:xfrm>
            <a:off x="7068312" y="2990088"/>
            <a:ext cx="458194" cy="68580"/>
          </a:xfrm>
          <a:prstGeom prst="rect">
            <a:avLst/>
          </a:prstGeom>
          <a:solidFill>
            <a:srgbClr val="C15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3" name="TextBox 182"/>
          <p:cNvSpPr txBox="1"/>
          <p:nvPr/>
        </p:nvSpPr>
        <p:spPr>
          <a:xfrm>
            <a:off x="7744967" y="2903220"/>
            <a:ext cx="566928" cy="2423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1C2A2F"/>
                </a:solidFill>
                <a:latin typeface="Calibri"/>
              </a:rPr>
              <a:t>45,40 ₴</a:t>
            </a:r>
          </a:p>
        </p:txBody>
      </p:sp>
      <p:sp>
        <p:nvSpPr>
          <p:cNvPr id="184" name="TextBox 183"/>
          <p:cNvSpPr txBox="1"/>
          <p:nvPr/>
        </p:nvSpPr>
        <p:spPr>
          <a:xfrm>
            <a:off x="8348471" y="2903220"/>
            <a:ext cx="402336" cy="2423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C1512A"/>
                </a:solidFill>
                <a:latin typeface="Calibri"/>
              </a:rPr>
              <a:t>$1,009</a:t>
            </a:r>
          </a:p>
        </p:txBody>
      </p:sp>
      <p:sp>
        <p:nvSpPr>
          <p:cNvPr id="185" name="Rectangle 184"/>
          <p:cNvSpPr/>
          <p:nvPr/>
        </p:nvSpPr>
        <p:spPr>
          <a:xfrm>
            <a:off x="4709159" y="3145536"/>
            <a:ext cx="4069079" cy="242316"/>
          </a:xfrm>
          <a:prstGeom prst="rect">
            <a:avLst/>
          </a:prstGeom>
          <a:solidFill>
            <a:srgbClr val="F7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6" name="TextBox 185"/>
          <p:cNvSpPr txBox="1"/>
          <p:nvPr/>
        </p:nvSpPr>
        <p:spPr>
          <a:xfrm>
            <a:off x="4782312" y="3145536"/>
            <a:ext cx="219456" cy="2423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700" b="1" i="0">
                <a:solidFill>
                  <a:srgbClr val="64757B"/>
                </a:solidFill>
                <a:latin typeface="Calibri"/>
              </a:rPr>
              <a:t>23</a:t>
            </a:r>
          </a:p>
        </p:txBody>
      </p:sp>
      <p:sp>
        <p:nvSpPr>
          <p:cNvPr id="187" name="TextBox 186"/>
          <p:cNvSpPr txBox="1"/>
          <p:nvPr/>
        </p:nvSpPr>
        <p:spPr>
          <a:xfrm>
            <a:off x="5020055" y="3145536"/>
            <a:ext cx="1417320" cy="2423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700" b="1" i="0">
                <a:solidFill>
                  <a:srgbClr val="1C2A2F"/>
                </a:solidFill>
                <a:latin typeface="Calibri"/>
              </a:rPr>
              <a:t>Tempura Seaweed Mala · 50 г</a:t>
            </a:r>
          </a:p>
        </p:txBody>
      </p:sp>
      <p:sp>
        <p:nvSpPr>
          <p:cNvPr id="188" name="TextBox 187"/>
          <p:cNvSpPr txBox="1"/>
          <p:nvPr/>
        </p:nvSpPr>
        <p:spPr>
          <a:xfrm>
            <a:off x="6483096" y="3145536"/>
            <a:ext cx="566928" cy="2423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64757B"/>
                </a:solidFill>
                <a:latin typeface="Calibri"/>
              </a:rPr>
              <a:t>HanJin · ZEK</a:t>
            </a:r>
          </a:p>
        </p:txBody>
      </p:sp>
      <p:sp>
        <p:nvSpPr>
          <p:cNvPr id="189" name="Rectangle 188"/>
          <p:cNvSpPr/>
          <p:nvPr/>
        </p:nvSpPr>
        <p:spPr>
          <a:xfrm>
            <a:off x="7068312" y="3232404"/>
            <a:ext cx="621792" cy="68580"/>
          </a:xfrm>
          <a:prstGeom prst="rect">
            <a:avLst/>
          </a:prstGeom>
          <a:solidFill>
            <a:srgbClr val="F8E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0" name="Rectangle 189"/>
          <p:cNvSpPr/>
          <p:nvPr/>
        </p:nvSpPr>
        <p:spPr>
          <a:xfrm>
            <a:off x="7068312" y="3232404"/>
            <a:ext cx="458194" cy="68580"/>
          </a:xfrm>
          <a:prstGeom prst="rect">
            <a:avLst/>
          </a:prstGeom>
          <a:solidFill>
            <a:srgbClr val="C15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1" name="TextBox 190"/>
          <p:cNvSpPr txBox="1"/>
          <p:nvPr/>
        </p:nvSpPr>
        <p:spPr>
          <a:xfrm>
            <a:off x="7744967" y="3145536"/>
            <a:ext cx="566928" cy="2423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1C2A2F"/>
                </a:solidFill>
                <a:latin typeface="Calibri"/>
              </a:rPr>
              <a:t>45,40 ₴</a:t>
            </a:r>
          </a:p>
        </p:txBody>
      </p:sp>
      <p:sp>
        <p:nvSpPr>
          <p:cNvPr id="192" name="TextBox 191"/>
          <p:cNvSpPr txBox="1"/>
          <p:nvPr/>
        </p:nvSpPr>
        <p:spPr>
          <a:xfrm>
            <a:off x="8348471" y="3145536"/>
            <a:ext cx="402336" cy="2423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C1512A"/>
                </a:solidFill>
                <a:latin typeface="Calibri"/>
              </a:rPr>
              <a:t>$1,009</a:t>
            </a:r>
          </a:p>
        </p:txBody>
      </p:sp>
      <p:sp>
        <p:nvSpPr>
          <p:cNvPr id="193" name="TextBox 192"/>
          <p:cNvSpPr txBox="1"/>
          <p:nvPr/>
        </p:nvSpPr>
        <p:spPr>
          <a:xfrm>
            <a:off x="4782312" y="3387852"/>
            <a:ext cx="219456" cy="2423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700" b="1" i="0">
                <a:solidFill>
                  <a:srgbClr val="64757B"/>
                </a:solidFill>
                <a:latin typeface="Calibri"/>
              </a:rPr>
              <a:t>24</a:t>
            </a:r>
          </a:p>
        </p:txBody>
      </p:sp>
      <p:sp>
        <p:nvSpPr>
          <p:cNvPr id="194" name="TextBox 193"/>
          <p:cNvSpPr txBox="1"/>
          <p:nvPr/>
        </p:nvSpPr>
        <p:spPr>
          <a:xfrm>
            <a:off x="5020055" y="3387852"/>
            <a:ext cx="1417320" cy="2423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700" b="1" i="0">
                <a:solidFill>
                  <a:srgbClr val="1C2A2F"/>
                </a:solidFill>
                <a:latin typeface="Calibri"/>
              </a:rPr>
              <a:t>Arare Norimaki Original</a:t>
            </a:r>
          </a:p>
        </p:txBody>
      </p:sp>
      <p:sp>
        <p:nvSpPr>
          <p:cNvPr id="195" name="TextBox 194"/>
          <p:cNvSpPr txBox="1"/>
          <p:nvPr/>
        </p:nvSpPr>
        <p:spPr>
          <a:xfrm>
            <a:off x="6483096" y="3387852"/>
            <a:ext cx="566928" cy="2423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64757B"/>
                </a:solidFill>
                <a:latin typeface="Calibri"/>
              </a:rPr>
              <a:t>Singha Kameda</a:t>
            </a:r>
          </a:p>
        </p:txBody>
      </p:sp>
      <p:sp>
        <p:nvSpPr>
          <p:cNvPr id="196" name="Rectangle 195"/>
          <p:cNvSpPr/>
          <p:nvPr/>
        </p:nvSpPr>
        <p:spPr>
          <a:xfrm>
            <a:off x="7068312" y="3474720"/>
            <a:ext cx="621792" cy="68580"/>
          </a:xfrm>
          <a:prstGeom prst="rect">
            <a:avLst/>
          </a:prstGeom>
          <a:solidFill>
            <a:srgbClr val="F8E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7" name="Rectangle 196"/>
          <p:cNvSpPr/>
          <p:nvPr/>
        </p:nvSpPr>
        <p:spPr>
          <a:xfrm>
            <a:off x="7068312" y="3474720"/>
            <a:ext cx="470204" cy="68580"/>
          </a:xfrm>
          <a:prstGeom prst="rect">
            <a:avLst/>
          </a:prstGeom>
          <a:solidFill>
            <a:srgbClr val="C15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8" name="TextBox 197"/>
          <p:cNvSpPr txBox="1"/>
          <p:nvPr/>
        </p:nvSpPr>
        <p:spPr>
          <a:xfrm>
            <a:off x="7744967" y="3387852"/>
            <a:ext cx="566928" cy="2423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1C2A2F"/>
                </a:solidFill>
                <a:latin typeface="Calibri"/>
              </a:rPr>
              <a:t>46,59 ₴</a:t>
            </a:r>
          </a:p>
        </p:txBody>
      </p:sp>
      <p:sp>
        <p:nvSpPr>
          <p:cNvPr id="199" name="TextBox 198"/>
          <p:cNvSpPr txBox="1"/>
          <p:nvPr/>
        </p:nvSpPr>
        <p:spPr>
          <a:xfrm>
            <a:off x="8348471" y="3387852"/>
            <a:ext cx="402336" cy="2423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C1512A"/>
                </a:solidFill>
                <a:latin typeface="Calibri"/>
              </a:rPr>
              <a:t>$1,035</a:t>
            </a:r>
          </a:p>
        </p:txBody>
      </p:sp>
      <p:sp>
        <p:nvSpPr>
          <p:cNvPr id="200" name="Rectangle 199"/>
          <p:cNvSpPr/>
          <p:nvPr/>
        </p:nvSpPr>
        <p:spPr>
          <a:xfrm>
            <a:off x="4709159" y="3630168"/>
            <a:ext cx="4069079" cy="242316"/>
          </a:xfrm>
          <a:prstGeom prst="rect">
            <a:avLst/>
          </a:prstGeom>
          <a:solidFill>
            <a:srgbClr val="F7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1" name="TextBox 200"/>
          <p:cNvSpPr txBox="1"/>
          <p:nvPr/>
        </p:nvSpPr>
        <p:spPr>
          <a:xfrm>
            <a:off x="4782312" y="3630168"/>
            <a:ext cx="219456" cy="2423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700" b="1" i="0">
                <a:solidFill>
                  <a:srgbClr val="64757B"/>
                </a:solidFill>
                <a:latin typeface="Calibri"/>
              </a:rPr>
              <a:t>25</a:t>
            </a:r>
          </a:p>
        </p:txBody>
      </p:sp>
      <p:sp>
        <p:nvSpPr>
          <p:cNvPr id="202" name="TextBox 201"/>
          <p:cNvSpPr txBox="1"/>
          <p:nvPr/>
        </p:nvSpPr>
        <p:spPr>
          <a:xfrm>
            <a:off x="5020055" y="3630168"/>
            <a:ext cx="1417320" cy="2423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700" b="1" i="0">
                <a:solidFill>
                  <a:srgbClr val="1C2A2F"/>
                </a:solidFill>
                <a:latin typeface="Calibri"/>
              </a:rPr>
              <a:t>Arare Norimaki Wasabi</a:t>
            </a:r>
          </a:p>
        </p:txBody>
      </p:sp>
      <p:sp>
        <p:nvSpPr>
          <p:cNvPr id="203" name="TextBox 202"/>
          <p:cNvSpPr txBox="1"/>
          <p:nvPr/>
        </p:nvSpPr>
        <p:spPr>
          <a:xfrm>
            <a:off x="6483096" y="3630168"/>
            <a:ext cx="566928" cy="2423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64757B"/>
                </a:solidFill>
                <a:latin typeface="Calibri"/>
              </a:rPr>
              <a:t>Singha Kameda</a:t>
            </a:r>
          </a:p>
        </p:txBody>
      </p:sp>
      <p:sp>
        <p:nvSpPr>
          <p:cNvPr id="204" name="Rectangle 203"/>
          <p:cNvSpPr/>
          <p:nvPr/>
        </p:nvSpPr>
        <p:spPr>
          <a:xfrm>
            <a:off x="7068312" y="3717036"/>
            <a:ext cx="621792" cy="68580"/>
          </a:xfrm>
          <a:prstGeom prst="rect">
            <a:avLst/>
          </a:prstGeom>
          <a:solidFill>
            <a:srgbClr val="F8E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5" name="Rectangle 204"/>
          <p:cNvSpPr/>
          <p:nvPr/>
        </p:nvSpPr>
        <p:spPr>
          <a:xfrm>
            <a:off x="7068312" y="3717036"/>
            <a:ext cx="470204" cy="68580"/>
          </a:xfrm>
          <a:prstGeom prst="rect">
            <a:avLst/>
          </a:prstGeom>
          <a:solidFill>
            <a:srgbClr val="C15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6" name="TextBox 205"/>
          <p:cNvSpPr txBox="1"/>
          <p:nvPr/>
        </p:nvSpPr>
        <p:spPr>
          <a:xfrm>
            <a:off x="7744967" y="3630168"/>
            <a:ext cx="566928" cy="2423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1C2A2F"/>
                </a:solidFill>
                <a:latin typeface="Calibri"/>
              </a:rPr>
              <a:t>46,59 ₴</a:t>
            </a:r>
          </a:p>
        </p:txBody>
      </p:sp>
      <p:sp>
        <p:nvSpPr>
          <p:cNvPr id="207" name="TextBox 206"/>
          <p:cNvSpPr txBox="1"/>
          <p:nvPr/>
        </p:nvSpPr>
        <p:spPr>
          <a:xfrm>
            <a:off x="8348471" y="3630168"/>
            <a:ext cx="402336" cy="2423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C1512A"/>
                </a:solidFill>
                <a:latin typeface="Calibri"/>
              </a:rPr>
              <a:t>$1,035</a:t>
            </a:r>
          </a:p>
        </p:txBody>
      </p:sp>
      <p:sp>
        <p:nvSpPr>
          <p:cNvPr id="208" name="TextBox 207"/>
          <p:cNvSpPr txBox="1"/>
          <p:nvPr/>
        </p:nvSpPr>
        <p:spPr>
          <a:xfrm>
            <a:off x="4782312" y="3872484"/>
            <a:ext cx="219456" cy="2423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700" b="1" i="0">
                <a:solidFill>
                  <a:srgbClr val="64757B"/>
                </a:solidFill>
                <a:latin typeface="Calibri"/>
              </a:rPr>
              <a:t>26</a:t>
            </a:r>
          </a:p>
        </p:txBody>
      </p:sp>
      <p:sp>
        <p:nvSpPr>
          <p:cNvPr id="209" name="TextBox 208"/>
          <p:cNvSpPr txBox="1"/>
          <p:nvPr/>
        </p:nvSpPr>
        <p:spPr>
          <a:xfrm>
            <a:off x="5020055" y="3872484"/>
            <a:ext cx="1417320" cy="2423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700" b="1" i="0">
                <a:solidFill>
                  <a:srgbClr val="1C2A2F"/>
                </a:solidFill>
                <a:latin typeface="Calibri"/>
              </a:rPr>
              <a:t>Seaweed Topping Vegetables · 70 г</a:t>
            </a:r>
          </a:p>
        </p:txBody>
      </p:sp>
      <p:sp>
        <p:nvSpPr>
          <p:cNvPr id="210" name="TextBox 209"/>
          <p:cNvSpPr txBox="1"/>
          <p:nvPr/>
        </p:nvSpPr>
        <p:spPr>
          <a:xfrm>
            <a:off x="6483096" y="3872484"/>
            <a:ext cx="566928" cy="2423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64757B"/>
                </a:solidFill>
                <a:latin typeface="Calibri"/>
              </a:rPr>
              <a:t>HanJin · ZEK</a:t>
            </a:r>
          </a:p>
        </p:txBody>
      </p:sp>
      <p:sp>
        <p:nvSpPr>
          <p:cNvPr id="211" name="Rectangle 210"/>
          <p:cNvSpPr/>
          <p:nvPr/>
        </p:nvSpPr>
        <p:spPr>
          <a:xfrm>
            <a:off x="7068312" y="3959352"/>
            <a:ext cx="621792" cy="68580"/>
          </a:xfrm>
          <a:prstGeom prst="rect">
            <a:avLst/>
          </a:prstGeom>
          <a:solidFill>
            <a:srgbClr val="F8E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2" name="Rectangle 211"/>
          <p:cNvSpPr/>
          <p:nvPr/>
        </p:nvSpPr>
        <p:spPr>
          <a:xfrm>
            <a:off x="7068312" y="3959352"/>
            <a:ext cx="596460" cy="68580"/>
          </a:xfrm>
          <a:prstGeom prst="rect">
            <a:avLst/>
          </a:prstGeom>
          <a:solidFill>
            <a:srgbClr val="C15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3" name="TextBox 212"/>
          <p:cNvSpPr txBox="1"/>
          <p:nvPr/>
        </p:nvSpPr>
        <p:spPr>
          <a:xfrm>
            <a:off x="7744967" y="3872484"/>
            <a:ext cx="566928" cy="2423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1C2A2F"/>
                </a:solidFill>
                <a:latin typeface="Calibri"/>
              </a:rPr>
              <a:t>59,10 ₴</a:t>
            </a:r>
          </a:p>
        </p:txBody>
      </p:sp>
      <p:sp>
        <p:nvSpPr>
          <p:cNvPr id="214" name="TextBox 213"/>
          <p:cNvSpPr txBox="1"/>
          <p:nvPr/>
        </p:nvSpPr>
        <p:spPr>
          <a:xfrm>
            <a:off x="8348471" y="3872484"/>
            <a:ext cx="402336" cy="2423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C1512A"/>
                </a:solidFill>
                <a:latin typeface="Calibri"/>
              </a:rPr>
              <a:t>$1,257</a:t>
            </a:r>
          </a:p>
        </p:txBody>
      </p:sp>
      <p:sp>
        <p:nvSpPr>
          <p:cNvPr id="215" name="Rectangle 214"/>
          <p:cNvSpPr/>
          <p:nvPr/>
        </p:nvSpPr>
        <p:spPr>
          <a:xfrm>
            <a:off x="4709159" y="4114800"/>
            <a:ext cx="4069079" cy="242316"/>
          </a:xfrm>
          <a:prstGeom prst="rect">
            <a:avLst/>
          </a:prstGeom>
          <a:solidFill>
            <a:srgbClr val="F7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6" name="TextBox 215"/>
          <p:cNvSpPr txBox="1"/>
          <p:nvPr/>
        </p:nvSpPr>
        <p:spPr>
          <a:xfrm>
            <a:off x="4782312" y="4114800"/>
            <a:ext cx="219456" cy="2423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700" b="1" i="0">
                <a:solidFill>
                  <a:srgbClr val="64757B"/>
                </a:solidFill>
                <a:latin typeface="Calibri"/>
              </a:rPr>
              <a:t>27</a:t>
            </a:r>
          </a:p>
        </p:txBody>
      </p:sp>
      <p:sp>
        <p:nvSpPr>
          <p:cNvPr id="217" name="TextBox 216"/>
          <p:cNvSpPr txBox="1"/>
          <p:nvPr/>
        </p:nvSpPr>
        <p:spPr>
          <a:xfrm>
            <a:off x="5020055" y="4114800"/>
            <a:ext cx="1417320" cy="2423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700" b="1" i="0">
                <a:solidFill>
                  <a:srgbClr val="1C2A2F"/>
                </a:solidFill>
                <a:latin typeface="Calibri"/>
              </a:rPr>
              <a:t>Seaweed Topping Sesame · 70 г</a:t>
            </a:r>
          </a:p>
        </p:txBody>
      </p:sp>
      <p:sp>
        <p:nvSpPr>
          <p:cNvPr id="218" name="TextBox 217"/>
          <p:cNvSpPr txBox="1"/>
          <p:nvPr/>
        </p:nvSpPr>
        <p:spPr>
          <a:xfrm>
            <a:off x="6483096" y="4114800"/>
            <a:ext cx="566928" cy="2423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64757B"/>
                </a:solidFill>
                <a:latin typeface="Calibri"/>
              </a:rPr>
              <a:t>HanJin · ZEK</a:t>
            </a:r>
          </a:p>
        </p:txBody>
      </p:sp>
      <p:sp>
        <p:nvSpPr>
          <p:cNvPr id="219" name="Rectangle 218"/>
          <p:cNvSpPr/>
          <p:nvPr/>
        </p:nvSpPr>
        <p:spPr>
          <a:xfrm>
            <a:off x="7068312" y="4201668"/>
            <a:ext cx="621792" cy="68580"/>
          </a:xfrm>
          <a:prstGeom prst="rect">
            <a:avLst/>
          </a:prstGeom>
          <a:solidFill>
            <a:srgbClr val="F8E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0" name="Rectangle 219"/>
          <p:cNvSpPr/>
          <p:nvPr/>
        </p:nvSpPr>
        <p:spPr>
          <a:xfrm>
            <a:off x="7068312" y="4201668"/>
            <a:ext cx="609075" cy="68580"/>
          </a:xfrm>
          <a:prstGeom prst="rect">
            <a:avLst/>
          </a:prstGeom>
          <a:solidFill>
            <a:srgbClr val="C15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1" name="TextBox 220"/>
          <p:cNvSpPr txBox="1"/>
          <p:nvPr/>
        </p:nvSpPr>
        <p:spPr>
          <a:xfrm>
            <a:off x="7744967" y="4114800"/>
            <a:ext cx="566928" cy="2423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1C2A2F"/>
                </a:solidFill>
                <a:latin typeface="Calibri"/>
              </a:rPr>
              <a:t>60,35 ₴</a:t>
            </a:r>
          </a:p>
        </p:txBody>
      </p:sp>
      <p:sp>
        <p:nvSpPr>
          <p:cNvPr id="222" name="TextBox 221"/>
          <p:cNvSpPr txBox="1"/>
          <p:nvPr/>
        </p:nvSpPr>
        <p:spPr>
          <a:xfrm>
            <a:off x="8348471" y="4114800"/>
            <a:ext cx="402336" cy="2423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C1512A"/>
                </a:solidFill>
                <a:latin typeface="Calibri"/>
              </a:rPr>
              <a:t>$1,257</a:t>
            </a:r>
          </a:p>
        </p:txBody>
      </p:sp>
      <p:sp>
        <p:nvSpPr>
          <p:cNvPr id="223" name="TextBox 222"/>
          <p:cNvSpPr txBox="1"/>
          <p:nvPr/>
        </p:nvSpPr>
        <p:spPr>
          <a:xfrm>
            <a:off x="4782312" y="4357116"/>
            <a:ext cx="219456" cy="2423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700" b="1" i="0">
                <a:solidFill>
                  <a:srgbClr val="64757B"/>
                </a:solidFill>
                <a:latin typeface="Calibri"/>
              </a:rPr>
              <a:t>28</a:t>
            </a:r>
          </a:p>
        </p:txBody>
      </p:sp>
      <p:sp>
        <p:nvSpPr>
          <p:cNvPr id="224" name="TextBox 223"/>
          <p:cNvSpPr txBox="1"/>
          <p:nvPr/>
        </p:nvSpPr>
        <p:spPr>
          <a:xfrm>
            <a:off x="5020055" y="4357116"/>
            <a:ext cx="1417320" cy="2423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700" b="1" i="0">
                <a:solidFill>
                  <a:srgbClr val="1C2A2F"/>
                </a:solidFill>
                <a:latin typeface="Calibri"/>
              </a:rPr>
              <a:t>Seaweed Topping Chicken · 70 г</a:t>
            </a:r>
          </a:p>
        </p:txBody>
      </p:sp>
      <p:sp>
        <p:nvSpPr>
          <p:cNvPr id="225" name="TextBox 224"/>
          <p:cNvSpPr txBox="1"/>
          <p:nvPr/>
        </p:nvSpPr>
        <p:spPr>
          <a:xfrm>
            <a:off x="6483096" y="4357116"/>
            <a:ext cx="566928" cy="2423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64757B"/>
                </a:solidFill>
                <a:latin typeface="Calibri"/>
              </a:rPr>
              <a:t>HanJin · ZEK</a:t>
            </a:r>
          </a:p>
        </p:txBody>
      </p:sp>
      <p:sp>
        <p:nvSpPr>
          <p:cNvPr id="226" name="Rectangle 225"/>
          <p:cNvSpPr/>
          <p:nvPr/>
        </p:nvSpPr>
        <p:spPr>
          <a:xfrm>
            <a:off x="7068312" y="4443984"/>
            <a:ext cx="621792" cy="68580"/>
          </a:xfrm>
          <a:prstGeom prst="rect">
            <a:avLst/>
          </a:prstGeom>
          <a:solidFill>
            <a:srgbClr val="F8E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7" name="Rectangle 226"/>
          <p:cNvSpPr/>
          <p:nvPr/>
        </p:nvSpPr>
        <p:spPr>
          <a:xfrm>
            <a:off x="7068312" y="4443984"/>
            <a:ext cx="621792" cy="68580"/>
          </a:xfrm>
          <a:prstGeom prst="rect">
            <a:avLst/>
          </a:prstGeom>
          <a:solidFill>
            <a:srgbClr val="C15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8" name="TextBox 227"/>
          <p:cNvSpPr txBox="1"/>
          <p:nvPr/>
        </p:nvSpPr>
        <p:spPr>
          <a:xfrm>
            <a:off x="7744967" y="4357116"/>
            <a:ext cx="566928" cy="2423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1C2A2F"/>
                </a:solidFill>
                <a:latin typeface="Calibri"/>
              </a:rPr>
              <a:t>61,61 ₴</a:t>
            </a:r>
          </a:p>
        </p:txBody>
      </p:sp>
      <p:sp>
        <p:nvSpPr>
          <p:cNvPr id="229" name="TextBox 228"/>
          <p:cNvSpPr txBox="1"/>
          <p:nvPr/>
        </p:nvSpPr>
        <p:spPr>
          <a:xfrm>
            <a:off x="8348471" y="4357116"/>
            <a:ext cx="402336" cy="2423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C1512A"/>
                </a:solidFill>
                <a:latin typeface="Calibri"/>
              </a:rPr>
              <a:t>$1,257</a:t>
            </a:r>
          </a:p>
        </p:txBody>
      </p:sp>
      <p:sp>
        <p:nvSpPr>
          <p:cNvPr id="230" name="Rectangle 229"/>
          <p:cNvSpPr/>
          <p:nvPr/>
        </p:nvSpPr>
        <p:spPr>
          <a:xfrm>
            <a:off x="365760" y="4869180"/>
            <a:ext cx="8412480" cy="9144"/>
          </a:xfrm>
          <a:prstGeom prst="rect">
            <a:avLst/>
          </a:prstGeom>
          <a:solidFill>
            <a:srgbClr val="E2E6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1" name="TextBox 230"/>
          <p:cNvSpPr txBox="1"/>
          <p:nvPr/>
        </p:nvSpPr>
        <p:spPr>
          <a:xfrm>
            <a:off x="365760" y="4914900"/>
            <a:ext cx="78638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64757B"/>
                </a:solidFill>
                <a:latin typeface="Calibri"/>
              </a:rPr>
              <a:t>Сценарій 40′ контейнер. Довжина смужки — відносно найдорожчої позиції. Джерело: SelfCost.xlsx.</a:t>
            </a:r>
          </a:p>
        </p:txBody>
      </p:sp>
      <p:sp>
        <p:nvSpPr>
          <p:cNvPr id="232" name="TextBox 231"/>
          <p:cNvSpPr txBox="1"/>
          <p:nvPr/>
        </p:nvSpPr>
        <p:spPr>
          <a:xfrm>
            <a:off x="8229600" y="4914900"/>
            <a:ext cx="5486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750" b="1" i="0">
                <a:solidFill>
                  <a:srgbClr val="64757B"/>
                </a:solidFill>
                <a:latin typeface="Calibri"/>
              </a:rPr>
              <a:t>25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1423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ectangle 3"/>
          <p:cNvSpPr/>
          <p:nvPr/>
        </p:nvSpPr>
        <p:spPr>
          <a:xfrm>
            <a:off x="365760" y="617219"/>
            <a:ext cx="1737360" cy="41148"/>
          </a:xfrm>
          <a:prstGeom prst="rect">
            <a:avLst/>
          </a:prstGeom>
          <a:solidFill>
            <a:srgbClr val="C15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365760" y="91440"/>
            <a:ext cx="6400799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50" b="1" i="0">
                <a:solidFill>
                  <a:srgbClr val="D9A441"/>
                </a:solidFill>
                <a:latin typeface="Calibri"/>
              </a:rPr>
              <a:t>ПІДСУМОК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256032"/>
            <a:ext cx="640079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 i="0">
                <a:solidFill>
                  <a:srgbClr val="FFFFFF"/>
                </a:solidFill>
                <a:latin typeface="Cambria"/>
              </a:rPr>
              <a:t>Висновки для маркетингу та продажів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65760" y="932688"/>
            <a:ext cx="2788920" cy="1572768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9525">
            <a:solidFill>
              <a:srgbClr val="E2E6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ectangle 7"/>
          <p:cNvSpPr/>
          <p:nvPr/>
        </p:nvSpPr>
        <p:spPr>
          <a:xfrm>
            <a:off x="365760" y="932688"/>
            <a:ext cx="2788920" cy="45720"/>
          </a:xfrm>
          <a:prstGeom prst="rect">
            <a:avLst/>
          </a:prstGeom>
          <a:solidFill>
            <a:srgbClr val="C15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548640" y="1097280"/>
            <a:ext cx="242316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50" b="1" i="0">
                <a:solidFill>
                  <a:srgbClr val="64757B"/>
                </a:solidFill>
                <a:latin typeface="Calibri"/>
              </a:rPr>
              <a:t>ВХІД У КАТЕГОРІЮ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1316736"/>
            <a:ext cx="242316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 i="0">
                <a:solidFill>
                  <a:srgbClr val="C1512A"/>
                </a:solidFill>
                <a:latin typeface="Cambria"/>
              </a:rPr>
              <a:t>7,61 ₴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1700784"/>
            <a:ext cx="2423160" cy="7132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0" i="0">
                <a:solidFill>
                  <a:srgbClr val="1C2A2F"/>
                </a:solidFill>
                <a:latin typeface="Calibri"/>
              </a:rPr>
              <a:t>Wow ROLL Original (TMK · KOKIRI) — найдешевша одиниця в портфелі. Формат 2,5 г тримає найнижчу полицеву ціну і добре працює в прикасовій зоні.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337560" y="932688"/>
            <a:ext cx="2788920" cy="1572768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9525">
            <a:solidFill>
              <a:srgbClr val="E2E6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ectangle 12"/>
          <p:cNvSpPr/>
          <p:nvPr/>
        </p:nvSpPr>
        <p:spPr>
          <a:xfrm>
            <a:off x="3337560" y="932688"/>
            <a:ext cx="2788920" cy="45720"/>
          </a:xfrm>
          <a:prstGeom prst="rect">
            <a:avLst/>
          </a:prstGeom>
          <a:solidFill>
            <a:srgbClr val="C15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3520440" y="1097280"/>
            <a:ext cx="242316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50" b="1" i="0">
                <a:solidFill>
                  <a:srgbClr val="64757B"/>
                </a:solidFill>
                <a:latin typeface="Calibri"/>
              </a:rPr>
              <a:t>ВЕРХНІЙ СЕГМЕНТ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20440" y="1316736"/>
            <a:ext cx="242316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 i="0">
                <a:solidFill>
                  <a:srgbClr val="C1512A"/>
                </a:solidFill>
                <a:latin typeface="Cambria"/>
              </a:rPr>
              <a:t>61,61 ₴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520440" y="1700784"/>
            <a:ext cx="2423160" cy="7132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0" i="0">
                <a:solidFill>
                  <a:srgbClr val="1C2A2F"/>
                </a:solidFill>
                <a:latin typeface="Calibri"/>
              </a:rPr>
              <a:t>Seaweed Topping Chicken · 70 г (HanJin · ZEK) — найдорожча позиція. Велика фасовка 70 г, ціль — родинне споживання та HoReCa, а не імпульс.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309360" y="932688"/>
            <a:ext cx="2788920" cy="1572768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9525">
            <a:solidFill>
              <a:srgbClr val="E2E6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Rectangle 17"/>
          <p:cNvSpPr/>
          <p:nvPr/>
        </p:nvSpPr>
        <p:spPr>
          <a:xfrm>
            <a:off x="6309360" y="932688"/>
            <a:ext cx="2788920" cy="45720"/>
          </a:xfrm>
          <a:prstGeom prst="rect">
            <a:avLst/>
          </a:prstGeom>
          <a:solidFill>
            <a:srgbClr val="C15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6492240" y="1097280"/>
            <a:ext cx="242316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50" b="1" i="0">
                <a:solidFill>
                  <a:srgbClr val="64757B"/>
                </a:solidFill>
                <a:latin typeface="Calibri"/>
              </a:rPr>
              <a:t>ЦІНА ЛОГІСТИКИ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92240" y="1316736"/>
            <a:ext cx="242316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 i="0">
                <a:solidFill>
                  <a:srgbClr val="C1512A"/>
                </a:solidFill>
                <a:latin typeface="Cambria"/>
              </a:rPr>
              <a:t>+116%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92240" y="1700784"/>
            <a:ext cx="2423160" cy="7132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0" i="0">
                <a:solidFill>
                  <a:srgbClr val="1C2A2F"/>
                </a:solidFill>
                <a:latin typeface="Calibri"/>
              </a:rPr>
              <a:t>Настільки зростає собівартість при переході з 40′ контейнера на збірний вантаж 17 м³. Сценарій доставки треба фіксувати до розрахунку націнки.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65760" y="2706624"/>
            <a:ext cx="84124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1" i="0">
                <a:solidFill>
                  <a:srgbClr val="C1512A"/>
                </a:solidFill>
                <a:latin typeface="Calibri"/>
              </a:rPr>
              <a:t>ЩО РОБИТИ ДАЛІ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365760" y="2980944"/>
            <a:ext cx="4279392" cy="749808"/>
          </a:xfrm>
          <a:prstGeom prst="roundRect">
            <a:avLst>
              <a:gd name="adj" fmla="val 8000"/>
            </a:avLst>
          </a:prstGeom>
          <a:solidFill>
            <a:srgbClr val="F7F4EE"/>
          </a:solidFill>
          <a:ln w="9525">
            <a:solidFill>
              <a:srgbClr val="E2E6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Rounded Rectangle 23"/>
          <p:cNvSpPr/>
          <p:nvPr/>
        </p:nvSpPr>
        <p:spPr>
          <a:xfrm>
            <a:off x="365760" y="2980944"/>
            <a:ext cx="274320" cy="749808"/>
          </a:xfrm>
          <a:prstGeom prst="roundRect">
            <a:avLst>
              <a:gd name="adj" fmla="val 8000"/>
            </a:avLst>
          </a:prstGeom>
          <a:solidFill>
            <a:srgbClr val="0E5C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ectangle 24"/>
          <p:cNvSpPr/>
          <p:nvPr/>
        </p:nvSpPr>
        <p:spPr>
          <a:xfrm>
            <a:off x="502920" y="2980944"/>
            <a:ext cx="137160" cy="749808"/>
          </a:xfrm>
          <a:prstGeom prst="rect">
            <a:avLst/>
          </a:prstGeom>
          <a:solidFill>
            <a:srgbClr val="0E5C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365760" y="2980944"/>
            <a:ext cx="274320" cy="7498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 i="0">
                <a:solidFill>
                  <a:srgbClr val="FFFFFF"/>
                </a:solidFill>
                <a:latin typeface="Cambria"/>
              </a:rPr>
              <a:t>1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68096" y="3072384"/>
            <a:ext cx="3749039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 i="0">
                <a:solidFill>
                  <a:srgbClr val="1C2A2F"/>
                </a:solidFill>
                <a:latin typeface="Cambria"/>
              </a:rPr>
              <a:t>Зафіксувати сценарій логістики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68096" y="3273551"/>
            <a:ext cx="3749039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750" b="0" i="0">
                <a:solidFill>
                  <a:srgbClr val="64757B"/>
                </a:solidFill>
                <a:latin typeface="Calibri"/>
              </a:rPr>
              <a:t>Погодити з відділом ЗЕД, який сценарій береться за базу для прайсу — зараз у розрахунку їх чотири, і різниця між ними більша за саму націнку.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4864608" y="2980944"/>
            <a:ext cx="4279392" cy="749808"/>
          </a:xfrm>
          <a:prstGeom prst="roundRect">
            <a:avLst>
              <a:gd name="adj" fmla="val 8000"/>
            </a:avLst>
          </a:prstGeom>
          <a:solidFill>
            <a:srgbClr val="F7F4EE"/>
          </a:solidFill>
          <a:ln w="9525">
            <a:solidFill>
              <a:srgbClr val="E2E6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Rounded Rectangle 29"/>
          <p:cNvSpPr/>
          <p:nvPr/>
        </p:nvSpPr>
        <p:spPr>
          <a:xfrm>
            <a:off x="4864608" y="2980944"/>
            <a:ext cx="274320" cy="749808"/>
          </a:xfrm>
          <a:prstGeom prst="roundRect">
            <a:avLst>
              <a:gd name="adj" fmla="val 8000"/>
            </a:avLst>
          </a:prstGeom>
          <a:solidFill>
            <a:srgbClr val="0E5C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1" name="Rectangle 30"/>
          <p:cNvSpPr/>
          <p:nvPr/>
        </p:nvSpPr>
        <p:spPr>
          <a:xfrm>
            <a:off x="5001768" y="2980944"/>
            <a:ext cx="137160" cy="749808"/>
          </a:xfrm>
          <a:prstGeom prst="rect">
            <a:avLst/>
          </a:prstGeom>
          <a:solidFill>
            <a:srgbClr val="0E5C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2" name="TextBox 31"/>
          <p:cNvSpPr txBox="1"/>
          <p:nvPr/>
        </p:nvSpPr>
        <p:spPr>
          <a:xfrm>
            <a:off x="4864608" y="2980944"/>
            <a:ext cx="274320" cy="7498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 i="0">
                <a:solidFill>
                  <a:srgbClr val="FFFFFF"/>
                </a:solidFill>
                <a:latin typeface="Cambria"/>
              </a:rPr>
              <a:t>2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266944" y="3072384"/>
            <a:ext cx="3749039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 i="0">
                <a:solidFill>
                  <a:srgbClr val="1C2A2F"/>
                </a:solidFill>
                <a:latin typeface="Cambria"/>
              </a:rPr>
              <a:t>Уточнити роль ПДВ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266944" y="3273551"/>
            <a:ext cx="3749039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750" b="0" i="0">
                <a:solidFill>
                  <a:srgbClr val="64757B"/>
                </a:solidFill>
                <a:latin typeface="Calibri"/>
              </a:rPr>
              <a:t>У підсумкову собівартість включено ПДВ 20%. Якщо він відшкодовується, база для націнки нижча — це треба підтвердити з фінансовим відділом.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365760" y="3822191"/>
            <a:ext cx="4279392" cy="749808"/>
          </a:xfrm>
          <a:prstGeom prst="roundRect">
            <a:avLst>
              <a:gd name="adj" fmla="val 8000"/>
            </a:avLst>
          </a:prstGeom>
          <a:solidFill>
            <a:srgbClr val="F7F4EE"/>
          </a:solidFill>
          <a:ln w="9525">
            <a:solidFill>
              <a:srgbClr val="E2E6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6" name="Rounded Rectangle 35"/>
          <p:cNvSpPr/>
          <p:nvPr/>
        </p:nvSpPr>
        <p:spPr>
          <a:xfrm>
            <a:off x="365760" y="3822191"/>
            <a:ext cx="274320" cy="749808"/>
          </a:xfrm>
          <a:prstGeom prst="roundRect">
            <a:avLst>
              <a:gd name="adj" fmla="val 8000"/>
            </a:avLst>
          </a:prstGeom>
          <a:solidFill>
            <a:srgbClr val="0E5C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7" name="Rectangle 36"/>
          <p:cNvSpPr/>
          <p:nvPr/>
        </p:nvSpPr>
        <p:spPr>
          <a:xfrm>
            <a:off x="502920" y="3822191"/>
            <a:ext cx="137160" cy="749808"/>
          </a:xfrm>
          <a:prstGeom prst="rect">
            <a:avLst/>
          </a:prstGeom>
          <a:solidFill>
            <a:srgbClr val="0E5C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8" name="TextBox 37"/>
          <p:cNvSpPr txBox="1"/>
          <p:nvPr/>
        </p:nvSpPr>
        <p:spPr>
          <a:xfrm>
            <a:off x="365760" y="3822191"/>
            <a:ext cx="274320" cy="7498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 i="0">
                <a:solidFill>
                  <a:srgbClr val="FFFFFF"/>
                </a:solidFill>
                <a:latin typeface="Cambria"/>
              </a:rPr>
              <a:t>3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68096" y="3913631"/>
            <a:ext cx="3749039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 i="0">
                <a:solidFill>
                  <a:srgbClr val="1C2A2F"/>
                </a:solidFill>
                <a:latin typeface="Cambria"/>
              </a:rPr>
              <a:t>Дорахувати решту прайсу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68096" y="4114800"/>
            <a:ext cx="3749039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750" b="0" i="0">
                <a:solidFill>
                  <a:srgbClr val="64757B"/>
                </a:solidFill>
                <a:latin typeface="Calibri"/>
              </a:rPr>
              <a:t>Собівартість є для 28 SKU із приблизно 105 позицій прайсів. Пріоритет — Thai-Nichi (28 позицій) і Nature Best / KoriKo (розрахунку немає взагалі).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4864608" y="3822191"/>
            <a:ext cx="4279392" cy="749808"/>
          </a:xfrm>
          <a:prstGeom prst="roundRect">
            <a:avLst>
              <a:gd name="adj" fmla="val 8000"/>
            </a:avLst>
          </a:prstGeom>
          <a:solidFill>
            <a:srgbClr val="F7F4EE"/>
          </a:solidFill>
          <a:ln w="9525">
            <a:solidFill>
              <a:srgbClr val="E2E6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2" name="Rounded Rectangle 41"/>
          <p:cNvSpPr/>
          <p:nvPr/>
        </p:nvSpPr>
        <p:spPr>
          <a:xfrm>
            <a:off x="4864608" y="3822191"/>
            <a:ext cx="274320" cy="749808"/>
          </a:xfrm>
          <a:prstGeom prst="roundRect">
            <a:avLst>
              <a:gd name="adj" fmla="val 8000"/>
            </a:avLst>
          </a:prstGeom>
          <a:solidFill>
            <a:srgbClr val="0E5C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3" name="Rectangle 42"/>
          <p:cNvSpPr/>
          <p:nvPr/>
        </p:nvSpPr>
        <p:spPr>
          <a:xfrm>
            <a:off x="5001768" y="3822191"/>
            <a:ext cx="137160" cy="749808"/>
          </a:xfrm>
          <a:prstGeom prst="rect">
            <a:avLst/>
          </a:prstGeom>
          <a:solidFill>
            <a:srgbClr val="0E5C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4" name="TextBox 43"/>
          <p:cNvSpPr txBox="1"/>
          <p:nvPr/>
        </p:nvSpPr>
        <p:spPr>
          <a:xfrm>
            <a:off x="4864608" y="3822191"/>
            <a:ext cx="274320" cy="7498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 i="0">
                <a:solidFill>
                  <a:srgbClr val="FFFFFF"/>
                </a:solidFill>
                <a:latin typeface="Cambria"/>
              </a:rPr>
              <a:t>4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266944" y="3913631"/>
            <a:ext cx="3749039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 i="0">
                <a:solidFill>
                  <a:srgbClr val="1C2A2F"/>
                </a:solidFill>
                <a:latin typeface="Cambria"/>
              </a:rPr>
              <a:t>Звести курс до одного значення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66944" y="4114800"/>
            <a:ext cx="3749039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750" b="0" i="0">
                <a:solidFill>
                  <a:srgbClr val="64757B"/>
                </a:solidFill>
                <a:latin typeface="Calibri"/>
              </a:rPr>
              <a:t>У файлі застосовано курси від 45 до 49 ₴ за $. Для порівнянного прайсу потрібен єдиний плановий курс.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4869180"/>
            <a:ext cx="8412480" cy="9144"/>
          </a:xfrm>
          <a:prstGeom prst="rect">
            <a:avLst/>
          </a:prstGeom>
          <a:solidFill>
            <a:srgbClr val="E2E6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8" name="TextBox 47"/>
          <p:cNvSpPr txBox="1"/>
          <p:nvPr/>
        </p:nvSpPr>
        <p:spPr>
          <a:xfrm>
            <a:off x="8229600" y="4914900"/>
            <a:ext cx="5486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750" b="1" i="0">
                <a:solidFill>
                  <a:srgbClr val="64757B"/>
                </a:solidFill>
                <a:latin typeface="Calibri"/>
              </a:rPr>
              <a:t>26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423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0" y="0"/>
            <a:ext cx="91440" cy="5143500"/>
          </a:xfrm>
          <a:prstGeom prst="rect">
            <a:avLst/>
          </a:prstGeom>
          <a:solidFill>
            <a:srgbClr val="C15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640080" y="1005840"/>
            <a:ext cx="5486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 i="0">
                <a:solidFill>
                  <a:srgbClr val="D9A441"/>
                </a:solidFill>
                <a:latin typeface="Calibri"/>
              </a:rPr>
              <a:t>ДЖЕРЕЛА ТА ПРИПУЩЕННЯ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298448"/>
            <a:ext cx="768096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 i="0">
                <a:solidFill>
                  <a:srgbClr val="FFFFFF"/>
                </a:solidFill>
                <a:latin typeface="Cambria"/>
              </a:rPr>
              <a:t>Звідки взяті цифри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975104"/>
            <a:ext cx="1371600" cy="32004"/>
          </a:xfrm>
          <a:prstGeom prst="rect">
            <a:avLst/>
          </a:prstGeom>
          <a:solidFill>
            <a:srgbClr val="C15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Rounded Rectangle 6"/>
          <p:cNvSpPr/>
          <p:nvPr/>
        </p:nvSpPr>
        <p:spPr>
          <a:xfrm>
            <a:off x="640080" y="2276856"/>
            <a:ext cx="91440" cy="91440"/>
          </a:xfrm>
          <a:prstGeom prst="roundRect">
            <a:avLst>
              <a:gd name="adj" fmla="val 50000"/>
            </a:avLst>
          </a:prstGeom>
          <a:solidFill>
            <a:srgbClr val="D9A4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841248" y="2212848"/>
            <a:ext cx="7498079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 i="0">
                <a:solidFill>
                  <a:srgbClr val="FFFFFF"/>
                </a:solidFill>
                <a:latin typeface="Cambria"/>
              </a:rPr>
              <a:t>SelfCost.xlsx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41248" y="2432304"/>
            <a:ext cx="7498079" cy="5120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0" i="0">
                <a:solidFill>
                  <a:srgbClr val="A9B8BD"/>
                </a:solidFill>
                <a:latin typeface="Calibri"/>
              </a:rPr>
              <a:t>Собівартість одиниці товару в $ і ₴ — колонки «ИТОГО С/С, € ед. Товара» та «ИТОГО С/С, UAH ед. Товара», вкладки Singha Kameda, Thai-Nichi, TMK, ZEK. Вкладка «Koriko» порожня.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3136391"/>
            <a:ext cx="91440" cy="91440"/>
          </a:xfrm>
          <a:prstGeom prst="roundRect">
            <a:avLst>
              <a:gd name="adj" fmla="val 50000"/>
            </a:avLst>
          </a:prstGeom>
          <a:solidFill>
            <a:srgbClr val="D9A4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841248" y="3072384"/>
            <a:ext cx="7498079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 i="0">
                <a:solidFill>
                  <a:srgbClr val="FFFFFF"/>
                </a:solidFill>
                <a:latin typeface="Cambria"/>
              </a:rPr>
              <a:t>Snacks. Price Comparison.xlsx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41248" y="3291840"/>
            <a:ext cx="7498079" cy="5120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0" i="0">
                <a:solidFill>
                  <a:srgbClr val="A9B8BD"/>
                </a:solidFill>
                <a:latin typeface="Calibri"/>
              </a:rPr>
              <a:t>Фото продуктів, ваги, фасовки, терміни придатності, ціни FOB і місткість контейнерів.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3995928"/>
            <a:ext cx="91440" cy="91440"/>
          </a:xfrm>
          <a:prstGeom prst="roundRect">
            <a:avLst>
              <a:gd name="adj" fmla="val 50000"/>
            </a:avLst>
          </a:prstGeom>
          <a:solidFill>
            <a:srgbClr val="D9A4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8" y="3931920"/>
            <a:ext cx="7498079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 i="0">
                <a:solidFill>
                  <a:srgbClr val="FFFFFF"/>
                </a:solidFill>
                <a:latin typeface="Cambria"/>
              </a:rPr>
              <a:t>Припущення деки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41248" y="4151376"/>
            <a:ext cx="7498079" cy="5120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0" i="0">
                <a:solidFill>
                  <a:srgbClr val="A9B8BD"/>
                </a:solidFill>
                <a:latin typeface="Calibri"/>
              </a:rPr>
              <a:t>Підсумкова колонка собівартості підписана «€», але вхідні ціни — FOB у доларах без перерахунку в євро, тому показник наведено як $. Смаки на фото KOKIRI Wow розібрані за кольоровим кодуванням бренду: зелений — Original, червоний — Spicy, фіолетовий — Squid.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9600" y="4850892"/>
            <a:ext cx="5486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750" b="1" i="0">
                <a:solidFill>
                  <a:srgbClr val="D9A441"/>
                </a:solidFill>
                <a:latin typeface="Calibri"/>
              </a:rPr>
              <a:t>27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