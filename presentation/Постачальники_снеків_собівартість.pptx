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5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7680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85292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59" y="786384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8A938D"/>
                </a:solidFill>
                <a:latin typeface="Calibri"/>
              </a:rPr>
              <a:t>4 постачальники · 32 SKU · 4 сценарії доставки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46" y="3730752"/>
            <a:ext cx="800618" cy="104241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84831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579" y="3584448"/>
            <a:ext cx="824696" cy="104241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3803904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354" y="3730752"/>
            <a:ext cx="867290" cy="104241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522976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33216"/>
            <a:ext cx="548640" cy="944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242048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667" y="3730752"/>
            <a:ext cx="770953" cy="10424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597" y="1920240"/>
            <a:ext cx="163404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Виробнича лінія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створення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спільного підприємства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AB5F15"/>
                </a:solidFill>
                <a:latin typeface="Cambria"/>
              </a:rPr>
              <a:t>50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Kameda Seika (Японія)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Singha (Таїланд)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контрактне виробництво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для інших брендів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671108" y="530352"/>
            <a:ext cx="3107131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71108" y="530352"/>
            <a:ext cx="3107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роздрібну 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5311749" y="1316736"/>
            <a:ext cx="769741" cy="877824"/>
          </a:xfrm>
          <a:prstGeom prst="roundRect">
            <a:avLst>
              <a:gd name="adj" fmla="val 1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5434908" y="1225295"/>
            <a:ext cx="523424" cy="155448"/>
          </a:xfrm>
          <a:prstGeom prst="roundRect">
            <a:avLst>
              <a:gd name="adj" fmla="val 40000"/>
            </a:avLst>
          </a:prstGeom>
          <a:solidFill>
            <a:srgbClr val="9B5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311749" y="1609343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11749" y="1828800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64" name="Picture 63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746" y="1662379"/>
            <a:ext cx="334218" cy="42245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ounded Rectangle 86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ounded Rectangle 88"/>
          <p:cNvSpPr/>
          <p:nvPr/>
        </p:nvSpPr>
        <p:spPr>
          <a:xfrm>
            <a:off x="7460589" y="1316736"/>
            <a:ext cx="769741" cy="877824"/>
          </a:xfrm>
          <a:prstGeom prst="roundRect">
            <a:avLst>
              <a:gd name="adj" fmla="val 1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7583748" y="1225295"/>
            <a:ext cx="523424" cy="155448"/>
          </a:xfrm>
          <a:prstGeom prst="roundRect">
            <a:avLst>
              <a:gd name="adj" fmla="val 40000"/>
            </a:avLst>
          </a:prstGeom>
          <a:solidFill>
            <a:srgbClr val="9B59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7460589" y="1609343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60589" y="1828800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93" name="Picture 92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67" y="1662379"/>
            <a:ext cx="320656" cy="42245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0D1D3"/>
                </a:solidFill>
                <a:latin typeface="Calibri"/>
              </a:rPr>
              <a:t>Продукція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на експортному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ринку 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форм і смаків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рисових крекерів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та власний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бренд Mizuho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$0,799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35,95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59,08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44,94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53,36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$1,641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73,84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565038" y="530352"/>
            <a:ext cx="3213201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65038" y="530352"/>
            <a:ext cx="32132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роздрібну 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34,95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50,65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43,69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63,31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5311749" y="1316736"/>
            <a:ext cx="769741" cy="877824"/>
          </a:xfrm>
          <a:prstGeom prst="roundRect">
            <a:avLst>
              <a:gd name="adj" fmla="val 1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5434908" y="1225295"/>
            <a:ext cx="523424" cy="155448"/>
          </a:xfrm>
          <a:prstGeom prst="roundRect">
            <a:avLst>
              <a:gd name="adj" fmla="val 40000"/>
            </a:avLst>
          </a:prstGeom>
          <a:solidFill>
            <a:srgbClr val="1C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311749" y="1609343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11749" y="1828800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64" name="Picture 63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15" y="1662379"/>
            <a:ext cx="351480" cy="42245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50 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$25,178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1133,03 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$29,893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1345,20 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$30,981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1394,15 ₴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$36,769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1654,60 ₴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ounded Rectangle 86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ounded Rectangle 88"/>
          <p:cNvSpPr/>
          <p:nvPr/>
        </p:nvSpPr>
        <p:spPr>
          <a:xfrm>
            <a:off x="7460589" y="1316736"/>
            <a:ext cx="769741" cy="877824"/>
          </a:xfrm>
          <a:prstGeom prst="roundRect">
            <a:avLst>
              <a:gd name="adj" fmla="val 1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7583748" y="1225295"/>
            <a:ext cx="523424" cy="155448"/>
          </a:xfrm>
          <a:prstGeom prst="roundRect">
            <a:avLst>
              <a:gd name="adj" fmla="val 40000"/>
            </a:avLst>
          </a:prstGeom>
          <a:solidFill>
            <a:srgbClr val="1C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7460589" y="1609343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60589" y="1828800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93" name="Picture 92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039" y="1662379"/>
            <a:ext cx="347312" cy="42245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55 г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$30,842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1387,89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$36,604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1647,18 ₴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$37,936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1707,12 ₴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$45,023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2026,04 ₴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mk.png"/>
          <p:cNvPicPr>
            <a:picLocks noChangeAspect="1"/>
          </p:cNvPicPr>
          <p:nvPr/>
        </p:nvPicPr>
        <p:blipFill>
          <a:blip r:embed="rId2"/>
          <a:srcRect t="8919" b="8919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78A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kok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59" y="2870200"/>
            <a:ext cx="1493520" cy="47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5DAC9"/>
                </a:solidFill>
                <a:latin typeface="Calibri"/>
              </a:rPr>
              <a:t>Фабрика TMK · kokiriseaweed.com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Виробляє снеки з водорості, яку завозить із Кореї, і має фабрики в Кореї та Таїланді. Працює як OEM для інших брендів у 13+ країнах. «Кокірі» — «слон» корейською, символ довіри в Таїланді.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компанії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13+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63C"/>
                </a:solidFill>
                <a:latin typeface="Cambria"/>
              </a:rPr>
              <a:t>$10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за шість років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СЕРТИФІКАТИ ВИРОБНИЦТВА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ISO 22000:2018 · FSSC 22000 · CODEX HACCP &amp; GMP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55775"/>
            <a:ext cx="548640" cy="9448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55775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55775"/>
            <a:ext cx="497840" cy="9448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3780" y="1311656"/>
            <a:ext cx="822960" cy="83312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80" y="1306576"/>
            <a:ext cx="863600" cy="8432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874" y="1225295"/>
            <a:ext cx="7722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295" y="1225295"/>
            <a:ext cx="77764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836" y="1225295"/>
            <a:ext cx="756087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46,89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974" y="1225295"/>
            <a:ext cx="19000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094" y="1225295"/>
            <a:ext cx="190005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texture_zek.png"/>
          <p:cNvPicPr>
            <a:picLocks noChangeAspect="1"/>
          </p:cNvPicPr>
          <p:nvPr/>
        </p:nvPicPr>
        <p:blipFill>
          <a:blip r:embed="rId2"/>
          <a:srcRect l="1374" r="1374"/>
          <a:stretch>
            <a:fillRect/>
          </a:stretch>
        </p:blipFill>
        <p:spPr>
          <a:xfrm>
            <a:off x="5349240" y="0"/>
            <a:ext cx="3794760" cy="51435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06440" y="1481328"/>
            <a:ext cx="2880360" cy="12252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34455" y="1572768"/>
            <a:ext cx="2624328" cy="1042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2798064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1">
                <a:solidFill>
                  <a:srgbClr val="EED4CE"/>
                </a:solidFill>
                <a:latin typeface="Calibri"/>
              </a:rPr>
              <a:t>ZEK — Zesty Especial Kingdom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931920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ВИРОБНИЦТВО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4133087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бренд ZEK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ZEK — «Zesty Especial Kingdom», власний бренд Hanjin Food. Компанія заснована 2002 року у Вейхаї, головний офіс із 2014-го — у Шанхаї. Партнери групи — тайська Singha Group і корейська SPC Group.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25,98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22,35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26,56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30,63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28,84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34,27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59,66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70,90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81,77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86,61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60,93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72,41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83,51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88,45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62,20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73,91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85,25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90,30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