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06440" y="0"/>
            <a:ext cx="3337560" cy="5143500"/>
          </a:xfrm>
          <a:prstGeom prst="rect">
            <a:avLst/>
          </a:prstGeom>
          <a:solidFill>
            <a:srgbClr val="1424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145161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451610" y="0"/>
            <a:ext cx="145161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2903220" y="0"/>
            <a:ext cx="145161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4354829" y="0"/>
            <a:ext cx="145161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365760" y="786384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 spc="90">
                <a:solidFill>
                  <a:srgbClr val="C9A24E"/>
                </a:solidFill>
                <a:latin typeface="Calibri"/>
              </a:rPr>
              <a:t>КАТАЛОГ ПОСТАЧАЛЬНИКІВ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60704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4241F"/>
                </a:solidFill>
                <a:latin typeface="Cambria"/>
              </a:rPr>
              <a:t>Азійські снеки</a:t>
            </a:r>
          </a:p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14241F"/>
                </a:solidFill>
                <a:latin typeface="Cambria"/>
              </a:rPr>
              <a:t>з водоростей і рису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542032"/>
            <a:ext cx="1005840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65760" y="2743200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Продукти чотирьох постачальників, короткі описи та собівартість</a:t>
            </a:r>
          </a:p>
          <a:p>
            <a:pPr algn="l">
              <a:lnSpc>
                <a:spcPct val="136000"/>
              </a:lnSpc>
            </a:pPr>
            <a:r>
              <a:rPr sz="1150" b="0" i="0">
                <a:solidFill>
                  <a:srgbClr val="44524C"/>
                </a:solidFill>
                <a:latin typeface="Calibri"/>
              </a:rPr>
              <a:t>одиниці товару в доларах і гривні — за всіма сценаріями доставки.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675887"/>
            <a:ext cx="117728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365760" y="3675887"/>
            <a:ext cx="1177289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65760" y="3822191"/>
            <a:ext cx="117728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4151376"/>
            <a:ext cx="10309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постачальники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80210" y="3675887"/>
            <a:ext cx="117728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680210" y="3675887"/>
            <a:ext cx="1177289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680210" y="3822191"/>
            <a:ext cx="117728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3362" y="4151376"/>
            <a:ext cx="10309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SKU у каталозі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994659" y="3675887"/>
            <a:ext cx="117728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2994659" y="3675887"/>
            <a:ext cx="1177289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2994659" y="3822191"/>
            <a:ext cx="117728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7811" y="4151376"/>
            <a:ext cx="10309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сценарії доставки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09109" y="3675887"/>
            <a:ext cx="1177289" cy="7863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4309109" y="3675887"/>
            <a:ext cx="1177289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4309109" y="3822191"/>
            <a:ext cx="117728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$ / 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2262" y="4151376"/>
            <a:ext cx="103098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дві валюти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-566928"/>
            <a:ext cx="388620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0" b="1" i="0">
                <a:solidFill>
                  <a:srgbClr val="2C3A35"/>
                </a:solidFill>
                <a:latin typeface="Cambria"/>
              </a:rPr>
              <a:t>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1481328"/>
            <a:ext cx="2514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C9A24E"/>
                </a:solidFill>
                <a:latin typeface="Calibri"/>
              </a:rPr>
              <a:t>У ЦЬОМУ КАТАЛОЗІ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187451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464807" y="180136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Singha Kameda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7" y="203911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D7774"/>
                </a:solidFill>
                <a:latin typeface="Calibri"/>
              </a:rPr>
              <a:t>4 позицій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0" y="2377440"/>
            <a:ext cx="2514600" cy="7315"/>
          </a:xfrm>
          <a:prstGeom prst="rect">
            <a:avLst/>
          </a:prstGeom>
          <a:solidFill>
            <a:srgbClr val="354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6217920" y="2514600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464807" y="244144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Thai-Nichi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4807" y="267919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D7774"/>
                </a:solidFill>
                <a:latin typeface="Calibri"/>
              </a:rPr>
              <a:t>4 позицій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3017520"/>
            <a:ext cx="2514600" cy="7315"/>
          </a:xfrm>
          <a:prstGeom prst="rect">
            <a:avLst/>
          </a:prstGeom>
          <a:solidFill>
            <a:srgbClr val="354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ounded Rectangle 37"/>
          <p:cNvSpPr/>
          <p:nvPr/>
        </p:nvSpPr>
        <p:spPr>
          <a:xfrm>
            <a:off x="6217920" y="315467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464807" y="3081528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TMK · KOKIRI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4807" y="331927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D7774"/>
                </a:solidFill>
                <a:latin typeface="Calibri"/>
              </a:rPr>
              <a:t>10 позицій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657599"/>
            <a:ext cx="2514600" cy="7315"/>
          </a:xfrm>
          <a:prstGeom prst="rect">
            <a:avLst/>
          </a:prstGeom>
          <a:solidFill>
            <a:srgbClr val="354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Rounded Rectangle 41"/>
          <p:cNvSpPr/>
          <p:nvPr/>
        </p:nvSpPr>
        <p:spPr>
          <a:xfrm>
            <a:off x="6217920" y="3794759"/>
            <a:ext cx="137160" cy="137160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6464807" y="3721607"/>
            <a:ext cx="2286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HanJin · ZEK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7" y="3959352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6D7774"/>
                </a:solidFill>
                <a:latin typeface="Calibri"/>
              </a:rPr>
              <a:t>14 позицій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759452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1">
                <a:solidFill>
                  <a:srgbClr val="77807D"/>
                </a:solidFill>
                <a:latin typeface="Calibri"/>
              </a:rPr>
              <a:t>FOB Bangkok · FOB Qingdao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5806440" y="566928"/>
            <a:ext cx="2880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" name="Picture 4" descr="logo_singh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632" y="713232"/>
            <a:ext cx="1513975" cy="80467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06440" y="1847088"/>
            <a:ext cx="288036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plant_sing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597" y="1920240"/>
            <a:ext cx="163404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79592" y="3419856"/>
            <a:ext cx="2734056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Виробнича лінія · singhakameda.co.th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13632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D0B8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14800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35C15"/>
                </a:solidFill>
                <a:latin typeface="Calibri"/>
              </a:rPr>
              <a:t>ПРОФІЛЬ ПОСТАЧАЛЬНИКА ·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Singha Kameda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(Thailand)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35C15"/>
                </a:solidFill>
                <a:latin typeface="Calibri"/>
              </a:rPr>
              <a:t>Рисові крекери арарe в норі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B5F15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Спільне підприємство японської Kameda Seika — світового лідера ринку рисових крекерів — та тайської групи Singha. Виробництво в Таїланді за японськими стандартами.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2020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створення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спільного підприємства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AB5F15"/>
                </a:solidFill>
                <a:latin typeface="Cambria"/>
              </a:rPr>
              <a:t>50 / 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Kameda Seika (Японія)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та Singha (Таїланд)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B5F15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контрактне виробництво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для інших брендів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СЕРТИФІКАТИ ВИРОБНИЦТВА</a:t>
            </a:r>
          </a:p>
        </p:txBody>
      </p:sp>
      <p:pic>
        <p:nvPicPr>
          <p:cNvPr id="32" name="Picture 31" descr="cert_hacc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4626864"/>
            <a:ext cx="489382" cy="237744"/>
          </a:xfrm>
          <a:prstGeom prst="rect">
            <a:avLst/>
          </a:prstGeom>
        </p:spPr>
      </p:pic>
      <p:pic>
        <p:nvPicPr>
          <p:cNvPr id="33" name="Picture 32" descr="cert_br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8022" y="4626864"/>
            <a:ext cx="159692" cy="237744"/>
          </a:xfrm>
          <a:prstGeom prst="rect">
            <a:avLst/>
          </a:prstGeom>
        </p:spPr>
      </p:pic>
      <p:pic>
        <p:nvPicPr>
          <p:cNvPr id="34" name="Picture 33" descr="cert_hal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80594" y="4626864"/>
            <a:ext cx="424904" cy="237744"/>
          </a:xfrm>
          <a:prstGeom prst="rect">
            <a:avLst/>
          </a:prstGeom>
        </p:spPr>
      </p:pic>
      <p:pic>
        <p:nvPicPr>
          <p:cNvPr id="35" name="Picture 34" descr="cert_ns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88378" y="4626864"/>
            <a:ext cx="726895" cy="237744"/>
          </a:xfrm>
          <a:prstGeom prst="rect">
            <a:avLst/>
          </a:prstGeom>
        </p:spPr>
      </p:pic>
      <p:pic>
        <p:nvPicPr>
          <p:cNvPr id="36" name="Picture 35" descr="cert_organi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98153" y="4626864"/>
            <a:ext cx="299764" cy="237744"/>
          </a:xfrm>
          <a:prstGeom prst="rect">
            <a:avLst/>
          </a:prstGeom>
        </p:spPr>
      </p:pic>
      <p:pic>
        <p:nvPicPr>
          <p:cNvPr id="37" name="Picture 36" descr="cert_sedex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80798" y="4626864"/>
            <a:ext cx="236537" cy="23774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D0B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163" y="1243584"/>
            <a:ext cx="904272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910" y="1243584"/>
            <a:ext cx="867578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Arare 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$1,069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48,12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$1,247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56,13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58,40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70,19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B5916"/>
                </a:solidFill>
                <a:latin typeface="Calibri"/>
              </a:rPr>
              <a:t>SINGHA KAMEDA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Arare 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671108" y="530352"/>
            <a:ext cx="3107131" cy="292608"/>
          </a:xfrm>
          <a:prstGeom prst="roundRect">
            <a:avLst>
              <a:gd name="adj" fmla="val 24000"/>
            </a:avLst>
          </a:prstGeom>
          <a:solidFill>
            <a:srgbClr val="F6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671108" y="530352"/>
            <a:ext cx="310713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B5F15"/>
                </a:solidFill>
                <a:latin typeface="Calibri"/>
              </a:rPr>
              <a:t>Контейнер везе роздрібну фасовку разом із BULK 3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860" y="1225295"/>
            <a:ext cx="7957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Хрусткі рисові палички арарe в обгортці з водорості норі. Смак соєвого соусу, без гостроти.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5845" y="1225295"/>
            <a:ext cx="763468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42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Arare 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Ті самі рисові палички в норі, але з відчутною гостротою японського васабі.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42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$0,966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43,47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$1,137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51,16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$1,167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52,54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63,05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sk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6746" y="1662379"/>
            <a:ext cx="334218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продукт у форматі 3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4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9657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A05B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3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ECD8C4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sk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67" y="1662379"/>
            <a:ext cx="320656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42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35C15"/>
                </a:solidFill>
                <a:latin typeface="Calibri"/>
              </a:rPr>
              <a:t>3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3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3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35C15"/>
                </a:solidFill>
                <a:latin typeface="Calibri"/>
              </a:rPr>
              <a:t>СОБІВАРТІСТЬ · 1 ПАКЕТ 3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362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$45,161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2032,26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$53,149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2391,70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$54,586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2456,35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$65,506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2947,75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«SINGHA KAMEDA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hainichi.png"/>
          <p:cNvPicPr>
            <a:picLocks noChangeAspect="1"/>
          </p:cNvPicPr>
          <p:nvPr/>
        </p:nvPicPr>
        <p:blipFill>
          <a:blip r:embed="rId2"/>
          <a:srcRect t="10606" b="10606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6C9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mizuh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2988" y="2688336"/>
            <a:ext cx="1607262" cy="8412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0D1D3"/>
                </a:solidFill>
                <a:latin typeface="Calibri"/>
              </a:rPr>
              <a:t>Продукція Mizuho · thai-nichi.com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BBCED0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1C565C"/>
                </a:solidFill>
                <a:latin typeface="Calibri"/>
              </a:rPr>
              <a:t>ПРОФІЛЬ ПОСТАЧАЛЬНИКА · 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Thai-Nichi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Industries 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1C565C"/>
                </a:solidFill>
                <a:latin typeface="Calibri"/>
              </a:rPr>
              <a:t>Рисові крекери, чипси та протеїнові снеки · Retail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1D5860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Тайсько-японський виробник рисових снеків із найширшим прайсом серед усіх постачальників — 28 позицій. Одна фабрика закриває і крекери, і чипси, і протеїнові снеки.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1991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на експортному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ринку 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20+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форм і смаків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рисових крекерів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803904"/>
            <a:ext cx="1481328" cy="85953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803904"/>
            <a:ext cx="1481328" cy="45720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931920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1D5860"/>
                </a:solidFill>
                <a:latin typeface="Cambria"/>
              </a:rPr>
              <a:t>OEM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20624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та власний</a:t>
            </a:r>
          </a:p>
          <a:p>
            <a:pPr algn="ctr">
              <a:lnSpc>
                <a:spcPct val="112000"/>
              </a:lnSpc>
            </a:pPr>
            <a:r>
              <a:rPr sz="700" b="0" i="0">
                <a:solidFill>
                  <a:srgbClr val="8A938D"/>
                </a:solidFill>
                <a:latin typeface="Calibri"/>
              </a:rPr>
              <a:t>бренд Mizuho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BBCED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рисові крекери в норі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6307531" y="530352"/>
            <a:ext cx="2470708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307531" y="530352"/>
            <a:ext cx="247070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тільки роздрібну фасовку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812" y="1243584"/>
            <a:ext cx="950976" cy="1143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Original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14984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4984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$0,799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17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35,95 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32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990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4984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014984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32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$1,034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8990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46,53 ₴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4984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014984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232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$1,313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8990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59,08 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709159" y="1115568"/>
            <a:ext cx="4069079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4718303" y="1124712"/>
            <a:ext cx="4050791" cy="1472184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4718303" y="2377439"/>
            <a:ext cx="4050791" cy="219456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Picture 3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3850" y="1243584"/>
            <a:ext cx="939699" cy="11430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983479" y="2624328"/>
            <a:ext cx="3520439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83479" y="2825496"/>
            <a:ext cx="352043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14241F"/>
                </a:solidFill>
                <a:latin typeface="Cambria"/>
              </a:rPr>
              <a:t>Norimaki Wasabi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79" y="3246120"/>
            <a:ext cx="30632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</a:pPr>
            <a:r>
              <a:rPr sz="9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58383" y="3639312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212079" y="3822192"/>
            <a:ext cx="3063239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358383" y="3877056"/>
            <a:ext cx="27706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58383" y="4014216"/>
            <a:ext cx="1440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$0,999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05168" y="4050792"/>
            <a:ext cx="152384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Calibri"/>
              </a:rPr>
              <a:t>44,94 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383" y="426110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6636" y="426110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42413" y="426110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53,36 ₴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358383" y="439826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5358383" y="439826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66636" y="439826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42413" y="439826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58,17 ₴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58383" y="4535424"/>
            <a:ext cx="277063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5358383" y="4535424"/>
            <a:ext cx="116366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66636" y="4535424"/>
            <a:ext cx="77577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$1,641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42413" y="4535424"/>
            <a:ext cx="88660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73,84 ₴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Retail».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1C5359"/>
                </a:solidFill>
                <a:latin typeface="Calibri"/>
              </a:rPr>
              <a:t>THAI-NICHI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Norimaki — роздріб і BULK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565038" y="530352"/>
            <a:ext cx="3213201" cy="292608"/>
          </a:xfrm>
          <a:prstGeom prst="roundRect">
            <a:avLst>
              <a:gd name="adj" fmla="val 24000"/>
            </a:avLst>
          </a:prstGeom>
          <a:solidFill>
            <a:srgbClr val="E4EB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565038" y="530352"/>
            <a:ext cx="3213201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1D5860"/>
                </a:solidFill>
                <a:latin typeface="Calibri"/>
              </a:rPr>
              <a:t>Контейнер везе роздрібну фасовку разом із BULK 2,5 кг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0310" y="1225295"/>
            <a:ext cx="83685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50 Г · 36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Рисовий крекер із водорістю норі, смажений за японською рецептурою. Пакет 50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$0,777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34,95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$0,948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42,68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50,65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4112" y="1225295"/>
            <a:ext cx="826935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55 Г · 36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із додаванням васабі. Найбільший пакет лінійки — 55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55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$0,971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43,69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$1,144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51,47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$1,185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53,35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$1,407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63,31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rapezoid 59"/>
          <p:cNvSpPr/>
          <p:nvPr/>
        </p:nvSpPr>
        <p:spPr>
          <a:xfrm>
            <a:off x="531174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55806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569113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1174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1174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65" name="Picture 64" descr="tn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15" y="1662379"/>
            <a:ext cx="351480" cy="422452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484632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50 г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Original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крекер у форматі 2,5 кг — для HoReCa та фасування на місці.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3" name="TextBox 72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$25,178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1133,03 ₴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$29,893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1345,20 ₴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$30,981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1394,15 ₴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4" name="TextBox 83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$36,769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1654,60 ₴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Rounded Rectangle 87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Rectangle 88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EF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0" name="Trapezoid 89"/>
          <p:cNvSpPr/>
          <p:nvPr/>
        </p:nvSpPr>
        <p:spPr>
          <a:xfrm>
            <a:off x="7460589" y="1325880"/>
            <a:ext cx="769741" cy="868680"/>
          </a:xfrm>
          <a:prstGeom prst="trapezoid">
            <a:avLst>
              <a:gd name="adj" fmla="val 16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7706907" y="1225295"/>
            <a:ext cx="277107" cy="181051"/>
          </a:xfrm>
          <a:prstGeom prst="roundRect">
            <a:avLst>
              <a:gd name="adj" fmla="val 50000"/>
            </a:avLst>
          </a:prstGeom>
          <a:solidFill>
            <a:srgbClr val="1B51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2" name="Rectangle 91"/>
          <p:cNvSpPr/>
          <p:nvPr/>
        </p:nvSpPr>
        <p:spPr>
          <a:xfrm>
            <a:off x="7839974" y="1499616"/>
            <a:ext cx="10972" cy="555955"/>
          </a:xfrm>
          <a:prstGeom prst="rect">
            <a:avLst/>
          </a:prstGeom>
          <a:solidFill>
            <a:srgbClr val="1C5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TextBox 92"/>
          <p:cNvSpPr txBox="1"/>
          <p:nvPr/>
        </p:nvSpPr>
        <p:spPr>
          <a:xfrm>
            <a:off x="7460589" y="1687982"/>
            <a:ext cx="76974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Cambria"/>
              </a:rPr>
              <a:t>2,5 кг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460589" y="1929384"/>
            <a:ext cx="76974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1" i="0" spc="90">
                <a:solidFill>
                  <a:srgbClr val="C6D6D8"/>
                </a:solidFill>
                <a:latin typeface="Calibri"/>
              </a:rPr>
              <a:t>BULK</a:t>
            </a:r>
          </a:p>
        </p:txBody>
      </p:sp>
      <p:pic>
        <p:nvPicPr>
          <p:cNvPr id="95" name="Picture 94" descr="tn_wasab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9039" y="1662379"/>
            <a:ext cx="347312" cy="422452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995160" y="2103120"/>
            <a:ext cx="435071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" b="0" i="0">
                <a:solidFill>
                  <a:srgbClr val="8A938D"/>
                </a:solidFill>
                <a:latin typeface="Calibri"/>
              </a:rPr>
              <a:t>55 г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1C565C"/>
                </a:solidFill>
                <a:latin typeface="Calibri"/>
              </a:rPr>
              <a:t>2,5 КГ · 2 ПАК/КАРТ.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Norimaki Wasabi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BULK 2,5 кг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Васабі у форматі 2,5 кг — для HoReCa та фасування на місці.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1C565C"/>
                </a:solidFill>
                <a:latin typeface="Calibri"/>
              </a:rPr>
              <a:t>СОБІВАРТІСТЬ · 1 ПАКЕТ 2,5 КГ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1D5B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3" name="TextBox 102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$30,842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1387,89 ₴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$36,604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1647,18 ₴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0" name="TextBox 109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$37,936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1707,12 ₴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4" name="TextBox 113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$45,023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2026,04 ₴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8" name="TextBox 117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«Thai-Nichi - Retail+Bulk».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plant_tmk.png"/>
          <p:cNvPicPr>
            <a:picLocks noChangeAspect="1"/>
          </p:cNvPicPr>
          <p:nvPr/>
        </p:nvPicPr>
        <p:blipFill>
          <a:blip r:embed="rId2"/>
          <a:srcRect t="8919" b="8919"/>
          <a:stretch>
            <a:fillRect/>
          </a:stretch>
        </p:blipFill>
        <p:spPr>
          <a:xfrm>
            <a:off x="5349240" y="0"/>
            <a:ext cx="3794760" cy="307238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349240" y="3072384"/>
            <a:ext cx="3794760" cy="54864"/>
          </a:xfrm>
          <a:prstGeom prst="rect">
            <a:avLst/>
          </a:prstGeom>
          <a:solidFill>
            <a:srgbClr val="78A9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806440" y="2542032"/>
            <a:ext cx="2880360" cy="11338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logo_kokir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9859" y="2870200"/>
            <a:ext cx="1493520" cy="477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06440" y="3749039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50" b="0" i="1">
                <a:solidFill>
                  <a:srgbClr val="C5DAC9"/>
                </a:solidFill>
                <a:latin typeface="Calibri"/>
              </a:rPr>
              <a:t>Фабрика TMK · kokiriseaweed.com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49240" y="3986784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C1D7C5"/>
                </a:solidFill>
                <a:latin typeface="Calibri"/>
              </a:rPr>
              <a:t>ВИРОБНИЦТВО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4187952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Таїланд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2C713B"/>
                </a:solidFill>
                <a:latin typeface="Calibri"/>
              </a:rPr>
              <a:t>ПРОФІЛЬ ПОСТАЧАЛЬНИКА · 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TMK (Thailand)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Co., Ltd.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C713B"/>
                </a:solidFill>
                <a:latin typeface="Calibri"/>
              </a:rPr>
              <a:t>Снеки з водорості норі · Retail і дитячий формат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2E763C"/>
                </a:solidFill>
                <a:latin typeface="Calibri"/>
              </a:rPr>
              <a:t>FOB Bangkok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ПРО КОМПАНІЮ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Виробляє снеки з водорості, яку завозить із Кореї, і має фабрики в Кореї та Таїланді. Працює як OEM для інших брендів у 13+ країнах. «Кокірі» — «слон» корейською, символ довіри в Таїланді.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2011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компанії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E763C"/>
                </a:solidFill>
                <a:latin typeface="Cambria"/>
              </a:rPr>
              <a:t>13+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E763C"/>
                </a:solidFill>
                <a:latin typeface="Cambria"/>
              </a:rPr>
              <a:t>$10 млн+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за шість років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2C713B"/>
                </a:solidFill>
                <a:latin typeface="Calibri"/>
              </a:rPr>
              <a:t>СЕРТИФІКАТИ ВИРОБНИЦТВА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ISO 22000:2018 · FSSC 22000 · CODEX HACCP &amp; GMP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C1D7C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1/3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ROLL та Wow DOUBLE ROLL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roll_or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" y="1255775"/>
            <a:ext cx="548640" cy="94488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 норі, скручений навколо рисової палички. Пакетик на один укус, у коробці 10 штук.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roll_spi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8340" y="1255775"/>
            <a:ext cx="538480" cy="94488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Той самий рулетик норі з гострою приправою. У Таїланді — найпродаваніший смак лінійки.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roll_squ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7500" y="1255775"/>
            <a:ext cx="497840" cy="9448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2,5 Г · ПАКЕТИК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 Squid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Рулетик норі з приправою зі смаком гострого кальмара. Найспецифічніший смак трійки.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2,5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$0,178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8,00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10,15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$0,238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10,72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$0,277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12,46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tmk_dbl_ori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2045" y="1225295"/>
            <a:ext cx="566428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— порція 5 г замість 2,5 г. У коробці 5 пакетиків.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2/3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DOUBLE ROLL та Wow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dbl_spi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665" y="1225295"/>
            <a:ext cx="566428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5 Г · ПАКЕТИК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DOUBLE ROLL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Подвійний рулетик норі з гострою приправою. Крок нагору від базового формату.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ПАКЕТИК 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$0,319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14,36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18,13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19,15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$0,495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22,27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sw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5874" y="1225295"/>
            <a:ext cx="7722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Смажені листи норі, приправлені та нарізані на порційні шматочки. Пакет 12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sw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8295" y="1225295"/>
            <a:ext cx="777649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 саме з гострою приправою. Термін придатності 7 місяців — потребує швидкого обігу.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29,34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37,35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39,45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2B6D39"/>
                </a:solidFill>
                <a:latin typeface="Calibri"/>
              </a:rPr>
              <a:t>TMK · KOKIRI · 3/3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Wow SEAWEED та Wow MINI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E6EF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2E763C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tmk_sw_squ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836" y="1225295"/>
            <a:ext cx="756087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12 Г · 36 ПАК/КАРТ.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Squid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Смажена норі зі смаком кальмара. Термін придатності також 7 місяців.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12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30,00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38,18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40,33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46,89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tmk_mini_or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21974" y="1225295"/>
            <a:ext cx="190005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Original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Найменший пакет лінійки — 10 г. Формат для прикасової зони та дитячих наборів.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0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tmk_mini_spic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7094" y="1225295"/>
            <a:ext cx="190005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2C713B"/>
                </a:solidFill>
                <a:latin typeface="Calibri"/>
              </a:rPr>
              <a:t>10 Г · 36 ПАК/КАРТ.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Wow MINI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Hot Spicy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Гострий варіант міні-пакета 10 г. Ставиться в пару з Original на одній полиці.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2C713B"/>
                </a:solidFill>
                <a:latin typeface="Calibri"/>
              </a:rPr>
              <a:t>СОБІВАРТІСТЬ · 1 ПАКЕТ 10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2F7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$0,657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29,55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37,10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$0,871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39,18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$1,012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45,56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Собівартість наведено за 1 пакетик (inner pack), а не за коробку: Wow ROLL — 2,5 г, Double Roll — 5 г. Джерело: SelfCost.xlsx, «TMK Thailand Co., Ltd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349240" y="0"/>
            <a:ext cx="3794760" cy="514350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5394960" y="434340"/>
            <a:ext cx="3703320" cy="3703320"/>
          </a:xfrm>
          <a:prstGeom prst="ellipse">
            <a:avLst/>
          </a:prstGeom>
          <a:noFill/>
          <a:ln w="20320">
            <a:solidFill>
              <a:srgbClr val="F6E7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Oval 4"/>
          <p:cNvSpPr/>
          <p:nvPr/>
        </p:nvSpPr>
        <p:spPr>
          <a:xfrm>
            <a:off x="5829300" y="868680"/>
            <a:ext cx="2834640" cy="2834640"/>
          </a:xfrm>
          <a:prstGeom prst="ellipse">
            <a:avLst/>
          </a:prstGeom>
          <a:noFill/>
          <a:ln w="15240">
            <a:solidFill>
              <a:srgbClr val="F0D8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Oval 5"/>
          <p:cNvSpPr/>
          <p:nvPr/>
        </p:nvSpPr>
        <p:spPr>
          <a:xfrm>
            <a:off x="6240779" y="1280160"/>
            <a:ext cx="2011680" cy="2011680"/>
          </a:xfrm>
          <a:prstGeom prst="ellipse">
            <a:avLst/>
          </a:prstGeom>
          <a:noFill/>
          <a:ln w="12700">
            <a:solidFill>
              <a:srgbClr val="E9C8C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806440" y="1700784"/>
            <a:ext cx="2880360" cy="117043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4455" y="1792224"/>
            <a:ext cx="262432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</a:pPr>
            <a:r>
              <a:rPr sz="2400" b="1" i="0">
                <a:solidFill>
                  <a:srgbClr val="AA3922"/>
                </a:solidFill>
                <a:latin typeface="Cambria"/>
              </a:rPr>
              <a:t>ZEK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6440" y="2999232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0" i="1">
                <a:solidFill>
                  <a:srgbClr val="F0D8D3"/>
                </a:solidFill>
                <a:latin typeface="Calibri"/>
              </a:rPr>
              <a:t>ZEK — Zesty Especial Kingdom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3931920"/>
            <a:ext cx="3794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1" i="0" spc="90">
                <a:solidFill>
                  <a:srgbClr val="E8C4BD"/>
                </a:solidFill>
                <a:latin typeface="Calibri"/>
              </a:rPr>
              <a:t>ВИРОБНИЦТВО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4133087"/>
            <a:ext cx="3794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Cambria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75488"/>
            <a:ext cx="237744" cy="237744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49808" y="475488"/>
            <a:ext cx="40233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 spc="90">
                <a:solidFill>
                  <a:srgbClr val="A23822"/>
                </a:solidFill>
                <a:latin typeface="Calibri"/>
              </a:rPr>
              <a:t>ПРОФІЛЬ ПОСТАЧАЛЬНИКА · 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841248"/>
            <a:ext cx="46177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HanJin (Shanghai)</a:t>
            </a:r>
          </a:p>
          <a:p>
            <a:pPr algn="l">
              <a:lnSpc>
                <a:spcPct val="108000"/>
              </a:lnSpc>
            </a:pPr>
            <a:r>
              <a:rPr sz="2600" b="1" i="0">
                <a:solidFill>
                  <a:srgbClr val="14241F"/>
                </a:solidFill>
                <a:latin typeface="Cambria"/>
              </a:rPr>
              <a:t>Food Co., Ltd.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1901952"/>
            <a:ext cx="4617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A23822"/>
                </a:solidFill>
                <a:latin typeface="Calibri"/>
              </a:rPr>
              <a:t>Темпура, сендвічі та присипка з норі · Retail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2249424"/>
            <a:ext cx="1025956" cy="274320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65760" y="2249424"/>
            <a:ext cx="1025956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1" i="0">
                <a:solidFill>
                  <a:srgbClr val="AA3922"/>
                </a:solidFill>
                <a:latin typeface="Calibri"/>
              </a:rPr>
              <a:t>FOB Qingdao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270662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ПРО КОМПАНІЮ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89504"/>
            <a:ext cx="461772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44524C"/>
                </a:solidFill>
                <a:latin typeface="Calibri"/>
              </a:rPr>
              <a:t>ZEK — «Zesty Especial Kingdom», власний бренд Hanjin Food. Компанія заснована 2002 року у Вейхаї, головний офіс із 2014-го — у Шанхаї. Партнери групи — тайська Singha Group і корейська SPC Group.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365760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365760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2002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рік заснування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у Вейхаї, Шаньдун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79676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1979676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979676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№1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71116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частка ринку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приправленої норі в КНР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93592" y="3602736"/>
            <a:ext cx="148132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3593592" y="3602736"/>
            <a:ext cx="1481328" cy="45720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3593592" y="3730752"/>
            <a:ext cx="14813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AA3922"/>
                </a:solidFill>
                <a:latin typeface="Cambria"/>
              </a:rPr>
              <a:t>16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85032" y="4005072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країн</a:t>
            </a:r>
          </a:p>
          <a:p>
            <a:pPr algn="ctr">
              <a:lnSpc>
                <a:spcPct val="112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експорту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4443984"/>
            <a:ext cx="4617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00" b="1" i="0" spc="90">
                <a:solidFill>
                  <a:srgbClr val="A23822"/>
                </a:solidFill>
                <a:latin typeface="Calibri"/>
              </a:rPr>
              <a:t>СИРОВИНА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4626864"/>
            <a:ext cx="4617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1" i="0">
                <a:solidFill>
                  <a:srgbClr val="14241F"/>
                </a:solidFill>
                <a:latin typeface="Calibri"/>
              </a:rPr>
              <a:t>Норі з острова Чеджу (Корея) та плантацій під Вейхаєм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E8C4B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1/4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corn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Листи норі в хрусткому клярі темпура зі смаком солодкої кукурудзи. Пакет 30 г.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wasabi3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3909" y="1225295"/>
            <a:ext cx="767341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клярі темпура з васабі. Гострий варіант тієї самої лінійки, 30 г.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empura_mala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0156" y="1225295"/>
            <a:ext cx="772526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Crawfish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 в темпурі з приправою мала — гостро-пряний китайський смак раків. 30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$0,674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30,33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$0,801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36,04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$0,924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41,56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$0,978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44,02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tempura_corn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404" y="1225295"/>
            <a:ext cx="777711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Corn · 50 г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Кукурудзяна темпура у великому пакеті 50 г. Ціна за грам нижча, ніж у 30 г.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2/4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Tempura Seaweed та Sandwich Seaweed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empura_wasabi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476" y="1225295"/>
            <a:ext cx="772526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Wasabi · 50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з васабі у пакеті 50 г — формат для домашнього споживання.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507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140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994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8140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994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140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994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51460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252374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252374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empura_mala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01" y="1225295"/>
            <a:ext cx="762157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26609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284378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50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6090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Tempura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Mala · 50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6090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Темпура мала у пакеті 50 г. Замикає лінійку великих фасовок.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090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50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1460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66090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66090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$1,019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1391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45,84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6090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33024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$1,210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9878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54,47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66090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266090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3024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$1,396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878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62,83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66090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266090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024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$1,479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79878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66,54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66344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467258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467258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sandwich_meat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1849" y="1225295"/>
            <a:ext cx="749141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480974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499262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0974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Meat Floss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0974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прошарком сушеної м’ясної стружки між ними. Пакет 25 г.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0974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66344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480974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0974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56275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21,86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0974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7908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94762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25,98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0974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480974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47908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94762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29,96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0974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480974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7908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94762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31,74 ₴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812280" y="1115568"/>
            <a:ext cx="196596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Rounded Rectangle 81"/>
          <p:cNvSpPr/>
          <p:nvPr/>
        </p:nvSpPr>
        <p:spPr>
          <a:xfrm>
            <a:off x="6821424" y="1124712"/>
            <a:ext cx="194767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3" name="Rectangle 82"/>
          <p:cNvSpPr/>
          <p:nvPr/>
        </p:nvSpPr>
        <p:spPr>
          <a:xfrm>
            <a:off x="6821424" y="2212848"/>
            <a:ext cx="194767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4" name="Picture 83" descr="zek_sandwich_sesame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8048" y="1225295"/>
            <a:ext cx="734422" cy="1005840"/>
          </a:xfrm>
          <a:prstGeom prst="rect">
            <a:avLst/>
          </a:prstGeom>
        </p:spPr>
      </p:pic>
      <p:sp>
        <p:nvSpPr>
          <p:cNvPr id="85" name="Rounded Rectangle 84"/>
          <p:cNvSpPr/>
          <p:nvPr/>
        </p:nvSpPr>
        <p:spPr>
          <a:xfrm>
            <a:off x="69585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6" name="TextBox 85"/>
          <p:cNvSpPr txBox="1"/>
          <p:nvPr/>
        </p:nvSpPr>
        <p:spPr>
          <a:xfrm>
            <a:off x="7141464" y="2450591"/>
            <a:ext cx="1508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25 Г · 30 ШТ/КАРТ.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58584" y="2651760"/>
            <a:ext cx="1673351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Sandwich Seaweed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58584" y="3108960"/>
            <a:ext cx="167335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Два листи норі з кунжутним прошарком. Вегетаріанський варіант сендвіча.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58584" y="3657600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25 Г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812280" y="3840480"/>
            <a:ext cx="196596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6958584" y="3895344"/>
            <a:ext cx="16733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58584" y="4032504"/>
            <a:ext cx="87014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$0,486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711592" y="4069080"/>
            <a:ext cx="92034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22,35 ₴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958584" y="427939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27924" y="427939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$0,577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096463" y="427939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26,56 ₴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958584" y="441655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8" name="TextBox 97"/>
          <p:cNvSpPr txBox="1"/>
          <p:nvPr/>
        </p:nvSpPr>
        <p:spPr>
          <a:xfrm>
            <a:off x="6958584" y="441655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627924" y="441655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$0,666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96463" y="441655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30,63 ₴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958584" y="4553712"/>
            <a:ext cx="1673351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6958584" y="4553712"/>
            <a:ext cx="702807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627924" y="4553712"/>
            <a:ext cx="46853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$0,705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096463" y="4553712"/>
            <a:ext cx="53547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32,44 ₴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3/4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chicken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4250" y="1225295"/>
            <a:ext cx="745259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Floss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Подрібнена норі з курячою стружкою — присипка до рису та супів. Збагачена DHA.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veg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0048" y="1225295"/>
            <a:ext cx="743902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овочами. Паковання орієнтоване на дитячу аудиторію.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28,21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33,52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38,66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40,95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sesame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9003" y="1225295"/>
            <a:ext cx="736233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35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Норі-присипка з кунжутом — базовий смак напрямку, без м’ясних добавок.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35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$0,627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28,84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$0,745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34,27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$0,859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39,52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$0,910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41,86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365760" y="310896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1" i="0" spc="90">
                <a:solidFill>
                  <a:srgbClr val="9A3722"/>
                </a:solidFill>
                <a:latin typeface="Calibri"/>
              </a:rPr>
              <a:t>HANJIN · ZEK · 4/4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493776"/>
            <a:ext cx="6035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4241F"/>
                </a:solidFill>
                <a:latin typeface="Cambria"/>
              </a:rPr>
              <a:t>Seaweed Topping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987552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936284" y="530352"/>
            <a:ext cx="2841955" cy="292608"/>
          </a:xfrm>
          <a:prstGeom prst="roundRect">
            <a:avLst>
              <a:gd name="adj" fmla="val 24000"/>
            </a:avLst>
          </a:prstGeom>
          <a:solidFill>
            <a:srgbClr val="F6E7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936284" y="530352"/>
            <a:ext cx="2841955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750" b="1" i="0">
                <a:solidFill>
                  <a:srgbClr val="AA3922"/>
                </a:solidFill>
                <a:latin typeface="Calibri"/>
              </a:rPr>
              <a:t>Розрахунок на контейнер із роздрібною фасовкою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37490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37490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zek_topping_veg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502" y="1225295"/>
            <a:ext cx="694755" cy="100584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51206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494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Vegetables · 70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Овочева присипка у великому пакеті 70 г. Розрахована на родину або HoReCa.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1206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8739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59,66 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791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3701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70,90 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1206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1206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6791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3701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81,77 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206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1206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6791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3701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86,61 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3088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ounded Rectangle 33"/>
          <p:cNvSpPr/>
          <p:nvPr/>
        </p:nvSpPr>
        <p:spPr>
          <a:xfrm>
            <a:off x="324002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324002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6" name="Picture 35" descr="zek_topping_sesame7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22029" y="1225295"/>
            <a:ext cx="699940" cy="1005840"/>
          </a:xfrm>
          <a:prstGeom prst="rect">
            <a:avLst/>
          </a:prstGeom>
        </p:spPr>
      </p:pic>
      <p:sp>
        <p:nvSpPr>
          <p:cNvPr id="37" name="Rounded Rectangle 36"/>
          <p:cNvSpPr/>
          <p:nvPr/>
        </p:nvSpPr>
        <p:spPr>
          <a:xfrm>
            <a:off x="337718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356006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7718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Sesame · 70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7718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Кунжутна присипка у пакеті 70 г — удвічі більший обсяг за той самий смак.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7718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3088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37718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7718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5251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60,93 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7718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303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0213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72,41 ₴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37718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37718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33303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0213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83,51 ₴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37718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337718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3303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0213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88,45 ₴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096000" y="1115568"/>
            <a:ext cx="2682240" cy="360273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6E1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Rounded Rectangle 57"/>
          <p:cNvSpPr/>
          <p:nvPr/>
        </p:nvSpPr>
        <p:spPr>
          <a:xfrm>
            <a:off x="6105144" y="1124712"/>
            <a:ext cx="2663952" cy="1207008"/>
          </a:xfrm>
          <a:prstGeom prst="roundRect">
            <a:avLst>
              <a:gd name="adj" fmla="val 3500"/>
            </a:avLst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6105144" y="2212848"/>
            <a:ext cx="2663952" cy="118872"/>
          </a:xfrm>
          <a:prstGeom prst="rect">
            <a:avLst/>
          </a:prstGeom>
          <a:solidFill>
            <a:srgbClr val="FA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0" name="Picture 59" descr="zek_topping_chicken7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7149" y="1225295"/>
            <a:ext cx="699940" cy="100584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6242304" y="2450591"/>
            <a:ext cx="118872" cy="118872"/>
          </a:xfrm>
          <a:prstGeom prst="roundRect">
            <a:avLst>
              <a:gd name="adj" fmla="val 50000"/>
            </a:avLst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425184" y="2450591"/>
            <a:ext cx="222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1" i="0" spc="90">
                <a:solidFill>
                  <a:srgbClr val="A23822"/>
                </a:solidFill>
                <a:latin typeface="Calibri"/>
              </a:rPr>
              <a:t>70 Г · 24 ШТ/КАРТ.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42304" y="2651760"/>
            <a:ext cx="238963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Seaweed Topping</a:t>
            </a:r>
          </a:p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4241F"/>
                </a:solidFill>
                <a:latin typeface="Cambria"/>
              </a:rPr>
              <a:t>Chicken · 70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242304" y="3108960"/>
            <a:ext cx="238963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800" b="0" i="0">
                <a:solidFill>
                  <a:srgbClr val="44524C"/>
                </a:solidFill>
                <a:latin typeface="Calibri"/>
              </a:rPr>
              <a:t>Присипка з курячою стружкою, 70 г. Найдорожча позиція в розрахунку ZEK.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42304" y="3657600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A23822"/>
                </a:solidFill>
                <a:latin typeface="Calibri"/>
              </a:rPr>
              <a:t>СОБІВАРТІСТЬ · 1 ПАКЕТ 70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096000" y="3840480"/>
            <a:ext cx="2682240" cy="438912"/>
          </a:xfrm>
          <a:prstGeom prst="rect">
            <a:avLst/>
          </a:prstGeom>
          <a:solidFill>
            <a:srgbClr val="B23A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TextBox 66"/>
          <p:cNvSpPr txBox="1"/>
          <p:nvPr/>
        </p:nvSpPr>
        <p:spPr>
          <a:xfrm>
            <a:off x="6242304" y="3895344"/>
            <a:ext cx="238963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1" i="0" spc="90">
                <a:solidFill>
                  <a:srgbClr val="FFFFFF"/>
                </a:solidFill>
                <a:latin typeface="Calibri"/>
              </a:rPr>
              <a:t>40′ КОНТЕЙНЕР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42304" y="4032504"/>
            <a:ext cx="12426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Cambria"/>
              </a:rPr>
              <a:t>$1,269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7638" y="4069080"/>
            <a:ext cx="131429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62,20 ₴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42304" y="427939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34 м³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98156" y="427939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$1,508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67253" y="427939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73,91 ₴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42304" y="441655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242304" y="441655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20′ контейнер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198156" y="441655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$1,740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867253" y="441655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85,25 ₴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242304" y="4553712"/>
            <a:ext cx="2389632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6242304" y="4553712"/>
            <a:ext cx="1003645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0">
                <a:solidFill>
                  <a:srgbClr val="8A938D"/>
                </a:solidFill>
                <a:latin typeface="Calibri"/>
              </a:rPr>
              <a:t>Збірний 17 м³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98156" y="4553712"/>
            <a:ext cx="669096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$1,843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867253" y="4553712"/>
            <a:ext cx="764682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44524C"/>
                </a:solidFill>
                <a:latin typeface="Calibri"/>
              </a:rPr>
              <a:t>90,30 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65760" y="4809744"/>
            <a:ext cx="8412480" cy="9144"/>
          </a:xfrm>
          <a:prstGeom prst="rect">
            <a:avLst/>
          </a:prstGeom>
          <a:solidFill>
            <a:srgbClr val="E6E1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365760" y="4882896"/>
            <a:ext cx="78638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50" b="0" i="1">
                <a:solidFill>
                  <a:srgbClr val="8A938D"/>
                </a:solidFill>
                <a:latin typeface="Calibri"/>
              </a:rPr>
              <a:t>Собівартість повна: ціна постачальника + логістика + мито + ПДВ 20%. Це не ціна продажу. Джерело: SelfCost.xlsx, «ZEK -Retail».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29600" y="4882896"/>
            <a:ext cx="548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700" b="1" i="0">
                <a:solidFill>
                  <a:srgbClr val="8A938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