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5.png"/><Relationship Id="rId4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076B4A"/>
                </a:solidFill>
                <a:latin typeface="Calibri"/>
              </a:rPr>
              <a:t>КАТАЛОГ ПОСТАЧАЛЬНИКІВ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7315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0E2A24"/>
                </a:solidFill>
                <a:latin typeface="Cambria"/>
              </a:rPr>
              <a:t>Азійські снеки</a:t>
            </a:r>
          </a:p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0E2A24"/>
                </a:solidFill>
                <a:latin typeface="Cambria"/>
              </a:rPr>
              <a:t>з водоростей і рису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432304"/>
            <a:ext cx="1005840" cy="41148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65760" y="2670048"/>
            <a:ext cx="5852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</a:pPr>
            <a:r>
              <a:rPr sz="1150" b="0" i="0">
                <a:solidFill>
                  <a:srgbClr val="384A44"/>
                </a:solidFill>
                <a:latin typeface="Calibri"/>
              </a:rPr>
              <a:t>Продукти чотирьох постачальників, короткі описи та собівартість одиниці</a:t>
            </a:r>
          </a:p>
          <a:p>
            <a:pPr algn="l">
              <a:lnSpc>
                <a:spcPct val="136000"/>
              </a:lnSpc>
            </a:pPr>
            <a:r>
              <a:rPr sz="1150" b="0" i="0">
                <a:solidFill>
                  <a:srgbClr val="384A44"/>
                </a:solidFill>
                <a:latin typeface="Calibri"/>
              </a:rPr>
              <a:t>товару в доларах і гривні — за всіма сценаріями доставки.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529584"/>
            <a:ext cx="1536192" cy="11887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592" y="3621024"/>
            <a:ext cx="772526" cy="1005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084831" y="3529584"/>
            <a:ext cx="1536192" cy="11887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sk_orig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048" y="3621024"/>
            <a:ext cx="795759" cy="10058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3803904" y="3529584"/>
            <a:ext cx="1536192" cy="11887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tn_orig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3570" y="3621024"/>
            <a:ext cx="836858" cy="100584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522976" y="3529584"/>
            <a:ext cx="1536192" cy="11887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tmk_rol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6752" y="3651504"/>
            <a:ext cx="548640" cy="94488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242048" y="3529584"/>
            <a:ext cx="1536192" cy="11887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zek_topping_veg3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8192" y="3621024"/>
            <a:ext cx="743902" cy="10058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0" y="73152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7C8B86"/>
                </a:solidFill>
                <a:latin typeface="Calibri"/>
              </a:rPr>
              <a:t>4 постачальники · 28 SKU · 4 сценарії доставки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4846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076B4A"/>
                </a:solidFill>
                <a:latin typeface="Calibri"/>
              </a:rPr>
              <a:t>ПОСТАЧАЛЬНИК 01 · ARARE NORIMAKI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8755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E2A24"/>
                </a:solidFill>
                <a:latin typeface="Cambria"/>
              </a:rPr>
              <a:t>Singha Kameda</a:t>
            </a:r>
          </a:p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E2A24"/>
                </a:solidFill>
                <a:latin typeface="Cambria"/>
              </a:rPr>
              <a:t>(Thailand) Co., Ltd.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231136"/>
            <a:ext cx="1005840" cy="41148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65760" y="2468880"/>
            <a:ext cx="4709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050" b="0" i="0">
                <a:solidFill>
                  <a:srgbClr val="384A44"/>
                </a:solidFill>
                <a:latin typeface="Calibri"/>
              </a:rPr>
              <a:t>Спільне підприємство японської Kameda Seika — світового лідера ринку рисових крекерів — та тайської групи Singha. Виробництво в Таїланді за японськими стандартами.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712463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5760" y="3767327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Країна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767327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023359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5760" y="4078223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Умови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4078223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FOB Bangkok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334255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5760" y="4389119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Позицій із собівартістю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4389119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645151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486400" y="1726184"/>
            <a:ext cx="1572767" cy="1997455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784" y="1922272"/>
            <a:ext cx="1270000" cy="160528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205472" y="1726184"/>
            <a:ext cx="1572767" cy="1997455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1775" y="1881632"/>
            <a:ext cx="1280159" cy="1686559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SINGHA KAMEDA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24"/>
                </a:solidFill>
                <a:latin typeface="Cambria"/>
              </a:rPr>
              <a:t>Arare Norimaki — рисові крекери в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B86"/>
                </a:solidFill>
                <a:latin typeface="Calibri"/>
              </a:rPr>
              <a:t>Arare Norimaki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65760" y="1115568"/>
            <a:ext cx="4069079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5610" y="1243584"/>
            <a:ext cx="969379" cy="122529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914400" y="2560320"/>
            <a:ext cx="2971799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267004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52928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0E2A24"/>
                </a:solidFill>
                <a:latin typeface="Cambria"/>
              </a:rPr>
              <a:t>Arare Norimaki Original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291839"/>
            <a:ext cx="30632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384A44"/>
                </a:solidFill>
                <a:latin typeface="Calibri"/>
              </a:rPr>
              <a:t>Хрусткі рисові палички арарe в обгортці з водорості норі. Смак соєвого соусу, без гостроти.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03904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" y="3968496"/>
            <a:ext cx="1012697" cy="731520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74904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$1,035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46,59 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87602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1387602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387602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7602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$1,298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7602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58,40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00300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2400300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400300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00300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$1,281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00300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57,66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12998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3412998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412998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12998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$1,806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12998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81,28 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09159" y="1115568"/>
            <a:ext cx="4069079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678" y="1243584"/>
            <a:ext cx="930043" cy="1225296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5257799" y="2560320"/>
            <a:ext cx="2971799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983479" y="267004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79" y="2852928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0E2A24"/>
                </a:solidFill>
                <a:latin typeface="Cambria"/>
              </a:rPr>
              <a:t>Arare Norimaki Wasabi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3291839"/>
            <a:ext cx="30632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384A44"/>
                </a:solidFill>
                <a:latin typeface="Calibri"/>
              </a:rPr>
              <a:t>Ті самі рисові палички в норі, але з відчутною гостротою японського васабі.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83479" y="3803904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18303" y="3968496"/>
            <a:ext cx="1012697" cy="731520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718303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18303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$1,035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18303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46,59 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31001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5731001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731001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31001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$1,298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31001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58,40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43699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743699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743699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43699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$1,281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43699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57,66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56397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7756397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7756397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56397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$1,806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56397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81,28 ₴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7C8B86"/>
                </a:solidFill>
                <a:latin typeface="Calibri"/>
              </a:rPr>
              <a:t>Собівартість за одиницю товару. Джерело: SelfCost.xlsx, вкладка «SINGHA KAMEDA - Retail».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4846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076B4A"/>
                </a:solidFill>
                <a:latin typeface="Calibri"/>
              </a:rPr>
              <a:t>ПОСТАЧАЛЬНИК 02 · MIZUHO · NORIMAKI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8755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E2A24"/>
                </a:solidFill>
                <a:latin typeface="Cambria"/>
              </a:rPr>
              <a:t>Thai-Nichi</a:t>
            </a:r>
          </a:p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E2A24"/>
                </a:solidFill>
                <a:latin typeface="Cambria"/>
              </a:rPr>
              <a:t>Industries Co., Ltd.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231136"/>
            <a:ext cx="1005840" cy="41148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65760" y="2468880"/>
            <a:ext cx="4709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050" b="0" i="0">
                <a:solidFill>
                  <a:srgbClr val="384A44"/>
                </a:solidFill>
                <a:latin typeface="Calibri"/>
              </a:rPr>
              <a:t>Тайсько-японський виробник рисових снеків із найширшим прайсом серед усіх постачальників — 28 позицій. Одна фабрика закриває і крекери, і чипси, і протеїнові снеки.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712463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5760" y="3767327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Країна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767327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023359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5760" y="4078223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Умови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4078223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FOB Bangkok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334255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5760" y="4389119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Позицій із собівартістю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4389119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645151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486400" y="1790905"/>
            <a:ext cx="1572767" cy="1868013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704" y="1955585"/>
            <a:ext cx="1280159" cy="1538653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205472" y="1790905"/>
            <a:ext cx="1572767" cy="1868013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1775" y="1946353"/>
            <a:ext cx="1280159" cy="1557117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THAI-NICHI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24"/>
                </a:solidFill>
                <a:latin typeface="Cambria"/>
              </a:rPr>
              <a:t>Norimaki — рисові крекери в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B86"/>
                </a:solidFill>
                <a:latin typeface="Calibri"/>
              </a:rPr>
              <a:t>Mizuho · Norimaki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65760" y="1115568"/>
            <a:ext cx="4069079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0576" y="1243584"/>
            <a:ext cx="1019446" cy="122529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914400" y="2560320"/>
            <a:ext cx="2971799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267004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50 Г · 36 ШТ/КАРТ.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52928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0E2A24"/>
                </a:solidFill>
                <a:latin typeface="Cambria"/>
              </a:rPr>
              <a:t>Norimaki Original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291839"/>
            <a:ext cx="30632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384A44"/>
                </a:solidFill>
                <a:latin typeface="Calibri"/>
              </a:rPr>
              <a:t>Рисовий крекер із водорістю норі, смажений за японською рецептурою. Пакет 50 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03904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" y="3968496"/>
            <a:ext cx="1012697" cy="731520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74904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$0,794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35,74 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87602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1387602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387602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7602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$1,034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7602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46,53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00300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2400300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400300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00300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$0,973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00300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43,80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12998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3412998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412998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12998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$1,453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12998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65,39 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09159" y="1115568"/>
            <a:ext cx="4069079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0021" y="1243584"/>
            <a:ext cx="1007357" cy="1225296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5257799" y="2560320"/>
            <a:ext cx="2971799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983479" y="267004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55 Г · 36 ШТ/КАРТ.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79" y="2852928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0E2A24"/>
                </a:solidFill>
                <a:latin typeface="Cambria"/>
              </a:rPr>
              <a:t>Norimaki Wasabi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3291839"/>
            <a:ext cx="30632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384A44"/>
                </a:solidFill>
                <a:latin typeface="Calibri"/>
              </a:rPr>
              <a:t>Той самий крекер із додаванням васабі. Найбільший пакет лінійки — 55 г.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83479" y="3803904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18303" y="3968496"/>
            <a:ext cx="1012697" cy="731520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718303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18303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$0,993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18303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44,67 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31001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5731001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731001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31001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$1,293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31001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58,17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43699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743699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743699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43699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$1,217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43699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54,75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56397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7756397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7756397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56397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$1,817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56397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81,74 ₴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7C8B86"/>
                </a:solidFill>
                <a:latin typeface="Calibri"/>
              </a:rPr>
              <a:t>Собівартість за одиницю товару. Джерело: SelfCost.xlsx, вкладка «Thai-Nichi - Retail».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4846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076B4A"/>
                </a:solidFill>
                <a:latin typeface="Calibri"/>
              </a:rPr>
              <a:t>ПОСТАЧАЛЬНИК 03 · KOKIRI WOW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8755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E2A24"/>
                </a:solidFill>
                <a:latin typeface="Cambria"/>
              </a:rPr>
              <a:t>TMK (Thailand)</a:t>
            </a:r>
          </a:p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E2A24"/>
                </a:solidFill>
                <a:latin typeface="Cambria"/>
              </a:rPr>
              <a:t>Co., Ltd.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231136"/>
            <a:ext cx="1005840" cy="41148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65760" y="2468880"/>
            <a:ext cx="4709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050" b="0" i="0">
                <a:solidFill>
                  <a:srgbClr val="384A44"/>
                </a:solidFill>
                <a:latin typeface="Calibri"/>
              </a:rPr>
              <a:t>Тайський виробник снеків із водоростей під брендом KOKIRI Wow. Найнижча собівартість одиниці в каталозі — за рахунок мінімальної фасовки та дитячого позиціонування.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712463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5760" y="3767327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Країна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767327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023359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5760" y="4078223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Умови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4078223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FOB Bangkok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334255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5760" y="4389119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Позицій із собівартістю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4389119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645151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486400" y="1395984"/>
            <a:ext cx="1572767" cy="1255776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tmk_roll_o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464" y="1551432"/>
            <a:ext cx="548640" cy="94488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205472" y="1395984"/>
            <a:ext cx="1572767" cy="1255776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tmk_roll_spi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2615" y="1551432"/>
            <a:ext cx="538480" cy="94488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486400" y="2798064"/>
            <a:ext cx="1572767" cy="1255776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tmk_roll_squ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3864" y="2953512"/>
            <a:ext cx="497840" cy="94488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7205472" y="2798064"/>
            <a:ext cx="1572767" cy="1255776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tmk_db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0375" y="3009392"/>
            <a:ext cx="822960" cy="83312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TMK · KOKIRI ·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24"/>
                </a:solidFill>
                <a:latin typeface="Cambria"/>
              </a:rPr>
              <a:t>KOKIRI Wow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B86"/>
                </a:solidFill>
                <a:latin typeface="Calibri"/>
              </a:rPr>
              <a:t>KOKIRI Wow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6576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mk_roll_o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" y="1271016"/>
            <a:ext cx="548640" cy="9448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12064" y="23530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2064" y="246278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2,5 Г · ПАКЕТИК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645664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Original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3102864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Лист норі, скручений навколо рисової палички. Пакетик на один укус, у коробці 10 штук.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1206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$0,169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8295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7,61 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1206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$0,238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8295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10,72 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1206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$0,235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8295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10,59 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1206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214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$0,345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8295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15,55 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1460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tmk_roll_spi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8340" y="1271016"/>
            <a:ext cx="538480" cy="94488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2660904" y="23530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660904" y="246278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2,5 Г · ПАКЕТИК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60904" y="2645664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Hot Spicy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60904" y="3102864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Той самий рулетик норі з гострою приправою. У Таїланді — найпродаваніший смак лінійки.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6090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460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266090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0098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$0,169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3179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7,61 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6090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0098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$0,238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3179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10,72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6090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266090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0098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$0,235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3179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10,59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6090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266090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0098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$0,345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3179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15,55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6344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5" name="Picture 54" descr="tmk_roll_squ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500" y="1271016"/>
            <a:ext cx="497840" cy="944880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4809744" y="23530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4809744" y="246278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2,5 Г · ПАКЕТИК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09744" y="2645664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Spicy Squid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09744" y="3102864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Рулетик норі з приправою зі смаком гострого кальмара. Найспецифічніший смак трійки.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0974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6344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80974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4982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$0,169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063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7,61 ₴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80974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480974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4982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$0,238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8063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10,72 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0974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480974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4982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$0,235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8063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10,59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4982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$0,345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8063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15,55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81228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8" name="Picture 77" descr="tmk_db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3780" y="1326896"/>
            <a:ext cx="822960" cy="833120"/>
          </a:xfrm>
          <a:prstGeom prst="rect">
            <a:avLst/>
          </a:prstGeom>
        </p:spPr>
      </p:pic>
      <p:sp>
        <p:nvSpPr>
          <p:cNvPr id="79" name="Rectangle 78"/>
          <p:cNvSpPr/>
          <p:nvPr/>
        </p:nvSpPr>
        <p:spPr>
          <a:xfrm>
            <a:off x="6958584" y="23530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6958584" y="246278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5 Г · ПАКЕТИК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958584" y="2645664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Original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958584" y="3102864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Подвійний рулетик норі — порція 5 г замість 2,5 г. У коробці 5 пакетиків.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5858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81228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695858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9866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$0,303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12947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13,66 ₴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5858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695858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59866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$0,426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2947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19,15 ₴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95858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695858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59866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$0,420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12947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18,92 ₴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95858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695858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59866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$0,617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12947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27,78 ₴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7C8B86"/>
                </a:solidFill>
                <a:latin typeface="Calibri"/>
              </a:rPr>
              <a:t>Собівартість наведено за 1 пакетик (inner pack), а не за коробку: Wow ROLL — 2,5 г, Double Roll — 5 г.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TMK · KOKIRI ·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24"/>
                </a:solidFill>
                <a:latin typeface="Cambria"/>
              </a:rPr>
              <a:t>KOKIRI Wow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B86"/>
                </a:solidFill>
                <a:latin typeface="Calibri"/>
              </a:rPr>
              <a:t>KOKIRI Wow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6576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mk_dbl_spi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5080" y="1271016"/>
            <a:ext cx="863600" cy="8432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12064" y="22514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2064" y="236118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5 Г · ПАКЕТИК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544063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Hot Spicy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3001263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Подвійний рулетик норі з гострою приправою. Крок нагору від базового формату.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1206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865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$0,303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286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13,66 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1206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3865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$0,426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6286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19,15 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1206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3865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$0,420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6286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18,92 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1206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3865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$0,617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6286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27,78 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3088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tmk_sw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2760" y="1337055"/>
            <a:ext cx="538480" cy="7112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3377184" y="22514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377184" y="236118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77184" y="2544063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Original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77184" y="3001263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Смажені листи норі, приправлені та нарізані на порційні шматочки. Пакет 12 г.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7718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3088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37718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0377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798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27,90 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7718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0377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798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39,45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7718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37718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0377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$0,866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798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38,97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7718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37718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0377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$1,272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798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57,22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5" name="Picture 54" descr="tmk_sw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7880" y="1331976"/>
            <a:ext cx="538480" cy="721360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6242304" y="22514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242304" y="236118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42304" y="2544063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Spicy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42304" y="3001263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Те саме з гострою приправою. Термін придатності 7 місяців — потребує швидкого обігу.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4230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9600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24230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6889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9310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27,90 ₴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4230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24230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6889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$0,877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9310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39,45 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4230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624230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6889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$0,866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9310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38,97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6889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$1,272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9310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57,22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7C8B86"/>
                </a:solidFill>
                <a:latin typeface="Calibri"/>
              </a:rPr>
              <a:t>Собівартість наведено за 1 пакетик (inner pack), а не за коробку: Wow ROLL — 2,5 г, Double Roll — 5 г.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TMK · KOKIRI ·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24"/>
                </a:solidFill>
                <a:latin typeface="Cambria"/>
              </a:rPr>
              <a:t>KOKIRI Wow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B86"/>
                </a:solidFill>
                <a:latin typeface="Calibri"/>
              </a:rPr>
              <a:t>KOKIRI Wow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6576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mk_sw_squ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560" y="1427479"/>
            <a:ext cx="548640" cy="7112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12064" y="243230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2064" y="2542032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724911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Squid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3182111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Смажена норі зі смаком кальмара. Термін придатності також 7 місяців.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1206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865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286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28,52 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1206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3865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6286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40,33 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1206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3865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$0,866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6286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39,84 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1206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3865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$1,272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6286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58,50 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3088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tmk_mini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264920"/>
            <a:ext cx="640080" cy="103632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3377184" y="243230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377184" y="2542032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77184" y="2724911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Original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77184" y="3182111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Найменший пакет лінійки — 10 г. Формат для прикасової зони та дитячих наборів.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7718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3088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37718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0377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798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28,10 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7718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0377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$0,871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798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39,18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7718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37718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0377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798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38,71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7718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37718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0377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$1,263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798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56,84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5" name="Picture 54" descr="tmk_mini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7080" y="1270000"/>
            <a:ext cx="640080" cy="1026160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6242304" y="243230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242304" y="2542032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42304" y="2724911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Hot Spicy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42304" y="3182111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Гострий варіант міні-пакета 10 г. Ставиться в пару з Original на одній полиці.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4230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9600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24230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6889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9310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28,10 ₴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4230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24230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6889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$0,871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9310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39,18 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4230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624230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6889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$0,860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9310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38,71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6889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$1,263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9310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56,84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7C8B86"/>
                </a:solidFill>
                <a:latin typeface="Calibri"/>
              </a:rPr>
              <a:t>Собівартість наведено за 1 пакетик (inner pack), а не за коробку: Wow ROLL — 2,5 г, Double Roll — 5 г.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4846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076B4A"/>
                </a:solidFill>
                <a:latin typeface="Calibri"/>
              </a:rPr>
              <a:t>ПОСТАЧАЛЬНИК 04 · ZEK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8755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E2A24"/>
                </a:solidFill>
                <a:latin typeface="Cambria"/>
              </a:rPr>
              <a:t>HanJin Food Co. Ltd</a:t>
            </a:r>
          </a:p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E2A24"/>
                </a:solidFill>
                <a:latin typeface="Cambria"/>
              </a:rPr>
              <a:t>бренд ZEK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231136"/>
            <a:ext cx="1005840" cy="41148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65760" y="2468880"/>
            <a:ext cx="4709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050" b="0" i="0">
                <a:solidFill>
                  <a:srgbClr val="384A44"/>
                </a:solidFill>
                <a:latin typeface="Calibri"/>
              </a:rPr>
              <a:t>Найбільший за глибиною розрахунку постачальник: 14 позицій у трьох напрямках — темпура, сендвіч і присипка з норі. Єдиний постачальник з відвантаженням із Циндао.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712463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5760" y="3767327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Країна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767327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Китай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023359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5760" y="4078223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Умови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4078223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FOB Qingdao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334255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5760" y="4389119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Позицій із собівартістю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4389119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14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645151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486400" y="731520"/>
            <a:ext cx="1572767" cy="192024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3693" y="859536"/>
            <a:ext cx="1278180" cy="1664208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205472" y="731520"/>
            <a:ext cx="1572767" cy="192024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zek_tempura_wasabi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7055" y="859536"/>
            <a:ext cx="1269601" cy="1664208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486400" y="2798064"/>
            <a:ext cx="1572767" cy="192024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zek_tempura_mal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3693" y="2926080"/>
            <a:ext cx="1278180" cy="1664208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7205472" y="2798064"/>
            <a:ext cx="1572767" cy="192024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zek_tempura_corn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1775" y="2930347"/>
            <a:ext cx="1280159" cy="1655673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HANJIN · ZEK ·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24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B86"/>
                </a:solidFill>
                <a:latin typeface="Calibri"/>
              </a:rPr>
              <a:t>ZEK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6576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338" y="1225295"/>
            <a:ext cx="856802" cy="111556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12064" y="243230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2064" y="2542032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724911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Corn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3182111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Листи норі в хрусткому клярі темпура зі смаком солодкої кукурудзи. Пакет 30 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1206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8295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30,04 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1206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8295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39,54 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1206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$0,947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8295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42,60 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1206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214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$1,443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8295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64,94 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1460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zek_tempura_wasabi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2054" y="1225295"/>
            <a:ext cx="851051" cy="1115568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2660904" y="243230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660904" y="2542032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60904" y="2724911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Wasabi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60904" y="3182111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Норі в клярі темпура з васабі. Гострий варіант тієї самої лінійки, 30 г.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6090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460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266090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0098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$0,667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3179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30,04 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6090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0098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$0,879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3179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39,54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6090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266090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0098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$0,947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3179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42,60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6090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266090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0098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$1,443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3179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64,94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6344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5" name="Picture 54" descr="zek_tempura_mal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8018" y="1225295"/>
            <a:ext cx="856802" cy="1115568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4809744" y="243230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4809744" y="2542032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09744" y="2724911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Mala Crawfish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09744" y="3182111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Норі в темпурі з приправою мала — гостро-пряний китайський смак раків. 30 г.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0974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6344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80974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4982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063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30,04 ₴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80974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480974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4982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$0,879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8063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39,54 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0974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480974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4982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$0,947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8063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42,60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4982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$1,443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8063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64,94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81228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8" name="Picture 77" descr="zek_tempura_corn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3983" y="1225295"/>
            <a:ext cx="862552" cy="1115568"/>
          </a:xfrm>
          <a:prstGeom prst="rect">
            <a:avLst/>
          </a:prstGeom>
        </p:spPr>
      </p:pic>
      <p:sp>
        <p:nvSpPr>
          <p:cNvPr id="79" name="Rectangle 78"/>
          <p:cNvSpPr/>
          <p:nvPr/>
        </p:nvSpPr>
        <p:spPr>
          <a:xfrm>
            <a:off x="6958584" y="243230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6958584" y="2542032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958584" y="2724911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Corn · 50 г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958584" y="3182111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Кукурудзяна темпура у великому пакеті 50 г. Ціна за грам нижча, ніж у 30 г.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5858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81228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695858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9866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$1,009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12947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45,40 ₴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5858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695858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59866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$1,328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2947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59,77 ₴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95858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695858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59866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$1,431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12947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64,40 ₴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95858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695858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59866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$2,181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12947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98,16 ₴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7C8B86"/>
                </a:solidFill>
                <a:latin typeface="Calibri"/>
              </a:rPr>
              <a:t>Собівартість за одиницю товару. Джерело: SelfCost.xlsx, вкладка «ZEK -Retail».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HANJIN · ZEK ·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24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B86"/>
                </a:solidFill>
                <a:latin typeface="Calibri"/>
              </a:rPr>
              <a:t>ZEK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6576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zek_tempura_wasabi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338" y="1225295"/>
            <a:ext cx="856802" cy="111556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12064" y="243230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2064" y="2542032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724911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Wasabi · 50 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3182111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Темпура з васабі у пакеті 50 г — формат для домашнього споживання.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1206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$1,009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8295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45,40 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1206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$1,328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8295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59,77 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1206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$1,431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8295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64,40 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1206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214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$2,181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8295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98,16 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1460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zek_tempura_mala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929" y="1225295"/>
            <a:ext cx="845301" cy="1115568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2660904" y="243230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660904" y="2542032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60904" y="2724911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Mala · 50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60904" y="3182111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Темпура мала у пакеті 50 г. Замикає лінійку великих фасовок.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6090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460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266090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0098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$1,009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3179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45,40 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6090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0098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$1,328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3179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59,77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6090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266090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0098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$1,431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3179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64,40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6090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266090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0098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$2,181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3179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98,16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6344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5" name="Picture 54" descr="zek_sandwich_meat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0987" y="1225295"/>
            <a:ext cx="830865" cy="1115568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4809744" y="243230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4809744" y="2542032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09744" y="2724911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Meat Floss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09744" y="3182111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Два листи норі з прошарком сушеної м’ясної стружки між ними. Пакет 25 г.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0974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6344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80974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4982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$0,481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063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21,65 ₴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80974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480974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4982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$0,633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8063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28,51 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0974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480974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4982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$0,682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8063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30,71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4982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$1,040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8063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46,81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81228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8" name="Picture 77" descr="zek_sandwich_sesame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7989" y="1225295"/>
            <a:ext cx="814541" cy="1115568"/>
          </a:xfrm>
          <a:prstGeom prst="rect">
            <a:avLst/>
          </a:prstGeom>
        </p:spPr>
      </p:pic>
      <p:sp>
        <p:nvSpPr>
          <p:cNvPr id="79" name="Rectangle 78"/>
          <p:cNvSpPr/>
          <p:nvPr/>
        </p:nvSpPr>
        <p:spPr>
          <a:xfrm>
            <a:off x="6958584" y="243230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6958584" y="2542032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958584" y="2724911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Sesame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958584" y="3182111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Два листи норі з кунжутним прошарком. Вегетаріанський варіант сендвіча.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5858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81228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695858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9866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$0,481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12947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22,14 ₴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5858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695858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59866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$0,633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2947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29,14 ₴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95858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695858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59866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$0,682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12947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31,40 ₴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95858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695858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59866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$1,040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12947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47,85 ₴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7C8B86"/>
                </a:solidFill>
                <a:latin typeface="Calibri"/>
              </a:rPr>
              <a:t>Собівартість за одиницю товару. Джерело: SelfCost.xlsx, вкладка «ZEK -Retail».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HANJIN · ZEK ·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24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B86"/>
                </a:solidFill>
                <a:latin typeface="Calibri"/>
              </a:rPr>
              <a:t>ZEK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6576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zek_topping_chicken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99" y="1225295"/>
            <a:ext cx="826560" cy="111556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12064" y="243230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2064" y="2542032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724911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Chicken Floss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3182111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Подрібнена норі з курячою стружкою — присипка до рису та супів. Збагачена DHA.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1206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865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286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27,94 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1206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3865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6286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36,78 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1206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3865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$0,881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6286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39,63 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1206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3865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$1,342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6286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60,41 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3088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zek_topping_veg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9472" y="1225295"/>
            <a:ext cx="825055" cy="1115568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3377184" y="243230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377184" y="2542032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77184" y="2724911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Vegetables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77184" y="3182111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Норі-присипка з овочами. Паковання орієнтоване на дитячу аудиторію.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7718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3088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37718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0377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798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27,94 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7718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0377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$0,817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798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36,78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7718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37718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0377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$0,881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798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39,63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7718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37718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0377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$1,342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798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60,41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5" name="Picture 54" descr="zek_topping_sesame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8845" y="1225295"/>
            <a:ext cx="816549" cy="1115568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6242304" y="243230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242304" y="2542032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42304" y="2724911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Sesame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42304" y="3182111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Норі-присипка з кунжутом — базовий смак напрямку, без м’ясних добавок.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4230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9600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24230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6889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9310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28,56 ₴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4230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24230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6889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$0,817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9310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37,60 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4230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624230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6889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$0,881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9310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40,51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6889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$1,342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9310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61,75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7C8B86"/>
                </a:solidFill>
                <a:latin typeface="Calibri"/>
              </a:rPr>
              <a:t>Собівартість за одиницю товару. Джерело: SelfCost.xlsx, вкладка «ZEK -Retail».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HANJIN · ZEK ·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24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B86"/>
                </a:solidFill>
                <a:latin typeface="Calibri"/>
              </a:rPr>
              <a:t>ZEK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6576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zek_topping_veg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606" y="1225295"/>
            <a:ext cx="770546" cy="111556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12064" y="243230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2064" y="2542032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724911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Vegetables · 70 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3182111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Овочева присипка у великому пакеті 70 г. Розрахована на родину або HoReCa.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1206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865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$1,257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286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59,10 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1206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3865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$1,655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6286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77,79 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1206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3865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$1,783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6286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83,82 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1206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3865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$2,718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6286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127,76 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3088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zek_topping_sesame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851" y="1225295"/>
            <a:ext cx="776297" cy="1115568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3377184" y="243230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377184" y="2542032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77184" y="2724911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Sesame · 70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77184" y="3182111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Кунжутна присипка у пакеті 70 г — удвічі більший обсяг за той самий смак.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7718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3088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37718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0377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$1,257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798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60,35 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7718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0377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$1,655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798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79,45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7718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37718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0377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$1,783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798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85,60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7718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37718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0377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$2,718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798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130,48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5" name="Picture 54" descr="zek_topping_chicken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8971" y="1225295"/>
            <a:ext cx="776297" cy="1115568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6242304" y="243230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242304" y="2542032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42304" y="2724911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Chicken · 70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42304" y="3182111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Присипка з курячою стружкою, 70 г. Найдорожча позиція в розрахунку ZEK.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4230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9600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24230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6889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$1,257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9310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61,61 ₴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4230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24230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6889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$1,655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9310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81,10 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4230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624230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6889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$1,783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9310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87,38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6889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$2,718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9310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133,19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7C8B86"/>
                </a:solidFill>
                <a:latin typeface="Calibri"/>
              </a:rPr>
              <a:t>Собівартість за одиницю товару. Джерело: SelfCost.xlsx, вкладка «ZEK -Retail».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