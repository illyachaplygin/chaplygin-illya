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2286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286000" y="0"/>
            <a:ext cx="2286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0" y="0"/>
            <a:ext cx="2286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0" y="0"/>
            <a:ext cx="2286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548640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90">
                <a:solidFill>
                  <a:srgbClr val="C9A24E"/>
                </a:solidFill>
                <a:latin typeface="Calibri"/>
              </a:rPr>
              <a:t>ДОСЛІДЖЕННЯ РИНКУ ТА ПОЗИЦІОНУВАННЯ · ЖОВТЕНЬ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8412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4241F"/>
                </a:solidFill>
                <a:latin typeface="Cambria"/>
              </a:rPr>
              <a:t>Снеки з водоростей і рисові крекери</a:t>
            </a:r>
          </a:p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4241F"/>
                </a:solidFill>
                <a:latin typeface="Cambria"/>
              </a:rPr>
              <a:t>в Україні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66543"/>
            <a:ext cx="1005840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 i="0">
                <a:solidFill>
                  <a:srgbClr val="44524C"/>
                </a:solidFill>
                <a:latin typeface="Calibri"/>
              </a:rPr>
              <a:t>Хто вже стоїть на полиці, по чому продають і де в цій картині опиняється наш асортимент — 4 постачальники, 28 SKU.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54680"/>
            <a:ext cx="199339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1993391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5760" y="3300984"/>
            <a:ext cx="19933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241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630168"/>
            <a:ext cx="18470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реальні позиції</a:t>
            </a:r>
          </a:p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конкурентів знайдено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5456" y="3154680"/>
            <a:ext cx="199339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505456" y="3154680"/>
            <a:ext cx="1993391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05456" y="3300984"/>
            <a:ext cx="19933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241F"/>
                </a:solidFill>
                <a:latin typeface="Cambr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630168"/>
            <a:ext cx="18470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мереж</a:t>
            </a:r>
          </a:p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перевірено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3154680"/>
            <a:ext cx="199339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645152" y="3154680"/>
            <a:ext cx="1993391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45152" y="3300984"/>
            <a:ext cx="19933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241F"/>
                </a:solidFill>
                <a:latin typeface="Cambr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3630168"/>
            <a:ext cx="18470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мереж продають</a:t>
            </a:r>
          </a:p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категорію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4848" y="3154680"/>
            <a:ext cx="199339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784848" y="3154680"/>
            <a:ext cx="1993391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84848" y="3300984"/>
            <a:ext cx="19933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241F"/>
                </a:solidFill>
                <a:latin typeface="Cambria"/>
              </a:rP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30168"/>
            <a:ext cx="18470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SKU в нашому</a:t>
            </a:r>
          </a:p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асортименті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ОБСЯГ ДОСЛІДЖЕННЯ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Методологія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521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50" b="0" i="0">
                <a:solidFill>
                  <a:srgbClr val="44524C"/>
                </a:solidFill>
                <a:latin typeface="Calibri"/>
              </a:rPr>
              <a:t>На відміну від досліджень SIAS і готового рису, тут немає доступу до митної бази — обсяги імпорту категорії не показано. Дані нижче — відкритий моніторинг маркетплейсів і сайтів мереж, жовтень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405079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ЩО ЗРОБЛЕНО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Перевірено онлайн-каталоги 6 мереж: АТБ, Сільпо, Novus, Varus, Ашан, Metro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16352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Перевірено маркетплейси: Prom.ua, Rozetka, Bigl.ua, Allo.ua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Кожна знайдена позиція — з ціною, вагою, продавцем і каналом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50208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Власна собівартість → ціна партнеру → полиця — за формулою проєкту «Готовий рис» (той самий розподіл: бонус 25%, маржа 35%, націнка мережі +40%)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993392"/>
            <a:ext cx="405079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ЧОГО НЕМАЄ В ЦЬОМУ ДОСЛІДЖЕННІ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49424"/>
            <a:ext cx="40507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Митної бази (обсяги імпорту категорії) — на відміну від досліджень SIAS і рису, доступу до цих даних не було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926080"/>
            <a:ext cx="40507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Офлайн-перевірки полиць наживо — лише онлайн-каталоги мереж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602736"/>
            <a:ext cx="40507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Повного асортименту конкурентів — тільки те, що показує відкритий пошук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7448" y="4325112"/>
            <a:ext cx="4050791" cy="420624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37176" y="4398264"/>
            <a:ext cx="3831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1">
                <a:solidFill>
                  <a:srgbClr val="2D733C"/>
                </a:solidFill>
                <a:latin typeface="Calibri"/>
              </a:rPr>
              <a:t>Де написано «не знайдено» — йдеться про видимість в онлайн-пошуку, а не доведену відсутність на ринку.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ЩО ШУКАЛИ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Сегментація категорії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4069079" cy="3383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4069079" cy="54864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3504" y="1408176"/>
            <a:ext cx="3611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СЕГМЕНТ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591056"/>
            <a:ext cx="3611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41F"/>
                </a:solidFill>
                <a:latin typeface="Cambria"/>
              </a:rPr>
              <a:t>Приправлені снеки з водоростей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103120"/>
            <a:ext cx="3611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A938D"/>
                </a:solidFill>
                <a:latin typeface="Calibri"/>
              </a:rPr>
              <a:t>Відповідає TMK · KOKIRI та HanJin · ZEK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450592"/>
            <a:ext cx="1732787" cy="74980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2560320"/>
            <a:ext cx="17327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763C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07792"/>
            <a:ext cx="16230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бренди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4308" y="2450592"/>
            <a:ext cx="1732787" cy="74980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64308" y="2560320"/>
            <a:ext cx="17327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763C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172" y="2907792"/>
            <a:ext cx="16230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позиції з ціною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383280"/>
            <a:ext cx="35935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69" b="0" i="0">
                <a:solidFill>
                  <a:srgbClr val="44524C"/>
                </a:solidFill>
                <a:latin typeface="Calibri"/>
              </a:rPr>
              <a:t>Tao Kae Noi, AKURA (2 позиції), гуртова «Seaweed Traditional».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1188720"/>
            <a:ext cx="4069079" cy="3383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709159" y="1188720"/>
            <a:ext cx="4069079" cy="54864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46903" y="1408176"/>
            <a:ext cx="3611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35C15"/>
                </a:solidFill>
                <a:latin typeface="Calibri"/>
              </a:rPr>
              <a:t>СЕГМЕНТ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3" y="1591056"/>
            <a:ext cx="3611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41F"/>
                </a:solidFill>
                <a:latin typeface="Cambria"/>
              </a:rPr>
              <a:t>Рисові крекери в норі (арарe, сенбей)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3" y="2103120"/>
            <a:ext cx="3611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A938D"/>
                </a:solidFill>
                <a:latin typeface="Calibri"/>
              </a:rPr>
              <a:t>Відповідає Singha Kameda та Thai-Nichi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46903" y="2450592"/>
            <a:ext cx="1732787" cy="749808"/>
          </a:xfrm>
          <a:prstGeom prst="roundRect">
            <a:avLst>
              <a:gd name="adj" fmla="val 6000"/>
            </a:avLst>
          </a:prstGeom>
          <a:solidFill>
            <a:srgbClr val="F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46903" y="2560320"/>
            <a:ext cx="17327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B5F15"/>
                </a:solidFill>
                <a:latin typeface="Cambria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7" y="2907792"/>
            <a:ext cx="16230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брендів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07707" y="2450592"/>
            <a:ext cx="1732787" cy="749808"/>
          </a:xfrm>
          <a:prstGeom prst="roundRect">
            <a:avLst>
              <a:gd name="adj" fmla="val 6000"/>
            </a:avLst>
          </a:prstGeom>
          <a:solidFill>
            <a:srgbClr val="F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07707" y="2560320"/>
            <a:ext cx="17327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B5F15"/>
                </a:solidFill>
                <a:latin typeface="Cambria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2571" y="2907792"/>
            <a:ext cx="16230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позицій з ціною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3" y="3383280"/>
            <a:ext cx="35935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69" b="0" i="0">
                <a:solidFill>
                  <a:srgbClr val="44524C"/>
                </a:solidFill>
                <a:latin typeface="Calibri"/>
              </a:rPr>
              <a:t>Рисові крекери в норі (арарe, сенбей — категорія Singha Kameda і Thai-Nichi) на українському ринку не знайдено жодного разу — ні в мережах, ні на маркетплейсах. Порожня ніша або засліплена зона пошуку: перевірити наживо на полицях варто, перш ніж вважати ринок порожнім.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Джерело: відкритий моніторинг маркетплейсів і мереж, жовтень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СЕГМЕНТ A · ЗНАЙДЕНО В ВІДКРИТОМУ ПОШУКУ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Конкуренти · каталог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4 позиції · 3 бренди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965960" cy="32552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965960" cy="82296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1965960" cy="822960"/>
          </a:xfrm>
          <a:prstGeom prst="roundRect">
            <a:avLst>
              <a:gd name="adj" fmla="val 3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" y="1316736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41F"/>
                </a:solidFill>
                <a:latin typeface="Cambria"/>
              </a:rPr>
              <a:t>Tao Kae Noi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627632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A938D"/>
                </a:solidFill>
                <a:latin typeface="Calibri"/>
              </a:rPr>
              <a:t>Таїланд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139696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1565B"/>
                </a:solidFill>
                <a:latin typeface="Cambria"/>
              </a:rPr>
              <a:t>Big Roll Classic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596896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18 Г (6 × 3 Г)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" y="2871216"/>
            <a:ext cx="1673351" cy="512064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2064" y="2926080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41F"/>
                </a:solidFill>
                <a:latin typeface="Cambria"/>
              </a:rPr>
              <a:t>155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200400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база 163 ₴ · 8.6 ₴/г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493008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 i="0">
                <a:solidFill>
                  <a:srgbClr val="55595F"/>
                </a:solidFill>
                <a:latin typeface="Calibri"/>
              </a:rPr>
              <a:t>Маркетплейс (Prom.ua)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712464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8A938D"/>
                </a:solidFill>
                <a:latin typeface="Calibri"/>
              </a:rPr>
              <a:t>продавець: «Смак 24»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931920"/>
            <a:ext cx="167335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44524C"/>
                </a:solidFill>
                <a:latin typeface="Calibri"/>
              </a:rPr>
              <a:t>Єдиний світовий бренд категорії, знайдений на українському ринку.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1188720"/>
            <a:ext cx="1965960" cy="32552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514600" y="1188720"/>
            <a:ext cx="1965960" cy="82296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514600" y="1188720"/>
            <a:ext cx="1965960" cy="822960"/>
          </a:xfrm>
          <a:prstGeom prst="roundRect">
            <a:avLst>
              <a:gd name="adj" fmla="val 3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660904" y="1316736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41F"/>
                </a:solidFill>
                <a:latin typeface="Cambria"/>
              </a:rPr>
              <a:t>AKURA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4" y="1627632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A938D"/>
                </a:solidFill>
                <a:latin typeface="Calibri"/>
              </a:rPr>
              <a:t>імпорт, бренд сушi-аксесуарів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0904" y="2139696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1565B"/>
                </a:solidFill>
                <a:latin typeface="Cambria"/>
              </a:rPr>
              <a:t>Nori Chips Original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2596896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3 × 4,5 Г (13,5 Г)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60904" y="2871216"/>
            <a:ext cx="1673351" cy="512064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660904" y="2926080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41F"/>
                </a:solidFill>
                <a:latin typeface="Cambria"/>
              </a:rPr>
              <a:t>129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0904" y="3200400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база 167 ₴ · 9.6 ₴/г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60904" y="3493008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 i="0">
                <a:solidFill>
                  <a:srgbClr val="55595F"/>
                </a:solidFill>
                <a:latin typeface="Calibri"/>
              </a:rPr>
              <a:t>Маркетплейс (Rozetka, продавець Rozetka)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60904" y="3712464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8A938D"/>
                </a:solidFill>
                <a:latin typeface="Calibri"/>
              </a:rPr>
              <a:t>продавець: Rozetka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0904" y="3931920"/>
            <a:ext cx="167335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44524C"/>
                </a:solidFill>
                <a:latin typeface="Calibri"/>
              </a:rPr>
              <a:t>Той самий бренд, що й норі-листи для суші — вийшов і в снек-формат.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1188720"/>
            <a:ext cx="1965960" cy="32552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663440" y="1188720"/>
            <a:ext cx="1965960" cy="82296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663440" y="1188720"/>
            <a:ext cx="1965960" cy="822960"/>
          </a:xfrm>
          <a:prstGeom prst="roundRect">
            <a:avLst>
              <a:gd name="adj" fmla="val 3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9744" y="1316736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41F"/>
                </a:solidFill>
                <a:latin typeface="Cambria"/>
              </a:rPr>
              <a:t>AKURA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1627632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A938D"/>
                </a:solidFill>
                <a:latin typeface="Calibri"/>
              </a:rPr>
              <a:t>імпорт, бренд сушi-аксесуарів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9744" y="2139696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1565B"/>
                </a:solidFill>
                <a:latin typeface="Cambria"/>
              </a:rPr>
              <a:t>Nori Chips Kimchi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9744" y="2596896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3 × 4,5 Г (13,5 Г)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09744" y="2871216"/>
            <a:ext cx="1673351" cy="512064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809744" y="2926080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41F"/>
                </a:solidFill>
                <a:latin typeface="Cambria"/>
              </a:rPr>
              <a:t>89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3200400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база 167 ₴ · 6.6 ₴/г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9744" y="3493008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 i="0">
                <a:solidFill>
                  <a:srgbClr val="55595F"/>
                </a:solidFill>
                <a:latin typeface="Calibri"/>
              </a:rPr>
              <a:t>Маркетплейс (Rozetka, продавець Rozetka)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9744" y="3712464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8A938D"/>
                </a:solidFill>
                <a:latin typeface="Calibri"/>
              </a:rPr>
              <a:t>продавець: Rozetka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9744" y="3931920"/>
            <a:ext cx="167335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44524C"/>
                </a:solidFill>
                <a:latin typeface="Calibri"/>
              </a:rPr>
              <a:t>Акційна ціна — майже вдвічі нижче базової 167 ₴.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12280" y="1188720"/>
            <a:ext cx="1965960" cy="32552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812280" y="1188720"/>
            <a:ext cx="1965960" cy="82296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6812280" y="1188720"/>
            <a:ext cx="1965960" cy="822960"/>
          </a:xfrm>
          <a:prstGeom prst="roundRect">
            <a:avLst>
              <a:gd name="adj" fmla="val 3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958584" y="1316736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41F"/>
                </a:solidFill>
                <a:latin typeface="Cambria"/>
              </a:rPr>
              <a:t>Seaweed Traditional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1627632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A938D"/>
                </a:solidFill>
                <a:latin typeface="Calibri"/>
              </a:rPr>
              <a:t>AKURA · гурт/HoReCa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4" y="2139696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1565B"/>
                </a:solidFill>
                <a:latin typeface="Cambria"/>
              </a:rPr>
              <a:t>Опт / HoReCa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58584" y="2596896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72 × 4,5 Г (324 Г)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58584" y="2871216"/>
            <a:ext cx="1673351" cy="512064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958584" y="2926080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41F"/>
                </a:solidFill>
                <a:latin typeface="Cambria"/>
              </a:rPr>
              <a:t>1820 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58584" y="3200400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база 2600 ₴ · 5.6 ₴/г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58584" y="3493008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 i="0">
                <a:solidFill>
                  <a:srgbClr val="55595F"/>
                </a:solidFill>
                <a:latin typeface="Calibri"/>
              </a:rPr>
              <a:t>B2B-опт (Prom.ua)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58584" y="3712464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8A938D"/>
                </a:solidFill>
                <a:latin typeface="Calibri"/>
              </a:rPr>
              <a:t>продавець: «Exotic Food»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8584" y="3931920"/>
            <a:ext cx="167335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44524C"/>
                </a:solidFill>
                <a:latin typeface="Calibri"/>
              </a:rPr>
              <a:t>Гуртова/ресторанна ціна — довідково, не роздрібна полиця.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Ціни й продавці — як показані на момент перевірки, жовтень 2026.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КАНАЛИ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Де продається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52144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 i="0">
                <a:solidFill>
                  <a:srgbClr val="44524C"/>
                </a:solidFill>
                <a:latin typeface="Calibri"/>
              </a:rPr>
              <a:t>У каталогах шести перевірених мереж приправлений снек з водоростей не знайдено — там є лише листи норі для суші (інша категорія, інше використання). Категорія живе на маркетплейсах: Prom.ua, Rozetka (продавець-маркетплейс), Bigl.ua, Allo.ua.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23822"/>
                </a:solidFill>
                <a:latin typeface="Calibri"/>
              </a:rPr>
              <a:t>ПЕРЕВІРЕНІ МЕРЕЖІ · ПОЗИЦІЙ КАТЕГОРІЇ ЗНАЙДЕНО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39696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АТБ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23433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514600" y="223433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29448" y="2139696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90216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Сільпо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258485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514600" y="258485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29448" y="2490216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40736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Novus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293537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514600" y="293537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29448" y="2840736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191256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Varus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328589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514600" y="328589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629448" y="3191256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541775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Ашан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363641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2514600" y="363641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629448" y="3541775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892295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Metro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398693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514600" y="398693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29448" y="3892295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1920240"/>
            <a:ext cx="32918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23822"/>
                </a:solidFill>
                <a:latin typeface="Calibri"/>
              </a:rPr>
              <a:t>ДЕ КАТЕГОРІЯ РЕАЛЬНО 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194560"/>
            <a:ext cx="32918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0" y="2194560"/>
            <a:ext cx="45720" cy="6766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50992" y="22860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241F"/>
                </a:solidFill>
                <a:latin typeface="Cambria"/>
              </a:rPr>
              <a:t>Prom.ua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254203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0" i="0">
                <a:solidFill>
                  <a:srgbClr val="8A938D"/>
                </a:solidFill>
                <a:latin typeface="Calibri"/>
              </a:rPr>
              <a:t>маркетплейс · найбільше позицій знайдено тут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2999232"/>
            <a:ext cx="32918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0" y="2999232"/>
            <a:ext cx="45720" cy="6766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650992" y="309067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241F"/>
                </a:solidFill>
                <a:latin typeface="Cambria"/>
              </a:rPr>
              <a:t>Rozetka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0992" y="334670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0" i="0">
                <a:solidFill>
                  <a:srgbClr val="8A938D"/>
                </a:solidFill>
                <a:latin typeface="Calibri"/>
              </a:rPr>
              <a:t>маркетплейс · продавець — сама Rozetka (AKURA)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3803904"/>
            <a:ext cx="32918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486400" y="3803904"/>
            <a:ext cx="45720" cy="6766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650992" y="3895344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241F"/>
                </a:solidFill>
                <a:latin typeface="Cambria"/>
              </a:rPr>
              <a:t>Bigl.ua / Allo.ua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0992" y="415137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0" i="0">
                <a:solidFill>
                  <a:srgbClr val="8A938D"/>
                </a:solidFill>
                <a:latin typeface="Calibri"/>
              </a:rPr>
              <a:t>маркетплейси · перевірено, окремих позицій не зафіксовано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ПОЗИЦІОНУВАННЯ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Ціна за грам — конкуренти проти нашого асортименту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TMK · KOKIRI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6436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медіана полиці · 10 SKU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350503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880360" y="1350503"/>
            <a:ext cx="4490357" cy="213316"/>
          </a:xfrm>
          <a:prstGeom prst="roundRect">
            <a:avLst>
              <a:gd name="adj" fmla="val 4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43869" y="1225296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D733C"/>
                </a:solidFill>
                <a:latin typeface="Cambria"/>
              </a:rPr>
              <a:t>12.1 ₴/г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89027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AKURA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30167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Nori Chips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814234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880360" y="1814234"/>
            <a:ext cx="3540617" cy="213316"/>
          </a:xfrm>
          <a:prstGeom prst="roundRect">
            <a:avLst>
              <a:gd name="adj" fmla="val 4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4129" y="1689027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65A60"/>
                </a:solidFill>
                <a:latin typeface="Cambria"/>
              </a:rPr>
              <a:t>9.6 ₴/г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152758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Tao Kae Noi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393899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Big Roll Classic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277966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880360" y="2277966"/>
            <a:ext cx="3187584" cy="213316"/>
          </a:xfrm>
          <a:prstGeom prst="roundRect">
            <a:avLst>
              <a:gd name="adj" fmla="val 4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41096" y="2152758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65A60"/>
                </a:solidFill>
                <a:latin typeface="Cambria"/>
              </a:rPr>
              <a:t>8.6 ₴/г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616490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AKURA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57630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Nori Chips Kimchi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2741697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880360" y="2741697"/>
            <a:ext cx="2442751" cy="213316"/>
          </a:xfrm>
          <a:prstGeom prst="roundRect">
            <a:avLst>
              <a:gd name="adj" fmla="val 4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96263" y="2616490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65A60"/>
                </a:solidFill>
                <a:latin typeface="Cambria"/>
              </a:rPr>
              <a:t>6.6 ₴/г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080221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Singha Kameda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321362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медіана полиці · 2 SKU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3205429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880360" y="3205429"/>
            <a:ext cx="1687454" cy="213316"/>
          </a:xfrm>
          <a:prstGeom prst="roundRect">
            <a:avLst>
              <a:gd name="adj" fmla="val 4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40966" y="3080221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A65D15"/>
                </a:solidFill>
                <a:latin typeface="Cambria"/>
              </a:rPr>
              <a:t>4.6 ₴/г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543953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HanJin · ZEK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785093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медіана полиці · 14 SKU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3669160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880360" y="3669160"/>
            <a:ext cx="1322272" cy="213316"/>
          </a:xfrm>
          <a:prstGeom prst="roundRect">
            <a:avLst>
              <a:gd name="adj" fmla="val 4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275784" y="3543953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A53822"/>
                </a:solidFill>
                <a:latin typeface="Cambria"/>
              </a:rPr>
              <a:t>3.6 ₴/г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007684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Thai-Nichi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248824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медіана полиці · 2 SKU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4132892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880360" y="4132892"/>
            <a:ext cx="1156899" cy="213316"/>
          </a:xfrm>
          <a:prstGeom prst="roundRect">
            <a:avLst>
              <a:gd name="adj" fmla="val 4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110411" y="4007684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C575E"/>
                </a:solidFill>
                <a:latin typeface="Cambria"/>
              </a:rPr>
              <a:t>3.1 ₴/г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Наша ціна — розрахункова полиця за формулою нижче, не чинний прайс. Конкуренти — реальні ціни з відкритого пошуку.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З ЧОГО СКЛАДАЄТЬСЯ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Ціноутворення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713B"/>
                </a:solidFill>
                <a:latin typeface="Calibri"/>
              </a:rPr>
              <a:t>ЦІНА ПАРТНЕРУ — ЗА НЕЮ МИ ПРОДАЄМО МЕРЕЖІ (100 %)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364991" cy="420624"/>
          </a:xfrm>
          <a:prstGeom prst="roundRect">
            <a:avLst>
              <a:gd name="adj" fmla="val 3000"/>
            </a:avLst>
          </a:prstGeom>
          <a:solidFill>
            <a:srgbClr val="549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3364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Собівартість 40%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0752" y="1371600"/>
            <a:ext cx="2103120" cy="420624"/>
          </a:xfrm>
          <a:prstGeom prst="roundRect">
            <a:avLst>
              <a:gd name="adj" fmla="val 3000"/>
            </a:avLst>
          </a:prstGeom>
          <a:solidFill>
            <a:srgbClr val="8DB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30752" y="1371600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Бонус мережі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872" y="1371600"/>
            <a:ext cx="2944368" cy="420624"/>
          </a:xfrm>
          <a:prstGeom prst="roundRect">
            <a:avLst>
              <a:gd name="adj" fmla="val 3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833872" y="1371600"/>
            <a:ext cx="29443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Наша маржа 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83664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8A938D"/>
                </a:solidFill>
                <a:latin typeface="Calibri"/>
              </a:rPr>
              <a:t>ПОЛИЦЯ = ціна партнеру × 1.40. Бонус 25% і маржа 35% — частки ціни партнеру; націнка мережі 40% — понад ціну партнеру.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212848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ТОВАР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212848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СС,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212848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ПАРТНЕР,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21284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БОНУС,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212848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ПРИБУТОК,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212848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ПОЛИЦЯ, 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95728"/>
            <a:ext cx="5779008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246888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241F"/>
                </a:solidFill>
                <a:latin typeface="Cambria"/>
              </a:rPr>
              <a:t>Arare Norimaki Original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468880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54.6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2468880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136.6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2468880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34.2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468880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47.8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2468880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65D15"/>
                </a:solidFill>
                <a:latin typeface="Cambria"/>
              </a:rPr>
              <a:t>191.3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779776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241F"/>
                </a:solidFill>
                <a:latin typeface="Cambria"/>
              </a:rPr>
              <a:t>Norimaki Original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2779776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42.5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7208" y="2779776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106.2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888" y="27797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26.6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2779776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37.2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2779776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C575E"/>
                </a:solidFill>
                <a:latin typeface="Cambria"/>
              </a:rPr>
              <a:t>148.7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090672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241F"/>
                </a:solidFill>
                <a:latin typeface="Cambria"/>
              </a:rPr>
              <a:t>Wow ROLL Original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090672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9.5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7208" y="3090672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23.8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3090672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5.9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3090672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8.3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3090672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2D733C"/>
                </a:solidFill>
                <a:latin typeface="Cambria"/>
              </a:rPr>
              <a:t>33.3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40156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241F"/>
                </a:solidFill>
                <a:latin typeface="Cambria"/>
              </a:rPr>
              <a:t>Tempura Seaweed Corn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3401568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33.9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7208" y="3401568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84.7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5888" y="340156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21.2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3401568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29.7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6088" y="3401568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53822"/>
                </a:solidFill>
                <a:latin typeface="Cambria"/>
              </a:rPr>
              <a:t>118.6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СС — Self_Cost (SelfCost_Snacks.xlsx, найдешевший контейнерний сценарій). Формула — як у проєкті «Готовий рис».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РОЗРАХУНКОВА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Полиця — Singha Kameda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2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ФАСОВКА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СС,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ПАРТНЕР,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ПОЛИЦЯ,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ПОЛИЦЯ, ₴/Г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89888"/>
            <a:ext cx="7406640" cy="9144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81328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Arare Norimaki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42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81328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54.65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136.6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65D15"/>
                </a:solidFill>
                <a:latin typeface="Calibri"/>
              </a:rPr>
              <a:t>191.3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4.55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32788"/>
            <a:ext cx="7406640" cy="269748"/>
          </a:xfrm>
          <a:prstGeom prst="rect">
            <a:avLst/>
          </a:prstGeom>
          <a:solidFill>
            <a:srgbClr val="FB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751076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Arare Norimaki Wasabi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42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51076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54.65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136.6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65D15"/>
                </a:solidFill>
                <a:latin typeface="Calibri"/>
              </a:rPr>
              <a:t>191.3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4.55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295144"/>
            <a:ext cx="7406640" cy="512064"/>
          </a:xfrm>
          <a:prstGeom prst="roundRect">
            <a:avLst>
              <a:gd name="adj" fmla="val 6000"/>
            </a:avLst>
          </a:prstGeom>
          <a:solidFill>
            <a:srgbClr val="F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0352" y="2386584"/>
            <a:ext cx="7077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A65D15"/>
                </a:solidFill>
                <a:latin typeface="Calibri"/>
              </a:rPr>
              <a:t>Медіана полиці — 4.6 ₴/г, це на 47% дешевше за медіану знайдених конкурентів (8.6 ₴/г).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Партнер і полиця — за формулою «Собівартість → партнер → полиця» (бонус 25%, маржа 35%, націнка +40%). Собівартість — найдешевший контейнерний сценарій із SelfCost_Snacks.xlsx.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РОЗРАХУНКОВА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Полиця — Thai-Nichi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2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ФАСОВКА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СС,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ПАРТНЕР,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ПОЛИЦЯ,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ПОЛИЦЯ, ₴/Г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89888"/>
            <a:ext cx="7406640" cy="9144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81328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Norimaki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81328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42.49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106.2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C575E"/>
                </a:solidFill>
                <a:latin typeface="Calibri"/>
              </a:rPr>
              <a:t>148.7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2.97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32788"/>
            <a:ext cx="7406640" cy="269748"/>
          </a:xfrm>
          <a:prstGeom prst="rect">
            <a:avLst/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751076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Norimaki Wasabi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51076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51.39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128.5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C575E"/>
                </a:solidFill>
                <a:latin typeface="Calibri"/>
              </a:rPr>
              <a:t>179.9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295144"/>
            <a:ext cx="7406640" cy="512064"/>
          </a:xfrm>
          <a:prstGeom prst="roundRect">
            <a:avLst>
              <a:gd name="adj" fmla="val 6000"/>
            </a:avLst>
          </a:prstGeom>
          <a:solidFill>
            <a:srgbClr val="EB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0352" y="2386584"/>
            <a:ext cx="7077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1C575E"/>
                </a:solidFill>
                <a:latin typeface="Calibri"/>
              </a:rPr>
              <a:t>Медіана полиці — 3.1 ₴/г, це на 64% дешевше за медіану знайдених конкурентів (8.6 ₴/г).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Партнер і полиця — за формулою «Собівартість → партнер → полиця» (бонус 25%, маржа 35%, націнка +40%). Собівартість — найдешевший контейнерний сценарій із SelfCost_Snacks.xlsx.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РОЗРАХУНКОВА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Полиця — TMK · KOKIRI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10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ФАСОВКА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СС,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ПАРТНЕР,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ПОЛИЦЯ,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ПОЛИЦЯ, ₴/Г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89888"/>
            <a:ext cx="7406640" cy="9144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81328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ROLL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2,5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81328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9.51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23.8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33.3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13.31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32788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751076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ROLL Hot Spicy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2,5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51076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9.51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23.8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33.3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13.31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020824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ROLL Spicy Squid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020824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2,5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020824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9.51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2020824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23.8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020824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33.3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020824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13.31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272284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5760" y="2290572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DOUBLE ROLL Original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2290572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5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2290572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17.07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290572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42.7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2290572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59.7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290572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11.95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2560320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DOUBLE ROLL Hot Spicy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2560320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5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2560320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17.07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2560320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42.7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2560320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59.7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560320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11.95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811779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65760" y="2830068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SEAWEED Original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283006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12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0520" y="2830068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34.86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283006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87.1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283006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122.0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283006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10.17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099815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SEAWEED Spicy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3099815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12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3099815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34.86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2040" y="3099815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87.1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3099815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122.0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099815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10.17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351275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65760" y="3369563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SEAWEED Squid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3369563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12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3369563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35.64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2040" y="3369563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89.1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3369563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124.7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3369563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10.39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3639311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MINI Original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3639311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3639311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35.11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92040" y="3639311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87.8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3639311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122.9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3639311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12.29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890772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65760" y="3909059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MINI Hot Spicy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8960" y="3909059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10 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0520" y="3909059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35.11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3909059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87.8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06440" y="3909059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122.9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0840" y="3909059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12.29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Партнер і полиця — за формулою «Собівартість → партнер → полиця» (бонус 25%, маржа 35%, націнка +40%). Собівартість — найдешевший контейнерний сценарій із SelfCost_Snacks.xlsx.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РОЗРАХУНКОВА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Полиця — HanJin · ZEK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14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ФАСОВКА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СС,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ПАРТНЕР,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ПОЛИЦЯ,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ПОЛИЦЯ, ₴/Г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89888"/>
            <a:ext cx="7406640" cy="9144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81328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81328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33.90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81328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84.7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81328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118.6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3.95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683802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702090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Wasabi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702090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02090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33.90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02090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84.7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02090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118.6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02090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1922852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Mala Crawfish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1922852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1922852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33.90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1922852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84.7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1922852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118.6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1922852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3.95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125326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5760" y="2143614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Corn · 50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2143614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2143614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51.25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143614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128.1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2143614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179.4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143614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2364377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Wasabi · 50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2364377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2364377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51.25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2364377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128.1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2364377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179.4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364377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566851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65760" y="2585139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Mala · 50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2585139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0520" y="2585139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51.25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2585139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128.1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2585139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179.4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2585139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2805901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Sandwich Seaweed Meat Floss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2805901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25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2805901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25.49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2040" y="2805901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2805901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89.2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2805901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008376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65760" y="3026664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Sandwich Seaweed Sesame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3026664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25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3026664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25.49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2040" y="3026664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3026664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89.2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3026664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3247426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Chicken Floss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3247426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35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3247426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32.88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92040" y="3247426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82.2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3247426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115.1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3247426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3.29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449900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65760" y="3468188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Vegetables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8960" y="3468188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35 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0520" y="3468188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31.54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3468188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78.8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06440" y="3468188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110.4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0840" y="3468188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3688950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Sesame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08960" y="3688950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35 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60520" y="3688950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31.54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92040" y="3688950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78.8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06440" y="3688950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110.4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20840" y="3688950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3891425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365760" y="3909713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Vegetables · 70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08960" y="3909713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70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60520" y="3909713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63.86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92040" y="3909713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159.6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06440" y="3909713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223.5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20840" y="3909713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4130475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Sesame · 70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08960" y="4130475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70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60520" y="4130475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63.86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92040" y="4130475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159.6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06440" y="4130475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223.5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20840" y="4130475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5760" y="4332949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365760" y="4351237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Chicken · 70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08960" y="4351237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70 г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60520" y="4351237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63.86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92040" y="4351237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159.6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806440" y="4351237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223.5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720840" y="4351237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Партнер і полиця — за формулою «Собівартість → партнер → полиця» (бонус 25%, маржа 35%, націнка +40%). Собівартість — найдешевший контейнерний сценарій із SelfCost_Snacks.xlsx.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ХТО З КИМ СТОЇТЬ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Позиціонування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A938D"/>
                </a:solidFill>
                <a:latin typeface="Calibri"/>
              </a:rPr>
              <a:t>Медіанна полиця кожного постачальника поруч із реальними конкурентами, ₴ за грам.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23360"/>
            <a:ext cx="8046719" cy="12801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301099" y="3881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345905" y="3931920"/>
            <a:ext cx="10972" cy="91439"/>
          </a:xfrm>
          <a:prstGeom prst="rect">
            <a:avLst/>
          </a:prstGeom>
          <a:solidFill>
            <a:srgbClr val="99B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34171" y="36576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1C565C"/>
                </a:solidFill>
                <a:latin typeface="Calibri"/>
              </a:rPr>
              <a:t>Thai-Nichi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4171" y="3803904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3.1 ₴/г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8793" y="31379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603598" y="3188208"/>
            <a:ext cx="10972" cy="835151"/>
          </a:xfrm>
          <a:prstGeom prst="rect">
            <a:avLst/>
          </a:prstGeom>
          <a:solidFill>
            <a:srgbClr val="DC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91865" y="29138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A23822"/>
                </a:solidFill>
                <a:latin typeface="Calibri"/>
              </a:rPr>
              <a:t>HanJin · ZEK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1865" y="306019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3.6 ₴/г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7841" y="23942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72647" y="2444496"/>
            <a:ext cx="10972" cy="1578864"/>
          </a:xfrm>
          <a:prstGeom prst="rect">
            <a:avLst/>
          </a:prstGeom>
          <a:solidFill>
            <a:srgbClr val="DDB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560913" y="217017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A35C15"/>
                </a:solidFill>
                <a:latin typeface="Calibri"/>
              </a:rPr>
              <a:t>Singha Kameda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913" y="231648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4.6 ₴/г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4792" y="3881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49597" y="3931920"/>
            <a:ext cx="10972" cy="91439"/>
          </a:xfrm>
          <a:prstGeom prst="rect">
            <a:avLst/>
          </a:prstGeom>
          <a:solidFill>
            <a:srgbClr val="B6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737864" y="36576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55595F"/>
                </a:solidFill>
                <a:latin typeface="Calibri"/>
              </a:rPr>
              <a:t>AKURA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7864" y="3803904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6.6 ₴/г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65436" y="31379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510242" y="3188208"/>
            <a:ext cx="10972" cy="835151"/>
          </a:xfrm>
          <a:prstGeom prst="rect">
            <a:avLst/>
          </a:prstGeom>
          <a:solidFill>
            <a:srgbClr val="B6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898508" y="29138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55595F"/>
                </a:solidFill>
                <a:latin typeface="Calibri"/>
              </a:rPr>
              <a:t>Tao Kae Noi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8508" y="306019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8.6 ₴/г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15553" y="3881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060359" y="3931920"/>
            <a:ext cx="10972" cy="91439"/>
          </a:xfrm>
          <a:prstGeom prst="rect">
            <a:avLst/>
          </a:prstGeom>
          <a:solidFill>
            <a:srgbClr val="B6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48625" y="36576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55595F"/>
                </a:solidFill>
                <a:latin typeface="Calibri"/>
              </a:rPr>
              <a:t>AKURA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8625" y="3803904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9.6 ₴/г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5495" y="3881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540301" y="3931920"/>
            <a:ext cx="10972" cy="91439"/>
          </a:xfrm>
          <a:prstGeom prst="rect">
            <a:avLst/>
          </a:prstGeom>
          <a:solidFill>
            <a:srgbClr val="A1C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928567" y="36576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2C713B"/>
                </a:solidFill>
                <a:latin typeface="Calibri"/>
              </a:rPr>
              <a:t>TMK · KOKIRI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8567" y="3803904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12.1 ₴/г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00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57984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837943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7327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447287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76671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56631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86015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665975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59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75319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242816"/>
            <a:ext cx="80467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8A938D"/>
                </a:solidFill>
                <a:latin typeface="Calibri"/>
              </a:rPr>
              <a:t>₴ / 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370832"/>
            <a:ext cx="8412480" cy="384048"/>
          </a:xfrm>
          <a:prstGeom prst="roundRect">
            <a:avLst>
              <a:gd name="adj" fmla="val 5000"/>
            </a:avLst>
          </a:prstGeom>
          <a:solidFill>
            <a:srgbClr val="F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2064" y="4434840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A53822"/>
                </a:solidFill>
                <a:latin typeface="Calibri"/>
              </a:rPr>
              <a:t>ZEK і рисові крекери (Singha, Thai-Nichi) виходять на 2–2,5× дешевше за знайдених конкурентів. Малі пакетики TMK · KOKIRI (2,5–12 г) — навпаки, дорожчі за грам, ніж AKURA і Tao Kae Noi: фіксована логістика на маленький пакетик з’їдає перевагу в собівартості.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ЯКА ПОЛИЦЯ ПРИ ІНШІЙ МАРЖІ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Чутливість маржі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бонус мережі незмінний —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1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783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15%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08176"/>
            <a:ext cx="8412480" cy="9144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99616"/>
            <a:ext cx="22768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4241F"/>
                </a:solidFill>
                <a:latin typeface="Calibri"/>
              </a:rPr>
              <a:t>Arare Norimaki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C565C"/>
                </a:solidFill>
                <a:latin typeface="Cambria"/>
              </a:rPr>
              <a:t>191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170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3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153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139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128 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74520"/>
            <a:ext cx="8412480" cy="402336"/>
          </a:xfrm>
          <a:prstGeom prst="rect">
            <a:avLst/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901952"/>
            <a:ext cx="22768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4241F"/>
                </a:solidFill>
                <a:latin typeface="Calibri"/>
              </a:rPr>
              <a:t>Norimaki Original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C565C"/>
                </a:solidFill>
                <a:latin typeface="Cambria"/>
              </a:rPr>
              <a:t>149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1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132 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119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108 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99 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304288"/>
            <a:ext cx="22768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4241F"/>
                </a:solidFill>
                <a:latin typeface="Calibri"/>
              </a:rPr>
              <a:t>Wow ROLL Original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79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C565C"/>
                </a:solidFill>
                <a:latin typeface="Cambria"/>
              </a:rPr>
              <a:t>33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3631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30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27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24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22 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679192"/>
            <a:ext cx="8412480" cy="402336"/>
          </a:xfrm>
          <a:prstGeom prst="rect">
            <a:avLst/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5760" y="2706624"/>
            <a:ext cx="22768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4241F"/>
                </a:solidFill>
                <a:latin typeface="Calibri"/>
              </a:rPr>
              <a:t>Tempura Seaweed Corn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C565C"/>
                </a:solidFill>
                <a:latin typeface="Cambria"/>
              </a:rPr>
              <a:t>119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1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105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9783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95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86 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088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79 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Кожен товар — у своєму найдешевшому контейнерному сценарії. 35% — базова маржа цього дослідження (виділена колонка).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ЩО З ЦИМ РОБИТИ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Висновки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A53822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188720"/>
            <a:ext cx="7991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Категорія майже порожня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481328"/>
            <a:ext cx="7991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Приправлені снеки з водоростей — лише 3 бренди, 4 позиції на весь відкритий ринок; рисові крекери в норі — 0. Жодна з 6 перевірених мереж не продає категорію взагалі.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A53822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084831"/>
            <a:ext cx="7991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ZEK і рисові крекери — дешевше за ринок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377439"/>
            <a:ext cx="7991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Розрахункова полиця ZEK, Singha Kameda і Thai-Nichi виходить у 2–2,5 рази нижче знайдених конкурентів за грам — є запас і на маржу, і на вхід у мережу.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992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5760" y="29992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A53822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80944"/>
            <a:ext cx="7991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Малі пакетики TMK · KOKIRI потребують перегляду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73551"/>
            <a:ext cx="7991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Формат 2,5–12 г програє конкурентам за ціною на грам через фіксовану логістику на одиницю — варто рахувати більші фасовки або інший контейнерний сценарій.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953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5760" y="38953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A53822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877056"/>
            <a:ext cx="7991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Де шукати конкурентів офлайн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169663"/>
            <a:ext cx="7991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AKURA (продавець — сама Rozetka) і Tao Kae Noi — єдині реальні орієнтири. Обидва живуть на маркетплейсах, не в мережах: вхід через мережу був би першим для категорії.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