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7" r:id="rId2"/>
    <p:sldId id="270" r:id="rId3"/>
    <p:sldId id="271" r:id="rId4"/>
    <p:sldId id="276" r:id="rId13"/>
    <p:sldId id="277" r:id="rId14"/>
    <p:sldId id="278" r:id="rId15"/>
    <p:sldId id="279" r:id="rId16"/>
    <p:sldId id="280" r:id="rId17"/>
    <p:sldId id="281" r:id="rId18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1DA6E6-9EB2-3BAB-95B1-DE179EB725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Підзаголовок 2">
            <a:extLst>
              <a:ext uri="{FF2B5EF4-FFF2-40B4-BE49-F238E27FC236}">
                <a16:creationId xmlns:a16="http://schemas.microsoft.com/office/drawing/2014/main" id="{3ED07741-9BC5-0AE9-8378-986B6D9295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uk-UA"/>
              <a:t>Клацніть, щоб редагувати стиль зразка підзаголовка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8AAE7E29-3067-D32E-828D-76FA5FDC7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FDE0E5CE-54FB-3FE8-8D03-956E35CA5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7F9B3BCC-4D54-C3B1-D9E6-05951CF4D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98701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Назва та вмі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CBE3EE-1666-26AD-347B-D30A7A2D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4F41AE54-E309-620D-4E19-6A3FEDBE0B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4098D52A-A2D7-0823-BDA3-70AFD52C4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1C2B269D-ABC8-663E-8F10-99C61C22B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E8510476-D1A4-5971-C33F-A5C36E0A7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445805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Назва розділ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71B52B-1C12-761C-94E5-533C7DA70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EB5768A3-F52B-8CE1-6BDF-C25178717D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5BAB9723-0ACE-3999-2457-5F1D59A045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4C34974D-EB5D-0F8B-769F-C5D556B53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3167DCF8-668A-D66C-9E18-D03CA9891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424034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’єкт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2CD7D9-CD95-33AC-FC7D-333020230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AEC41CB3-20BE-F90E-0EE7-7C6E2AC040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вмісту 3">
            <a:extLst>
              <a:ext uri="{FF2B5EF4-FFF2-40B4-BE49-F238E27FC236}">
                <a16:creationId xmlns:a16="http://schemas.microsoft.com/office/drawing/2014/main" id="{8C9CC7D0-61BB-367D-C2A6-E71B64E1D3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B3BDF98F-16E1-0532-3FB1-06C97E08F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1D9DD589-135F-E9E1-0F83-9839E00F6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B23B596C-BDA0-5445-BCF0-5C5595DB5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392707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Порівнянн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2CB07F-0055-FB84-9D82-BECF085AB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D3A5F88D-9CCE-060D-7387-64B828019D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Місце для вмісту 3">
            <a:extLst>
              <a:ext uri="{FF2B5EF4-FFF2-40B4-BE49-F238E27FC236}">
                <a16:creationId xmlns:a16="http://schemas.microsoft.com/office/drawing/2014/main" id="{A14787DB-BC20-40D9-B8CB-AD82C62CA9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5" name="Місце для тексту 4">
            <a:extLst>
              <a:ext uri="{FF2B5EF4-FFF2-40B4-BE49-F238E27FC236}">
                <a16:creationId xmlns:a16="http://schemas.microsoft.com/office/drawing/2014/main" id="{1753520A-754A-E833-D4CC-E1E98B297C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6" name="Місце для вмісту 5">
            <a:extLst>
              <a:ext uri="{FF2B5EF4-FFF2-40B4-BE49-F238E27FC236}">
                <a16:creationId xmlns:a16="http://schemas.microsoft.com/office/drawing/2014/main" id="{CDD84BEB-9AE7-077A-4291-FD0CD79A69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7" name="Місце для дати 6">
            <a:extLst>
              <a:ext uri="{FF2B5EF4-FFF2-40B4-BE49-F238E27FC236}">
                <a16:creationId xmlns:a16="http://schemas.microsoft.com/office/drawing/2014/main" id="{95ACD8DC-1D27-3EDC-0727-FB4944D4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8" name="Місце для нижнього колонтитула 7">
            <a:extLst>
              <a:ext uri="{FF2B5EF4-FFF2-40B4-BE49-F238E27FC236}">
                <a16:creationId xmlns:a16="http://schemas.microsoft.com/office/drawing/2014/main" id="{29AAAF76-CFD6-EF90-793D-198FB2E14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Місце для номера слайда 8">
            <a:extLst>
              <a:ext uri="{FF2B5EF4-FFF2-40B4-BE49-F238E27FC236}">
                <a16:creationId xmlns:a16="http://schemas.microsoft.com/office/drawing/2014/main" id="{C66930F5-42CF-5131-8455-AD4C6E9DA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633464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Лише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53CC269-B26D-AA46-18CE-5DB5E9C32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дати 2">
            <a:extLst>
              <a:ext uri="{FF2B5EF4-FFF2-40B4-BE49-F238E27FC236}">
                <a16:creationId xmlns:a16="http://schemas.microsoft.com/office/drawing/2014/main" id="{350AFC74-858D-7F4E-F45B-DE9B162FC1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4" name="Місце для нижнього колонтитула 3">
            <a:extLst>
              <a:ext uri="{FF2B5EF4-FFF2-40B4-BE49-F238E27FC236}">
                <a16:creationId xmlns:a16="http://schemas.microsoft.com/office/drawing/2014/main" id="{73F01596-4C9D-D993-399C-380D01EAD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5" name="Місце для номера слайда 4">
            <a:extLst>
              <a:ext uri="{FF2B5EF4-FFF2-40B4-BE49-F238E27FC236}">
                <a16:creationId xmlns:a16="http://schemas.microsoft.com/office/drawing/2014/main" id="{CA32DABC-ABAE-86F1-090C-E2253FA53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7124361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дати 1">
            <a:extLst>
              <a:ext uri="{FF2B5EF4-FFF2-40B4-BE49-F238E27FC236}">
                <a16:creationId xmlns:a16="http://schemas.microsoft.com/office/drawing/2014/main" id="{FF206C58-6C2D-590B-F23D-8F44728F1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3" name="Місце для нижнього колонтитула 2">
            <a:extLst>
              <a:ext uri="{FF2B5EF4-FFF2-40B4-BE49-F238E27FC236}">
                <a16:creationId xmlns:a16="http://schemas.microsoft.com/office/drawing/2014/main" id="{DA1B7FFE-A01C-480F-CB3D-F3D3CBE5E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Місце для номера слайда 3">
            <a:extLst>
              <a:ext uri="{FF2B5EF4-FFF2-40B4-BE49-F238E27FC236}">
                <a16:creationId xmlns:a16="http://schemas.microsoft.com/office/drawing/2014/main" id="{D87CBDF8-64A3-AA68-7D64-2F5482C1B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7622137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Вміст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F3B2F5-DCE8-FB3B-4C8A-94254E2D2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DD74E910-0E58-FFCC-B784-267D8C3A2B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тексту 3">
            <a:extLst>
              <a:ext uri="{FF2B5EF4-FFF2-40B4-BE49-F238E27FC236}">
                <a16:creationId xmlns:a16="http://schemas.microsoft.com/office/drawing/2014/main" id="{AD01BE98-AAE9-630B-22F5-DA212876B2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F9035C50-D122-6666-E0AC-AC821F927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216F5A72-4B15-352A-5E3D-82DE914D5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7D5593EC-5870-F12B-71D1-B206B2DDA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082633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D41685-3FCB-E08B-3483-BB4BC87142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зображення 2">
            <a:extLst>
              <a:ext uri="{FF2B5EF4-FFF2-40B4-BE49-F238E27FC236}">
                <a16:creationId xmlns:a16="http://schemas.microsoft.com/office/drawing/2014/main" id="{9A97A156-5B49-2AD9-DD9B-511B193AF3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Місце для тексту 3">
            <a:extLst>
              <a:ext uri="{FF2B5EF4-FFF2-40B4-BE49-F238E27FC236}">
                <a16:creationId xmlns:a16="http://schemas.microsoft.com/office/drawing/2014/main" id="{30277593-C725-0F15-303F-5C373C8519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83AABF62-ACC6-B600-20BB-5C03CA34A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8B24957E-5648-FE15-C296-2C2CCA98F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DE73021E-BA3C-6E4C-0049-9D5588DAB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218764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і вертикальни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52648E-22AC-2586-5D84-54CC29F5B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CCBF1513-4DC0-F9EF-BCFC-81B4EE81A4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8CEBF3C5-EE08-A69A-F674-8EAD93107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AB5644CC-9D94-138F-D24D-90A4C8062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8382CAB1-074D-3B58-4666-AB59BD97C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397293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ий заголовок і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ий заголовок 1">
            <a:extLst>
              <a:ext uri="{FF2B5EF4-FFF2-40B4-BE49-F238E27FC236}">
                <a16:creationId xmlns:a16="http://schemas.microsoft.com/office/drawing/2014/main" id="{5A1FD67A-3FED-D8D9-62C8-A72484CA3E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EC93E11C-045E-3270-CB01-AC9F65C3D9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29F3E295-E48C-192E-1DD4-B22AFAEF6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4D19E1EE-9BCB-0B9E-7B95-FE87396F5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17C9CB50-8005-C3D6-BB47-26AC5E3B7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52806254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аголовка 1">
            <a:extLst>
              <a:ext uri="{FF2B5EF4-FFF2-40B4-BE49-F238E27FC236}">
                <a16:creationId xmlns:a16="http://schemas.microsoft.com/office/drawing/2014/main" id="{226C8C8A-2D8B-7913-8829-4C54330E2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4D74A044-CBD5-7694-4415-D279286F3B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2973EACF-91D4-0330-EE62-C4D29FE83D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87D61FEC-E62F-188D-E110-90F509388D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45E32170-CC9A-663D-A252-FC8BED01C7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907852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 dirty="0"/>
          </a:p>
        </p:txBody>
      </p:sp>
      <p:sp>
        <p:nvSpPr>
          <p:cNvPr id="4" name="Oval 3"/>
          <p:cNvSpPr/>
          <p:nvPr/>
        </p:nvSpPr>
        <p:spPr>
          <a:xfrm>
            <a:off x="7528560" y="207263"/>
            <a:ext cx="4267200" cy="4267200"/>
          </a:xfrm>
          <a:prstGeom prst="ellipse">
            <a:avLst/>
          </a:prstGeom>
          <a:noFill/>
          <a:ln w="17780">
            <a:solidFill>
              <a:srgbClr val="F4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" name="Rounded Rectangle 4"/>
          <p:cNvSpPr/>
          <p:nvPr/>
        </p:nvSpPr>
        <p:spPr>
          <a:xfrm rot="21300000">
            <a:off x="8119872" y="737616"/>
            <a:ext cx="3108960" cy="1767840"/>
          </a:xfrm>
          <a:prstGeom prst="roundRect">
            <a:avLst>
              <a:gd name="adj" fmla="val 5000"/>
            </a:avLst>
          </a:prstGeom>
          <a:solidFill>
            <a:srgbClr val="C97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" name="Rounded Rectangle 5"/>
          <p:cNvSpPr/>
          <p:nvPr/>
        </p:nvSpPr>
        <p:spPr>
          <a:xfrm rot="21300000">
            <a:off x="8077200" y="676656"/>
            <a:ext cx="3108960" cy="1767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pic>
        <p:nvPicPr>
          <p:cNvPr id="7" name="Picture 6" descr="zek_class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300000">
            <a:off x="8211001" y="798576"/>
            <a:ext cx="2841355" cy="1524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 rot="21060000">
            <a:off x="7882128" y="2109216"/>
            <a:ext cx="1414272" cy="1853184"/>
          </a:xfrm>
          <a:prstGeom prst="roundRect">
            <a:avLst>
              <a:gd name="adj" fmla="val 5000"/>
            </a:avLst>
          </a:prstGeom>
          <a:solidFill>
            <a:srgbClr val="C97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9" name="Rounded Rectangle 8"/>
          <p:cNvSpPr/>
          <p:nvPr/>
        </p:nvSpPr>
        <p:spPr>
          <a:xfrm rot="21060000">
            <a:off x="7839456" y="2048256"/>
            <a:ext cx="1414272" cy="1853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 dirty="0"/>
          </a:p>
        </p:txBody>
      </p:sp>
      <p:pic>
        <p:nvPicPr>
          <p:cNvPr id="10" name="Picture 9" descr="zek_tempura_corn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060000">
            <a:off x="7961375" y="2212888"/>
            <a:ext cx="1170432" cy="152391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 rot="600000">
            <a:off x="10125456" y="2231136"/>
            <a:ext cx="1365504" cy="1804416"/>
          </a:xfrm>
          <a:prstGeom prst="roundRect">
            <a:avLst>
              <a:gd name="adj" fmla="val 5000"/>
            </a:avLst>
          </a:prstGeom>
          <a:solidFill>
            <a:srgbClr val="C97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2" name="Rounded Rectangle 11"/>
          <p:cNvSpPr/>
          <p:nvPr/>
        </p:nvSpPr>
        <p:spPr>
          <a:xfrm rot="600000">
            <a:off x="10082784" y="2170176"/>
            <a:ext cx="1365504" cy="180441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pic>
        <p:nvPicPr>
          <p:cNvPr id="13" name="Picture 12" descr="zek_topping_veg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600000">
            <a:off x="10204703" y="2314075"/>
            <a:ext cx="1121664" cy="151661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985760" y="4072128"/>
            <a:ext cx="3352800" cy="975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8125967" y="4313683"/>
            <a:ext cx="3011424" cy="4922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3200" b="1" dirty="0">
                <a:solidFill>
                  <a:srgbClr val="AA3922"/>
                </a:solidFill>
                <a:latin typeface="Cambria"/>
              </a:rPr>
              <a:t>ZEK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44512" y="5099135"/>
            <a:ext cx="505968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dirty="0">
                <a:solidFill>
                  <a:srgbClr val="AA3922"/>
                </a:solidFill>
                <a:latin typeface="Cambria"/>
              </a:rPr>
              <a:t>ВИРОБНИЦТВО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44512" y="5405159"/>
            <a:ext cx="505968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dirty="0" err="1">
                <a:solidFill>
                  <a:srgbClr val="AA3922"/>
                </a:solidFill>
                <a:latin typeface="Cambria"/>
              </a:rPr>
              <a:t>Китай</a:t>
            </a:r>
            <a:endParaRPr sz="1600" b="1" dirty="0">
              <a:solidFill>
                <a:srgbClr val="AA3922"/>
              </a:solidFill>
              <a:latin typeface="Cambria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87680" y="633984"/>
            <a:ext cx="316992" cy="3169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20" name="TextBox 19"/>
          <p:cNvSpPr txBox="1"/>
          <p:nvPr/>
        </p:nvSpPr>
        <p:spPr>
          <a:xfrm>
            <a:off x="999744" y="633984"/>
            <a:ext cx="5364480" cy="1642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7" b="1" spc="120">
                <a:solidFill>
                  <a:srgbClr val="A23822"/>
                </a:solidFill>
                <a:latin typeface="Calibri"/>
              </a:rPr>
              <a:t>ПРОФІЛЬ ПОСТАЧАЛЬНИКА · 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7680" y="1121665"/>
            <a:ext cx="6156960" cy="1109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467" b="1" dirty="0" err="1">
                <a:solidFill>
                  <a:srgbClr val="14241F"/>
                </a:solidFill>
                <a:latin typeface="Cambria"/>
              </a:rPr>
              <a:t>HanJin</a:t>
            </a:r>
            <a:r>
              <a:rPr sz="3467" b="1" dirty="0">
                <a:solidFill>
                  <a:srgbClr val="14241F"/>
                </a:solidFill>
                <a:latin typeface="Cambria"/>
              </a:rPr>
              <a:t> (Shanghai)</a:t>
            </a:r>
          </a:p>
          <a:p>
            <a:pPr algn="l">
              <a:lnSpc>
                <a:spcPct val="108000"/>
              </a:lnSpc>
            </a:pPr>
            <a:r>
              <a:rPr sz="3467" b="1" dirty="0">
                <a:solidFill>
                  <a:srgbClr val="14241F"/>
                </a:solidFill>
                <a:latin typeface="Cambria"/>
              </a:rPr>
              <a:t>Food Co., Ltd.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" y="2535937"/>
            <a:ext cx="6156960" cy="2257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7">
                <a:solidFill>
                  <a:srgbClr val="A23822"/>
                </a:solidFill>
                <a:latin typeface="Calibri"/>
              </a:rPr>
              <a:t>Темпура, сендвічі та присипка з норі · Retail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7680" y="2999232"/>
            <a:ext cx="1367941" cy="365760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24" name="TextBox 23"/>
          <p:cNvSpPr txBox="1"/>
          <p:nvPr/>
        </p:nvSpPr>
        <p:spPr>
          <a:xfrm>
            <a:off x="487680" y="3094941"/>
            <a:ext cx="1367941" cy="1743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33" b="1">
                <a:solidFill>
                  <a:srgbClr val="AA3922"/>
                </a:solidFill>
                <a:latin typeface="Calibri"/>
              </a:rPr>
              <a:t>FOB Qingdao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80" y="3608832"/>
            <a:ext cx="6156960" cy="143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3" b="1" spc="120">
                <a:solidFill>
                  <a:srgbClr val="A23822"/>
                </a:solidFill>
                <a:latin typeface="Calibri"/>
              </a:rPr>
              <a:t>ПРО КОМПАНІЮ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7680" y="3852673"/>
            <a:ext cx="6156960" cy="778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3" dirty="0">
                <a:solidFill>
                  <a:srgbClr val="44524C"/>
                </a:solidFill>
                <a:latin typeface="Calibri"/>
              </a:rPr>
              <a:t>ZEK — «Zesty Especial Kingdom»,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власний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бренд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Hanjin Food.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Компанія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заснована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2002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року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у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Вейхаї</a:t>
            </a:r>
            <a:r>
              <a:rPr sz="1333" dirty="0">
                <a:solidFill>
                  <a:srgbClr val="44524C"/>
                </a:solidFill>
                <a:latin typeface="Calibri"/>
              </a:rPr>
              <a:t>,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головний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офіс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із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2014-го — у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Шанхаї</a:t>
            </a:r>
            <a:r>
              <a:rPr sz="1333" dirty="0">
                <a:solidFill>
                  <a:srgbClr val="44524C"/>
                </a:solidFill>
                <a:latin typeface="Calibri"/>
              </a:rPr>
              <a:t>.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Партнери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групи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—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тайська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Singha Group і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корейська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SPC Group.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7680" y="4803648"/>
            <a:ext cx="1975104" cy="9509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28" name="Rectangle 27"/>
          <p:cNvSpPr/>
          <p:nvPr/>
        </p:nvSpPr>
        <p:spPr>
          <a:xfrm>
            <a:off x="487680" y="4803648"/>
            <a:ext cx="1975104" cy="6096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29" name="TextBox 28"/>
          <p:cNvSpPr txBox="1"/>
          <p:nvPr/>
        </p:nvSpPr>
        <p:spPr>
          <a:xfrm>
            <a:off x="487680" y="4974337"/>
            <a:ext cx="1975104" cy="3282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33" b="1">
                <a:solidFill>
                  <a:srgbClr val="AA3922"/>
                </a:solidFill>
                <a:latin typeface="Cambria"/>
              </a:rPr>
              <a:t>2002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340097"/>
            <a:ext cx="1731264" cy="290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рік заснування</a:t>
            </a:r>
          </a:p>
          <a:p>
            <a:pPr algn="ctr">
              <a:lnSpc>
                <a:spcPct val="112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у Вейхаї, Шаньдун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39568" y="4803648"/>
            <a:ext cx="1975104" cy="9509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2" name="Rectangle 31"/>
          <p:cNvSpPr/>
          <p:nvPr/>
        </p:nvSpPr>
        <p:spPr>
          <a:xfrm>
            <a:off x="2639568" y="4803648"/>
            <a:ext cx="1975104" cy="6096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3" name="TextBox 32"/>
          <p:cNvSpPr txBox="1"/>
          <p:nvPr/>
        </p:nvSpPr>
        <p:spPr>
          <a:xfrm>
            <a:off x="2639568" y="4974337"/>
            <a:ext cx="1975104" cy="3282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33" b="1">
                <a:solidFill>
                  <a:srgbClr val="AA3922"/>
                </a:solidFill>
                <a:latin typeface="Cambria"/>
              </a:rPr>
              <a:t>№1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61488" y="5340097"/>
            <a:ext cx="1731264" cy="290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частка ринку</a:t>
            </a:r>
          </a:p>
          <a:p>
            <a:pPr algn="ctr">
              <a:lnSpc>
                <a:spcPct val="112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приправленої норі в КНР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91456" y="4803648"/>
            <a:ext cx="1975104" cy="9509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6" name="Rectangle 35"/>
          <p:cNvSpPr/>
          <p:nvPr/>
        </p:nvSpPr>
        <p:spPr>
          <a:xfrm>
            <a:off x="4791456" y="4803648"/>
            <a:ext cx="1975104" cy="6096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7" name="TextBox 36"/>
          <p:cNvSpPr txBox="1"/>
          <p:nvPr/>
        </p:nvSpPr>
        <p:spPr>
          <a:xfrm>
            <a:off x="4791456" y="4974337"/>
            <a:ext cx="1975104" cy="3282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33" b="1" dirty="0">
                <a:solidFill>
                  <a:srgbClr val="AA3922"/>
                </a:solidFill>
                <a:latin typeface="Cambria"/>
              </a:rPr>
              <a:t>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3376" y="5340097"/>
            <a:ext cx="1731264" cy="290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країн</a:t>
            </a:r>
          </a:p>
          <a:p>
            <a:pPr algn="ctr">
              <a:lnSpc>
                <a:spcPct val="112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експорту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7680" y="5925312"/>
            <a:ext cx="6156960" cy="143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3" b="1" spc="120">
                <a:solidFill>
                  <a:srgbClr val="A23822"/>
                </a:solidFill>
                <a:latin typeface="Calibri"/>
              </a:rPr>
              <a:t>СИРОВИНА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7680" y="6169152"/>
            <a:ext cx="6156960" cy="1642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7" b="1">
                <a:solidFill>
                  <a:srgbClr val="14241F"/>
                </a:solidFill>
                <a:latin typeface="Calibri"/>
              </a:rPr>
              <a:t>Норі з острова Чеджу (Корея) та плантацій під Вейхаєм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510528"/>
            <a:ext cx="731520" cy="143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E8C4B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" name="TextBox 3"/>
          <p:cNvSpPr txBox="1"/>
          <p:nvPr/>
        </p:nvSpPr>
        <p:spPr>
          <a:xfrm>
            <a:off x="487680" y="414528"/>
            <a:ext cx="68275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20">
                <a:solidFill>
                  <a:srgbClr val="9A3722"/>
                </a:solidFill>
                <a:latin typeface="Calibri"/>
              </a:rPr>
              <a:t>HANJIN · ZEK ·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80" y="733567"/>
            <a:ext cx="8046720" cy="4104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667" b="1">
                <a:solidFill>
                  <a:srgbClr val="14241F"/>
                </a:solidFill>
                <a:latin typeface="Cambria"/>
              </a:rPr>
              <a:t>Seaweed Topping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87680" y="1316736"/>
            <a:ext cx="11216640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" name="Rounded Rectangle 6"/>
          <p:cNvSpPr/>
          <p:nvPr/>
        </p:nvSpPr>
        <p:spPr>
          <a:xfrm>
            <a:off x="8197900" y="707136"/>
            <a:ext cx="3506419" cy="390144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8197900" y="825264"/>
            <a:ext cx="3506419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AA3922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80" y="1487424"/>
            <a:ext cx="3576320" cy="48036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0" name="Rounded Rectangle 9"/>
          <p:cNvSpPr/>
          <p:nvPr/>
        </p:nvSpPr>
        <p:spPr>
          <a:xfrm>
            <a:off x="499872" y="1499616"/>
            <a:ext cx="3551936" cy="1609344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1" name="Rectangle 10"/>
          <p:cNvSpPr/>
          <p:nvPr/>
        </p:nvSpPr>
        <p:spPr>
          <a:xfrm>
            <a:off x="499872" y="2950464"/>
            <a:ext cx="3551936" cy="158496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pic>
        <p:nvPicPr>
          <p:cNvPr id="12" name="Picture 11" descr="zek_topping_chicken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001" y="1633727"/>
            <a:ext cx="993679" cy="13411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82752" y="3267455"/>
            <a:ext cx="158496" cy="15849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926592" y="3267455"/>
            <a:ext cx="2966720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 dirty="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2752" y="3535681"/>
            <a:ext cx="3186176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r>
              <a:rPr sz="1600" b="1" dirty="0">
                <a:solidFill>
                  <a:srgbClr val="14241F"/>
                </a:solidFill>
                <a:latin typeface="Cambria"/>
              </a:rPr>
              <a:t>Chicken Floss </a:t>
            </a:r>
            <a:r>
              <a:rPr lang="uk-UA" sz="1600" b="1" dirty="0">
                <a:solidFill>
                  <a:srgbClr val="14241F"/>
                </a:solidFill>
                <a:latin typeface="Cambria"/>
              </a:rPr>
              <a:t>35 Г </a:t>
            </a:r>
            <a:endParaRPr sz="1600" b="1" dirty="0">
              <a:solidFill>
                <a:srgbClr val="14241F"/>
              </a:solidFill>
              <a:latin typeface="Cambria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82752" y="4145280"/>
            <a:ext cx="3186176" cy="3866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7">
                <a:solidFill>
                  <a:srgbClr val="44524C"/>
                </a:solidFill>
                <a:latin typeface="Calibri"/>
              </a:rPr>
              <a:t>Подрібнена норі з курячою стружкою — присипка до рису та супів. Збагачена DHA.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2752" y="4876800"/>
            <a:ext cx="3186176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 dirty="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7680" y="5120640"/>
            <a:ext cx="3576320" cy="5852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682752" y="5193793"/>
            <a:ext cx="318617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spc="12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2752" y="5376672"/>
            <a:ext cx="165681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>
                <a:solidFill>
                  <a:srgbClr val="FFFFFF"/>
                </a:solidFill>
                <a:latin typeface="Cambria"/>
              </a:rPr>
              <a:t>$0,7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6531" y="5425441"/>
            <a:ext cx="1752396" cy="205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33" b="1">
                <a:solidFill>
                  <a:srgbClr val="FFFFFF"/>
                </a:solidFill>
                <a:latin typeface="Calibri"/>
              </a:rPr>
              <a:t>31,54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2753" y="573057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57221" y="572551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49351" y="572551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33,68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2752" y="588873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26" name="TextBox 25"/>
          <p:cNvSpPr txBox="1"/>
          <p:nvPr/>
        </p:nvSpPr>
        <p:spPr>
          <a:xfrm>
            <a:off x="682753" y="591345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7221" y="590839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49351" y="590839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2752" y="607161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0" name="TextBox 29"/>
          <p:cNvSpPr txBox="1"/>
          <p:nvPr/>
        </p:nvSpPr>
        <p:spPr>
          <a:xfrm>
            <a:off x="682753" y="609633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57221" y="609127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49351" y="609127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07840" y="1487424"/>
            <a:ext cx="3576320" cy="48036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4" name="Rounded Rectangle 33"/>
          <p:cNvSpPr/>
          <p:nvPr/>
        </p:nvSpPr>
        <p:spPr>
          <a:xfrm>
            <a:off x="4320032" y="1499616"/>
            <a:ext cx="3551936" cy="1609344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5" name="Rectangle 34"/>
          <p:cNvSpPr/>
          <p:nvPr/>
        </p:nvSpPr>
        <p:spPr>
          <a:xfrm>
            <a:off x="4320032" y="2950464"/>
            <a:ext cx="3551936" cy="158496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pic>
        <p:nvPicPr>
          <p:cNvPr id="36" name="Picture 35" descr="zek_topping_veg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064" y="1633727"/>
            <a:ext cx="991869" cy="134112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4502912" y="3267455"/>
            <a:ext cx="158496" cy="15849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8" name="TextBox 37"/>
          <p:cNvSpPr txBox="1"/>
          <p:nvPr/>
        </p:nvSpPr>
        <p:spPr>
          <a:xfrm>
            <a:off x="4746752" y="3267455"/>
            <a:ext cx="2966720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02912" y="3535681"/>
            <a:ext cx="3186176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41F"/>
                </a:solidFill>
                <a:latin typeface="Cambria"/>
              </a:rPr>
              <a:t>Vegetables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02912" y="4145280"/>
            <a:ext cx="3186176" cy="3866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7">
                <a:solidFill>
                  <a:srgbClr val="44524C"/>
                </a:solidFill>
                <a:latin typeface="Calibri"/>
              </a:rPr>
              <a:t>Норі-присипка з овочами. Паковання орієнтоване на дитячу аудиторію.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02912" y="4876800"/>
            <a:ext cx="3186176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67" b="1" spc="120" dirty="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07840" y="5120640"/>
            <a:ext cx="3576320" cy="5852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3" name="TextBox 42"/>
          <p:cNvSpPr txBox="1"/>
          <p:nvPr/>
        </p:nvSpPr>
        <p:spPr>
          <a:xfrm>
            <a:off x="4502912" y="5193793"/>
            <a:ext cx="318617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spc="12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02912" y="5376672"/>
            <a:ext cx="165681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>
                <a:solidFill>
                  <a:srgbClr val="FFFFFF"/>
                </a:solidFill>
                <a:latin typeface="Cambria"/>
              </a:rPr>
              <a:t>$0,7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36691" y="5425441"/>
            <a:ext cx="1752396" cy="205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33" b="1">
                <a:solidFill>
                  <a:srgbClr val="FFFFFF"/>
                </a:solidFill>
                <a:latin typeface="Calibri"/>
              </a:rPr>
              <a:t>31,54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02913" y="573057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77381" y="572551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9511" y="572551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33,68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02912" y="588873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0" name="TextBox 49"/>
          <p:cNvSpPr txBox="1"/>
          <p:nvPr/>
        </p:nvSpPr>
        <p:spPr>
          <a:xfrm>
            <a:off x="4502913" y="591345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77381" y="590839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9511" y="590839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02912" y="607161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4" name="TextBox 53"/>
          <p:cNvSpPr txBox="1"/>
          <p:nvPr/>
        </p:nvSpPr>
        <p:spPr>
          <a:xfrm>
            <a:off x="4502913" y="609633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77381" y="609127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69511" y="609127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128000" y="1487424"/>
            <a:ext cx="3576320" cy="48036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8" name="Rounded Rectangle 57"/>
          <p:cNvSpPr/>
          <p:nvPr/>
        </p:nvSpPr>
        <p:spPr>
          <a:xfrm>
            <a:off x="8140192" y="1499616"/>
            <a:ext cx="3551936" cy="1609344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9" name="Rectangle 58"/>
          <p:cNvSpPr/>
          <p:nvPr/>
        </p:nvSpPr>
        <p:spPr>
          <a:xfrm>
            <a:off x="8140192" y="2950464"/>
            <a:ext cx="3551936" cy="158496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pic>
        <p:nvPicPr>
          <p:cNvPr id="60" name="Picture 59" descr="zek_topping_sesame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5338" y="1633727"/>
            <a:ext cx="981644" cy="134112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8323072" y="3267455"/>
            <a:ext cx="158496" cy="15849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2" name="TextBox 61"/>
          <p:cNvSpPr txBox="1"/>
          <p:nvPr/>
        </p:nvSpPr>
        <p:spPr>
          <a:xfrm>
            <a:off x="8566912" y="3267455"/>
            <a:ext cx="2966720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23072" y="3535681"/>
            <a:ext cx="3186176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41F"/>
                </a:solidFill>
                <a:latin typeface="Cambria"/>
              </a:rPr>
              <a:t>Sesame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3072" y="4145280"/>
            <a:ext cx="3186176" cy="3866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7">
                <a:solidFill>
                  <a:srgbClr val="44524C"/>
                </a:solidFill>
                <a:latin typeface="Calibri"/>
              </a:rPr>
              <a:t>Норі-присипка з кунжутом — базовий смак напрямку, без м’ясних добавок.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3072" y="4876800"/>
            <a:ext cx="3186176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 dirty="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128000" y="5120640"/>
            <a:ext cx="3576320" cy="5852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7" name="TextBox 66"/>
          <p:cNvSpPr txBox="1"/>
          <p:nvPr/>
        </p:nvSpPr>
        <p:spPr>
          <a:xfrm>
            <a:off x="8323072" y="5193793"/>
            <a:ext cx="318617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spc="12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23072" y="5376672"/>
            <a:ext cx="165681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>
                <a:solidFill>
                  <a:srgbClr val="FFFFFF"/>
                </a:solidFill>
                <a:latin typeface="Cambria"/>
              </a:rPr>
              <a:t>$0,7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756851" y="5425441"/>
            <a:ext cx="1752396" cy="205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33" b="1">
                <a:solidFill>
                  <a:srgbClr val="FFFFFF"/>
                </a:solidFill>
                <a:latin typeface="Calibri"/>
              </a:rPr>
              <a:t>31,54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23073" y="573057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597541" y="572551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489671" y="572551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33,68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323072" y="588873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4" name="TextBox 73"/>
          <p:cNvSpPr txBox="1"/>
          <p:nvPr/>
        </p:nvSpPr>
        <p:spPr>
          <a:xfrm>
            <a:off x="8323073" y="591345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597541" y="590839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89671" y="590839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23072" y="607161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8" name="TextBox 77"/>
          <p:cNvSpPr txBox="1"/>
          <p:nvPr/>
        </p:nvSpPr>
        <p:spPr>
          <a:xfrm>
            <a:off x="8323073" y="609633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597541" y="609127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89671" y="609127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87680" y="6412992"/>
            <a:ext cx="11216640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83" name="TextBox 82"/>
          <p:cNvSpPr txBox="1"/>
          <p:nvPr/>
        </p:nvSpPr>
        <p:spPr>
          <a:xfrm>
            <a:off x="10972800" y="6510528"/>
            <a:ext cx="731520" cy="143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8A938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" name="TextBox 3"/>
          <p:cNvSpPr txBox="1"/>
          <p:nvPr/>
        </p:nvSpPr>
        <p:spPr>
          <a:xfrm>
            <a:off x="487680" y="414528"/>
            <a:ext cx="68275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20">
                <a:solidFill>
                  <a:srgbClr val="9A3722"/>
                </a:solidFill>
                <a:latin typeface="Calibri"/>
              </a:rPr>
              <a:t>HANJIN · ZEK ·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80" y="733567"/>
            <a:ext cx="8046720" cy="4104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667" b="1">
                <a:solidFill>
                  <a:srgbClr val="14241F"/>
                </a:solidFill>
                <a:latin typeface="Cambria"/>
              </a:rPr>
              <a:t>Seaweed Topping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87680" y="1316736"/>
            <a:ext cx="11216640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" name="Rounded Rectangle 6"/>
          <p:cNvSpPr/>
          <p:nvPr/>
        </p:nvSpPr>
        <p:spPr>
          <a:xfrm>
            <a:off x="8197900" y="707136"/>
            <a:ext cx="3506419" cy="390144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8197900" y="825264"/>
            <a:ext cx="3506419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AA3922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80" y="1487424"/>
            <a:ext cx="3576320" cy="48036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0" name="Rounded Rectangle 9"/>
          <p:cNvSpPr/>
          <p:nvPr/>
        </p:nvSpPr>
        <p:spPr>
          <a:xfrm>
            <a:off x="499872" y="1499616"/>
            <a:ext cx="3551936" cy="1609344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1" name="Rectangle 10"/>
          <p:cNvSpPr/>
          <p:nvPr/>
        </p:nvSpPr>
        <p:spPr>
          <a:xfrm>
            <a:off x="499872" y="2950464"/>
            <a:ext cx="3551936" cy="158496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pic>
        <p:nvPicPr>
          <p:cNvPr id="12" name="Picture 11" descr="zek_topping_veg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670" y="1633727"/>
            <a:ext cx="926340" cy="13411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82752" y="3267455"/>
            <a:ext cx="158496" cy="15849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926592" y="3267455"/>
            <a:ext cx="2966720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2752" y="3535681"/>
            <a:ext cx="3186176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14241F"/>
                </a:solidFill>
                <a:latin typeface="Cambria"/>
              </a:rPr>
              <a:t>Vegetables · 70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2752" y="4145280"/>
            <a:ext cx="3186176" cy="3866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7">
                <a:solidFill>
                  <a:srgbClr val="44524C"/>
                </a:solidFill>
                <a:latin typeface="Calibri"/>
              </a:rPr>
              <a:t>Овочева присипка у великому пакеті 70 г. Розрахована на родину або HoReCa.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2752" y="4876800"/>
            <a:ext cx="3186176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 dirty="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7680" y="5120640"/>
            <a:ext cx="3576320" cy="5852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682752" y="5193793"/>
            <a:ext cx="318617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spc="12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2752" y="5376672"/>
            <a:ext cx="165681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>
                <a:solidFill>
                  <a:srgbClr val="FFFFFF"/>
                </a:solidFill>
                <a:latin typeface="Cambria"/>
              </a:rPr>
              <a:t>$1,4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6531" y="5425441"/>
            <a:ext cx="1752396" cy="205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33" b="1">
                <a:solidFill>
                  <a:srgbClr val="FFFFFF"/>
                </a:solidFill>
                <a:latin typeface="Calibri"/>
              </a:rPr>
              <a:t>63,86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2753" y="573057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57221" y="572551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49351" y="572551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68,19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2752" y="588873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26" name="TextBox 25"/>
          <p:cNvSpPr txBox="1"/>
          <p:nvPr/>
        </p:nvSpPr>
        <p:spPr>
          <a:xfrm>
            <a:off x="682753" y="591345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7221" y="590839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49351" y="590839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78,29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2752" y="607161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0" name="TextBox 29"/>
          <p:cNvSpPr txBox="1"/>
          <p:nvPr/>
        </p:nvSpPr>
        <p:spPr>
          <a:xfrm>
            <a:off x="682753" y="609633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57221" y="609127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49351" y="609127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82,92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07840" y="1487424"/>
            <a:ext cx="3576320" cy="48036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4" name="Rounded Rectangle 33"/>
          <p:cNvSpPr/>
          <p:nvPr/>
        </p:nvSpPr>
        <p:spPr>
          <a:xfrm>
            <a:off x="4320032" y="1499616"/>
            <a:ext cx="3551936" cy="1609344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5" name="Rectangle 34"/>
          <p:cNvSpPr/>
          <p:nvPr/>
        </p:nvSpPr>
        <p:spPr>
          <a:xfrm>
            <a:off x="4320032" y="2950464"/>
            <a:ext cx="3551936" cy="158496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pic>
        <p:nvPicPr>
          <p:cNvPr id="36" name="Picture 35" descr="zek_topping_sesame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9372" y="1633727"/>
            <a:ext cx="933253" cy="134112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4502912" y="3267455"/>
            <a:ext cx="158496" cy="15849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8" name="TextBox 37"/>
          <p:cNvSpPr txBox="1"/>
          <p:nvPr/>
        </p:nvSpPr>
        <p:spPr>
          <a:xfrm>
            <a:off x="4746752" y="3267455"/>
            <a:ext cx="2966720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02912" y="3535681"/>
            <a:ext cx="3186176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41F"/>
                </a:solidFill>
                <a:latin typeface="Cambria"/>
              </a:rPr>
              <a:t>Sesame · 70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02912" y="4145280"/>
            <a:ext cx="3186176" cy="3866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7">
                <a:solidFill>
                  <a:srgbClr val="44524C"/>
                </a:solidFill>
                <a:latin typeface="Calibri"/>
              </a:rPr>
              <a:t>Кунжутна присипка у пакеті 70 г — удвічі більший обсяг за той самий смак.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02912" y="4876800"/>
            <a:ext cx="3186176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67" b="1" spc="120" dirty="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07840" y="5120640"/>
            <a:ext cx="3576320" cy="5852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3" name="TextBox 42"/>
          <p:cNvSpPr txBox="1"/>
          <p:nvPr/>
        </p:nvSpPr>
        <p:spPr>
          <a:xfrm>
            <a:off x="4502912" y="5193793"/>
            <a:ext cx="318617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spc="12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02912" y="5376672"/>
            <a:ext cx="165681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>
                <a:solidFill>
                  <a:srgbClr val="FFFFFF"/>
                </a:solidFill>
                <a:latin typeface="Cambria"/>
              </a:rPr>
              <a:t>$1,4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36691" y="5425441"/>
            <a:ext cx="1752396" cy="205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33" b="1">
                <a:solidFill>
                  <a:srgbClr val="FFFFFF"/>
                </a:solidFill>
                <a:latin typeface="Calibri"/>
              </a:rPr>
              <a:t>63,86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02913" y="573057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77381" y="572551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9511" y="572551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68,19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02912" y="588873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0" name="TextBox 49"/>
          <p:cNvSpPr txBox="1"/>
          <p:nvPr/>
        </p:nvSpPr>
        <p:spPr>
          <a:xfrm>
            <a:off x="4502913" y="591345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77381" y="590839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9511" y="590839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78,29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02912" y="607161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4" name="TextBox 53"/>
          <p:cNvSpPr txBox="1"/>
          <p:nvPr/>
        </p:nvSpPr>
        <p:spPr>
          <a:xfrm>
            <a:off x="4502913" y="609633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77381" y="609127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69511" y="609127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82,92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128000" y="1487424"/>
            <a:ext cx="3576320" cy="48036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8" name="Rounded Rectangle 57"/>
          <p:cNvSpPr/>
          <p:nvPr/>
        </p:nvSpPr>
        <p:spPr>
          <a:xfrm>
            <a:off x="8140192" y="1499616"/>
            <a:ext cx="3551936" cy="1609344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9" name="Rectangle 58"/>
          <p:cNvSpPr/>
          <p:nvPr/>
        </p:nvSpPr>
        <p:spPr>
          <a:xfrm>
            <a:off x="8140192" y="2950464"/>
            <a:ext cx="3551936" cy="158496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pic>
        <p:nvPicPr>
          <p:cNvPr id="60" name="Picture 59" descr="zek_topping_chicken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9532" y="1633727"/>
            <a:ext cx="933253" cy="134112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8323072" y="3267455"/>
            <a:ext cx="158496" cy="15849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2" name="TextBox 61"/>
          <p:cNvSpPr txBox="1"/>
          <p:nvPr/>
        </p:nvSpPr>
        <p:spPr>
          <a:xfrm>
            <a:off x="8566912" y="3267455"/>
            <a:ext cx="2966720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23072" y="3535681"/>
            <a:ext cx="3186176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41F"/>
                </a:solidFill>
                <a:latin typeface="Cambria"/>
              </a:rPr>
              <a:t>Chicken · 70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3072" y="4145280"/>
            <a:ext cx="3186176" cy="3866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7">
                <a:solidFill>
                  <a:srgbClr val="44524C"/>
                </a:solidFill>
                <a:latin typeface="Calibri"/>
              </a:rPr>
              <a:t>Присипка з курячою стружкою, 70 г. Найдорожча позиція в розрахунку ZEK.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3072" y="4876800"/>
            <a:ext cx="3186176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867" b="1" spc="120" dirty="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128000" y="5120640"/>
            <a:ext cx="3576320" cy="5852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7" name="TextBox 66"/>
          <p:cNvSpPr txBox="1"/>
          <p:nvPr/>
        </p:nvSpPr>
        <p:spPr>
          <a:xfrm>
            <a:off x="8323072" y="5193793"/>
            <a:ext cx="318617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spc="12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23072" y="5376672"/>
            <a:ext cx="165681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>
                <a:solidFill>
                  <a:srgbClr val="FFFFFF"/>
                </a:solidFill>
                <a:latin typeface="Cambria"/>
              </a:rPr>
              <a:t>$1,4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756851" y="5425441"/>
            <a:ext cx="1752396" cy="205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33" b="1">
                <a:solidFill>
                  <a:srgbClr val="FFFFFF"/>
                </a:solidFill>
                <a:latin typeface="Calibri"/>
              </a:rPr>
              <a:t>63,86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23073" y="573057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597541" y="572551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489671" y="572551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68,19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323072" y="588873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4" name="TextBox 73"/>
          <p:cNvSpPr txBox="1"/>
          <p:nvPr/>
        </p:nvSpPr>
        <p:spPr>
          <a:xfrm>
            <a:off x="8323073" y="591345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597541" y="590839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89671" y="590839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78,29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23072" y="607161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8" name="TextBox 77"/>
          <p:cNvSpPr txBox="1"/>
          <p:nvPr/>
        </p:nvSpPr>
        <p:spPr>
          <a:xfrm>
            <a:off x="8323073" y="609633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597541" y="609127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89671" y="609127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82,92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87680" y="6412992"/>
            <a:ext cx="11216640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83" name="TextBox 82"/>
          <p:cNvSpPr txBox="1"/>
          <p:nvPr/>
        </p:nvSpPr>
        <p:spPr>
          <a:xfrm>
            <a:off x="10972800" y="6510528"/>
            <a:ext cx="731520" cy="143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8A938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ishima_profile_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0"/>
            <a:ext cx="4187952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461772"/>
            <a:ext cx="274320" cy="15544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384048"/>
            <a:ext cx="5943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80">
                <a:solidFill>
                  <a:srgbClr val="C32733"/>
                </a:solidFill>
                <a:latin typeface="Calibri"/>
              </a:rPr>
              <a:t>ПРОФІЛЬ ПОСТАЧАЛЬНИКА ·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717804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18120E"/>
                </a:solidFill>
                <a:latin typeface="Cambria"/>
              </a:rPr>
              <a:t>Dalian Mishima Foods</a:t>
            </a:r>
          </a:p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18120E"/>
                </a:solidFill>
                <a:latin typeface="Cambria"/>
              </a:rPr>
              <a:t>Co., Ltd.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65376"/>
            <a:ext cx="7178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C32733"/>
                </a:solidFill>
                <a:latin typeface="Cambria"/>
              </a:rPr>
              <a:t>Фурікаке, соуси та приправи Pan-Asian · Retail / OEM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1980590" cy="329184"/>
          </a:xfrm>
          <a:prstGeom prst="roundRect">
            <a:avLst>
              <a:gd name="adj" fmla="val 50000"/>
            </a:avLst>
          </a:prstGeom>
          <a:noFill/>
          <a:ln w="13970">
            <a:solidFill>
              <a:srgbClr val="C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231136"/>
            <a:ext cx="198059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 spc="40">
                <a:solidFill>
                  <a:srgbClr val="C32733"/>
                </a:solidFill>
                <a:latin typeface="Calibri"/>
              </a:rPr>
              <a:t>FOB DALIAN, КИТАЙ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743200"/>
            <a:ext cx="7178040" cy="12801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62072"/>
            <a:ext cx="7178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80">
                <a:solidFill>
                  <a:srgbClr val="C32733"/>
                </a:solidFill>
                <a:latin typeface="Calibri"/>
              </a:rPr>
              <a:t>ПРО КОМПАНІЮ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099815"/>
            <a:ext cx="7178040" cy="992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8120E"/>
                </a:solidFill>
                <a:latin typeface="Cambria"/>
              </a:rPr>
              <a:t>Мішіма — виробник соусів, фурікаке, супових баз та юзу-продукції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8120E"/>
                </a:solidFill>
                <a:latin typeface="Cambria"/>
              </a:rPr>
              <a:t>(м. Далянь, пров. Ляонін, КНР). Асортимент за каталогом: класичні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8120E"/>
                </a:solidFill>
                <a:latin typeface="Cambria"/>
              </a:rPr>
              <a:t>соуси, пастові соуси, фурікаке в пакетах і коробках, супові бази,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8120E"/>
                </a:solidFill>
                <a:latin typeface="Cambria"/>
              </a:rPr>
              <a:t>очадзуке, юзу-серія, фреш-лок пляшки.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8120E"/>
                </a:solidFill>
                <a:latin typeface="Cambria"/>
              </a:rPr>
              <a:t>Контакт: foods@mishima.com.cn · +86 411 87611161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128515"/>
            <a:ext cx="7178040" cy="12801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4293107"/>
            <a:ext cx="2301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C32733"/>
                </a:solidFill>
                <a:latin typeface="Cambria"/>
              </a:rPr>
              <a:t>8 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677155"/>
            <a:ext cx="2301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30" b="0" i="0">
                <a:solidFill>
                  <a:srgbClr val="6A5F56"/>
                </a:solidFill>
                <a:latin typeface="Calibri"/>
              </a:rPr>
              <a:t>фурікаке в розрахунку</a:t>
            </a:r>
          </a:p>
          <a:p>
            <a:pPr algn="l">
              <a:lnSpc>
                <a:spcPct val="114000"/>
              </a:lnSpc>
            </a:pPr>
            <a:r>
              <a:rPr sz="830" b="0" i="0">
                <a:solidFill>
                  <a:srgbClr val="6A5F56"/>
                </a:solidFill>
                <a:latin typeface="Calibri"/>
              </a:rPr>
              <a:t>собівартості (25 і 50 г)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95600" y="4320540"/>
            <a:ext cx="10058" cy="548640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78480" y="4293107"/>
            <a:ext cx="2118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C32733"/>
                </a:solidFill>
                <a:latin typeface="Cambria"/>
              </a:rPr>
              <a:t>17 м³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8480" y="4677155"/>
            <a:ext cx="2118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30" b="0" i="0">
                <a:solidFill>
                  <a:srgbClr val="6A5F56"/>
                </a:solidFill>
                <a:latin typeface="Calibri"/>
              </a:rPr>
              <a:t>єдиний прорахований</a:t>
            </a:r>
          </a:p>
          <a:p>
            <a:pPr algn="l">
              <a:lnSpc>
                <a:spcPct val="114000"/>
              </a:lnSpc>
            </a:pPr>
            <a:r>
              <a:rPr sz="830" b="0" i="0">
                <a:solidFill>
                  <a:srgbClr val="6A5F56"/>
                </a:solidFill>
                <a:latin typeface="Calibri"/>
              </a:rPr>
              <a:t>сценарій доставки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8280" y="4320540"/>
            <a:ext cx="10058" cy="548640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71160" y="4293107"/>
            <a:ext cx="2118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C32733"/>
                </a:solidFill>
                <a:latin typeface="Cambria"/>
              </a:rPr>
              <a:t>12 міс.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71160" y="4677155"/>
            <a:ext cx="2118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30" b="0" i="0">
                <a:solidFill>
                  <a:srgbClr val="6A5F56"/>
                </a:solidFill>
                <a:latin typeface="Calibri"/>
              </a:rPr>
              <a:t>термін придатності</a:t>
            </a:r>
          </a:p>
          <a:p>
            <a:pPr algn="l">
              <a:lnSpc>
                <a:spcPct val="114000"/>
              </a:lnSpc>
            </a:pPr>
            <a:r>
              <a:rPr sz="830" b="0" i="0">
                <a:solidFill>
                  <a:srgbClr val="6A5F56"/>
                </a:solidFill>
                <a:latin typeface="Calibri"/>
              </a:rPr>
              <a:t>(за каталогом)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760720"/>
            <a:ext cx="7178040" cy="457200"/>
          </a:xfrm>
          <a:prstGeom prst="roundRect">
            <a:avLst>
              <a:gd name="adj" fmla="val 10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>
            <a:off x="685800" y="5852159"/>
            <a:ext cx="237744" cy="213969"/>
          </a:xfrm>
          <a:prstGeom prst="triangle">
            <a:avLst/>
          </a:prstGeom>
          <a:solidFill>
            <a:srgbClr val="C9A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894953"/>
            <a:ext cx="237744" cy="1426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120E"/>
                </a:solidFill>
                <a:latin typeface="Calibri"/>
              </a:rPr>
              <a:t>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5760720"/>
            <a:ext cx="59253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30" b="0" i="0">
                <a:solidFill>
                  <a:srgbClr val="F3EADF"/>
                </a:solidFill>
                <a:latin typeface="Calibri"/>
              </a:rPr>
              <a:t>У файлі розрахунку базис доставки вказано «FOB Bangkok», хоча країна походження — Китай. Невідповідність потребує уточнення у постачальника до фіксації умов.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5760720"/>
            <a:ext cx="42976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50" b="0" i="0">
                <a:solidFill>
                  <a:srgbClr val="F3EAD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8620"/>
            <a:ext cx="274320" cy="15544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310896"/>
            <a:ext cx="5943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80">
                <a:solidFill>
                  <a:srgbClr val="C32733"/>
                </a:solidFill>
                <a:latin typeface="Calibri"/>
              </a:rPr>
              <a:t>MISHIMA · FURIKAKE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8120E"/>
                </a:solidFill>
                <a:latin typeface="Cambria"/>
              </a:rPr>
              <a:t>Furikake 25 г — собівартість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39912" y="493776"/>
            <a:ext cx="3246120" cy="384048"/>
          </a:xfrm>
          <a:prstGeom prst="roundRect">
            <a:avLst>
              <a:gd name="adj" fmla="val 50000"/>
            </a:avLst>
          </a:prstGeom>
          <a:noFill/>
          <a:ln w="13970">
            <a:solidFill>
              <a:srgbClr val="C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39912" y="493776"/>
            <a:ext cx="3246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 spc="30">
                <a:solidFill>
                  <a:srgbClr val="C32733"/>
                </a:solidFill>
                <a:latin typeface="Calibri"/>
              </a:rPr>
              <a:t>ЗБІРНИЙ ВАНТАЖ 17 М³ · ОДИН СЦЕНАРІЙ</a:t>
            </a:r>
          </a:p>
        </p:txBody>
      </p:sp>
      <p:sp>
        <p:nvSpPr>
          <p:cNvPr id="8" name="Oval 7"/>
          <p:cNvSpPr/>
          <p:nvPr/>
        </p:nvSpPr>
        <p:spPr>
          <a:xfrm>
            <a:off x="1116711" y="1275588"/>
            <a:ext cx="1417320" cy="1417320"/>
          </a:xfrm>
          <a:prstGeom prst="ellipse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s_shri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5291" y="1344168"/>
            <a:ext cx="1280160" cy="128016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49224" y="3159252"/>
            <a:ext cx="82296" cy="82296"/>
          </a:xfrm>
          <a:prstGeom prst="ellipse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i="0" spc="70">
                <a:solidFill>
                  <a:srgbClr val="18120E"/>
                </a:solidFill>
                <a:latin typeface="Calibri"/>
              </a:rPr>
              <a:t>25 Г · 20 ШТ/КАРТ.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3374136"/>
            <a:ext cx="235229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8120E"/>
                </a:solidFill>
                <a:latin typeface="Cambria"/>
              </a:rPr>
              <a:t>Furikake з креветкою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" y="3712463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 i="0">
                <a:solidFill>
                  <a:srgbClr val="6A5F56"/>
                </a:solidFill>
                <a:latin typeface="Calibri"/>
              </a:rPr>
              <a:t>Видима креветка та дрібна риба — джерело мікроелементів. 3–4 г на 200 г рису.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i="0" spc="60">
                <a:solidFill>
                  <a:srgbClr val="C9A15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$0,72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3718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FFFFFF"/>
                </a:solidFill>
                <a:latin typeface="Calibri"/>
              </a:rPr>
              <a:t>36,49 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" y="5321808"/>
            <a:ext cx="2352294" cy="9144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6A5F56"/>
                </a:solidFill>
                <a:latin typeface="Calibri"/>
              </a:rPr>
              <a:t>С/С, €/од.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9014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 i="0">
                <a:solidFill>
                  <a:srgbClr val="18120E"/>
                </a:solidFill>
                <a:latin typeface="Calibri"/>
              </a:rPr>
              <a:t>€0,81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" y="5591556"/>
            <a:ext cx="2352294" cy="9144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6A5F56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9014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 i="0">
                <a:solidFill>
                  <a:srgbClr val="18120E"/>
                </a:solidFill>
                <a:latin typeface="Calibri"/>
              </a:rPr>
              <a:t>1,46 ₴/г</a:t>
            </a:r>
          </a:p>
        </p:txBody>
      </p:sp>
      <p:sp>
        <p:nvSpPr>
          <p:cNvPr id="24" name="Oval 23"/>
          <p:cNvSpPr/>
          <p:nvPr/>
        </p:nvSpPr>
        <p:spPr>
          <a:xfrm>
            <a:off x="3962781" y="1275588"/>
            <a:ext cx="1417320" cy="1417320"/>
          </a:xfrm>
          <a:prstGeom prst="ellipse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ms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1361" y="1344168"/>
            <a:ext cx="1280160" cy="12801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348990" y="2738627"/>
            <a:ext cx="264490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80" b="0" i="1">
                <a:solidFill>
                  <a:srgbClr val="6A5F56"/>
                </a:solidFill>
                <a:latin typeface="Cambria"/>
              </a:rPr>
              <a:t>фото — коробка 80 г з каталогу</a:t>
            </a:r>
          </a:p>
        </p:txBody>
      </p:sp>
      <p:sp>
        <p:nvSpPr>
          <p:cNvPr id="27" name="Oval 26"/>
          <p:cNvSpPr/>
          <p:nvPr/>
        </p:nvSpPr>
        <p:spPr>
          <a:xfrm>
            <a:off x="3495294" y="3159252"/>
            <a:ext cx="82296" cy="82296"/>
          </a:xfrm>
          <a:prstGeom prst="ellipse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074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i="0" spc="70">
                <a:solidFill>
                  <a:srgbClr val="18120E"/>
                </a:solidFill>
                <a:latin typeface="Calibri"/>
              </a:rPr>
              <a:t>25 Г · 20 ШТ/КАРТ.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95294" y="3374136"/>
            <a:ext cx="235229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8120E"/>
                </a:solidFill>
                <a:latin typeface="Cambria"/>
              </a:rPr>
              <a:t>Furikake васабі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95294" y="3712463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 i="0">
                <a:solidFill>
                  <a:srgbClr val="6A5F56"/>
                </a:solidFill>
                <a:latin typeface="Calibri"/>
              </a:rPr>
              <a:t>Освіжаючий аромат васабі. Підходить до смаженого, м’яса на грилі та сашимі.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9529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45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i="0" spc="60">
                <a:solidFill>
                  <a:srgbClr val="C9A15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3245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$0,89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325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FFFFFF"/>
                </a:solidFill>
                <a:latin typeface="Calibri"/>
              </a:rPr>
              <a:t>45,10 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95294" y="5321808"/>
            <a:ext cx="2352294" cy="9144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9529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6A5F56"/>
                </a:solidFill>
                <a:latin typeface="Calibri"/>
              </a:rPr>
              <a:t>С/С, €/од.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3621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 i="0">
                <a:solidFill>
                  <a:srgbClr val="18120E"/>
                </a:solidFill>
                <a:latin typeface="Calibri"/>
              </a:rPr>
              <a:t>€1,00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95294" y="5591556"/>
            <a:ext cx="2352294" cy="9144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9529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6A5F56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3621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 i="0">
                <a:solidFill>
                  <a:srgbClr val="18120E"/>
                </a:solidFill>
                <a:latin typeface="Calibri"/>
              </a:rPr>
              <a:t>1,80 ₴/г</a:t>
            </a:r>
          </a:p>
        </p:txBody>
      </p:sp>
      <p:sp>
        <p:nvSpPr>
          <p:cNvPr id="41" name="Oval 40"/>
          <p:cNvSpPr/>
          <p:nvPr/>
        </p:nvSpPr>
        <p:spPr>
          <a:xfrm>
            <a:off x="6808851" y="1275588"/>
            <a:ext cx="1417320" cy="1417320"/>
          </a:xfrm>
          <a:prstGeom prst="ellipse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877431" y="1344168"/>
            <a:ext cx="1280160" cy="1280160"/>
          </a:xfrm>
          <a:prstGeom prst="ellipse">
            <a:avLst/>
          </a:prstGeom>
          <a:noFill/>
          <a:ln w="13970">
            <a:solidFill>
              <a:srgbClr val="1812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307199" y="1837944"/>
            <a:ext cx="420624" cy="274320"/>
          </a:xfrm>
          <a:prstGeom prst="roundRect">
            <a:avLst>
              <a:gd name="adj" fmla="val 20000"/>
            </a:avLst>
          </a:prstGeom>
          <a:noFill/>
          <a:ln w="15240">
            <a:solidFill>
              <a:srgbClr val="1812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444359" y="1787652"/>
            <a:ext cx="146304" cy="59436"/>
          </a:xfrm>
          <a:prstGeom prst="roundRect">
            <a:avLst>
              <a:gd name="adj" fmla="val 30000"/>
            </a:avLst>
          </a:prstGeom>
          <a:noFill/>
          <a:ln w="15240">
            <a:solidFill>
              <a:srgbClr val="1812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448931" y="1933955"/>
            <a:ext cx="137160" cy="137160"/>
          </a:xfrm>
          <a:prstGeom prst="ellipse">
            <a:avLst/>
          </a:prstGeom>
          <a:noFill/>
          <a:ln w="15240">
            <a:solidFill>
              <a:srgbClr val="1812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95060" y="2738627"/>
            <a:ext cx="264490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60" b="1" i="0" spc="80">
                <a:solidFill>
                  <a:srgbClr val="C32733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47" name="Oval 46"/>
          <p:cNvSpPr/>
          <p:nvPr/>
        </p:nvSpPr>
        <p:spPr>
          <a:xfrm>
            <a:off x="6341364" y="3159252"/>
            <a:ext cx="82296" cy="82296"/>
          </a:xfrm>
          <a:prstGeom prst="ellipse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9681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i="0" spc="70">
                <a:solidFill>
                  <a:srgbClr val="18120E"/>
                </a:solidFill>
                <a:latin typeface="Calibri"/>
              </a:rPr>
              <a:t>25 Г · 20 ШТ/КАРТ.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41364" y="3374136"/>
            <a:ext cx="235229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8120E"/>
                </a:solidFill>
                <a:latin typeface="Cambria"/>
              </a:rPr>
              <a:t>Furikake зі смаком кімчі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41364" y="3712463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 i="0">
                <a:solidFill>
                  <a:srgbClr val="6A5F56"/>
                </a:solidFill>
                <a:latin typeface="Calibri"/>
              </a:rPr>
              <a:t>Гострий профіль кімчі. У роздрібному каталозі постачальника позиція відсутня.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4136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7852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i="0" spc="60">
                <a:solidFill>
                  <a:srgbClr val="C9A15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7852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$0,66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2932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FFFFFF"/>
                </a:solidFill>
                <a:latin typeface="Calibri"/>
              </a:rPr>
              <a:t>33,19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41364" y="5321808"/>
            <a:ext cx="2352294" cy="9144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4136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6A5F56"/>
                </a:solidFill>
                <a:latin typeface="Calibri"/>
              </a:rPr>
              <a:t>С/С, €/од.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8228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 i="0">
                <a:solidFill>
                  <a:srgbClr val="18120E"/>
                </a:solidFill>
                <a:latin typeface="Calibri"/>
              </a:rPr>
              <a:t>€0,74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41364" y="5591556"/>
            <a:ext cx="2352294" cy="9144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4136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6A5F56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8228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 i="0">
                <a:solidFill>
                  <a:srgbClr val="18120E"/>
                </a:solidFill>
                <a:latin typeface="Calibri"/>
              </a:rPr>
              <a:t>1,33 ₴/г</a:t>
            </a:r>
          </a:p>
        </p:txBody>
      </p:sp>
      <p:sp>
        <p:nvSpPr>
          <p:cNvPr id="61" name="Oval 60"/>
          <p:cNvSpPr/>
          <p:nvPr/>
        </p:nvSpPr>
        <p:spPr>
          <a:xfrm>
            <a:off x="9654921" y="1275588"/>
            <a:ext cx="1417320" cy="1417320"/>
          </a:xfrm>
          <a:prstGeom prst="ellipse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ms_nor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3501" y="1344168"/>
            <a:ext cx="1280160" cy="1280160"/>
          </a:xfrm>
          <a:prstGeom prst="rect">
            <a:avLst/>
          </a:prstGeom>
        </p:spPr>
      </p:pic>
      <p:sp>
        <p:nvSpPr>
          <p:cNvPr id="63" name="Oval 62"/>
          <p:cNvSpPr/>
          <p:nvPr/>
        </p:nvSpPr>
        <p:spPr>
          <a:xfrm>
            <a:off x="9187434" y="3159252"/>
            <a:ext cx="82296" cy="82296"/>
          </a:xfrm>
          <a:prstGeom prst="ellipse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34288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i="0" spc="70">
                <a:solidFill>
                  <a:srgbClr val="18120E"/>
                </a:solidFill>
                <a:latin typeface="Calibri"/>
              </a:rPr>
              <a:t>25 Г · 20 ШТ/КАРТ.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87434" y="3374136"/>
            <a:ext cx="235229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8120E"/>
                </a:solidFill>
                <a:latin typeface="Cambria"/>
              </a:rPr>
              <a:t>Furikake з норі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87434" y="3712463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 i="0">
                <a:solidFill>
                  <a:srgbClr val="6A5F56"/>
                </a:solidFill>
                <a:latin typeface="Calibri"/>
              </a:rPr>
              <a:t>Кунжут і норі — базовий смак серії. Універсальна присипка до рису.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18743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32459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i="0" spc="60">
                <a:solidFill>
                  <a:srgbClr val="C9A15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2459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$0,56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17539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FFFFFF"/>
                </a:solidFill>
                <a:latin typeface="Calibri"/>
              </a:rPr>
              <a:t>28,12 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187434" y="5321808"/>
            <a:ext cx="2352294" cy="9144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8743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6A5F56"/>
                </a:solidFill>
                <a:latin typeface="Calibri"/>
              </a:rPr>
              <a:t>С/С, €/од.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2835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 i="0">
                <a:solidFill>
                  <a:srgbClr val="18120E"/>
                </a:solidFill>
                <a:latin typeface="Calibri"/>
              </a:rPr>
              <a:t>€0,62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87434" y="5591556"/>
            <a:ext cx="2352294" cy="9144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18743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6A5F56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2835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 i="0">
                <a:solidFill>
                  <a:srgbClr val="18120E"/>
                </a:solidFill>
                <a:latin typeface="Calibri"/>
              </a:rPr>
              <a:t>1,12 ₴/г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02920" y="6309360"/>
            <a:ext cx="10680192" cy="384048"/>
          </a:xfrm>
          <a:prstGeom prst="roundRect">
            <a:avLst>
              <a:gd name="adj" fmla="val 10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Isosceles Triangle 77"/>
          <p:cNvSpPr/>
          <p:nvPr/>
        </p:nvSpPr>
        <p:spPr>
          <a:xfrm>
            <a:off x="685800" y="6364224"/>
            <a:ext cx="237744" cy="213969"/>
          </a:xfrm>
          <a:prstGeom prst="triangle">
            <a:avLst/>
          </a:prstGeom>
          <a:solidFill>
            <a:srgbClr val="C9A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85800" y="6407017"/>
            <a:ext cx="237744" cy="1426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120E"/>
                </a:solidFill>
                <a:latin typeface="Calibri"/>
              </a:rPr>
              <a:t>!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69848" y="6309360"/>
            <a:ext cx="94274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30" b="0" i="0">
                <a:solidFill>
                  <a:srgbClr val="F3EADF"/>
                </a:solidFill>
                <a:latin typeface="Calibri"/>
              </a:rPr>
              <a:t>Розрахунок побудований лише для збірного вантажу 17 м³ — на відміну від 4-рівневого порівняння в профілі ZEK. Для зіставлення постачальників за обсягом контейнера потрібно домоделювати сценарії 40′ / 20′ / 34 м³.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22883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 i="0">
                <a:solidFill>
                  <a:srgbClr val="9A918A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8620"/>
            <a:ext cx="274320" cy="15544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310896"/>
            <a:ext cx="5943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80">
                <a:solidFill>
                  <a:srgbClr val="C32733"/>
                </a:solidFill>
                <a:latin typeface="Calibri"/>
              </a:rPr>
              <a:t>MISHIMA · FURIKAKE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8120E"/>
                </a:solidFill>
                <a:latin typeface="Cambria"/>
              </a:rPr>
              <a:t>Furikake 50 г — собівартість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39912" y="493776"/>
            <a:ext cx="3246120" cy="384048"/>
          </a:xfrm>
          <a:prstGeom prst="roundRect">
            <a:avLst>
              <a:gd name="adj" fmla="val 50000"/>
            </a:avLst>
          </a:prstGeom>
          <a:noFill/>
          <a:ln w="13970">
            <a:solidFill>
              <a:srgbClr val="C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39912" y="493776"/>
            <a:ext cx="3246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 spc="30">
                <a:solidFill>
                  <a:srgbClr val="C32733"/>
                </a:solidFill>
                <a:latin typeface="Calibri"/>
              </a:rPr>
              <a:t>ЗБІРНИЙ ВАНТАЖ 17 М³ · ОДИН СЦЕНАРІЙ</a:t>
            </a:r>
          </a:p>
        </p:txBody>
      </p:sp>
      <p:sp>
        <p:nvSpPr>
          <p:cNvPr id="8" name="Oval 7"/>
          <p:cNvSpPr/>
          <p:nvPr/>
        </p:nvSpPr>
        <p:spPr>
          <a:xfrm>
            <a:off x="1116711" y="1275588"/>
            <a:ext cx="1417320" cy="1417320"/>
          </a:xfrm>
          <a:prstGeom prst="ellipse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s_shri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5291" y="1344168"/>
            <a:ext cx="1280160" cy="128016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49224" y="3159252"/>
            <a:ext cx="82296" cy="82296"/>
          </a:xfrm>
          <a:prstGeom prst="ellipse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i="0" spc="70">
                <a:solidFill>
                  <a:srgbClr val="18120E"/>
                </a:solidFill>
                <a:latin typeface="Calibri"/>
              </a:rPr>
              <a:t>50 Г · 64 ШТ/КАРТ.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3374136"/>
            <a:ext cx="235229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8120E"/>
                </a:solidFill>
                <a:latin typeface="Cambria"/>
              </a:rPr>
              <a:t>Furikake з креветкою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" y="3712463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 i="0">
                <a:solidFill>
                  <a:srgbClr val="6A5F56"/>
                </a:solidFill>
                <a:latin typeface="Calibri"/>
              </a:rPr>
              <a:t>Та сама рецептура у подвійній фасовці — 64 пакети в коробі.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i="0" spc="60">
                <a:solidFill>
                  <a:srgbClr val="C9A15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$1,38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3718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FFFFFF"/>
                </a:solidFill>
                <a:latin typeface="Calibri"/>
              </a:rPr>
              <a:t>69,91 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" y="5321808"/>
            <a:ext cx="2352294" cy="9144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6A5F56"/>
                </a:solidFill>
                <a:latin typeface="Calibri"/>
              </a:rPr>
              <a:t>С/С, €/од.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9014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 i="0">
                <a:solidFill>
                  <a:srgbClr val="18120E"/>
                </a:solidFill>
                <a:latin typeface="Calibri"/>
              </a:rPr>
              <a:t>€1,55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" y="5591556"/>
            <a:ext cx="2352294" cy="9144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6A5F56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9014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 i="0">
                <a:solidFill>
                  <a:srgbClr val="18120E"/>
                </a:solidFill>
                <a:latin typeface="Calibri"/>
              </a:rPr>
              <a:t>1,40 ₴/г</a:t>
            </a:r>
          </a:p>
        </p:txBody>
      </p:sp>
      <p:sp>
        <p:nvSpPr>
          <p:cNvPr id="24" name="Oval 23"/>
          <p:cNvSpPr/>
          <p:nvPr/>
        </p:nvSpPr>
        <p:spPr>
          <a:xfrm>
            <a:off x="3962781" y="1275588"/>
            <a:ext cx="1417320" cy="1417320"/>
          </a:xfrm>
          <a:prstGeom prst="ellipse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ms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1361" y="1344168"/>
            <a:ext cx="1280160" cy="12801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348990" y="2738627"/>
            <a:ext cx="264490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80" b="0" i="1">
                <a:solidFill>
                  <a:srgbClr val="6A5F56"/>
                </a:solidFill>
                <a:latin typeface="Cambria"/>
              </a:rPr>
              <a:t>фото — коробка 80 г з каталогу</a:t>
            </a:r>
          </a:p>
        </p:txBody>
      </p:sp>
      <p:sp>
        <p:nvSpPr>
          <p:cNvPr id="27" name="Oval 26"/>
          <p:cNvSpPr/>
          <p:nvPr/>
        </p:nvSpPr>
        <p:spPr>
          <a:xfrm>
            <a:off x="3495294" y="3159252"/>
            <a:ext cx="82296" cy="82296"/>
          </a:xfrm>
          <a:prstGeom prst="ellipse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074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i="0" spc="70">
                <a:solidFill>
                  <a:srgbClr val="18120E"/>
                </a:solidFill>
                <a:latin typeface="Calibri"/>
              </a:rPr>
              <a:t>50 Г · 64 ШТ/КАРТ.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95294" y="3374136"/>
            <a:ext cx="235229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8120E"/>
                </a:solidFill>
                <a:latin typeface="Cambria"/>
              </a:rPr>
              <a:t>Furikake васабі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95294" y="3712463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 i="0">
                <a:solidFill>
                  <a:srgbClr val="6A5F56"/>
                </a:solidFill>
                <a:latin typeface="Calibri"/>
              </a:rPr>
              <a:t>Найдорожча позиція Mishima в розрахунку: ₴1,65 за грам.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9529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45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i="0" spc="60">
                <a:solidFill>
                  <a:srgbClr val="C9A15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3245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$1,63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325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FFFFFF"/>
                </a:solidFill>
                <a:latin typeface="Calibri"/>
              </a:rPr>
              <a:t>82,74 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95294" y="5321808"/>
            <a:ext cx="2352294" cy="9144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9529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6A5F56"/>
                </a:solidFill>
                <a:latin typeface="Calibri"/>
              </a:rPr>
              <a:t>С/С, €/од.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3621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 i="0">
                <a:solidFill>
                  <a:srgbClr val="18120E"/>
                </a:solidFill>
                <a:latin typeface="Calibri"/>
              </a:rPr>
              <a:t>€1,84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95294" y="5591556"/>
            <a:ext cx="2352294" cy="9144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9529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6A5F56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3621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 i="0">
                <a:solidFill>
                  <a:srgbClr val="18120E"/>
                </a:solidFill>
                <a:latin typeface="Calibri"/>
              </a:rPr>
              <a:t>1,65 ₴/г</a:t>
            </a:r>
          </a:p>
        </p:txBody>
      </p:sp>
      <p:sp>
        <p:nvSpPr>
          <p:cNvPr id="41" name="Oval 40"/>
          <p:cNvSpPr/>
          <p:nvPr/>
        </p:nvSpPr>
        <p:spPr>
          <a:xfrm>
            <a:off x="6808851" y="1275588"/>
            <a:ext cx="1417320" cy="1417320"/>
          </a:xfrm>
          <a:prstGeom prst="ellipse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877431" y="1344168"/>
            <a:ext cx="1280160" cy="1280160"/>
          </a:xfrm>
          <a:prstGeom prst="ellipse">
            <a:avLst/>
          </a:prstGeom>
          <a:noFill/>
          <a:ln w="13970">
            <a:solidFill>
              <a:srgbClr val="1812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307199" y="1837944"/>
            <a:ext cx="420624" cy="274320"/>
          </a:xfrm>
          <a:prstGeom prst="roundRect">
            <a:avLst>
              <a:gd name="adj" fmla="val 20000"/>
            </a:avLst>
          </a:prstGeom>
          <a:noFill/>
          <a:ln w="15240">
            <a:solidFill>
              <a:srgbClr val="1812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444359" y="1787652"/>
            <a:ext cx="146304" cy="59436"/>
          </a:xfrm>
          <a:prstGeom prst="roundRect">
            <a:avLst>
              <a:gd name="adj" fmla="val 30000"/>
            </a:avLst>
          </a:prstGeom>
          <a:noFill/>
          <a:ln w="15240">
            <a:solidFill>
              <a:srgbClr val="1812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448931" y="1933955"/>
            <a:ext cx="137160" cy="137160"/>
          </a:xfrm>
          <a:prstGeom prst="ellipse">
            <a:avLst/>
          </a:prstGeom>
          <a:noFill/>
          <a:ln w="15240">
            <a:solidFill>
              <a:srgbClr val="1812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95060" y="2738627"/>
            <a:ext cx="264490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60" b="1" i="0" spc="80">
                <a:solidFill>
                  <a:srgbClr val="C32733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47" name="Oval 46"/>
          <p:cNvSpPr/>
          <p:nvPr/>
        </p:nvSpPr>
        <p:spPr>
          <a:xfrm>
            <a:off x="6341364" y="3159252"/>
            <a:ext cx="82296" cy="82296"/>
          </a:xfrm>
          <a:prstGeom prst="ellipse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9681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i="0" spc="70">
                <a:solidFill>
                  <a:srgbClr val="18120E"/>
                </a:solidFill>
                <a:latin typeface="Calibri"/>
              </a:rPr>
              <a:t>50 Г · 64 ШТ/КАРТ.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41364" y="3374136"/>
            <a:ext cx="235229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8120E"/>
                </a:solidFill>
                <a:latin typeface="Cambria"/>
              </a:rPr>
              <a:t>Furikake зі смаком кімчі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41364" y="3712463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 i="0">
                <a:solidFill>
                  <a:srgbClr val="6A5F56"/>
                </a:solidFill>
                <a:latin typeface="Calibri"/>
              </a:rPr>
              <a:t>Найнижча питома собівартість серед 50-грамових позицій.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4136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7852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i="0" spc="60">
                <a:solidFill>
                  <a:srgbClr val="C9A15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7852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$1,20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2932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FFFFFF"/>
                </a:solidFill>
                <a:latin typeface="Calibri"/>
              </a:rPr>
              <a:t>60,65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41364" y="5321808"/>
            <a:ext cx="2352294" cy="9144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4136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6A5F56"/>
                </a:solidFill>
                <a:latin typeface="Calibri"/>
              </a:rPr>
              <a:t>С/С, €/од.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8228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 i="0">
                <a:solidFill>
                  <a:srgbClr val="18120E"/>
                </a:solidFill>
                <a:latin typeface="Calibri"/>
              </a:rPr>
              <a:t>€1,35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41364" y="5591556"/>
            <a:ext cx="2352294" cy="9144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4136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6A5F56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8228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 i="0">
                <a:solidFill>
                  <a:srgbClr val="18120E"/>
                </a:solidFill>
                <a:latin typeface="Calibri"/>
              </a:rPr>
              <a:t>1,21 ₴/г</a:t>
            </a:r>
          </a:p>
        </p:txBody>
      </p:sp>
      <p:sp>
        <p:nvSpPr>
          <p:cNvPr id="61" name="Oval 60"/>
          <p:cNvSpPr/>
          <p:nvPr/>
        </p:nvSpPr>
        <p:spPr>
          <a:xfrm>
            <a:off x="9654921" y="1275588"/>
            <a:ext cx="1417320" cy="1417320"/>
          </a:xfrm>
          <a:prstGeom prst="ellipse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ms_nor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3501" y="1344168"/>
            <a:ext cx="1280160" cy="1280160"/>
          </a:xfrm>
          <a:prstGeom prst="rect">
            <a:avLst/>
          </a:prstGeom>
        </p:spPr>
      </p:pic>
      <p:sp>
        <p:nvSpPr>
          <p:cNvPr id="63" name="Oval 62"/>
          <p:cNvSpPr/>
          <p:nvPr/>
        </p:nvSpPr>
        <p:spPr>
          <a:xfrm>
            <a:off x="9187434" y="3159252"/>
            <a:ext cx="82296" cy="82296"/>
          </a:xfrm>
          <a:prstGeom prst="ellipse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34288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i="0" spc="70">
                <a:solidFill>
                  <a:srgbClr val="18120E"/>
                </a:solidFill>
                <a:latin typeface="Calibri"/>
              </a:rPr>
              <a:t>50 Г · 64 ШТ/КАРТ.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87434" y="3374136"/>
            <a:ext cx="235229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8120E"/>
                </a:solidFill>
                <a:latin typeface="Cambria"/>
              </a:rPr>
              <a:t>Furikake з норі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87434" y="3712463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 i="0">
                <a:solidFill>
                  <a:srgbClr val="6A5F56"/>
                </a:solidFill>
                <a:latin typeface="Calibri"/>
              </a:rPr>
              <a:t>Найдешевша позиція розрахунку — ₴1,01 за грам.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18743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32459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i="0" spc="60">
                <a:solidFill>
                  <a:srgbClr val="C9A15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2459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$1,00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17539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FFFFFF"/>
                </a:solidFill>
                <a:latin typeface="Calibri"/>
              </a:rPr>
              <a:t>50,44 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187434" y="5321808"/>
            <a:ext cx="2352294" cy="9144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8743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6A5F56"/>
                </a:solidFill>
                <a:latin typeface="Calibri"/>
              </a:rPr>
              <a:t>С/С, €/од.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2835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 i="0">
                <a:solidFill>
                  <a:srgbClr val="18120E"/>
                </a:solidFill>
                <a:latin typeface="Calibri"/>
              </a:rPr>
              <a:t>€1,12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87434" y="5591556"/>
            <a:ext cx="2352294" cy="9144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18743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6A5F56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2835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 i="0">
                <a:solidFill>
                  <a:srgbClr val="18120E"/>
                </a:solidFill>
                <a:latin typeface="Calibri"/>
              </a:rPr>
              <a:t>1,01 ₴/г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02920" y="6309360"/>
            <a:ext cx="10680192" cy="384048"/>
          </a:xfrm>
          <a:prstGeom prst="roundRect">
            <a:avLst>
              <a:gd name="adj" fmla="val 10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Isosceles Triangle 77"/>
          <p:cNvSpPr/>
          <p:nvPr/>
        </p:nvSpPr>
        <p:spPr>
          <a:xfrm>
            <a:off x="685800" y="6364224"/>
            <a:ext cx="237744" cy="213969"/>
          </a:xfrm>
          <a:prstGeom prst="triangle">
            <a:avLst/>
          </a:prstGeom>
          <a:solidFill>
            <a:srgbClr val="C9A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85800" y="6407017"/>
            <a:ext cx="237744" cy="1426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120E"/>
                </a:solidFill>
                <a:latin typeface="Calibri"/>
              </a:rPr>
              <a:t>!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69848" y="6309360"/>
            <a:ext cx="94274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30" b="0" i="0">
                <a:solidFill>
                  <a:srgbClr val="F3EADF"/>
                </a:solidFill>
                <a:latin typeface="Calibri"/>
              </a:rPr>
              <a:t>Смак «кімчі» відсутній у роздрібному каталозі постачальника — SKU та фото потребують підтвердження. Фото 25 і 50 г ідентичні: постачальник показує одну ілюстрацію пакування на смак.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22883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 i="0">
                <a:solidFill>
                  <a:srgbClr val="9A918A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01000" y="0"/>
            <a:ext cx="4187952" cy="6858000"/>
          </a:xfrm>
          <a:prstGeom prst="rect">
            <a:avLst/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akaokaya_profile_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0"/>
            <a:ext cx="4187952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001000" y="6473952"/>
            <a:ext cx="4187952" cy="384048"/>
          </a:xfrm>
          <a:prstGeom prst="rect">
            <a:avLst/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65592" y="6473952"/>
            <a:ext cx="38587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0" b="0" i="0">
                <a:solidFill>
                  <a:srgbClr val="F3EADF"/>
                </a:solidFill>
                <a:latin typeface="Calibri"/>
              </a:rPr>
              <a:t>ВІЗУАЛІЗАЦІЯ ФАСОВКИ FRESH-LOCK · ФОТО ПОСТАЧАЛЬНИКА ВІДСУТНІ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61772"/>
            <a:ext cx="274320" cy="15544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384048"/>
            <a:ext cx="5943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80">
                <a:solidFill>
                  <a:srgbClr val="C32733"/>
                </a:solidFill>
                <a:latin typeface="Calibri"/>
              </a:rPr>
              <a:t>ПРОФІЛЬ ПОСТАЧАЛЬНИКА ·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8368"/>
            <a:ext cx="717804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18120E"/>
                </a:solidFill>
                <a:latin typeface="Cambria"/>
              </a:rPr>
              <a:t>Takaokaya Co., Ltd.</a:t>
            </a:r>
          </a:p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18120E"/>
                </a:solidFill>
                <a:latin typeface="Cambria"/>
              </a:rPr>
              <a:t>(бренд Kinjirushi)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65376"/>
            <a:ext cx="7178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C32733"/>
                </a:solidFill>
                <a:latin typeface="Cambria"/>
              </a:rPr>
              <a:t>Бутильоване фурікаке та васабі-приправи · Японія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231136"/>
            <a:ext cx="3055924" cy="329184"/>
          </a:xfrm>
          <a:prstGeom prst="roundRect">
            <a:avLst>
              <a:gd name="adj" fmla="val 50000"/>
            </a:avLst>
          </a:prstGeom>
          <a:noFill/>
          <a:ln w="13970">
            <a:solidFill>
              <a:srgbClr val="C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231136"/>
            <a:ext cx="305592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 spc="40">
                <a:solidFill>
                  <a:srgbClr val="C32733"/>
                </a:solidFill>
                <a:latin typeface="Calibri"/>
              </a:rPr>
              <a:t>FOB ЯПОНІЯ (ПОРТ УТОЧНЮЄТЬСЯ)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743200"/>
            <a:ext cx="7178040" cy="12801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862072"/>
            <a:ext cx="7178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80">
                <a:solidFill>
                  <a:srgbClr val="C32733"/>
                </a:solidFill>
                <a:latin typeface="Calibri"/>
              </a:rPr>
              <a:t>ПРО КОМПАНІЮ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099815"/>
            <a:ext cx="7178040" cy="992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8120E"/>
                </a:solidFill>
                <a:latin typeface="Cambria"/>
              </a:rPr>
              <a:t>Заснована 1929 р., спеціалізується на продукції з автентичного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8120E"/>
                </a:solidFill>
                <a:latin typeface="Cambria"/>
              </a:rPr>
              <a:t>японського васабі (регіон Адзуміно). Бренд Kinjirushi. Дочірня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8120E"/>
                </a:solidFill>
                <a:latin typeface="Cambria"/>
              </a:rPr>
              <a:t>Takaokaya USA працює з 1986 р. Постачається у скляних «fresh-lock»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8120E"/>
                </a:solidFill>
                <a:latin typeface="Cambria"/>
              </a:rPr>
              <a:t>пляшечках 45–60 г — преміум «Made in Japan» на відміну від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8120E"/>
                </a:solidFill>
                <a:latin typeface="Cambria"/>
              </a:rPr>
              <a:t>пакетованого фурікаке з Китаю.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128515"/>
            <a:ext cx="7178040" cy="12801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293107"/>
            <a:ext cx="34975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C32733"/>
                </a:solidFill>
                <a:latin typeface="Cambria"/>
              </a:rPr>
              <a:t>1929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677155"/>
            <a:ext cx="34975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30" b="0" i="0">
                <a:solidFill>
                  <a:srgbClr val="6A5F56"/>
                </a:solidFill>
                <a:latin typeface="Calibri"/>
              </a:rPr>
              <a:t>рік заснування</a:t>
            </a:r>
          </a:p>
          <a:p>
            <a:pPr algn="l">
              <a:lnSpc>
                <a:spcPct val="114000"/>
              </a:lnSpc>
            </a:pPr>
            <a:r>
              <a:rPr sz="830" b="0" i="0">
                <a:solidFill>
                  <a:srgbClr val="6A5F56"/>
                </a:solidFill>
                <a:latin typeface="Calibri"/>
              </a:rPr>
              <a:t>бренду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91939" y="4320540"/>
            <a:ext cx="10058" cy="548640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4820" y="4293107"/>
            <a:ext cx="33146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C32733"/>
                </a:solidFill>
                <a:latin typeface="Cambria"/>
              </a:rPr>
              <a:t>45–60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4820" y="4677155"/>
            <a:ext cx="331469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30" b="0" i="0">
                <a:solidFill>
                  <a:srgbClr val="6A5F56"/>
                </a:solidFill>
                <a:latin typeface="Calibri"/>
              </a:rPr>
              <a:t>фасовка,</a:t>
            </a:r>
          </a:p>
          <a:p>
            <a:pPr algn="l">
              <a:lnSpc>
                <a:spcPct val="114000"/>
              </a:lnSpc>
            </a:pPr>
            <a:r>
              <a:rPr sz="830" b="0" i="0">
                <a:solidFill>
                  <a:srgbClr val="6A5F56"/>
                </a:solidFill>
                <a:latin typeface="Calibri"/>
              </a:rPr>
              <a:t>скляна пляшка</a:t>
            </a:r>
          </a:p>
        </p:txBody>
      </p:sp>
      <p:sp>
        <p:nvSpPr>
          <p:cNvPr id="22" name="Oval 21"/>
          <p:cNvSpPr/>
          <p:nvPr/>
        </p:nvSpPr>
        <p:spPr>
          <a:xfrm>
            <a:off x="521208" y="5266944"/>
            <a:ext cx="82296" cy="82296"/>
          </a:xfrm>
          <a:prstGeom prst="ellipse">
            <a:avLst/>
          </a:prstGeom>
          <a:solidFill>
            <a:srgbClr val="1E5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5170931"/>
            <a:ext cx="154762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 i="0">
                <a:solidFill>
                  <a:srgbClr val="18120E"/>
                </a:solidFill>
                <a:latin typeface="Calibri"/>
              </a:rPr>
              <a:t>Nori</a:t>
            </a:r>
          </a:p>
        </p:txBody>
      </p:sp>
      <p:sp>
        <p:nvSpPr>
          <p:cNvPr id="24" name="Oval 23"/>
          <p:cNvSpPr/>
          <p:nvPr/>
        </p:nvSpPr>
        <p:spPr>
          <a:xfrm>
            <a:off x="2334006" y="5266944"/>
            <a:ext cx="82296" cy="82296"/>
          </a:xfrm>
          <a:prstGeom prst="ellipse">
            <a:avLst/>
          </a:prstGeom>
          <a:solidFill>
            <a:srgbClr val="74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89453" y="5170931"/>
            <a:ext cx="154762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 i="0">
                <a:solidFill>
                  <a:srgbClr val="18120E"/>
                </a:solidFill>
                <a:latin typeface="Calibri"/>
              </a:rPr>
              <a:t>Nori Wasabi</a:t>
            </a:r>
          </a:p>
        </p:txBody>
      </p:sp>
      <p:sp>
        <p:nvSpPr>
          <p:cNvPr id="26" name="Oval 25"/>
          <p:cNvSpPr/>
          <p:nvPr/>
        </p:nvSpPr>
        <p:spPr>
          <a:xfrm>
            <a:off x="4146803" y="5266944"/>
            <a:ext cx="82296" cy="82296"/>
          </a:xfrm>
          <a:prstGeom prst="ellipse">
            <a:avLst/>
          </a:prstGeom>
          <a:solidFill>
            <a:srgbClr val="C99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02252" y="5170931"/>
            <a:ext cx="154762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 i="0">
                <a:solidFill>
                  <a:srgbClr val="18120E"/>
                </a:solidFill>
                <a:latin typeface="Calibri"/>
              </a:rPr>
              <a:t>Yuzu Kosho</a:t>
            </a:r>
          </a:p>
        </p:txBody>
      </p:sp>
      <p:sp>
        <p:nvSpPr>
          <p:cNvPr id="28" name="Oval 27"/>
          <p:cNvSpPr/>
          <p:nvPr/>
        </p:nvSpPr>
        <p:spPr>
          <a:xfrm>
            <a:off x="5959601" y="5266944"/>
            <a:ext cx="82296" cy="82296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15050" y="5170931"/>
            <a:ext cx="154762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 i="0">
                <a:solidFill>
                  <a:srgbClr val="18120E"/>
                </a:solidFill>
                <a:latin typeface="Calibri"/>
              </a:rPr>
              <a:t>Nori Katsuo</a:t>
            </a:r>
          </a:p>
        </p:txBody>
      </p:sp>
      <p:sp>
        <p:nvSpPr>
          <p:cNvPr id="30" name="Oval 29"/>
          <p:cNvSpPr/>
          <p:nvPr/>
        </p:nvSpPr>
        <p:spPr>
          <a:xfrm>
            <a:off x="521208" y="5596128"/>
            <a:ext cx="82296" cy="82296"/>
          </a:xfrm>
          <a:prstGeom prst="ellipse">
            <a:avLst/>
          </a:prstGeom>
          <a:solidFill>
            <a:srgbClr val="E0A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5500116"/>
            <a:ext cx="154762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 i="0">
                <a:solidFill>
                  <a:srgbClr val="18120E"/>
                </a:solidFill>
                <a:latin typeface="Calibri"/>
              </a:rPr>
              <a:t>Nori Tamago</a:t>
            </a:r>
          </a:p>
        </p:txBody>
      </p:sp>
      <p:sp>
        <p:nvSpPr>
          <p:cNvPr id="32" name="Oval 31"/>
          <p:cNvSpPr/>
          <p:nvPr/>
        </p:nvSpPr>
        <p:spPr>
          <a:xfrm>
            <a:off x="2334006" y="5596128"/>
            <a:ext cx="82296" cy="82296"/>
          </a:xfrm>
          <a:prstGeom prst="ellipse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89453" y="5500116"/>
            <a:ext cx="154762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 i="0">
                <a:solidFill>
                  <a:srgbClr val="18120E"/>
                </a:solidFill>
                <a:latin typeface="Calibri"/>
              </a:rPr>
              <a:t>Curry</a:t>
            </a:r>
          </a:p>
        </p:txBody>
      </p:sp>
      <p:sp>
        <p:nvSpPr>
          <p:cNvPr id="34" name="Oval 33"/>
          <p:cNvSpPr/>
          <p:nvPr/>
        </p:nvSpPr>
        <p:spPr>
          <a:xfrm>
            <a:off x="4146803" y="5596128"/>
            <a:ext cx="82296" cy="82296"/>
          </a:xfrm>
          <a:prstGeom prst="ellipse">
            <a:avLst/>
          </a:prstGeom>
          <a:solidFill>
            <a:srgbClr val="B0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02252" y="5500116"/>
            <a:ext cx="154762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 i="0">
                <a:solidFill>
                  <a:srgbClr val="18120E"/>
                </a:solidFill>
                <a:latin typeface="Calibri"/>
              </a:rPr>
              <a:t>Garlic Chili Oil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6030467"/>
            <a:ext cx="7178040" cy="457200"/>
          </a:xfrm>
          <a:prstGeom prst="roundRect">
            <a:avLst>
              <a:gd name="adj" fmla="val 10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Isosceles Triangle 36"/>
          <p:cNvSpPr/>
          <p:nvPr/>
        </p:nvSpPr>
        <p:spPr>
          <a:xfrm>
            <a:off x="685800" y="6121907"/>
            <a:ext cx="237744" cy="213969"/>
          </a:xfrm>
          <a:prstGeom prst="triangle">
            <a:avLst/>
          </a:prstGeom>
          <a:solidFill>
            <a:srgbClr val="C9A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6164701"/>
            <a:ext cx="237744" cy="1426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120E"/>
                </a:solidFill>
                <a:latin typeface="Calibri"/>
              </a:rPr>
              <a:t>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" y="6030467"/>
            <a:ext cx="59253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30" b="0" i="0">
                <a:solidFill>
                  <a:srgbClr val="F3EADF"/>
                </a:solidFill>
                <a:latin typeface="Calibri"/>
              </a:rPr>
              <a:t>Юридична особа й пряме контактне джерело постачальника в матеріалах компанії відсутні — профіль складено за відкритими даними бренду, потребує верифікації перед контрактом.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14032" y="6030467"/>
            <a:ext cx="42976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50" b="0" i="0">
                <a:solidFill>
                  <a:srgbClr val="F3EAD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8620"/>
            <a:ext cx="274320" cy="15544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310896"/>
            <a:ext cx="5943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80">
                <a:solidFill>
                  <a:srgbClr val="C32733"/>
                </a:solidFill>
                <a:latin typeface="Calibri"/>
              </a:rPr>
              <a:t>TAKAOKAYA · FURIKAKE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8120E"/>
                </a:solidFill>
                <a:latin typeface="Cambria"/>
              </a:rPr>
              <a:t>Fresh-lock пляшки 50 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39912" y="493776"/>
            <a:ext cx="3246120" cy="384048"/>
          </a:xfrm>
          <a:prstGeom prst="roundRect">
            <a:avLst>
              <a:gd name="adj" fmla="val 50000"/>
            </a:avLst>
          </a:prstGeom>
          <a:noFill/>
          <a:ln w="13970">
            <a:solidFill>
              <a:srgbClr val="C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39912" y="493776"/>
            <a:ext cx="3246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 spc="30">
                <a:solidFill>
                  <a:srgbClr val="C32733"/>
                </a:solidFill>
                <a:latin typeface="Calibri"/>
              </a:rPr>
              <a:t>ЗБІРНИЙ ВАНТАЖ 17 М³ · ОДИН СЦЕНАРІЙ</a:t>
            </a:r>
          </a:p>
        </p:txBody>
      </p:sp>
      <p:sp>
        <p:nvSpPr>
          <p:cNvPr id="8" name="Oval 7"/>
          <p:cNvSpPr/>
          <p:nvPr/>
        </p:nvSpPr>
        <p:spPr>
          <a:xfrm>
            <a:off x="1566672" y="1275588"/>
            <a:ext cx="1417320" cy="1417320"/>
          </a:xfrm>
          <a:prstGeom prst="ellipse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35252" y="1344168"/>
            <a:ext cx="1280160" cy="1280160"/>
          </a:xfrm>
          <a:prstGeom prst="ellipse">
            <a:avLst/>
          </a:prstGeom>
          <a:noFill/>
          <a:ln w="13970">
            <a:solidFill>
              <a:srgbClr val="1812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65020" y="1837944"/>
            <a:ext cx="420624" cy="274320"/>
          </a:xfrm>
          <a:prstGeom prst="roundRect">
            <a:avLst>
              <a:gd name="adj" fmla="val 20000"/>
            </a:avLst>
          </a:prstGeom>
          <a:noFill/>
          <a:ln w="15240">
            <a:solidFill>
              <a:srgbClr val="1812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02180" y="1787652"/>
            <a:ext cx="146304" cy="59436"/>
          </a:xfrm>
          <a:prstGeom prst="roundRect">
            <a:avLst>
              <a:gd name="adj" fmla="val 30000"/>
            </a:avLst>
          </a:prstGeom>
          <a:noFill/>
          <a:ln w="15240">
            <a:solidFill>
              <a:srgbClr val="1812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06752" y="1933955"/>
            <a:ext cx="137160" cy="137160"/>
          </a:xfrm>
          <a:prstGeom prst="ellipse">
            <a:avLst/>
          </a:prstGeom>
          <a:noFill/>
          <a:ln w="15240">
            <a:solidFill>
              <a:srgbClr val="1812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738627"/>
            <a:ext cx="35448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60" b="1" i="0" spc="80">
                <a:solidFill>
                  <a:srgbClr val="C32733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14" name="Oval 13"/>
          <p:cNvSpPr/>
          <p:nvPr/>
        </p:nvSpPr>
        <p:spPr>
          <a:xfrm>
            <a:off x="649224" y="3159252"/>
            <a:ext cx="82296" cy="82296"/>
          </a:xfrm>
          <a:prstGeom prst="ellipse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127248"/>
            <a:ext cx="3096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i="0" spc="70">
                <a:solidFill>
                  <a:srgbClr val="18120E"/>
                </a:solidFill>
                <a:latin typeface="Calibri"/>
              </a:rPr>
              <a:t>50 Г · 10 ШТ/КАРТ.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" y="3374136"/>
            <a:ext cx="3252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8120E"/>
                </a:solidFill>
                <a:latin typeface="Cambria"/>
              </a:rPr>
              <a:t>Nori Furikake Bottle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" y="3712463"/>
            <a:ext cx="32522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 i="0">
                <a:solidFill>
                  <a:srgbClr val="6A5F56"/>
                </a:solidFill>
                <a:latin typeface="Calibri"/>
              </a:rPr>
              <a:t>Класична норі-присипка у скляній пляшці fresh-lock.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" y="4425696"/>
            <a:ext cx="3252216" cy="786384"/>
          </a:xfrm>
          <a:prstGeom prst="roundRect">
            <a:avLst>
              <a:gd name="adj" fmla="val 6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4517136"/>
            <a:ext cx="2977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i="0" spc="60">
                <a:solidFill>
                  <a:srgbClr val="C9A15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690872"/>
            <a:ext cx="18212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$1,28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5154" y="4809744"/>
            <a:ext cx="174912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FFFFFF"/>
                </a:solidFill>
                <a:latin typeface="Calibri"/>
              </a:rPr>
              <a:t>86,02 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" y="5321808"/>
            <a:ext cx="3252216" cy="9144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5385816"/>
            <a:ext cx="19513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6A5F56"/>
                </a:solidFill>
                <a:latin typeface="Calibri"/>
              </a:rPr>
              <a:t>С/С, €/од.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50110" y="5367528"/>
            <a:ext cx="195132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 i="0">
                <a:solidFill>
                  <a:srgbClr val="18120E"/>
                </a:solidFill>
                <a:latin typeface="Calibri"/>
              </a:rPr>
              <a:t>€1,91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" y="5591556"/>
            <a:ext cx="3252216" cy="9144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5655564"/>
            <a:ext cx="19513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6A5F56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0110" y="5637276"/>
            <a:ext cx="195132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 i="0">
                <a:solidFill>
                  <a:srgbClr val="18120E"/>
                </a:solidFill>
                <a:latin typeface="Calibri"/>
              </a:rPr>
              <a:t>1,72 ₴/г</a:t>
            </a:r>
          </a:p>
        </p:txBody>
      </p:sp>
      <p:sp>
        <p:nvSpPr>
          <p:cNvPr id="28" name="Oval 27"/>
          <p:cNvSpPr/>
          <p:nvPr/>
        </p:nvSpPr>
        <p:spPr>
          <a:xfrm>
            <a:off x="5385816" y="1275588"/>
            <a:ext cx="1417320" cy="1417320"/>
          </a:xfrm>
          <a:prstGeom prst="ellipse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tk_wasab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4396" y="1344168"/>
            <a:ext cx="1280160" cy="12801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322064" y="2738627"/>
            <a:ext cx="35448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80" b="0" i="1">
                <a:solidFill>
                  <a:srgbClr val="6A5F56"/>
                </a:solidFill>
                <a:latin typeface="Cambria"/>
              </a:rPr>
              <a:t>фото роздрібної версії 70 г</a:t>
            </a:r>
          </a:p>
        </p:txBody>
      </p:sp>
      <p:sp>
        <p:nvSpPr>
          <p:cNvPr id="31" name="Oval 30"/>
          <p:cNvSpPr/>
          <p:nvPr/>
        </p:nvSpPr>
        <p:spPr>
          <a:xfrm>
            <a:off x="4468368" y="3159252"/>
            <a:ext cx="82296" cy="82296"/>
          </a:xfrm>
          <a:prstGeom prst="ellipse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23816" y="3127248"/>
            <a:ext cx="3096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i="0" spc="70">
                <a:solidFill>
                  <a:srgbClr val="18120E"/>
                </a:solidFill>
                <a:latin typeface="Calibri"/>
              </a:rPr>
              <a:t>50 Г · 10 ШТ/КАРТ.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8368" y="3374136"/>
            <a:ext cx="3252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8120E"/>
                </a:solidFill>
                <a:latin typeface="Cambria"/>
              </a:rPr>
              <a:t>Nori Wasabi Furikake Bottle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8368" y="3712463"/>
            <a:ext cx="32522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 i="0">
                <a:solidFill>
                  <a:srgbClr val="6A5F56"/>
                </a:solidFill>
                <a:latin typeface="Calibri"/>
              </a:rPr>
              <a:t>Норі з гранулами японського васабі (регіон Адзуміно). Ціна — як у поз. 1.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68368" y="4425696"/>
            <a:ext cx="3252216" cy="786384"/>
          </a:xfrm>
          <a:prstGeom prst="roundRect">
            <a:avLst>
              <a:gd name="adj" fmla="val 6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05528" y="4517136"/>
            <a:ext cx="2977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i="0" spc="60">
                <a:solidFill>
                  <a:srgbClr val="C9A15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05528" y="4690872"/>
            <a:ext cx="18212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$1,28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34298" y="4809744"/>
            <a:ext cx="174912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FFFFFF"/>
                </a:solidFill>
                <a:latin typeface="Calibri"/>
              </a:rPr>
              <a:t>86,02 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8368" y="5321808"/>
            <a:ext cx="3252216" cy="9144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68368" y="5385816"/>
            <a:ext cx="19513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6A5F56"/>
                </a:solidFill>
                <a:latin typeface="Calibri"/>
              </a:rPr>
              <a:t>С/С, €/од.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69254" y="5367528"/>
            <a:ext cx="195132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 i="0">
                <a:solidFill>
                  <a:srgbClr val="18120E"/>
                </a:solidFill>
                <a:latin typeface="Calibri"/>
              </a:rPr>
              <a:t>€1,91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68368" y="5591556"/>
            <a:ext cx="3252216" cy="9144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68368" y="5655564"/>
            <a:ext cx="19513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6A5F56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69254" y="5637276"/>
            <a:ext cx="195132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 i="0">
                <a:solidFill>
                  <a:srgbClr val="18120E"/>
                </a:solidFill>
                <a:latin typeface="Calibri"/>
              </a:rPr>
              <a:t>1,72 ₴/г</a:t>
            </a:r>
          </a:p>
        </p:txBody>
      </p:sp>
      <p:sp>
        <p:nvSpPr>
          <p:cNvPr id="45" name="Oval 44"/>
          <p:cNvSpPr/>
          <p:nvPr/>
        </p:nvSpPr>
        <p:spPr>
          <a:xfrm>
            <a:off x="9204960" y="1275588"/>
            <a:ext cx="1417320" cy="1417320"/>
          </a:xfrm>
          <a:prstGeom prst="ellipse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273540" y="1344168"/>
            <a:ext cx="1280160" cy="1280160"/>
          </a:xfrm>
          <a:prstGeom prst="ellipse">
            <a:avLst/>
          </a:prstGeom>
          <a:noFill/>
          <a:ln w="13970">
            <a:solidFill>
              <a:srgbClr val="1812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703308" y="1837944"/>
            <a:ext cx="420624" cy="274320"/>
          </a:xfrm>
          <a:prstGeom prst="roundRect">
            <a:avLst>
              <a:gd name="adj" fmla="val 20000"/>
            </a:avLst>
          </a:prstGeom>
          <a:noFill/>
          <a:ln w="15240">
            <a:solidFill>
              <a:srgbClr val="1812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840468" y="1787652"/>
            <a:ext cx="146304" cy="59436"/>
          </a:xfrm>
          <a:prstGeom prst="roundRect">
            <a:avLst>
              <a:gd name="adj" fmla="val 30000"/>
            </a:avLst>
          </a:prstGeom>
          <a:noFill/>
          <a:ln w="15240">
            <a:solidFill>
              <a:srgbClr val="1812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845040" y="1933955"/>
            <a:ext cx="137160" cy="137160"/>
          </a:xfrm>
          <a:prstGeom prst="ellipse">
            <a:avLst/>
          </a:prstGeom>
          <a:noFill/>
          <a:ln w="15240">
            <a:solidFill>
              <a:srgbClr val="1812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41208" y="2738627"/>
            <a:ext cx="35448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60" b="1" i="0" spc="80">
                <a:solidFill>
                  <a:srgbClr val="C32733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51" name="Oval 50"/>
          <p:cNvSpPr/>
          <p:nvPr/>
        </p:nvSpPr>
        <p:spPr>
          <a:xfrm>
            <a:off x="8287512" y="3159252"/>
            <a:ext cx="82296" cy="82296"/>
          </a:xfrm>
          <a:prstGeom prst="ellipse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42960" y="3127248"/>
            <a:ext cx="3096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i="0" spc="70">
                <a:solidFill>
                  <a:srgbClr val="18120E"/>
                </a:solidFill>
                <a:latin typeface="Calibri"/>
              </a:rPr>
              <a:t>50 Г · 10 ШТ/КАРТ.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87512" y="3374136"/>
            <a:ext cx="3252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8120E"/>
                </a:solidFill>
                <a:latin typeface="Cambria"/>
              </a:rPr>
              <a:t>Yuzu Kosho Furikake Bottle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87512" y="3712463"/>
            <a:ext cx="32522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 i="0">
                <a:solidFill>
                  <a:srgbClr val="6A5F56"/>
                </a:solidFill>
                <a:latin typeface="Calibri"/>
              </a:rPr>
              <a:t>Юзу-кошьо з Кюсю: цитрусова цедра та зелений перець.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287512" y="4425696"/>
            <a:ext cx="3252216" cy="786384"/>
          </a:xfrm>
          <a:prstGeom prst="roundRect">
            <a:avLst>
              <a:gd name="adj" fmla="val 6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24672" y="4517136"/>
            <a:ext cx="2977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i="0" spc="60">
                <a:solidFill>
                  <a:srgbClr val="C9A15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24672" y="4690872"/>
            <a:ext cx="18212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$1,34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53442" y="4809744"/>
            <a:ext cx="174912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FFFFFF"/>
                </a:solidFill>
                <a:latin typeface="Calibri"/>
              </a:rPr>
              <a:t>90,46 ₴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87512" y="5321808"/>
            <a:ext cx="3252216" cy="9144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87512" y="5385816"/>
            <a:ext cx="19513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6A5F56"/>
                </a:solidFill>
                <a:latin typeface="Calibri"/>
              </a:rPr>
              <a:t>С/С, €/од.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88398" y="5367528"/>
            <a:ext cx="195132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 i="0">
                <a:solidFill>
                  <a:srgbClr val="18120E"/>
                </a:solidFill>
                <a:latin typeface="Calibri"/>
              </a:rPr>
              <a:t>€2,01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87512" y="5591556"/>
            <a:ext cx="3252216" cy="9144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87512" y="5655564"/>
            <a:ext cx="19513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6A5F56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588398" y="5637276"/>
            <a:ext cx="195132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 i="0">
                <a:solidFill>
                  <a:srgbClr val="18120E"/>
                </a:solidFill>
                <a:latin typeface="Calibri"/>
              </a:rPr>
              <a:t>1,81 ₴/г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6309360"/>
            <a:ext cx="10680192" cy="384048"/>
          </a:xfrm>
          <a:prstGeom prst="roundRect">
            <a:avLst>
              <a:gd name="adj" fmla="val 10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Isosceles Triangle 65"/>
          <p:cNvSpPr/>
          <p:nvPr/>
        </p:nvSpPr>
        <p:spPr>
          <a:xfrm>
            <a:off x="685800" y="6364224"/>
            <a:ext cx="237744" cy="213969"/>
          </a:xfrm>
          <a:prstGeom prst="triangle">
            <a:avLst/>
          </a:prstGeom>
          <a:solidFill>
            <a:srgbClr val="C9A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85800" y="6407017"/>
            <a:ext cx="237744" cy="1426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120E"/>
                </a:solidFill>
                <a:latin typeface="Calibri"/>
              </a:rPr>
              <a:t>!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9848" y="6309360"/>
            <a:ext cx="94274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30" b="0" i="0">
                <a:solidFill>
                  <a:srgbClr val="F3EADF"/>
                </a:solidFill>
                <a:latin typeface="Calibri"/>
              </a:rPr>
              <a:t>Позиції 1 і 2 мають однакову закупівельну ціну незалежно від смаку — типово для непроробленого прайсу; варто запросити поартикульну котирувку.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22883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 i="0">
                <a:solidFill>
                  <a:srgbClr val="9A918A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8620"/>
            <a:ext cx="274320" cy="15544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310896"/>
            <a:ext cx="5943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80">
                <a:solidFill>
                  <a:srgbClr val="C32733"/>
                </a:solidFill>
                <a:latin typeface="Calibri"/>
              </a:rPr>
              <a:t>TAKAOKAYA · FURIKAKE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8120E"/>
                </a:solidFill>
                <a:latin typeface="Cambria"/>
              </a:rPr>
              <a:t>Фасовка 45–60 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39912" y="493776"/>
            <a:ext cx="3246120" cy="384048"/>
          </a:xfrm>
          <a:prstGeom prst="roundRect">
            <a:avLst>
              <a:gd name="adj" fmla="val 50000"/>
            </a:avLst>
          </a:prstGeom>
          <a:noFill/>
          <a:ln w="13970">
            <a:solidFill>
              <a:srgbClr val="C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39912" y="493776"/>
            <a:ext cx="3246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 spc="30">
                <a:solidFill>
                  <a:srgbClr val="C32733"/>
                </a:solidFill>
                <a:latin typeface="Calibri"/>
              </a:rPr>
              <a:t>ЗБІРНИЙ ВАНТАЖ 17 М³ · ОДИН СЦЕНАРІЙ</a:t>
            </a:r>
          </a:p>
        </p:txBody>
      </p:sp>
      <p:sp>
        <p:nvSpPr>
          <p:cNvPr id="8" name="Oval 7"/>
          <p:cNvSpPr/>
          <p:nvPr/>
        </p:nvSpPr>
        <p:spPr>
          <a:xfrm>
            <a:off x="1116711" y="1275588"/>
            <a:ext cx="1417320" cy="1417320"/>
          </a:xfrm>
          <a:prstGeom prst="ellipse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85291" y="1344168"/>
            <a:ext cx="1280160" cy="1280160"/>
          </a:xfrm>
          <a:prstGeom prst="ellipse">
            <a:avLst/>
          </a:prstGeom>
          <a:noFill/>
          <a:ln w="13970">
            <a:solidFill>
              <a:srgbClr val="1812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615059" y="1837944"/>
            <a:ext cx="420624" cy="274320"/>
          </a:xfrm>
          <a:prstGeom prst="roundRect">
            <a:avLst>
              <a:gd name="adj" fmla="val 20000"/>
            </a:avLst>
          </a:prstGeom>
          <a:noFill/>
          <a:ln w="15240">
            <a:solidFill>
              <a:srgbClr val="1812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752219" y="1787652"/>
            <a:ext cx="146304" cy="59436"/>
          </a:xfrm>
          <a:prstGeom prst="roundRect">
            <a:avLst>
              <a:gd name="adj" fmla="val 30000"/>
            </a:avLst>
          </a:prstGeom>
          <a:noFill/>
          <a:ln w="15240">
            <a:solidFill>
              <a:srgbClr val="1812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756791" y="1933955"/>
            <a:ext cx="137160" cy="137160"/>
          </a:xfrm>
          <a:prstGeom prst="ellipse">
            <a:avLst/>
          </a:prstGeom>
          <a:noFill/>
          <a:ln w="15240">
            <a:solidFill>
              <a:srgbClr val="1812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738627"/>
            <a:ext cx="264490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60" b="1" i="0" spc="80">
                <a:solidFill>
                  <a:srgbClr val="C32733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14" name="Oval 13"/>
          <p:cNvSpPr/>
          <p:nvPr/>
        </p:nvSpPr>
        <p:spPr>
          <a:xfrm>
            <a:off x="649224" y="3159252"/>
            <a:ext cx="82296" cy="82296"/>
          </a:xfrm>
          <a:prstGeom prst="ellipse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i="0" spc="70">
                <a:solidFill>
                  <a:srgbClr val="18120E"/>
                </a:solidFill>
                <a:latin typeface="Calibri"/>
              </a:rPr>
              <a:t>45 Г · 80 ШТ/КАРТ.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" y="3374136"/>
            <a:ext cx="235229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8120E"/>
                </a:solidFill>
                <a:latin typeface="Cambria"/>
              </a:rPr>
              <a:t>Nori Katsuo Furikake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" y="3712463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 i="0">
                <a:solidFill>
                  <a:srgbClr val="6A5F56"/>
                </a:solidFill>
                <a:latin typeface="Calibri"/>
              </a:rPr>
              <a:t>Норі та стружка боніто — умамі-профіль. Найвища питома с/с: ₴2,12/г.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i="0" spc="60">
                <a:solidFill>
                  <a:srgbClr val="C9A15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$1,42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718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FFFFFF"/>
                </a:solidFill>
                <a:latin typeface="Calibri"/>
              </a:rPr>
              <a:t>95,31 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" y="5321808"/>
            <a:ext cx="2352294" cy="9144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6A5F56"/>
                </a:solidFill>
                <a:latin typeface="Calibri"/>
              </a:rPr>
              <a:t>С/С, €/од.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014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 i="0">
                <a:solidFill>
                  <a:srgbClr val="18120E"/>
                </a:solidFill>
                <a:latin typeface="Calibri"/>
              </a:rPr>
              <a:t>€2,12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" y="5591556"/>
            <a:ext cx="2352294" cy="9144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6A5F56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9014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 i="0">
                <a:solidFill>
                  <a:srgbClr val="18120E"/>
                </a:solidFill>
                <a:latin typeface="Calibri"/>
              </a:rPr>
              <a:t>2,12 ₴/г</a:t>
            </a:r>
          </a:p>
        </p:txBody>
      </p:sp>
      <p:sp>
        <p:nvSpPr>
          <p:cNvPr id="28" name="Oval 27"/>
          <p:cNvSpPr/>
          <p:nvPr/>
        </p:nvSpPr>
        <p:spPr>
          <a:xfrm>
            <a:off x="3962781" y="1275588"/>
            <a:ext cx="1417320" cy="1417320"/>
          </a:xfrm>
          <a:prstGeom prst="ellipse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031361" y="1344168"/>
            <a:ext cx="1280160" cy="1280160"/>
          </a:xfrm>
          <a:prstGeom prst="ellipse">
            <a:avLst/>
          </a:prstGeom>
          <a:noFill/>
          <a:ln w="13970">
            <a:solidFill>
              <a:srgbClr val="1812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461129" y="1837944"/>
            <a:ext cx="420624" cy="274320"/>
          </a:xfrm>
          <a:prstGeom prst="roundRect">
            <a:avLst>
              <a:gd name="adj" fmla="val 20000"/>
            </a:avLst>
          </a:prstGeom>
          <a:noFill/>
          <a:ln w="15240">
            <a:solidFill>
              <a:srgbClr val="1812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98289" y="1787652"/>
            <a:ext cx="146304" cy="59436"/>
          </a:xfrm>
          <a:prstGeom prst="roundRect">
            <a:avLst>
              <a:gd name="adj" fmla="val 30000"/>
            </a:avLst>
          </a:prstGeom>
          <a:noFill/>
          <a:ln w="15240">
            <a:solidFill>
              <a:srgbClr val="1812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602861" y="1933955"/>
            <a:ext cx="137160" cy="137160"/>
          </a:xfrm>
          <a:prstGeom prst="ellipse">
            <a:avLst/>
          </a:prstGeom>
          <a:noFill/>
          <a:ln w="15240">
            <a:solidFill>
              <a:srgbClr val="1812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990" y="2738627"/>
            <a:ext cx="264490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60" b="1" i="0" spc="80">
                <a:solidFill>
                  <a:srgbClr val="C32733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34" name="Oval 33"/>
          <p:cNvSpPr/>
          <p:nvPr/>
        </p:nvSpPr>
        <p:spPr>
          <a:xfrm>
            <a:off x="3495294" y="3159252"/>
            <a:ext cx="82296" cy="82296"/>
          </a:xfrm>
          <a:prstGeom prst="ellipse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074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i="0" spc="70">
                <a:solidFill>
                  <a:srgbClr val="18120E"/>
                </a:solidFill>
                <a:latin typeface="Calibri"/>
              </a:rPr>
              <a:t>60 Г · 80 ШТ/КАРТ.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95294" y="3374136"/>
            <a:ext cx="235229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8120E"/>
                </a:solidFill>
                <a:latin typeface="Cambria"/>
              </a:rPr>
              <a:t>Nori Tamago Furikake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95294" y="3712463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 i="0">
                <a:solidFill>
                  <a:srgbClr val="6A5F56"/>
                </a:solidFill>
                <a:latin typeface="Calibri"/>
              </a:rPr>
              <a:t>Норі та яєчний порошок. Найбільша фасовка серії за тією ж ціною.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9529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3245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i="0" spc="60">
                <a:solidFill>
                  <a:srgbClr val="C9A15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3245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$1,42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325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FFFFFF"/>
                </a:solidFill>
                <a:latin typeface="Calibri"/>
              </a:rPr>
              <a:t>95,31 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95294" y="5321808"/>
            <a:ext cx="2352294" cy="9144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9529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6A5F56"/>
                </a:solidFill>
                <a:latin typeface="Calibri"/>
              </a:rPr>
              <a:t>С/С, €/од.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621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 i="0">
                <a:solidFill>
                  <a:srgbClr val="18120E"/>
                </a:solidFill>
                <a:latin typeface="Calibri"/>
              </a:rPr>
              <a:t>€2,12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95294" y="5591556"/>
            <a:ext cx="2352294" cy="9144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9529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6A5F56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3621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 i="0">
                <a:solidFill>
                  <a:srgbClr val="18120E"/>
                </a:solidFill>
                <a:latin typeface="Calibri"/>
              </a:rPr>
              <a:t>1,59 ₴/г</a:t>
            </a:r>
          </a:p>
        </p:txBody>
      </p:sp>
      <p:sp>
        <p:nvSpPr>
          <p:cNvPr id="48" name="Oval 47"/>
          <p:cNvSpPr/>
          <p:nvPr/>
        </p:nvSpPr>
        <p:spPr>
          <a:xfrm>
            <a:off x="6808851" y="1275588"/>
            <a:ext cx="1417320" cy="1417320"/>
          </a:xfrm>
          <a:prstGeom prst="ellipse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877431" y="1344168"/>
            <a:ext cx="1280160" cy="1280160"/>
          </a:xfrm>
          <a:prstGeom prst="ellipse">
            <a:avLst/>
          </a:prstGeom>
          <a:noFill/>
          <a:ln w="13970">
            <a:solidFill>
              <a:srgbClr val="1812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307199" y="1837944"/>
            <a:ext cx="420624" cy="274320"/>
          </a:xfrm>
          <a:prstGeom prst="roundRect">
            <a:avLst>
              <a:gd name="adj" fmla="val 20000"/>
            </a:avLst>
          </a:prstGeom>
          <a:noFill/>
          <a:ln w="15240">
            <a:solidFill>
              <a:srgbClr val="1812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7444359" y="1787652"/>
            <a:ext cx="146304" cy="59436"/>
          </a:xfrm>
          <a:prstGeom prst="roundRect">
            <a:avLst>
              <a:gd name="adj" fmla="val 30000"/>
            </a:avLst>
          </a:prstGeom>
          <a:noFill/>
          <a:ln w="15240">
            <a:solidFill>
              <a:srgbClr val="1812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448931" y="1933955"/>
            <a:ext cx="137160" cy="137160"/>
          </a:xfrm>
          <a:prstGeom prst="ellipse">
            <a:avLst/>
          </a:prstGeom>
          <a:noFill/>
          <a:ln w="15240">
            <a:solidFill>
              <a:srgbClr val="1812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5060" y="2738627"/>
            <a:ext cx="264490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60" b="1" i="0" spc="80">
                <a:solidFill>
                  <a:srgbClr val="C32733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54" name="Oval 53"/>
          <p:cNvSpPr/>
          <p:nvPr/>
        </p:nvSpPr>
        <p:spPr>
          <a:xfrm>
            <a:off x="6341364" y="3159252"/>
            <a:ext cx="82296" cy="82296"/>
          </a:xfrm>
          <a:prstGeom prst="ellipse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9681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i="0" spc="70">
                <a:solidFill>
                  <a:srgbClr val="18120E"/>
                </a:solidFill>
                <a:latin typeface="Calibri"/>
              </a:rPr>
              <a:t>45 Г · 80 ШТ/КАРТ.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41364" y="3374136"/>
            <a:ext cx="235229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8120E"/>
                </a:solidFill>
                <a:latin typeface="Cambria"/>
              </a:rPr>
              <a:t>Curry Furikake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1364" y="3712463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 i="0">
                <a:solidFill>
                  <a:srgbClr val="6A5F56"/>
                </a:solidFill>
                <a:latin typeface="Calibri"/>
              </a:rPr>
              <a:t>Каррі-присипка японського профілю спецій.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4136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7852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i="0" spc="60">
                <a:solidFill>
                  <a:srgbClr val="C9A15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7852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$1,06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2932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FFFFFF"/>
                </a:solidFill>
                <a:latin typeface="Calibri"/>
              </a:rPr>
              <a:t>71,48 ₴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41364" y="5321808"/>
            <a:ext cx="2352294" cy="9144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4136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6A5F56"/>
                </a:solidFill>
                <a:latin typeface="Calibri"/>
              </a:rPr>
              <a:t>С/С, €/од.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28228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 i="0">
                <a:solidFill>
                  <a:srgbClr val="18120E"/>
                </a:solidFill>
                <a:latin typeface="Calibri"/>
              </a:rPr>
              <a:t>€1,59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41364" y="5591556"/>
            <a:ext cx="2352294" cy="9144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4136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6A5F56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8228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 i="0">
                <a:solidFill>
                  <a:srgbClr val="18120E"/>
                </a:solidFill>
                <a:latin typeface="Calibri"/>
              </a:rPr>
              <a:t>1,59 ₴/г</a:t>
            </a:r>
          </a:p>
        </p:txBody>
      </p:sp>
      <p:sp>
        <p:nvSpPr>
          <p:cNvPr id="68" name="Oval 67"/>
          <p:cNvSpPr/>
          <p:nvPr/>
        </p:nvSpPr>
        <p:spPr>
          <a:xfrm>
            <a:off x="9654921" y="1275588"/>
            <a:ext cx="1417320" cy="1417320"/>
          </a:xfrm>
          <a:prstGeom prst="ellipse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723501" y="1344168"/>
            <a:ext cx="1280160" cy="1280160"/>
          </a:xfrm>
          <a:prstGeom prst="ellipse">
            <a:avLst/>
          </a:prstGeom>
          <a:noFill/>
          <a:ln w="13970">
            <a:solidFill>
              <a:srgbClr val="1812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10153269" y="1837944"/>
            <a:ext cx="420624" cy="274320"/>
          </a:xfrm>
          <a:prstGeom prst="roundRect">
            <a:avLst>
              <a:gd name="adj" fmla="val 20000"/>
            </a:avLst>
          </a:prstGeom>
          <a:noFill/>
          <a:ln w="15240">
            <a:solidFill>
              <a:srgbClr val="1812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10290429" y="1787652"/>
            <a:ext cx="146304" cy="59436"/>
          </a:xfrm>
          <a:prstGeom prst="roundRect">
            <a:avLst>
              <a:gd name="adj" fmla="val 30000"/>
            </a:avLst>
          </a:prstGeom>
          <a:noFill/>
          <a:ln w="15240">
            <a:solidFill>
              <a:srgbClr val="1812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0295001" y="1933955"/>
            <a:ext cx="137160" cy="137160"/>
          </a:xfrm>
          <a:prstGeom prst="ellipse">
            <a:avLst/>
          </a:prstGeom>
          <a:noFill/>
          <a:ln w="15240">
            <a:solidFill>
              <a:srgbClr val="1812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041130" y="2738627"/>
            <a:ext cx="264490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60" b="1" i="0" spc="80">
                <a:solidFill>
                  <a:srgbClr val="C32733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74" name="Oval 73"/>
          <p:cNvSpPr/>
          <p:nvPr/>
        </p:nvSpPr>
        <p:spPr>
          <a:xfrm>
            <a:off x="9187434" y="3159252"/>
            <a:ext cx="82296" cy="82296"/>
          </a:xfrm>
          <a:prstGeom prst="ellipse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34288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i="0" spc="70">
                <a:solidFill>
                  <a:srgbClr val="18120E"/>
                </a:solidFill>
                <a:latin typeface="Calibri"/>
              </a:rPr>
              <a:t>45 Г · 80 ШТ/КАРТ.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87434" y="3374136"/>
            <a:ext cx="235229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8120E"/>
                </a:solidFill>
                <a:latin typeface="Cambria"/>
              </a:rPr>
              <a:t>Garlic Chili Oil Furikake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187434" y="3712463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 i="0">
                <a:solidFill>
                  <a:srgbClr val="6A5F56"/>
                </a:solidFill>
                <a:latin typeface="Calibri"/>
              </a:rPr>
              <a:t>Часник і чилі-олія раю — гострий напрямок серії. Ціна — як у поз. 6.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18743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2459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i="0" spc="60">
                <a:solidFill>
                  <a:srgbClr val="C9A15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32459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$1,06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7539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FFFFFF"/>
                </a:solidFill>
                <a:latin typeface="Calibri"/>
              </a:rPr>
              <a:t>71,48 ₴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187434" y="5321808"/>
            <a:ext cx="2352294" cy="9144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18743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6A5F56"/>
                </a:solidFill>
                <a:latin typeface="Calibri"/>
              </a:rPr>
              <a:t>С/С, €/од.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2835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 i="0">
                <a:solidFill>
                  <a:srgbClr val="18120E"/>
                </a:solidFill>
                <a:latin typeface="Calibri"/>
              </a:rPr>
              <a:t>€1,59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187434" y="5591556"/>
            <a:ext cx="2352294" cy="9144"/>
          </a:xfrm>
          <a:prstGeom prst="rect">
            <a:avLst/>
          </a:prstGeom>
          <a:solidFill>
            <a:srgbClr val="E0D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18743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 i="0">
                <a:solidFill>
                  <a:srgbClr val="6A5F56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12835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 i="0">
                <a:solidFill>
                  <a:srgbClr val="18120E"/>
                </a:solidFill>
                <a:latin typeface="Calibri"/>
              </a:rPr>
              <a:t>1,59 ₴/г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02920" y="6309360"/>
            <a:ext cx="10680192" cy="384048"/>
          </a:xfrm>
          <a:prstGeom prst="roundRect">
            <a:avLst>
              <a:gd name="adj" fmla="val 10000"/>
            </a:avLst>
          </a:prstGeom>
          <a:solidFill>
            <a:srgbClr val="181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Isosceles Triangle 88"/>
          <p:cNvSpPr/>
          <p:nvPr/>
        </p:nvSpPr>
        <p:spPr>
          <a:xfrm>
            <a:off x="685800" y="6364224"/>
            <a:ext cx="237744" cy="213969"/>
          </a:xfrm>
          <a:prstGeom prst="triangle">
            <a:avLst/>
          </a:prstGeom>
          <a:solidFill>
            <a:srgbClr val="C9A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5800" y="6407017"/>
            <a:ext cx="237744" cy="1426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120E"/>
                </a:solidFill>
                <a:latin typeface="Calibri"/>
              </a:rPr>
              <a:t>!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69848" y="6309360"/>
            <a:ext cx="94274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30" b="0" i="0">
                <a:solidFill>
                  <a:srgbClr val="F3EADF"/>
                </a:solidFill>
                <a:latin typeface="Calibri"/>
              </a:rPr>
              <a:t>Пари 4/5 і 6/7 мають ідентичну ціну незалежно від ваги (45 г vs 60 г). Питома собівартість Takaokaya (₴1,59–2,12/г) у 1,4–2,1 раза вища за Mishima (₴0,99–1,80/г) — премія «Made in Japan».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22883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 i="0">
                <a:solidFill>
                  <a:srgbClr val="9A918A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Офіс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486</Words>
  <Application>Microsoft Office PowerPoint</Application>
  <PresentationFormat>Широкий екран</PresentationFormat>
  <Paragraphs>132</Paragraphs>
  <Slides>3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Calibri</vt:lpstr>
      <vt:lpstr>Cambria</vt:lpstr>
      <vt:lpstr>Тема Office</vt:lpstr>
      <vt:lpstr>Презентація PowerPoint</vt:lpstr>
      <vt:lpstr>Презентація PowerPoint</vt:lpstr>
      <vt:lpstr>Презентація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Чаплигін lлля</dc:creator>
  <cp:lastModifiedBy>Чаплигін lлля</cp:lastModifiedBy>
  <cp:revision>1</cp:revision>
  <dcterms:created xsi:type="dcterms:W3CDTF">2026-08-10T10:19:31Z</dcterms:created>
  <dcterms:modified xsi:type="dcterms:W3CDTF">2026-08-10T10:44:25Z</dcterms:modified>
</cp:coreProperties>
</file>