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0" r:id="rId3"/>
    <p:sldId id="271" r:id="rId4"/>
    <p:sldId id="272" r:id="rId9"/>
    <p:sldId id="276" r:id="rId13"/>
    <p:sldId id="277" r:id="rId14"/>
    <p:sldId id="274" r:id="rId11"/>
    <p:sldId id="278" r:id="rId15"/>
    <p:sldId id="279" r:id="rId16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4.xml"/><Relationship Id="rId11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DA6E6-9EB2-3BAB-95B1-DE179EB7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3ED07741-9BC5-0AE9-8378-986B6D929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AAE7E29-3067-D32E-828D-76FA5FDC7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DE0E5CE-54FB-3FE8-8D03-956E35CA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F9B3BCC-4D54-C3B1-D9E6-05951CF4D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1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E3EE-1666-26AD-347B-D30A7A2D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41AE54-E309-620D-4E19-6A3FEDBE0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4098D52A-A2D7-0823-BDA3-70AFD52C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C2B269D-ABC8-663E-8F10-99C61C22B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8510476-D1A4-5971-C33F-A5C36E0A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8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B52B-1C12-761C-94E5-533C7DA70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B5768A3-F52B-8CE1-6BDF-C2517871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BAB9723-0ACE-3999-2457-5F1D59A0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C34974D-EB5D-0F8B-769F-C5D556B5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167DCF8-668A-D66C-9E18-D03CA989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40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CD7D9-CD95-33AC-FC7D-333020230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EC41CB3-20BE-F90E-0EE7-7C6E2AC04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C9CC7D0-61BB-367D-C2A6-E71B64E1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3BDF98F-16E1-0532-3FB1-06C97E08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D9DD589-135F-E9E1-0F83-9839E00F6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B23B596C-BDA0-5445-BCF0-5C5595DB5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9270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CB07F-0055-FB84-9D82-BECF085A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3A5F88D-9CCE-060D-7387-64B828019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A14787DB-BC20-40D9-B8CB-AD82C62CA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753520A-754A-E833-D4CC-E1E98B297C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CDD84BEB-9AE7-077A-4291-FD0CD79A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95ACD8DC-1D27-3EDC-0727-FB4944D4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9AAAF76-CFD6-EF90-793D-198FB2E14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C66930F5-42CF-5131-8455-AD4C6E9D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3346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CC269-B26D-AA46-18CE-5DB5E9C3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50AFC74-858D-7F4E-F45B-DE9B162F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73F01596-4C9D-D993-399C-380D01EAD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CA32DABC-ABAE-86F1-090C-E2253FA5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243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F206C58-6C2D-590B-F23D-8F44728F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DA1B7FFE-A01C-480F-CB3D-F3D3CBE5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D87CBDF8-64A3-AA68-7D64-2F5482C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6221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3B2F5-DCE8-FB3B-4C8A-94254E2D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D74E910-0E58-FFCC-B784-267D8C3A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D01BE98-AAE9-630B-22F5-DA212876B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F9035C50-D122-6666-E0AC-AC821F92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216F5A72-4B15-352A-5E3D-82DE914D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7D5593EC-5870-F12B-71D1-B206B2DD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0826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41685-3FCB-E08B-3483-BB4BC8714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9A97A156-5B49-2AD9-DD9B-511B193AF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30277593-C725-0F15-303F-5C373C85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83AABF62-ACC6-B600-20BB-5C03CA34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B24957E-5648-FE15-C296-2C2CCA98F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E73021E-BA3C-6E4C-0049-9D5588DA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87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2648E-22AC-2586-5D84-54CC29F5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CCBF1513-4DC0-F9EF-BCFC-81B4EE81A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CEBF3C5-EE08-A69A-F674-8EAD9310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B5644CC-9D94-138F-D24D-90A4C806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382CAB1-074D-3B58-4666-AB59BD97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72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A1FD67A-3FED-D8D9-62C8-A72484CA3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EC93E11C-045E-3270-CB01-AC9F65C3D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F3E295-E48C-192E-1DD4-B22AFAEF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D19E1EE-9BCB-0B9E-7B95-FE87396F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7C9CB50-8005-C3D6-BB47-26AC5E3B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80625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26C8C8A-2D8B-7913-8829-4C54330E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D74A044-CBD5-7694-4415-D279286F3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73EACF-91D4-0330-EE62-C4D29FE83D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7D61FEC-E62F-188D-E110-90F50938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5E32170-CC9A-663D-A252-FC8BED01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852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sp>
        <p:nvSpPr>
          <p:cNvPr id="4" name="Oval 3"/>
          <p:cNvSpPr/>
          <p:nvPr/>
        </p:nvSpPr>
        <p:spPr>
          <a:xfrm>
            <a:off x="7528560" y="207263"/>
            <a:ext cx="4267200" cy="42672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" name="Rounded Rectangle 4"/>
          <p:cNvSpPr/>
          <p:nvPr/>
        </p:nvSpPr>
        <p:spPr>
          <a:xfrm rot="21300000">
            <a:off x="8119872" y="73761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" name="Rounded Rectangle 5"/>
          <p:cNvSpPr/>
          <p:nvPr/>
        </p:nvSpPr>
        <p:spPr>
          <a:xfrm rot="21300000">
            <a:off x="8077200" y="67665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8211001" y="798576"/>
            <a:ext cx="2841355" cy="15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7882128" y="210921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9" name="Rounded Rectangle 8"/>
          <p:cNvSpPr/>
          <p:nvPr/>
        </p:nvSpPr>
        <p:spPr>
          <a:xfrm rot="21060000">
            <a:off x="7839456" y="204825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7961375" y="2212888"/>
            <a:ext cx="1170432" cy="15239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10125456" y="223113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2" name="Rounded Rectangle 11"/>
          <p:cNvSpPr/>
          <p:nvPr/>
        </p:nvSpPr>
        <p:spPr>
          <a:xfrm rot="600000">
            <a:off x="10082784" y="217017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10204703" y="2314075"/>
            <a:ext cx="1121664" cy="151661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85760" y="4072128"/>
            <a:ext cx="3352800" cy="975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125967" y="4313683"/>
            <a:ext cx="3011424" cy="4922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3200" b="1" dirty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4512" y="5099135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AA3922"/>
                </a:solidFill>
                <a:latin typeface="Cambria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4512" y="5405159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AA3922"/>
                </a:solidFill>
                <a:latin typeface="Cambria"/>
              </a:rPr>
              <a:t>Китай</a:t>
            </a:r>
            <a:endParaRPr sz="1600" b="1" dirty="0">
              <a:solidFill>
                <a:srgbClr val="AA3922"/>
              </a:solidFill>
              <a:latin typeface="Cambria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7680" y="633984"/>
            <a:ext cx="316992" cy="3169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999744" y="633984"/>
            <a:ext cx="536448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 spc="12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1121665"/>
            <a:ext cx="6156960" cy="1109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67" b="1" dirty="0" err="1">
                <a:solidFill>
                  <a:srgbClr val="14241F"/>
                </a:solidFill>
                <a:latin typeface="Cambria"/>
              </a:rPr>
              <a:t>HanJin</a:t>
            </a:r>
            <a:r>
              <a:rPr sz="3467" b="1" dirty="0">
                <a:solidFill>
                  <a:srgbClr val="14241F"/>
                </a:solidFill>
                <a:latin typeface="Cambria"/>
              </a:rPr>
              <a:t> (Shanghai)</a:t>
            </a:r>
          </a:p>
          <a:p>
            <a:pPr algn="l">
              <a:lnSpc>
                <a:spcPct val="108000"/>
              </a:lnSpc>
            </a:pPr>
            <a:r>
              <a:rPr sz="3467" b="1" dirty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" y="2535937"/>
            <a:ext cx="6156960" cy="225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7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2999232"/>
            <a:ext cx="1367941" cy="36576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87680" y="3094941"/>
            <a:ext cx="1367941" cy="1743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3" b="1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" y="360883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" y="3852673"/>
            <a:ext cx="6156960" cy="778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3" dirty="0">
                <a:solidFill>
                  <a:srgbClr val="44524C"/>
                </a:solidFill>
                <a:latin typeface="Calibri"/>
              </a:rPr>
              <a:t>ZEK — «Zesty Especial Kingdom»,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власний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бренд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Hanjin Food.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Компанія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заснована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2002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року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Вейхаї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головний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офіс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2014-го —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Шанхаї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Партнери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групи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тайська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Singha Group і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корейська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8" name="Rectangle 27"/>
          <p:cNvSpPr/>
          <p:nvPr/>
        </p:nvSpPr>
        <p:spPr>
          <a:xfrm>
            <a:off x="487680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487680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39568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2" name="Rectangle 31"/>
          <p:cNvSpPr/>
          <p:nvPr/>
        </p:nvSpPr>
        <p:spPr>
          <a:xfrm>
            <a:off x="2639568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2639568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91456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6" name="Rectangle 35"/>
          <p:cNvSpPr/>
          <p:nvPr/>
        </p:nvSpPr>
        <p:spPr>
          <a:xfrm>
            <a:off x="4791456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791456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 dirty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3376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92531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80" y="6169152"/>
            <a:ext cx="615696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001" y="1633727"/>
            <a:ext cx="993679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r>
              <a:rPr sz="1600" b="1" dirty="0">
                <a:solidFill>
                  <a:srgbClr val="14241F"/>
                </a:solidFill>
                <a:latin typeface="Cambria"/>
              </a:rPr>
              <a:t>Chicken Floss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35 Г </a:t>
            </a:r>
            <a:endParaRPr sz="16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064" y="1633727"/>
            <a:ext cx="991869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5338" y="1633727"/>
            <a:ext cx="981644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670" y="1633727"/>
            <a:ext cx="926340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72" y="1633727"/>
            <a:ext cx="933253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532" y="1633727"/>
            <a:ext cx="933253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320040" cy="32004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76072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00">
                <a:solidFill>
                  <a:srgbClr val="B23924"/>
                </a:solidFill>
                <a:latin typeface="Calibri"/>
              </a:rPr>
              <a:t>ПРОФІЛЬ ПОСТАЧАЛЬНИКА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A221E"/>
                </a:solidFill>
                <a:latin typeface="Cambria"/>
              </a:rPr>
              <a:t>Dalian Mishima Foods</a:t>
            </a:r>
          </a:p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A221E"/>
                </a:solidFill>
                <a:latin typeface="Cambria"/>
              </a:rPr>
              <a:t>Co., Ltd.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B23924"/>
                </a:solidFill>
                <a:latin typeface="Calibri"/>
              </a:rPr>
              <a:t>Фурікаке, соуси та приправи Pan-Asian · Retail / OEM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1828800" cy="384048"/>
          </a:xfrm>
          <a:prstGeom prst="roundRect">
            <a:avLst/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24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B23924"/>
                </a:solidFill>
                <a:latin typeface="Calibri"/>
              </a:rPr>
              <a:t>FOB Dalian, Китай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" b="0" i="0">
                <a:solidFill>
                  <a:srgbClr val="2A22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00">
                <a:solidFill>
                  <a:srgbClr val="B23924"/>
                </a:solidFill>
                <a:latin typeface="Calibri"/>
              </a:rPr>
              <a:t>ПРО КОМПАНІЮ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6675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A221E"/>
                </a:solidFill>
                <a:latin typeface="Calibri"/>
              </a:rPr>
              <a:t>Мішіма — виробник соусів, фурікаке, супових баз та юзу-продукції (м. Далянь, пров. Ляонін, КНР). Асортимент за каталогом: класичні соуси, пастові соуси, фурікаке в пакетах і коробках, супові бази, очадзуке, юзу-серія, соус-до-страви, фреш-лок пляшки.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A221E"/>
                </a:solidFill>
                <a:latin typeface="Calibri"/>
              </a:rPr>
              <a:t>Контакт: foods@mishima.com.cn · +86 411 87611161.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892040"/>
            <a:ext cx="210312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3834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8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458968"/>
            <a:ext cx="1956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фурікаке в розрахунку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собівартості (25 і 50 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24912" y="489204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24912" y="4892040"/>
            <a:ext cx="210312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24912" y="503834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8064" y="5458968"/>
            <a:ext cx="1956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єдиний прорахований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сценарій доставки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46904" y="489204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46904" y="4892040"/>
            <a:ext cx="210312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503834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12 міс.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0056" y="5458968"/>
            <a:ext cx="1956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термін придатності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(за каталогом)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6547104" cy="566928"/>
          </a:xfrm>
          <a:prstGeom prst="roundRect">
            <a:avLst/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B23924"/>
                </a:solidFill>
                <a:latin typeface="Calibri"/>
              </a:rPr>
              <a:t>⚠ У файлі розрахунку базис доставки вказано «FOB Bangkok», хоча країна походження — Китай. Невідповідність потребує уточнення у постачальника до фіксації умов.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502920"/>
            <a:ext cx="3657600" cy="5852160"/>
          </a:xfrm>
          <a:prstGeom prst="roundRect">
            <a:avLst/>
          </a:prstGeom>
          <a:solidFill>
            <a:srgbClr val="F3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4617720"/>
            <a:ext cx="329184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79" y="480060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B23924"/>
                </a:solidFill>
                <a:latin typeface="Cambria"/>
              </a:rPr>
              <a:t>MISHIMA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spc="100">
                <a:solidFill>
                  <a:srgbClr val="2A221E"/>
                </a:solidFill>
                <a:latin typeface="Calibri"/>
              </a:rPr>
              <a:t>ВИРОБНИЦТВО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560527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23924"/>
                </a:solidFill>
                <a:latin typeface="Calibri"/>
              </a:rPr>
              <a:t>Далянь, 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336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E6760"/>
                </a:solidFill>
                <a:latin typeface="Calibri"/>
              </a:rPr>
              <a:t>15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832103"/>
            <a:ext cx="3200400" cy="2148657"/>
          </a:xfrm>
          <a:prstGeom prst="roundRect">
            <a:avLst>
              <a:gd name="adj" fmla="val 4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777240"/>
            <a:ext cx="3200400" cy="214865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ishima_lineu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896112"/>
            <a:ext cx="2962656" cy="1910913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275320" y="3127065"/>
            <a:ext cx="1572768" cy="1267820"/>
          </a:xfrm>
          <a:prstGeom prst="roundRect">
            <a:avLst>
              <a:gd name="adj" fmla="val 4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29600" y="3072201"/>
            <a:ext cx="1572768" cy="1267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mishima_sauc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3191073"/>
            <a:ext cx="1335024" cy="1030076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902952" y="3127065"/>
            <a:ext cx="1572768" cy="1267820"/>
          </a:xfrm>
          <a:prstGeom prst="roundRect">
            <a:avLst>
              <a:gd name="adj" fmla="val 4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857232" y="3072201"/>
            <a:ext cx="1572768" cy="1267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ishima_ochazuke_smal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6104" y="3191073"/>
            <a:ext cx="1335024" cy="10300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183879" y="61630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8A817A"/>
                </a:solidFill>
                <a:latin typeface="Calibri"/>
              </a:rPr>
              <a:t>Фото: роздрібний каталог Mishima (Retail Product Catalog)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320040" cy="32004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76072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00">
                <a:solidFill>
                  <a:srgbClr val="B23924"/>
                </a:solidFill>
                <a:latin typeface="Calibri"/>
              </a:rPr>
              <a:t>ПРОФІЛЬ ПОСТАЧАЛЬНИКА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6949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A221E"/>
                </a:solidFill>
                <a:latin typeface="Cambria"/>
              </a:rPr>
              <a:t>Takaokaya Co., Ltd.</a:t>
            </a:r>
          </a:p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A221E"/>
                </a:solidFill>
                <a:latin typeface="Cambria"/>
              </a:rPr>
              <a:t>(бренд Kinjirushi)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B23924"/>
                </a:solidFill>
                <a:latin typeface="Calibri"/>
              </a:rPr>
              <a:t>Бутильоване фурікаке та васабі-приправи · Японія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377440" cy="384048"/>
          </a:xfrm>
          <a:prstGeom prst="roundRect">
            <a:avLst/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24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23924"/>
                </a:solidFill>
                <a:latin typeface="Calibri"/>
              </a:rPr>
              <a:t>FOB Японія (порт уточнюється)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00">
                <a:solidFill>
                  <a:srgbClr val="B23924"/>
                </a:solidFill>
                <a:latin typeface="Calibri"/>
              </a:rPr>
              <a:t>ПРО КОМПАНІЮ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74720"/>
            <a:ext cx="6949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A221E"/>
                </a:solidFill>
                <a:latin typeface="Calibri"/>
              </a:rPr>
              <a:t>Заснована 1929 р., спеціалізується на продукції з автентичного японського васабі (регіон Адзуміно). Бренд Kinjirushi. Дочірня Takaokaya USA працює з 1986 р. Продукт постачається у форматі скляних «fresh-lock» пляшечок 45–60 г — преміум-позиціонування «Made in Japan» на відміну від пакетованого фурікаке з Китаю.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2194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219456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0383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1929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5458968"/>
            <a:ext cx="2048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бренду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4892040"/>
            <a:ext cx="2194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4892040"/>
            <a:ext cx="219456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50383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7 SKU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5458968"/>
            <a:ext cx="2048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фурікаке в розрахунку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собівартості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4892040"/>
            <a:ext cx="21945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4892040"/>
            <a:ext cx="2194560" cy="4114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50383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23924"/>
                </a:solidFill>
                <a:latin typeface="Cambria"/>
              </a:rPr>
              <a:t>45–60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5458968"/>
            <a:ext cx="2048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фасовка,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6E6760"/>
                </a:solidFill>
                <a:latin typeface="Calibri"/>
              </a:rPr>
              <a:t>скляна пляшка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989320"/>
            <a:ext cx="6766560" cy="566928"/>
          </a:xfrm>
          <a:prstGeom prst="roundRect">
            <a:avLst/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0350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B23924"/>
                </a:solidFill>
                <a:latin typeface="Calibri"/>
              </a:rPr>
              <a:t>⚠ Юридична особа й пряме контактне джерело постачальника в матеріалах компанії відсутні — профіль складено за відкритими даними бренду, потребує верифікації перед контрактом.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502920"/>
            <a:ext cx="3657600" cy="5852160"/>
          </a:xfrm>
          <a:prstGeom prst="roundRect">
            <a:avLst/>
          </a:prstGeom>
          <a:solidFill>
            <a:srgbClr val="F3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3879" y="4974336"/>
            <a:ext cx="329184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83879" y="50932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B23924"/>
                </a:solidFill>
                <a:latin typeface="Cambria"/>
              </a:rPr>
              <a:t>TAKAOKAYA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545896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spc="100">
                <a:solidFill>
                  <a:srgbClr val="2A221E"/>
                </a:solidFill>
                <a:latin typeface="Calibri"/>
              </a:rPr>
              <a:t>ВИРОБНИЦТВО · 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4336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E6760"/>
                </a:solidFill>
                <a:latin typeface="Calibri"/>
              </a:rPr>
              <a:t>18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5320" y="832103"/>
            <a:ext cx="3200400" cy="2206826"/>
          </a:xfrm>
          <a:prstGeom prst="roundRect">
            <a:avLst>
              <a:gd name="adj" fmla="val 4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229600" y="777240"/>
            <a:ext cx="3200400" cy="220682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akaokaya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896112"/>
            <a:ext cx="2962656" cy="196908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229600" y="307550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23924"/>
                </a:solidFill>
                <a:latin typeface="Calibri"/>
              </a:rPr>
              <a:t>FURIKAKE · 7 СМАКІВ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29600" y="3313250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48472" y="3445838"/>
            <a:ext cx="82296" cy="82296"/>
          </a:xfrm>
          <a:prstGeom prst="ellipse">
            <a:avLst/>
          </a:prstGeom>
          <a:solidFill>
            <a:srgbClr val="1E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3313250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Nori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57232" y="3313250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76104" y="3445838"/>
            <a:ext cx="82296" cy="82296"/>
          </a:xfrm>
          <a:prstGeom prst="ellipse">
            <a:avLst/>
          </a:prstGeom>
          <a:solidFill>
            <a:srgbClr val="74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31552" y="3313250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Nori Wasabi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9600" y="3715586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348472" y="3848174"/>
            <a:ext cx="82296" cy="82296"/>
          </a:xfrm>
          <a:prstGeom prst="ellipse">
            <a:avLst/>
          </a:prstGeom>
          <a:solidFill>
            <a:srgbClr val="C99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715586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Yuzu Kosho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57232" y="3715586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76104" y="3848174"/>
            <a:ext cx="82296" cy="8229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31552" y="3715586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Nori Katsuo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0" y="4117922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48472" y="4250510"/>
            <a:ext cx="82296" cy="82296"/>
          </a:xfrm>
          <a:prstGeom prst="ellipse">
            <a:avLst/>
          </a:prstGeom>
          <a:solidFill>
            <a:srgbClr val="E0A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117922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Nori Tamago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57232" y="4117922"/>
            <a:ext cx="157276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76104" y="4250510"/>
            <a:ext cx="82296" cy="82296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31552" y="4117922"/>
            <a:ext cx="122529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Curry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229600" y="4520258"/>
            <a:ext cx="3200400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48472" y="4652846"/>
            <a:ext cx="82296" cy="82296"/>
          </a:xfrm>
          <a:prstGeom prst="ellipse">
            <a:avLst/>
          </a:prstGeom>
          <a:solidFill>
            <a:srgbClr val="B0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03920" y="4520258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A221E"/>
                </a:solidFill>
                <a:latin typeface="Calibri"/>
              </a:rPr>
              <a:t>Garlic Chili Oil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6108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8A817A"/>
                </a:solidFill>
                <a:latin typeface="Calibri"/>
              </a:rPr>
              <a:t>Візуалізація фасовки fresh-lock · фото постачальника відсутні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60">
                <a:solidFill>
                  <a:srgbClr val="B23924"/>
                </a:solidFill>
                <a:latin typeface="Calibri"/>
              </a:rPr>
              <a:t>MISHIMA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A221E"/>
                </a:solidFill>
                <a:latin typeface="Cambria"/>
              </a:rPr>
              <a:t>Furikake 25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1" y="502920"/>
            <a:ext cx="3657600" cy="457200"/>
          </a:xfrm>
          <a:prstGeom prst="roundRect">
            <a:avLst>
              <a:gd name="adj" fmla="val 28000"/>
            </a:avLst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2" y="6217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23924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83" y="1289304"/>
            <a:ext cx="1636776" cy="163677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922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Видима креветка та дрібна риба — джерело мікроелементів. 3–4 г на 200 г рису.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$0,72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75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36,49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718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€0,81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718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1,46 ₴/г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4899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471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493" y="1289304"/>
            <a:ext cx="1453896" cy="14538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394710" y="2871216"/>
            <a:ext cx="25534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>
                <a:solidFill>
                  <a:srgbClr val="8A817A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30" name="Oval 29"/>
          <p:cNvSpPr/>
          <p:nvPr/>
        </p:nvSpPr>
        <p:spPr>
          <a:xfrm>
            <a:off x="349529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988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529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васабі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29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Освіжаючий аромат васабі. Підходить до смаженого, м’яса на грилі та сашимі.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529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529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2331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2331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$0,89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82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45,10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529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529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325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529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9529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325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1,80 ₴/г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506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4078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078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8" name="Oval 47"/>
          <p:cNvSpPr/>
          <p:nvPr/>
        </p:nvSpPr>
        <p:spPr>
          <a:xfrm>
            <a:off x="634136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595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136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Гострий профіль кімчі. У роздрібному каталозі постачальника позиція відсутня.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136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4136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938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6938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$0,66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9989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33,19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136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136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932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€0,74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4136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136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2932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1,33 ₴/г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4113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08685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5193" y="1289304"/>
            <a:ext cx="1636776" cy="1636776"/>
          </a:xfrm>
          <a:prstGeom prst="rect">
            <a:avLst/>
          </a:prstGeom>
        </p:spPr>
      </p:pic>
      <p:sp>
        <p:nvSpPr>
          <p:cNvPr id="66" name="Oval 65"/>
          <p:cNvSpPr/>
          <p:nvPr/>
        </p:nvSpPr>
        <p:spPr>
          <a:xfrm>
            <a:off x="918743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5202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 норі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Кунжут і норі — базовий смак серії. Універсальна присипка до рису.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743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1545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545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$0,56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4596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28,12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8743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743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539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€0,62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743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743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539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1,12 ₴/г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6291072"/>
            <a:ext cx="11183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E6760"/>
                </a:solidFill>
                <a:latin typeface="Calibri"/>
              </a:rPr>
              <a:t>⚠ Розрахунок побудований лише для збірного вантажу 17 м³ — на відміну від 4-рівневого порівняння в профілі ZEK. Для зіставлення постачальників за обсягом контейнера потрібно домоделювати сценарії 40′ / 20′ / 34 м³.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E676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60">
                <a:solidFill>
                  <a:srgbClr val="B23924"/>
                </a:solidFill>
                <a:latin typeface="Calibri"/>
              </a:rPr>
              <a:t>MISHIMA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A221E"/>
                </a:solidFill>
                <a:latin typeface="Cambria"/>
              </a:rPr>
              <a:t>Furikake 50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1" y="502920"/>
            <a:ext cx="3657600" cy="457200"/>
          </a:xfrm>
          <a:prstGeom prst="roundRect">
            <a:avLst>
              <a:gd name="adj" fmla="val 28000"/>
            </a:avLst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2" y="6217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23924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83" y="1289304"/>
            <a:ext cx="1636776" cy="163677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922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Та сама рецептура у подвійній фасовці — 64 пакети в коробі.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75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69,91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718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718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1,40 ₴/г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4899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471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493" y="1289304"/>
            <a:ext cx="1453896" cy="14538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394710" y="2871216"/>
            <a:ext cx="25534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>
                <a:solidFill>
                  <a:srgbClr val="8A817A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30" name="Oval 29"/>
          <p:cNvSpPr/>
          <p:nvPr/>
        </p:nvSpPr>
        <p:spPr>
          <a:xfrm>
            <a:off x="349529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988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529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васабі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29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Найдорожча позиція Mishima в розрахунку: ₴1,65 за грам.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529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529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2331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2331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82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82,74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529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529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325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€1,84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529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9529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325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1,65 ₴/г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506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4078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078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8" name="Oval 47"/>
          <p:cNvSpPr/>
          <p:nvPr/>
        </p:nvSpPr>
        <p:spPr>
          <a:xfrm>
            <a:off x="634136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595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136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Найнижча питома собівартість серед 50-грамових позицій.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136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4136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938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6938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9989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60,65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136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136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932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€1,35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4136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136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2932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1,21 ₴/г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4113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08685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5193" y="1289304"/>
            <a:ext cx="1636776" cy="1636776"/>
          </a:xfrm>
          <a:prstGeom prst="rect">
            <a:avLst/>
          </a:prstGeom>
        </p:spPr>
      </p:pic>
      <p:sp>
        <p:nvSpPr>
          <p:cNvPr id="66" name="Oval 65"/>
          <p:cNvSpPr/>
          <p:nvPr/>
        </p:nvSpPr>
        <p:spPr>
          <a:xfrm>
            <a:off x="918743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5202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Furikake з норі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Найдешевша позиція розрахунку — ₴1,01 за грам.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743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1545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545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4596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50,44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8743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743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539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743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743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539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1,01 ₴/г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6291072"/>
            <a:ext cx="11183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E6760"/>
                </a:solidFill>
                <a:latin typeface="Calibri"/>
              </a:rPr>
              <a:t>⚠ Смак «кімчі» відсутній у роздрібному каталозі постачальника — SKU та фото потребують підтвердження. Фото 25 і 50 г ідентичні: постачальник показує одну ілюстрацію пакування на смак.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E67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60">
                <a:solidFill>
                  <a:srgbClr val="B23924"/>
                </a:solidFill>
                <a:latin typeface="Calibri"/>
              </a:rPr>
              <a:t>TAKAOKAYA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A221E"/>
                </a:solidFill>
                <a:latin typeface="Cambria"/>
              </a:rPr>
              <a:t>Fresh-lock пляшки 50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1" y="502920"/>
            <a:ext cx="3657600" cy="457200"/>
          </a:xfrm>
          <a:prstGeom prst="roundRect">
            <a:avLst>
              <a:gd name="adj" fmla="val 28000"/>
            </a:avLst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2" y="6217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23924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3557016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16152"/>
            <a:ext cx="3465576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79676"/>
            <a:ext cx="3465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1" name="Oval 10"/>
          <p:cNvSpPr/>
          <p:nvPr/>
        </p:nvSpPr>
        <p:spPr>
          <a:xfrm>
            <a:off x="64922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17296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429000"/>
            <a:ext cx="3264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Nori Furikake Bottle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5818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Класична норі-присипка у скляній пляшці fresh-lock.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590288"/>
            <a:ext cx="3264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" y="4809744"/>
            <a:ext cx="3264408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65776"/>
            <a:ext cx="17954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8207" y="5175504"/>
            <a:ext cx="1667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565099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71500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0275" y="5696712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€1,91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592531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598932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0275" y="5971031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1,72 ₴/г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1170432"/>
            <a:ext cx="3557016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1688" y="1216152"/>
            <a:ext cx="3465576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ku_tk_was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1289304"/>
            <a:ext cx="1453896" cy="14538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61688" y="2871216"/>
            <a:ext cx="3465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>
                <a:solidFill>
                  <a:srgbClr val="8A817A"/>
                </a:solidFill>
                <a:latin typeface="Calibri"/>
              </a:rPr>
              <a:t>фото роздрібної версії 70 г</a:t>
            </a:r>
          </a:p>
        </p:txBody>
      </p:sp>
      <p:sp>
        <p:nvSpPr>
          <p:cNvPr id="30" name="Oval 29"/>
          <p:cNvSpPr/>
          <p:nvPr/>
        </p:nvSpPr>
        <p:spPr>
          <a:xfrm>
            <a:off x="4462272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6864" y="317296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429000"/>
            <a:ext cx="3264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Nori Wasabi Furikake Bottle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75818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Норі з гранулами японського васабі (регіон Адзуміно). Ціна — як у поз. 1.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2272" y="4590288"/>
            <a:ext cx="3264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62272" y="4809744"/>
            <a:ext cx="3264408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48920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5065776"/>
            <a:ext cx="17954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31255" y="5175504"/>
            <a:ext cx="1667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65099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571500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33323" y="5696712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62272" y="592531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598932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33323" y="5971031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1,72 ₴/г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29016" y="1170432"/>
            <a:ext cx="3557016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74736" y="1216152"/>
            <a:ext cx="3465576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4736" y="1979676"/>
            <a:ext cx="3465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8" name="Oval 47"/>
          <p:cNvSpPr/>
          <p:nvPr/>
        </p:nvSpPr>
        <p:spPr>
          <a:xfrm>
            <a:off x="8275320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912" y="317296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3429000"/>
            <a:ext cx="3264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Yuzu Kosho Furikake Bottle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375818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Юзу-кошьо з Кюсю: цитрусова цедра та зелений перець.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4590288"/>
            <a:ext cx="3264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4809744"/>
            <a:ext cx="3264408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3336" y="48920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6" y="5065776"/>
            <a:ext cx="17954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4303" y="5175504"/>
            <a:ext cx="1667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90,46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75320" y="565099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571500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46371" y="5696712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€2,01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75320" y="5925312"/>
            <a:ext cx="3264408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5320" y="5989320"/>
            <a:ext cx="20239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371" y="5971031"/>
            <a:ext cx="18933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1,81 ₴/г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291072"/>
            <a:ext cx="11183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E6760"/>
                </a:solidFill>
                <a:latin typeface="Calibri"/>
              </a:rPr>
              <a:t>⚠ Позиції 1 і 2 мають однакову закупівельну ціну незалежно від смаку — типово для непроробленого прайсу; варто запросити поартикульну котирувку.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E676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60">
                <a:solidFill>
                  <a:srgbClr val="B23924"/>
                </a:solidFill>
                <a:latin typeface="Calibri"/>
              </a:rPr>
              <a:t>TAKAOKAYA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A221E"/>
                </a:solidFill>
                <a:latin typeface="Cambria"/>
              </a:rPr>
              <a:t>Фасовка 45–60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1" y="502920"/>
            <a:ext cx="3657600" cy="457200"/>
          </a:xfrm>
          <a:prstGeom prst="roundRect">
            <a:avLst>
              <a:gd name="adj" fmla="val 28000"/>
            </a:avLst>
          </a:prstGeom>
          <a:solidFill>
            <a:srgbClr val="FD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2" y="6217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23924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1" name="Oval 10"/>
          <p:cNvSpPr/>
          <p:nvPr/>
        </p:nvSpPr>
        <p:spPr>
          <a:xfrm>
            <a:off x="64922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Nori Katsuo Furikake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Норі та стружка боніто — умамі-профіль. Найвища питома с/с: ₴2,12/г.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75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718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€2,12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718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2,12 ₴/г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4899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471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471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29" name="Oval 28"/>
          <p:cNvSpPr/>
          <p:nvPr/>
        </p:nvSpPr>
        <p:spPr>
          <a:xfrm>
            <a:off x="349529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988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60 Г · 80 ШТ/КАРТ.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529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Nori Tamago Furikake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529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Норі та яєчний порошок. Найбільша фасовка серії за тією ж ціною.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29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60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529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2331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331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82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529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29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325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€2,12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9529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9529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325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1,59 ₴/г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506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078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078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7" name="Oval 46"/>
          <p:cNvSpPr/>
          <p:nvPr/>
        </p:nvSpPr>
        <p:spPr>
          <a:xfrm>
            <a:off x="634136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0595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136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Curry Furikake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Каррі-присипка японського профілю спецій.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136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4136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6938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938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9989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4136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4136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932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€1,59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4136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4136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2932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1,59 ₴/г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41130" y="1170432"/>
            <a:ext cx="2644902" cy="49743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86850" y="1216152"/>
            <a:ext cx="2553462" cy="1783080"/>
          </a:xfrm>
          <a:prstGeom prst="rect">
            <a:avLst/>
          </a:prstGeom>
          <a:solidFill>
            <a:srgbClr val="F9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86850" y="1979676"/>
            <a:ext cx="25534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spc="120">
                <a:solidFill>
                  <a:srgbClr val="C48B7C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65" name="Oval 64"/>
          <p:cNvSpPr/>
          <p:nvPr/>
        </p:nvSpPr>
        <p:spPr>
          <a:xfrm>
            <a:off x="9187434" y="3204972"/>
            <a:ext cx="91440" cy="91440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52026" y="3172968"/>
            <a:ext cx="21877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80">
                <a:solidFill>
                  <a:srgbClr val="2A221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7434" y="3429000"/>
            <a:ext cx="23522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A221E"/>
                </a:solidFill>
                <a:latin typeface="Cambria"/>
              </a:rPr>
              <a:t>Garlic Chili Oil Furikake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3758184"/>
            <a:ext cx="235229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6E6760"/>
                </a:solidFill>
                <a:latin typeface="Calibri"/>
              </a:rPr>
              <a:t>Часник і чилі-олія раю — гострий напрямок серії. Ціна — як у поз. 6.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4590288"/>
            <a:ext cx="23522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60">
                <a:solidFill>
                  <a:srgbClr val="B23924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87434" y="4809744"/>
            <a:ext cx="2352294" cy="73152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15450" y="4892040"/>
            <a:ext cx="209626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70">
                <a:solidFill>
                  <a:srgbClr val="FFFFFF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15450" y="5065776"/>
            <a:ext cx="12937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mbria"/>
              </a:rPr>
              <a:t>$1,06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5966" y="5175504"/>
            <a:ext cx="11657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65099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71500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75397" y="5696712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€1,59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7434" y="5925312"/>
            <a:ext cx="2352294" cy="10972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87434" y="5989320"/>
            <a:ext cx="14584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75397" y="5971031"/>
            <a:ext cx="13643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2A221E"/>
                </a:solidFill>
                <a:latin typeface="Calibri"/>
              </a:rPr>
              <a:t>1,59 ₴/г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6291072"/>
            <a:ext cx="11183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E6760"/>
                </a:solidFill>
                <a:latin typeface="Calibri"/>
              </a:rPr>
              <a:t>⚠ Пари 4/5 і 6/7 мають ідентичну ціну незалежно від ваги (45 г vs 60 г). Питома собівартість Takaokaya (₴1,59–2,12/г) у 1,4–2,1 раза вища за Mishima (₴0,99–1,80/г) — очікувана премія «Made in Japan».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E676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</Words>
  <Application>Microsoft Office PowerPoint</Application>
  <PresentationFormat>Широкий екран</PresentationFormat>
  <Paragraphs>132</Paragraphs>
  <Slides>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</vt:lpstr>
      <vt:lpstr>Тема Office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Чаплигін lлля</dc:creator>
  <cp:lastModifiedBy>Чаплигін lлля</cp:lastModifiedBy>
  <cp:revision>1</cp:revision>
  <dcterms:created xsi:type="dcterms:W3CDTF">2026-08-10T10:19:31Z</dcterms:created>
  <dcterms:modified xsi:type="dcterms:W3CDTF">2026-08-10T10:44:25Z</dcterms:modified>
</cp:coreProperties>
</file>