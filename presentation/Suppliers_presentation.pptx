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84" r:id="rId21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1DA6E6-9EB2-3BAB-95B1-DE179EB725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3ED07741-9BC5-0AE9-8378-986B6D9295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8AAE7E29-3067-D32E-828D-76FA5FDC7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FDE0E5CE-54FB-3FE8-8D03-956E35CA5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7F9B3BCC-4D54-C3B1-D9E6-05951CF4D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8701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CBE3EE-1666-26AD-347B-D30A7A2D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4F41AE54-E309-620D-4E19-6A3FEDBE0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4098D52A-A2D7-0823-BDA3-70AFD52C4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C2B269D-ABC8-663E-8F10-99C61C22B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E8510476-D1A4-5971-C33F-A5C36E0A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44580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71B52B-1C12-761C-94E5-533C7DA70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B5768A3-F52B-8CE1-6BDF-C25178717D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BAB9723-0ACE-3999-2457-5F1D59A04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C34974D-EB5D-0F8B-769F-C5D556B53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3167DCF8-668A-D66C-9E18-D03CA989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2403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2CD7D9-CD95-33AC-FC7D-333020230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AEC41CB3-20BE-F90E-0EE7-7C6E2AC040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8C9CC7D0-61BB-367D-C2A6-E71B64E1D3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B3BDF98F-16E1-0532-3FB1-06C97E08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1D9DD589-135F-E9E1-0F83-9839E00F6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B23B596C-BDA0-5445-BCF0-5C5595DB5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9270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2CB07F-0055-FB84-9D82-BECF085AB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D3A5F88D-9CCE-060D-7387-64B828019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A14787DB-BC20-40D9-B8CB-AD82C62CA9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1753520A-754A-E833-D4CC-E1E98B297C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CDD84BEB-9AE7-077A-4291-FD0CD79A6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95ACD8DC-1D27-3EDC-0727-FB4944D4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29AAAF76-CFD6-EF90-793D-198FB2E14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C66930F5-42CF-5131-8455-AD4C6E9DA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3346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3CC269-B26D-AA46-18CE-5DB5E9C32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350AFC74-858D-7F4E-F45B-DE9B162FC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73F01596-4C9D-D993-399C-380D01EAD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CA32DABC-ABAE-86F1-090C-E2253FA53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243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FF206C58-6C2D-590B-F23D-8F44728F1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DA1B7FFE-A01C-480F-CB3D-F3D3CBE5E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D87CBDF8-64A3-AA68-7D64-2F5482C1B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62213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3B2F5-DCE8-FB3B-4C8A-94254E2D2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DD74E910-0E58-FFCC-B784-267D8C3A2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AD01BE98-AAE9-630B-22F5-DA212876B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F9035C50-D122-6666-E0AC-AC821F92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216F5A72-4B15-352A-5E3D-82DE914D5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7D5593EC-5870-F12B-71D1-B206B2DD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08263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D41685-3FCB-E08B-3483-BB4BC8714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9A97A156-5B49-2AD9-DD9B-511B193AF3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30277593-C725-0F15-303F-5C373C8519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83AABF62-ACC6-B600-20BB-5C03CA34A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8B24957E-5648-FE15-C296-2C2CCA98F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DE73021E-BA3C-6E4C-0049-9D5588DAB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18764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52648E-22AC-2586-5D84-54CC29F5B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CCBF1513-4DC0-F9EF-BCFC-81B4EE81A4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8CEBF3C5-EE08-A69A-F674-8EAD93107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AB5644CC-9D94-138F-D24D-90A4C8062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382CAB1-074D-3B58-4666-AB59BD97C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97293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5A1FD67A-3FED-D8D9-62C8-A72484CA3E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EC93E11C-045E-3270-CB01-AC9F65C3D9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F3E295-E48C-192E-1DD4-B22AFAEF6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D19E1EE-9BCB-0B9E-7B95-FE87396F5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17C9CB50-8005-C3D6-BB47-26AC5E3B7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5280625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226C8C8A-2D8B-7913-8829-4C54330E2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4D74A044-CBD5-7694-4415-D279286F3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73EACF-91D4-0330-EE62-C4D29FE83D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87D61FEC-E62F-188D-E110-90F509388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45E32170-CC9A-663D-A252-FC8BED01C7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07852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k_sti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13232" y="786384"/>
            <a:ext cx="5870448" cy="5725972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88720" y="1336852"/>
            <a:ext cx="256032" cy="1463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261872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 spc="100">
                <a:solidFill>
                  <a:srgbClr val="C32733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554480"/>
            <a:ext cx="49194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231C18"/>
                </a:solidFill>
                <a:latin typeface="Cambria"/>
              </a:rPr>
              <a:t>HanJin (Shanghai)</a:t>
            </a:r>
          </a:p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231C18"/>
                </a:solidFill>
                <a:latin typeface="Cambria"/>
              </a:rPr>
              <a:t>Food 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06624"/>
            <a:ext cx="4919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C32733"/>
                </a:solidFill>
                <a:latin typeface="Cambria"/>
              </a:rPr>
              <a:t>Темпура, сендвічі та присипка з норі · Retail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3035808"/>
            <a:ext cx="1360627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035808"/>
            <a:ext cx="1360627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19" b="1" i="0" spc="60">
                <a:solidFill>
                  <a:srgbClr val="C32733"/>
                </a:solidFill>
                <a:latin typeface="Calibri"/>
              </a:rPr>
              <a:t>FOB QINGDAO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511296"/>
            <a:ext cx="4919472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648456"/>
            <a:ext cx="49194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 spc="90">
                <a:solidFill>
                  <a:srgbClr val="C32733"/>
                </a:solidFill>
                <a:latin typeface="Calibri"/>
              </a:rPr>
              <a:t>ПРО КОМПАНІЮ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867911"/>
            <a:ext cx="4919472" cy="779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ZEK — «Zesty Especial Kingdom», власний бренд Hanjin Food.</a:t>
            </a:r>
          </a:p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Компанія заснована 2002 року у Вейхаї, головний офіс із 2014-го —</a:t>
            </a:r>
          </a:p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у Шанхаї. Партнери групи — тайська Singha Group і корейська</a:t>
            </a:r>
          </a:p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SPC Group.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4720132"/>
            <a:ext cx="4919472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903012"/>
            <a:ext cx="15483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2002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268772"/>
            <a:ext cx="1548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рік заснування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10256" y="4921300"/>
            <a:ext cx="10058" cy="53035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1424" y="4903012"/>
            <a:ext cx="13655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№1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1424" y="5268772"/>
            <a:ext cx="136550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частка ринку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50080" y="4921300"/>
            <a:ext cx="10058" cy="53035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51248" y="4903012"/>
            <a:ext cx="13655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1248" y="5268772"/>
            <a:ext cx="136550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країн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експорту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689396"/>
            <a:ext cx="49194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 spc="90">
                <a:solidFill>
                  <a:srgbClr val="C32733"/>
                </a:solidFill>
                <a:latin typeface="Calibri"/>
              </a:rPr>
              <a:t>СИРОВИНА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899708"/>
            <a:ext cx="4919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9" b="0" i="0">
                <a:solidFill>
                  <a:srgbClr val="231C18"/>
                </a:solidFill>
                <a:latin typeface="Cambria"/>
              </a:rPr>
              <a:t>Норі з острова Чеджу (Корея) та плантацій під Вейхаєм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67144" y="6108192"/>
            <a:ext cx="4754880" cy="329184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68312" y="6108192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40" b="0" i="1">
                <a:solidFill>
                  <a:srgbClr val="6A5F56"/>
                </a:solidFill>
                <a:latin typeface="Cambria"/>
              </a:rPr>
              <a:t>лінійка Seaweed Topping · пакування постачальника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73384" y="6108192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A918A"/>
                </a:solidFill>
                <a:latin typeface="Cambria"/>
              </a:rPr>
              <a:t>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7316"/>
            <a:ext cx="256032" cy="1463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402336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 spc="100">
                <a:solidFill>
                  <a:srgbClr val="C32733"/>
                </a:solidFill>
                <a:latin typeface="Calibri"/>
              </a:rPr>
              <a:t>ZEK · SEAWEED TOPPING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749807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1C18"/>
                </a:solidFill>
                <a:latin typeface="Cambria"/>
              </a:rPr>
              <a:t>Присипка 35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59214" y="585216"/>
            <a:ext cx="236280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59214" y="585216"/>
            <a:ext cx="236280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" b="1" i="0" spc="50">
                <a:solidFill>
                  <a:srgbClr val="C32733"/>
                </a:solidFill>
                <a:latin typeface="Calibri"/>
              </a:rPr>
              <a:t>ЧОТИРИ СЦЕНАРІЇ ДОСТАВКИ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225296"/>
            <a:ext cx="3477768" cy="1783080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zek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044" y="1371600"/>
            <a:ext cx="1089535" cy="149047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66928" y="3195828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145536"/>
            <a:ext cx="3331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64992"/>
            <a:ext cx="34777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Seaweed Topping Chicken Floss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694176"/>
            <a:ext cx="3477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2816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52544"/>
            <a:ext cx="3477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553712"/>
            <a:ext cx="3477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18303"/>
            <a:ext cx="19475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$0,7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27590" y="4837175"/>
            <a:ext cx="201710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31,54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212079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285231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34 м³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8035" y="5276088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$0,7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3144" y="5276088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33,68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472683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545836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58035" y="5536692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$0,9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23144" y="5536692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38,66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733288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806440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58035" y="5797296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$0,9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23144" y="5797296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40,95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5993892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55592" y="1225296"/>
            <a:ext cx="3477768" cy="1783080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zek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0453" y="1371600"/>
            <a:ext cx="1088044" cy="1490472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355592" y="3195828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1896" y="3145536"/>
            <a:ext cx="3331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55592" y="3364992"/>
            <a:ext cx="34777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Seaweed Topping Vegetables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5592" y="3694176"/>
            <a:ext cx="3477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55592" y="4242816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55592" y="4352544"/>
            <a:ext cx="3477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5592" y="4553712"/>
            <a:ext cx="3477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55592" y="4718303"/>
            <a:ext cx="19475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$0,7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6254" y="4837175"/>
            <a:ext cx="201710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31,54 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55592" y="5212079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55592" y="5285231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46699" y="5276088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$0,7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1808" y="5276088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33,68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55592" y="5472683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55592" y="5545836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46699" y="5536692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$0,9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1808" y="5536692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38,66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55592" y="5733288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55592" y="5806440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46699" y="5797296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$0,9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1808" y="5797296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40,95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55592" y="5993892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144256" y="1225296"/>
            <a:ext cx="3477768" cy="1783080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zek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5079" y="1371600"/>
            <a:ext cx="1076120" cy="14904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144256" y="3195828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90560" y="3145536"/>
            <a:ext cx="3331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44256" y="3364992"/>
            <a:ext cx="34777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Seaweed Topping Sesame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44256" y="3694176"/>
            <a:ext cx="3477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44256" y="4242816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44256" y="4352544"/>
            <a:ext cx="3477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44256" y="4553712"/>
            <a:ext cx="3477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44256" y="4718303"/>
            <a:ext cx="19475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$0,7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04918" y="4837175"/>
            <a:ext cx="201710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31,54 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44256" y="5212079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44256" y="5285231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34 м³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35363" y="5276088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$0,7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00472" y="5276088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33,68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44256" y="5472683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44256" y="5545836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35363" y="5536692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$0,9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00472" y="5536692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38,66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44256" y="5733288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44256" y="5806440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17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35363" y="5797296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$0,9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00472" y="5797296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40,95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144256" y="5993892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6181344"/>
            <a:ext cx="20116" cy="438912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6181344"/>
            <a:ext cx="101864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10" b="0" i="0">
                <a:solidFill>
                  <a:srgbClr val="6A5F56"/>
                </a:solidFill>
                <a:latin typeface="Calibri"/>
              </a:rPr>
              <a:t>Ціни однакові для всіх трьох смаків у межах ваги — постачальник котирує напрямок, а не артикул.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073384" y="643737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9A918A"/>
                </a:solidFill>
                <a:latin typeface="Cambria"/>
              </a:rPr>
              <a:t>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7316"/>
            <a:ext cx="256032" cy="1463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402336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 spc="100">
                <a:solidFill>
                  <a:srgbClr val="C32733"/>
                </a:solidFill>
                <a:latin typeface="Calibri"/>
              </a:rPr>
              <a:t>ZEK · SEAWEED TOPPING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749807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1C18"/>
                </a:solidFill>
                <a:latin typeface="Cambria"/>
              </a:rPr>
              <a:t>Присипка 70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59214" y="585216"/>
            <a:ext cx="236280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59214" y="585216"/>
            <a:ext cx="236280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" b="1" i="0" spc="50">
                <a:solidFill>
                  <a:srgbClr val="C32733"/>
                </a:solidFill>
                <a:latin typeface="Calibri"/>
              </a:rPr>
              <a:t>ЧОТИРИ СЦЕНАРІЇ ДОСТАВКИ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225296"/>
            <a:ext cx="3477768" cy="1783080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zek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796" y="1371600"/>
            <a:ext cx="1012030" cy="149047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66928" y="3195828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145536"/>
            <a:ext cx="3331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64992"/>
            <a:ext cx="34777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Seaweed Topping Vegetables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694176"/>
            <a:ext cx="3477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2816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52544"/>
            <a:ext cx="3477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553712"/>
            <a:ext cx="3477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18303"/>
            <a:ext cx="19475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27590" y="4837175"/>
            <a:ext cx="201710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63,86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212079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285231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34 м³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8035" y="5276088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$1,5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3144" y="5276088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68,19 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472683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5545836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58035" y="5536692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$1,7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23144" y="5536692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78,29 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733288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806440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17 м³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58035" y="5797296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$1,8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23144" y="5797296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82,92 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5993892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55592" y="1225296"/>
            <a:ext cx="3477768" cy="1783080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zek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4734" y="1371600"/>
            <a:ext cx="1019482" cy="1490472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4355592" y="3195828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1896" y="3145536"/>
            <a:ext cx="3331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55592" y="3364992"/>
            <a:ext cx="34777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Seaweed Topping Sesame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5592" y="3694176"/>
            <a:ext cx="3477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55592" y="4242816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55592" y="4352544"/>
            <a:ext cx="3477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55592" y="4553712"/>
            <a:ext cx="3477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55592" y="4718303"/>
            <a:ext cx="19475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6254" y="4837175"/>
            <a:ext cx="201710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63,86 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55592" y="5212079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55592" y="5285231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46699" y="5276088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$1,5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11808" y="5276088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68,19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55592" y="5472683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55592" y="5545836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46699" y="5536692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$1,7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1808" y="5536692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78,29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55592" y="5733288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55592" y="5806440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46699" y="5797296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$1,8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1808" y="5797296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82,92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55592" y="5993892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144256" y="1225296"/>
            <a:ext cx="3477768" cy="1783080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zek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3398" y="1371600"/>
            <a:ext cx="1019482" cy="14904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144256" y="3195828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90560" y="3145536"/>
            <a:ext cx="3331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44256" y="3364992"/>
            <a:ext cx="34777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Seaweed Topping Chicken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44256" y="3694176"/>
            <a:ext cx="3477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44256" y="4242816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44256" y="4352544"/>
            <a:ext cx="3477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44256" y="4553712"/>
            <a:ext cx="3477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44256" y="4718303"/>
            <a:ext cx="19475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04918" y="4837175"/>
            <a:ext cx="201710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63,86 ₴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44256" y="5212079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44256" y="5285231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34 м³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35363" y="5276088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$1,5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300472" y="5276088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68,19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44256" y="5472683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44256" y="5545836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35363" y="5536692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$1,7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00472" y="5536692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78,29 ₴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44256" y="5733288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44256" y="5806440"/>
            <a:ext cx="17388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6A5F56"/>
                </a:solidFill>
                <a:latin typeface="Calibri"/>
              </a:rPr>
              <a:t>Збірний 17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535363" y="5797296"/>
            <a:ext cx="90421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231C18"/>
                </a:solidFill>
                <a:latin typeface="Cambria"/>
              </a:rPr>
              <a:t>$1,8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00472" y="5797296"/>
            <a:ext cx="1321551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231C18"/>
                </a:solidFill>
                <a:latin typeface="Cambria"/>
              </a:rPr>
              <a:t>82,92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144256" y="5993892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6181344"/>
            <a:ext cx="20116" cy="438912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6181344"/>
            <a:ext cx="101864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10" b="0" i="0">
                <a:solidFill>
                  <a:srgbClr val="6A5F56"/>
                </a:solidFill>
                <a:latin typeface="Calibri"/>
              </a:rPr>
              <a:t>Подвоєння ваги з 35 до 70 г підвищує собівартість пакета приблизно вдвічі.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073384" y="643737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9A918A"/>
                </a:solidFill>
                <a:latin typeface="Cambria"/>
              </a:rPr>
              <a:t>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ishima_plant.jpg"/>
          <p:cNvPicPr>
            <a:picLocks noChangeAspect="1"/>
          </p:cNvPicPr>
          <p:nvPr/>
        </p:nvPicPr>
        <p:blipFill>
          <a:blip r:embed="rId2"/>
          <a:srcRect t="48" b="48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13232" y="786384"/>
            <a:ext cx="5870448" cy="5817412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88720" y="1336852"/>
            <a:ext cx="256032" cy="1463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261872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 spc="100">
                <a:solidFill>
                  <a:srgbClr val="C32733"/>
                </a:solidFill>
                <a:latin typeface="Calibri"/>
              </a:rPr>
              <a:t>ПРОФІЛЬ ПОСТАЧАЛЬНИКА ·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554480"/>
            <a:ext cx="49194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231C18"/>
                </a:solidFill>
                <a:latin typeface="Cambria"/>
              </a:rPr>
              <a:t>Dalian Mishima Foods</a:t>
            </a:r>
          </a:p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231C18"/>
                </a:solidFill>
                <a:latin typeface="Cambria"/>
              </a:rPr>
              <a:t>Co., Ltd.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06624"/>
            <a:ext cx="4919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C32733"/>
                </a:solidFill>
                <a:latin typeface="Cambria"/>
              </a:rPr>
              <a:t>Фурікаке, соуси та приправи Pan-Asian · Retail / OEM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3035808"/>
            <a:ext cx="1843430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035808"/>
            <a:ext cx="184343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19" b="1" i="0" spc="60">
                <a:solidFill>
                  <a:srgbClr val="C32733"/>
                </a:solidFill>
                <a:latin typeface="Calibri"/>
              </a:rPr>
              <a:t>FOB DALIAN, КИТАЙ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511296"/>
            <a:ext cx="4919472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648456"/>
            <a:ext cx="49194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 spc="90">
                <a:solidFill>
                  <a:srgbClr val="C32733"/>
                </a:solidFill>
                <a:latin typeface="Calibri"/>
              </a:rPr>
              <a:t>ПРО КОМПАНІЮ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867911"/>
            <a:ext cx="4919472" cy="779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Мішіма — виробник соусів, фурікаке, супових баз та юзу-продукції</a:t>
            </a:r>
          </a:p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(м. Далянь, пров. Ляонін, КНР). Асортимент за каталогом: класичні</a:t>
            </a:r>
          </a:p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соуси, пастові соуси, фурікаке в пакетах і коробках, супові бази,</a:t>
            </a:r>
          </a:p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очадзуке та юзу-серія.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4720132"/>
            <a:ext cx="4919472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903012"/>
            <a:ext cx="15483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8 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268772"/>
            <a:ext cx="1548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фурікаке в розрахунку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собівартості (25 і 50 г)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10256" y="4921300"/>
            <a:ext cx="10058" cy="53035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1424" y="4903012"/>
            <a:ext cx="13655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17 м³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1424" y="5268772"/>
            <a:ext cx="136550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єдиний прорахований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сценарій доставки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50080" y="4921300"/>
            <a:ext cx="10058" cy="53035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51248" y="4903012"/>
            <a:ext cx="13655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12 міс.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1248" y="5268772"/>
            <a:ext cx="136550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термін придатності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(за каталогом)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5744260"/>
            <a:ext cx="20116" cy="45720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5744260"/>
            <a:ext cx="47365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10" b="0" i="0">
                <a:solidFill>
                  <a:srgbClr val="6A5F56"/>
                </a:solidFill>
                <a:latin typeface="Calibri"/>
              </a:rPr>
              <a:t>У файлі розрахунку базис доставки вказано «FOB Bangkok», хоча країна походження — Китай. Невідповідність потребує уточнення до фіксації умов.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67144" y="6108192"/>
            <a:ext cx="4754880" cy="329184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68312" y="6108192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40" b="0" i="1">
                <a:solidFill>
                  <a:srgbClr val="6A5F56"/>
                </a:solidFill>
                <a:latin typeface="Cambria"/>
              </a:rPr>
              <a:t>виробничий майданчик Mishima, Далянь · фото компанії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73384" y="6108192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A918A"/>
                </a:solidFill>
                <a:latin typeface="Cambria"/>
              </a:rPr>
              <a:t>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7316"/>
            <a:ext cx="256032" cy="1463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402336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 spc="100">
                <a:solidFill>
                  <a:srgbClr val="C32733"/>
                </a:solidFill>
                <a:latin typeface="Calibri"/>
              </a:rPr>
              <a:t>MISHIMA · FURIKAKE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749807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1C18"/>
                </a:solidFill>
                <a:latin typeface="Cambria"/>
              </a:rPr>
              <a:t>Furikake 25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573768" y="585216"/>
            <a:ext cx="204825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73768" y="585216"/>
            <a:ext cx="204825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" b="1" i="0" spc="50">
                <a:solidFill>
                  <a:srgbClr val="C32733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s_shr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812" y="1371600"/>
            <a:ext cx="1549697" cy="227228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6692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Furikake з креветкою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Видима креветка та дрібна риба — джерело мікроелементів. 3–4 г на 200 г рису.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$0,72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282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36,49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9013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s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018" y="1558338"/>
            <a:ext cx="2219706" cy="189880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390138" y="3835907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70" b="0" i="1">
                <a:solidFill>
                  <a:srgbClr val="6A5F56"/>
                </a:solidFill>
                <a:latin typeface="Cambria"/>
              </a:rPr>
              <a:t>фото — коробка 80 г з каталогу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9013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644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9013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Furikake васабі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013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Освіжаючий аромат васабі. Підходить до смаженого, м’яса на грилі та сашимі.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013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13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13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9013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$0,89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603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45,10 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9013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334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26555" y="1581911"/>
            <a:ext cx="1559051" cy="1559051"/>
          </a:xfrm>
          <a:prstGeom prst="ellipse">
            <a:avLst/>
          </a:prstGeom>
          <a:noFill/>
          <a:ln w="12700">
            <a:solidFill>
              <a:srgbClr val="C327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4933" y="2320289"/>
            <a:ext cx="82296" cy="82296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3348" y="3342132"/>
            <a:ext cx="25854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 spc="14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334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965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334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Furikake зі смаком кімчі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334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Гострий профіль кімчі. У роздрібному каталозі постачальника позиція відсутня.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334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334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334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334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$0,66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9924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33,19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334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3655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ms_no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578" y="1371600"/>
            <a:ext cx="1547425" cy="22722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903655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8286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655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Furikake з норі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3655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Кунжут і норі — базовий смак серії. Універсальна присипка до рису.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3655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3655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655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3655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$0,56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2245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28,12 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3655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181344"/>
            <a:ext cx="20116" cy="438912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8" y="6181344"/>
            <a:ext cx="101864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10" b="0" i="0">
                <a:solidFill>
                  <a:srgbClr val="6A5F56"/>
                </a:solidFill>
                <a:latin typeface="Calibri"/>
              </a:rPr>
              <a:t>Прорахований лише збірний вантаж 17 м³ — на відміну від 4-рівневого порівняння ZEK. Для зіставлення за обсягом контейнера потрібно домоделювати сценарії 40′ / 20′ / 34 м³.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73384" y="643737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9A918A"/>
                </a:solidFill>
                <a:latin typeface="Cambria"/>
              </a:rPr>
              <a:t>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7316"/>
            <a:ext cx="256032" cy="1463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402336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 spc="100">
                <a:solidFill>
                  <a:srgbClr val="C32733"/>
                </a:solidFill>
                <a:latin typeface="Calibri"/>
              </a:rPr>
              <a:t>MISHIMA · FURIKAKE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749807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1C18"/>
                </a:solidFill>
                <a:latin typeface="Cambria"/>
              </a:rPr>
              <a:t>Furikake 50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573768" y="585216"/>
            <a:ext cx="204825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73768" y="585216"/>
            <a:ext cx="204825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" b="1" i="0" spc="50">
                <a:solidFill>
                  <a:srgbClr val="C32733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s_shr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812" y="1371600"/>
            <a:ext cx="1549697" cy="227228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6692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Furikake з креветкою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Та сама рецептура у подвійній фасовці — 64 пакети в коробі.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282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69,91 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9013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s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018" y="1558338"/>
            <a:ext cx="2219706" cy="189880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390138" y="3835907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70" b="0" i="1">
                <a:solidFill>
                  <a:srgbClr val="6A5F56"/>
                </a:solidFill>
                <a:latin typeface="Cambria"/>
              </a:rPr>
              <a:t>фото — коробка 80 г з каталогу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9013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644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9013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Furikake васабі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013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Найдорожча позиція Mishima в розрахунку собівартості.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013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9013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13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9013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603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82,74 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9013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334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26555" y="1581911"/>
            <a:ext cx="1559051" cy="1559051"/>
          </a:xfrm>
          <a:prstGeom prst="ellipse">
            <a:avLst/>
          </a:prstGeom>
          <a:noFill/>
          <a:ln w="12700">
            <a:solidFill>
              <a:srgbClr val="C327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64933" y="2320289"/>
            <a:ext cx="82296" cy="82296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3348" y="3342132"/>
            <a:ext cx="25854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 spc="14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334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965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334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Furikake зі смаком кімчі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334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Найдешевша з 50-грамових позицій у перерахунку на пакет.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334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334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334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334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9924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60,65 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334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3655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ms_no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578" y="1371600"/>
            <a:ext cx="1547425" cy="22722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903655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8286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3655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Furikake з норі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3655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Найдешевша позиція розрахунку Mishima.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3655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3655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655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3655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2245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50,44 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3655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181344"/>
            <a:ext cx="20116" cy="438912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8" y="6181344"/>
            <a:ext cx="101864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10" b="0" i="0">
                <a:solidFill>
                  <a:srgbClr val="6A5F56"/>
                </a:solidFill>
                <a:latin typeface="Calibri"/>
              </a:rPr>
              <a:t>Смак «кімчі» відсутній у роздрібному каталозі постачальника — SKU та фото потребують підтвердження.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73384" y="643737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9A918A"/>
                </a:solidFill>
                <a:latin typeface="Cambria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kaokaya_sti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13232" y="786384"/>
            <a:ext cx="5870448" cy="5817412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88720" y="1336852"/>
            <a:ext cx="256032" cy="1463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261872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 spc="100">
                <a:solidFill>
                  <a:srgbClr val="C32733"/>
                </a:solidFill>
                <a:latin typeface="Calibri"/>
              </a:rPr>
              <a:t>ПРОФІЛЬ ПОСТАЧАЛЬНИКА ·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554480"/>
            <a:ext cx="491947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231C18"/>
                </a:solidFill>
                <a:latin typeface="Cambria"/>
              </a:rPr>
              <a:t>Takaokaya Co., Ltd.</a:t>
            </a:r>
          </a:p>
          <a:p>
            <a:pPr algn="l">
              <a:lnSpc>
                <a:spcPct val="102000"/>
              </a:lnSpc>
            </a:pPr>
            <a:r>
              <a:rPr sz="3200" b="1" i="0">
                <a:solidFill>
                  <a:srgbClr val="231C18"/>
                </a:solidFill>
                <a:latin typeface="Cambria"/>
              </a:rPr>
              <a:t>(бренд Kinjirushi)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06624"/>
            <a:ext cx="4919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C32733"/>
                </a:solidFill>
                <a:latin typeface="Cambria"/>
              </a:rPr>
              <a:t>Бутильоване фурікаке та васабі-приправи · Японія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3035808"/>
            <a:ext cx="2809036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035808"/>
            <a:ext cx="280903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19" b="1" i="0" spc="60">
                <a:solidFill>
                  <a:srgbClr val="C32733"/>
                </a:solidFill>
                <a:latin typeface="Calibri"/>
              </a:rPr>
              <a:t>FOB ЯПОНІЯ (ПОРТ УТОЧНЮЄТЬСЯ)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511296"/>
            <a:ext cx="4919472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648456"/>
            <a:ext cx="49194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 spc="90">
                <a:solidFill>
                  <a:srgbClr val="C32733"/>
                </a:solidFill>
                <a:latin typeface="Calibri"/>
              </a:rPr>
              <a:t>ПРО КОМПАНІЮ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867911"/>
            <a:ext cx="4919472" cy="7790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Заснована 1929 р., спеціалізується на продукції з автентичного</a:t>
            </a:r>
          </a:p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японського васабі (регіон Адзуміно). Бренд Kinjirushi. Дочірня</a:t>
            </a:r>
          </a:p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Takaokaya USA працює з 1986 р. Постачається у скляних «fresh-lock»</a:t>
            </a:r>
          </a:p>
          <a:p>
            <a:pPr algn="l">
              <a:lnSpc>
                <a:spcPct val="115000"/>
              </a:lnSpc>
            </a:pPr>
            <a:r>
              <a:rPr sz="1040" b="0" i="0">
                <a:solidFill>
                  <a:srgbClr val="231C18"/>
                </a:solidFill>
                <a:latin typeface="Cambria"/>
              </a:rPr>
              <a:t>пляшечках 45–60 г — преміум «Made in Japan».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4720132"/>
            <a:ext cx="4919472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903012"/>
            <a:ext cx="15483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1929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268772"/>
            <a:ext cx="15483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рік заснування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бренду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10256" y="4921300"/>
            <a:ext cx="10058" cy="53035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1424" y="4903012"/>
            <a:ext cx="13655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7 SKU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1424" y="5268772"/>
            <a:ext cx="136550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фурікаке в розрахунку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собівартості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50080" y="4921300"/>
            <a:ext cx="10058" cy="53035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51248" y="4903012"/>
            <a:ext cx="136550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45–60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1248" y="5268772"/>
            <a:ext cx="136550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фасовка,</a:t>
            </a:r>
          </a:p>
          <a:p>
            <a:pPr algn="l">
              <a:lnSpc>
                <a:spcPct val="112000"/>
              </a:lnSpc>
            </a:pPr>
            <a:r>
              <a:rPr sz="800" b="0" i="0">
                <a:solidFill>
                  <a:srgbClr val="6A5F56"/>
                </a:solidFill>
                <a:latin typeface="Calibri"/>
              </a:rPr>
              <a:t>скляна пляшка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5744260"/>
            <a:ext cx="20116" cy="45720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5744260"/>
            <a:ext cx="47365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10" b="0" i="0">
                <a:solidFill>
                  <a:srgbClr val="6A5F56"/>
                </a:solidFill>
                <a:latin typeface="Calibri"/>
              </a:rPr>
              <a:t>Юридична особа й пряме контактне джерело постачальника відсутні — профіль складено за відкритими даними бренду, потребує верифікації перед контрактом.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67144" y="6108192"/>
            <a:ext cx="4754880" cy="329184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68312" y="6108192"/>
            <a:ext cx="39319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40" b="0" i="1">
                <a:solidFill>
                  <a:srgbClr val="6A5F56"/>
                </a:solidFill>
                <a:latin typeface="Cambria"/>
              </a:rPr>
              <a:t>візуалізація фасовки fresh-lock · фото виробництва не надані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73384" y="6108192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9A918A"/>
                </a:solidFill>
                <a:latin typeface="Cambria"/>
              </a:rPr>
              <a:t>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7316"/>
            <a:ext cx="256032" cy="1463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402336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 spc="100">
                <a:solidFill>
                  <a:srgbClr val="C32733"/>
                </a:solidFill>
                <a:latin typeface="Calibri"/>
              </a:rPr>
              <a:t>TAKAOKAYA · FURIKAKE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749807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1C18"/>
                </a:solidFill>
                <a:latin typeface="Cambria"/>
              </a:rPr>
              <a:t>Fresh-lock пляшки 50 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573768" y="585216"/>
            <a:ext cx="204825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73768" y="585216"/>
            <a:ext cx="204825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" b="1" i="0" spc="50">
                <a:solidFill>
                  <a:srgbClr val="C32733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225296"/>
            <a:ext cx="3477768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26286" y="1581911"/>
            <a:ext cx="1559051" cy="1559051"/>
          </a:xfrm>
          <a:prstGeom prst="ellipse">
            <a:avLst/>
          </a:prstGeom>
          <a:noFill/>
          <a:ln w="12700">
            <a:solidFill>
              <a:srgbClr val="C327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64664" y="2320289"/>
            <a:ext cx="82296" cy="82296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342132"/>
            <a:ext cx="3477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 spc="14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927348"/>
            <a:ext cx="3331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146804"/>
            <a:ext cx="34777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Nori Furikake Bottle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475988"/>
            <a:ext cx="3477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Класична норі-присипка у скляній пляшці fresh-lock.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24627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134355"/>
            <a:ext cx="3477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335523"/>
            <a:ext cx="3477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500115"/>
            <a:ext cx="19475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7590" y="5618987"/>
            <a:ext cx="201710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86,02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993891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55592" y="1225296"/>
            <a:ext cx="3477768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k_wasa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1860" y="1371600"/>
            <a:ext cx="1145231" cy="227228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355592" y="3835907"/>
            <a:ext cx="3477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70" b="0" i="1">
                <a:solidFill>
                  <a:srgbClr val="6A5F56"/>
                </a:solidFill>
                <a:latin typeface="Cambria"/>
              </a:rPr>
              <a:t>фото роздрібної версії 70 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55592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1896" y="3927348"/>
            <a:ext cx="3331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5592" y="4146804"/>
            <a:ext cx="34777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Nori Wasabi Furikake Bottle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5592" y="4475988"/>
            <a:ext cx="3477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Норі з гранулами японського васабі (регіон Адзуміно). Ціна — як у поз. 1.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55592" y="5024627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5592" y="5134355"/>
            <a:ext cx="3477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5592" y="5335523"/>
            <a:ext cx="3477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55592" y="5500115"/>
            <a:ext cx="19475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16254" y="5618987"/>
            <a:ext cx="201710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86,02 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5592" y="5993891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44256" y="1225296"/>
            <a:ext cx="3477768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03614" y="1581911"/>
            <a:ext cx="1559051" cy="1559051"/>
          </a:xfrm>
          <a:prstGeom prst="ellipse">
            <a:avLst/>
          </a:prstGeom>
          <a:noFill/>
          <a:ln w="12700">
            <a:solidFill>
              <a:srgbClr val="C327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41992" y="2320289"/>
            <a:ext cx="82296" cy="82296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44256" y="3342132"/>
            <a:ext cx="3477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 spc="14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44256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90560" y="3927348"/>
            <a:ext cx="33314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4256" y="4146804"/>
            <a:ext cx="34777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Yuzu Kosho Furikake Bottle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44256" y="4475988"/>
            <a:ext cx="34777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Юзу-кошьо з Кюсю: цитрусова цедра та зелений перець.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44256" y="5024627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44256" y="5134355"/>
            <a:ext cx="3477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4256" y="5335523"/>
            <a:ext cx="3477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4256" y="5500115"/>
            <a:ext cx="194755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4918" y="5618987"/>
            <a:ext cx="201710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90,46 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44256" y="5993891"/>
            <a:ext cx="3477768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66928" y="6181344"/>
            <a:ext cx="20116" cy="438912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9808" y="6181344"/>
            <a:ext cx="101864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10" b="0" i="0">
                <a:solidFill>
                  <a:srgbClr val="6A5F56"/>
                </a:solidFill>
                <a:latin typeface="Calibri"/>
              </a:rPr>
              <a:t>Позиції 1 і 2 мають однакову закупівельну ціну незалежно від смаку — типово для непроробленого прайсу; варто запросити поартикульну котирувку.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73384" y="643737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9A918A"/>
                </a:solidFill>
                <a:latin typeface="Cambria"/>
              </a:rPr>
              <a:t>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77316"/>
            <a:ext cx="256032" cy="1463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402336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 spc="100">
                <a:solidFill>
                  <a:srgbClr val="C32733"/>
                </a:solidFill>
                <a:latin typeface="Calibri"/>
              </a:rPr>
              <a:t>TAKAOKAYA · FURIKAKE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7498079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31C18"/>
                </a:solidFill>
                <a:latin typeface="Cambria"/>
              </a:rPr>
              <a:t>Фасовка 45–60 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573768" y="585216"/>
            <a:ext cx="204825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C327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73768" y="585216"/>
            <a:ext cx="2048255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" b="1" i="0" spc="50">
                <a:solidFill>
                  <a:srgbClr val="C32733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80135" y="1581911"/>
            <a:ext cx="1559051" cy="1559051"/>
          </a:xfrm>
          <a:prstGeom prst="ellipse">
            <a:avLst/>
          </a:prstGeom>
          <a:noFill/>
          <a:ln w="12700">
            <a:solidFill>
              <a:srgbClr val="C327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18513" y="2320289"/>
            <a:ext cx="82296" cy="82296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342132"/>
            <a:ext cx="25854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 spc="14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Nori Katsuo Furikake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Норі та стружка боніто — умамі-профіль.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45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282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95,31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9013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903345" y="1581911"/>
            <a:ext cx="1559051" cy="1559051"/>
          </a:xfrm>
          <a:prstGeom prst="ellipse">
            <a:avLst/>
          </a:prstGeom>
          <a:noFill/>
          <a:ln w="12700">
            <a:solidFill>
              <a:srgbClr val="C327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41723" y="2320289"/>
            <a:ext cx="82296" cy="82296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90138" y="3342132"/>
            <a:ext cx="25854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 spc="14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9013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644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60 Г · 80 ШТ/КАРТ.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9013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Nori Tamago Furikake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013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Норі та яєчний порошок. Найбільша фасовка серії за тією ж ціною.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9013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9013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60 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9013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9013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$1,42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603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95,31 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9013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334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726555" y="1581911"/>
            <a:ext cx="1559051" cy="1559051"/>
          </a:xfrm>
          <a:prstGeom prst="ellipse">
            <a:avLst/>
          </a:prstGeom>
          <a:noFill/>
          <a:ln w="12700">
            <a:solidFill>
              <a:srgbClr val="C327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64933" y="2320289"/>
            <a:ext cx="82296" cy="82296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3348" y="3342132"/>
            <a:ext cx="25854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 spc="14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334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965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334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Curry Furikake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334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Каррі-присипка японського профілю спецій.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334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1334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45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334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334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9924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71,48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334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036558" y="1225296"/>
            <a:ext cx="2585466" cy="2564891"/>
          </a:xfrm>
          <a:prstGeom prst="rect">
            <a:avLst/>
          </a:prstGeom>
          <a:solidFill>
            <a:srgbClr val="F1D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549765" y="1581911"/>
            <a:ext cx="1559051" cy="1559051"/>
          </a:xfrm>
          <a:prstGeom prst="ellipse">
            <a:avLst/>
          </a:prstGeom>
          <a:noFill/>
          <a:ln w="12700">
            <a:solidFill>
              <a:srgbClr val="C3273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288143" y="2320289"/>
            <a:ext cx="82296" cy="82296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36558" y="3342132"/>
            <a:ext cx="258546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 spc="140">
                <a:solidFill>
                  <a:srgbClr val="C32733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36558" y="3977639"/>
            <a:ext cx="68580" cy="68580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2862" y="3927348"/>
            <a:ext cx="243916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1" i="0" spc="80">
                <a:solidFill>
                  <a:srgbClr val="231C18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36558" y="4146804"/>
            <a:ext cx="258546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231C18"/>
                </a:solidFill>
                <a:latin typeface="Cambria"/>
              </a:rPr>
              <a:t>Garlic Chili Oil Furikake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36558" y="4475988"/>
            <a:ext cx="258546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19" b="0" i="0">
                <a:solidFill>
                  <a:srgbClr val="6A5F56"/>
                </a:solidFill>
                <a:latin typeface="Calibri"/>
              </a:rPr>
              <a:t>Часник і чилі-олія раю — гострий напрямок серії. Ціна — як у поз. 6.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36558" y="5024627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36558" y="5134355"/>
            <a:ext cx="258546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 i="0" spc="90">
                <a:solidFill>
                  <a:srgbClr val="C32733"/>
                </a:solidFill>
                <a:latin typeface="Calibri"/>
              </a:rPr>
              <a:t>СОБІВАРТІСТЬ · 1 ПАКЕТ 45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36558" y="5335523"/>
            <a:ext cx="258546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i="0" spc="70">
                <a:solidFill>
                  <a:srgbClr val="9A918A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36558" y="5500115"/>
            <a:ext cx="14478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C32733"/>
                </a:solidFill>
                <a:latin typeface="Cambria"/>
              </a:rPr>
              <a:t>$1,06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22453" y="5618987"/>
            <a:ext cx="14995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231C18"/>
                </a:solidFill>
                <a:latin typeface="Cambria"/>
              </a:rPr>
              <a:t>71,48 ₴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36558" y="5993891"/>
            <a:ext cx="2585466" cy="10972"/>
          </a:xfrm>
          <a:prstGeom prst="rect">
            <a:avLst/>
          </a:prstGeom>
          <a:solidFill>
            <a:srgbClr val="DFD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6928" y="6181344"/>
            <a:ext cx="20116" cy="438912"/>
          </a:xfrm>
          <a:prstGeom prst="rect">
            <a:avLst/>
          </a:prstGeom>
          <a:solidFill>
            <a:srgbClr val="C3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6181344"/>
            <a:ext cx="101864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810" b="0" i="0">
                <a:solidFill>
                  <a:srgbClr val="6A5F56"/>
                </a:solidFill>
                <a:latin typeface="Calibri"/>
              </a:rPr>
              <a:t>Пари 4/5 і 6/7 мають ідентичну ціну незалежно від ваги (45 г vs 60 г).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73384" y="643737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9A918A"/>
                </a:solidFill>
                <a:latin typeface="Cambria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486</Words>
  <Application>Microsoft Office PowerPoint</Application>
  <PresentationFormat>Широкий екран</PresentationFormat>
  <Paragraphs>132</Paragraphs>
  <Slides>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Cambria</vt:lpstr>
      <vt:lpstr>Тема Office</vt:lpstr>
      <vt:lpstr>Презентація PowerPoint</vt:lpstr>
      <vt:lpstr>Презентація PowerPoint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Чаплигін lлля</dc:creator>
  <cp:lastModifiedBy>Чаплигін lлля</cp:lastModifiedBy>
  <cp:revision>1</cp:revision>
  <dcterms:created xsi:type="dcterms:W3CDTF">2026-08-10T10:19:31Z</dcterms:created>
  <dcterms:modified xsi:type="dcterms:W3CDTF">2026-08-10T10:44:25Z</dcterms:modified>
</cp:coreProperties>
</file>