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1DA6E6-9EB2-3BAB-95B1-DE179EB725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3ED07741-9BC5-0AE9-8378-986B6D9295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8AAE7E29-3067-D32E-828D-76FA5FDC7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0FB5F-0EFA-44AB-BC6F-87865659DACE}" type="datetimeFigureOut">
              <a:rPr lang="uk-UA" smtClean="0"/>
              <a:t>10.08.2026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FDE0E5CE-54FB-3FE8-8D03-956E35CA5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7F9B3BCC-4D54-C3B1-D9E6-05951CF4D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621B8-743C-46E5-8D8F-F72D21EDA51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87014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CBE3EE-1666-26AD-347B-D30A7A2D1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F41AE54-E309-620D-4E19-6A3FEDBE0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4098D52A-A2D7-0823-BDA3-70AFD52C4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0FB5F-0EFA-44AB-BC6F-87865659DACE}" type="datetimeFigureOut">
              <a:rPr lang="uk-UA" smtClean="0"/>
              <a:t>10.08.2026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1C2B269D-ABC8-663E-8F10-99C61C22B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8510476-D1A4-5971-C33F-A5C36E0A7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621B8-743C-46E5-8D8F-F72D21EDA51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45805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71B52B-1C12-761C-94E5-533C7DA70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EB5768A3-F52B-8CE1-6BDF-C25178717D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BAB9723-0ACE-3999-2457-5F1D59A04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0FB5F-0EFA-44AB-BC6F-87865659DACE}" type="datetimeFigureOut">
              <a:rPr lang="uk-UA" smtClean="0"/>
              <a:t>10.08.2026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C34974D-EB5D-0F8B-769F-C5D556B53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3167DCF8-668A-D66C-9E18-D03CA9891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621B8-743C-46E5-8D8F-F72D21EDA51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2403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2CD7D9-CD95-33AC-FC7D-333020230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EC41CB3-20BE-F90E-0EE7-7C6E2AC040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8C9CC7D0-61BB-367D-C2A6-E71B64E1D3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B3BDF98F-16E1-0532-3FB1-06C97E08F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0FB5F-0EFA-44AB-BC6F-87865659DACE}" type="datetimeFigureOut">
              <a:rPr lang="uk-UA" smtClean="0"/>
              <a:t>10.08.2026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1D9DD589-135F-E9E1-0F83-9839E00F6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B23B596C-BDA0-5445-BCF0-5C5595DB5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621B8-743C-46E5-8D8F-F72D21EDA51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92707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2CB07F-0055-FB84-9D82-BECF085AB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D3A5F88D-9CCE-060D-7387-64B828019D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A14787DB-BC20-40D9-B8CB-AD82C62CA9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1753520A-754A-E833-D4CC-E1E98B297C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CDD84BEB-9AE7-077A-4291-FD0CD79A69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95ACD8DC-1D27-3EDC-0727-FB4944D4A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0FB5F-0EFA-44AB-BC6F-87865659DACE}" type="datetimeFigureOut">
              <a:rPr lang="uk-UA" smtClean="0"/>
              <a:t>10.08.2026</a:t>
            </a:fld>
            <a:endParaRPr lang="uk-UA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29AAAF76-CFD6-EF90-793D-198FB2E14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C66930F5-42CF-5131-8455-AD4C6E9DA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621B8-743C-46E5-8D8F-F72D21EDA51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33464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3CC269-B26D-AA46-18CE-5DB5E9C32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350AFC74-858D-7F4E-F45B-DE9B162FC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0FB5F-0EFA-44AB-BC6F-87865659DACE}" type="datetimeFigureOut">
              <a:rPr lang="uk-UA" smtClean="0"/>
              <a:t>10.08.2026</a:t>
            </a:fld>
            <a:endParaRPr lang="uk-UA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73F01596-4C9D-D993-399C-380D01EAD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CA32DABC-ABAE-86F1-090C-E2253FA53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621B8-743C-46E5-8D8F-F72D21EDA51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12436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FF206C58-6C2D-590B-F23D-8F44728F1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0FB5F-0EFA-44AB-BC6F-87865659DACE}" type="datetimeFigureOut">
              <a:rPr lang="uk-UA" smtClean="0"/>
              <a:t>10.08.2026</a:t>
            </a:fld>
            <a:endParaRPr lang="uk-UA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DA1B7FFE-A01C-480F-CB3D-F3D3CBE5E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D87CBDF8-64A3-AA68-7D64-2F5482C1B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621B8-743C-46E5-8D8F-F72D21EDA51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62213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F3B2F5-DCE8-FB3B-4C8A-94254E2D2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D74E910-0E58-FFCC-B784-267D8C3A2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AD01BE98-AAE9-630B-22F5-DA212876B2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F9035C50-D122-6666-E0AC-AC821F927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0FB5F-0EFA-44AB-BC6F-87865659DACE}" type="datetimeFigureOut">
              <a:rPr lang="uk-UA" smtClean="0"/>
              <a:t>10.08.2026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216F5A72-4B15-352A-5E3D-82DE914D5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7D5593EC-5870-F12B-71D1-B206B2DDA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621B8-743C-46E5-8D8F-F72D21EDA51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08263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D41685-3FCB-E08B-3483-BB4BC8714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9A97A156-5B49-2AD9-DD9B-511B193AF3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30277593-C725-0F15-303F-5C373C8519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83AABF62-ACC6-B600-20BB-5C03CA34A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0FB5F-0EFA-44AB-BC6F-87865659DACE}" type="datetimeFigureOut">
              <a:rPr lang="uk-UA" smtClean="0"/>
              <a:t>10.08.2026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8B24957E-5648-FE15-C296-2C2CCA98F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DE73021E-BA3C-6E4C-0049-9D5588DAB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621B8-743C-46E5-8D8F-F72D21EDA51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18764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52648E-22AC-2586-5D84-54CC29F5B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CCBF1513-4DC0-F9EF-BCFC-81B4EE81A4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8CEBF3C5-EE08-A69A-F674-8EAD93107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0FB5F-0EFA-44AB-BC6F-87865659DACE}" type="datetimeFigureOut">
              <a:rPr lang="uk-UA" smtClean="0"/>
              <a:t>10.08.2026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AB5644CC-9D94-138F-D24D-90A4C8062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8382CAB1-074D-3B58-4666-AB59BD97C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621B8-743C-46E5-8D8F-F72D21EDA51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97293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5A1FD67A-3FED-D8D9-62C8-A72484CA3E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EC93E11C-045E-3270-CB01-AC9F65C3D9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29F3E295-E48C-192E-1DD4-B22AFAEF6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0FB5F-0EFA-44AB-BC6F-87865659DACE}" type="datetimeFigureOut">
              <a:rPr lang="uk-UA" smtClean="0"/>
              <a:t>10.08.2026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D19E1EE-9BCB-0B9E-7B95-FE87396F5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7C9CB50-8005-C3D6-BB47-26AC5E3B7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621B8-743C-46E5-8D8F-F72D21EDA51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2806254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226C8C8A-2D8B-7913-8829-4C54330E2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4D74A044-CBD5-7694-4415-D279286F3B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2973EACF-91D4-0330-EE62-C4D29FE83D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D0FB5F-0EFA-44AB-BC6F-87865659DACE}" type="datetimeFigureOut">
              <a:rPr lang="uk-UA" smtClean="0"/>
              <a:t>10.08.2026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87D61FEC-E62F-188D-E110-90F509388D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45E32170-CC9A-663D-A252-FC8BED01C7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6621B8-743C-46E5-8D8F-F72D21EDA51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07852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818120" y="0"/>
            <a:ext cx="4370831" cy="6858000"/>
          </a:xfrm>
          <a:prstGeom prst="rect">
            <a:avLst/>
          </a:prstGeom>
          <a:solidFill>
            <a:srgbClr val="F1D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868680"/>
            <a:ext cx="2103120" cy="2103120"/>
          </a:xfrm>
          <a:prstGeom prst="ellipse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zek_nor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1916" y="973836"/>
            <a:ext cx="1892807" cy="1892807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10108692" y="3250691"/>
            <a:ext cx="1600200" cy="1600200"/>
          </a:xfrm>
          <a:prstGeom prst="ellipse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zek_veg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8702" y="3330701"/>
            <a:ext cx="1440180" cy="144018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8234172" y="4165092"/>
            <a:ext cx="1325880" cy="1325880"/>
          </a:xfrm>
          <a:prstGeom prst="ellipse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zek_temp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0466" y="4231386"/>
            <a:ext cx="1193292" cy="119329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66928" y="495604"/>
            <a:ext cx="256032" cy="14630"/>
          </a:xfrm>
          <a:prstGeom prst="rect">
            <a:avLst/>
          </a:prstGeom>
          <a:solidFill>
            <a:srgbClr val="C3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420624"/>
            <a:ext cx="5943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1" i="0" spc="100">
                <a:solidFill>
                  <a:srgbClr val="C32733"/>
                </a:solidFill>
                <a:latin typeface="Calibri"/>
              </a:rPr>
              <a:t>ПРОФІЛЬ ПОСТАЧАЛЬНИКА · 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731520"/>
            <a:ext cx="69037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1" i="0">
                <a:solidFill>
                  <a:srgbClr val="231C18"/>
                </a:solidFill>
                <a:latin typeface="Cambria"/>
              </a:rPr>
              <a:t>HanJin (Shanghai)</a:t>
            </a:r>
          </a:p>
          <a:p>
            <a:pPr algn="l">
              <a:lnSpc>
                <a:spcPct val="102000"/>
              </a:lnSpc>
            </a:pPr>
            <a:r>
              <a:rPr sz="3300" b="1" i="0">
                <a:solidFill>
                  <a:srgbClr val="231C18"/>
                </a:solidFill>
                <a:latin typeface="Cambria"/>
              </a:rPr>
              <a:t>Food Co., Ltd.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920240"/>
            <a:ext cx="6903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C32733"/>
                </a:solidFill>
                <a:latin typeface="Cambria"/>
              </a:rPr>
              <a:t>Темпура, сендвічі та присипка з норі · Retail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322576"/>
            <a:ext cx="1360627" cy="31089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322576"/>
            <a:ext cx="136062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19" b="1" i="0" spc="60">
                <a:solidFill>
                  <a:srgbClr val="C32733"/>
                </a:solidFill>
                <a:latin typeface="Calibri"/>
              </a:rPr>
              <a:t>FOB QINGDAO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834640"/>
            <a:ext cx="6903720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2971800"/>
            <a:ext cx="6903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40" b="1" i="0" spc="90">
                <a:solidFill>
                  <a:srgbClr val="C32733"/>
                </a:solidFill>
                <a:latin typeface="Calibri"/>
              </a:rPr>
              <a:t>ПРО КОМПАНІЮ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209544"/>
            <a:ext cx="6903720" cy="797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60" b="0" i="0">
                <a:solidFill>
                  <a:srgbClr val="231C18"/>
                </a:solidFill>
                <a:latin typeface="Cambria"/>
              </a:rPr>
              <a:t>ZEK — «Zesty Especial Kingdom», власний бренд Hanjin Food.</a:t>
            </a:r>
          </a:p>
          <a:p>
            <a:pPr algn="l">
              <a:lnSpc>
                <a:spcPct val="116000"/>
              </a:lnSpc>
            </a:pPr>
            <a:r>
              <a:rPr sz="1060" b="0" i="0">
                <a:solidFill>
                  <a:srgbClr val="231C18"/>
                </a:solidFill>
                <a:latin typeface="Cambria"/>
              </a:rPr>
              <a:t>Компанія заснована 2002 року у Вейхаї, головний офіс із 2014-го —</a:t>
            </a:r>
          </a:p>
          <a:p>
            <a:pPr algn="l">
              <a:lnSpc>
                <a:spcPct val="116000"/>
              </a:lnSpc>
            </a:pPr>
            <a:r>
              <a:rPr sz="1060" b="0" i="0">
                <a:solidFill>
                  <a:srgbClr val="231C18"/>
                </a:solidFill>
                <a:latin typeface="Cambria"/>
              </a:rPr>
              <a:t>у Шанхаї. Партнери групи — тайська Singha Group і корейська</a:t>
            </a:r>
          </a:p>
          <a:p>
            <a:pPr algn="l">
              <a:lnSpc>
                <a:spcPct val="116000"/>
              </a:lnSpc>
            </a:pPr>
            <a:r>
              <a:rPr sz="1060" b="0" i="0">
                <a:solidFill>
                  <a:srgbClr val="231C18"/>
                </a:solidFill>
                <a:latin typeface="Cambria"/>
              </a:rPr>
              <a:t>SPC Group.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4052620"/>
            <a:ext cx="6903720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4253788"/>
            <a:ext cx="21915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C32733"/>
                </a:solidFill>
                <a:latin typeface="Cambria"/>
              </a:rPr>
              <a:t>2002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637836"/>
            <a:ext cx="21915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19" b="0" i="0">
                <a:solidFill>
                  <a:srgbClr val="6A5F56"/>
                </a:solidFill>
                <a:latin typeface="Calibri"/>
              </a:rPr>
              <a:t>рік заснування</a:t>
            </a:r>
          </a:p>
          <a:p>
            <a:pPr algn="l">
              <a:lnSpc>
                <a:spcPct val="114000"/>
              </a:lnSpc>
            </a:pPr>
            <a:r>
              <a:rPr sz="819" b="0" i="0">
                <a:solidFill>
                  <a:srgbClr val="6A5F56"/>
                </a:solidFill>
                <a:latin typeface="Calibri"/>
              </a:rPr>
              <a:t>у Вейхаї, Шаньдун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49880" y="4272076"/>
            <a:ext cx="10058" cy="548640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69336" y="4253788"/>
            <a:ext cx="19903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C32733"/>
                </a:solidFill>
                <a:latin typeface="Cambria"/>
              </a:rPr>
              <a:t>№1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9336" y="4637836"/>
            <a:ext cx="19903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19" b="0" i="0">
                <a:solidFill>
                  <a:srgbClr val="6A5F56"/>
                </a:solidFill>
                <a:latin typeface="Calibri"/>
              </a:rPr>
              <a:t>частка ринку</a:t>
            </a:r>
          </a:p>
          <a:p>
            <a:pPr algn="l">
              <a:lnSpc>
                <a:spcPct val="114000"/>
              </a:lnSpc>
            </a:pPr>
            <a:r>
              <a:rPr sz="819" b="0" i="0">
                <a:solidFill>
                  <a:srgbClr val="6A5F56"/>
                </a:solidFill>
                <a:latin typeface="Calibri"/>
              </a:rPr>
              <a:t>приправленої норі в КНР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51120" y="4272076"/>
            <a:ext cx="10058" cy="548640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70576" y="4253788"/>
            <a:ext cx="19903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C32733"/>
                </a:solidFill>
                <a:latin typeface="Cambria"/>
              </a:rPr>
              <a:t>16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70576" y="4637836"/>
            <a:ext cx="19903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19" b="0" i="0">
                <a:solidFill>
                  <a:srgbClr val="6A5F56"/>
                </a:solidFill>
                <a:latin typeface="Calibri"/>
              </a:rPr>
              <a:t>країн</a:t>
            </a:r>
          </a:p>
          <a:p>
            <a:pPr algn="l">
              <a:lnSpc>
                <a:spcPct val="114000"/>
              </a:lnSpc>
            </a:pPr>
            <a:r>
              <a:rPr sz="819" b="0" i="0">
                <a:solidFill>
                  <a:srgbClr val="6A5F56"/>
                </a:solidFill>
                <a:latin typeface="Calibri"/>
              </a:rPr>
              <a:t>експорту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5223052"/>
            <a:ext cx="6903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40" b="1" i="0" spc="90">
                <a:solidFill>
                  <a:srgbClr val="C32733"/>
                </a:solidFill>
                <a:latin typeface="Calibri"/>
              </a:rPr>
              <a:t>СИРОВИНА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5451652"/>
            <a:ext cx="6903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40" b="0" i="0">
                <a:solidFill>
                  <a:srgbClr val="231C18"/>
                </a:solidFill>
                <a:latin typeface="Cambria"/>
              </a:rPr>
              <a:t>Норі з острова Чеджу (Корея) та плантацій під Вейхаєм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5771692"/>
            <a:ext cx="6903720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073384" y="6437376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A918A"/>
                </a:solidFill>
                <a:latin typeface="Cambria"/>
              </a:rPr>
              <a:t>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95604"/>
            <a:ext cx="256032" cy="14630"/>
          </a:xfrm>
          <a:prstGeom prst="rect">
            <a:avLst/>
          </a:prstGeom>
          <a:solidFill>
            <a:srgbClr val="C3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420624"/>
            <a:ext cx="5943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1" i="0" spc="100">
                <a:solidFill>
                  <a:srgbClr val="C32733"/>
                </a:solidFill>
                <a:latin typeface="Calibri"/>
              </a:rPr>
              <a:t>ZEK · SEAWEED TOPPING ·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31C18"/>
                </a:solidFill>
                <a:latin typeface="Cambria"/>
              </a:rPr>
              <a:t>Присипка 35 г — собівартість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59214" y="603504"/>
            <a:ext cx="2362809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59214" y="603504"/>
            <a:ext cx="236280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80" b="1" i="0" spc="50">
                <a:solidFill>
                  <a:srgbClr val="C32733"/>
                </a:solidFill>
                <a:latin typeface="Calibri"/>
              </a:rPr>
              <a:t>ЧОТИРИ СЦЕНАРІЇ ДОСТАВКИ</a:t>
            </a:r>
          </a:p>
        </p:txBody>
      </p:sp>
      <p:sp>
        <p:nvSpPr>
          <p:cNvPr id="8" name="Oval 7"/>
          <p:cNvSpPr/>
          <p:nvPr/>
        </p:nvSpPr>
        <p:spPr>
          <a:xfrm>
            <a:off x="1693164" y="1307591"/>
            <a:ext cx="1225296" cy="1225296"/>
          </a:xfrm>
          <a:prstGeom prst="ellipse">
            <a:avLst/>
          </a:prstGeom>
          <a:solidFill>
            <a:srgbClr val="F1D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zek_chicken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428" y="1368856"/>
            <a:ext cx="1102766" cy="1102766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566928" y="2882188"/>
            <a:ext cx="74980" cy="74980"/>
          </a:xfrm>
          <a:prstGeom prst="ellipse">
            <a:avLst/>
          </a:prstGeom>
          <a:solidFill>
            <a:srgbClr val="C3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852928"/>
            <a:ext cx="333146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1" i="0" spc="80">
                <a:solidFill>
                  <a:srgbClr val="231C18"/>
                </a:solidFill>
                <a:latin typeface="Calibri"/>
              </a:rPr>
              <a:t>35 Г · 24 ШТ/КАРТ.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090672"/>
            <a:ext cx="3477768" cy="297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 i="0">
                <a:solidFill>
                  <a:srgbClr val="231C18"/>
                </a:solidFill>
                <a:latin typeface="Cambria"/>
              </a:rPr>
              <a:t>Seaweed Topping Chicken Floss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438144"/>
            <a:ext cx="34777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19" b="0" i="0">
                <a:solidFill>
                  <a:srgbClr val="6A5F56"/>
                </a:solidFill>
                <a:latin typeface="Calibri"/>
              </a:rPr>
              <a:t>Подрібнена норі з курячою стружкою — присипка до рису та супів. Збагачена DHA.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078224"/>
            <a:ext cx="3477768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197096"/>
            <a:ext cx="3477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1" i="0" spc="90">
                <a:solidFill>
                  <a:srgbClr val="C32733"/>
                </a:solidFill>
                <a:latin typeface="Calibri"/>
              </a:rPr>
              <a:t>СОБІВАРТІСТЬ · 1 ПАКЕТ 35 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416552"/>
            <a:ext cx="34777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70">
                <a:solidFill>
                  <a:srgbClr val="9A918A"/>
                </a:solidFill>
                <a:latin typeface="Calibri"/>
              </a:rPr>
              <a:t>40′ КОНТЕЙНЕР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599432"/>
            <a:ext cx="194755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C32733"/>
                </a:solidFill>
                <a:latin typeface="Cambria"/>
              </a:rPr>
              <a:t>$0,7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27590" y="4718304"/>
            <a:ext cx="201710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231C18"/>
                </a:solidFill>
                <a:latin typeface="Cambria"/>
              </a:rPr>
              <a:t>31,54 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5074920"/>
            <a:ext cx="3477768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5148072"/>
            <a:ext cx="17388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0" i="0">
                <a:solidFill>
                  <a:srgbClr val="6A5F56"/>
                </a:solidFill>
                <a:latin typeface="Calibri"/>
              </a:rPr>
              <a:t>Збірний 34 м³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27590" y="5138928"/>
            <a:ext cx="9042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231C18"/>
                </a:solidFill>
                <a:latin typeface="Cambria"/>
              </a:rPr>
              <a:t>$0,7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23144" y="5138928"/>
            <a:ext cx="132155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231C18"/>
                </a:solidFill>
                <a:latin typeface="Cambria"/>
              </a:rPr>
              <a:t>33,68 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5335524"/>
            <a:ext cx="3477768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5408676"/>
            <a:ext cx="17388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0" i="0">
                <a:solidFill>
                  <a:srgbClr val="6A5F56"/>
                </a:solidFill>
                <a:latin typeface="Calibri"/>
              </a:rPr>
              <a:t>20′ контейнер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27590" y="5399532"/>
            <a:ext cx="9042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231C18"/>
                </a:solidFill>
                <a:latin typeface="Cambria"/>
              </a:rPr>
              <a:t>$0,9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23144" y="5399532"/>
            <a:ext cx="132155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231C18"/>
                </a:solidFill>
                <a:latin typeface="Cambria"/>
              </a:rPr>
              <a:t>38,66 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5596128"/>
            <a:ext cx="3477768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5669280"/>
            <a:ext cx="17388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0" i="0">
                <a:solidFill>
                  <a:srgbClr val="6A5F56"/>
                </a:solidFill>
                <a:latin typeface="Calibri"/>
              </a:rPr>
              <a:t>Збірний 17 м³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27590" y="5660136"/>
            <a:ext cx="9042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231C18"/>
                </a:solidFill>
                <a:latin typeface="Cambria"/>
              </a:rPr>
              <a:t>$0,9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23144" y="5660136"/>
            <a:ext cx="132155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231C18"/>
                </a:solidFill>
                <a:latin typeface="Cambria"/>
              </a:rPr>
              <a:t>40,95 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5856732"/>
            <a:ext cx="3477768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481828" y="1307591"/>
            <a:ext cx="1225296" cy="1225296"/>
          </a:xfrm>
          <a:prstGeom prst="ellipse">
            <a:avLst/>
          </a:prstGeom>
          <a:solidFill>
            <a:srgbClr val="F1D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zek_veg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092" y="1368856"/>
            <a:ext cx="1102766" cy="1102766"/>
          </a:xfrm>
          <a:prstGeom prst="rect">
            <a:avLst/>
          </a:prstGeom>
        </p:spPr>
      </p:pic>
      <p:sp>
        <p:nvSpPr>
          <p:cNvPr id="34" name="Oval 33"/>
          <p:cNvSpPr/>
          <p:nvPr/>
        </p:nvSpPr>
        <p:spPr>
          <a:xfrm>
            <a:off x="4355592" y="2882188"/>
            <a:ext cx="74980" cy="74980"/>
          </a:xfrm>
          <a:prstGeom prst="ellipse">
            <a:avLst/>
          </a:prstGeom>
          <a:solidFill>
            <a:srgbClr val="C3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01896" y="2852928"/>
            <a:ext cx="333146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1" i="0" spc="80">
                <a:solidFill>
                  <a:srgbClr val="231C18"/>
                </a:solidFill>
                <a:latin typeface="Calibri"/>
              </a:rPr>
              <a:t>35 Г · 24 ШТ/КАРТ.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55592" y="3090672"/>
            <a:ext cx="3477768" cy="297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 i="0">
                <a:solidFill>
                  <a:srgbClr val="231C18"/>
                </a:solidFill>
                <a:latin typeface="Cambria"/>
              </a:rPr>
              <a:t>Seaweed Topping Vegetables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55592" y="3438144"/>
            <a:ext cx="34777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19" b="0" i="0">
                <a:solidFill>
                  <a:srgbClr val="6A5F56"/>
                </a:solidFill>
                <a:latin typeface="Calibri"/>
              </a:rPr>
              <a:t>Норі-присипка з овочами. Паковання орієнтоване на дитячу аудиторію.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55592" y="4078224"/>
            <a:ext cx="3477768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55592" y="4197096"/>
            <a:ext cx="3477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1" i="0" spc="90">
                <a:solidFill>
                  <a:srgbClr val="C32733"/>
                </a:solidFill>
                <a:latin typeface="Calibri"/>
              </a:rPr>
              <a:t>СОБІВАРТІСТЬ · 1 ПАКЕТ 35 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55592" y="4416552"/>
            <a:ext cx="34777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70">
                <a:solidFill>
                  <a:srgbClr val="9A918A"/>
                </a:solidFill>
                <a:latin typeface="Calibri"/>
              </a:rPr>
              <a:t>40′ КОНТЕЙНЕР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55592" y="4599432"/>
            <a:ext cx="194755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C32733"/>
                </a:solidFill>
                <a:latin typeface="Cambria"/>
              </a:rPr>
              <a:t>$0,7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6254" y="4718304"/>
            <a:ext cx="201710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231C18"/>
                </a:solidFill>
                <a:latin typeface="Cambria"/>
              </a:rPr>
              <a:t>31,54 ₴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55592" y="5074920"/>
            <a:ext cx="3477768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55592" y="5148072"/>
            <a:ext cx="17388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0" i="0">
                <a:solidFill>
                  <a:srgbClr val="6A5F56"/>
                </a:solidFill>
                <a:latin typeface="Calibri"/>
              </a:rPr>
              <a:t>Збірний 34 м³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6254" y="5138928"/>
            <a:ext cx="9042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231C18"/>
                </a:solidFill>
                <a:latin typeface="Cambria"/>
              </a:rPr>
              <a:t>$0,7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11808" y="5138928"/>
            <a:ext cx="132155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231C18"/>
                </a:solidFill>
                <a:latin typeface="Cambria"/>
              </a:rPr>
              <a:t>33,68 ₴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55592" y="5335524"/>
            <a:ext cx="3477768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55592" y="5408676"/>
            <a:ext cx="17388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0" i="0">
                <a:solidFill>
                  <a:srgbClr val="6A5F56"/>
                </a:solidFill>
                <a:latin typeface="Calibri"/>
              </a:rPr>
              <a:t>20′ контейнер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16254" y="5399532"/>
            <a:ext cx="9042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231C18"/>
                </a:solidFill>
                <a:latin typeface="Cambria"/>
              </a:rPr>
              <a:t>$0,9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11808" y="5399532"/>
            <a:ext cx="132155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231C18"/>
                </a:solidFill>
                <a:latin typeface="Cambria"/>
              </a:rPr>
              <a:t>38,66 ₴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55592" y="5596128"/>
            <a:ext cx="3477768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55592" y="5669280"/>
            <a:ext cx="17388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0" i="0">
                <a:solidFill>
                  <a:srgbClr val="6A5F56"/>
                </a:solidFill>
                <a:latin typeface="Calibri"/>
              </a:rPr>
              <a:t>Збірний 17 м³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16254" y="5660136"/>
            <a:ext cx="9042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231C18"/>
                </a:solidFill>
                <a:latin typeface="Cambria"/>
              </a:rPr>
              <a:t>$0,9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11808" y="5660136"/>
            <a:ext cx="132155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231C18"/>
                </a:solidFill>
                <a:latin typeface="Cambria"/>
              </a:rPr>
              <a:t>40,95 ₴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355592" y="5856732"/>
            <a:ext cx="3477768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270492" y="1307591"/>
            <a:ext cx="1225296" cy="1225296"/>
          </a:xfrm>
          <a:prstGeom prst="ellipse">
            <a:avLst/>
          </a:prstGeom>
          <a:solidFill>
            <a:srgbClr val="F1D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zek_sesame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1756" y="1368856"/>
            <a:ext cx="1102766" cy="1102766"/>
          </a:xfrm>
          <a:prstGeom prst="rect">
            <a:avLst/>
          </a:prstGeom>
        </p:spPr>
      </p:pic>
      <p:sp>
        <p:nvSpPr>
          <p:cNvPr id="58" name="Oval 57"/>
          <p:cNvSpPr/>
          <p:nvPr/>
        </p:nvSpPr>
        <p:spPr>
          <a:xfrm>
            <a:off x="8144256" y="2882188"/>
            <a:ext cx="74980" cy="74980"/>
          </a:xfrm>
          <a:prstGeom prst="ellipse">
            <a:avLst/>
          </a:prstGeom>
          <a:solidFill>
            <a:srgbClr val="C3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90560" y="2852928"/>
            <a:ext cx="333146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1" i="0" spc="80">
                <a:solidFill>
                  <a:srgbClr val="231C18"/>
                </a:solidFill>
                <a:latin typeface="Calibri"/>
              </a:rPr>
              <a:t>35 Г · 24 ШТ/КАРТ.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44256" y="3090672"/>
            <a:ext cx="3477768" cy="297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 i="0">
                <a:solidFill>
                  <a:srgbClr val="231C18"/>
                </a:solidFill>
                <a:latin typeface="Cambria"/>
              </a:rPr>
              <a:t>Seaweed Topping Sesame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144256" y="3438144"/>
            <a:ext cx="34777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19" b="0" i="0">
                <a:solidFill>
                  <a:srgbClr val="6A5F56"/>
                </a:solidFill>
                <a:latin typeface="Calibri"/>
              </a:rPr>
              <a:t>Норі-присипка з кунжутом — базовий смак напрямку, без м’ясних добавок.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144256" y="4078224"/>
            <a:ext cx="3477768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144256" y="4197096"/>
            <a:ext cx="3477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1" i="0" spc="90">
                <a:solidFill>
                  <a:srgbClr val="C32733"/>
                </a:solidFill>
                <a:latin typeface="Calibri"/>
              </a:rPr>
              <a:t>СОБІВАРТІСТЬ · 1 ПАКЕТ 35 Г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44256" y="4416552"/>
            <a:ext cx="34777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70">
                <a:solidFill>
                  <a:srgbClr val="9A918A"/>
                </a:solidFill>
                <a:latin typeface="Calibri"/>
              </a:rPr>
              <a:t>40′ КОНТЕЙНЕР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44256" y="4599432"/>
            <a:ext cx="194755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C32733"/>
                </a:solidFill>
                <a:latin typeface="Cambria"/>
              </a:rPr>
              <a:t>$0,7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04918" y="4718304"/>
            <a:ext cx="201710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231C18"/>
                </a:solidFill>
                <a:latin typeface="Cambria"/>
              </a:rPr>
              <a:t>31,54 ₴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44256" y="5074920"/>
            <a:ext cx="3477768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144256" y="5148072"/>
            <a:ext cx="17388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0" i="0">
                <a:solidFill>
                  <a:srgbClr val="6A5F56"/>
                </a:solidFill>
                <a:latin typeface="Calibri"/>
              </a:rPr>
              <a:t>Збірний 34 м³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604918" y="5138928"/>
            <a:ext cx="9042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231C18"/>
                </a:solidFill>
                <a:latin typeface="Cambria"/>
              </a:rPr>
              <a:t>$0,7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300472" y="5138928"/>
            <a:ext cx="132155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231C18"/>
                </a:solidFill>
                <a:latin typeface="Cambria"/>
              </a:rPr>
              <a:t>33,68 ₴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144256" y="5335524"/>
            <a:ext cx="3477768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144256" y="5408676"/>
            <a:ext cx="17388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0" i="0">
                <a:solidFill>
                  <a:srgbClr val="6A5F56"/>
                </a:solidFill>
                <a:latin typeface="Calibri"/>
              </a:rPr>
              <a:t>20′ контейнер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04918" y="5399532"/>
            <a:ext cx="9042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231C18"/>
                </a:solidFill>
                <a:latin typeface="Cambria"/>
              </a:rPr>
              <a:t>$0,9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300472" y="5399532"/>
            <a:ext cx="132155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231C18"/>
                </a:solidFill>
                <a:latin typeface="Cambria"/>
              </a:rPr>
              <a:t>38,66 ₴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144256" y="5596128"/>
            <a:ext cx="3477768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144256" y="5669280"/>
            <a:ext cx="17388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0" i="0">
                <a:solidFill>
                  <a:srgbClr val="6A5F56"/>
                </a:solidFill>
                <a:latin typeface="Calibri"/>
              </a:rPr>
              <a:t>Збірний 17 м³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604918" y="5660136"/>
            <a:ext cx="9042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231C18"/>
                </a:solidFill>
                <a:latin typeface="Cambria"/>
              </a:rPr>
              <a:t>$0,9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300472" y="5660136"/>
            <a:ext cx="132155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231C18"/>
                </a:solidFill>
                <a:latin typeface="Cambria"/>
              </a:rPr>
              <a:t>40,95 ₴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144256" y="5856732"/>
            <a:ext cx="3477768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66928" y="6094476"/>
            <a:ext cx="20116" cy="475488"/>
          </a:xfrm>
          <a:prstGeom prst="rect">
            <a:avLst/>
          </a:prstGeom>
          <a:solidFill>
            <a:srgbClr val="C3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49808" y="6094476"/>
            <a:ext cx="1087221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0" i="0">
                <a:solidFill>
                  <a:srgbClr val="6A5F56"/>
                </a:solidFill>
                <a:latin typeface="Calibri"/>
              </a:rPr>
              <a:t>Ціни однакові для всіх трьох смаків у межах ваги — постачальник котирує напрямок, а не артикул. Розрахунок наведено для чотирьох сценаріїв завантаження, тож ZEK можна зіставляти за обсягом контейнера.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073384" y="6437376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A918A"/>
                </a:solidFill>
                <a:latin typeface="Cambria"/>
              </a:rPr>
              <a:t>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95604"/>
            <a:ext cx="256032" cy="14630"/>
          </a:xfrm>
          <a:prstGeom prst="rect">
            <a:avLst/>
          </a:prstGeom>
          <a:solidFill>
            <a:srgbClr val="C3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420624"/>
            <a:ext cx="5943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1" i="0" spc="100">
                <a:solidFill>
                  <a:srgbClr val="C32733"/>
                </a:solidFill>
                <a:latin typeface="Calibri"/>
              </a:rPr>
              <a:t>ZEK · SEAWEED TOPPING ·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31C18"/>
                </a:solidFill>
                <a:latin typeface="Cambria"/>
              </a:rPr>
              <a:t>Присипка 70 г — собівартість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59214" y="603504"/>
            <a:ext cx="2362809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59214" y="603504"/>
            <a:ext cx="236280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80" b="1" i="0" spc="50">
                <a:solidFill>
                  <a:srgbClr val="C32733"/>
                </a:solidFill>
                <a:latin typeface="Calibri"/>
              </a:rPr>
              <a:t>ЧОТИРИ СЦЕНАРІЇ ДОСТАВКИ</a:t>
            </a:r>
          </a:p>
        </p:txBody>
      </p:sp>
      <p:sp>
        <p:nvSpPr>
          <p:cNvPr id="8" name="Oval 7"/>
          <p:cNvSpPr/>
          <p:nvPr/>
        </p:nvSpPr>
        <p:spPr>
          <a:xfrm>
            <a:off x="1693164" y="1307591"/>
            <a:ext cx="1225296" cy="1225296"/>
          </a:xfrm>
          <a:prstGeom prst="ellipse">
            <a:avLst/>
          </a:prstGeom>
          <a:solidFill>
            <a:srgbClr val="F1D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zek_veg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428" y="1368856"/>
            <a:ext cx="1102766" cy="1102766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566928" y="2882188"/>
            <a:ext cx="74980" cy="74980"/>
          </a:xfrm>
          <a:prstGeom prst="ellipse">
            <a:avLst/>
          </a:prstGeom>
          <a:solidFill>
            <a:srgbClr val="C3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852928"/>
            <a:ext cx="333146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1" i="0" spc="80">
                <a:solidFill>
                  <a:srgbClr val="231C18"/>
                </a:solidFill>
                <a:latin typeface="Calibri"/>
              </a:rPr>
              <a:t>70 Г · 24 ШТ/КАРТ.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090672"/>
            <a:ext cx="3477768" cy="297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 i="0">
                <a:solidFill>
                  <a:srgbClr val="231C18"/>
                </a:solidFill>
                <a:latin typeface="Cambria"/>
              </a:rPr>
              <a:t>Seaweed Topping Vegetables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438144"/>
            <a:ext cx="34777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19" b="0" i="0">
                <a:solidFill>
                  <a:srgbClr val="6A5F56"/>
                </a:solidFill>
                <a:latin typeface="Calibri"/>
              </a:rPr>
              <a:t>Овочева присипка у великому пакеті 70 г. Розрахована на родину або HoReCa.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078224"/>
            <a:ext cx="3477768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197096"/>
            <a:ext cx="3477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1" i="0" spc="90">
                <a:solidFill>
                  <a:srgbClr val="C32733"/>
                </a:solidFill>
                <a:latin typeface="Calibri"/>
              </a:rPr>
              <a:t>СОБІВАРТІСТЬ · 1 ПАКЕТ 70 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416552"/>
            <a:ext cx="34777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70">
                <a:solidFill>
                  <a:srgbClr val="9A918A"/>
                </a:solidFill>
                <a:latin typeface="Calibri"/>
              </a:rPr>
              <a:t>40′ КОНТЕЙНЕР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599432"/>
            <a:ext cx="194755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C32733"/>
                </a:solidFill>
                <a:latin typeface="Cambria"/>
              </a:rPr>
              <a:t>$1,4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27590" y="4718304"/>
            <a:ext cx="201710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231C18"/>
                </a:solidFill>
                <a:latin typeface="Cambria"/>
              </a:rPr>
              <a:t>63,86 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5074920"/>
            <a:ext cx="3477768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5148072"/>
            <a:ext cx="17388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0" i="0">
                <a:solidFill>
                  <a:srgbClr val="6A5F56"/>
                </a:solidFill>
                <a:latin typeface="Calibri"/>
              </a:rPr>
              <a:t>Збірний 34 м³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27590" y="5138928"/>
            <a:ext cx="9042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231C18"/>
                </a:solidFill>
                <a:latin typeface="Cambria"/>
              </a:rPr>
              <a:t>$1,5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23144" y="5138928"/>
            <a:ext cx="132155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231C18"/>
                </a:solidFill>
                <a:latin typeface="Cambria"/>
              </a:rPr>
              <a:t>68,19 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5335524"/>
            <a:ext cx="3477768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5408676"/>
            <a:ext cx="17388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0" i="0">
                <a:solidFill>
                  <a:srgbClr val="6A5F56"/>
                </a:solidFill>
                <a:latin typeface="Calibri"/>
              </a:rPr>
              <a:t>20′ контейнер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27590" y="5399532"/>
            <a:ext cx="9042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231C18"/>
                </a:solidFill>
                <a:latin typeface="Cambria"/>
              </a:rPr>
              <a:t>$1,7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23144" y="5399532"/>
            <a:ext cx="132155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231C18"/>
                </a:solidFill>
                <a:latin typeface="Cambria"/>
              </a:rPr>
              <a:t>78,29 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5596128"/>
            <a:ext cx="3477768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5669280"/>
            <a:ext cx="17388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0" i="0">
                <a:solidFill>
                  <a:srgbClr val="6A5F56"/>
                </a:solidFill>
                <a:latin typeface="Calibri"/>
              </a:rPr>
              <a:t>Збірний 17 м³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27590" y="5660136"/>
            <a:ext cx="9042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231C18"/>
                </a:solidFill>
                <a:latin typeface="Cambria"/>
              </a:rPr>
              <a:t>$1,8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23144" y="5660136"/>
            <a:ext cx="132155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231C18"/>
                </a:solidFill>
                <a:latin typeface="Cambria"/>
              </a:rPr>
              <a:t>82,92 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5856732"/>
            <a:ext cx="3477768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481828" y="1307591"/>
            <a:ext cx="1225296" cy="1225296"/>
          </a:xfrm>
          <a:prstGeom prst="ellipse">
            <a:avLst/>
          </a:prstGeom>
          <a:solidFill>
            <a:srgbClr val="F1D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zek_sesame7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092" y="1368856"/>
            <a:ext cx="1102766" cy="1102766"/>
          </a:xfrm>
          <a:prstGeom prst="rect">
            <a:avLst/>
          </a:prstGeom>
        </p:spPr>
      </p:pic>
      <p:sp>
        <p:nvSpPr>
          <p:cNvPr id="34" name="Oval 33"/>
          <p:cNvSpPr/>
          <p:nvPr/>
        </p:nvSpPr>
        <p:spPr>
          <a:xfrm>
            <a:off x="4355592" y="2882188"/>
            <a:ext cx="74980" cy="74980"/>
          </a:xfrm>
          <a:prstGeom prst="ellipse">
            <a:avLst/>
          </a:prstGeom>
          <a:solidFill>
            <a:srgbClr val="C3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01896" y="2852928"/>
            <a:ext cx="333146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1" i="0" spc="80">
                <a:solidFill>
                  <a:srgbClr val="231C18"/>
                </a:solidFill>
                <a:latin typeface="Calibri"/>
              </a:rPr>
              <a:t>70 Г · 24 ШТ/КАРТ.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55592" y="3090672"/>
            <a:ext cx="3477768" cy="297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 i="0">
                <a:solidFill>
                  <a:srgbClr val="231C18"/>
                </a:solidFill>
                <a:latin typeface="Cambria"/>
              </a:rPr>
              <a:t>Seaweed Topping Sesame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55592" y="3438144"/>
            <a:ext cx="34777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19" b="0" i="0">
                <a:solidFill>
                  <a:srgbClr val="6A5F56"/>
                </a:solidFill>
                <a:latin typeface="Calibri"/>
              </a:rPr>
              <a:t>Кунжутна присипка у пакеті 70 г — удвічі більший обсяг за той самий смак.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55592" y="4078224"/>
            <a:ext cx="3477768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55592" y="4197096"/>
            <a:ext cx="3477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1" i="0" spc="90">
                <a:solidFill>
                  <a:srgbClr val="C32733"/>
                </a:solidFill>
                <a:latin typeface="Calibri"/>
              </a:rPr>
              <a:t>СОБІВАРТІСТЬ · 1 ПАКЕТ 70 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55592" y="4416552"/>
            <a:ext cx="34777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70">
                <a:solidFill>
                  <a:srgbClr val="9A918A"/>
                </a:solidFill>
                <a:latin typeface="Calibri"/>
              </a:rPr>
              <a:t>40′ КОНТЕЙНЕР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55592" y="4599432"/>
            <a:ext cx="194755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C32733"/>
                </a:solidFill>
                <a:latin typeface="Cambria"/>
              </a:rPr>
              <a:t>$1,4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6254" y="4718304"/>
            <a:ext cx="201710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231C18"/>
                </a:solidFill>
                <a:latin typeface="Cambria"/>
              </a:rPr>
              <a:t>63,86 ₴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55592" y="5074920"/>
            <a:ext cx="3477768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55592" y="5148072"/>
            <a:ext cx="17388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0" i="0">
                <a:solidFill>
                  <a:srgbClr val="6A5F56"/>
                </a:solidFill>
                <a:latin typeface="Calibri"/>
              </a:rPr>
              <a:t>Збірний 34 м³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6254" y="5138928"/>
            <a:ext cx="9042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231C18"/>
                </a:solidFill>
                <a:latin typeface="Cambria"/>
              </a:rPr>
              <a:t>$1,5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11808" y="5138928"/>
            <a:ext cx="132155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231C18"/>
                </a:solidFill>
                <a:latin typeface="Cambria"/>
              </a:rPr>
              <a:t>68,19 ₴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55592" y="5335524"/>
            <a:ext cx="3477768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55592" y="5408676"/>
            <a:ext cx="17388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0" i="0">
                <a:solidFill>
                  <a:srgbClr val="6A5F56"/>
                </a:solidFill>
                <a:latin typeface="Calibri"/>
              </a:rPr>
              <a:t>20′ контейнер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16254" y="5399532"/>
            <a:ext cx="9042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231C18"/>
                </a:solidFill>
                <a:latin typeface="Cambria"/>
              </a:rPr>
              <a:t>$1,7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11808" y="5399532"/>
            <a:ext cx="132155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231C18"/>
                </a:solidFill>
                <a:latin typeface="Cambria"/>
              </a:rPr>
              <a:t>78,29 ₴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55592" y="5596128"/>
            <a:ext cx="3477768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55592" y="5669280"/>
            <a:ext cx="17388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0" i="0">
                <a:solidFill>
                  <a:srgbClr val="6A5F56"/>
                </a:solidFill>
                <a:latin typeface="Calibri"/>
              </a:rPr>
              <a:t>Збірний 17 м³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16254" y="5660136"/>
            <a:ext cx="9042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231C18"/>
                </a:solidFill>
                <a:latin typeface="Cambria"/>
              </a:rPr>
              <a:t>$1,8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11808" y="5660136"/>
            <a:ext cx="132155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231C18"/>
                </a:solidFill>
                <a:latin typeface="Cambria"/>
              </a:rPr>
              <a:t>82,92 ₴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355592" y="5856732"/>
            <a:ext cx="3477768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270492" y="1307591"/>
            <a:ext cx="1225296" cy="1225296"/>
          </a:xfrm>
          <a:prstGeom prst="ellipse">
            <a:avLst/>
          </a:prstGeom>
          <a:solidFill>
            <a:srgbClr val="F1D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zek_chicken7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1756" y="1368856"/>
            <a:ext cx="1102766" cy="1102766"/>
          </a:xfrm>
          <a:prstGeom prst="rect">
            <a:avLst/>
          </a:prstGeom>
        </p:spPr>
      </p:pic>
      <p:sp>
        <p:nvSpPr>
          <p:cNvPr id="58" name="Oval 57"/>
          <p:cNvSpPr/>
          <p:nvPr/>
        </p:nvSpPr>
        <p:spPr>
          <a:xfrm>
            <a:off x="8144256" y="2882188"/>
            <a:ext cx="74980" cy="74980"/>
          </a:xfrm>
          <a:prstGeom prst="ellipse">
            <a:avLst/>
          </a:prstGeom>
          <a:solidFill>
            <a:srgbClr val="C3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90560" y="2852928"/>
            <a:ext cx="333146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1" i="0" spc="80">
                <a:solidFill>
                  <a:srgbClr val="231C18"/>
                </a:solidFill>
                <a:latin typeface="Calibri"/>
              </a:rPr>
              <a:t>70 Г · 24 ШТ/КАРТ.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44256" y="3090672"/>
            <a:ext cx="3477768" cy="297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 i="0">
                <a:solidFill>
                  <a:srgbClr val="231C18"/>
                </a:solidFill>
                <a:latin typeface="Cambria"/>
              </a:rPr>
              <a:t>Seaweed Topping Chicken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144256" y="3438144"/>
            <a:ext cx="34777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19" b="0" i="0">
                <a:solidFill>
                  <a:srgbClr val="6A5F56"/>
                </a:solidFill>
                <a:latin typeface="Calibri"/>
              </a:rPr>
              <a:t>Присипка з курячою стружкою, 70 г. Найдорожча позиція в розрахунку ZEK.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144256" y="4078224"/>
            <a:ext cx="3477768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144256" y="4197096"/>
            <a:ext cx="3477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1" i="0" spc="90">
                <a:solidFill>
                  <a:srgbClr val="C32733"/>
                </a:solidFill>
                <a:latin typeface="Calibri"/>
              </a:rPr>
              <a:t>СОБІВАРТІСТЬ · 1 ПАКЕТ 70 Г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44256" y="4416552"/>
            <a:ext cx="34777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70">
                <a:solidFill>
                  <a:srgbClr val="9A918A"/>
                </a:solidFill>
                <a:latin typeface="Calibri"/>
              </a:rPr>
              <a:t>40′ КОНТЕЙНЕР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44256" y="4599432"/>
            <a:ext cx="194755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C32733"/>
                </a:solidFill>
                <a:latin typeface="Cambria"/>
              </a:rPr>
              <a:t>$1,4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04918" y="4718304"/>
            <a:ext cx="201710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231C18"/>
                </a:solidFill>
                <a:latin typeface="Cambria"/>
              </a:rPr>
              <a:t>63,86 ₴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44256" y="5074920"/>
            <a:ext cx="3477768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144256" y="5148072"/>
            <a:ext cx="17388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0" i="0">
                <a:solidFill>
                  <a:srgbClr val="6A5F56"/>
                </a:solidFill>
                <a:latin typeface="Calibri"/>
              </a:rPr>
              <a:t>Збірний 34 м³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604918" y="5138928"/>
            <a:ext cx="9042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231C18"/>
                </a:solidFill>
                <a:latin typeface="Cambria"/>
              </a:rPr>
              <a:t>$1,5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300472" y="5138928"/>
            <a:ext cx="132155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231C18"/>
                </a:solidFill>
                <a:latin typeface="Cambria"/>
              </a:rPr>
              <a:t>68,19 ₴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144256" y="5335524"/>
            <a:ext cx="3477768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144256" y="5408676"/>
            <a:ext cx="17388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0" i="0">
                <a:solidFill>
                  <a:srgbClr val="6A5F56"/>
                </a:solidFill>
                <a:latin typeface="Calibri"/>
              </a:rPr>
              <a:t>20′ контейнер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04918" y="5399532"/>
            <a:ext cx="9042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231C18"/>
                </a:solidFill>
                <a:latin typeface="Cambria"/>
              </a:rPr>
              <a:t>$1,7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300472" y="5399532"/>
            <a:ext cx="132155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231C18"/>
                </a:solidFill>
                <a:latin typeface="Cambria"/>
              </a:rPr>
              <a:t>78,29 ₴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144256" y="5596128"/>
            <a:ext cx="3477768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144256" y="5669280"/>
            <a:ext cx="17388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0" i="0">
                <a:solidFill>
                  <a:srgbClr val="6A5F56"/>
                </a:solidFill>
                <a:latin typeface="Calibri"/>
              </a:rPr>
              <a:t>Збірний 17 м³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604918" y="5660136"/>
            <a:ext cx="9042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231C18"/>
                </a:solidFill>
                <a:latin typeface="Cambria"/>
              </a:rPr>
              <a:t>$1,8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300472" y="5660136"/>
            <a:ext cx="132155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231C18"/>
                </a:solidFill>
                <a:latin typeface="Cambria"/>
              </a:rPr>
              <a:t>82,92 ₴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144256" y="5856732"/>
            <a:ext cx="3477768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66928" y="6094476"/>
            <a:ext cx="20116" cy="475488"/>
          </a:xfrm>
          <a:prstGeom prst="rect">
            <a:avLst/>
          </a:prstGeom>
          <a:solidFill>
            <a:srgbClr val="C3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49808" y="6094476"/>
            <a:ext cx="1087221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0" i="0">
                <a:solidFill>
                  <a:srgbClr val="6A5F56"/>
                </a:solidFill>
                <a:latin typeface="Calibri"/>
              </a:rPr>
              <a:t>Подвоєння ваги з 35 до 70 г підвищує собівартість пакета приблизно вдвічі — питома вартість за грам залишається на рівні 35-грамової фасовки.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073384" y="6437376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A918A"/>
                </a:solidFill>
                <a:latin typeface="Cambria"/>
              </a:rPr>
              <a:t>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ishima_profile_hero.jpg"/>
          <p:cNvPicPr>
            <a:picLocks noChangeAspect="1"/>
          </p:cNvPicPr>
          <p:nvPr/>
        </p:nvPicPr>
        <p:blipFill>
          <a:blip r:embed="rId2"/>
          <a:srcRect t="2090" b="2090"/>
          <a:stretch>
            <a:fillRect/>
          </a:stretch>
        </p:blipFill>
        <p:spPr>
          <a:xfrm>
            <a:off x="7818120" y="0"/>
            <a:ext cx="4370831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" y="495604"/>
            <a:ext cx="256032" cy="14630"/>
          </a:xfrm>
          <a:prstGeom prst="rect">
            <a:avLst/>
          </a:prstGeom>
          <a:solidFill>
            <a:srgbClr val="C3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420624"/>
            <a:ext cx="5943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1" i="0" spc="100">
                <a:solidFill>
                  <a:srgbClr val="C32733"/>
                </a:solidFill>
                <a:latin typeface="Calibri"/>
              </a:rPr>
              <a:t>ПРОФІЛЬ ПОСТАЧАЛЬНИКА ·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31520"/>
            <a:ext cx="69037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1" i="0">
                <a:solidFill>
                  <a:srgbClr val="231C18"/>
                </a:solidFill>
                <a:latin typeface="Cambria"/>
              </a:rPr>
              <a:t>Dalian Mishima Foods</a:t>
            </a:r>
          </a:p>
          <a:p>
            <a:pPr algn="l">
              <a:lnSpc>
                <a:spcPct val="102000"/>
              </a:lnSpc>
            </a:pPr>
            <a:r>
              <a:rPr sz="3300" b="1" i="0">
                <a:solidFill>
                  <a:srgbClr val="231C18"/>
                </a:solidFill>
                <a:latin typeface="Cambria"/>
              </a:rPr>
              <a:t>Co., Ltd.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920240"/>
            <a:ext cx="6903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C32733"/>
                </a:solidFill>
                <a:latin typeface="Cambria"/>
              </a:rPr>
              <a:t>Фурікаке, соуси та приправи Pan-Asian · Retail / OEM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322576"/>
            <a:ext cx="1843430" cy="31089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322576"/>
            <a:ext cx="184343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19" b="1" i="0" spc="60">
                <a:solidFill>
                  <a:srgbClr val="C32733"/>
                </a:solidFill>
                <a:latin typeface="Calibri"/>
              </a:rPr>
              <a:t>FOB DALIAN, КИТАЙ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834640"/>
            <a:ext cx="6903720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971800"/>
            <a:ext cx="6903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40" b="1" i="0" spc="90">
                <a:solidFill>
                  <a:srgbClr val="C32733"/>
                </a:solidFill>
                <a:latin typeface="Calibri"/>
              </a:rPr>
              <a:t>ПРО КОМПАНІЮ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209544"/>
            <a:ext cx="6903720" cy="982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60" b="0" i="0">
                <a:solidFill>
                  <a:srgbClr val="231C18"/>
                </a:solidFill>
                <a:latin typeface="Cambria"/>
              </a:rPr>
              <a:t>Мішіма — виробник соусів, фурікаке, супових баз та юзу-продукції</a:t>
            </a:r>
          </a:p>
          <a:p>
            <a:pPr algn="l">
              <a:lnSpc>
                <a:spcPct val="116000"/>
              </a:lnSpc>
            </a:pPr>
            <a:r>
              <a:rPr sz="1060" b="0" i="0">
                <a:solidFill>
                  <a:srgbClr val="231C18"/>
                </a:solidFill>
                <a:latin typeface="Cambria"/>
              </a:rPr>
              <a:t>(м. Далянь, пров. Ляонін, КНР). Асортимент за каталогом: класичні</a:t>
            </a:r>
          </a:p>
          <a:p>
            <a:pPr algn="l">
              <a:lnSpc>
                <a:spcPct val="116000"/>
              </a:lnSpc>
            </a:pPr>
            <a:r>
              <a:rPr sz="1060" b="0" i="0">
                <a:solidFill>
                  <a:srgbClr val="231C18"/>
                </a:solidFill>
                <a:latin typeface="Cambria"/>
              </a:rPr>
              <a:t>соуси, пастові соуси, фурікаке в пакетах і коробках, супові бази,</a:t>
            </a:r>
          </a:p>
          <a:p>
            <a:pPr algn="l">
              <a:lnSpc>
                <a:spcPct val="116000"/>
              </a:lnSpc>
            </a:pPr>
            <a:r>
              <a:rPr sz="1060" b="0" i="0">
                <a:solidFill>
                  <a:srgbClr val="231C18"/>
                </a:solidFill>
                <a:latin typeface="Cambria"/>
              </a:rPr>
              <a:t>очадзуке, юзу-серія, фреш-лок пляшки.</a:t>
            </a:r>
          </a:p>
          <a:p>
            <a:pPr algn="l">
              <a:lnSpc>
                <a:spcPct val="116000"/>
              </a:lnSpc>
            </a:pPr>
            <a:r>
              <a:rPr sz="1060" b="0" i="0">
                <a:solidFill>
                  <a:srgbClr val="231C18"/>
                </a:solidFill>
                <a:latin typeface="Cambria"/>
              </a:rPr>
              <a:t>Контакт: foods@mishima.com.cn · +86 411 87611161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238244"/>
            <a:ext cx="6903720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4439412"/>
            <a:ext cx="21915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C32733"/>
                </a:solidFill>
                <a:latin typeface="Cambria"/>
              </a:rPr>
              <a:t>8 SKU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4823459"/>
            <a:ext cx="21915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19" b="0" i="0">
                <a:solidFill>
                  <a:srgbClr val="6A5F56"/>
                </a:solidFill>
                <a:latin typeface="Calibri"/>
              </a:rPr>
              <a:t>фурікаке в розрахунку</a:t>
            </a:r>
          </a:p>
          <a:p>
            <a:pPr algn="l">
              <a:lnSpc>
                <a:spcPct val="114000"/>
              </a:lnSpc>
            </a:pPr>
            <a:r>
              <a:rPr sz="819" b="0" i="0">
                <a:solidFill>
                  <a:srgbClr val="6A5F56"/>
                </a:solidFill>
                <a:latin typeface="Calibri"/>
              </a:rPr>
              <a:t>собівартості (25 і 50 г)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49880" y="4457699"/>
            <a:ext cx="10058" cy="548640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69336" y="4439412"/>
            <a:ext cx="19903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C32733"/>
                </a:solidFill>
                <a:latin typeface="Cambria"/>
              </a:rPr>
              <a:t>17 м³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9336" y="4823459"/>
            <a:ext cx="19903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19" b="0" i="0">
                <a:solidFill>
                  <a:srgbClr val="6A5F56"/>
                </a:solidFill>
                <a:latin typeface="Calibri"/>
              </a:rPr>
              <a:t>єдиний прорахований</a:t>
            </a:r>
          </a:p>
          <a:p>
            <a:pPr algn="l">
              <a:lnSpc>
                <a:spcPct val="114000"/>
              </a:lnSpc>
            </a:pPr>
            <a:r>
              <a:rPr sz="819" b="0" i="0">
                <a:solidFill>
                  <a:srgbClr val="6A5F56"/>
                </a:solidFill>
                <a:latin typeface="Calibri"/>
              </a:rPr>
              <a:t>сценарій доставки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1120" y="4457699"/>
            <a:ext cx="10058" cy="548640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70576" y="4439412"/>
            <a:ext cx="19903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C32733"/>
                </a:solidFill>
                <a:latin typeface="Cambria"/>
              </a:rPr>
              <a:t>12 міс.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70576" y="4823459"/>
            <a:ext cx="19903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19" b="0" i="0">
                <a:solidFill>
                  <a:srgbClr val="6A5F56"/>
                </a:solidFill>
                <a:latin typeface="Calibri"/>
              </a:rPr>
              <a:t>термін придатності</a:t>
            </a:r>
          </a:p>
          <a:p>
            <a:pPr algn="l">
              <a:lnSpc>
                <a:spcPct val="114000"/>
              </a:lnSpc>
            </a:pPr>
            <a:r>
              <a:rPr sz="819" b="0" i="0">
                <a:solidFill>
                  <a:srgbClr val="6A5F56"/>
                </a:solidFill>
                <a:latin typeface="Calibri"/>
              </a:rPr>
              <a:t>(за каталогом)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5742432"/>
            <a:ext cx="20116" cy="475488"/>
          </a:xfrm>
          <a:prstGeom prst="rect">
            <a:avLst/>
          </a:prstGeom>
          <a:solidFill>
            <a:srgbClr val="C3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5742432"/>
            <a:ext cx="67208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0" i="0">
                <a:solidFill>
                  <a:srgbClr val="6A5F56"/>
                </a:solidFill>
                <a:latin typeface="Calibri"/>
              </a:rPr>
              <a:t>У файлі розрахунку базис доставки вказано «FOB Bangkok», хоча країна походження — Китай. Невідповідність потребує уточнення у постачальника до фіксації умов.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73384" y="6437376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A918A"/>
                </a:solidFill>
                <a:latin typeface="Cambria"/>
              </a:rPr>
              <a:t>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95604"/>
            <a:ext cx="256032" cy="14630"/>
          </a:xfrm>
          <a:prstGeom prst="rect">
            <a:avLst/>
          </a:prstGeom>
          <a:solidFill>
            <a:srgbClr val="C3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420624"/>
            <a:ext cx="5943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1" i="0" spc="100">
                <a:solidFill>
                  <a:srgbClr val="C32733"/>
                </a:solidFill>
                <a:latin typeface="Calibri"/>
              </a:rPr>
              <a:t>MISHIMA · FURIKAKE ·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31C18"/>
                </a:solidFill>
                <a:latin typeface="Cambria"/>
              </a:rPr>
              <a:t>Furikake 25 г — собівартість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73768" y="603504"/>
            <a:ext cx="2048255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73768" y="603504"/>
            <a:ext cx="204825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80" b="1" i="0" spc="50">
                <a:solidFill>
                  <a:srgbClr val="C32733"/>
                </a:solidFill>
                <a:latin typeface="Calibri"/>
              </a:rPr>
              <a:t>ЗБІРНИЙ ВАНТАЖ 17 М³</a:t>
            </a:r>
          </a:p>
        </p:txBody>
      </p:sp>
      <p:sp>
        <p:nvSpPr>
          <p:cNvPr id="8" name="Oval 7"/>
          <p:cNvSpPr/>
          <p:nvPr/>
        </p:nvSpPr>
        <p:spPr>
          <a:xfrm>
            <a:off x="1247013" y="1307591"/>
            <a:ext cx="1225296" cy="1225296"/>
          </a:xfrm>
          <a:prstGeom prst="ellipse">
            <a:avLst/>
          </a:prstGeom>
          <a:solidFill>
            <a:srgbClr val="F1D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s_shri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277" y="1368856"/>
            <a:ext cx="1102766" cy="1102766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566928" y="2882188"/>
            <a:ext cx="74980" cy="74980"/>
          </a:xfrm>
          <a:prstGeom prst="ellipse">
            <a:avLst/>
          </a:prstGeom>
          <a:solidFill>
            <a:srgbClr val="C3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852928"/>
            <a:ext cx="243916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1" i="0" spc="80">
                <a:solidFill>
                  <a:srgbClr val="231C18"/>
                </a:solidFill>
                <a:latin typeface="Calibri"/>
              </a:rPr>
              <a:t>25 Г · 20 ШТ/КАРТ.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090672"/>
            <a:ext cx="2585466" cy="297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 i="0">
                <a:solidFill>
                  <a:srgbClr val="231C18"/>
                </a:solidFill>
                <a:latin typeface="Cambria"/>
              </a:rPr>
              <a:t>Furikake з креветкою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438144"/>
            <a:ext cx="258546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19" b="0" i="0">
                <a:solidFill>
                  <a:srgbClr val="6A5F56"/>
                </a:solidFill>
                <a:latin typeface="Calibri"/>
              </a:rPr>
              <a:t>Видима креветка та дрібна риба — джерело мікроелементів. 3–4 г на 200 г рису.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078224"/>
            <a:ext cx="2585466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197096"/>
            <a:ext cx="258546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1" i="0" spc="90">
                <a:solidFill>
                  <a:srgbClr val="C32733"/>
                </a:solidFill>
                <a:latin typeface="Calibri"/>
              </a:rPr>
              <a:t>СОБІВАРТІСТЬ · 1 ПАКЕТ 25 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416552"/>
            <a:ext cx="258546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70">
                <a:solidFill>
                  <a:srgbClr val="9A918A"/>
                </a:solidFill>
                <a:latin typeface="Calibri"/>
              </a:rPr>
              <a:t>ЗБІРНИЙ ВАНТАЖ 17 М³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599432"/>
            <a:ext cx="14478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C32733"/>
                </a:solidFill>
                <a:latin typeface="Cambria"/>
              </a:rPr>
              <a:t>$0,72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52823" y="4718304"/>
            <a:ext cx="149957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231C18"/>
                </a:solidFill>
                <a:latin typeface="Cambria"/>
              </a:rPr>
              <a:t>36,49 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5074920"/>
            <a:ext cx="2585466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5148072"/>
            <a:ext cx="129273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0" i="0">
                <a:solidFill>
                  <a:srgbClr val="6A5F56"/>
                </a:solidFill>
                <a:latin typeface="Calibri"/>
              </a:rPr>
              <a:t>С/С, €/од.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69916" y="5138928"/>
            <a:ext cx="9824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231C18"/>
                </a:solidFill>
                <a:latin typeface="Cambria"/>
              </a:rPr>
              <a:t>€0,81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5335524"/>
            <a:ext cx="2585466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5408676"/>
            <a:ext cx="129273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0" i="0">
                <a:solidFill>
                  <a:srgbClr val="6A5F56"/>
                </a:solidFill>
                <a:latin typeface="Calibri"/>
              </a:rPr>
              <a:t>Питома собівартість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69916" y="5399532"/>
            <a:ext cx="9824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231C18"/>
                </a:solidFill>
                <a:latin typeface="Cambria"/>
              </a:rPr>
              <a:t>1,46 ₴/г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5596128"/>
            <a:ext cx="2585466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070223" y="1307591"/>
            <a:ext cx="1225296" cy="1225296"/>
          </a:xfrm>
          <a:prstGeom prst="ellipse">
            <a:avLst/>
          </a:prstGeom>
          <a:solidFill>
            <a:srgbClr val="F1D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ms_wasab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1487" y="1368856"/>
            <a:ext cx="1102766" cy="110276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390138" y="2615183"/>
            <a:ext cx="258546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70" b="0" i="1">
                <a:solidFill>
                  <a:srgbClr val="6A5F56"/>
                </a:solidFill>
                <a:latin typeface="Cambria"/>
              </a:rPr>
              <a:t>фото — коробка 80 г з каталогу</a:t>
            </a:r>
          </a:p>
        </p:txBody>
      </p:sp>
      <p:sp>
        <p:nvSpPr>
          <p:cNvPr id="29" name="Oval 28"/>
          <p:cNvSpPr/>
          <p:nvPr/>
        </p:nvSpPr>
        <p:spPr>
          <a:xfrm>
            <a:off x="3390138" y="2882188"/>
            <a:ext cx="74980" cy="74980"/>
          </a:xfrm>
          <a:prstGeom prst="ellipse">
            <a:avLst/>
          </a:prstGeom>
          <a:solidFill>
            <a:srgbClr val="C3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36442" y="2852928"/>
            <a:ext cx="243916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1" i="0" spc="80">
                <a:solidFill>
                  <a:srgbClr val="231C18"/>
                </a:solidFill>
                <a:latin typeface="Calibri"/>
              </a:rPr>
              <a:t>25 Г · 20 ШТ/КАРТ.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90138" y="3090672"/>
            <a:ext cx="2585466" cy="297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 i="0">
                <a:solidFill>
                  <a:srgbClr val="231C18"/>
                </a:solidFill>
                <a:latin typeface="Cambria"/>
              </a:rPr>
              <a:t>Furikake васабі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90138" y="3438144"/>
            <a:ext cx="258546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19" b="0" i="0">
                <a:solidFill>
                  <a:srgbClr val="6A5F56"/>
                </a:solidFill>
                <a:latin typeface="Calibri"/>
              </a:rPr>
              <a:t>Освіжаючий аромат васабі. Підходить до смаженого, м’яса на грилі та сашимі.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90138" y="4078224"/>
            <a:ext cx="2585466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90138" y="4197096"/>
            <a:ext cx="258546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1" i="0" spc="90">
                <a:solidFill>
                  <a:srgbClr val="C32733"/>
                </a:solidFill>
                <a:latin typeface="Calibri"/>
              </a:rPr>
              <a:t>СОБІВАРТІСТЬ · 1 ПАКЕТ 25 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90138" y="4416552"/>
            <a:ext cx="258546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70">
                <a:solidFill>
                  <a:srgbClr val="9A918A"/>
                </a:solidFill>
                <a:latin typeface="Calibri"/>
              </a:rPr>
              <a:t>ЗБІРНИЙ ВАНТАЖ 17 М³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90138" y="4599432"/>
            <a:ext cx="14478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C32733"/>
                </a:solidFill>
                <a:latin typeface="Cambria"/>
              </a:rPr>
              <a:t>$0,89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76033" y="4718304"/>
            <a:ext cx="149957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231C18"/>
                </a:solidFill>
                <a:latin typeface="Cambria"/>
              </a:rPr>
              <a:t>45,10 ₴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90138" y="5074920"/>
            <a:ext cx="2585466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90138" y="5148072"/>
            <a:ext cx="129273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0" i="0">
                <a:solidFill>
                  <a:srgbClr val="6A5F56"/>
                </a:solidFill>
                <a:latin typeface="Calibri"/>
              </a:rPr>
              <a:t>С/С, €/од.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93126" y="5138928"/>
            <a:ext cx="9824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231C18"/>
                </a:solidFill>
                <a:latin typeface="Cambria"/>
              </a:rPr>
              <a:t>€1,00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90138" y="5335524"/>
            <a:ext cx="2585466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90138" y="5408676"/>
            <a:ext cx="129273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0" i="0">
                <a:solidFill>
                  <a:srgbClr val="6A5F56"/>
                </a:solidFill>
                <a:latin typeface="Calibri"/>
              </a:rPr>
              <a:t>Питома собівартість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93126" y="5399532"/>
            <a:ext cx="9824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231C18"/>
                </a:solidFill>
                <a:latin typeface="Cambria"/>
              </a:rPr>
              <a:t>1,80 ₴/г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90138" y="5596128"/>
            <a:ext cx="2585466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893433" y="1307591"/>
            <a:ext cx="1225296" cy="1225296"/>
          </a:xfrm>
          <a:prstGeom prst="ellipse">
            <a:avLst/>
          </a:prstGeom>
          <a:solidFill>
            <a:srgbClr val="F1D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954697" y="1368856"/>
            <a:ext cx="1102766" cy="1102766"/>
          </a:xfrm>
          <a:prstGeom prst="ellipse">
            <a:avLst/>
          </a:prstGeom>
          <a:noFill/>
          <a:ln w="12700">
            <a:solidFill>
              <a:srgbClr val="C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7323201" y="1801367"/>
            <a:ext cx="365760" cy="237744"/>
          </a:xfrm>
          <a:prstGeom prst="roundRect">
            <a:avLst>
              <a:gd name="adj" fmla="val 22000"/>
            </a:avLst>
          </a:prstGeom>
          <a:noFill/>
          <a:ln w="12700">
            <a:solidFill>
              <a:srgbClr val="C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442073" y="1751075"/>
            <a:ext cx="128016" cy="50292"/>
          </a:xfrm>
          <a:prstGeom prst="roundRect">
            <a:avLst>
              <a:gd name="adj" fmla="val 30000"/>
            </a:avLst>
          </a:prstGeom>
          <a:noFill/>
          <a:ln w="12700">
            <a:solidFill>
              <a:srgbClr val="C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446645" y="1874519"/>
            <a:ext cx="118872" cy="118872"/>
          </a:xfrm>
          <a:prstGeom prst="ellipse">
            <a:avLst/>
          </a:prstGeom>
          <a:noFill/>
          <a:ln w="12700">
            <a:solidFill>
              <a:srgbClr val="C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13348" y="2615183"/>
            <a:ext cx="258546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40" b="1" i="0" spc="90">
                <a:solidFill>
                  <a:srgbClr val="C32733"/>
                </a:solidFill>
                <a:latin typeface="Calibri"/>
              </a:rPr>
              <a:t>ОЧІКУЄМО ФОТО</a:t>
            </a:r>
          </a:p>
        </p:txBody>
      </p:sp>
      <p:sp>
        <p:nvSpPr>
          <p:cNvPr id="51" name="Oval 50"/>
          <p:cNvSpPr/>
          <p:nvPr/>
        </p:nvSpPr>
        <p:spPr>
          <a:xfrm>
            <a:off x="6213348" y="2882188"/>
            <a:ext cx="74980" cy="74980"/>
          </a:xfrm>
          <a:prstGeom prst="ellipse">
            <a:avLst/>
          </a:prstGeom>
          <a:solidFill>
            <a:srgbClr val="C3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59652" y="2852928"/>
            <a:ext cx="243916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1" i="0" spc="80">
                <a:solidFill>
                  <a:srgbClr val="231C18"/>
                </a:solidFill>
                <a:latin typeface="Calibri"/>
              </a:rPr>
              <a:t>25 Г · 20 ШТ/КАРТ.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3348" y="3090672"/>
            <a:ext cx="2585466" cy="297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 i="0">
                <a:solidFill>
                  <a:srgbClr val="231C18"/>
                </a:solidFill>
                <a:latin typeface="Cambria"/>
              </a:rPr>
              <a:t>Furikake зі смаком кімчі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3348" y="3438144"/>
            <a:ext cx="258546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19" b="0" i="0">
                <a:solidFill>
                  <a:srgbClr val="6A5F56"/>
                </a:solidFill>
                <a:latin typeface="Calibri"/>
              </a:rPr>
              <a:t>Гострий профіль кімчі. У роздрібному каталозі постачальника позиція відсутня.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13348" y="4078224"/>
            <a:ext cx="2585466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13348" y="4197096"/>
            <a:ext cx="258546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1" i="0" spc="90">
                <a:solidFill>
                  <a:srgbClr val="C32733"/>
                </a:solidFill>
                <a:latin typeface="Calibri"/>
              </a:rPr>
              <a:t>СОБІВАРТІСТЬ · 1 ПАКЕТ 25 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13348" y="4416552"/>
            <a:ext cx="258546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70">
                <a:solidFill>
                  <a:srgbClr val="9A918A"/>
                </a:solidFill>
                <a:latin typeface="Calibri"/>
              </a:rPr>
              <a:t>ЗБІРНИЙ ВАНТАЖ 17 М³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13348" y="4599432"/>
            <a:ext cx="14478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C32733"/>
                </a:solidFill>
                <a:latin typeface="Cambria"/>
              </a:rPr>
              <a:t>$0,66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99243" y="4718304"/>
            <a:ext cx="149957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231C18"/>
                </a:solidFill>
                <a:latin typeface="Cambria"/>
              </a:rPr>
              <a:t>33,19 ₴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13348" y="5074920"/>
            <a:ext cx="2585466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13348" y="5148072"/>
            <a:ext cx="129273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0" i="0">
                <a:solidFill>
                  <a:srgbClr val="6A5F56"/>
                </a:solidFill>
                <a:latin typeface="Calibri"/>
              </a:rPr>
              <a:t>С/С, €/од.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816336" y="5138928"/>
            <a:ext cx="9824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231C18"/>
                </a:solidFill>
                <a:latin typeface="Cambria"/>
              </a:rPr>
              <a:t>€0,74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213348" y="5335524"/>
            <a:ext cx="2585466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13348" y="5408676"/>
            <a:ext cx="129273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0" i="0">
                <a:solidFill>
                  <a:srgbClr val="6A5F56"/>
                </a:solidFill>
                <a:latin typeface="Calibri"/>
              </a:rPr>
              <a:t>Питома собівартість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816336" y="5399532"/>
            <a:ext cx="9824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231C18"/>
                </a:solidFill>
                <a:latin typeface="Cambria"/>
              </a:rPr>
              <a:t>1,33 ₴/г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213348" y="5596128"/>
            <a:ext cx="2585466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9716643" y="1307591"/>
            <a:ext cx="1225296" cy="1225296"/>
          </a:xfrm>
          <a:prstGeom prst="ellipse">
            <a:avLst/>
          </a:prstGeom>
          <a:solidFill>
            <a:srgbClr val="F1D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ms_nor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7907" y="1368856"/>
            <a:ext cx="1102766" cy="1102766"/>
          </a:xfrm>
          <a:prstGeom prst="rect">
            <a:avLst/>
          </a:prstGeom>
        </p:spPr>
      </p:pic>
      <p:sp>
        <p:nvSpPr>
          <p:cNvPr id="69" name="Oval 68"/>
          <p:cNvSpPr/>
          <p:nvPr/>
        </p:nvSpPr>
        <p:spPr>
          <a:xfrm>
            <a:off x="9036558" y="2882188"/>
            <a:ext cx="74980" cy="74980"/>
          </a:xfrm>
          <a:prstGeom prst="ellipse">
            <a:avLst/>
          </a:prstGeom>
          <a:solidFill>
            <a:srgbClr val="C3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182862" y="2852928"/>
            <a:ext cx="243916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1" i="0" spc="80">
                <a:solidFill>
                  <a:srgbClr val="231C18"/>
                </a:solidFill>
                <a:latin typeface="Calibri"/>
              </a:rPr>
              <a:t>25 Г · 20 ШТ/КАРТ.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36558" y="3090672"/>
            <a:ext cx="2585466" cy="297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 i="0">
                <a:solidFill>
                  <a:srgbClr val="231C18"/>
                </a:solidFill>
                <a:latin typeface="Cambria"/>
              </a:rPr>
              <a:t>Furikake з норі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36558" y="3438144"/>
            <a:ext cx="258546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19" b="0" i="0">
                <a:solidFill>
                  <a:srgbClr val="6A5F56"/>
                </a:solidFill>
                <a:latin typeface="Calibri"/>
              </a:rPr>
              <a:t>Кунжут і норі — базовий смак серії. Універсальна присипка до рису.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036558" y="4078224"/>
            <a:ext cx="2585466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036558" y="4197096"/>
            <a:ext cx="258546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1" i="0" spc="90">
                <a:solidFill>
                  <a:srgbClr val="C32733"/>
                </a:solidFill>
                <a:latin typeface="Calibri"/>
              </a:rPr>
              <a:t>СОБІВАРТІСТЬ · 1 ПАКЕТ 25 Г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36558" y="4416552"/>
            <a:ext cx="258546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70">
                <a:solidFill>
                  <a:srgbClr val="9A918A"/>
                </a:solidFill>
                <a:latin typeface="Calibri"/>
              </a:rPr>
              <a:t>ЗБІРНИЙ ВАНТАЖ 17 М³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036558" y="4599432"/>
            <a:ext cx="14478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C32733"/>
                </a:solidFill>
                <a:latin typeface="Cambria"/>
              </a:rPr>
              <a:t>$0,56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122453" y="4718304"/>
            <a:ext cx="149957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231C18"/>
                </a:solidFill>
                <a:latin typeface="Cambria"/>
              </a:rPr>
              <a:t>28,12 ₴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036558" y="5074920"/>
            <a:ext cx="2585466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036558" y="5148072"/>
            <a:ext cx="129273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0" i="0">
                <a:solidFill>
                  <a:srgbClr val="6A5F56"/>
                </a:solidFill>
                <a:latin typeface="Calibri"/>
              </a:rPr>
              <a:t>С/С, €/од.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639546" y="5138928"/>
            <a:ext cx="9824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231C18"/>
                </a:solidFill>
                <a:latin typeface="Cambria"/>
              </a:rPr>
              <a:t>€0,62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036558" y="5335524"/>
            <a:ext cx="2585466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036558" y="5408676"/>
            <a:ext cx="129273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0" i="0">
                <a:solidFill>
                  <a:srgbClr val="6A5F56"/>
                </a:solidFill>
                <a:latin typeface="Calibri"/>
              </a:rPr>
              <a:t>Питома собівартість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639546" y="5399532"/>
            <a:ext cx="9824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231C18"/>
                </a:solidFill>
                <a:latin typeface="Cambria"/>
              </a:rPr>
              <a:t>1,12 ₴/г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036558" y="5596128"/>
            <a:ext cx="2585466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566928" y="5870448"/>
            <a:ext cx="20116" cy="475488"/>
          </a:xfrm>
          <a:prstGeom prst="rect">
            <a:avLst/>
          </a:prstGeom>
          <a:solidFill>
            <a:srgbClr val="C3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49808" y="5870448"/>
            <a:ext cx="1087221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0" i="0">
                <a:solidFill>
                  <a:srgbClr val="6A5F56"/>
                </a:solidFill>
                <a:latin typeface="Calibri"/>
              </a:rPr>
              <a:t>Розрахунок побудований лише для збірного вантажу 17 м³ — на відміну від 4-рівневого порівняння ZEK. Для зіставлення постачальників за обсягом контейнера потрібно домоделювати сценарії 40′ / 20′ / 34 м³.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073384" y="6437376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A918A"/>
                </a:solidFill>
                <a:latin typeface="Cambria"/>
              </a:rPr>
              <a:t>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95604"/>
            <a:ext cx="256032" cy="14630"/>
          </a:xfrm>
          <a:prstGeom prst="rect">
            <a:avLst/>
          </a:prstGeom>
          <a:solidFill>
            <a:srgbClr val="C3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420624"/>
            <a:ext cx="5943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1" i="0" spc="100">
                <a:solidFill>
                  <a:srgbClr val="C32733"/>
                </a:solidFill>
                <a:latin typeface="Calibri"/>
              </a:rPr>
              <a:t>MISHIMA · FURIKAKE ·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31C18"/>
                </a:solidFill>
                <a:latin typeface="Cambria"/>
              </a:rPr>
              <a:t>Furikake 50 г — собівартість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73768" y="603504"/>
            <a:ext cx="2048255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73768" y="603504"/>
            <a:ext cx="204825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80" b="1" i="0" spc="50">
                <a:solidFill>
                  <a:srgbClr val="C32733"/>
                </a:solidFill>
                <a:latin typeface="Calibri"/>
              </a:rPr>
              <a:t>ЗБІРНИЙ ВАНТАЖ 17 М³</a:t>
            </a:r>
          </a:p>
        </p:txBody>
      </p:sp>
      <p:sp>
        <p:nvSpPr>
          <p:cNvPr id="8" name="Oval 7"/>
          <p:cNvSpPr/>
          <p:nvPr/>
        </p:nvSpPr>
        <p:spPr>
          <a:xfrm>
            <a:off x="1247013" y="1307591"/>
            <a:ext cx="1225296" cy="1225296"/>
          </a:xfrm>
          <a:prstGeom prst="ellipse">
            <a:avLst/>
          </a:prstGeom>
          <a:solidFill>
            <a:srgbClr val="F1D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s_shri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277" y="1368856"/>
            <a:ext cx="1102766" cy="1102766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566928" y="2882188"/>
            <a:ext cx="74980" cy="74980"/>
          </a:xfrm>
          <a:prstGeom prst="ellipse">
            <a:avLst/>
          </a:prstGeom>
          <a:solidFill>
            <a:srgbClr val="C3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852928"/>
            <a:ext cx="243916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1" i="0" spc="80">
                <a:solidFill>
                  <a:srgbClr val="231C18"/>
                </a:solidFill>
                <a:latin typeface="Calibri"/>
              </a:rPr>
              <a:t>50 Г · 64 ШТ/КАРТ.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090672"/>
            <a:ext cx="2585466" cy="297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 i="0">
                <a:solidFill>
                  <a:srgbClr val="231C18"/>
                </a:solidFill>
                <a:latin typeface="Cambria"/>
              </a:rPr>
              <a:t>Furikake з креветкою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438144"/>
            <a:ext cx="258546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19" b="0" i="0">
                <a:solidFill>
                  <a:srgbClr val="6A5F56"/>
                </a:solidFill>
                <a:latin typeface="Calibri"/>
              </a:rPr>
              <a:t>Та сама рецептура у подвійній фасовці — 64 пакети в коробі.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078224"/>
            <a:ext cx="2585466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197096"/>
            <a:ext cx="258546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1" i="0" spc="90">
                <a:solidFill>
                  <a:srgbClr val="C32733"/>
                </a:solidFill>
                <a:latin typeface="Calibri"/>
              </a:rPr>
              <a:t>СОБІВАРТІСТЬ · 1 ПАКЕТ 50 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416552"/>
            <a:ext cx="258546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70">
                <a:solidFill>
                  <a:srgbClr val="9A918A"/>
                </a:solidFill>
                <a:latin typeface="Calibri"/>
              </a:rPr>
              <a:t>ЗБІРНИЙ ВАНТАЖ 17 М³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599432"/>
            <a:ext cx="14478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C32733"/>
                </a:solidFill>
                <a:latin typeface="Cambria"/>
              </a:rPr>
              <a:t>$1,38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52823" y="4718304"/>
            <a:ext cx="149957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231C18"/>
                </a:solidFill>
                <a:latin typeface="Cambria"/>
              </a:rPr>
              <a:t>69,91 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5074920"/>
            <a:ext cx="2585466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5148072"/>
            <a:ext cx="129273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0" i="0">
                <a:solidFill>
                  <a:srgbClr val="6A5F56"/>
                </a:solidFill>
                <a:latin typeface="Calibri"/>
              </a:rPr>
              <a:t>С/С, €/од.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69916" y="5138928"/>
            <a:ext cx="9824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231C18"/>
                </a:solidFill>
                <a:latin typeface="Cambria"/>
              </a:rPr>
              <a:t>€1,55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5335524"/>
            <a:ext cx="2585466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5408676"/>
            <a:ext cx="129273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0" i="0">
                <a:solidFill>
                  <a:srgbClr val="6A5F56"/>
                </a:solidFill>
                <a:latin typeface="Calibri"/>
              </a:rPr>
              <a:t>Питома собівартість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69916" y="5399532"/>
            <a:ext cx="9824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231C18"/>
                </a:solidFill>
                <a:latin typeface="Cambria"/>
              </a:rPr>
              <a:t>1,40 ₴/г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5596128"/>
            <a:ext cx="2585466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070223" y="1307591"/>
            <a:ext cx="1225296" cy="1225296"/>
          </a:xfrm>
          <a:prstGeom prst="ellipse">
            <a:avLst/>
          </a:prstGeom>
          <a:solidFill>
            <a:srgbClr val="F1D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ms_wasab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1487" y="1368856"/>
            <a:ext cx="1102766" cy="110276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390138" y="2615183"/>
            <a:ext cx="258546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70" b="0" i="1">
                <a:solidFill>
                  <a:srgbClr val="6A5F56"/>
                </a:solidFill>
                <a:latin typeface="Cambria"/>
              </a:rPr>
              <a:t>фото — коробка 80 г з каталогу</a:t>
            </a:r>
          </a:p>
        </p:txBody>
      </p:sp>
      <p:sp>
        <p:nvSpPr>
          <p:cNvPr id="29" name="Oval 28"/>
          <p:cNvSpPr/>
          <p:nvPr/>
        </p:nvSpPr>
        <p:spPr>
          <a:xfrm>
            <a:off x="3390138" y="2882188"/>
            <a:ext cx="74980" cy="74980"/>
          </a:xfrm>
          <a:prstGeom prst="ellipse">
            <a:avLst/>
          </a:prstGeom>
          <a:solidFill>
            <a:srgbClr val="C3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36442" y="2852928"/>
            <a:ext cx="243916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1" i="0" spc="80">
                <a:solidFill>
                  <a:srgbClr val="231C18"/>
                </a:solidFill>
                <a:latin typeface="Calibri"/>
              </a:rPr>
              <a:t>50 Г · 64 ШТ/КАРТ.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90138" y="3090672"/>
            <a:ext cx="2585466" cy="297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 i="0">
                <a:solidFill>
                  <a:srgbClr val="231C18"/>
                </a:solidFill>
                <a:latin typeface="Cambria"/>
              </a:rPr>
              <a:t>Furikake васабі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90138" y="3438144"/>
            <a:ext cx="258546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19" b="0" i="0">
                <a:solidFill>
                  <a:srgbClr val="6A5F56"/>
                </a:solidFill>
                <a:latin typeface="Calibri"/>
              </a:rPr>
              <a:t>Найдорожча позиція Mishima в розрахунку: ₴1,65 за грам.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90138" y="4078224"/>
            <a:ext cx="2585466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90138" y="4197096"/>
            <a:ext cx="258546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1" i="0" spc="90">
                <a:solidFill>
                  <a:srgbClr val="C32733"/>
                </a:solidFill>
                <a:latin typeface="Calibri"/>
              </a:rPr>
              <a:t>СОБІВАРТІСТЬ · 1 ПАКЕТ 50 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90138" y="4416552"/>
            <a:ext cx="258546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70">
                <a:solidFill>
                  <a:srgbClr val="9A918A"/>
                </a:solidFill>
                <a:latin typeface="Calibri"/>
              </a:rPr>
              <a:t>ЗБІРНИЙ ВАНТАЖ 17 М³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90138" y="4599432"/>
            <a:ext cx="14478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C32733"/>
                </a:solidFill>
                <a:latin typeface="Cambria"/>
              </a:rPr>
              <a:t>$1,63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76033" y="4718304"/>
            <a:ext cx="149957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231C18"/>
                </a:solidFill>
                <a:latin typeface="Cambria"/>
              </a:rPr>
              <a:t>82,74 ₴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90138" y="5074920"/>
            <a:ext cx="2585466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90138" y="5148072"/>
            <a:ext cx="129273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0" i="0">
                <a:solidFill>
                  <a:srgbClr val="6A5F56"/>
                </a:solidFill>
                <a:latin typeface="Calibri"/>
              </a:rPr>
              <a:t>С/С, €/од.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93126" y="5138928"/>
            <a:ext cx="9824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231C18"/>
                </a:solidFill>
                <a:latin typeface="Cambria"/>
              </a:rPr>
              <a:t>€1,84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90138" y="5335524"/>
            <a:ext cx="2585466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90138" y="5408676"/>
            <a:ext cx="129273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0" i="0">
                <a:solidFill>
                  <a:srgbClr val="6A5F56"/>
                </a:solidFill>
                <a:latin typeface="Calibri"/>
              </a:rPr>
              <a:t>Питома собівартість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93126" y="5399532"/>
            <a:ext cx="9824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231C18"/>
                </a:solidFill>
                <a:latin typeface="Cambria"/>
              </a:rPr>
              <a:t>1,65 ₴/г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90138" y="5596128"/>
            <a:ext cx="2585466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893433" y="1307591"/>
            <a:ext cx="1225296" cy="1225296"/>
          </a:xfrm>
          <a:prstGeom prst="ellipse">
            <a:avLst/>
          </a:prstGeom>
          <a:solidFill>
            <a:srgbClr val="F1D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954697" y="1368856"/>
            <a:ext cx="1102766" cy="1102766"/>
          </a:xfrm>
          <a:prstGeom prst="ellipse">
            <a:avLst/>
          </a:prstGeom>
          <a:noFill/>
          <a:ln w="12700">
            <a:solidFill>
              <a:srgbClr val="C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7323201" y="1801367"/>
            <a:ext cx="365760" cy="237744"/>
          </a:xfrm>
          <a:prstGeom prst="roundRect">
            <a:avLst>
              <a:gd name="adj" fmla="val 22000"/>
            </a:avLst>
          </a:prstGeom>
          <a:noFill/>
          <a:ln w="12700">
            <a:solidFill>
              <a:srgbClr val="C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442073" y="1751075"/>
            <a:ext cx="128016" cy="50292"/>
          </a:xfrm>
          <a:prstGeom prst="roundRect">
            <a:avLst>
              <a:gd name="adj" fmla="val 30000"/>
            </a:avLst>
          </a:prstGeom>
          <a:noFill/>
          <a:ln w="12700">
            <a:solidFill>
              <a:srgbClr val="C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446645" y="1874519"/>
            <a:ext cx="118872" cy="118872"/>
          </a:xfrm>
          <a:prstGeom prst="ellipse">
            <a:avLst/>
          </a:prstGeom>
          <a:noFill/>
          <a:ln w="12700">
            <a:solidFill>
              <a:srgbClr val="C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13348" y="2615183"/>
            <a:ext cx="258546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40" b="1" i="0" spc="90">
                <a:solidFill>
                  <a:srgbClr val="C32733"/>
                </a:solidFill>
                <a:latin typeface="Calibri"/>
              </a:rPr>
              <a:t>ОЧІКУЄМО ФОТО</a:t>
            </a:r>
          </a:p>
        </p:txBody>
      </p:sp>
      <p:sp>
        <p:nvSpPr>
          <p:cNvPr id="51" name="Oval 50"/>
          <p:cNvSpPr/>
          <p:nvPr/>
        </p:nvSpPr>
        <p:spPr>
          <a:xfrm>
            <a:off x="6213348" y="2882188"/>
            <a:ext cx="74980" cy="74980"/>
          </a:xfrm>
          <a:prstGeom prst="ellipse">
            <a:avLst/>
          </a:prstGeom>
          <a:solidFill>
            <a:srgbClr val="C3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59652" y="2852928"/>
            <a:ext cx="243916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1" i="0" spc="80">
                <a:solidFill>
                  <a:srgbClr val="231C18"/>
                </a:solidFill>
                <a:latin typeface="Calibri"/>
              </a:rPr>
              <a:t>50 Г · 64 ШТ/КАРТ.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3348" y="3090672"/>
            <a:ext cx="2585466" cy="297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 i="0">
                <a:solidFill>
                  <a:srgbClr val="231C18"/>
                </a:solidFill>
                <a:latin typeface="Cambria"/>
              </a:rPr>
              <a:t>Furikake зі смаком кімчі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3348" y="3438144"/>
            <a:ext cx="258546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19" b="0" i="0">
                <a:solidFill>
                  <a:srgbClr val="6A5F56"/>
                </a:solidFill>
                <a:latin typeface="Calibri"/>
              </a:rPr>
              <a:t>Найнижча питома собівартість серед 50-грамових позицій.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13348" y="4078224"/>
            <a:ext cx="2585466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13348" y="4197096"/>
            <a:ext cx="258546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1" i="0" spc="90">
                <a:solidFill>
                  <a:srgbClr val="C32733"/>
                </a:solidFill>
                <a:latin typeface="Calibri"/>
              </a:rPr>
              <a:t>СОБІВАРТІСТЬ · 1 ПАКЕТ 50 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13348" y="4416552"/>
            <a:ext cx="258546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70">
                <a:solidFill>
                  <a:srgbClr val="9A918A"/>
                </a:solidFill>
                <a:latin typeface="Calibri"/>
              </a:rPr>
              <a:t>ЗБІРНИЙ ВАНТАЖ 17 М³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13348" y="4599432"/>
            <a:ext cx="14478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C32733"/>
                </a:solidFill>
                <a:latin typeface="Cambria"/>
              </a:rPr>
              <a:t>$1,20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99243" y="4718304"/>
            <a:ext cx="149957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231C18"/>
                </a:solidFill>
                <a:latin typeface="Cambria"/>
              </a:rPr>
              <a:t>60,65 ₴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13348" y="5074920"/>
            <a:ext cx="2585466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13348" y="5148072"/>
            <a:ext cx="129273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0" i="0">
                <a:solidFill>
                  <a:srgbClr val="6A5F56"/>
                </a:solidFill>
                <a:latin typeface="Calibri"/>
              </a:rPr>
              <a:t>С/С, €/од.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816336" y="5138928"/>
            <a:ext cx="9824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231C18"/>
                </a:solidFill>
                <a:latin typeface="Cambria"/>
              </a:rPr>
              <a:t>€1,35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213348" y="5335524"/>
            <a:ext cx="2585466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13348" y="5408676"/>
            <a:ext cx="129273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0" i="0">
                <a:solidFill>
                  <a:srgbClr val="6A5F56"/>
                </a:solidFill>
                <a:latin typeface="Calibri"/>
              </a:rPr>
              <a:t>Питома собівартість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816336" y="5399532"/>
            <a:ext cx="9824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231C18"/>
                </a:solidFill>
                <a:latin typeface="Cambria"/>
              </a:rPr>
              <a:t>1,21 ₴/г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213348" y="5596128"/>
            <a:ext cx="2585466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9716643" y="1307591"/>
            <a:ext cx="1225296" cy="1225296"/>
          </a:xfrm>
          <a:prstGeom prst="ellipse">
            <a:avLst/>
          </a:prstGeom>
          <a:solidFill>
            <a:srgbClr val="F1D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ms_nor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7907" y="1368856"/>
            <a:ext cx="1102766" cy="1102766"/>
          </a:xfrm>
          <a:prstGeom prst="rect">
            <a:avLst/>
          </a:prstGeom>
        </p:spPr>
      </p:pic>
      <p:sp>
        <p:nvSpPr>
          <p:cNvPr id="69" name="Oval 68"/>
          <p:cNvSpPr/>
          <p:nvPr/>
        </p:nvSpPr>
        <p:spPr>
          <a:xfrm>
            <a:off x="9036558" y="2882188"/>
            <a:ext cx="74980" cy="74980"/>
          </a:xfrm>
          <a:prstGeom prst="ellipse">
            <a:avLst/>
          </a:prstGeom>
          <a:solidFill>
            <a:srgbClr val="C3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182862" y="2852928"/>
            <a:ext cx="243916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1" i="0" spc="80">
                <a:solidFill>
                  <a:srgbClr val="231C18"/>
                </a:solidFill>
                <a:latin typeface="Calibri"/>
              </a:rPr>
              <a:t>50 Г · 64 ШТ/КАРТ.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36558" y="3090672"/>
            <a:ext cx="2585466" cy="297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 i="0">
                <a:solidFill>
                  <a:srgbClr val="231C18"/>
                </a:solidFill>
                <a:latin typeface="Cambria"/>
              </a:rPr>
              <a:t>Furikake з норі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36558" y="3438144"/>
            <a:ext cx="258546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19" b="0" i="0">
                <a:solidFill>
                  <a:srgbClr val="6A5F56"/>
                </a:solidFill>
                <a:latin typeface="Calibri"/>
              </a:rPr>
              <a:t>Найдешевша позиція розрахунку — ₴1,01 за грам.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036558" y="4078224"/>
            <a:ext cx="2585466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036558" y="4197096"/>
            <a:ext cx="258546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1" i="0" spc="90">
                <a:solidFill>
                  <a:srgbClr val="C32733"/>
                </a:solidFill>
                <a:latin typeface="Calibri"/>
              </a:rPr>
              <a:t>СОБІВАРТІСТЬ · 1 ПАКЕТ 50 Г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36558" y="4416552"/>
            <a:ext cx="258546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70">
                <a:solidFill>
                  <a:srgbClr val="9A918A"/>
                </a:solidFill>
                <a:latin typeface="Calibri"/>
              </a:rPr>
              <a:t>ЗБІРНИЙ ВАНТАЖ 17 М³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036558" y="4599432"/>
            <a:ext cx="14478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C32733"/>
                </a:solidFill>
                <a:latin typeface="Cambria"/>
              </a:rPr>
              <a:t>$1,00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122453" y="4718304"/>
            <a:ext cx="149957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231C18"/>
                </a:solidFill>
                <a:latin typeface="Cambria"/>
              </a:rPr>
              <a:t>50,44 ₴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036558" y="5074920"/>
            <a:ext cx="2585466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036558" y="5148072"/>
            <a:ext cx="129273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0" i="0">
                <a:solidFill>
                  <a:srgbClr val="6A5F56"/>
                </a:solidFill>
                <a:latin typeface="Calibri"/>
              </a:rPr>
              <a:t>С/С, €/од.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639546" y="5138928"/>
            <a:ext cx="9824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231C18"/>
                </a:solidFill>
                <a:latin typeface="Cambria"/>
              </a:rPr>
              <a:t>€1,12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036558" y="5335524"/>
            <a:ext cx="2585466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036558" y="5408676"/>
            <a:ext cx="129273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0" i="0">
                <a:solidFill>
                  <a:srgbClr val="6A5F56"/>
                </a:solidFill>
                <a:latin typeface="Calibri"/>
              </a:rPr>
              <a:t>Питома собівартість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639546" y="5399532"/>
            <a:ext cx="9824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231C18"/>
                </a:solidFill>
                <a:latin typeface="Cambria"/>
              </a:rPr>
              <a:t>1,01 ₴/г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036558" y="5596128"/>
            <a:ext cx="2585466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566928" y="5870448"/>
            <a:ext cx="20116" cy="475488"/>
          </a:xfrm>
          <a:prstGeom prst="rect">
            <a:avLst/>
          </a:prstGeom>
          <a:solidFill>
            <a:srgbClr val="C3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49808" y="5870448"/>
            <a:ext cx="1087221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0" i="0">
                <a:solidFill>
                  <a:srgbClr val="6A5F56"/>
                </a:solidFill>
                <a:latin typeface="Calibri"/>
              </a:rPr>
              <a:t>Смак «кімчі» відсутній у роздрібному каталозі постачальника — SKU та фото потребують підтвердження. Фото 25 і 50 г ідентичні: постачальник показує одну ілюстрацію пакування на смак.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073384" y="6437376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A918A"/>
                </a:solidFill>
                <a:latin typeface="Cambria"/>
              </a:rPr>
              <a:t>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akaokaya_colum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0"/>
            <a:ext cx="4370831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19288" y="6400800"/>
            <a:ext cx="336499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80" b="0" i="1">
                <a:solidFill>
                  <a:srgbClr val="6A5F56"/>
                </a:solidFill>
                <a:latin typeface="Cambria"/>
              </a:rPr>
              <a:t>візуалізація фасовки fresh-lock · фото постачальника відсутні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495604"/>
            <a:ext cx="256032" cy="14630"/>
          </a:xfrm>
          <a:prstGeom prst="rect">
            <a:avLst/>
          </a:prstGeom>
          <a:solidFill>
            <a:srgbClr val="C3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420624"/>
            <a:ext cx="5943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1" i="0" spc="100">
                <a:solidFill>
                  <a:srgbClr val="C32733"/>
                </a:solidFill>
                <a:latin typeface="Calibri"/>
              </a:rPr>
              <a:t>ПРОФІЛЬ ПОСТАЧАЛЬНИКА ·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31520"/>
            <a:ext cx="69037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1" i="0">
                <a:solidFill>
                  <a:srgbClr val="231C18"/>
                </a:solidFill>
                <a:latin typeface="Cambria"/>
              </a:rPr>
              <a:t>Takaokaya Co., Ltd.</a:t>
            </a:r>
          </a:p>
          <a:p>
            <a:pPr algn="l">
              <a:lnSpc>
                <a:spcPct val="102000"/>
              </a:lnSpc>
            </a:pPr>
            <a:r>
              <a:rPr sz="3300" b="1" i="0">
                <a:solidFill>
                  <a:srgbClr val="231C18"/>
                </a:solidFill>
                <a:latin typeface="Cambria"/>
              </a:rPr>
              <a:t>(бренд Kinjirushi)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920240"/>
            <a:ext cx="6903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C32733"/>
                </a:solidFill>
                <a:latin typeface="Cambria"/>
              </a:rPr>
              <a:t>Бутильоване фурікаке та васабі-приправи · Японія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322576"/>
            <a:ext cx="2809036" cy="31089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322576"/>
            <a:ext cx="280903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19" b="1" i="0" spc="60">
                <a:solidFill>
                  <a:srgbClr val="C32733"/>
                </a:solidFill>
                <a:latin typeface="Calibri"/>
              </a:rPr>
              <a:t>FOB ЯПОНІЯ (ПОРТ УТОЧНЮЄТЬСЯ)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834640"/>
            <a:ext cx="6903720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971800"/>
            <a:ext cx="6903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40" b="1" i="0" spc="90">
                <a:solidFill>
                  <a:srgbClr val="C32733"/>
                </a:solidFill>
                <a:latin typeface="Calibri"/>
              </a:rPr>
              <a:t>ПРО КОМПАНІЮ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209544"/>
            <a:ext cx="6903720" cy="982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60" b="0" i="0">
                <a:solidFill>
                  <a:srgbClr val="231C18"/>
                </a:solidFill>
                <a:latin typeface="Cambria"/>
              </a:rPr>
              <a:t>Заснована 1929 р., спеціалізується на продукції з автентичного</a:t>
            </a:r>
          </a:p>
          <a:p>
            <a:pPr algn="l">
              <a:lnSpc>
                <a:spcPct val="116000"/>
              </a:lnSpc>
            </a:pPr>
            <a:r>
              <a:rPr sz="1060" b="0" i="0">
                <a:solidFill>
                  <a:srgbClr val="231C18"/>
                </a:solidFill>
                <a:latin typeface="Cambria"/>
              </a:rPr>
              <a:t>японського васабі (регіон Адзуміно). Бренд Kinjirushi. Дочірня</a:t>
            </a:r>
          </a:p>
          <a:p>
            <a:pPr algn="l">
              <a:lnSpc>
                <a:spcPct val="116000"/>
              </a:lnSpc>
            </a:pPr>
            <a:r>
              <a:rPr sz="1060" b="0" i="0">
                <a:solidFill>
                  <a:srgbClr val="231C18"/>
                </a:solidFill>
                <a:latin typeface="Cambria"/>
              </a:rPr>
              <a:t>Takaokaya USA працює з 1986 р. Постачається у скляних «fresh-lock»</a:t>
            </a:r>
          </a:p>
          <a:p>
            <a:pPr algn="l">
              <a:lnSpc>
                <a:spcPct val="116000"/>
              </a:lnSpc>
            </a:pPr>
            <a:r>
              <a:rPr sz="1060" b="0" i="0">
                <a:solidFill>
                  <a:srgbClr val="231C18"/>
                </a:solidFill>
                <a:latin typeface="Cambria"/>
              </a:rPr>
              <a:t>пляшечках 45–60 г — преміум «Made in Japan» на відміну від</a:t>
            </a:r>
          </a:p>
          <a:p>
            <a:pPr algn="l">
              <a:lnSpc>
                <a:spcPct val="116000"/>
              </a:lnSpc>
            </a:pPr>
            <a:r>
              <a:rPr sz="1060" b="0" i="0">
                <a:solidFill>
                  <a:srgbClr val="231C18"/>
                </a:solidFill>
                <a:latin typeface="Cambria"/>
              </a:rPr>
              <a:t>пакетованого фурікаке з Китаю.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238244"/>
            <a:ext cx="6903720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39412"/>
            <a:ext cx="21915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C32733"/>
                </a:solidFill>
                <a:latin typeface="Cambria"/>
              </a:rPr>
              <a:t>1929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823459"/>
            <a:ext cx="21915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19" b="0" i="0">
                <a:solidFill>
                  <a:srgbClr val="6A5F56"/>
                </a:solidFill>
                <a:latin typeface="Calibri"/>
              </a:rPr>
              <a:t>рік заснування</a:t>
            </a:r>
          </a:p>
          <a:p>
            <a:pPr algn="l">
              <a:lnSpc>
                <a:spcPct val="114000"/>
              </a:lnSpc>
            </a:pPr>
            <a:r>
              <a:rPr sz="819" b="0" i="0">
                <a:solidFill>
                  <a:srgbClr val="6A5F56"/>
                </a:solidFill>
                <a:latin typeface="Calibri"/>
              </a:rPr>
              <a:t>бренду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49880" y="4457699"/>
            <a:ext cx="10058" cy="548640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69336" y="4439412"/>
            <a:ext cx="19903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C32733"/>
                </a:solidFill>
                <a:latin typeface="Cambria"/>
              </a:rPr>
              <a:t>7 SKU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9336" y="4823459"/>
            <a:ext cx="19903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19" b="0" i="0">
                <a:solidFill>
                  <a:srgbClr val="6A5F56"/>
                </a:solidFill>
                <a:latin typeface="Calibri"/>
              </a:rPr>
              <a:t>фурікаке в розрахунку</a:t>
            </a:r>
          </a:p>
          <a:p>
            <a:pPr algn="l">
              <a:lnSpc>
                <a:spcPct val="114000"/>
              </a:lnSpc>
            </a:pPr>
            <a:r>
              <a:rPr sz="819" b="0" i="0">
                <a:solidFill>
                  <a:srgbClr val="6A5F56"/>
                </a:solidFill>
                <a:latin typeface="Calibri"/>
              </a:rPr>
              <a:t>собівартості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51120" y="4457699"/>
            <a:ext cx="10058" cy="548640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70576" y="4439412"/>
            <a:ext cx="19903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C32733"/>
                </a:solidFill>
                <a:latin typeface="Cambria"/>
              </a:rPr>
              <a:t>45–60 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70576" y="4823459"/>
            <a:ext cx="19903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19" b="0" i="0">
                <a:solidFill>
                  <a:srgbClr val="6A5F56"/>
                </a:solidFill>
                <a:latin typeface="Calibri"/>
              </a:rPr>
              <a:t>фасовка,</a:t>
            </a:r>
          </a:p>
          <a:p>
            <a:pPr algn="l">
              <a:lnSpc>
                <a:spcPct val="114000"/>
              </a:lnSpc>
            </a:pPr>
            <a:r>
              <a:rPr sz="819" b="0" i="0">
                <a:solidFill>
                  <a:srgbClr val="6A5F56"/>
                </a:solidFill>
                <a:latin typeface="Calibri"/>
              </a:rPr>
              <a:t>скляна пляшка</a:t>
            </a:r>
          </a:p>
        </p:txBody>
      </p:sp>
      <p:sp>
        <p:nvSpPr>
          <p:cNvPr id="23" name="Oval 22"/>
          <p:cNvSpPr/>
          <p:nvPr/>
        </p:nvSpPr>
        <p:spPr>
          <a:xfrm>
            <a:off x="580644" y="5411419"/>
            <a:ext cx="76809" cy="76809"/>
          </a:xfrm>
          <a:prstGeom prst="ellipse">
            <a:avLst/>
          </a:prstGeom>
          <a:solidFill>
            <a:srgbClr val="1E5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317236"/>
            <a:ext cx="149733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1" i="0">
                <a:solidFill>
                  <a:srgbClr val="231C18"/>
                </a:solidFill>
                <a:latin typeface="Calibri"/>
              </a:rPr>
              <a:t>Nori</a:t>
            </a:r>
          </a:p>
        </p:txBody>
      </p:sp>
      <p:sp>
        <p:nvSpPr>
          <p:cNvPr id="25" name="Oval 24"/>
          <p:cNvSpPr/>
          <p:nvPr/>
        </p:nvSpPr>
        <p:spPr>
          <a:xfrm>
            <a:off x="2324862" y="5411419"/>
            <a:ext cx="76809" cy="76809"/>
          </a:xfrm>
          <a:prstGeom prst="ellipse">
            <a:avLst/>
          </a:prstGeom>
          <a:solidFill>
            <a:srgbClr val="74A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75738" y="5317236"/>
            <a:ext cx="149733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1" i="0">
                <a:solidFill>
                  <a:srgbClr val="231C18"/>
                </a:solidFill>
                <a:latin typeface="Calibri"/>
              </a:rPr>
              <a:t>Nori Wasabi</a:t>
            </a:r>
          </a:p>
        </p:txBody>
      </p:sp>
      <p:sp>
        <p:nvSpPr>
          <p:cNvPr id="27" name="Oval 26"/>
          <p:cNvSpPr/>
          <p:nvPr/>
        </p:nvSpPr>
        <p:spPr>
          <a:xfrm>
            <a:off x="4069080" y="5411419"/>
            <a:ext cx="76809" cy="76809"/>
          </a:xfrm>
          <a:prstGeom prst="ellipse">
            <a:avLst/>
          </a:prstGeom>
          <a:solidFill>
            <a:srgbClr val="C99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19956" y="5317236"/>
            <a:ext cx="149733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1" i="0">
                <a:solidFill>
                  <a:srgbClr val="231C18"/>
                </a:solidFill>
                <a:latin typeface="Calibri"/>
              </a:rPr>
              <a:t>Yuzu Kosho</a:t>
            </a:r>
          </a:p>
        </p:txBody>
      </p:sp>
      <p:sp>
        <p:nvSpPr>
          <p:cNvPr id="29" name="Oval 28"/>
          <p:cNvSpPr/>
          <p:nvPr/>
        </p:nvSpPr>
        <p:spPr>
          <a:xfrm>
            <a:off x="5813298" y="5411419"/>
            <a:ext cx="76809" cy="76809"/>
          </a:xfrm>
          <a:prstGeom prst="ellipse">
            <a:avLst/>
          </a:prstGeom>
          <a:solidFill>
            <a:srgbClr val="A8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64174" y="5317236"/>
            <a:ext cx="149733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1" i="0">
                <a:solidFill>
                  <a:srgbClr val="231C18"/>
                </a:solidFill>
                <a:latin typeface="Calibri"/>
              </a:rPr>
              <a:t>Nori Katsuo</a:t>
            </a:r>
          </a:p>
        </p:txBody>
      </p:sp>
      <p:sp>
        <p:nvSpPr>
          <p:cNvPr id="31" name="Oval 30"/>
          <p:cNvSpPr/>
          <p:nvPr/>
        </p:nvSpPr>
        <p:spPr>
          <a:xfrm>
            <a:off x="580644" y="5722315"/>
            <a:ext cx="76809" cy="76809"/>
          </a:xfrm>
          <a:prstGeom prst="ellipse">
            <a:avLst/>
          </a:prstGeom>
          <a:solidFill>
            <a:srgbClr val="E0A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628131"/>
            <a:ext cx="149733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1" i="0">
                <a:solidFill>
                  <a:srgbClr val="231C18"/>
                </a:solidFill>
                <a:latin typeface="Calibri"/>
              </a:rPr>
              <a:t>Nori Tamago</a:t>
            </a:r>
          </a:p>
        </p:txBody>
      </p:sp>
      <p:sp>
        <p:nvSpPr>
          <p:cNvPr id="33" name="Oval 32"/>
          <p:cNvSpPr/>
          <p:nvPr/>
        </p:nvSpPr>
        <p:spPr>
          <a:xfrm>
            <a:off x="2324862" y="5722315"/>
            <a:ext cx="76809" cy="76809"/>
          </a:xfrm>
          <a:prstGeom prst="ellipse">
            <a:avLst/>
          </a:prstGeom>
          <a:solidFill>
            <a:srgbClr val="C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75738" y="5628131"/>
            <a:ext cx="149733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1" i="0">
                <a:solidFill>
                  <a:srgbClr val="231C18"/>
                </a:solidFill>
                <a:latin typeface="Calibri"/>
              </a:rPr>
              <a:t>Curry</a:t>
            </a:r>
          </a:p>
        </p:txBody>
      </p:sp>
      <p:sp>
        <p:nvSpPr>
          <p:cNvPr id="35" name="Oval 34"/>
          <p:cNvSpPr/>
          <p:nvPr/>
        </p:nvSpPr>
        <p:spPr>
          <a:xfrm>
            <a:off x="4069080" y="5722315"/>
            <a:ext cx="76809" cy="76809"/>
          </a:xfrm>
          <a:prstGeom prst="ellipse">
            <a:avLst/>
          </a:prstGeom>
          <a:solidFill>
            <a:srgbClr val="B0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19956" y="5628131"/>
            <a:ext cx="149733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1" i="0">
                <a:solidFill>
                  <a:srgbClr val="231C18"/>
                </a:solidFill>
                <a:latin typeface="Calibri"/>
              </a:rPr>
              <a:t>Garlic Chili Oil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6108192"/>
            <a:ext cx="20116" cy="475488"/>
          </a:xfrm>
          <a:prstGeom prst="rect">
            <a:avLst/>
          </a:prstGeom>
          <a:solidFill>
            <a:srgbClr val="C3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6108192"/>
            <a:ext cx="67208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0" i="0">
                <a:solidFill>
                  <a:srgbClr val="6A5F56"/>
                </a:solidFill>
                <a:latin typeface="Calibri"/>
              </a:rPr>
              <a:t>Юридична особа й пряме контактне джерело постачальника в матеріалах компанії відсутні — профіль складено за відкритими даними бренду, потребує верифікації перед контрактом.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73384" y="6437376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A918A"/>
                </a:solidFill>
                <a:latin typeface="Cambria"/>
              </a:rPr>
              <a:t>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95604"/>
            <a:ext cx="256032" cy="14630"/>
          </a:xfrm>
          <a:prstGeom prst="rect">
            <a:avLst/>
          </a:prstGeom>
          <a:solidFill>
            <a:srgbClr val="C3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420624"/>
            <a:ext cx="5943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1" i="0" spc="100">
                <a:solidFill>
                  <a:srgbClr val="C32733"/>
                </a:solidFill>
                <a:latin typeface="Calibri"/>
              </a:rPr>
              <a:t>TAKAOKAYA · FURIKAKE ·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31C18"/>
                </a:solidFill>
                <a:latin typeface="Cambria"/>
              </a:rPr>
              <a:t>Fresh-lock пляшки 50 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73768" y="603504"/>
            <a:ext cx="2048255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73768" y="603504"/>
            <a:ext cx="204825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80" b="1" i="0" spc="50">
                <a:solidFill>
                  <a:srgbClr val="C32733"/>
                </a:solidFill>
                <a:latin typeface="Calibri"/>
              </a:rPr>
              <a:t>ЗБІРНИЙ ВАНТАЖ 17 М³</a:t>
            </a:r>
          </a:p>
        </p:txBody>
      </p:sp>
      <p:sp>
        <p:nvSpPr>
          <p:cNvPr id="8" name="Oval 7"/>
          <p:cNvSpPr/>
          <p:nvPr/>
        </p:nvSpPr>
        <p:spPr>
          <a:xfrm>
            <a:off x="1693164" y="1307591"/>
            <a:ext cx="1225296" cy="1225296"/>
          </a:xfrm>
          <a:prstGeom prst="ellipse">
            <a:avLst/>
          </a:prstGeom>
          <a:solidFill>
            <a:srgbClr val="F1D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54428" y="1368856"/>
            <a:ext cx="1102766" cy="1102766"/>
          </a:xfrm>
          <a:prstGeom prst="ellipse">
            <a:avLst/>
          </a:prstGeom>
          <a:noFill/>
          <a:ln w="12700">
            <a:solidFill>
              <a:srgbClr val="C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122931" y="1801367"/>
            <a:ext cx="365760" cy="237744"/>
          </a:xfrm>
          <a:prstGeom prst="roundRect">
            <a:avLst>
              <a:gd name="adj" fmla="val 22000"/>
            </a:avLst>
          </a:prstGeom>
          <a:noFill/>
          <a:ln w="12700">
            <a:solidFill>
              <a:srgbClr val="C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241804" y="1751075"/>
            <a:ext cx="128016" cy="50292"/>
          </a:xfrm>
          <a:prstGeom prst="roundRect">
            <a:avLst>
              <a:gd name="adj" fmla="val 30000"/>
            </a:avLst>
          </a:prstGeom>
          <a:noFill/>
          <a:ln w="12700">
            <a:solidFill>
              <a:srgbClr val="C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246376" y="1874519"/>
            <a:ext cx="118872" cy="118872"/>
          </a:xfrm>
          <a:prstGeom prst="ellipse">
            <a:avLst/>
          </a:prstGeom>
          <a:noFill/>
          <a:ln w="12700">
            <a:solidFill>
              <a:srgbClr val="C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615183"/>
            <a:ext cx="34777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40" b="1" i="0" spc="90">
                <a:solidFill>
                  <a:srgbClr val="C32733"/>
                </a:solidFill>
                <a:latin typeface="Calibri"/>
              </a:rPr>
              <a:t>ОЧІКУЄМО ФОТО</a:t>
            </a:r>
          </a:p>
        </p:txBody>
      </p:sp>
      <p:sp>
        <p:nvSpPr>
          <p:cNvPr id="14" name="Oval 13"/>
          <p:cNvSpPr/>
          <p:nvPr/>
        </p:nvSpPr>
        <p:spPr>
          <a:xfrm>
            <a:off x="566928" y="2882188"/>
            <a:ext cx="74980" cy="74980"/>
          </a:xfrm>
          <a:prstGeom prst="ellipse">
            <a:avLst/>
          </a:prstGeom>
          <a:solidFill>
            <a:srgbClr val="C3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2852928"/>
            <a:ext cx="333146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1" i="0" spc="80">
                <a:solidFill>
                  <a:srgbClr val="231C18"/>
                </a:solidFill>
                <a:latin typeface="Calibri"/>
              </a:rPr>
              <a:t>50 Г · 10 ШТ/КАРТ.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090672"/>
            <a:ext cx="3477768" cy="297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 i="0">
                <a:solidFill>
                  <a:srgbClr val="231C18"/>
                </a:solidFill>
                <a:latin typeface="Cambria"/>
              </a:rPr>
              <a:t>Nori Furikake Bottle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438144"/>
            <a:ext cx="34777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19" b="0" i="0">
                <a:solidFill>
                  <a:srgbClr val="6A5F56"/>
                </a:solidFill>
                <a:latin typeface="Calibri"/>
              </a:rPr>
              <a:t>Класична норі-присипка у скляній пляшці fresh-lock.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078224"/>
            <a:ext cx="3477768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4197096"/>
            <a:ext cx="3477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1" i="0" spc="90">
                <a:solidFill>
                  <a:srgbClr val="C32733"/>
                </a:solidFill>
                <a:latin typeface="Calibri"/>
              </a:rPr>
              <a:t>СОБІВАРТІСТЬ · 1 ПАКЕТ 50 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416552"/>
            <a:ext cx="34777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70">
                <a:solidFill>
                  <a:srgbClr val="9A918A"/>
                </a:solidFill>
                <a:latin typeface="Calibri"/>
              </a:rPr>
              <a:t>ЗБІРНИЙ ВАНТАЖ 17 М³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599432"/>
            <a:ext cx="194755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C32733"/>
                </a:solidFill>
                <a:latin typeface="Cambria"/>
              </a:rPr>
              <a:t>$1,28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27590" y="4718304"/>
            <a:ext cx="201710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231C18"/>
                </a:solidFill>
                <a:latin typeface="Cambria"/>
              </a:rPr>
              <a:t>86,02 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5074920"/>
            <a:ext cx="3477768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5148072"/>
            <a:ext cx="17388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0" i="0">
                <a:solidFill>
                  <a:srgbClr val="6A5F56"/>
                </a:solidFill>
                <a:latin typeface="Calibri"/>
              </a:rPr>
              <a:t>С/С, €/од.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23144" y="5138928"/>
            <a:ext cx="132155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231C18"/>
                </a:solidFill>
                <a:latin typeface="Cambria"/>
              </a:rPr>
              <a:t>€1,91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5335524"/>
            <a:ext cx="3477768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5408676"/>
            <a:ext cx="17388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0" i="0">
                <a:solidFill>
                  <a:srgbClr val="6A5F56"/>
                </a:solidFill>
                <a:latin typeface="Calibri"/>
              </a:rPr>
              <a:t>Питома собівартість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23144" y="5399532"/>
            <a:ext cx="132155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231C18"/>
                </a:solidFill>
                <a:latin typeface="Cambria"/>
              </a:rPr>
              <a:t>1,72 ₴/г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5596128"/>
            <a:ext cx="3477768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481828" y="1307591"/>
            <a:ext cx="1225296" cy="1225296"/>
          </a:xfrm>
          <a:prstGeom prst="ellipse">
            <a:avLst/>
          </a:prstGeom>
          <a:solidFill>
            <a:srgbClr val="F1D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tk_wasab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3092" y="1368856"/>
            <a:ext cx="1102766" cy="110276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355592" y="2615183"/>
            <a:ext cx="34777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70" b="0" i="1">
                <a:solidFill>
                  <a:srgbClr val="6A5F56"/>
                </a:solidFill>
                <a:latin typeface="Cambria"/>
              </a:rPr>
              <a:t>фото роздрібної версії 70 г</a:t>
            </a:r>
          </a:p>
        </p:txBody>
      </p:sp>
      <p:sp>
        <p:nvSpPr>
          <p:cNvPr id="33" name="Oval 32"/>
          <p:cNvSpPr/>
          <p:nvPr/>
        </p:nvSpPr>
        <p:spPr>
          <a:xfrm>
            <a:off x="4355592" y="2882188"/>
            <a:ext cx="74980" cy="74980"/>
          </a:xfrm>
          <a:prstGeom prst="ellipse">
            <a:avLst/>
          </a:prstGeom>
          <a:solidFill>
            <a:srgbClr val="C3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01896" y="2852928"/>
            <a:ext cx="333146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1" i="0" spc="80">
                <a:solidFill>
                  <a:srgbClr val="231C18"/>
                </a:solidFill>
                <a:latin typeface="Calibri"/>
              </a:rPr>
              <a:t>50 Г · 10 ШТ/КАРТ.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55592" y="3090672"/>
            <a:ext cx="3477768" cy="297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 i="0">
                <a:solidFill>
                  <a:srgbClr val="231C18"/>
                </a:solidFill>
                <a:latin typeface="Cambria"/>
              </a:rPr>
              <a:t>Nori Wasabi Furikake Bottle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55592" y="3438144"/>
            <a:ext cx="34777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19" b="0" i="0">
                <a:solidFill>
                  <a:srgbClr val="6A5F56"/>
                </a:solidFill>
                <a:latin typeface="Calibri"/>
              </a:rPr>
              <a:t>Норі з гранулами японського васабі (регіон Адзуміно). Ціна — як у поз. 1.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55592" y="4078224"/>
            <a:ext cx="3477768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55592" y="4197096"/>
            <a:ext cx="3477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1" i="0" spc="90">
                <a:solidFill>
                  <a:srgbClr val="C32733"/>
                </a:solidFill>
                <a:latin typeface="Calibri"/>
              </a:rPr>
              <a:t>СОБІВАРТІСТЬ · 1 ПАКЕТ 50 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55592" y="4416552"/>
            <a:ext cx="34777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70">
                <a:solidFill>
                  <a:srgbClr val="9A918A"/>
                </a:solidFill>
                <a:latin typeface="Calibri"/>
              </a:rPr>
              <a:t>ЗБІРНИЙ ВАНТАЖ 17 М³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55592" y="4599432"/>
            <a:ext cx="194755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C32733"/>
                </a:solidFill>
                <a:latin typeface="Cambria"/>
              </a:rPr>
              <a:t>$1,28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16254" y="4718304"/>
            <a:ext cx="201710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231C18"/>
                </a:solidFill>
                <a:latin typeface="Cambria"/>
              </a:rPr>
              <a:t>86,02 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55592" y="5074920"/>
            <a:ext cx="3477768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55592" y="5148072"/>
            <a:ext cx="17388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0" i="0">
                <a:solidFill>
                  <a:srgbClr val="6A5F56"/>
                </a:solidFill>
                <a:latin typeface="Calibri"/>
              </a:rPr>
              <a:t>С/С, €/од.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11808" y="5138928"/>
            <a:ext cx="132155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231C18"/>
                </a:solidFill>
                <a:latin typeface="Cambria"/>
              </a:rPr>
              <a:t>€1,91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55592" y="5335524"/>
            <a:ext cx="3477768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55592" y="5408676"/>
            <a:ext cx="17388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0" i="0">
                <a:solidFill>
                  <a:srgbClr val="6A5F56"/>
                </a:solidFill>
                <a:latin typeface="Calibri"/>
              </a:rPr>
              <a:t>Питома собівартість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11808" y="5399532"/>
            <a:ext cx="132155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231C18"/>
                </a:solidFill>
                <a:latin typeface="Cambria"/>
              </a:rPr>
              <a:t>1,72 ₴/г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55592" y="5596128"/>
            <a:ext cx="3477768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270492" y="1307591"/>
            <a:ext cx="1225296" cy="1225296"/>
          </a:xfrm>
          <a:prstGeom prst="ellipse">
            <a:avLst/>
          </a:prstGeom>
          <a:solidFill>
            <a:srgbClr val="F1D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331756" y="1368856"/>
            <a:ext cx="1102766" cy="1102766"/>
          </a:xfrm>
          <a:prstGeom prst="ellipse">
            <a:avLst/>
          </a:prstGeom>
          <a:noFill/>
          <a:ln w="12700">
            <a:solidFill>
              <a:srgbClr val="C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700260" y="1801367"/>
            <a:ext cx="365760" cy="237744"/>
          </a:xfrm>
          <a:prstGeom prst="roundRect">
            <a:avLst>
              <a:gd name="adj" fmla="val 22000"/>
            </a:avLst>
          </a:prstGeom>
          <a:noFill/>
          <a:ln w="12700">
            <a:solidFill>
              <a:srgbClr val="C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9819132" y="1751075"/>
            <a:ext cx="128016" cy="50292"/>
          </a:xfrm>
          <a:prstGeom prst="roundRect">
            <a:avLst>
              <a:gd name="adj" fmla="val 30000"/>
            </a:avLst>
          </a:prstGeom>
          <a:noFill/>
          <a:ln w="12700">
            <a:solidFill>
              <a:srgbClr val="C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823704" y="1874519"/>
            <a:ext cx="118872" cy="118872"/>
          </a:xfrm>
          <a:prstGeom prst="ellipse">
            <a:avLst/>
          </a:prstGeom>
          <a:noFill/>
          <a:ln w="12700">
            <a:solidFill>
              <a:srgbClr val="C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44256" y="2615183"/>
            <a:ext cx="34777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40" b="1" i="0" spc="90">
                <a:solidFill>
                  <a:srgbClr val="C32733"/>
                </a:solidFill>
                <a:latin typeface="Calibri"/>
              </a:rPr>
              <a:t>ОЧІКУЄМО ФОТО</a:t>
            </a:r>
          </a:p>
        </p:txBody>
      </p:sp>
      <p:sp>
        <p:nvSpPr>
          <p:cNvPr id="55" name="Oval 54"/>
          <p:cNvSpPr/>
          <p:nvPr/>
        </p:nvSpPr>
        <p:spPr>
          <a:xfrm>
            <a:off x="8144256" y="2882188"/>
            <a:ext cx="74980" cy="74980"/>
          </a:xfrm>
          <a:prstGeom prst="ellipse">
            <a:avLst/>
          </a:prstGeom>
          <a:solidFill>
            <a:srgbClr val="C3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90560" y="2852928"/>
            <a:ext cx="333146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1" i="0" spc="80">
                <a:solidFill>
                  <a:srgbClr val="231C18"/>
                </a:solidFill>
                <a:latin typeface="Calibri"/>
              </a:rPr>
              <a:t>50 Г · 10 ШТ/КАРТ.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44256" y="3090672"/>
            <a:ext cx="3477768" cy="297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 i="0">
                <a:solidFill>
                  <a:srgbClr val="231C18"/>
                </a:solidFill>
                <a:latin typeface="Cambria"/>
              </a:rPr>
              <a:t>Yuzu Kosho Furikake Bottle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44256" y="3438144"/>
            <a:ext cx="34777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19" b="0" i="0">
                <a:solidFill>
                  <a:srgbClr val="6A5F56"/>
                </a:solidFill>
                <a:latin typeface="Calibri"/>
              </a:rPr>
              <a:t>Юзу-кошьо з Кюсю: цитрусова цедра та зелений перець.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44256" y="4078224"/>
            <a:ext cx="3477768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144256" y="4197096"/>
            <a:ext cx="3477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1" i="0" spc="90">
                <a:solidFill>
                  <a:srgbClr val="C32733"/>
                </a:solidFill>
                <a:latin typeface="Calibri"/>
              </a:rPr>
              <a:t>СОБІВАРТІСТЬ · 1 ПАКЕТ 50 Г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144256" y="4416552"/>
            <a:ext cx="34777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70">
                <a:solidFill>
                  <a:srgbClr val="9A918A"/>
                </a:solidFill>
                <a:latin typeface="Calibri"/>
              </a:rPr>
              <a:t>ЗБІРНИЙ ВАНТАЖ 17 М³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44256" y="4599432"/>
            <a:ext cx="194755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C32733"/>
                </a:solidFill>
                <a:latin typeface="Cambria"/>
              </a:rPr>
              <a:t>$1,34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04918" y="4718304"/>
            <a:ext cx="201710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231C18"/>
                </a:solidFill>
                <a:latin typeface="Cambria"/>
              </a:rPr>
              <a:t>90,46 ₴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144256" y="5074920"/>
            <a:ext cx="3477768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144256" y="5148072"/>
            <a:ext cx="17388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0" i="0">
                <a:solidFill>
                  <a:srgbClr val="6A5F56"/>
                </a:solidFill>
                <a:latin typeface="Calibri"/>
              </a:rPr>
              <a:t>С/С, €/од.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300472" y="5138928"/>
            <a:ext cx="132155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231C18"/>
                </a:solidFill>
                <a:latin typeface="Cambria"/>
              </a:rPr>
              <a:t>€2,01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44256" y="5335524"/>
            <a:ext cx="3477768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144256" y="5408676"/>
            <a:ext cx="17388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0" i="0">
                <a:solidFill>
                  <a:srgbClr val="6A5F56"/>
                </a:solidFill>
                <a:latin typeface="Calibri"/>
              </a:rPr>
              <a:t>Питома собівартість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300472" y="5399532"/>
            <a:ext cx="132155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231C18"/>
                </a:solidFill>
                <a:latin typeface="Cambria"/>
              </a:rPr>
              <a:t>1,81 ₴/г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144256" y="5596128"/>
            <a:ext cx="3477768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66928" y="5870448"/>
            <a:ext cx="20116" cy="475488"/>
          </a:xfrm>
          <a:prstGeom prst="rect">
            <a:avLst/>
          </a:prstGeom>
          <a:solidFill>
            <a:srgbClr val="C3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49808" y="5870448"/>
            <a:ext cx="1087221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0" i="0">
                <a:solidFill>
                  <a:srgbClr val="6A5F56"/>
                </a:solidFill>
                <a:latin typeface="Calibri"/>
              </a:rPr>
              <a:t>Позиції 1 і 2 мають однакову закупівельну ціну незалежно від смаку — типово для непроробленого прайсу; варто запросити поартикульну котирувку.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073384" y="6437376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A918A"/>
                </a:solidFill>
                <a:latin typeface="Cambria"/>
              </a:rPr>
              <a:t>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95604"/>
            <a:ext cx="256032" cy="14630"/>
          </a:xfrm>
          <a:prstGeom prst="rect">
            <a:avLst/>
          </a:prstGeom>
          <a:solidFill>
            <a:srgbClr val="C3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420624"/>
            <a:ext cx="5943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1" i="0" spc="100">
                <a:solidFill>
                  <a:srgbClr val="C32733"/>
                </a:solidFill>
                <a:latin typeface="Calibri"/>
              </a:rPr>
              <a:t>TAKAOKAYA · FURIKAKE ·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31C18"/>
                </a:solidFill>
                <a:latin typeface="Cambria"/>
              </a:rPr>
              <a:t>Фасовка 45–60 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73768" y="603504"/>
            <a:ext cx="2048255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73768" y="603504"/>
            <a:ext cx="204825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80" b="1" i="0" spc="50">
                <a:solidFill>
                  <a:srgbClr val="C32733"/>
                </a:solidFill>
                <a:latin typeface="Calibri"/>
              </a:rPr>
              <a:t>ЗБІРНИЙ ВАНТАЖ 17 М³</a:t>
            </a:r>
          </a:p>
        </p:txBody>
      </p:sp>
      <p:sp>
        <p:nvSpPr>
          <p:cNvPr id="8" name="Oval 7"/>
          <p:cNvSpPr/>
          <p:nvPr/>
        </p:nvSpPr>
        <p:spPr>
          <a:xfrm>
            <a:off x="1247013" y="1307591"/>
            <a:ext cx="1225296" cy="1225296"/>
          </a:xfrm>
          <a:prstGeom prst="ellipse">
            <a:avLst/>
          </a:prstGeom>
          <a:solidFill>
            <a:srgbClr val="F1D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08277" y="1368856"/>
            <a:ext cx="1102766" cy="1102766"/>
          </a:xfrm>
          <a:prstGeom prst="ellipse">
            <a:avLst/>
          </a:prstGeom>
          <a:noFill/>
          <a:ln w="12700">
            <a:solidFill>
              <a:srgbClr val="C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676781" y="1801367"/>
            <a:ext cx="365760" cy="237744"/>
          </a:xfrm>
          <a:prstGeom prst="roundRect">
            <a:avLst>
              <a:gd name="adj" fmla="val 22000"/>
            </a:avLst>
          </a:prstGeom>
          <a:noFill/>
          <a:ln w="12700">
            <a:solidFill>
              <a:srgbClr val="C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795653" y="1751075"/>
            <a:ext cx="128016" cy="50292"/>
          </a:xfrm>
          <a:prstGeom prst="roundRect">
            <a:avLst>
              <a:gd name="adj" fmla="val 30000"/>
            </a:avLst>
          </a:prstGeom>
          <a:noFill/>
          <a:ln w="12700">
            <a:solidFill>
              <a:srgbClr val="C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800225" y="1874519"/>
            <a:ext cx="118872" cy="118872"/>
          </a:xfrm>
          <a:prstGeom prst="ellipse">
            <a:avLst/>
          </a:prstGeom>
          <a:noFill/>
          <a:ln w="12700">
            <a:solidFill>
              <a:srgbClr val="C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615183"/>
            <a:ext cx="258546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40" b="1" i="0" spc="90">
                <a:solidFill>
                  <a:srgbClr val="C32733"/>
                </a:solidFill>
                <a:latin typeface="Calibri"/>
              </a:rPr>
              <a:t>ОЧІКУЄМО ФОТО</a:t>
            </a:r>
          </a:p>
        </p:txBody>
      </p:sp>
      <p:sp>
        <p:nvSpPr>
          <p:cNvPr id="14" name="Oval 13"/>
          <p:cNvSpPr/>
          <p:nvPr/>
        </p:nvSpPr>
        <p:spPr>
          <a:xfrm>
            <a:off x="566928" y="2882188"/>
            <a:ext cx="74980" cy="74980"/>
          </a:xfrm>
          <a:prstGeom prst="ellipse">
            <a:avLst/>
          </a:prstGeom>
          <a:solidFill>
            <a:srgbClr val="C3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2852928"/>
            <a:ext cx="243916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1" i="0" spc="80">
                <a:solidFill>
                  <a:srgbClr val="231C18"/>
                </a:solidFill>
                <a:latin typeface="Calibri"/>
              </a:rPr>
              <a:t>45 Г · 80 ШТ/КАРТ.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090672"/>
            <a:ext cx="2585466" cy="297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 i="0">
                <a:solidFill>
                  <a:srgbClr val="231C18"/>
                </a:solidFill>
                <a:latin typeface="Cambria"/>
              </a:rPr>
              <a:t>Nori Katsuo Furikake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438144"/>
            <a:ext cx="258546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19" b="0" i="0">
                <a:solidFill>
                  <a:srgbClr val="6A5F56"/>
                </a:solidFill>
                <a:latin typeface="Calibri"/>
              </a:rPr>
              <a:t>Норі та стружка боніто — умамі-профіль. Найвища питома с/с: ₴2,12/г.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078224"/>
            <a:ext cx="2585466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4197096"/>
            <a:ext cx="258546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1" i="0" spc="90">
                <a:solidFill>
                  <a:srgbClr val="C32733"/>
                </a:solidFill>
                <a:latin typeface="Calibri"/>
              </a:rPr>
              <a:t>СОБІВАРТІСТЬ · 1 ПАКЕТ 45 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416552"/>
            <a:ext cx="258546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70">
                <a:solidFill>
                  <a:srgbClr val="9A918A"/>
                </a:solidFill>
                <a:latin typeface="Calibri"/>
              </a:rPr>
              <a:t>ЗБІРНИЙ ВАНТАЖ 17 М³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599432"/>
            <a:ext cx="14478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C32733"/>
                </a:solidFill>
                <a:latin typeface="Cambria"/>
              </a:rPr>
              <a:t>$1,42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52823" y="4718304"/>
            <a:ext cx="149957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231C18"/>
                </a:solidFill>
                <a:latin typeface="Cambria"/>
              </a:rPr>
              <a:t>95,31 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5074920"/>
            <a:ext cx="2585466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5148072"/>
            <a:ext cx="129273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0" i="0">
                <a:solidFill>
                  <a:srgbClr val="6A5F56"/>
                </a:solidFill>
                <a:latin typeface="Calibri"/>
              </a:rPr>
              <a:t>С/С, €/од.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69916" y="5138928"/>
            <a:ext cx="9824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231C18"/>
                </a:solidFill>
                <a:latin typeface="Cambria"/>
              </a:rPr>
              <a:t>€2,12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5335524"/>
            <a:ext cx="2585466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5408676"/>
            <a:ext cx="129273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0" i="0">
                <a:solidFill>
                  <a:srgbClr val="6A5F56"/>
                </a:solidFill>
                <a:latin typeface="Calibri"/>
              </a:rPr>
              <a:t>Питома собівартість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69916" y="5399532"/>
            <a:ext cx="9824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231C18"/>
                </a:solidFill>
                <a:latin typeface="Cambria"/>
              </a:rPr>
              <a:t>2,12 ₴/г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5596128"/>
            <a:ext cx="2585466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070223" y="1307591"/>
            <a:ext cx="1225296" cy="1225296"/>
          </a:xfrm>
          <a:prstGeom prst="ellipse">
            <a:avLst/>
          </a:prstGeom>
          <a:solidFill>
            <a:srgbClr val="F1D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131487" y="1368856"/>
            <a:ext cx="1102766" cy="1102766"/>
          </a:xfrm>
          <a:prstGeom prst="ellipse">
            <a:avLst/>
          </a:prstGeom>
          <a:noFill/>
          <a:ln w="12700">
            <a:solidFill>
              <a:srgbClr val="C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499991" y="1801367"/>
            <a:ext cx="365760" cy="237744"/>
          </a:xfrm>
          <a:prstGeom prst="roundRect">
            <a:avLst>
              <a:gd name="adj" fmla="val 22000"/>
            </a:avLst>
          </a:prstGeom>
          <a:noFill/>
          <a:ln w="12700">
            <a:solidFill>
              <a:srgbClr val="C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618863" y="1751075"/>
            <a:ext cx="128016" cy="50292"/>
          </a:xfrm>
          <a:prstGeom prst="roundRect">
            <a:avLst>
              <a:gd name="adj" fmla="val 30000"/>
            </a:avLst>
          </a:prstGeom>
          <a:noFill/>
          <a:ln w="12700">
            <a:solidFill>
              <a:srgbClr val="C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623435" y="1874519"/>
            <a:ext cx="118872" cy="118872"/>
          </a:xfrm>
          <a:prstGeom prst="ellipse">
            <a:avLst/>
          </a:prstGeom>
          <a:noFill/>
          <a:ln w="12700">
            <a:solidFill>
              <a:srgbClr val="C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90138" y="2615183"/>
            <a:ext cx="258546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40" b="1" i="0" spc="90">
                <a:solidFill>
                  <a:srgbClr val="C32733"/>
                </a:solidFill>
                <a:latin typeface="Calibri"/>
              </a:rPr>
              <a:t>ОЧІКУЄМО ФОТО</a:t>
            </a:r>
          </a:p>
        </p:txBody>
      </p:sp>
      <p:sp>
        <p:nvSpPr>
          <p:cNvPr id="36" name="Oval 35"/>
          <p:cNvSpPr/>
          <p:nvPr/>
        </p:nvSpPr>
        <p:spPr>
          <a:xfrm>
            <a:off x="3390138" y="2882188"/>
            <a:ext cx="74980" cy="74980"/>
          </a:xfrm>
          <a:prstGeom prst="ellipse">
            <a:avLst/>
          </a:prstGeom>
          <a:solidFill>
            <a:srgbClr val="C3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36442" y="2852928"/>
            <a:ext cx="243916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1" i="0" spc="80">
                <a:solidFill>
                  <a:srgbClr val="231C18"/>
                </a:solidFill>
                <a:latin typeface="Calibri"/>
              </a:rPr>
              <a:t>60 Г · 80 ШТ/КАРТ.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90138" y="3090672"/>
            <a:ext cx="2585466" cy="297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 i="0">
                <a:solidFill>
                  <a:srgbClr val="231C18"/>
                </a:solidFill>
                <a:latin typeface="Cambria"/>
              </a:rPr>
              <a:t>Nori Tamago Furikake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90138" y="3438144"/>
            <a:ext cx="258546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19" b="0" i="0">
                <a:solidFill>
                  <a:srgbClr val="6A5F56"/>
                </a:solidFill>
                <a:latin typeface="Calibri"/>
              </a:rPr>
              <a:t>Норі та яєчний порошок. Найбільша фасовка серії за тією ж ціною.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90138" y="4078224"/>
            <a:ext cx="2585466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90138" y="4197096"/>
            <a:ext cx="258546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1" i="0" spc="90">
                <a:solidFill>
                  <a:srgbClr val="C32733"/>
                </a:solidFill>
                <a:latin typeface="Calibri"/>
              </a:rPr>
              <a:t>СОБІВАРТІСТЬ · 1 ПАКЕТ 60 Г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90138" y="4416552"/>
            <a:ext cx="258546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70">
                <a:solidFill>
                  <a:srgbClr val="9A918A"/>
                </a:solidFill>
                <a:latin typeface="Calibri"/>
              </a:rPr>
              <a:t>ЗБІРНИЙ ВАНТАЖ 17 М³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90138" y="4599432"/>
            <a:ext cx="14478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C32733"/>
                </a:solidFill>
                <a:latin typeface="Cambria"/>
              </a:rPr>
              <a:t>$1,42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76033" y="4718304"/>
            <a:ext cx="149957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231C18"/>
                </a:solidFill>
                <a:latin typeface="Cambria"/>
              </a:rPr>
              <a:t>95,31 ₴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90138" y="5074920"/>
            <a:ext cx="2585466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90138" y="5148072"/>
            <a:ext cx="129273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0" i="0">
                <a:solidFill>
                  <a:srgbClr val="6A5F56"/>
                </a:solidFill>
                <a:latin typeface="Calibri"/>
              </a:rPr>
              <a:t>С/С, €/од.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93126" y="5138928"/>
            <a:ext cx="9824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231C18"/>
                </a:solidFill>
                <a:latin typeface="Cambria"/>
              </a:rPr>
              <a:t>€2,12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90138" y="5335524"/>
            <a:ext cx="2585466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90138" y="5408676"/>
            <a:ext cx="129273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0" i="0">
                <a:solidFill>
                  <a:srgbClr val="6A5F56"/>
                </a:solidFill>
                <a:latin typeface="Calibri"/>
              </a:rPr>
              <a:t>Питома собівартість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93126" y="5399532"/>
            <a:ext cx="9824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231C18"/>
                </a:solidFill>
                <a:latin typeface="Cambria"/>
              </a:rPr>
              <a:t>1,59 ₴/г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390138" y="5596128"/>
            <a:ext cx="2585466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893433" y="1307591"/>
            <a:ext cx="1225296" cy="1225296"/>
          </a:xfrm>
          <a:prstGeom prst="ellipse">
            <a:avLst/>
          </a:prstGeom>
          <a:solidFill>
            <a:srgbClr val="F1D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954697" y="1368856"/>
            <a:ext cx="1102766" cy="1102766"/>
          </a:xfrm>
          <a:prstGeom prst="ellipse">
            <a:avLst/>
          </a:prstGeom>
          <a:noFill/>
          <a:ln w="12700">
            <a:solidFill>
              <a:srgbClr val="C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7323201" y="1801367"/>
            <a:ext cx="365760" cy="237744"/>
          </a:xfrm>
          <a:prstGeom prst="roundRect">
            <a:avLst>
              <a:gd name="adj" fmla="val 22000"/>
            </a:avLst>
          </a:prstGeom>
          <a:noFill/>
          <a:ln w="12700">
            <a:solidFill>
              <a:srgbClr val="C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7442073" y="1751075"/>
            <a:ext cx="128016" cy="50292"/>
          </a:xfrm>
          <a:prstGeom prst="roundRect">
            <a:avLst>
              <a:gd name="adj" fmla="val 30000"/>
            </a:avLst>
          </a:prstGeom>
          <a:noFill/>
          <a:ln w="12700">
            <a:solidFill>
              <a:srgbClr val="C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446645" y="1874519"/>
            <a:ext cx="118872" cy="118872"/>
          </a:xfrm>
          <a:prstGeom prst="ellipse">
            <a:avLst/>
          </a:prstGeom>
          <a:noFill/>
          <a:ln w="12700">
            <a:solidFill>
              <a:srgbClr val="C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13348" y="2615183"/>
            <a:ext cx="258546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40" b="1" i="0" spc="90">
                <a:solidFill>
                  <a:srgbClr val="C32733"/>
                </a:solidFill>
                <a:latin typeface="Calibri"/>
              </a:rPr>
              <a:t>ОЧІКУЄМО ФОТО</a:t>
            </a:r>
          </a:p>
        </p:txBody>
      </p:sp>
      <p:sp>
        <p:nvSpPr>
          <p:cNvPr id="58" name="Oval 57"/>
          <p:cNvSpPr/>
          <p:nvPr/>
        </p:nvSpPr>
        <p:spPr>
          <a:xfrm>
            <a:off x="6213348" y="2882188"/>
            <a:ext cx="74980" cy="74980"/>
          </a:xfrm>
          <a:prstGeom prst="ellipse">
            <a:avLst/>
          </a:prstGeom>
          <a:solidFill>
            <a:srgbClr val="C3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59652" y="2852928"/>
            <a:ext cx="243916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1" i="0" spc="80">
                <a:solidFill>
                  <a:srgbClr val="231C18"/>
                </a:solidFill>
                <a:latin typeface="Calibri"/>
              </a:rPr>
              <a:t>45 Г · 80 ШТ/КАРТ.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13348" y="3090672"/>
            <a:ext cx="2585466" cy="297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 i="0">
                <a:solidFill>
                  <a:srgbClr val="231C18"/>
                </a:solidFill>
                <a:latin typeface="Cambria"/>
              </a:rPr>
              <a:t>Curry Furikake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13348" y="3438144"/>
            <a:ext cx="258546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19" b="0" i="0">
                <a:solidFill>
                  <a:srgbClr val="6A5F56"/>
                </a:solidFill>
                <a:latin typeface="Calibri"/>
              </a:rPr>
              <a:t>Каррі-присипка японського профілю спецій.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13348" y="4078224"/>
            <a:ext cx="2585466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13348" y="4197096"/>
            <a:ext cx="258546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1" i="0" spc="90">
                <a:solidFill>
                  <a:srgbClr val="C32733"/>
                </a:solidFill>
                <a:latin typeface="Calibri"/>
              </a:rPr>
              <a:t>СОБІВАРТІСТЬ · 1 ПАКЕТ 45 Г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13348" y="4416552"/>
            <a:ext cx="258546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70">
                <a:solidFill>
                  <a:srgbClr val="9A918A"/>
                </a:solidFill>
                <a:latin typeface="Calibri"/>
              </a:rPr>
              <a:t>ЗБІРНИЙ ВАНТАЖ 17 М³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13348" y="4599432"/>
            <a:ext cx="14478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C32733"/>
                </a:solidFill>
                <a:latin typeface="Cambria"/>
              </a:rPr>
              <a:t>$1,06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99243" y="4718304"/>
            <a:ext cx="149957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231C18"/>
                </a:solidFill>
                <a:latin typeface="Cambria"/>
              </a:rPr>
              <a:t>71,48 ₴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213348" y="5074920"/>
            <a:ext cx="2585466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13348" y="5148072"/>
            <a:ext cx="129273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0" i="0">
                <a:solidFill>
                  <a:srgbClr val="6A5F56"/>
                </a:solidFill>
                <a:latin typeface="Calibri"/>
              </a:rPr>
              <a:t>С/С, €/од.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816336" y="5138928"/>
            <a:ext cx="9824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231C18"/>
                </a:solidFill>
                <a:latin typeface="Cambria"/>
              </a:rPr>
              <a:t>€1,59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13348" y="5335524"/>
            <a:ext cx="2585466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213348" y="5408676"/>
            <a:ext cx="129273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0" i="0">
                <a:solidFill>
                  <a:srgbClr val="6A5F56"/>
                </a:solidFill>
                <a:latin typeface="Calibri"/>
              </a:rPr>
              <a:t>Питома собівартість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6336" y="5399532"/>
            <a:ext cx="9824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231C18"/>
                </a:solidFill>
                <a:latin typeface="Cambria"/>
              </a:rPr>
              <a:t>1,59 ₴/г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213348" y="5596128"/>
            <a:ext cx="2585466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716643" y="1307591"/>
            <a:ext cx="1225296" cy="1225296"/>
          </a:xfrm>
          <a:prstGeom prst="ellipse">
            <a:avLst/>
          </a:prstGeom>
          <a:solidFill>
            <a:srgbClr val="F1D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777907" y="1368856"/>
            <a:ext cx="1102766" cy="1102766"/>
          </a:xfrm>
          <a:prstGeom prst="ellipse">
            <a:avLst/>
          </a:prstGeom>
          <a:noFill/>
          <a:ln w="12700">
            <a:solidFill>
              <a:srgbClr val="C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10146411" y="1801367"/>
            <a:ext cx="365760" cy="237744"/>
          </a:xfrm>
          <a:prstGeom prst="roundRect">
            <a:avLst>
              <a:gd name="adj" fmla="val 22000"/>
            </a:avLst>
          </a:prstGeom>
          <a:noFill/>
          <a:ln w="12700">
            <a:solidFill>
              <a:srgbClr val="C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10265283" y="1751075"/>
            <a:ext cx="128016" cy="50292"/>
          </a:xfrm>
          <a:prstGeom prst="roundRect">
            <a:avLst>
              <a:gd name="adj" fmla="val 30000"/>
            </a:avLst>
          </a:prstGeom>
          <a:noFill/>
          <a:ln w="12700">
            <a:solidFill>
              <a:srgbClr val="C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0269855" y="1874519"/>
            <a:ext cx="118872" cy="118872"/>
          </a:xfrm>
          <a:prstGeom prst="ellipse">
            <a:avLst/>
          </a:prstGeom>
          <a:noFill/>
          <a:ln w="12700">
            <a:solidFill>
              <a:srgbClr val="C32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036558" y="2615183"/>
            <a:ext cx="258546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40" b="1" i="0" spc="90">
                <a:solidFill>
                  <a:srgbClr val="C32733"/>
                </a:solidFill>
                <a:latin typeface="Calibri"/>
              </a:rPr>
              <a:t>ОЧІКУЄМО ФОТО</a:t>
            </a:r>
          </a:p>
        </p:txBody>
      </p:sp>
      <p:sp>
        <p:nvSpPr>
          <p:cNvPr id="80" name="Oval 79"/>
          <p:cNvSpPr/>
          <p:nvPr/>
        </p:nvSpPr>
        <p:spPr>
          <a:xfrm>
            <a:off x="9036558" y="2882188"/>
            <a:ext cx="74980" cy="74980"/>
          </a:xfrm>
          <a:prstGeom prst="ellipse">
            <a:avLst/>
          </a:prstGeom>
          <a:solidFill>
            <a:srgbClr val="C3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182862" y="2852928"/>
            <a:ext cx="243916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1" i="0" spc="80">
                <a:solidFill>
                  <a:srgbClr val="231C18"/>
                </a:solidFill>
                <a:latin typeface="Calibri"/>
              </a:rPr>
              <a:t>45 Г · 80 ШТ/КАРТ.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036558" y="3090672"/>
            <a:ext cx="2585466" cy="297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 i="0">
                <a:solidFill>
                  <a:srgbClr val="231C18"/>
                </a:solidFill>
                <a:latin typeface="Cambria"/>
              </a:rPr>
              <a:t>Garlic Chili Oil Furikake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036558" y="3438144"/>
            <a:ext cx="258546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19" b="0" i="0">
                <a:solidFill>
                  <a:srgbClr val="6A5F56"/>
                </a:solidFill>
                <a:latin typeface="Calibri"/>
              </a:rPr>
              <a:t>Часник і чилі-олія раю — гострий напрямок серії. Ціна — як у поз. 6.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036558" y="4078224"/>
            <a:ext cx="2585466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036558" y="4197096"/>
            <a:ext cx="258546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1" i="0" spc="90">
                <a:solidFill>
                  <a:srgbClr val="C32733"/>
                </a:solidFill>
                <a:latin typeface="Calibri"/>
              </a:rPr>
              <a:t>СОБІВАРТІСТЬ · 1 ПАКЕТ 45 Г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036558" y="4416552"/>
            <a:ext cx="258546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70">
                <a:solidFill>
                  <a:srgbClr val="9A918A"/>
                </a:solidFill>
                <a:latin typeface="Calibri"/>
              </a:rPr>
              <a:t>ЗБІРНИЙ ВАНТАЖ 17 М³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036558" y="4599432"/>
            <a:ext cx="14478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C32733"/>
                </a:solidFill>
                <a:latin typeface="Cambria"/>
              </a:rPr>
              <a:t>$1,06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122453" y="4718304"/>
            <a:ext cx="149957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231C18"/>
                </a:solidFill>
                <a:latin typeface="Cambria"/>
              </a:rPr>
              <a:t>71,48 ₴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036558" y="5074920"/>
            <a:ext cx="2585466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036558" y="5148072"/>
            <a:ext cx="129273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0" i="0">
                <a:solidFill>
                  <a:srgbClr val="6A5F56"/>
                </a:solidFill>
                <a:latin typeface="Calibri"/>
              </a:rPr>
              <a:t>С/С, €/од.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639546" y="5138928"/>
            <a:ext cx="9824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231C18"/>
                </a:solidFill>
                <a:latin typeface="Cambria"/>
              </a:rPr>
              <a:t>€1,59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036558" y="5335524"/>
            <a:ext cx="2585466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036558" y="5408676"/>
            <a:ext cx="129273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0" i="0">
                <a:solidFill>
                  <a:srgbClr val="6A5F56"/>
                </a:solidFill>
                <a:latin typeface="Calibri"/>
              </a:rPr>
              <a:t>Питома собівартість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639546" y="5399532"/>
            <a:ext cx="9824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231C18"/>
                </a:solidFill>
                <a:latin typeface="Cambria"/>
              </a:rPr>
              <a:t>1,59 ₴/г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036558" y="5596128"/>
            <a:ext cx="2585466" cy="10972"/>
          </a:xfrm>
          <a:prstGeom prst="rect">
            <a:avLst/>
          </a:prstGeom>
          <a:solidFill>
            <a:srgbClr val="DFD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566928" y="5870448"/>
            <a:ext cx="20116" cy="475488"/>
          </a:xfrm>
          <a:prstGeom prst="rect">
            <a:avLst/>
          </a:prstGeom>
          <a:solidFill>
            <a:srgbClr val="C3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49808" y="5870448"/>
            <a:ext cx="1087221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0" i="0">
                <a:solidFill>
                  <a:srgbClr val="6A5F56"/>
                </a:solidFill>
                <a:latin typeface="Calibri"/>
              </a:rPr>
              <a:t>Пари 4/5 і 6/7 мають ідентичну ціну незалежно від ваги (45 г vs 60 г). Питома собівартість Takaokaya (₴1,59–2,12/г) у 1,4–2,1 раза вища за Mishima (₴0,99–1,80/г) — очікувана премія «Made in Japan».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1073384" y="6437376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A918A"/>
                </a:solidFill>
                <a:latin typeface="Cambria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Офіс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486</Words>
  <Application>Microsoft Office PowerPoint</Application>
  <PresentationFormat>Широкий екран</PresentationFormat>
  <Paragraphs>132</Paragraphs>
  <Slides>3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Cambria</vt:lpstr>
      <vt:lpstr>Тема Office</vt:lpstr>
      <vt:lpstr>Презентація PowerPoint</vt:lpstr>
      <vt:lpstr>Презентація PowerPoint</vt:lpstr>
      <vt:lpstr>Презентація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Чаплигін lлля</dc:creator>
  <cp:lastModifiedBy>Чаплигін lлля</cp:lastModifiedBy>
  <cp:revision>1</cp:revision>
  <dcterms:created xsi:type="dcterms:W3CDTF">2026-08-10T10:19:31Z</dcterms:created>
  <dcterms:modified xsi:type="dcterms:W3CDTF">2026-08-10T10:44:25Z</dcterms:modified>
</cp:coreProperties>
</file>