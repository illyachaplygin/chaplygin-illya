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0" r:id="rId3"/>
    <p:sldId id="271" r:id="rId4"/>
    <p:sldId id="276" r:id="rId13"/>
    <p:sldId id="277" r:id="rId14"/>
    <p:sldId id="278" r:id="rId15"/>
    <p:sldId id="279" r:id="rId16"/>
    <p:sldId id="280" r:id="rId17"/>
    <p:sldId id="281" r:id="rId1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DA6E6-9EB2-3BAB-95B1-DE179EB7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3ED07741-9BC5-0AE9-8378-986B6D929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AAE7E29-3067-D32E-828D-76FA5FDC7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DE0E5CE-54FB-3FE8-8D03-956E35CA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F9B3BCC-4D54-C3B1-D9E6-05951CF4D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1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E3EE-1666-26AD-347B-D30A7A2D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41AE54-E309-620D-4E19-6A3FEDBE0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4098D52A-A2D7-0823-BDA3-70AFD52C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C2B269D-ABC8-663E-8F10-99C61C22B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8510476-D1A4-5971-C33F-A5C36E0A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8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B52B-1C12-761C-94E5-533C7DA70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B5768A3-F52B-8CE1-6BDF-C2517871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BAB9723-0ACE-3999-2457-5F1D59A0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C34974D-EB5D-0F8B-769F-C5D556B5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167DCF8-668A-D66C-9E18-D03CA989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40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CD7D9-CD95-33AC-FC7D-333020230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EC41CB3-20BE-F90E-0EE7-7C6E2AC04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C9CC7D0-61BB-367D-C2A6-E71B64E1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3BDF98F-16E1-0532-3FB1-06C97E08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D9DD589-135F-E9E1-0F83-9839E00F6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B23B596C-BDA0-5445-BCF0-5C5595DB5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9270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CB07F-0055-FB84-9D82-BECF085A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3A5F88D-9CCE-060D-7387-64B828019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A14787DB-BC20-40D9-B8CB-AD82C62CA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753520A-754A-E833-D4CC-E1E98B297C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CDD84BEB-9AE7-077A-4291-FD0CD79A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95ACD8DC-1D27-3EDC-0727-FB4944D4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9AAAF76-CFD6-EF90-793D-198FB2E14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C66930F5-42CF-5131-8455-AD4C6E9D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3346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CC269-B26D-AA46-18CE-5DB5E9C3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50AFC74-858D-7F4E-F45B-DE9B162F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73F01596-4C9D-D993-399C-380D01EAD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CA32DABC-ABAE-86F1-090C-E2253FA5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243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F206C58-6C2D-590B-F23D-8F44728F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DA1B7FFE-A01C-480F-CB3D-F3D3CBE5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D87CBDF8-64A3-AA68-7D64-2F5482C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6221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3B2F5-DCE8-FB3B-4C8A-94254E2D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D74E910-0E58-FFCC-B784-267D8C3A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D01BE98-AAE9-630B-22F5-DA212876B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F9035C50-D122-6666-E0AC-AC821F92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216F5A72-4B15-352A-5E3D-82DE914D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7D5593EC-5870-F12B-71D1-B206B2DD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0826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41685-3FCB-E08B-3483-BB4BC8714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9A97A156-5B49-2AD9-DD9B-511B193AF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30277593-C725-0F15-303F-5C373C85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83AABF62-ACC6-B600-20BB-5C03CA34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B24957E-5648-FE15-C296-2C2CCA98F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E73021E-BA3C-6E4C-0049-9D5588DA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87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2648E-22AC-2586-5D84-54CC29F5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CCBF1513-4DC0-F9EF-BCFC-81B4EE81A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CEBF3C5-EE08-A69A-F674-8EAD9310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B5644CC-9D94-138F-D24D-90A4C806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382CAB1-074D-3B58-4666-AB59BD97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72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A1FD67A-3FED-D8D9-62C8-A72484CA3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EC93E11C-045E-3270-CB01-AC9F65C3D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F3E295-E48C-192E-1DD4-B22AFAEF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D19E1EE-9BCB-0B9E-7B95-FE87396F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7C9CB50-8005-C3D6-BB47-26AC5E3B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80625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26C8C8A-2D8B-7913-8829-4C54330E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D74A044-CBD5-7694-4415-D279286F3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73EACF-91D4-0330-EE62-C4D29FE83D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7D61FEC-E62F-188D-E110-90F50938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5E32170-CC9A-663D-A252-FC8BED01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852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sp>
        <p:nvSpPr>
          <p:cNvPr id="4" name="Oval 3"/>
          <p:cNvSpPr/>
          <p:nvPr/>
        </p:nvSpPr>
        <p:spPr>
          <a:xfrm>
            <a:off x="7528560" y="207263"/>
            <a:ext cx="4267200" cy="42672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" name="Rounded Rectangle 4"/>
          <p:cNvSpPr/>
          <p:nvPr/>
        </p:nvSpPr>
        <p:spPr>
          <a:xfrm rot="21300000">
            <a:off x="8119872" y="73761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" name="Rounded Rectangle 5"/>
          <p:cNvSpPr/>
          <p:nvPr/>
        </p:nvSpPr>
        <p:spPr>
          <a:xfrm rot="21300000">
            <a:off x="8077200" y="67665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8211001" y="798576"/>
            <a:ext cx="2841355" cy="15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7882128" y="210921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9" name="Rounded Rectangle 8"/>
          <p:cNvSpPr/>
          <p:nvPr/>
        </p:nvSpPr>
        <p:spPr>
          <a:xfrm rot="21060000">
            <a:off x="7839456" y="204825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7961375" y="2212888"/>
            <a:ext cx="1170432" cy="15239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10125456" y="223113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2" name="Rounded Rectangle 11"/>
          <p:cNvSpPr/>
          <p:nvPr/>
        </p:nvSpPr>
        <p:spPr>
          <a:xfrm rot="600000">
            <a:off x="10082784" y="217017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10204703" y="2314075"/>
            <a:ext cx="1121664" cy="151661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85760" y="4072128"/>
            <a:ext cx="3352800" cy="975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125967" y="4313683"/>
            <a:ext cx="3011424" cy="4922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3200" b="1" dirty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4512" y="5099135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AA3922"/>
                </a:solidFill>
                <a:latin typeface="Cambria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4512" y="5405159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AA3922"/>
                </a:solidFill>
                <a:latin typeface="Cambria"/>
              </a:rPr>
              <a:t>Китай</a:t>
            </a:r>
            <a:endParaRPr sz="1600" b="1" dirty="0">
              <a:solidFill>
                <a:srgbClr val="AA3922"/>
              </a:solidFill>
              <a:latin typeface="Cambria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7680" y="633984"/>
            <a:ext cx="316992" cy="3169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999744" y="633984"/>
            <a:ext cx="536448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 spc="12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1121665"/>
            <a:ext cx="6156960" cy="1109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67" b="1" dirty="0" err="1">
                <a:solidFill>
                  <a:srgbClr val="14241F"/>
                </a:solidFill>
                <a:latin typeface="Cambria"/>
              </a:rPr>
              <a:t>HanJin</a:t>
            </a:r>
            <a:r>
              <a:rPr sz="3467" b="1" dirty="0">
                <a:solidFill>
                  <a:srgbClr val="14241F"/>
                </a:solidFill>
                <a:latin typeface="Cambria"/>
              </a:rPr>
              <a:t> (Shanghai)</a:t>
            </a:r>
          </a:p>
          <a:p>
            <a:pPr algn="l">
              <a:lnSpc>
                <a:spcPct val="108000"/>
              </a:lnSpc>
            </a:pPr>
            <a:r>
              <a:rPr sz="3467" b="1" dirty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" y="2535937"/>
            <a:ext cx="6156960" cy="225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7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2999232"/>
            <a:ext cx="1367941" cy="36576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87680" y="3094941"/>
            <a:ext cx="1367941" cy="1743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3" b="1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" y="360883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" y="3852673"/>
            <a:ext cx="6156960" cy="778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3" dirty="0">
                <a:solidFill>
                  <a:srgbClr val="44524C"/>
                </a:solidFill>
                <a:latin typeface="Calibri"/>
              </a:rPr>
              <a:t>ZEK — «Zesty Especial Kingdom»,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власний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бренд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Hanjin Food.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Компанія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заснована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2002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року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Вейхаї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головний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офіс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2014-го —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Шанхаї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Партнери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групи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тайська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Singha Group і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корейська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8" name="Rectangle 27"/>
          <p:cNvSpPr/>
          <p:nvPr/>
        </p:nvSpPr>
        <p:spPr>
          <a:xfrm>
            <a:off x="487680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487680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39568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2" name="Rectangle 31"/>
          <p:cNvSpPr/>
          <p:nvPr/>
        </p:nvSpPr>
        <p:spPr>
          <a:xfrm>
            <a:off x="2639568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2639568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91456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6" name="Rectangle 35"/>
          <p:cNvSpPr/>
          <p:nvPr/>
        </p:nvSpPr>
        <p:spPr>
          <a:xfrm>
            <a:off x="4791456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791456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 dirty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3376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92531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80" y="6169152"/>
            <a:ext cx="615696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001" y="1633727"/>
            <a:ext cx="993679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r>
              <a:rPr sz="1600" b="1" dirty="0">
                <a:solidFill>
                  <a:srgbClr val="14241F"/>
                </a:solidFill>
                <a:latin typeface="Cambria"/>
              </a:rPr>
              <a:t>Chicken Floss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35 Г </a:t>
            </a:r>
            <a:endParaRPr sz="16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064" y="1633727"/>
            <a:ext cx="991869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5338" y="1633727"/>
            <a:ext cx="981644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670" y="1633727"/>
            <a:ext cx="926340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72" y="1633727"/>
            <a:ext cx="933253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532" y="1633727"/>
            <a:ext cx="933253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ishim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416051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ПРОФІЛЬ ПОСТАЧАЛЬНИКА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717804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8120E"/>
                </a:solidFill>
                <a:latin typeface="Cambria"/>
              </a:rPr>
              <a:t>Dalian Mishima Foods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18120E"/>
                </a:solidFill>
                <a:latin typeface="Cambria"/>
              </a:rPr>
              <a:t>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65376"/>
            <a:ext cx="717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C72A1C"/>
                </a:solidFill>
                <a:latin typeface="Calibri"/>
              </a:rPr>
              <a:t>Фурікаке, соуси та приправи Pan-Asian · Retail / OEM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997049" cy="365760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99704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FOB DALIAN, КИТАЙ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7178040" cy="1252728"/>
          </a:xfrm>
          <a:prstGeom prst="roundRect">
            <a:avLst>
              <a:gd name="adj" fmla="val 45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852928"/>
            <a:ext cx="66659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80">
                <a:solidFill>
                  <a:srgbClr val="C9A15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081528"/>
            <a:ext cx="6665975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Мішіма — виробник соусів, фурікаке, супових баз та юзу-продукції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(м. Далянь, пров. Ляонін, КНР). Асортимент за каталогом: класичні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соуси, пастові соуси, фурікаке в пакетах і коробках, супові бази,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очадзуке, юзу-серія, фреш-лок пляшки.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Контакт: foods@mishima.com.cn · +86 411 87611161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23944"/>
            <a:ext cx="2301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72A1C"/>
                </a:solidFill>
                <a:latin typeface="Cambria"/>
              </a:rPr>
              <a:t>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07992"/>
            <a:ext cx="2301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фурікаке в розрахунку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собівартості (25 і 50 г)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4151376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8480" y="4123944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72A1C"/>
                </a:solidFill>
                <a:latin typeface="Cambria"/>
              </a:rPr>
              <a:t>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8480" y="4507992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єдиний прорахований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сценарій доставки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8280" y="4151376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1160" y="4123944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72A1C"/>
                </a:solidFill>
                <a:latin typeface="Cambria"/>
              </a:rPr>
              <a:t>12 міс.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1160" y="4507992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термін придатності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(за каталогом)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60720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685800" y="5852159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94953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5760720"/>
            <a:ext cx="59253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У файлі розрахунку базис доставки вказано «FOB Bangkok», хоча країна походження — Китай. Невідповідність потребує уточнення у постачальника до фіксації умов.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5760720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F3EAD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MISHIMA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8120E"/>
                </a:solidFill>
                <a:latin typeface="Cambria"/>
              </a:rPr>
              <a:t>Furikake 25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335024"/>
            <a:ext cx="1481328" cy="148132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 креветкою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Видима креветка та дрібна риба — джерело мікроелементів. 3–4 г на 200 г рису.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36,49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€0,81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1,46 ₴/г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ku_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777" y="1335024"/>
            <a:ext cx="1481328" cy="1481328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44043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48990" y="2743199"/>
            <a:ext cx="2644902" cy="201168"/>
          </a:xfrm>
          <a:prstGeom prst="rect">
            <a:avLst/>
          </a:prstGeom>
          <a:solidFill>
            <a:srgbClr val="8A1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2142" y="2743199"/>
            <a:ext cx="249859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30" name="Oval 29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васабі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Освіжаючий аромат васабі. Підходить до смаженого, м’яса на грилі та сашимі.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$0,89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45,10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1,80 ₴/г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9" name="Oval 48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зі смаком кімчі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Гострий профіль кімчі. У роздрібному каталозі постачальника позиція відсутня.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33,19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€0,74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1,33 ₴/г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17" y="1335024"/>
            <a:ext cx="1481328" cy="1481328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913257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 норі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Кунжут і норі — базовий смак серії. Універсальна присипка до рису.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28,12 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€0,62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1,12 ₴/г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Розрахунок побудований лише для збірного вантажу 17 м³ — на відміну від 4-рівневого порівняння в профілі ZEK. Для зіставлення постачальників за обсягом контейнера потрібно домоделювати сценарії 40′ / 20′ / 34 м³.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MISHIMA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8120E"/>
                </a:solidFill>
                <a:latin typeface="Cambria"/>
              </a:rPr>
              <a:t>Furikake 50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335024"/>
            <a:ext cx="1481328" cy="148132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 креветкою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Та сама рецептура у подвійній фасовці — 64 пакети в коробі.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69,91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1,40 ₴/г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ku_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777" y="1335024"/>
            <a:ext cx="1481328" cy="1481328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44043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48990" y="2743199"/>
            <a:ext cx="2644902" cy="201168"/>
          </a:xfrm>
          <a:prstGeom prst="rect">
            <a:avLst/>
          </a:prstGeom>
          <a:solidFill>
            <a:srgbClr val="8A1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2142" y="2743199"/>
            <a:ext cx="249859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30" name="Oval 29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васабі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Найдорожча позиція Mishima в розрахунку: ₴1,65 за грам.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82,74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€1,84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1,65 ₴/г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9" name="Oval 48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зі смаком кімчі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Найнижча питома собівартість серед 50-грамових позицій.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60,65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€1,35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1,21 ₴/г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17" y="1335024"/>
            <a:ext cx="1481328" cy="1481328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9132570" y="1298448"/>
            <a:ext cx="2462022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Furikake з норі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Найдешевша позиція розрахунку — ₴1,01 за грам.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50,44 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1,01 ₴/г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Смак «кімчі» відсутній у роздрібному каталозі постачальника — SKU та фото потребують підтвердження. Фото 25 і 50 г ідентичні: постачальник показує одну ілюстрацію пакування на смак.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0"/>
            <a:ext cx="4187952" cy="6858000"/>
          </a:xfrm>
          <a:prstGeom prst="rect">
            <a:avLst/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kaokay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01000" y="6473952"/>
            <a:ext cx="4187952" cy="384048"/>
          </a:xfrm>
          <a:prstGeom prst="rect">
            <a:avLst/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65592" y="6473952"/>
            <a:ext cx="38587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F3EADF"/>
                </a:solidFill>
                <a:latin typeface="Calibri"/>
              </a:rPr>
              <a:t>ВІЗУАЛІЗАЦІЯ ФАСОВКИ FRESH-LOCK · ФОТО ПОСТАЧАЛЬНИКА ВІДСУТНІ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16051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ПРОФІЛЬ ПОСТАЧАЛЬНИКА ·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8368"/>
            <a:ext cx="717804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8120E"/>
                </a:solidFill>
                <a:latin typeface="Cambria"/>
              </a:rPr>
              <a:t>Takaokaya Co., Ltd.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18120E"/>
                </a:solidFill>
                <a:latin typeface="Cambria"/>
              </a:rPr>
              <a:t>(бренд Kinjirushi)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717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C72A1C"/>
                </a:solidFill>
                <a:latin typeface="Calibri"/>
              </a:rPr>
              <a:t>Бутильоване фурікаке та васабі-приправи · Японія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94560"/>
            <a:ext cx="3006547" cy="365760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94560"/>
            <a:ext cx="300654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FOB ЯПОНІЯ (ПОРТ УТОЧНЮЄТЬСЯ)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88336"/>
            <a:ext cx="7178040" cy="1252728"/>
          </a:xfrm>
          <a:prstGeom prst="roundRect">
            <a:avLst>
              <a:gd name="adj" fmla="val 45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852928"/>
            <a:ext cx="66659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80">
                <a:solidFill>
                  <a:srgbClr val="C9A15A"/>
                </a:solidFill>
                <a:latin typeface="Calibri"/>
              </a:rPr>
              <a:t>ПРО КОМПАНІЮ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081528"/>
            <a:ext cx="6665975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Заснована 1929 р., спеціалізується на продукції з автентичного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японського васабі (регіон Адзуміно). Бренд Kinjirushi. Дочірня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Takaokaya USA працює з 1986 р. Постачається у скляних «fresh-lock»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пляшечках 45–60 г — преміум «Made in Japan» на відміну від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пакетованого фурікаке з Китаю.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23944"/>
            <a:ext cx="3497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72A1C"/>
                </a:solidFill>
                <a:latin typeface="Cambria"/>
              </a:rPr>
              <a:t>1929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07992"/>
            <a:ext cx="34975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рік заснування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бренду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91939" y="4151376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820" y="4123944"/>
            <a:ext cx="3314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72A1C"/>
                </a:solidFill>
                <a:latin typeface="Cambria"/>
              </a:rPr>
              <a:t>45–60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4820" y="4507992"/>
            <a:ext cx="33146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фасовка,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скляна пляшка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" y="5143500"/>
            <a:ext cx="82296" cy="82296"/>
          </a:xfrm>
          <a:prstGeom prst="ellipse">
            <a:avLst/>
          </a:prstGeom>
          <a:solidFill>
            <a:srgbClr val="1E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3834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Nori</a:t>
            </a:r>
          </a:p>
        </p:txBody>
      </p:sp>
      <p:sp>
        <p:nvSpPr>
          <p:cNvPr id="23" name="Oval 22"/>
          <p:cNvSpPr/>
          <p:nvPr/>
        </p:nvSpPr>
        <p:spPr>
          <a:xfrm>
            <a:off x="2938272" y="5143500"/>
            <a:ext cx="82296" cy="82296"/>
          </a:xfrm>
          <a:prstGeom prst="ellipse">
            <a:avLst/>
          </a:prstGeom>
          <a:solidFill>
            <a:srgbClr val="74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2864" y="503834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Nori Wasabi</a:t>
            </a:r>
          </a:p>
        </p:txBody>
      </p:sp>
      <p:sp>
        <p:nvSpPr>
          <p:cNvPr id="25" name="Oval 24"/>
          <p:cNvSpPr/>
          <p:nvPr/>
        </p:nvSpPr>
        <p:spPr>
          <a:xfrm>
            <a:off x="5355335" y="5143500"/>
            <a:ext cx="82296" cy="82296"/>
          </a:xfrm>
          <a:prstGeom prst="ellipse">
            <a:avLst/>
          </a:prstGeom>
          <a:solidFill>
            <a:srgbClr val="C99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9928" y="503834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Yuzu Kosho</a:t>
            </a:r>
          </a:p>
        </p:txBody>
      </p:sp>
      <p:sp>
        <p:nvSpPr>
          <p:cNvPr id="27" name="Oval 26"/>
          <p:cNvSpPr/>
          <p:nvPr/>
        </p:nvSpPr>
        <p:spPr>
          <a:xfrm>
            <a:off x="521208" y="5490972"/>
            <a:ext cx="82296" cy="8229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85816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Nori Katsuo</a:t>
            </a:r>
          </a:p>
        </p:txBody>
      </p:sp>
      <p:sp>
        <p:nvSpPr>
          <p:cNvPr id="29" name="Oval 28"/>
          <p:cNvSpPr/>
          <p:nvPr/>
        </p:nvSpPr>
        <p:spPr>
          <a:xfrm>
            <a:off x="2938272" y="5490972"/>
            <a:ext cx="82296" cy="82296"/>
          </a:xfrm>
          <a:prstGeom prst="ellipse">
            <a:avLst/>
          </a:prstGeom>
          <a:solidFill>
            <a:srgbClr val="E0A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2864" y="5385816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Nori Tamago</a:t>
            </a:r>
          </a:p>
        </p:txBody>
      </p:sp>
      <p:sp>
        <p:nvSpPr>
          <p:cNvPr id="31" name="Oval 30"/>
          <p:cNvSpPr/>
          <p:nvPr/>
        </p:nvSpPr>
        <p:spPr>
          <a:xfrm>
            <a:off x="5355335" y="5490972"/>
            <a:ext cx="82296" cy="82296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9928" y="5385816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Curry</a:t>
            </a:r>
          </a:p>
        </p:txBody>
      </p:sp>
      <p:sp>
        <p:nvSpPr>
          <p:cNvPr id="33" name="Oval 32"/>
          <p:cNvSpPr/>
          <p:nvPr/>
        </p:nvSpPr>
        <p:spPr>
          <a:xfrm>
            <a:off x="521208" y="5838444"/>
            <a:ext cx="82296" cy="82296"/>
          </a:xfrm>
          <a:prstGeom prst="ellipse">
            <a:avLst/>
          </a:prstGeom>
          <a:solidFill>
            <a:srgbClr val="B0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33288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18120E"/>
                </a:solidFill>
                <a:latin typeface="Calibri"/>
              </a:rPr>
              <a:t>Garlic Chili Oil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6217920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685800" y="6309359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352153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6217920"/>
            <a:ext cx="59253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Юридична особа й пряме контактне джерело постачальника в матеріалах компанії відсутні — профіль складено за відкритими даними бренду, потребує верифікації перед контрактом.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6217920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F3EAD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TAKAOKAYA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8120E"/>
                </a:solidFill>
                <a:latin typeface="Cambria"/>
              </a:rPr>
              <a:t>Fresh-lock пляшки 50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3544824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1868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74748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74748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59152"/>
            <a:ext cx="3544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Nori Furikake Bottle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Класична норі-присипка у скляній пляшці fresh-lock.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5154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0110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€1,91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0110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1,72 ₴/г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2064" y="1207008"/>
            <a:ext cx="3544824" cy="1737360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ku_tk_was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1335024"/>
            <a:ext cx="1481328" cy="148132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413504" y="1298448"/>
            <a:ext cx="3361944" cy="1554480"/>
          </a:xfrm>
          <a:prstGeom prst="rect">
            <a:avLst/>
          </a:prstGeom>
          <a:noFill/>
          <a:ln w="1270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2064" y="2743199"/>
            <a:ext cx="3544824" cy="201168"/>
          </a:xfrm>
          <a:prstGeom prst="rect">
            <a:avLst/>
          </a:prstGeom>
          <a:solidFill>
            <a:srgbClr val="8A1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95216" y="2743199"/>
            <a:ext cx="3398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роздрібної версії 70 г</a:t>
            </a:r>
          </a:p>
        </p:txBody>
      </p:sp>
      <p:sp>
        <p:nvSpPr>
          <p:cNvPr id="32" name="Oval 31"/>
          <p:cNvSpPr/>
          <p:nvPr/>
        </p:nvSpPr>
        <p:spPr>
          <a:xfrm>
            <a:off x="4468368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3816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8368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Nori Wasabi Furikake Bottle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8368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Норі з гранулами японського васабі (регіон Адзуміно). Ціна — як у поз. 1.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68368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05528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5528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34298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68368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8368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9254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€1,91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68368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68368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9254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1,72 ₴/г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41208" y="1207008"/>
            <a:ext cx="3544824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30156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813036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813036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41208" y="2359152"/>
            <a:ext cx="3544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1" name="Oval 50"/>
          <p:cNvSpPr/>
          <p:nvPr/>
        </p:nvSpPr>
        <p:spPr>
          <a:xfrm>
            <a:off x="8287512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42960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7512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Yuzu Kosho Furikake Bottle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7512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Юзу-кошьо з Кюсю: цитрусова цедра та зелений перець.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87512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24672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24672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53442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90,46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87512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7512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88398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€2,01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87512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7512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88398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1,81 ₴/г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Isosceles Triangle 65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Позиції 1 і 2 мають однакову закупівельну ціну незалежно від смаку — типово для непроробленого прайсу; варто запросити поартикульну котирувку.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C72A1C"/>
                </a:solidFill>
                <a:latin typeface="Calibri"/>
              </a:rPr>
              <a:t>TAKAOKAYA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8120E"/>
                </a:solidFill>
                <a:latin typeface="Cambria"/>
              </a:rPr>
              <a:t>Фасовка 45–60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190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2478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478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Nori Katsuo Furikake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Норі та стружка боніто — умамі-профіль. Найвища питома с/с: ₴2,12/г.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€2,12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2,12 ₴/г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797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085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085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99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2" name="Oval 31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60 Г · 80 ШТ/КАРТ.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Nori Tamago Furikake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Норі та яєчний порошок. Найбільша фасовка серії за тією ж ціною.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€2,12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1" name="Oval 50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Curry Furikake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Каррі-присипка японського профілю спецій.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2A2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08011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26299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262997" y="1920240"/>
            <a:ext cx="201168" cy="201168"/>
          </a:xfrm>
          <a:prstGeom prst="ellipse">
            <a:avLst/>
          </a:prstGeom>
          <a:noFill/>
          <a:ln w="19050">
            <a:solidFill>
              <a:srgbClr val="C9A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113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C9A15A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70" name="Oval 69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7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18120E"/>
                </a:solidFill>
                <a:latin typeface="Calibri"/>
              </a:rPr>
              <a:t>Garlic Chili Oil Furikake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A5F56"/>
                </a:solidFill>
                <a:latin typeface="Calibri"/>
              </a:rPr>
              <a:t>Часник і чилі-олія раю — гострий напрямок серії. Ціна — як у поз. 6.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€1,59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Пари 4/5 і 6/7 мають ідентичну ціну незалежно від ваги (45 г vs 60 г). Питома собівартість Takaokaya (₴1,59–2,12/г) у 1,4–2,1 раза вища за Mishima (₴0,99–1,80/г) — премія «Made in Japan».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</Words>
  <Application>Microsoft Office PowerPoint</Application>
  <PresentationFormat>Широкий екран</PresentationFormat>
  <Paragraphs>132</Paragraphs>
  <Slides>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</vt:lpstr>
      <vt:lpstr>Тема Office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Чаплигін lлля</dc:creator>
  <cp:lastModifiedBy>Чаплигін lлля</cp:lastModifiedBy>
  <cp:revision>1</cp:revision>
  <dcterms:created xsi:type="dcterms:W3CDTF">2026-08-10T10:19:31Z</dcterms:created>
  <dcterms:modified xsi:type="dcterms:W3CDTF">2026-08-10T10:44:25Z</dcterms:modified>
</cp:coreProperties>
</file>