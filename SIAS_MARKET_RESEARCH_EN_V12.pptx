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5" r:id="rId2"/>
    <p:sldId id="258" r:id="rId3"/>
    <p:sldId id="286" r:id="rId4"/>
    <p:sldId id="260" r:id="rId5"/>
    <p:sldId id="287" r:id="rId6"/>
    <p:sldId id="288" r:id="rId7"/>
    <p:sldId id="289" r:id="rId8"/>
    <p:sldId id="290" r:id="rId9"/>
    <p:sldId id="291" r:id="rId10"/>
    <p:sldId id="265" r:id="rId11"/>
    <p:sldId id="292" r:id="rId12"/>
    <p:sldId id="293" r:id="rId13"/>
    <p:sldId id="294" r:id="rId14"/>
    <p:sldId id="295" r:id="rId15"/>
    <p:sldId id="270" r:id="rId16"/>
    <p:sldId id="296" r:id="rId17"/>
    <p:sldId id="297" r:id="rId18"/>
    <p:sldId id="298" r:id="rId19"/>
    <p:sldId id="299" r:id="rId20"/>
    <p:sldId id="300" r:id="rId21"/>
    <p:sldId id="301" r:id="rId22"/>
    <p:sldId id="303" r:id="rId23"/>
    <p:sldId id="304" r:id="rId24"/>
    <p:sldId id="280" r:id="rId25"/>
    <p:sldId id="305" r:id="rId26"/>
    <p:sldId id="306" r:id="rId27"/>
    <p:sldId id="309" r:id="rId35"/>
    <p:sldId id="310" r:id="rId36"/>
    <p:sldId id="312" r:id="rId38"/>
    <p:sldId id="31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30.xml"/><Relationship Id="rId38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Relationship Id="rId4" Type="http://schemas.openxmlformats.org/officeDocument/2006/relationships/image" Target="../media/image4.jpg"/><Relationship Id="rId5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11.jpg"/><Relationship Id="rId7" Type="http://schemas.openxmlformats.org/officeDocument/2006/relationships/image" Target="../media/image3.jpg"/><Relationship Id="rId8" Type="http://schemas.openxmlformats.org/officeDocument/2006/relationships/image" Target="../media/image1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3.jpg"/><Relationship Id="rId7" Type="http://schemas.openxmlformats.org/officeDocument/2006/relationships/image" Target="../media/image15.jpg"/><Relationship Id="rId8" Type="http://schemas.openxmlformats.org/officeDocument/2006/relationships/image" Target="../media/image16.jpg"/><Relationship Id="rId9" Type="http://schemas.openxmlformats.org/officeDocument/2006/relationships/image" Target="../media/image17.jpg"/><Relationship Id="rId10" Type="http://schemas.openxmlformats.org/officeDocument/2006/relationships/image" Target="../media/image18.jpg"/><Relationship Id="rId11" Type="http://schemas.openxmlformats.org/officeDocument/2006/relationships/image" Target="../media/image9.jpg"/><Relationship Id="rId12" Type="http://schemas.openxmlformats.org/officeDocument/2006/relationships/image" Target="../media/image19.jpg"/><Relationship Id="rId13" Type="http://schemas.openxmlformats.org/officeDocument/2006/relationships/image" Target="../media/image2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Relationship Id="rId6" Type="http://schemas.openxmlformats.org/officeDocument/2006/relationships/image" Target="../media/image24.jpg"/><Relationship Id="rId7" Type="http://schemas.openxmlformats.org/officeDocument/2006/relationships/image" Target="../media/image19.jpg"/><Relationship Id="rId8" Type="http://schemas.openxmlformats.org/officeDocument/2006/relationships/image" Target="../media/image10.jpg"/><Relationship Id="rId9" Type="http://schemas.openxmlformats.org/officeDocument/2006/relationships/image" Target="../media/image25.jpg"/><Relationship Id="rId10" Type="http://schemas.openxmlformats.org/officeDocument/2006/relationships/image" Target="../media/image26.jpg"/><Relationship Id="rId11" Type="http://schemas.openxmlformats.org/officeDocument/2006/relationships/image" Target="../media/image27.jpg"/><Relationship Id="rId12" Type="http://schemas.openxmlformats.org/officeDocument/2006/relationships/image" Target="../media/image28.jpg"/><Relationship Id="rId13" Type="http://schemas.openxmlformats.org/officeDocument/2006/relationships/image" Target="../media/image2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jpg"/><Relationship Id="rId4" Type="http://schemas.openxmlformats.org/officeDocument/2006/relationships/image" Target="../media/image31.jpg"/><Relationship Id="rId5" Type="http://schemas.openxmlformats.org/officeDocument/2006/relationships/image" Target="../media/image11.jpg"/><Relationship Id="rId6" Type="http://schemas.openxmlformats.org/officeDocument/2006/relationships/image" Target="../media/image6.jpg"/><Relationship Id="rId7" Type="http://schemas.openxmlformats.org/officeDocument/2006/relationships/image" Target="../media/image32.jpg"/><Relationship Id="rId8" Type="http://schemas.openxmlformats.org/officeDocument/2006/relationships/image" Target="../media/image33.jpg"/><Relationship Id="rId9" Type="http://schemas.openxmlformats.org/officeDocument/2006/relationships/image" Target="../media/image34.jpg"/><Relationship Id="rId10" Type="http://schemas.openxmlformats.org/officeDocument/2006/relationships/image" Target="../media/image35.jpg"/><Relationship Id="rId11" Type="http://schemas.openxmlformats.org/officeDocument/2006/relationships/image" Target="../media/image36.jpg"/><Relationship Id="rId12" Type="http://schemas.openxmlformats.org/officeDocument/2006/relationships/image" Target="../media/image37.jpg"/><Relationship Id="rId13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Relationship Id="rId6" Type="http://schemas.openxmlformats.org/officeDocument/2006/relationships/image" Target="../media/image40.jpg"/><Relationship Id="rId7" Type="http://schemas.openxmlformats.org/officeDocument/2006/relationships/image" Target="../media/image41.jpg"/><Relationship Id="rId8" Type="http://schemas.openxmlformats.org/officeDocument/2006/relationships/image" Target="../media/image42.jpg"/><Relationship Id="rId9" Type="http://schemas.openxmlformats.org/officeDocument/2006/relationships/image" Target="../media/image43.jpg"/><Relationship Id="rId10" Type="http://schemas.openxmlformats.org/officeDocument/2006/relationships/image" Target="../media/image1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jpg"/><Relationship Id="rId4" Type="http://schemas.openxmlformats.org/officeDocument/2006/relationships/image" Target="../media/image45.jpg"/><Relationship Id="rId5" Type="http://schemas.openxmlformats.org/officeDocument/2006/relationships/image" Target="../media/image46.jpg"/><Relationship Id="rId6" Type="http://schemas.openxmlformats.org/officeDocument/2006/relationships/image" Target="../media/image47.jpg"/><Relationship Id="rId7" Type="http://schemas.openxmlformats.org/officeDocument/2006/relationships/image" Target="../media/image2.jpg"/><Relationship Id="rId8" Type="http://schemas.openxmlformats.org/officeDocument/2006/relationships/image" Target="../media/image4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jpg"/><Relationship Id="rId4" Type="http://schemas.openxmlformats.org/officeDocument/2006/relationships/image" Target="../media/image49.jpg"/><Relationship Id="rId5" Type="http://schemas.openxmlformats.org/officeDocument/2006/relationships/image" Target="../media/image50.jpg"/><Relationship Id="rId6" Type="http://schemas.openxmlformats.org/officeDocument/2006/relationships/image" Target="../media/image51.jpg"/><Relationship Id="rId7" Type="http://schemas.openxmlformats.org/officeDocument/2006/relationships/image" Target="../media/image52.jpg"/><Relationship Id="rId8" Type="http://schemas.openxmlformats.org/officeDocument/2006/relationships/image" Target="../media/image45.jpg"/><Relationship Id="rId9" Type="http://schemas.openxmlformats.org/officeDocument/2006/relationships/image" Target="../media/image53.jpg"/><Relationship Id="rId10" Type="http://schemas.openxmlformats.org/officeDocument/2006/relationships/image" Target="../media/image54.jpg"/><Relationship Id="rId11" Type="http://schemas.openxmlformats.org/officeDocument/2006/relationships/image" Target="../media/image5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6.jpg"/><Relationship Id="rId4" Type="http://schemas.openxmlformats.org/officeDocument/2006/relationships/image" Target="../media/image57.jpg"/><Relationship Id="rId5" Type="http://schemas.openxmlformats.org/officeDocument/2006/relationships/image" Target="../media/image46.jpg"/><Relationship Id="rId6" Type="http://schemas.openxmlformats.org/officeDocument/2006/relationships/image" Target="../media/image58.jpg"/><Relationship Id="rId7" Type="http://schemas.openxmlformats.org/officeDocument/2006/relationships/image" Target="../media/image59.jpg"/><Relationship Id="rId8" Type="http://schemas.openxmlformats.org/officeDocument/2006/relationships/image" Target="../media/image60.jpg"/><Relationship Id="rId9" Type="http://schemas.openxmlformats.org/officeDocument/2006/relationships/image" Target="../media/image4.jpg"/><Relationship Id="rId10" Type="http://schemas.openxmlformats.org/officeDocument/2006/relationships/image" Target="../media/image47.jpg"/><Relationship Id="rId11" Type="http://schemas.openxmlformats.org/officeDocument/2006/relationships/image" Target="../media/image61.jpg"/><Relationship Id="rId12" Type="http://schemas.openxmlformats.org/officeDocument/2006/relationships/image" Target="../media/image6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image" Target="../media/image63.jpg"/><Relationship Id="rId5" Type="http://schemas.openxmlformats.org/officeDocument/2006/relationships/image" Target="../media/image64.jpg"/><Relationship Id="rId6" Type="http://schemas.openxmlformats.org/officeDocument/2006/relationships/image" Target="../media/image2.jpg"/><Relationship Id="rId7" Type="http://schemas.openxmlformats.org/officeDocument/2006/relationships/image" Target="../media/image47.jpg"/><Relationship Id="rId8" Type="http://schemas.openxmlformats.org/officeDocument/2006/relationships/image" Target="../media/image65.jpg"/><Relationship Id="rId9" Type="http://schemas.openxmlformats.org/officeDocument/2006/relationships/image" Target="../media/image66.jpg"/><Relationship Id="rId10" Type="http://schemas.openxmlformats.org/officeDocument/2006/relationships/image" Target="../media/image44.jpg"/><Relationship Id="rId11" Type="http://schemas.openxmlformats.org/officeDocument/2006/relationships/image" Target="../media/image67.jpg"/><Relationship Id="rId12" Type="http://schemas.openxmlformats.org/officeDocument/2006/relationships/image" Target="../media/image4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jpg"/><Relationship Id="rId4" Type="http://schemas.openxmlformats.org/officeDocument/2006/relationships/image" Target="../media/image69.jpg"/><Relationship Id="rId5" Type="http://schemas.openxmlformats.org/officeDocument/2006/relationships/image" Target="../media/image70.jpg"/><Relationship Id="rId6" Type="http://schemas.openxmlformats.org/officeDocument/2006/relationships/image" Target="../media/image71.jpg"/><Relationship Id="rId7" Type="http://schemas.openxmlformats.org/officeDocument/2006/relationships/image" Target="../media/image72.jpg"/><Relationship Id="rId8" Type="http://schemas.openxmlformats.org/officeDocument/2006/relationships/image" Target="../media/image7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jpg"/><Relationship Id="rId4" Type="http://schemas.openxmlformats.org/officeDocument/2006/relationships/image" Target="../media/image74.jpg"/><Relationship Id="rId5" Type="http://schemas.openxmlformats.org/officeDocument/2006/relationships/image" Target="../media/image75.jpg"/><Relationship Id="rId6" Type="http://schemas.openxmlformats.org/officeDocument/2006/relationships/image" Target="../media/image69.jpg"/><Relationship Id="rId7" Type="http://schemas.openxmlformats.org/officeDocument/2006/relationships/image" Target="../media/image76.jpg"/><Relationship Id="rId8" Type="http://schemas.openxmlformats.org/officeDocument/2006/relationships/image" Target="../media/image77.jpg"/><Relationship Id="rId9" Type="http://schemas.openxmlformats.org/officeDocument/2006/relationships/image" Target="../media/image7.jpg"/><Relationship Id="rId10" Type="http://schemas.openxmlformats.org/officeDocument/2006/relationships/image" Target="../media/image70.jpg"/><Relationship Id="rId11" Type="http://schemas.openxmlformats.org/officeDocument/2006/relationships/image" Target="../media/image7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6.jpg"/><Relationship Id="rId4" Type="http://schemas.openxmlformats.org/officeDocument/2006/relationships/image" Target="../media/image71.jpg"/><Relationship Id="rId5" Type="http://schemas.openxmlformats.org/officeDocument/2006/relationships/image" Target="../media/image79.jpg"/><Relationship Id="rId6" Type="http://schemas.openxmlformats.org/officeDocument/2006/relationships/image" Target="../media/image78.jpg"/><Relationship Id="rId7" Type="http://schemas.openxmlformats.org/officeDocument/2006/relationships/image" Target="../media/image80.jpg"/><Relationship Id="rId8" Type="http://schemas.openxmlformats.org/officeDocument/2006/relationships/image" Target="../media/image72.jpg"/><Relationship Id="rId9" Type="http://schemas.openxmlformats.org/officeDocument/2006/relationships/image" Target="../media/image81.jpg"/><Relationship Id="rId10" Type="http://schemas.openxmlformats.org/officeDocument/2006/relationships/image" Target="../media/image82.jpg"/><Relationship Id="rId11" Type="http://schemas.openxmlformats.org/officeDocument/2006/relationships/image" Target="../media/image7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629400" y="0"/>
            <a:ext cx="5562295" cy="685800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858000" y="640080"/>
            <a:ext cx="5120640" cy="5120640"/>
          </a:xfrm>
          <a:prstGeom prst="ellipse">
            <a:avLst/>
          </a:prstGeom>
          <a:solidFill>
            <a:srgbClr val="FFC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035040" y="4297680"/>
            <a:ext cx="2286000" cy="2286000"/>
          </a:xfrm>
          <a:prstGeom prst="ellipse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0" y="4206240"/>
            <a:ext cx="2560320" cy="2560320"/>
          </a:xfrm>
          <a:prstGeom prst="ellipse">
            <a:avLst/>
          </a:prstGeom>
          <a:solidFill>
            <a:srgbClr val="FFC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566928"/>
            <a:ext cx="2331720" cy="1024128"/>
          </a:xfrm>
          <a:prstGeom prst="roundRect">
            <a:avLst>
              <a:gd name="adj" fmla="val 12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658368"/>
            <a:ext cx="2002536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331720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 lang="en-US">
                <a:solidFill>
                  <a:srgbClr val="C4820A"/>
                </a:solidFill>
                <a:latin typeface="Segoe UI"/>
              </a:rPr>
              <a:t>MARKET RESEARCH AND POSITIONING · OCTOBER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697480"/>
            <a:ext cx="58521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spc="-10" lang="en-US">
                <a:solidFill>
                  <a:srgbClr val="303A5D"/>
                </a:solidFill>
                <a:latin typeface="Segoe UI"/>
              </a:rPr>
              <a:t>Korean</a:t>
            </a:r>
          </a:p>
          <a:p>
            <a:pPr algn="l">
              <a:lnSpc>
                <a:spcPct val="100000"/>
              </a:lnSpc>
            </a:pPr>
            <a:r>
              <a:rPr sz="5800" b="1" spc="-10" lang="en-US">
                <a:solidFill>
                  <a:srgbClr val="303A5D"/>
                </a:solidFill>
                <a:latin typeface="Segoe UI"/>
              </a:rPr>
              <a:t>ramen</a:t>
            </a:r>
          </a:p>
          <a:p>
            <a:pPr algn="l">
              <a:lnSpc>
                <a:spcPct val="100000"/>
              </a:lnSpc>
            </a:pPr>
            <a:r>
              <a:rPr sz="5800" b="1" spc="-10" lang="en-US">
                <a:solidFill>
                  <a:srgbClr val="303A5D"/>
                </a:solidFill>
                <a:latin typeface="Segoe UI"/>
              </a:rPr>
              <a:t>in Ukraine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" y="5532120"/>
            <a:ext cx="1463040" cy="8229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958583" y="56692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903720" y="50292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79" y="594360"/>
            <a:ext cx="2057400" cy="20574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958583" y="299008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903720" y="292608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79" y="3017520"/>
            <a:ext cx="2057400" cy="20574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656064" y="138988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601200" y="132588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8360" y="1417320"/>
            <a:ext cx="2057400" cy="20574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9656064" y="385876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601200" y="379476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8360" y="3886200"/>
            <a:ext cx="20574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MARKET SIZE · CUSTOMS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How much noodle is imported into Ukraine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IMPORT VOLUME, TONNES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000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84248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964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13888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300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928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3528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38927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73167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900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071116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2025 · Jan–May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50008" y="2029968"/>
            <a:ext cx="742689" cy="237744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65849" y="206654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239.7 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528316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 lang="en-US">
                <a:solidFill>
                  <a:srgbClr val="C4820A"/>
                </a:solidFill>
                <a:latin typeface="Segoe UI"/>
              </a:rPr>
              <a:t>2026 · Jan–May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50008" y="2487168"/>
            <a:ext cx="2598281" cy="237744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1441" y="252374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C4820A"/>
                </a:solidFill>
                <a:latin typeface="Segoe UI"/>
              </a:rPr>
              <a:t>838.5 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2985516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2025 · full year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50008" y="2944368"/>
            <a:ext cx="2205106" cy="23774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28266" y="298094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303A5D"/>
                </a:solidFill>
                <a:latin typeface="Segoe UI"/>
              </a:rPr>
              <a:t>711.6 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675887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INVOICE VALUE, USD 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50008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984248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24707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58947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99407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533647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74108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08347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119372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2025 · Jan–May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50008" y="4078224"/>
            <a:ext cx="793749" cy="237744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16909" y="411480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$1.02 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576572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 lang="en-US">
                <a:solidFill>
                  <a:srgbClr val="C4820A"/>
                </a:solidFill>
                <a:latin typeface="Segoe UI"/>
              </a:rPr>
              <a:t>2026 · Jan–May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50008" y="4535424"/>
            <a:ext cx="2479520" cy="237744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902680" y="457200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C4820A"/>
                </a:solidFill>
                <a:latin typeface="Segoe UI"/>
              </a:rPr>
              <a:t>$3.20 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CUSTOMS DATA · ORIGIN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Where the noodles come from: all import origins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 lang="en-US">
                <a:solidFill>
                  <a:srgbClr val="717890"/>
                </a:solidFill>
                <a:latin typeface="Segoe UI"/>
              </a:rPr>
              <a:t>Jan–May 2026 · net weight, tonnes · share of total imports of 838.5 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 lang="en-US">
                <a:solidFill>
                  <a:srgbClr val="303A5D"/>
                </a:solidFill>
                <a:latin typeface="Segoe UI"/>
              </a:rPr>
              <a:t>IMPORT MIX, 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47088"/>
            <a:ext cx="2181252" cy="45720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1984248"/>
            <a:ext cx="21812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 lang="en-US">
                <a:solidFill>
                  <a:srgbClr val="FFFFFF"/>
                </a:solidFill>
                <a:latin typeface="Segoe UI"/>
              </a:rPr>
              <a:t>19.9 %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6468" y="1847088"/>
            <a:ext cx="1545354" cy="457200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66468" y="1984248"/>
            <a:ext cx="154535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 lang="en-US">
                <a:solidFill>
                  <a:srgbClr val="FFFFFF"/>
                </a:solidFill>
                <a:latin typeface="Segoe UI"/>
              </a:rPr>
              <a:t>14.1 %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0111" y="1847088"/>
            <a:ext cx="1128660" cy="4572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30111" y="1984248"/>
            <a:ext cx="11286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 lang="en-US">
                <a:solidFill>
                  <a:srgbClr val="FFFFFF"/>
                </a:solidFill>
                <a:latin typeface="Segoe UI"/>
              </a:rPr>
              <a:t>10.4 %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77059" y="1847088"/>
            <a:ext cx="754509" cy="45720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77059" y="1984248"/>
            <a:ext cx="75450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 lang="en-US">
                <a:solidFill>
                  <a:srgbClr val="FFFFFF"/>
                </a:solidFill>
                <a:latin typeface="Segoe UI"/>
              </a:rPr>
              <a:t>7.0 %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857" y="1847088"/>
            <a:ext cx="737879" cy="45720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49857" y="1984248"/>
            <a:ext cx="73787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 lang="en-US">
                <a:solidFill>
                  <a:srgbClr val="FFFFFF"/>
                </a:solidFill>
                <a:latin typeface="Segoe UI"/>
              </a:rPr>
              <a:t>6.8 %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06024" y="1847088"/>
            <a:ext cx="652058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06024" y="1984248"/>
            <a:ext cx="65205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 lang="en-US">
                <a:solidFill>
                  <a:srgbClr val="FFFFFF"/>
                </a:solidFill>
                <a:latin typeface="Segoe UI"/>
              </a:rPr>
              <a:t>6.1 %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76370" y="1847088"/>
            <a:ext cx="625148" cy="457200"/>
          </a:xfrm>
          <a:prstGeom prst="rect">
            <a:avLst/>
          </a:prstGeom>
          <a:solidFill>
            <a:srgbClr val="4E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76370" y="1984248"/>
            <a:ext cx="6251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 lang="en-US">
                <a:solidFill>
                  <a:srgbClr val="FFFFFF"/>
                </a:solidFill>
                <a:latin typeface="Segoe UI"/>
              </a:rPr>
              <a:t>5.8 %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19806" y="1847088"/>
            <a:ext cx="3293073" cy="45720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19806" y="1984248"/>
            <a:ext cx="329307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 lang="en-US">
                <a:solidFill>
                  <a:srgbClr val="FFFFFF"/>
                </a:solidFill>
                <a:latin typeface="Segoe UI"/>
              </a:rPr>
              <a:t>29.9 %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2487168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 lang="en-US">
                <a:solidFill>
                  <a:srgbClr val="303A5D"/>
                </a:solidFill>
                <a:latin typeface="Segoe UI"/>
              </a:rPr>
              <a:t>BY COUNTRY OF ORIGIN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852928"/>
            <a:ext cx="128016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2" y="2816352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Vietnam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2798064"/>
            <a:ext cx="3251606" cy="24688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61734" y="2816352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166.7 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2816352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 lang="en-US">
                <a:solidFill>
                  <a:srgbClr val="717890"/>
                </a:solidFill>
                <a:latin typeface="Segoe UI"/>
              </a:rPr>
              <a:t>19.9 %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255264"/>
            <a:ext cx="128016" cy="12801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4672" y="321868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Korea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3200400"/>
            <a:ext cx="2311551" cy="246888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21679" y="321868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118.5 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321868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 lang="en-US">
                <a:solidFill>
                  <a:srgbClr val="717890"/>
                </a:solidFill>
                <a:latin typeface="Segoe UI"/>
              </a:rPr>
              <a:t>14.1 %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657600"/>
            <a:ext cx="128016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4672" y="3621024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Romania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3602736"/>
            <a:ext cx="1695547" cy="2468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05675" y="362102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86.9 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362102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 lang="en-US">
                <a:solidFill>
                  <a:srgbClr val="717890"/>
                </a:solidFill>
                <a:latin typeface="Segoe UI"/>
              </a:rPr>
              <a:t>10.4 %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4059935"/>
            <a:ext cx="128016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4672" y="4023359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United Kingdom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0" y="4005072"/>
            <a:ext cx="1142436" cy="246888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52564" y="4023359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58.6 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4160" y="4023359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 lang="en-US">
                <a:solidFill>
                  <a:srgbClr val="717890"/>
                </a:solidFill>
                <a:latin typeface="Segoe UI"/>
              </a:rPr>
              <a:t>7.0 %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462272"/>
            <a:ext cx="128016" cy="12801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04672" y="4425696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Latvia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4407408"/>
            <a:ext cx="1117850" cy="24688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427978" y="442569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57.3 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24160" y="442569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 lang="en-US">
                <a:solidFill>
                  <a:srgbClr val="717890"/>
                </a:solidFill>
                <a:latin typeface="Segoe UI"/>
              </a:rPr>
              <a:t>6.8 %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864608"/>
            <a:ext cx="128016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04672" y="4828032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Czechia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0" y="4809744"/>
            <a:ext cx="990980" cy="2468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301108" y="4828032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50.8 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24160" y="4828032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 lang="en-US">
                <a:solidFill>
                  <a:srgbClr val="717890"/>
                </a:solidFill>
                <a:latin typeface="Segoe UI"/>
              </a:rPr>
              <a:t>6.1 %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" y="5266944"/>
            <a:ext cx="128016" cy="128016"/>
          </a:xfrm>
          <a:prstGeom prst="rect">
            <a:avLst/>
          </a:prstGeom>
          <a:solidFill>
            <a:srgbClr val="4E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04672" y="523036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Poland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0" y="5212080"/>
            <a:ext cx="951199" cy="246888"/>
          </a:xfrm>
          <a:prstGeom prst="rect">
            <a:avLst/>
          </a:prstGeom>
          <a:solidFill>
            <a:srgbClr val="4E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261327" y="523036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48.8 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24160" y="523036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 lang="en-US">
                <a:solidFill>
                  <a:srgbClr val="717890"/>
                </a:solidFill>
                <a:latin typeface="Segoe UI"/>
              </a:rPr>
              <a:t>5.8 %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" y="5669280"/>
            <a:ext cx="128016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04672" y="5632704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All other countries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0" y="5614416"/>
            <a:ext cx="4895224" cy="246888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205352" y="563270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250.9 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24160" y="563270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 lang="en-US">
                <a:solidFill>
                  <a:srgbClr val="717890"/>
                </a:solidFill>
                <a:latin typeface="Segoe UI"/>
              </a:rPr>
              <a:t>29.9 %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66928" y="6016752"/>
            <a:ext cx="11064240" cy="109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04672" y="6089904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C4820A"/>
                </a:solidFill>
                <a:latin typeface="Segoe UI"/>
              </a:rPr>
              <a:t>Total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00400" y="6089904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C4820A"/>
                </a:solidFill>
                <a:latin typeface="Segoe UI"/>
              </a:rPr>
              <a:t>838.5 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424160" y="608990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100 %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6437376"/>
            <a:ext cx="11064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9FA9C4"/>
                </a:solidFill>
                <a:latin typeface="Segoe UI"/>
              </a:rPr>
              <a:t>Customs database, HS code 1902 30 10 00. "All other countries" is a single line: the database has no country split.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Segmentation by preparation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3566160" cy="3657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" y="1700784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 spc="-10" lang="en-US">
                <a:solidFill>
                  <a:srgbClr val="FFFFFF"/>
                </a:solidFill>
                <a:latin typeface="Segoe UI"/>
              </a:rPr>
              <a:t>PACK RAMEN · WITH BROTH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" y="2066543"/>
            <a:ext cx="34381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0880104306958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807" y="2130551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4944" y="316382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303A5D"/>
                </a:solidFill>
                <a:latin typeface="Segoe UI"/>
              </a:rPr>
              <a:t>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31012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 lang="en-US">
                <a:solidFill>
                  <a:srgbClr val="717890"/>
                </a:solidFill>
                <a:latin typeface="Segoe UI"/>
              </a:rPr>
              <a:t>SKUs · 46 %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365760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WEIGHT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3639312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102–144 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3904487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MEDIAN PRICE PER PACK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3886200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4151376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PACK PRICE RANGE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4133088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67–209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439826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BRANDS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8" y="4379976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15968" y="1627632"/>
            <a:ext cx="3566160" cy="36576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43983" y="1700784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 spc="-10" lang="en-US">
                <a:solidFill>
                  <a:srgbClr val="FFFFFF"/>
                </a:solidFill>
                <a:latin typeface="Segoe UI"/>
              </a:rPr>
              <a:t>PACK RAMEN · WITH SAUCE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9976" y="2066543"/>
            <a:ext cx="34381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0064843631068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848" y="2130551"/>
            <a:ext cx="914400" cy="914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443983" y="316382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C4820A"/>
                </a:solidFill>
                <a:latin typeface="Segoe UI"/>
              </a:rPr>
              <a:t>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21808" y="331012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 lang="en-US">
                <a:solidFill>
                  <a:srgbClr val="717890"/>
                </a:solidFill>
                <a:latin typeface="Segoe UI"/>
              </a:rPr>
              <a:t>SKUs · 34 %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43983" y="365760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WEIGHT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4768" y="3639312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105–145 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3983" y="3904487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MEDIAN PRICE PER PACK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4768" y="3886200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106 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43983" y="4151376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PACK PRICE RANGE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133088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72–198 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3983" y="439826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BRANDS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44768" y="4379976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65008" y="1627632"/>
            <a:ext cx="3566160" cy="36576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93024" y="1700784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 spc="-10" lang="en-US">
                <a:solidFill>
                  <a:srgbClr val="FFFFFF"/>
                </a:solidFill>
                <a:latin typeface="Segoe UI"/>
              </a:rPr>
              <a:t>CUP RAMEN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29016" y="2066543"/>
            <a:ext cx="34381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0880107321077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0888" y="2130551"/>
            <a:ext cx="914400" cy="9144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193024" y="316382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5D4B96"/>
                </a:solidFill>
                <a:latin typeface="Segoe UI"/>
              </a:rPr>
              <a:t>18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0848" y="331012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 lang="en-US">
                <a:solidFill>
                  <a:srgbClr val="717890"/>
                </a:solidFill>
                <a:latin typeface="Segoe UI"/>
              </a:rPr>
              <a:t>SKUs · 20 %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3024" y="365760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WEIGHT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93808" y="3639312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62–120 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93024" y="3904487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MEDIAN PRICE PER PACK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93808" y="3886200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104 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3024" y="4151376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PACK PRICE RANGE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93808" y="4133088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34–195 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93024" y="439826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BRANDS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93808" y="4379976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4700016"/>
            <a:ext cx="7315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 lang="en-US">
                <a:solidFill>
                  <a:srgbClr val="303A5D"/>
                </a:solidFill>
                <a:latin typeface="Segoe UI"/>
              </a:rPr>
              <a:t>SEGMENT × PRICE BAND · SKUs, ₴ per pack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2996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 lang="en-US">
                <a:solidFill>
                  <a:srgbClr val="303A5D"/>
                </a:solidFill>
                <a:latin typeface="Segoe UI"/>
              </a:rPr>
              <a:t>under 80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3580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80–95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4164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95–110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4748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110–130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5332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130–150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5916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150–180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6500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180 +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53728" y="484632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TOTAL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" y="5166360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 lang="en-US">
                <a:solidFill>
                  <a:srgbClr val="303A5D"/>
                </a:solidFill>
                <a:latin typeface="Segoe UI"/>
              </a:rPr>
              <a:t>Pack · with broth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57400" y="5129784"/>
            <a:ext cx="950976" cy="25603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05740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63240" y="5129784"/>
            <a:ext cx="950976" cy="256032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06324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69080" y="5129784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06908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74920" y="5129784"/>
            <a:ext cx="950976" cy="256032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07492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80760" y="5129784"/>
            <a:ext cx="950976" cy="25603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08076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086600" y="5129784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08660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92440" y="5129784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09244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53728" y="5175504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41 SKUs · median 95 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6928" y="5477256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 lang="en-US">
                <a:solidFill>
                  <a:srgbClr val="303A5D"/>
                </a:solidFill>
                <a:latin typeface="Segoe UI"/>
              </a:rPr>
              <a:t>Pack · with sauce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5740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05740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063240" y="5440680"/>
            <a:ext cx="950976" cy="256032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06324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06908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06908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7492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07492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8076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08076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08660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08660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92440" y="5440680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09244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253728" y="5486400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30 SKUs · median 106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6928" y="5788152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 lang="en-US">
                <a:solidFill>
                  <a:srgbClr val="303A5D"/>
                </a:solidFill>
                <a:latin typeface="Segoe UI"/>
              </a:rPr>
              <a:t>Cup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057400" y="5751576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205740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63240" y="5751576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306324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069080" y="5751576"/>
            <a:ext cx="950976" cy="25603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06908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074920" y="5751576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507492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080760" y="5751576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08076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086600" y="5751576"/>
            <a:ext cx="950976" cy="25603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708660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092440" y="5751576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09244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253728" y="5797296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18 SKUs · median 104 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1 · PACK RAMEN · WITH BROTH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broth: the largest 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 lang="en-US">
                <a:solidFill>
                  <a:srgbClr val="717890"/>
                </a:solidFill>
                <a:latin typeface="Segoe UI"/>
              </a:rPr>
              <a:t>The core of the Korean shelf: noodles and powdered broth, cooked in a pot.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1591056"/>
            <a:ext cx="41148" cy="107899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SKUs IN SEGMENT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303A5D"/>
                </a:solidFill>
                <a:latin typeface="Segoe UI"/>
              </a:rPr>
              <a:t>41 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6 brands in 11 chains.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46 % of the whole category.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7872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47872" y="1591056"/>
            <a:ext cx="41148" cy="107899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03904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MEDIAN SHELF PRICE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3904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84–113 ₴.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Range: 67–209 ₴.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8816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28816" y="1591056"/>
            <a:ext cx="41148" cy="107899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84848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PRICIER THAN 120 ₴ 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 lang="en-US">
                <a:solidFill>
                  <a:srgbClr val="303A5D"/>
                </a:solidFill>
                <a:latin typeface="Segoe UI"/>
              </a:rPr>
              <a:t>7 of 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SKUs in the segment.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Pricier than 140.55 ₴ (now): 2.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1591056"/>
            <a:ext cx="2121408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509760" y="1591056"/>
            <a:ext cx="41148" cy="107899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65792" y="1746504"/>
            <a:ext cx="1645919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PACK WEIGHT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1956816"/>
            <a:ext cx="164591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303A5D"/>
                </a:solidFill>
                <a:latin typeface="Segoe UI"/>
              </a:rPr>
              <a:t>102–144 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2313305"/>
            <a:ext cx="16459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segment range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as of 29 Sep 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2779776"/>
            <a:ext cx="5120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303A5D"/>
                </a:solidFill>
                <a:latin typeface="Segoe UI"/>
              </a:rPr>
              <a:t>WHO HOLDS THE SEGMENT · SKUs PER BRAND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017520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55648" y="3040379"/>
            <a:ext cx="347472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30368" y="3017520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3195827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55648" y="3218687"/>
            <a:ext cx="173736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230368" y="319582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374135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55648" y="3396995"/>
            <a:ext cx="1520189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30368" y="337413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3552443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55648" y="3575303"/>
            <a:ext cx="108585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230368" y="3552443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3730751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55648" y="3753611"/>
            <a:ext cx="86868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230368" y="373075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3909059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755648" y="3931920"/>
            <a:ext cx="21717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230368" y="3909059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2779776"/>
            <a:ext cx="5303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303A5D"/>
                </a:solidFill>
                <a:latin typeface="Segoe UI"/>
              </a:rPr>
              <a:t>SKUs BY PRICE BAND · ₴ PER PACK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3597510"/>
            <a:ext cx="566928" cy="40756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63640" y="3414630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 lang="en-US">
                <a:solidFill>
                  <a:srgbClr val="717890"/>
                </a:solidFill>
                <a:latin typeface="Segoe UI"/>
              </a:rPr>
              <a:t>under 80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14032" y="3342785"/>
            <a:ext cx="566928" cy="66228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022592" y="3159905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22592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80–95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72983" y="3801291"/>
            <a:ext cx="566928" cy="20378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781544" y="361841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81544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95–110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31936" y="3291839"/>
            <a:ext cx="566928" cy="7132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540496" y="3108959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40496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110–130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90888" y="3986784"/>
            <a:ext cx="566928" cy="1828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299448" y="3803904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99448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130–150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49840" y="3954126"/>
            <a:ext cx="566928" cy="5094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0058400" y="3771246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0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150–180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908792" y="3954126"/>
            <a:ext cx="566928" cy="5094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817352" y="3771246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17352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180 +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66928" y="422452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13232" y="4233672"/>
            <a:ext cx="64008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 lang="en-US">
                <a:solidFill>
                  <a:srgbClr val="303A5D"/>
                </a:solidFill>
                <a:latin typeface="Segoe UI"/>
              </a:rPr>
              <a:t>SEGMENT EXAMPLES · FROM CHEAPEST TO MOST EXPENSIVE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6928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566928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40080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6" name="Picture 7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645152"/>
            <a:ext cx="1115568" cy="111556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658368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Yeul Ramen extra spicy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68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8368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428646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2428646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2501798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3" name="Picture 82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8686" y="4645152"/>
            <a:ext cx="1115568" cy="111556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2520086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Cheese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20086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83 ₴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520086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111 g · Zaraz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290364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4290364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4363516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Picture 8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404" y="4645152"/>
            <a:ext cx="1115568" cy="111556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4381804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Medium spicy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81804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67–101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81804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 · Kosmos · Grono +2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52083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6152083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6225235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7" name="Picture 96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2123" y="4645152"/>
            <a:ext cx="1115568" cy="1115568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6243523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Seafood flavor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43523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108 ₴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43523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Onde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013801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8013801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8086953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4" name="Picture 103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3841" y="4645152"/>
            <a:ext cx="1115568" cy="111556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105241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Spicy seasoning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105241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98–129 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105241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Kosmos · Klass · METRO +4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875519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9875519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9948672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1" name="Picture 110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5559" y="4645152"/>
            <a:ext cx="1115568" cy="1115568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9966959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Ramyun Black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66959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202–209 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966959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Auchan · Grono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1 · PACK RAMEN · WITH BROTH   ·   41 SKUs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broth: catalogue 1 of 4 — 68–85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303A5D"/>
                </a:solidFill>
                <a:latin typeface="Segoe UI"/>
              </a:rPr>
              <a:t>SEGMENT 1 · PACK RAMEN · WITH BROTH   ·   Cook 4–5 min · served in broth   ·   weight 102–144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Yeul Ramen extra spicy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68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O'Food · Kimchi Ramen noodles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68–72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144 g · Auchan · Zaraz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Teumsae Ramen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72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Grono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Spicy seasoning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Kimchi Ramen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67–85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 · Kosmos · Tavria …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O'Food · Kimchi Ramen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74–80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129 g · Auchan · Zaraz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O'Food · Seafood Ramen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74–80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103 g · Auchan · Zaraz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O'Food · Seafood flavor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74–84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102 g · Auchan · Zaraz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Cheese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83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111 g · Zaraz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Jin Ramen spicy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84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13801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013801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8086953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4" name="Picture 83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9541" y="4389120"/>
            <a:ext cx="1344168" cy="134416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8105241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Kimchi Ramyun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05241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85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05241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1 · PACK RAMEN · WITH BROTH   ·   41 SKUs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broth: catalogue 2 of 4 — 88–98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303A5D"/>
                </a:solidFill>
                <a:latin typeface="Segoe UI"/>
              </a:rPr>
              <a:t>SEGMENT 1 · PACK RAMEN · WITH BROTH   ·   Cook 4–5 min · served in broth   ·   weight 102–144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Soon Veggie Ramyun veg…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74–102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112 g · Auchan · Onde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Cham-Pong Ramyun seaf…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124 g · Auchan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Hwa Ramyun hot pep…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87–93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 · Grono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Kokomen chicken flav…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92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Jin Ramen spicy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93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Kosmos · Tavria V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Medium spicy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67–101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 · Kosmos · Grono +2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Seafood flavor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93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Spicy Zanmang Loopy w/ s…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76–113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110 g · Auchan · Grono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Zanmang Loopy origi…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76–113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110 g · Auchan · Grono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Otoki · Cheesy Ramen flavo…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95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13801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013801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8086953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4" name="Picture 83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9541" y="4389120"/>
            <a:ext cx="1344168" cy="134416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8105241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AnSungTangMyun mushr…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05241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74–122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05241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125 g · Auchan · Onde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1 · PACK RAMEN · WITH BROTH   ·   41 SKUs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broth: catalogue 3 of 4 — 104–117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303A5D"/>
                </a:solidFill>
                <a:latin typeface="Segoe UI"/>
              </a:rPr>
              <a:t>SEGMENT 1 · PACK RAMEN · WITH BROTH   ·   Cook 4–5 min · served in broth   ·   weight 102–144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Seafood spicy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85–122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 · Onde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Cheese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110 g · Auchan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Seafood flavor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108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Onde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Ramyun flavor sp…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89–132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 · Grono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Pasta Samyan…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112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115 g · Auchan · Zaraz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Noodles chicken flav…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108–169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135 g · Auchan · Grono · Zaraz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Cheese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99–124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 · Zaraz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Sesame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112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115 g · Auchan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Jin Jjambbong Ramen seaf…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112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Auchan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Seafood medium sp…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85–125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 · Klass · METRO +2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13801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013801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8086953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4" name="Picture 83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9541" y="4389120"/>
            <a:ext cx="1344168" cy="134416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8105241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Spicy seasoning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05241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98–129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05241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Kosmos · Klass · METRO +4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1 · PACK RAMEN · WITH BROTH   ·   41 SKUs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broth: catalogue 4 of 4 — 118–205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303A5D"/>
                </a:solidFill>
                <a:latin typeface="Segoe UI"/>
              </a:rPr>
              <a:t>SEGMENT 1 · PACK RAMEN · WITH BROTH   ·   Cook 4–5 min · served in broth   ·   weight 102–144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Kimchi Ramyun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98–124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ChudoMarket · Kosmos · G…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Cheese flavor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112–130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105 g · Auchan · Zaraz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Seafood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125–135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125 g · Klass · Onde · Vostorg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Spicy seasoning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125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Grono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Ramyun mushroom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128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Onde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Ramyun Tom Yum…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116–142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123 g · Auchan · Grono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Ramen Black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165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METRO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Ramyun Black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202–209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Auchan · Grono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1 · WHERE IT IS SOLD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broth: where it is sold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SEGMENT SKUs IN THE CHAIN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4248" y="1901952"/>
            <a:ext cx="5486" cy="3822191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18488" y="576072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016252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Auchan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4248" y="2007107"/>
            <a:ext cx="286789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25290" y="20116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327148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4248" y="2318003"/>
            <a:ext cx="1017638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75038" y="232257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638044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Zaraz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4248" y="2628899"/>
            <a:ext cx="1017638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75038" y="263347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94893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84248" y="2939795"/>
            <a:ext cx="83261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90013" y="294436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25983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Kosmos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4248" y="3250691"/>
            <a:ext cx="46256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519963" y="325526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57073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Tavria 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84248" y="3561587"/>
            <a:ext cx="46256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519963" y="356615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88162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Klass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4248" y="3872483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427450" y="387705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192523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84248" y="4183379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427450" y="4187951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50341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Vostorg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84248" y="4494275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427450" y="4498847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81431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84248" y="4805171"/>
            <a:ext cx="185025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242425" y="480974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12521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ChudoMarket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84248" y="5116067"/>
            <a:ext cx="92512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149912" y="512063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43610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Silpo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84248" y="5426963"/>
            <a:ext cx="92512" cy="173736"/>
          </a:xfrm>
          <a:prstGeom prst="rect">
            <a:avLst/>
          </a:prstGeom>
          <a:solidFill>
            <a:srgbClr val="787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49912" y="543153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1*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1645920"/>
            <a:ext cx="41148" cy="13898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6208" y="1700784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National chains · 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149840" y="1709928"/>
            <a:ext cx="1481328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149840" y="1737360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 lang="en-US">
                <a:solidFill>
                  <a:srgbClr val="FFFFFF"/>
                </a:solidFill>
                <a:latin typeface="Segoe UI"/>
              </a:rPr>
              <a:t>TARGET CHANNEL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36208" y="2029968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327648" y="2089404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Auchan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95820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795820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53020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344460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NOVUS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83956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883956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41156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432596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METRO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72092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972092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29292" y="2029968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520732" y="2089404"/>
            <a:ext cx="68214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Zaraz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202875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202875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36208" y="2377440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327648" y="2436876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Silpo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081113" y="2414016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081113" y="2436876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1*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35040" y="3127248"/>
            <a:ext cx="41148" cy="13898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236208" y="3182112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Regional chains · 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149840" y="3191256"/>
            <a:ext cx="1481328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149840" y="3218688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 lang="en-US">
                <a:solidFill>
                  <a:srgbClr val="FFFFFF"/>
                </a:solidFill>
                <a:latin typeface="Segoe UI"/>
              </a:rPr>
              <a:t>REGIONAL ENTRY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36208" y="3511296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327648" y="3570732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Grono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8671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8671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24344" y="3511296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415783" y="3570732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Onde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883956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883956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341156" y="3511296"/>
            <a:ext cx="1068019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432596" y="3570732"/>
            <a:ext cx="61081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Klass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043415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043415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500616" y="3511296"/>
            <a:ext cx="12819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592056" y="3570732"/>
            <a:ext cx="8247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Vostorg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4168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4168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236208" y="3858768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327648" y="3918204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Kosmos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08111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08111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538313" y="3858768"/>
            <a:ext cx="135331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629753" y="3918204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Tavria V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525865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525865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83065" y="3858768"/>
            <a:ext cx="149595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074505" y="3918204"/>
            <a:ext cx="103875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ChudoMarket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11326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1011326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035040" y="4608576"/>
            <a:ext cx="41148" cy="148132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6236208" y="466344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No segment SKUs · 6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149840" y="4672584"/>
            <a:ext cx="1481328" cy="20116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0149840" y="4700016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 lang="en-US">
                <a:solidFill>
                  <a:srgbClr val="FFFFFF"/>
                </a:solidFill>
                <a:latin typeface="Segoe UI"/>
              </a:rPr>
              <a:t>OPEN SHELF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36208" y="4992624"/>
            <a:ext cx="9326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327648" y="5052060"/>
            <a:ext cx="8046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MegaMarket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260336" y="4992624"/>
            <a:ext cx="100401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7351776" y="5052060"/>
            <a:ext cx="87599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Ultramarket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355787" y="4992624"/>
            <a:ext cx="43342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447227" y="5052060"/>
            <a:ext cx="3054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EKO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880652" y="4992624"/>
            <a:ext cx="79004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972092" y="5052060"/>
            <a:ext cx="66202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Epicentr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762134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853574" y="5052060"/>
            <a:ext cx="59070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Torba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572292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0663732" y="5052060"/>
            <a:ext cx="59070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Ideal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2 · PACK RAMEN · WITH SAUCE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sauce: 30 SKUs, median 106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591056"/>
            <a:ext cx="41148" cy="107899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SKUs IN SEGMENT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C4820A"/>
                </a:solidFill>
                <a:latin typeface="Segoe UI"/>
              </a:rPr>
              <a:t>30 SKU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7 brands in 12 chains.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34 % of the whole category.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47872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47872" y="1591056"/>
            <a:ext cx="41148" cy="107899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03904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MEDIAN SHELF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C4820A"/>
                </a:solidFill>
                <a:latin typeface="Segoe UI"/>
              </a:rPr>
              <a:t>106 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86–137 ₴.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Range: 72–198 ₴.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28816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28816" y="1591056"/>
            <a:ext cx="41148" cy="107899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84848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PRICIER THAN 120 ₴ 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 lang="en-US">
                <a:solidFill>
                  <a:srgbClr val="C4820A"/>
                </a:solidFill>
                <a:latin typeface="Segoe UI"/>
              </a:rPr>
              <a:t>11 of 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SKUs in the segment.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Pricier than 140.55 ₴ (now): 5.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1591056"/>
            <a:ext cx="2121408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509760" y="1591056"/>
            <a:ext cx="41148" cy="107899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65792" y="1746504"/>
            <a:ext cx="1645919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PACK WEIGHT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2" y="1956816"/>
            <a:ext cx="164591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C4820A"/>
                </a:solidFill>
                <a:latin typeface="Segoe UI"/>
              </a:rPr>
              <a:t>105–145 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2313305"/>
            <a:ext cx="16459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segment range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as of 29 Sep 2026.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779776"/>
            <a:ext cx="5120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303A5D"/>
                </a:solidFill>
                <a:latin typeface="Segoe UI"/>
              </a:rPr>
              <a:t>WHO HOLDS THE SEGMENT · SKUs PER BRAND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017520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55648" y="3040379"/>
            <a:ext cx="3474720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30368" y="3017520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3195827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55648" y="3218687"/>
            <a:ext cx="1895301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30368" y="319582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374135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55648" y="3396995"/>
            <a:ext cx="1579418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230368" y="337413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3552443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55648" y="3575303"/>
            <a:ext cx="1263534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230368" y="3552443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3730751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755648" y="3753611"/>
            <a:ext cx="631767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230368" y="373075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3909059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Choi's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55648" y="3931920"/>
            <a:ext cx="315883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230368" y="3909059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2779776"/>
            <a:ext cx="5303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303A5D"/>
                </a:solidFill>
                <a:latin typeface="Segoe UI"/>
              </a:rPr>
              <a:t>SKUs BY PRICE BAND · ₴ PER PACK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80" y="3846576"/>
            <a:ext cx="566928" cy="15849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63640" y="3663696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 lang="en-US">
                <a:solidFill>
                  <a:srgbClr val="717890"/>
                </a:solidFill>
                <a:latin typeface="Segoe UI"/>
              </a:rPr>
              <a:t>under 80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14032" y="3291839"/>
            <a:ext cx="566928" cy="71323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022592" y="3108959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22592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80–95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72983" y="3608831"/>
            <a:ext cx="566928" cy="39624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781544" y="342595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81544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95–110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31936" y="3608831"/>
            <a:ext cx="566928" cy="39624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540496" y="342595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40496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110–130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90888" y="3608831"/>
            <a:ext cx="566928" cy="39624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299448" y="342595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99448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130–150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149840" y="3767328"/>
            <a:ext cx="566928" cy="23774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058400" y="35844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0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150–180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908792" y="3925823"/>
            <a:ext cx="566928" cy="7924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817352" y="3742943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17352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180 +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6928" y="422452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13232" y="4233672"/>
            <a:ext cx="64008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 lang="en-US">
                <a:solidFill>
                  <a:srgbClr val="303A5D"/>
                </a:solidFill>
                <a:latin typeface="Segoe UI"/>
              </a:rPr>
              <a:t>SEGMENT EXAMPLES · FROM CHEAPEST TO MOST EXPENSIVE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6928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566928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40080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5" name="Picture 7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645152"/>
            <a:ext cx="1115568" cy="1115568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58368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Tangle creamy flav…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8368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 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105 g · Onde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428646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2428646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2501798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2" name="Picture 81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8686" y="4645152"/>
            <a:ext cx="1115568" cy="111556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2520086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Bibigo · Stir-Fry Ramen Spicy T…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520086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20086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122 g · Auchan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290364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4290364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4363516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9" name="Picture 88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404" y="4645152"/>
            <a:ext cx="1115568" cy="1115568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4381804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Bibim Men Korean-sty…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381804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72–124 ₴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81804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ChudoMarket · Grono · NO…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52083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6152083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6225235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6" name="Picture 9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2123" y="4645152"/>
            <a:ext cx="1115568" cy="1115568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6243523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Cheese spicy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43523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115 ₴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43523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Auchan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013801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8013801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8086953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3" name="Picture 10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3841" y="4645152"/>
            <a:ext cx="1115568" cy="1115568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8105241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Chicken flavor spicy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105241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93–156 ₴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105241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140 g · Auchan · Kosmos · Grono +4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875519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9875519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9948672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0" name="Picture 10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5559" y="4645152"/>
            <a:ext cx="1115568" cy="1115568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9966959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Spicy &amp; Creamy Toomba K…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966959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198 ₴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66959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137 g · Grono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2 · PACK RAMEN · WITH SAUCE   ·   30 SKUs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sauce: catalogue 1 of 3 — 78–89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C4820A"/>
                </a:solidFill>
                <a:latin typeface="Segoe UI"/>
              </a:rPr>
              <a:t>SEGMENT 2 · PACK RAMEN · WITH SAUCE   ·   Cook 4–5 min · drain water, mix with sauce   ·   weight 105–145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Tangle creamy flav…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105 g · Onde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501798" y="2409444"/>
            <a:ext cx="160934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spc="-10" lang="en-US">
                <a:solidFill>
                  <a:srgbClr val="9FA9C4"/>
                </a:solidFill>
                <a:latin typeface="Segoe UI"/>
              </a:rPr>
              <a:t>no photo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fire bull · Stir-Fried Ramen Beef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138 g · Onde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Volcano Carbonara spic…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80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105 g · Auchan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Compaghetti noodles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81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110 g · Auchan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Bibigo · Stir-Fry Ramen flavo…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122 g · Auchan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Bibigo · Stir-Fry Ramen Chicken…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122 g · Auchan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Bibigo · Stir-Fry Ramen Spicy T…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122 g · Auchan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Bibigo · Stir-Fry Ramen Cheese…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127 g · Auchan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Stir-Fry Ramen with cheese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Stir-Fry Ramen with chee…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Auchan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2 · PACK RAMEN · WITH SAUCE   ·   30 SKUs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sauce: catalogue 2 of 3 — 89–123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C4820A"/>
                </a:solidFill>
                <a:latin typeface="Segoe UI"/>
              </a:rPr>
              <a:t>SEGMENT 2 · PACK RAMEN · WITH SAUCE   ·   Cook 4–5 min · drain water, mix with sauce   ·   weight 105–145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Stir Fry Shin Ramyun sp…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131 g · Auchan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Ramyun Stir Fry w…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96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136 g · Auchan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Bibim Men Korean-sty…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72–124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ChudoMarket · Grono · NO…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Chacharoni black bea…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90–115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140 g · Auchan · Zaraz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Stir fried chicken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86–123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Auchan · Grono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Buldak Jjajang flav…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108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140 g · Auchan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Volcano Carbonara chicken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105–121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Auchan · Grono · Onde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Cheese spicy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115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Auchan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Chapaghetti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89–136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140 g · Auchan · Klass · METRO +3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Volcano Chicken w/ chick…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84–123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140 g · Auchan · Grono · Onde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2 · PACK RAMEN · WITH SAUCE   ·   30 SKUs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sauce: catalogue 3 of 3 — 125–198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C4820A"/>
                </a:solidFill>
                <a:latin typeface="Segoe UI"/>
              </a:rPr>
              <a:t>SEGMENT 2 · PACK RAMEN · WITH SAUCE   ·   Cook 4–5 min · drain water, mix with sauce   ·   weight 105–145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Choi's · Carbonara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125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131 g · Kosmos · Tavria 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Buldak Ramen with hot…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94–184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145 g · Auchan · ChudoMarket · Kos…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Chicken flavor extra ho…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86–151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140 g · Auchan · ChudoMarket · Kos…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Chicken flavor spicy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93–156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140 g · Auchan · Kosmos · Grono +4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Spicy cheese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100–151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ChudoMarket · Kosmos · G…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Toomba Spicy&amp;Creamy Sti…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131–154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137 g · Auchan · ChudoMarket · Gro…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Tangle creamy flav…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78–157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105 g · Klass · Onde · Vostorg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Tangle creamy flav…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157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105 g · Klass · Vostorg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Tangle garlic flavo…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78–157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105 g · Klass · Onde · Vostorg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Spicy &amp; Creamy Toomba K…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198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137 g · Grono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2 · WHERE IT IS SOLD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sauce: where it is sold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SEGMENT SKUs IN THE CHAIN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4248" y="1901952"/>
            <a:ext cx="5486" cy="4133087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18488" y="607161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016252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Auchan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4248" y="2007107"/>
            <a:ext cx="2867890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25290" y="20116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327148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4248" y="2318003"/>
            <a:ext cx="1638794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96194" y="232257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638044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4248" y="2628899"/>
            <a:ext cx="1365662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23062" y="263347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94893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Klass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84248" y="2939795"/>
            <a:ext cx="955963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13363" y="294436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25983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Vostorg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4248" y="3250691"/>
            <a:ext cx="955963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13363" y="325526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57073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84248" y="3561587"/>
            <a:ext cx="819397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76797" y="356615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88162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ChudoMarket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4248" y="3872483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0231" y="387705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192523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Kosmos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84248" y="4183379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0231" y="4187951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50341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Tavria V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84248" y="4494275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740231" y="4498847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81431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Zaraz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84248" y="4805171"/>
            <a:ext cx="409698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467098" y="480974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12521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Silpo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84248" y="5116067"/>
            <a:ext cx="409698" cy="173736"/>
          </a:xfrm>
          <a:prstGeom prst="rect">
            <a:avLst/>
          </a:prstGeom>
          <a:solidFill>
            <a:srgbClr val="D8A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467098" y="512063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3*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43610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Torba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84248" y="5426963"/>
            <a:ext cx="273132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330532" y="543153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5747003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84248" y="5737859"/>
            <a:ext cx="136566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193966" y="5742431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1645920"/>
            <a:ext cx="41148" cy="13898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36208" y="1700784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National chains · 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49840" y="1709928"/>
            <a:ext cx="1481328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149840" y="1737360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 lang="en-US">
                <a:solidFill>
                  <a:srgbClr val="FFFFFF"/>
                </a:solidFill>
                <a:latin typeface="Segoe UI"/>
              </a:rPr>
              <a:t>TARGET CHANNEL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36208" y="2029968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27648" y="2089404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Auchan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5820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795820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53020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344460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NOVUS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83956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883956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41156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432596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METRO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72092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972092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429292" y="2029968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520732" y="2089404"/>
            <a:ext cx="68214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Zaraz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202875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202875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36208" y="2377440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327648" y="2436876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Silpo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81113" y="2414016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081113" y="2436876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3*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35040" y="3127248"/>
            <a:ext cx="41148" cy="13898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236208" y="3182112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Regional chains · 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149840" y="3191256"/>
            <a:ext cx="1481328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0149840" y="3218688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 lang="en-US">
                <a:solidFill>
                  <a:srgbClr val="FFFFFF"/>
                </a:solidFill>
                <a:latin typeface="Segoe UI"/>
              </a:rPr>
              <a:t>REGIONAL ENTRY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36208" y="3511296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327648" y="3570732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Grono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8671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8671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324344" y="3511296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415783" y="3570732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Onde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883956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883956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341156" y="3511296"/>
            <a:ext cx="1068019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432596" y="3570732"/>
            <a:ext cx="61081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Klass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043415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043415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500616" y="3511296"/>
            <a:ext cx="12819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592056" y="3570732"/>
            <a:ext cx="8247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Vostorg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4168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04168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236208" y="3858768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327648" y="3918204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Kosmos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08111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708111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38313" y="3858768"/>
            <a:ext cx="135331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7629753" y="3918204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Tavria V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25865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525865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83065" y="3858768"/>
            <a:ext cx="149595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9074505" y="3918204"/>
            <a:ext cx="103875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ChudoMarket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11326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011326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236208" y="4206240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327648" y="4265676"/>
            <a:ext cx="68214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Torba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009790" y="4242816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009790" y="4265676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035040" y="4608576"/>
            <a:ext cx="41148" cy="148132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6236208" y="466344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No segment SKUs · 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149840" y="4672584"/>
            <a:ext cx="1481328" cy="20116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10149840" y="4700016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 lang="en-US">
                <a:solidFill>
                  <a:srgbClr val="FFFFFF"/>
                </a:solidFill>
                <a:latin typeface="Segoe UI"/>
              </a:rPr>
              <a:t>OPEN SHELF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236208" y="4992624"/>
            <a:ext cx="9326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6327648" y="5052060"/>
            <a:ext cx="8046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MegaMarket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260336" y="4992624"/>
            <a:ext cx="100401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7351776" y="5052060"/>
            <a:ext cx="87599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Ultramarket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355787" y="4992624"/>
            <a:ext cx="43342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8447227" y="5052060"/>
            <a:ext cx="3054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EKO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880652" y="4992624"/>
            <a:ext cx="79004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8972092" y="5052060"/>
            <a:ext cx="66202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Epicentr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762134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9853574" y="5052060"/>
            <a:ext cx="59070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Ideal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3 · CUP RAMEN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Cup: just add boiling water, no stove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591056"/>
            <a:ext cx="41148" cy="107899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SKUs IN SEGMENT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5D4B96"/>
                </a:solidFill>
                <a:latin typeface="Segoe UI"/>
              </a:rPr>
              <a:t>18 SKU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4 brands in 8 chains.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20 % of the whole category.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47872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47872" y="1591056"/>
            <a:ext cx="41148" cy="107899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03904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MEDIAN SHELF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5D4B96"/>
                </a:solidFill>
                <a:latin typeface="Segoe UI"/>
              </a:rPr>
              <a:t>104 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93–111 ₴.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Range: 34–195 ₴.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28816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28816" y="1591056"/>
            <a:ext cx="41148" cy="107899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84848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PRICIER THAN 120 ₴ 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 lang="en-US">
                <a:solidFill>
                  <a:srgbClr val="5D4B96"/>
                </a:solidFill>
                <a:latin typeface="Segoe UI"/>
              </a:rPr>
              <a:t>3 of 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SKUs in the segment.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Pricier than 140.55 ₴ (now): 3.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1591056"/>
            <a:ext cx="2121408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509760" y="1591056"/>
            <a:ext cx="41148" cy="107899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65792" y="1746504"/>
            <a:ext cx="1645919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PACK WEIGHT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2" y="1956816"/>
            <a:ext cx="164591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5D4B96"/>
                </a:solidFill>
                <a:latin typeface="Segoe UI"/>
              </a:rPr>
              <a:t>62–120 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2313305"/>
            <a:ext cx="16459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segment range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as of 29 Sep 2026.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779776"/>
            <a:ext cx="5120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303A5D"/>
                </a:solidFill>
                <a:latin typeface="Segoe UI"/>
              </a:rPr>
              <a:t>WHO HOLDS THE SEGMENT · SKUs PER BRAND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017520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55648" y="3040379"/>
            <a:ext cx="3474720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30368" y="3017520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3195827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55648" y="3218687"/>
            <a:ext cx="1579418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30368" y="319582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374135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55648" y="3396995"/>
            <a:ext cx="315883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230368" y="337413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3552443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55648" y="3575303"/>
            <a:ext cx="315883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230368" y="3552443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2779776"/>
            <a:ext cx="5303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303A5D"/>
                </a:solidFill>
                <a:latin typeface="Segoe UI"/>
              </a:rPr>
              <a:t>SKUs BY PRICE BAND · ₴ PER PACK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3699401"/>
            <a:ext cx="566928" cy="30567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63640" y="351652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 lang="en-US">
                <a:solidFill>
                  <a:srgbClr val="717890"/>
                </a:solidFill>
                <a:latin typeface="Segoe UI"/>
              </a:rPr>
              <a:t>under 80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14032" y="3903181"/>
            <a:ext cx="566928" cy="10189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022592" y="372030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22592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80–95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72983" y="3291839"/>
            <a:ext cx="566928" cy="71323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781544" y="3108959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81544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95–110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31936" y="3597510"/>
            <a:ext cx="566928" cy="40756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540496" y="3414630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40496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110–130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90888" y="3801291"/>
            <a:ext cx="566928" cy="20378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299448" y="361841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99448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130–150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149840" y="3986784"/>
            <a:ext cx="566928" cy="1828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058400" y="3803904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0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150–180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908792" y="3903181"/>
            <a:ext cx="566928" cy="10189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817352" y="372030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17352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180 +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422452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13232" y="4233672"/>
            <a:ext cx="64008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 lang="en-US">
                <a:solidFill>
                  <a:srgbClr val="303A5D"/>
                </a:solidFill>
                <a:latin typeface="Segoe UI"/>
              </a:rPr>
              <a:t>SEGMENT EXAMPLES · FROM CHEAPEST TO MOST EXPENSIVE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66928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40080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9" name="Picture 6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645152"/>
            <a:ext cx="1115568" cy="111556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58368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Bulgogi Ramen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8368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65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8368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80 g · Auchan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428646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2428646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2501798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6" name="Picture 7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8686" y="4645152"/>
            <a:ext cx="1115568" cy="111556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520086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Jin Ramen Spicy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520086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82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20086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67 g · Auchan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290364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4290364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4363516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3" name="Picture 82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404" y="4645152"/>
            <a:ext cx="1115568" cy="111556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4381804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Shrimp cup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81804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103 ₴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81804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67 g · Auchan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152083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6152083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6225235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Picture 89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2123" y="4645152"/>
            <a:ext cx="1115568" cy="111556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6243523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Red Super Spicy…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43523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43523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68 g · METRO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013801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8013801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8086953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7" name="Picture 9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3841" y="4645152"/>
            <a:ext cx="1115568" cy="1115568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8105241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Soon Veggie Cup Noodle…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105241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105241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67 g · METRO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875519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9875519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9948672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4" name="Picture 10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5559" y="4645152"/>
            <a:ext cx="1115568" cy="111556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9966959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Cup noodles mushr…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966959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195 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966959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80 g · Grono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3 · CUP RAMEN   ·   18 SKUs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Cup: catalogue 1 of 2 — 65–103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5D4B96"/>
                </a:solidFill>
                <a:latin typeface="Segoe UI"/>
              </a:rPr>
              <a:t>SEGMENT 3 · CUP RAMEN   ·   Add boiling water 3–4 min · no stove   ·   weight 62–120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Bulgogi Ramen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65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80 g · Auchan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Jjajang Ramen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65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80 g · Auchan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Kimchi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65–86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80 g · Auchan · Onde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Jin Ramen Spicy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82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67 g · Auchan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Ramyun spicy fr…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97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68 g · Auchan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Jumbo Noodle Hot &amp; Spic…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99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Buldak Hot Chicken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34–149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70 g · Kosmos · Grono · Klass +3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Shrimp cup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103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67 g · Auchan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Tempura Udon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103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62 g · Auchan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3 · CUP RAMEN   ·   18 SKUs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Cup: catalogue 2 of 2 — 105–195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5D4B96"/>
                </a:solidFill>
                <a:latin typeface="Segoe UI"/>
              </a:rPr>
              <a:t>SEGMENT 3 · CUP RAMEN   ·   Add boiling water 3–4 min · no stove   ·   weight 62–120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Ramyun spicy fr…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68 g · METRO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Red Super Spicy…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68 g · METRO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Cup Ramyun Shrimp spicy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67 g · METRO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Tempura Udon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62 g · METRO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Neoguri soup seafo…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62 g · METRO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Soon Veggie Cup Noodle…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67 g · METRO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Buldak Hot Chicken cheese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137–150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70 g · Kosmos · Klass · Tavria …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Kimchi Shin Ramyun Cup…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100–158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75 g · Grono · METRO · Onde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Cup noodles mushr…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195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80 g · Grono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SUMMARY · BRANDS × CHAINS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All brands in all chains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261872"/>
            <a:ext cx="566928" cy="40233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129844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81328"/>
            <a:ext cx="5669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spc="-10">
                <a:solidFill>
                  <a:srgbClr val="FFFFFF"/>
                </a:solidFill>
                <a:latin typeface="Segoe UI"/>
              </a:rPr>
              <a:t>89 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6" y="1261872"/>
            <a:ext cx="5120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 lang="en-US">
                <a:solidFill>
                  <a:srgbClr val="303A5D"/>
                </a:solidFill>
                <a:latin typeface="Segoe UI"/>
              </a:rPr>
              <a:t>top number — brand SKU count in the 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1463040"/>
            <a:ext cx="5120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bottom number — median pack price in ₴  ·  the darker the cell, the more SKUs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7393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7393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 lang="en-US">
                <a:solidFill>
                  <a:srgbClr val="FFFFFF"/>
                </a:solidFill>
                <a:latin typeface="Segoe UI"/>
              </a:rPr>
              <a:t>Auchan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2257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2257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Grono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7121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7121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Onde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1985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1985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METRO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6849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6849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 lang="en-US">
                <a:solidFill>
                  <a:srgbClr val="FFFFFF"/>
                </a:solidFill>
                <a:latin typeface="Segoe UI"/>
              </a:rPr>
              <a:t>Zaraz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1713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1713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 lang="en-US">
                <a:solidFill>
                  <a:srgbClr val="FFFFFF"/>
                </a:solidFill>
                <a:latin typeface="Segoe UI"/>
              </a:rPr>
              <a:t>Klass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6577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65775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 lang="en-US">
                <a:solidFill>
                  <a:srgbClr val="FFFFFF"/>
                </a:solidFill>
                <a:latin typeface="Segoe UI"/>
              </a:rPr>
              <a:t>Vostorg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1441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1441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 lang="en-US">
                <a:solidFill>
                  <a:srgbClr val="FFFFFF"/>
                </a:solidFill>
                <a:latin typeface="Segoe UI"/>
              </a:rPr>
              <a:t>Kosmos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305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63055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 lang="en-US">
                <a:solidFill>
                  <a:srgbClr val="FFFFFF"/>
                </a:solidFill>
                <a:latin typeface="Segoe UI"/>
              </a:rPr>
              <a:t>Tavria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1169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11695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NOVUS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6033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6033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 lang="en-US">
                <a:solidFill>
                  <a:srgbClr val="FFFFFF"/>
                </a:solidFill>
                <a:latin typeface="Segoe UI"/>
              </a:rPr>
              <a:t>ChudoM.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0897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08975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 lang="en-US">
                <a:solidFill>
                  <a:srgbClr val="FFFFFF"/>
                </a:solidFill>
                <a:latin typeface="Segoe UI"/>
              </a:rPr>
              <a:t>Torba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5761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57615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 lang="en-US">
                <a:solidFill>
                  <a:srgbClr val="FFFFFF"/>
                </a:solidFill>
                <a:latin typeface="Segoe UI"/>
              </a:rPr>
              <a:t>Silpo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79407" y="1810512"/>
            <a:ext cx="539496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979407" y="1920240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SKU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46335" y="1810512"/>
            <a:ext cx="612647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546335" y="1920240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CHAINS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86415" y="1810512"/>
            <a:ext cx="722375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186415" y="1920240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MEDIAN, 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936223" y="1810512"/>
            <a:ext cx="868680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936223" y="1920240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PACK WEIGHT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229743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73936" y="2212848"/>
            <a:ext cx="512063" cy="333756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77393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7393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89 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322576" y="2212848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32257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2257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145 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71216" y="2212848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87121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7121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122 ₴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19856" y="2212848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1985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1985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108 ₴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68496" y="221284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968496" y="230428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17136" y="221284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51713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1713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65775" y="221284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065775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65775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14416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61441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1441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116 ₴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63055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163055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63055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118 ₴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711695" y="221284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711695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11695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126 ₴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260336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26033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26033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120 ₴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808975" y="221284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808975" y="230428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357615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357615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357615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139 ₴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79407" y="2212848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979407" y="2304288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33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546335" y="2212848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546335" y="2304288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186415" y="2212848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0186415" y="2304288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111 ₴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936223" y="2212848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0936223" y="2304288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62–140 g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6928" y="266776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773936" y="2583179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77393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77393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108 ₴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322576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232257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32257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152 ₴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871216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287121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87121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86 ₴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419856" y="2583179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3419856" y="267462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968496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396849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96849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112 ₴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17136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51713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1713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151 ₴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065775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5065775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065775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151 ₴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614416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561441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61441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140 ₴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163055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6163055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163055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140 ₴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711695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6711695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711695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139 ₴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260336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726033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26033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130 ₴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808975" y="2583179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7808975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808975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102 ₴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357615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8357615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357615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90 ₴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979407" y="2583179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8979407" y="2674620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546335" y="2583179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9546335" y="2674620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186415" y="2583179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0186415" y="2674620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112 ₴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0936223" y="2583179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10936223" y="2674620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70–145 g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66928" y="303809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773936" y="2953512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1773936" y="296722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773936" y="3145536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89 ₴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322576" y="2953512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322576" y="296722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322576" y="3145536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113 ₴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871216" y="295351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2871216" y="296722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871216" y="3145536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118 ₴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341985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3419856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96849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3968496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51713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4517136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06577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5065775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61441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5614416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16305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6163055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711695" y="295351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6711695" y="296722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711695" y="3145536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124 ₴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260336" y="295351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7260336" y="296722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260336" y="3145536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100 ₴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80897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7808975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35761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8357615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979407" y="2953512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8979407" y="3044952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9546335" y="2953512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9546335" y="3044952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0186415" y="2953512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10186415" y="3044952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94 ₴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0936223" y="2953512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10936223" y="3044952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105–140 g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66928" y="340842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1773936" y="3323844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1773936" y="333756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773936" y="351586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2322576" y="3323844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2322576" y="333756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322576" y="351586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101 ₴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287121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2871216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341985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3419856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3968496" y="3323844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3968496" y="333756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3968496" y="351586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67 ₴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451713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4517136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06577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5065775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5614416" y="3323844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5614416" y="333756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5614416" y="351586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6163055" y="3323844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6163055" y="333756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163055" y="351586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671169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6711695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726033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7260336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80897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7808975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835761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8357615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8979407" y="3323844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8979407" y="341528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9546335" y="3323844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9546335" y="3415284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0186415" y="3323844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10186415" y="3415284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0936223" y="3323844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TextBox 219"/>
          <p:cNvSpPr txBox="1"/>
          <p:nvPr/>
        </p:nvSpPr>
        <p:spPr>
          <a:xfrm>
            <a:off x="10936223" y="3415284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67–130 g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566928" y="377875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773936" y="3694176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1773936" y="370789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773936" y="3886200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74 ₴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232257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TextBox 225"/>
          <p:cNvSpPr txBox="1"/>
          <p:nvPr/>
        </p:nvSpPr>
        <p:spPr>
          <a:xfrm>
            <a:off x="2322576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287121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2871216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341985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TextBox 229"/>
          <p:cNvSpPr txBox="1"/>
          <p:nvPr/>
        </p:nvSpPr>
        <p:spPr>
          <a:xfrm>
            <a:off x="3419856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3968496" y="3694176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TextBox 231"/>
          <p:cNvSpPr txBox="1"/>
          <p:nvPr/>
        </p:nvSpPr>
        <p:spPr>
          <a:xfrm>
            <a:off x="3968496" y="370789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3968496" y="3886200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80 ₴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451713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234"/>
          <p:cNvSpPr txBox="1"/>
          <p:nvPr/>
        </p:nvSpPr>
        <p:spPr>
          <a:xfrm>
            <a:off x="4517136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506577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5065775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561441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5614416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616305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TextBox 240"/>
          <p:cNvSpPr txBox="1"/>
          <p:nvPr/>
        </p:nvSpPr>
        <p:spPr>
          <a:xfrm>
            <a:off x="6163055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671169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TextBox 242"/>
          <p:cNvSpPr txBox="1"/>
          <p:nvPr/>
        </p:nvSpPr>
        <p:spPr>
          <a:xfrm>
            <a:off x="6711695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726033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7260336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780897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TextBox 246"/>
          <p:cNvSpPr txBox="1"/>
          <p:nvPr/>
        </p:nvSpPr>
        <p:spPr>
          <a:xfrm>
            <a:off x="7808975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835761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8357615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8979407" y="3694176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8979407" y="3785616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9546335" y="3694176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9546335" y="3785616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10186415" y="3694176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10186415" y="3785616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77 ₴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10936223" y="3694176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10936223" y="3785616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102–144 g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566928" y="414909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1773936" y="406450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TextBox 259"/>
          <p:cNvSpPr txBox="1"/>
          <p:nvPr/>
        </p:nvSpPr>
        <p:spPr>
          <a:xfrm>
            <a:off x="1773936" y="407822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773936" y="425653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86 ₴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232257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TextBox 262"/>
          <p:cNvSpPr txBox="1"/>
          <p:nvPr/>
        </p:nvSpPr>
        <p:spPr>
          <a:xfrm>
            <a:off x="232257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287121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TextBox 264"/>
          <p:cNvSpPr txBox="1"/>
          <p:nvPr/>
        </p:nvSpPr>
        <p:spPr>
          <a:xfrm>
            <a:off x="287121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341985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TextBox 266"/>
          <p:cNvSpPr txBox="1"/>
          <p:nvPr/>
        </p:nvSpPr>
        <p:spPr>
          <a:xfrm>
            <a:off x="341985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396849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TextBox 268"/>
          <p:cNvSpPr txBox="1"/>
          <p:nvPr/>
        </p:nvSpPr>
        <p:spPr>
          <a:xfrm>
            <a:off x="396849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451713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TextBox 270"/>
          <p:cNvSpPr txBox="1"/>
          <p:nvPr/>
        </p:nvSpPr>
        <p:spPr>
          <a:xfrm>
            <a:off x="451713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506577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TextBox 272"/>
          <p:cNvSpPr txBox="1"/>
          <p:nvPr/>
        </p:nvSpPr>
        <p:spPr>
          <a:xfrm>
            <a:off x="5065775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561441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TextBox 274"/>
          <p:cNvSpPr txBox="1"/>
          <p:nvPr/>
        </p:nvSpPr>
        <p:spPr>
          <a:xfrm>
            <a:off x="561441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616305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TextBox 276"/>
          <p:cNvSpPr txBox="1"/>
          <p:nvPr/>
        </p:nvSpPr>
        <p:spPr>
          <a:xfrm>
            <a:off x="6163055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671169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TextBox 278"/>
          <p:cNvSpPr txBox="1"/>
          <p:nvPr/>
        </p:nvSpPr>
        <p:spPr>
          <a:xfrm>
            <a:off x="6711695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726033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TextBox 280"/>
          <p:cNvSpPr txBox="1"/>
          <p:nvPr/>
        </p:nvSpPr>
        <p:spPr>
          <a:xfrm>
            <a:off x="726033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780897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TextBox 282"/>
          <p:cNvSpPr txBox="1"/>
          <p:nvPr/>
        </p:nvSpPr>
        <p:spPr>
          <a:xfrm>
            <a:off x="7808975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835761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TextBox 284"/>
          <p:cNvSpPr txBox="1"/>
          <p:nvPr/>
        </p:nvSpPr>
        <p:spPr>
          <a:xfrm>
            <a:off x="8357615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8979407" y="4064508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TextBox 286"/>
          <p:cNvSpPr txBox="1"/>
          <p:nvPr/>
        </p:nvSpPr>
        <p:spPr>
          <a:xfrm>
            <a:off x="8979407" y="4155948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9546335" y="4064508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TextBox 288"/>
          <p:cNvSpPr txBox="1"/>
          <p:nvPr/>
        </p:nvSpPr>
        <p:spPr>
          <a:xfrm>
            <a:off x="9546335" y="4155948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10186415" y="4064508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TextBox 290"/>
          <p:cNvSpPr txBox="1"/>
          <p:nvPr/>
        </p:nvSpPr>
        <p:spPr>
          <a:xfrm>
            <a:off x="10186415" y="4155948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86 ₴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10936223" y="4064508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TextBox 292"/>
          <p:cNvSpPr txBox="1"/>
          <p:nvPr/>
        </p:nvSpPr>
        <p:spPr>
          <a:xfrm>
            <a:off x="10936223" y="4155948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122–127 g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566928" y="451942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1773936" y="4434840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TextBox 295"/>
          <p:cNvSpPr txBox="1"/>
          <p:nvPr/>
        </p:nvSpPr>
        <p:spPr>
          <a:xfrm>
            <a:off x="1773936" y="444855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773936" y="4626864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232257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TextBox 298"/>
          <p:cNvSpPr txBox="1"/>
          <p:nvPr/>
        </p:nvSpPr>
        <p:spPr>
          <a:xfrm>
            <a:off x="232257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287121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TextBox 300"/>
          <p:cNvSpPr txBox="1"/>
          <p:nvPr/>
        </p:nvSpPr>
        <p:spPr>
          <a:xfrm>
            <a:off x="287121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341985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TextBox 302"/>
          <p:cNvSpPr txBox="1"/>
          <p:nvPr/>
        </p:nvSpPr>
        <p:spPr>
          <a:xfrm>
            <a:off x="341985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396849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TextBox 304"/>
          <p:cNvSpPr txBox="1"/>
          <p:nvPr/>
        </p:nvSpPr>
        <p:spPr>
          <a:xfrm>
            <a:off x="396849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51713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TextBox 306"/>
          <p:cNvSpPr txBox="1"/>
          <p:nvPr/>
        </p:nvSpPr>
        <p:spPr>
          <a:xfrm>
            <a:off x="451713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506577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TextBox 308"/>
          <p:cNvSpPr txBox="1"/>
          <p:nvPr/>
        </p:nvSpPr>
        <p:spPr>
          <a:xfrm>
            <a:off x="5065775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561441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TextBox 310"/>
          <p:cNvSpPr txBox="1"/>
          <p:nvPr/>
        </p:nvSpPr>
        <p:spPr>
          <a:xfrm>
            <a:off x="561441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616305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TextBox 312"/>
          <p:cNvSpPr txBox="1"/>
          <p:nvPr/>
        </p:nvSpPr>
        <p:spPr>
          <a:xfrm>
            <a:off x="6163055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671169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TextBox 314"/>
          <p:cNvSpPr txBox="1"/>
          <p:nvPr/>
        </p:nvSpPr>
        <p:spPr>
          <a:xfrm>
            <a:off x="6711695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726033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TextBox 316"/>
          <p:cNvSpPr txBox="1"/>
          <p:nvPr/>
        </p:nvSpPr>
        <p:spPr>
          <a:xfrm>
            <a:off x="726033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780897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TextBox 318"/>
          <p:cNvSpPr txBox="1"/>
          <p:nvPr/>
        </p:nvSpPr>
        <p:spPr>
          <a:xfrm>
            <a:off x="7808975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835761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TextBox 320"/>
          <p:cNvSpPr txBox="1"/>
          <p:nvPr/>
        </p:nvSpPr>
        <p:spPr>
          <a:xfrm>
            <a:off x="8357615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8979407" y="4434840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TextBox 322"/>
          <p:cNvSpPr txBox="1"/>
          <p:nvPr/>
        </p:nvSpPr>
        <p:spPr>
          <a:xfrm>
            <a:off x="8979407" y="4526280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9546335" y="4434840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TextBox 324"/>
          <p:cNvSpPr txBox="1"/>
          <p:nvPr/>
        </p:nvSpPr>
        <p:spPr>
          <a:xfrm>
            <a:off x="9546335" y="4526280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10186415" y="4434840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TextBox 326"/>
          <p:cNvSpPr txBox="1"/>
          <p:nvPr/>
        </p:nvSpPr>
        <p:spPr>
          <a:xfrm>
            <a:off x="10186415" y="4526280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10936223" y="4434840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TextBox 328"/>
          <p:cNvSpPr txBox="1"/>
          <p:nvPr/>
        </p:nvSpPr>
        <p:spPr>
          <a:xfrm>
            <a:off x="10936223" y="4526280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120 g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566928" y="488975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fire bull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177393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TextBox 331"/>
          <p:cNvSpPr txBox="1"/>
          <p:nvPr/>
        </p:nvSpPr>
        <p:spPr>
          <a:xfrm>
            <a:off x="177393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232257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4" name="TextBox 333"/>
          <p:cNvSpPr txBox="1"/>
          <p:nvPr/>
        </p:nvSpPr>
        <p:spPr>
          <a:xfrm>
            <a:off x="232257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2871216" y="480517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6" name="TextBox 335"/>
          <p:cNvSpPr txBox="1"/>
          <p:nvPr/>
        </p:nvSpPr>
        <p:spPr>
          <a:xfrm>
            <a:off x="2871216" y="481888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871216" y="4997196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78 ₴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341985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TextBox 338"/>
          <p:cNvSpPr txBox="1"/>
          <p:nvPr/>
        </p:nvSpPr>
        <p:spPr>
          <a:xfrm>
            <a:off x="341985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396849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TextBox 340"/>
          <p:cNvSpPr txBox="1"/>
          <p:nvPr/>
        </p:nvSpPr>
        <p:spPr>
          <a:xfrm>
            <a:off x="396849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451713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TextBox 342"/>
          <p:cNvSpPr txBox="1"/>
          <p:nvPr/>
        </p:nvSpPr>
        <p:spPr>
          <a:xfrm>
            <a:off x="451713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4" name="Rectangle 343"/>
          <p:cNvSpPr/>
          <p:nvPr/>
        </p:nvSpPr>
        <p:spPr>
          <a:xfrm>
            <a:off x="506577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5" name="TextBox 344"/>
          <p:cNvSpPr txBox="1"/>
          <p:nvPr/>
        </p:nvSpPr>
        <p:spPr>
          <a:xfrm>
            <a:off x="5065775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561441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TextBox 346"/>
          <p:cNvSpPr txBox="1"/>
          <p:nvPr/>
        </p:nvSpPr>
        <p:spPr>
          <a:xfrm>
            <a:off x="561441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616305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9" name="TextBox 348"/>
          <p:cNvSpPr txBox="1"/>
          <p:nvPr/>
        </p:nvSpPr>
        <p:spPr>
          <a:xfrm>
            <a:off x="6163055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671169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TextBox 350"/>
          <p:cNvSpPr txBox="1"/>
          <p:nvPr/>
        </p:nvSpPr>
        <p:spPr>
          <a:xfrm>
            <a:off x="6711695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726033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TextBox 352"/>
          <p:cNvSpPr txBox="1"/>
          <p:nvPr/>
        </p:nvSpPr>
        <p:spPr>
          <a:xfrm>
            <a:off x="726033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780897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TextBox 354"/>
          <p:cNvSpPr txBox="1"/>
          <p:nvPr/>
        </p:nvSpPr>
        <p:spPr>
          <a:xfrm>
            <a:off x="7808975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6" name="Rectangle 355"/>
          <p:cNvSpPr/>
          <p:nvPr/>
        </p:nvSpPr>
        <p:spPr>
          <a:xfrm>
            <a:off x="835761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7" name="TextBox 356"/>
          <p:cNvSpPr txBox="1"/>
          <p:nvPr/>
        </p:nvSpPr>
        <p:spPr>
          <a:xfrm>
            <a:off x="8357615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8979407" y="4805172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9" name="TextBox 358"/>
          <p:cNvSpPr txBox="1"/>
          <p:nvPr/>
        </p:nvSpPr>
        <p:spPr>
          <a:xfrm>
            <a:off x="8979407" y="4896612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60" name="Rectangle 359"/>
          <p:cNvSpPr/>
          <p:nvPr/>
        </p:nvSpPr>
        <p:spPr>
          <a:xfrm>
            <a:off x="9546335" y="4805172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1" name="TextBox 360"/>
          <p:cNvSpPr txBox="1"/>
          <p:nvPr/>
        </p:nvSpPr>
        <p:spPr>
          <a:xfrm>
            <a:off x="9546335" y="4896612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10186415" y="4805172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3" name="TextBox 362"/>
          <p:cNvSpPr txBox="1"/>
          <p:nvPr/>
        </p:nvSpPr>
        <p:spPr>
          <a:xfrm>
            <a:off x="10186415" y="4896612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78 ₴</a:t>
            </a:r>
          </a:p>
        </p:txBody>
      </p:sp>
      <p:sp>
        <p:nvSpPr>
          <p:cNvPr id="364" name="Rectangle 363"/>
          <p:cNvSpPr/>
          <p:nvPr/>
        </p:nvSpPr>
        <p:spPr>
          <a:xfrm>
            <a:off x="10936223" y="4805172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TextBox 364"/>
          <p:cNvSpPr txBox="1"/>
          <p:nvPr/>
        </p:nvSpPr>
        <p:spPr>
          <a:xfrm>
            <a:off x="10936223" y="4896612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137.8 g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566928" y="526008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Choi’s (SIAS)</a:t>
            </a:r>
          </a:p>
        </p:txBody>
      </p:sp>
      <p:sp>
        <p:nvSpPr>
          <p:cNvPr id="367" name="Rectangle 366"/>
          <p:cNvSpPr/>
          <p:nvPr/>
        </p:nvSpPr>
        <p:spPr>
          <a:xfrm>
            <a:off x="177393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8" name="TextBox 367"/>
          <p:cNvSpPr txBox="1"/>
          <p:nvPr/>
        </p:nvSpPr>
        <p:spPr>
          <a:xfrm>
            <a:off x="177393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69" name="Rectangle 368"/>
          <p:cNvSpPr/>
          <p:nvPr/>
        </p:nvSpPr>
        <p:spPr>
          <a:xfrm>
            <a:off x="232257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0" name="TextBox 369"/>
          <p:cNvSpPr txBox="1"/>
          <p:nvPr/>
        </p:nvSpPr>
        <p:spPr>
          <a:xfrm>
            <a:off x="232257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1" name="Rectangle 370"/>
          <p:cNvSpPr/>
          <p:nvPr/>
        </p:nvSpPr>
        <p:spPr>
          <a:xfrm>
            <a:off x="287121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2" name="TextBox 371"/>
          <p:cNvSpPr txBox="1"/>
          <p:nvPr/>
        </p:nvSpPr>
        <p:spPr>
          <a:xfrm>
            <a:off x="287121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3" name="Rectangle 372"/>
          <p:cNvSpPr/>
          <p:nvPr/>
        </p:nvSpPr>
        <p:spPr>
          <a:xfrm>
            <a:off x="341985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4" name="TextBox 373"/>
          <p:cNvSpPr txBox="1"/>
          <p:nvPr/>
        </p:nvSpPr>
        <p:spPr>
          <a:xfrm>
            <a:off x="341985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5" name="Rectangle 374"/>
          <p:cNvSpPr/>
          <p:nvPr/>
        </p:nvSpPr>
        <p:spPr>
          <a:xfrm>
            <a:off x="396849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6" name="TextBox 375"/>
          <p:cNvSpPr txBox="1"/>
          <p:nvPr/>
        </p:nvSpPr>
        <p:spPr>
          <a:xfrm>
            <a:off x="396849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7" name="Rectangle 376"/>
          <p:cNvSpPr/>
          <p:nvPr/>
        </p:nvSpPr>
        <p:spPr>
          <a:xfrm>
            <a:off x="451713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8" name="TextBox 377"/>
          <p:cNvSpPr txBox="1"/>
          <p:nvPr/>
        </p:nvSpPr>
        <p:spPr>
          <a:xfrm>
            <a:off x="451713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9" name="Rectangle 378"/>
          <p:cNvSpPr/>
          <p:nvPr/>
        </p:nvSpPr>
        <p:spPr>
          <a:xfrm>
            <a:off x="506577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0" name="TextBox 379"/>
          <p:cNvSpPr txBox="1"/>
          <p:nvPr/>
        </p:nvSpPr>
        <p:spPr>
          <a:xfrm>
            <a:off x="5065775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81" name="Rectangle 380"/>
          <p:cNvSpPr/>
          <p:nvPr/>
        </p:nvSpPr>
        <p:spPr>
          <a:xfrm>
            <a:off x="5614416" y="5175504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2" name="TextBox 381"/>
          <p:cNvSpPr txBox="1"/>
          <p:nvPr/>
        </p:nvSpPr>
        <p:spPr>
          <a:xfrm>
            <a:off x="5614416" y="518922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5614416" y="536752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384" name="Rectangle 383"/>
          <p:cNvSpPr/>
          <p:nvPr/>
        </p:nvSpPr>
        <p:spPr>
          <a:xfrm>
            <a:off x="6163055" y="5175504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5" name="TextBox 384"/>
          <p:cNvSpPr txBox="1"/>
          <p:nvPr/>
        </p:nvSpPr>
        <p:spPr>
          <a:xfrm>
            <a:off x="6163055" y="518922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6163055" y="536752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387" name="Rectangle 386"/>
          <p:cNvSpPr/>
          <p:nvPr/>
        </p:nvSpPr>
        <p:spPr>
          <a:xfrm>
            <a:off x="671169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8" name="TextBox 387"/>
          <p:cNvSpPr txBox="1"/>
          <p:nvPr/>
        </p:nvSpPr>
        <p:spPr>
          <a:xfrm>
            <a:off x="6711695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726033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0" name="TextBox 389"/>
          <p:cNvSpPr txBox="1"/>
          <p:nvPr/>
        </p:nvSpPr>
        <p:spPr>
          <a:xfrm>
            <a:off x="726033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780897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2" name="TextBox 391"/>
          <p:cNvSpPr txBox="1"/>
          <p:nvPr/>
        </p:nvSpPr>
        <p:spPr>
          <a:xfrm>
            <a:off x="7808975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93" name="Rectangle 392"/>
          <p:cNvSpPr/>
          <p:nvPr/>
        </p:nvSpPr>
        <p:spPr>
          <a:xfrm>
            <a:off x="835761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4" name="TextBox 393"/>
          <p:cNvSpPr txBox="1"/>
          <p:nvPr/>
        </p:nvSpPr>
        <p:spPr>
          <a:xfrm>
            <a:off x="8357615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8979407" y="5175504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6" name="TextBox 395"/>
          <p:cNvSpPr txBox="1"/>
          <p:nvPr/>
        </p:nvSpPr>
        <p:spPr>
          <a:xfrm>
            <a:off x="8979407" y="526694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97" name="Rectangle 396"/>
          <p:cNvSpPr/>
          <p:nvPr/>
        </p:nvSpPr>
        <p:spPr>
          <a:xfrm>
            <a:off x="9546335" y="5175504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8" name="TextBox 397"/>
          <p:cNvSpPr txBox="1"/>
          <p:nvPr/>
        </p:nvSpPr>
        <p:spPr>
          <a:xfrm>
            <a:off x="9546335" y="5266944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399" name="Rectangle 398"/>
          <p:cNvSpPr/>
          <p:nvPr/>
        </p:nvSpPr>
        <p:spPr>
          <a:xfrm>
            <a:off x="10186415" y="5175504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TextBox 399"/>
          <p:cNvSpPr txBox="1"/>
          <p:nvPr/>
        </p:nvSpPr>
        <p:spPr>
          <a:xfrm>
            <a:off x="10186415" y="5266944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401" name="Rectangle 400"/>
          <p:cNvSpPr/>
          <p:nvPr/>
        </p:nvSpPr>
        <p:spPr>
          <a:xfrm>
            <a:off x="10936223" y="5175504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2" name="TextBox 401"/>
          <p:cNvSpPr txBox="1"/>
          <p:nvPr/>
        </p:nvSpPr>
        <p:spPr>
          <a:xfrm>
            <a:off x="10936223" y="5266944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131 g</a:t>
            </a:r>
          </a:p>
        </p:txBody>
      </p:sp>
      <p:sp>
        <p:nvSpPr>
          <p:cNvPr id="403" name="Rectangle 402"/>
          <p:cNvSpPr/>
          <p:nvPr/>
        </p:nvSpPr>
        <p:spPr>
          <a:xfrm>
            <a:off x="1755648" y="5564124"/>
            <a:ext cx="10076688" cy="109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4" name="TextBox 403"/>
          <p:cNvSpPr txBox="1"/>
          <p:nvPr/>
        </p:nvSpPr>
        <p:spPr>
          <a:xfrm>
            <a:off x="566928" y="565556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 lang="en-US">
                <a:solidFill>
                  <a:srgbClr val="C4820A"/>
                </a:solidFill>
                <a:latin typeface="Segoe UI"/>
              </a:rPr>
              <a:t>TOTAL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175564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60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175564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89 ₴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230428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24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230428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126 ₴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285292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24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285292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114 ₴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340156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12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340156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108 ₴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395020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14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395020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88 ₴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449884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13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449884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137 ₴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504748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13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504748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137 ₴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559612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12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559612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122 ₴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614476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12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614476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122 ₴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6693407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8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6693407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134 ₴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724204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6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724204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120 ₴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779068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2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779068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102 ₴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8339327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4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8339327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114 ₴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8979407" y="5710428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93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9546335" y="5710428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13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10186415" y="5710428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103 ₴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10936223" y="5710428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C4820A"/>
                </a:solidFill>
                <a:latin typeface="Segoe UI"/>
              </a:rPr>
              <a:t>62–145 g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 lang="en-US">
                <a:solidFill>
                  <a:srgbClr val="9FA9C4"/>
                </a:solidFill>
                <a:latin typeface="Segoe UI"/>
              </a:rPr>
              <a:t>Chain catalogues (zakaz.ua) and Silpo, 29 Sep 2026. Cell = unique EANs × median price across the chain's stores. Silpo: 4 SKUs without EAN (3 Samyang, 1 Nongshim); 93 = 89 SKUs with EAN + 4 Silpo. Weight = min–max pack of the brand.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FORMAT × WEIGHT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Where the shelf is really dense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 lang="en-US">
                <a:solidFill>
                  <a:srgbClr val="717890"/>
                </a:solidFill>
                <a:latin typeface="Segoe UI"/>
              </a:rPr>
              <a:t>SKU count and median pack price by weight band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09344"/>
            <a:ext cx="146304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591056"/>
            <a:ext cx="4343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 lang="en-US">
                <a:solidFill>
                  <a:srgbClr val="303A5D"/>
                </a:solidFill>
                <a:latin typeface="Segoe UI"/>
              </a:rPr>
              <a:t>Pack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31036" y="1609344"/>
            <a:ext cx="146304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32204" y="1591056"/>
            <a:ext cx="50291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 lang="en-US">
                <a:solidFill>
                  <a:srgbClr val="303A5D"/>
                </a:solidFill>
                <a:latin typeface="Segoe UI"/>
              </a:rPr>
              <a:t>Cup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874519"/>
            <a:ext cx="6217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 lang="en-US">
                <a:solidFill>
                  <a:srgbClr val="303A5D"/>
                </a:solidFill>
                <a:latin typeface="Segoe UI"/>
              </a:rPr>
              <a:t>SKUs IN WEIGHT BAND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1874519"/>
            <a:ext cx="3108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 lang="en-US">
                <a:solidFill>
                  <a:srgbClr val="303A5D"/>
                </a:solidFill>
                <a:latin typeface="Segoe UI"/>
              </a:rPr>
              <a:t>MEDIAN PACK PRICE, 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310127"/>
            <a:ext cx="11064240" cy="1133856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236829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 lang="en-US">
                <a:solidFill>
                  <a:srgbClr val="303A5D"/>
                </a:solidFill>
                <a:latin typeface="Segoe UI"/>
              </a:rPr>
              <a:t>40–90 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74519" y="2304288"/>
            <a:ext cx="1759016" cy="34747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74519" y="2377440"/>
            <a:ext cx="17590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4976" y="237744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17  ·  19 %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35240" y="2304288"/>
            <a:ext cx="1952243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35240" y="2377440"/>
            <a:ext cx="18425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105 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93522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 lang="en-US">
                <a:solidFill>
                  <a:srgbClr val="303A5D"/>
                </a:solidFill>
                <a:latin typeface="Segoe UI"/>
              </a:rPr>
              <a:t>90–110 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4519" y="2871216"/>
            <a:ext cx="827772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874519" y="2944368"/>
            <a:ext cx="8277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3732" y="294436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8  ·  9 %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35240" y="2871216"/>
            <a:ext cx="1877872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35240" y="2944368"/>
            <a:ext cx="17681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101 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502151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 lang="en-US">
                <a:solidFill>
                  <a:srgbClr val="303A5D"/>
                </a:solidFill>
                <a:latin typeface="Segoe UI"/>
              </a:rPr>
              <a:t>110–125 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74519" y="3438144"/>
            <a:ext cx="3621505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874519" y="3511296"/>
            <a:ext cx="362150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35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96025" y="3438144"/>
            <a:ext cx="103471" cy="34747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90936" y="351129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36  ·  40 %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35240" y="3438144"/>
            <a:ext cx="1729130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35240" y="3511296"/>
            <a:ext cx="161940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93 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4069080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 lang="en-US">
                <a:solidFill>
                  <a:srgbClr val="303A5D"/>
                </a:solidFill>
                <a:latin typeface="Segoe UI"/>
              </a:rPr>
              <a:t>125–145 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74519" y="4005072"/>
            <a:ext cx="2793732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874519" y="4078224"/>
            <a:ext cx="27937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9692" y="4078224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27  ·  30 %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35240" y="4005072"/>
            <a:ext cx="2082393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35240" y="4078224"/>
            <a:ext cx="197266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112 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63600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 lang="en-US">
                <a:solidFill>
                  <a:srgbClr val="303A5D"/>
                </a:solidFill>
                <a:latin typeface="Segoe UI"/>
              </a:rPr>
              <a:t>145 g 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4519" y="4572000"/>
            <a:ext cx="103471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069431" y="464515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  ·  1 %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35240" y="4572000"/>
            <a:ext cx="2510028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35240" y="4645152"/>
            <a:ext cx="24003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135 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60889" y="2176272"/>
            <a:ext cx="12801" cy="28712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454896" y="5065776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 lang="en-US">
                <a:solidFill>
                  <a:srgbClr val="B53A3A"/>
                </a:solidFill>
                <a:latin typeface="Segoe UI"/>
              </a:rPr>
              <a:t>120 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61320" y="3739896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 spc="-10" lang="en-US">
                <a:solidFill>
                  <a:srgbClr val="C4820A"/>
                </a:solidFill>
                <a:latin typeface="Segoe UI"/>
              </a:rPr>
              <a:t>our SKUs:</a:t>
            </a:r>
          </a:p>
          <a:p>
            <a:pPr algn="ctr">
              <a:lnSpc>
                <a:spcPct val="110000"/>
              </a:lnSpc>
            </a:pPr>
            <a:r>
              <a:rPr sz="850" b="1" spc="-10" lang="en-US">
                <a:solidFill>
                  <a:srgbClr val="C4820A"/>
                </a:solidFill>
                <a:latin typeface="Segoe UI"/>
              </a:rPr>
              <a:t>112.5–131 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5614416"/>
            <a:ext cx="5413248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66928" y="5614416"/>
            <a:ext cx="41148" cy="78638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41247" y="5779007"/>
            <a:ext cx="48646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OUR SKU WEIGHT IS IN LINE WITH THE MARKET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7" y="6053327"/>
            <a:ext cx="4864608" cy="182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 lang="en-US">
                <a:solidFill>
                  <a:srgbClr val="717890"/>
                </a:solidFill>
                <a:latin typeface="Segoe UI"/>
              </a:rPr>
              <a:t>112.5–131 g falls into the two densest bands: 70 % of all SKUs on the market.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5614416"/>
            <a:ext cx="5413248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217920" y="5614416"/>
            <a:ext cx="41148" cy="78638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92240" y="5779007"/>
            <a:ext cx="48646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OUR SKU PRICE VS THESE BANDS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6053327"/>
            <a:ext cx="4864608" cy="182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 lang="en-US">
                <a:solidFill>
                  <a:srgbClr val="717890"/>
                </a:solidFill>
                <a:latin typeface="Segoe UI"/>
              </a:rPr>
              <a:t>At a 120 ₴ shelf price our SKUs are 29 % above the median of the 110–125 g band (93 ₴); at the current 140.55 ₴ they are 51 % above.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RETAIL AUDIT · CHAINS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What Korean ramen is on shelf in the chains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 lang="en-US">
                <a:solidFill>
                  <a:srgbClr val="717890"/>
                </a:solidFill>
                <a:latin typeface="Segoe UI"/>
              </a:rPr>
              <a:t>Full check of the online catalogues of 18 chains, snapshot of 29 Sep 2026. SKU = unique Korean ramen listings in the chain catalogue.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17904"/>
            <a:ext cx="146304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85569" y="1517904"/>
            <a:ext cx="146304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86737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9191" y="1517904"/>
            <a:ext cx="146304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80360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47872" y="1517904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49039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91532" y="1517904"/>
            <a:ext cx="146304" cy="12801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92700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35193" y="1517904"/>
            <a:ext cx="146304" cy="12801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36361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78854" y="1517904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0022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47534" y="1517904"/>
            <a:ext cx="146304" cy="12801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48702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Choi's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1499616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 lang="en-US">
                <a:solidFill>
                  <a:srgbClr val="717890"/>
                </a:solidFill>
                <a:latin typeface="Segoe UI"/>
              </a:rPr>
              <a:t>PACK PRICE, ₴: min–max (line) · median (marker)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1847088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188823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Auchan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65960" y="1892807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965960" y="1903780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NAT.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88920" y="1883664"/>
            <a:ext cx="84582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88920" y="1894636"/>
            <a:ext cx="8458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43884" y="1883664"/>
            <a:ext cx="644652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43884" y="1894636"/>
            <a:ext cx="64465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1883664"/>
            <a:ext cx="594360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97680" y="1894636"/>
            <a:ext cx="5943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01184" y="1883664"/>
            <a:ext cx="443484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01184" y="1894636"/>
            <a:ext cx="443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53812" y="1883664"/>
            <a:ext cx="192024" cy="16642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53812" y="1894636"/>
            <a:ext cx="1920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54980" y="1883664"/>
            <a:ext cx="192024" cy="166420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554980" y="1894636"/>
            <a:ext cx="1920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56148" y="1883664"/>
            <a:ext cx="41148" cy="16642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852159" y="188823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60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45780" y="1953158"/>
            <a:ext cx="2296668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520684" y="1888236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497312" y="1888236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65–202 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27080" y="1888236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213695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965960" y="2141524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965960" y="2152497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REG.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88920" y="2132380"/>
            <a:ext cx="544068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788920" y="2143353"/>
            <a:ext cx="54406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42132" y="2132380"/>
            <a:ext cx="493776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342132" y="2143353"/>
            <a:ext cx="49377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45052" y="2132380"/>
            <a:ext cx="91440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945636" y="2132380"/>
            <a:ext cx="41148" cy="16642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041648" y="213695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79307" y="2201875"/>
            <a:ext cx="1525524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939784" y="2136952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759696" y="213695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67–158 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27080" y="2136952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114 ₴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" y="2344521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40080" y="2385669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965960" y="2390241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965960" y="2401214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REG.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88920" y="2381097"/>
            <a:ext cx="443484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788920" y="2392070"/>
            <a:ext cx="443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41548" y="2381097"/>
            <a:ext cx="393192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241548" y="2392070"/>
            <a:ext cx="3931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43884" y="2381097"/>
            <a:ext cx="292608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643884" y="2392070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945635" y="2381097"/>
            <a:ext cx="41148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041647" y="2385669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263127" y="2450592"/>
            <a:ext cx="2296668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140952" y="2385669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614660" y="2385669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72–209 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927080" y="2385669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126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263438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Zaraz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965960" y="2638958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965960" y="2649931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NAT.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88920" y="2629814"/>
            <a:ext cx="342900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2788920" y="2640787"/>
            <a:ext cx="3429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140963" y="2629814"/>
            <a:ext cx="192024" cy="16642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140963" y="2640787"/>
            <a:ext cx="1920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42132" y="2629814"/>
            <a:ext cx="141732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538727" y="263438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179307" y="2699308"/>
            <a:ext cx="955547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8503919" y="2634386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189719" y="2634386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67–124 ₴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927080" y="2634386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88 ₴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66928" y="2841955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40080" y="2883103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Klass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965960" y="2887675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965960" y="2898648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REG.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88920" y="2878531"/>
            <a:ext cx="342900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2788920" y="2889504"/>
            <a:ext cx="3429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40963" y="2878531"/>
            <a:ext cx="292608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140963" y="2889504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488435" y="2883103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017508" y="2948025"/>
            <a:ext cx="67055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9325356" y="2883103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742932" y="2883103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117–157 ₴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927080" y="2883103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137 ₴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0080" y="313182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Vostorg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965960" y="3136391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965960" y="3147364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REG.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788920" y="3127248"/>
            <a:ext cx="342900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788920" y="3138220"/>
            <a:ext cx="3429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140963" y="3127248"/>
            <a:ext cx="292608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3140963" y="3138220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488435" y="313182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017508" y="3196742"/>
            <a:ext cx="67055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9325356" y="3131820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9742932" y="313182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117–157 ₴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927080" y="3131820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137 ₴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66928" y="3339388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40080" y="338053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Kosmos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965960" y="3385108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965960" y="3396081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REG.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788920" y="3375964"/>
            <a:ext cx="292608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2788920" y="3386937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090672" y="3375964"/>
            <a:ext cx="141732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241548" y="3375964"/>
            <a:ext cx="9144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3342132" y="3375964"/>
            <a:ext cx="41148" cy="1664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3438144" y="338053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726679" y="3445459"/>
            <a:ext cx="184403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9073896" y="3380536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9625583" y="3380536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40–150 ₴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927080" y="3380536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122 ₴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40080" y="3629253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965960" y="3633825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1965960" y="3644798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NAT.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788920" y="3624681"/>
            <a:ext cx="59436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2788920" y="3635654"/>
            <a:ext cx="5943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438144" y="3629253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698991" y="3694176"/>
            <a:ext cx="1123188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8839200" y="3629253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9877044" y="3629253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98–165 ₴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927080" y="3629253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108 ₴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66928" y="3836822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640080" y="387797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Tavria V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965960" y="3882542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1965960" y="3893515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REG.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788920" y="3873398"/>
            <a:ext cx="292608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788920" y="3884371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090672" y="3873398"/>
            <a:ext cx="141732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3241548" y="3873398"/>
            <a:ext cx="9144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3342132" y="3873398"/>
            <a:ext cx="41148" cy="1664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3438144" y="387797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726679" y="3942892"/>
            <a:ext cx="184403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9073896" y="3877970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9625583" y="387797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34–150 ₴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927080" y="3877970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122 ₴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40080" y="4126687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1965960" y="4131259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1965960" y="4142232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NAT.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788920" y="4122115"/>
            <a:ext cx="192024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2788920" y="4133087"/>
            <a:ext cx="1920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990088" y="4122115"/>
            <a:ext cx="141732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3140964" y="4122115"/>
            <a:ext cx="41148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3236976" y="4126687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9051036" y="4191609"/>
            <a:ext cx="108965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9275064" y="4126687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10195560" y="4126687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119–184 ₴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0927080" y="4126687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134 ₴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66928" y="4334256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640080" y="4375404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ChudoMarket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965960" y="4379976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1965960" y="4390948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REG.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788920" y="4370832"/>
            <a:ext cx="141732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2939796" y="4370832"/>
            <a:ext cx="9144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3040379" y="4370832"/>
            <a:ext cx="41148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3136391" y="437540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8732519" y="4440326"/>
            <a:ext cx="569975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9040368" y="4375404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9357360" y="4375404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100–134 ₴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927080" y="4375404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120 ₴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40080" y="462412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Silpo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1965960" y="4628692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1965960" y="4639665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NAT.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2788920" y="4619548"/>
            <a:ext cx="141732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2939796" y="4619548"/>
            <a:ext cx="41148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3035808" y="462412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564879" y="4689043"/>
            <a:ext cx="1827275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8939784" y="4624120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10447019" y="462412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90–199 ₴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0927080" y="4624120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114 ₴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566928" y="4831689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640080" y="4872837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Torba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1965960" y="4877409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1965960" y="4888382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REG.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788920" y="4868265"/>
            <a:ext cx="91440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2935223" y="4872837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8615171" y="4937760"/>
            <a:ext cx="301752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Rectangle 195"/>
          <p:cNvSpPr/>
          <p:nvPr/>
        </p:nvSpPr>
        <p:spPr>
          <a:xfrm>
            <a:off x="8738616" y="4872837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8971788" y="4872837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93–111 ₴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0927080" y="4872837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102 ₴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566928" y="5080406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640080" y="5121554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 lang="en-US">
                <a:solidFill>
                  <a:srgbClr val="717890"/>
                </a:solidFill>
                <a:latin typeface="Segoe UI"/>
              </a:rPr>
              <a:t>MegaMarket · Ultramarket · EKO · Epicentr · Ideal — 0 SKUs in the snapshot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9060484" y="1819656"/>
            <a:ext cx="14630" cy="327903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8610600" y="1719072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B53A3A"/>
                </a:solidFill>
                <a:latin typeface="Segoe UI"/>
              </a:rPr>
              <a:t>120 ₴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0561320" y="1719072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 lang="en-US">
                <a:solidFill>
                  <a:srgbClr val="717890"/>
                </a:solidFill>
                <a:latin typeface="Segoe UI"/>
              </a:rPr>
              <a:t>MEDIAN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566928" y="5961888"/>
            <a:ext cx="3547872" cy="80467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ectangle 204"/>
          <p:cNvSpPr/>
          <p:nvPr/>
        </p:nvSpPr>
        <p:spPr>
          <a:xfrm>
            <a:off x="566928" y="5961888"/>
            <a:ext cx="41148" cy="80467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841247" y="6126479"/>
            <a:ext cx="299923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GAP #1 · SILPO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841247" y="6400800"/>
            <a:ext cx="2999232" cy="201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The largest chain in the country carries 4 SKUs. The shelf is open, but entry prices there are 90–199 ₴.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4315968" y="5961888"/>
            <a:ext cx="3547872" cy="80467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Rectangle 208"/>
          <p:cNvSpPr/>
          <p:nvPr/>
        </p:nvSpPr>
        <p:spPr>
          <a:xfrm>
            <a:off x="4315968" y="5961888"/>
            <a:ext cx="41148" cy="80467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4590288" y="6126479"/>
            <a:ext cx="299923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GAP #2 · FIVE CHAINS WITH ZERO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4590288" y="6400800"/>
            <a:ext cx="2999232" cy="201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MegaMarket, Ultramarket, EKO, Epicentr, Ideal — no SKUs in the snapshot.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8065008" y="5961888"/>
            <a:ext cx="3566160" cy="80467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Rectangle 212"/>
          <p:cNvSpPr/>
          <p:nvPr/>
        </p:nvSpPr>
        <p:spPr>
          <a:xfrm>
            <a:off x="8065008" y="5961888"/>
            <a:ext cx="41148" cy="8046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8339328" y="6126479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ONE SUPPLIER FOR TWO CHAINS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8339328" y="6400800"/>
            <a:ext cx="3017520" cy="201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Kosmos and Tavria V — 12 SKUs each; all 12 match by EAN.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CHANNELS · PRICES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price by channel vs our current shelf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 lang="en-US">
                <a:solidFill>
                  <a:srgbClr val="717890"/>
                </a:solidFill>
                <a:latin typeface="Segoe UI"/>
              </a:rPr>
              <a:t>Min–max (line), 25–75 % of offers (box), median (tick) · pack price, ₴ · bands = our current shelf price under the two purchase-price options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286000"/>
            <a:ext cx="11064240" cy="5486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3419856"/>
            <a:ext cx="11064240" cy="5486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4553712"/>
            <a:ext cx="11064240" cy="5486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85674" y="2240280"/>
            <a:ext cx="735980" cy="3447287"/>
          </a:xfrm>
          <a:prstGeom prst="rect">
            <a:avLst/>
          </a:prstGeom>
          <a:solidFill>
            <a:srgbClr val="FD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50099" y="2240280"/>
            <a:ext cx="945892" cy="3447287"/>
          </a:xfrm>
          <a:prstGeom prst="rect">
            <a:avLst/>
          </a:prstGeom>
          <a:solidFill>
            <a:srgbClr val="F6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06324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8892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40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396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6964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468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5036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0540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3108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8612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1180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6684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9252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4756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7324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2828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5396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900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34679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8972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1540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1828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 lang="en-US">
                <a:solidFill>
                  <a:srgbClr val="717890"/>
                </a:solidFill>
                <a:latin typeface="Segoe UI"/>
              </a:rPr>
              <a:t>OFFERS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52760" y="1828800"/>
            <a:ext cx="978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 lang="en-US">
                <a:solidFill>
                  <a:srgbClr val="717890"/>
                </a:solidFill>
                <a:latin typeface="Segoe UI"/>
              </a:rPr>
              <a:t>UP TO 120 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368296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303A5D"/>
                </a:solidFill>
                <a:latin typeface="Segoe UI"/>
              </a:rPr>
              <a:t>National chains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" y="2569464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5 chains · Auchan, METRO, NOVUS…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14140" y="2546604"/>
            <a:ext cx="4645914" cy="45720"/>
          </a:xfrm>
          <a:prstGeom prst="rect">
            <a:avLst/>
          </a:prstGeom>
          <a:solidFill>
            <a:srgbClr val="828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549762" y="2459736"/>
            <a:ext cx="965771" cy="219456"/>
          </a:xfrm>
          <a:prstGeom prst="rect">
            <a:avLst/>
          </a:prstGeom>
          <a:solidFill>
            <a:srgbClr val="4F57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23739" y="2414016"/>
            <a:ext cx="36576" cy="31089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6267" y="2295144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33206" y="248716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202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46920" y="246888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2468880"/>
            <a:ext cx="9784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85 %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2935224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303A5D"/>
                </a:solidFill>
                <a:latin typeface="Segoe UI"/>
              </a:rPr>
              <a:t>Regional chains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" y="313639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8 chains · Grono, Onde, Kosmos…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63240" y="3113532"/>
            <a:ext cx="5752084" cy="45720"/>
          </a:xfrm>
          <a:prstGeom prst="rect">
            <a:avLst/>
          </a:prstGeom>
          <a:solidFill>
            <a:srgbClr val="8B9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470436" y="3026664"/>
            <a:ext cx="1084046" cy="219456"/>
          </a:xfrm>
          <a:prstGeom prst="rect">
            <a:avLst/>
          </a:prstGeom>
          <a:solidFill>
            <a:srgbClr val="5A7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938012" y="2980944"/>
            <a:ext cx="36576" cy="31089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590540" y="2862072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88476" y="3054096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209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46920" y="303580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106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52760" y="3035808"/>
            <a:ext cx="9784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41 %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" y="350215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303A5D"/>
                </a:solidFill>
                <a:latin typeface="Segoe UI"/>
              </a:rPr>
              <a:t>Sushi Povar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6" y="370332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food shop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31312" y="3680459"/>
            <a:ext cx="3301492" cy="45720"/>
          </a:xfrm>
          <a:prstGeom prst="rect">
            <a:avLst/>
          </a:prstGeom>
          <a:solidFill>
            <a:srgbClr val="78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731004" y="3593591"/>
            <a:ext cx="918971" cy="219456"/>
          </a:xfrm>
          <a:prstGeom prst="rect">
            <a:avLst/>
          </a:prstGeom>
          <a:solidFill>
            <a:srgbClr val="3FAC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053076" y="3547872"/>
            <a:ext cx="36576" cy="3108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705604" y="3429000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99 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05956" y="3621024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46920" y="36027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77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52760" y="3602736"/>
            <a:ext cx="9784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90 %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" y="4069079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Asia Foods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6656" y="4270247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food shop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41852" y="4247387"/>
            <a:ext cx="4016248" cy="45720"/>
          </a:xfrm>
          <a:prstGeom prst="rect">
            <a:avLst/>
          </a:prstGeom>
          <a:solidFill>
            <a:srgbClr val="78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241544" y="4160519"/>
            <a:ext cx="850899" cy="219456"/>
          </a:xfrm>
          <a:prstGeom prst="rect">
            <a:avLst/>
          </a:prstGeom>
          <a:solidFill>
            <a:srgbClr val="3FAC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5665724" y="4114799"/>
            <a:ext cx="36576" cy="3108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318252" y="3995927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117 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31252" y="4187951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175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46920" y="4169663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52760" y="4169663"/>
            <a:ext cx="9784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61 %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6656" y="463600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303A5D"/>
                </a:solidFill>
                <a:latin typeface="Segoe UI"/>
              </a:rPr>
              <a:t>Taiyaki Mart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6656" y="4837176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food shop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77996" y="4814316"/>
            <a:ext cx="3301492" cy="45720"/>
          </a:xfrm>
          <a:prstGeom prst="rect">
            <a:avLst/>
          </a:prstGeom>
          <a:solidFill>
            <a:srgbClr val="78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4050283" y="4727448"/>
            <a:ext cx="2025142" cy="219456"/>
          </a:xfrm>
          <a:prstGeom prst="rect">
            <a:avLst/>
          </a:prstGeom>
          <a:solidFill>
            <a:srgbClr val="3FAC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813780" y="4681728"/>
            <a:ext cx="36576" cy="3108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466308" y="4562856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121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52640" y="475488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46920" y="473659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52760" y="4736592"/>
            <a:ext cx="9784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6656" y="5202936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Prom.ua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6656" y="5404103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marketplace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424680" y="5381243"/>
            <a:ext cx="4050283" cy="45720"/>
          </a:xfrm>
          <a:prstGeom prst="rect">
            <a:avLst/>
          </a:prstGeom>
          <a:solidFill>
            <a:srgbClr val="DBB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5113909" y="5294375"/>
            <a:ext cx="1608201" cy="219456"/>
          </a:xfrm>
          <a:prstGeom prst="rect">
            <a:avLst/>
          </a:prstGeom>
          <a:solidFill>
            <a:srgbClr val="CC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5631688" y="5248655"/>
            <a:ext cx="36576" cy="31089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284215" y="5129783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116 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48116" y="5321807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199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46920" y="530352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652760" y="5303520"/>
            <a:ext cx="9784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62 %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778804" y="2240280"/>
            <a:ext cx="16459" cy="34747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871720" y="2039112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 lang="en-US">
                <a:solidFill>
                  <a:srgbClr val="B53A3A"/>
                </a:solidFill>
                <a:latin typeface="Segoe UI"/>
              </a:rPr>
              <a:t>target 120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03962" y="2039112"/>
            <a:ext cx="2011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 lang="en-US">
                <a:solidFill>
                  <a:srgbClr val="C4820A"/>
                </a:solidFill>
                <a:latin typeface="Segoe UI"/>
              </a:rPr>
              <a:t>now · 33 pallets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03962" y="2176272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C4820A"/>
                </a:solidFill>
                <a:latin typeface="Segoe UI"/>
              </a:rPr>
              <a:t>141–162 ₴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868387" y="2039112"/>
            <a:ext cx="2011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 lang="en-US">
                <a:solidFill>
                  <a:srgbClr val="B53A3A"/>
                </a:solidFill>
                <a:latin typeface="Segoe UI"/>
              </a:rPr>
              <a:t>now · 6 pallets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868387" y="2176272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B53A3A"/>
                </a:solidFill>
                <a:latin typeface="Segoe UI"/>
              </a:rPr>
              <a:t>181–208 ₴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 lang="en-US">
                <a:solidFill>
                  <a:srgbClr val="9FA9C4"/>
                </a:solidFill>
                <a:latin typeface="Segoe UI"/>
              </a:rPr>
              <a:t>Chains: catalogues of 29 Sep 2026, median SKU price within the chain. Food shops and Prom.ua: category pages, October 2026, bundles above 250 ₴ excluded. Bands: Vegetable/Spicy/Beef/Chicken (lower bound) and Gouda/Carbonara (upper bound) per the financial model, chain bonus 35 %.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CHANNELS · PRICE TIERS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Share of offers by pack price in each 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 lang="en-US">
                <a:solidFill>
                  <a:srgbClr val="717890"/>
                </a:solidFill>
                <a:latin typeface="Segoe UI"/>
              </a:rPr>
              <a:t>Chains: 89 Korean ramen SKUs (packs and cups); food shops and Prom.ua: ramen from category pages, no bundles. Numbers inside the bars = % of offers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17904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49961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 lang="en-US">
                <a:solidFill>
                  <a:srgbClr val="303A5D"/>
                </a:solidFill>
                <a:latin typeface="Segoe UI"/>
              </a:rPr>
              <a:t>&lt; 100 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28216" y="1517904"/>
            <a:ext cx="146304" cy="128016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29384" y="1499616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100–120 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20924" y="1517904"/>
            <a:ext cx="146304" cy="128016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22092" y="1499616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120–140 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13631" y="1517904"/>
            <a:ext cx="146304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799" y="1499616"/>
            <a:ext cx="84581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 lang="en-US">
                <a:solidFill>
                  <a:srgbClr val="303A5D"/>
                </a:solidFill>
                <a:latin typeface="Segoe UI"/>
              </a:rPr>
              <a:t>over 140 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1517904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UP TO 120 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517904"/>
            <a:ext cx="457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SKUs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1517904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WHICH BRANDS (SKUs)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1847088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Torba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23160" y="1837943"/>
            <a:ext cx="22860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23160" y="1860804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1837943"/>
            <a:ext cx="22860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9160" y="1860804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1847088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100 %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1856231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1856231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105863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Auchan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23160" y="2096719"/>
            <a:ext cx="32766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423160" y="2119579"/>
            <a:ext cx="3276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72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99760" y="2096719"/>
            <a:ext cx="10668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99760" y="2119579"/>
            <a:ext cx="1066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2096719"/>
            <a:ext cx="762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842760" y="2096719"/>
            <a:ext cx="1524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95160" y="2105863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95 %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2115007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2115007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17 · Samyang 13 · Paldo 12 · Ottogi 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2364638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23160" y="2355494"/>
            <a:ext cx="11430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423160" y="2378354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66160" y="2355494"/>
            <a:ext cx="3047999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566160" y="2378354"/>
            <a:ext cx="3047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67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14159" y="2355494"/>
            <a:ext cx="380999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14159" y="2378354"/>
            <a:ext cx="380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2364638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92 %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237378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2373782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2623413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Sushi Povar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23160" y="2614269"/>
            <a:ext cx="2671948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423160" y="2637129"/>
            <a:ext cx="26719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58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95108" y="2614269"/>
            <a:ext cx="1425038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95108" y="2637129"/>
            <a:ext cx="142503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20147" y="2614269"/>
            <a:ext cx="475012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520147" y="2637129"/>
            <a:ext cx="4750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95160" y="2623413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90 %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0" y="2632557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77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0" y="2632557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 lang="en-US">
                <a:solidFill>
                  <a:srgbClr val="303A5D"/>
                </a:solidFill>
                <a:latin typeface="Segoe UI"/>
              </a:rPr>
              <a:t>Samyang 28 · others 16 · Paldo 15 · Nongshim 13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2882188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Zaraz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3160" y="2873044"/>
            <a:ext cx="2612571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423160" y="2895904"/>
            <a:ext cx="2612571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57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35731" y="2873044"/>
            <a:ext cx="1306285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035731" y="2895904"/>
            <a:ext cx="130628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42017" y="2873044"/>
            <a:ext cx="653142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342017" y="2895904"/>
            <a:ext cx="65314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95160" y="2882188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86 %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12480" y="289133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0" y="2891332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7 · O'Food 4 · Ottogi 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6928" y="3140963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Prom.ua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23160" y="3131819"/>
            <a:ext cx="11430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423160" y="3154679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566160" y="3131819"/>
            <a:ext cx="1714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566160" y="3154679"/>
            <a:ext cx="1714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280660" y="3131819"/>
            <a:ext cx="190499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5471160" y="3131819"/>
            <a:ext cx="1523999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471160" y="3154679"/>
            <a:ext cx="1523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95160" y="3140963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62 %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12480" y="3150107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52560" y="3150107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8 · Nongshim 6 · Paldo 4 · Ottogi 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6928" y="3399739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Asia Foods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423160" y="3390595"/>
            <a:ext cx="993913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423160" y="3413455"/>
            <a:ext cx="99391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417073" y="3390595"/>
            <a:ext cx="1789043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417073" y="3413455"/>
            <a:ext cx="178904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206116" y="3390595"/>
            <a:ext cx="1391478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206116" y="3413455"/>
            <a:ext cx="139147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597594" y="3390595"/>
            <a:ext cx="397565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597594" y="3413455"/>
            <a:ext cx="3975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95160" y="3399739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61 %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412480" y="3408883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52560" y="3408883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 lang="en-US">
                <a:solidFill>
                  <a:srgbClr val="303A5D"/>
                </a:solidFill>
                <a:latin typeface="Segoe UI"/>
              </a:rPr>
              <a:t>others 18 · Paldo 3 · Nongshim 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6928" y="3658514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423160" y="3649370"/>
            <a:ext cx="13335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2423160" y="3672230"/>
            <a:ext cx="1333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29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756660" y="3649370"/>
            <a:ext cx="1333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3756660" y="3672230"/>
            <a:ext cx="1333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29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090160" y="3649370"/>
            <a:ext cx="13335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5090160" y="3672230"/>
            <a:ext cx="1333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423660" y="3649370"/>
            <a:ext cx="5715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423660" y="3672230"/>
            <a:ext cx="571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995160" y="3658514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58 %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12480" y="3667658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052560" y="366765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11 · Samyang 10 · Paldo 2 · fire bull 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66928" y="3917289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Tavria V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423160" y="3908145"/>
            <a:ext cx="1523999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2423160" y="3931005"/>
            <a:ext cx="1523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947160" y="3908145"/>
            <a:ext cx="761999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3947160" y="3931005"/>
            <a:ext cx="761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17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709159" y="3908145"/>
            <a:ext cx="1905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709159" y="3931005"/>
            <a:ext cx="1905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42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614159" y="3908145"/>
            <a:ext cx="380999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614159" y="3931005"/>
            <a:ext cx="380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995160" y="3917289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412480" y="3926433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052560" y="3926433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6 · Ottogi 3 · Nongshim 2 · Choi's 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66928" y="4176064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Kosmos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423160" y="4166920"/>
            <a:ext cx="1523999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2423160" y="4189780"/>
            <a:ext cx="1523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947160" y="4166920"/>
            <a:ext cx="761999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3947160" y="4189780"/>
            <a:ext cx="761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17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709159" y="4166920"/>
            <a:ext cx="1905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4709159" y="4189780"/>
            <a:ext cx="1905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42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614159" y="4166920"/>
            <a:ext cx="380999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6614159" y="4189780"/>
            <a:ext cx="380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995160" y="4176064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412480" y="4185208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052560" y="418520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6 · Ottogi 3 · Nongshim 2 · Choi's 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66928" y="4434840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ChudoMarket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423160" y="4425696"/>
            <a:ext cx="1523999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2423160" y="4448555"/>
            <a:ext cx="1523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947160" y="4425696"/>
            <a:ext cx="761999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3947160" y="4448555"/>
            <a:ext cx="761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17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709159" y="4425696"/>
            <a:ext cx="2286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4709159" y="4448555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50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995160" y="443484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412480" y="4443983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052560" y="4443983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3 · Nongshim 2 · Paldo 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66928" y="4693615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Silpo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423160" y="4684471"/>
            <a:ext cx="22860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2423160" y="4707331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50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709160" y="4684471"/>
            <a:ext cx="1143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4709160" y="4707331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25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852160" y="4684471"/>
            <a:ext cx="11430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5852160" y="4707331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995160" y="4693615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412480" y="4702759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052560" y="4702759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3 · Nongshim 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66928" y="4952390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Taiyaki Mart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423160" y="4943246"/>
            <a:ext cx="17145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2423160" y="4966106"/>
            <a:ext cx="1714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38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137660" y="4943246"/>
            <a:ext cx="571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4137660" y="4966106"/>
            <a:ext cx="571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709160" y="4943246"/>
            <a:ext cx="17145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4709160" y="4966106"/>
            <a:ext cx="1714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423660" y="4943246"/>
            <a:ext cx="5715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6423660" y="4966106"/>
            <a:ext cx="571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995160" y="495239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412480" y="496153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052560" y="4961534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 lang="en-US">
                <a:solidFill>
                  <a:srgbClr val="303A5D"/>
                </a:solidFill>
                <a:latin typeface="Segoe UI"/>
              </a:rPr>
              <a:t>others 10 · Samyang 7 · Ottogi 4 · Nongshim 3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66928" y="5211165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423160" y="5202021"/>
            <a:ext cx="5715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2423160" y="5224881"/>
            <a:ext cx="571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994660" y="5202021"/>
            <a:ext cx="952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2994660" y="5224881"/>
            <a:ext cx="952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21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3947160" y="5202021"/>
            <a:ext cx="1143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3947160" y="5224881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25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090160" y="5202021"/>
            <a:ext cx="19050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5090160" y="5224881"/>
            <a:ext cx="1905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42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995160" y="5211165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33 %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8412480" y="5220309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9052560" y="5220309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9 · Paldo 8 · Samyang 6 · Ottogi 1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566928" y="5469940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Vostorg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423160" y="5460796"/>
            <a:ext cx="703384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2423160" y="5483656"/>
            <a:ext cx="7033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15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3126544" y="5460796"/>
            <a:ext cx="1758461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3126544" y="5483656"/>
            <a:ext cx="1758461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4885006" y="5460796"/>
            <a:ext cx="2110153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4885006" y="5483656"/>
            <a:ext cx="211015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46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995160" y="546994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412480" y="547908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052560" y="5479084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7 · Nongshim 6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66928" y="5728716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Klass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423160" y="5719572"/>
            <a:ext cx="703384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2423160" y="5742431"/>
            <a:ext cx="7033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15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3126544" y="5719572"/>
            <a:ext cx="1758461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3126544" y="5742431"/>
            <a:ext cx="1758461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4885006" y="5719572"/>
            <a:ext cx="2110153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4885006" y="5742431"/>
            <a:ext cx="211015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46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995160" y="5728716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8412480" y="5737859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9052560" y="5737859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7 · Nongshim 6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566928" y="5987491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423160" y="5978347"/>
            <a:ext cx="571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2423160" y="6001207"/>
            <a:ext cx="571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2994660" y="5978347"/>
            <a:ext cx="28575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2994660" y="6001207"/>
            <a:ext cx="2857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62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852160" y="5978347"/>
            <a:ext cx="11430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5852160" y="6001207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6995160" y="5987491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12 %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8412480" y="5996635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9052560" y="5996635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4 · Samyang 3 · Paldo 1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 lang="en-US">
                <a:solidFill>
                  <a:srgbClr val="9FA9C4"/>
                </a:solidFill>
                <a:latin typeface="Segoe UI"/>
              </a:rPr>
              <a:t>Chains: unique SKUs (EAN) at the chain median price, 29 Sep 2026; Silpo: 4 SKUs. Food shops and Prom.ua: category pages, October 2026 (brand identified from the product name; "others" = non-Korean or unbranded).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CASE STUDY · RETAIL 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Choi’s at Tavria V: what it sold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 lang="en-US">
                <a:solidFill>
                  <a:srgbClr val="717890"/>
                </a:solidFill>
                <a:latin typeface="Segoe UI"/>
              </a:rPr>
              <a:t>The same SIAS brand is already on a Ukrainian shelf. Three dates and three price levels, to compare with our target and the current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56692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 lang="en-US">
                <a:solidFill>
                  <a:srgbClr val="303A5D"/>
                </a:solidFill>
                <a:latin typeface="Segoe UI"/>
              </a:rPr>
              <a:t>CHOI’S CARBONARA 131 G · PRICE PER PACK, 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7248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61488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76135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10375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5022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9262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73909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08149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22797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57037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71684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05924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02539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EU · dotasia.eu · promo €1.80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27248" y="1997964"/>
            <a:ext cx="1034236" cy="21031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34636" y="202082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92.2 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239115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EU · dotasia.eu · regular €2.20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27248" y="2363724"/>
            <a:ext cx="1264066" cy="21031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64466" y="238658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112.6 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75691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Tavria V · 29 Sep 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27248" y="2729484"/>
            <a:ext cx="1405017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05417" y="275234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303A5D"/>
                </a:solidFill>
                <a:latin typeface="Segoe UI"/>
              </a:rPr>
              <a:t>125.20 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312267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Kosmos · 29 Sep 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27248" y="3095244"/>
            <a:ext cx="1405017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05417" y="311810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303A5D"/>
                </a:solidFill>
                <a:latin typeface="Segoe UI"/>
              </a:rPr>
              <a:t>125.20 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348843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Tavria V · 5–6 Oct (per V3)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27248" y="3461003"/>
            <a:ext cx="1475716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76116" y="348386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303A5D"/>
                </a:solidFill>
                <a:latin typeface="Segoe UI"/>
              </a:rPr>
              <a:t>131.50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385419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 lang="en-US">
                <a:solidFill>
                  <a:srgbClr val="C4820A"/>
                </a:solidFill>
                <a:latin typeface="Segoe UI"/>
              </a:rPr>
              <a:t>SIAS · model target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27248" y="3826763"/>
            <a:ext cx="1346661" cy="210312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47061" y="384962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C4820A"/>
                </a:solidFill>
                <a:latin typeface="Segoe UI"/>
              </a:rPr>
              <a:t>120.00 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421995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SIAS · now, 33 pallets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27248" y="4192524"/>
            <a:ext cx="1819979" cy="210312"/>
          </a:xfrm>
          <a:prstGeom prst="rect">
            <a:avLst/>
          </a:prstGeom>
          <a:solidFill>
            <a:srgbClr val="F8C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20379" y="421538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162.18 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458571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SIAS · now, 6 pallets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27248" y="4558284"/>
            <a:ext cx="2339061" cy="210312"/>
          </a:xfrm>
          <a:prstGeom prst="rect">
            <a:avLst/>
          </a:prstGeom>
          <a:solidFill>
            <a:srgbClr val="F8C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539461" y="458114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208.43 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1645920"/>
            <a:ext cx="47548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303A5D"/>
                </a:solidFill>
                <a:latin typeface="Segoe UI"/>
              </a:rPr>
              <a:t>COMPARISON · "NOW" = 33 PALLETS, CHAIN BONUS 35 %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1920240"/>
            <a:ext cx="15544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458200" y="1920240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CHOI’S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0" y="1920240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TARGET 120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1320" y="1920240"/>
            <a:ext cx="10698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NOW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2103120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 lang="en-US">
                <a:solidFill>
                  <a:srgbClr val="303A5D"/>
                </a:solidFill>
                <a:latin typeface="Segoe UI"/>
              </a:rPr>
              <a:t>Price, 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58200" y="2103120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125.20 / 131.50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0" y="2103120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120.00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61320" y="2103120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162.18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30568" y="2468880"/>
            <a:ext cx="4727448" cy="3931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903720" y="2505456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 lang="en-US">
                <a:solidFill>
                  <a:srgbClr val="303A5D"/>
                </a:solidFill>
                <a:latin typeface="Segoe UI"/>
              </a:rPr>
              <a:t>vs Choi’s 125.20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58200" y="2505456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09760" y="2505456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−4.2 %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61320" y="2505456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+29.5 %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03720" y="2907792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 lang="en-US">
                <a:solidFill>
                  <a:srgbClr val="303A5D"/>
                </a:solidFill>
                <a:latin typeface="Segoe UI"/>
              </a:rPr>
              <a:t>vs pack median 102.8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58200" y="2907792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+21.8 %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09760" y="2907792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+16.7 %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61320" y="2907792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+57.8 %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30568" y="3273552"/>
            <a:ext cx="4727448" cy="3931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903720" y="3310128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 lang="en-US">
                <a:solidFill>
                  <a:srgbClr val="303A5D"/>
                </a:solidFill>
                <a:latin typeface="Segoe UI"/>
              </a:rPr>
              <a:t>Pricier SKUs in category*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58200" y="3310128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13 of 71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09760" y="3310128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18 of 71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61320" y="3310128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3 of 71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COMPETITORS · POPULAR PACKS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Popular packs: every SKU and its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16736"/>
            <a:ext cx="146304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1316736"/>
            <a:ext cx="146304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11096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75204" y="1316736"/>
            <a:ext cx="146304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76372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85032" y="1316736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86200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72584" y="1316736"/>
            <a:ext cx="146304" cy="12801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73752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1316736"/>
            <a:ext cx="146304" cy="12801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61304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47688" y="1316736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48856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57516" y="1316736"/>
            <a:ext cx="146304" cy="12801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58684" y="12984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SIAS: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7596" y="1298448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C4820A"/>
                </a:solidFill>
                <a:latin typeface="Segoe UI"/>
              </a:rPr>
              <a:t>band: target 120 → now 33 pallets → 6 pallets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645920"/>
            <a:ext cx="5440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120 G PACK · 22 SKUs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1828800"/>
            <a:ext cx="5440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717890"/>
                </a:solidFill>
                <a:latin typeface="Segoe UI"/>
              </a:rPr>
              <a:t>68–128 ₴ · up to 120 ₴ inclusive: 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72968" y="2048256"/>
            <a:ext cx="5486" cy="4142231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462402" y="2020824"/>
            <a:ext cx="13716" cy="4178807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208026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Ottogi · Yeul Ramen extra spicy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72968" y="2093976"/>
            <a:ext cx="735386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63218" y="2075688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68 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224028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Teumsae Ramen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72968" y="2253996"/>
            <a:ext cx="777501" cy="9601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005333" y="2235708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72 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240030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Nongshim · spicy seasoning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72968" y="2414015"/>
            <a:ext cx="793699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21531" y="239572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74 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256032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Kimchi Ramen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72968" y="2574035"/>
            <a:ext cx="830414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058246" y="255574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77 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272033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Ottogi · Jin spicy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72968" y="2734055"/>
            <a:ext cx="903845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131677" y="271576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84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288035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Nongshim · Kimchi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72968" y="2894075"/>
            <a:ext cx="916803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44635" y="287578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85 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304037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Ottogi · Stir-Fry with cheese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72968" y="3054095"/>
            <a:ext cx="961077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188909" y="303580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320039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Paldo · Hwa Ramyun hot pepper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72968" y="3214115"/>
            <a:ext cx="971336" cy="9601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199168" y="319582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90 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336041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Paldo · Kokomen chicken flavor sp…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72968" y="3374135"/>
            <a:ext cx="993473" cy="9601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221305" y="335584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92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352043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Ottogi · Jin spicy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72968" y="3534155"/>
            <a:ext cx="1001032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228864" y="351586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368045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Ottogi · medium spicy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172968" y="3694175"/>
            <a:ext cx="1001032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228864" y="367588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" y="384047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Paldo · seafood flavor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172968" y="3854195"/>
            <a:ext cx="1003192" cy="9601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231024" y="383590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" y="400049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Otoki · Cheesy Ramen cheese flav…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72968" y="4014215"/>
            <a:ext cx="1024789" cy="96011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252621" y="399592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6928" y="416051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Nongshim · seafood spicy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172968" y="4174235"/>
            <a:ext cx="1118197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346029" y="415594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104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432053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Samyang · seafood flavor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172968" y="4334255"/>
            <a:ext cx="1166251" cy="960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394083" y="431596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108 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" y="448055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Nongshim · Shin Ramyun spicy flav…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172968" y="4494275"/>
            <a:ext cx="1193248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421080" y="447598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110 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6928" y="464057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Samyang · Ramen cheese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172968" y="4654295"/>
            <a:ext cx="1206746" cy="960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434578" y="463600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112 ₴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6928" y="480059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Nongshim · seafood medium sp…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172968" y="4814315"/>
            <a:ext cx="1226724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454556" y="479602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114 ₴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6928" y="496061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Nongshim · spicy seasoning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172968" y="4974335"/>
            <a:ext cx="1263439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491271" y="495604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117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66928" y="512063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Kimchi Ramyun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172968" y="5134355"/>
            <a:ext cx="1274238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502070" y="511606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118 ₴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66928" y="5262371"/>
            <a:ext cx="5440680" cy="292608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03504" y="5276087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1" spc="-10" lang="en-US">
                <a:solidFill>
                  <a:srgbClr val="C4820A"/>
                </a:solidFill>
                <a:latin typeface="Segoe UI"/>
              </a:rPr>
              <a:t>SIAS · Vegetable/Spicy/Beef/Chicken 113 g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172968" y="5294375"/>
            <a:ext cx="1295835" cy="10972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4468803" y="5294375"/>
            <a:ext cx="221948" cy="109728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4690751" y="5294375"/>
            <a:ext cx="432892" cy="109728"/>
          </a:xfrm>
          <a:prstGeom prst="rect">
            <a:avLst/>
          </a:prstGeom>
          <a:solidFill>
            <a:srgbClr val="E1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03504" y="5426963"/>
            <a:ext cx="53492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target 120 ₴  ·  now: 33 pallets 141 ₴  ·  6 pallets 181 ₴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66928" y="5554979"/>
            <a:ext cx="5440680" cy="292608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03504" y="5568695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1" spc="-10" lang="en-US">
                <a:solidFill>
                  <a:srgbClr val="C4820A"/>
                </a:solidFill>
                <a:latin typeface="Segoe UI"/>
              </a:rPr>
              <a:t>SIAS · Gouda Cheese 123 g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72968" y="5586983"/>
            <a:ext cx="1295835" cy="10972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4468803" y="5586983"/>
            <a:ext cx="455453" cy="109728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4924256" y="5586983"/>
            <a:ext cx="499490" cy="109728"/>
          </a:xfrm>
          <a:prstGeom prst="rect">
            <a:avLst/>
          </a:prstGeom>
          <a:solidFill>
            <a:srgbClr val="E1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03504" y="5719571"/>
            <a:ext cx="53492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target 120 ₴  ·  now: 33 pallets 162 ₴  ·  6 pallets 208 ₴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66928" y="5865875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Nongshim · spicy seasoning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172968" y="5879591"/>
            <a:ext cx="1349828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577660" y="5861303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66928" y="6025895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Nongshim · Shin Ramyun mushroom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172968" y="6039611"/>
            <a:ext cx="1386543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614375" y="6021323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128 ₴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944368" y="620877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592285" y="620877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240203" y="620877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888121" y="620877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236208" y="1645920"/>
            <a:ext cx="5394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130 G PACK · 9 SKUs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236208" y="1828800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717890"/>
                </a:solidFill>
                <a:latin typeface="Segoe UI"/>
              </a:rPr>
              <a:t>89–205 ₴ · up to 120 ₴ inclusive: 6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842248" y="2048256"/>
            <a:ext cx="5486" cy="186994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10105556" y="2020824"/>
            <a:ext cx="13716" cy="190652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6236208" y="208026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Ottogi · Stir-Fry cheese spicy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842248" y="2093976"/>
            <a:ext cx="941701" cy="105155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838813" y="2075688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36208" y="2249424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Paldo · Bibim Men Korean-sty…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842248" y="2263140"/>
            <a:ext cx="1057033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9954145" y="224485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100 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236208" y="241858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Paldo · Stir fried chicken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842248" y="2432304"/>
            <a:ext cx="1103060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0000172" y="241401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104 ₴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236208" y="2587752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Ottogi · Jin Jjambbong Ramen seaf…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842248" y="2601468"/>
            <a:ext cx="1190352" cy="105155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10087464" y="2583180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112 ₴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36208" y="2756916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Paldo · Volcano Carbonara chicken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842248" y="2770632"/>
            <a:ext cx="1201991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10099103" y="2752344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114 ₴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236208" y="292608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Samyang · Ramen cheese spicy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842248" y="2939796"/>
            <a:ext cx="1217863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10114975" y="2921508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115 ₴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236208" y="3076956"/>
            <a:ext cx="5394960" cy="310896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6272784" y="3090672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1" spc="-10" lang="en-US">
                <a:solidFill>
                  <a:srgbClr val="C4820A"/>
                </a:solidFill>
                <a:latin typeface="Segoe UI"/>
              </a:rPr>
              <a:t>SIAS · Carbonara Spicy 131 g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842248" y="3108960"/>
            <a:ext cx="1269709" cy="10972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10111957" y="3108960"/>
            <a:ext cx="446271" cy="109728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10558228" y="3108960"/>
            <a:ext cx="489420" cy="109728"/>
          </a:xfrm>
          <a:prstGeom prst="rect">
            <a:avLst/>
          </a:prstGeom>
          <a:solidFill>
            <a:srgbClr val="E1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6272784" y="3241548"/>
            <a:ext cx="5303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target 120 ₴  ·  now: 33 pallets 162 ₴  ·  6 pallets 208 ₴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236208" y="340614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Samyang · spicy cheese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842248" y="3419856"/>
            <a:ext cx="1470747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10367859" y="3401568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139 ₴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236208" y="3575304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Nongshim · Shin Black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842248" y="3589020"/>
            <a:ext cx="1748390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10645502" y="357073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165 ₴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236208" y="374446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Shin Ramyun Black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842248" y="3758184"/>
            <a:ext cx="2171732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11068844" y="373989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205 ₴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613648" y="393649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248502" y="393649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883357" y="393649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518212" y="393649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236208" y="4101083"/>
            <a:ext cx="5394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140 G PACK · 6 SKUs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36208" y="4283964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717890"/>
                </a:solidFill>
                <a:latin typeface="Segoe UI"/>
              </a:rPr>
              <a:t>103–138 ₴ · up to 120 ₴ inclusive: 3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8842248" y="4503420"/>
            <a:ext cx="5486" cy="105156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10105556" y="4475988"/>
            <a:ext cx="13716" cy="108813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6236208" y="4535423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Samyang · Chacharoni black bea…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8842248" y="4549140"/>
            <a:ext cx="1087717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9984829" y="4530851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103 ₴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236208" y="4704587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Samyang · Buldak Jjajang flavo…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842248" y="4718303"/>
            <a:ext cx="1148029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10045141" y="4700015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108 ₴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236208" y="4873751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Chapaghetti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8842248" y="4887467"/>
            <a:ext cx="1269709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10166821" y="4869179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120 ₴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236208" y="5042915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Paldo · Volcano Chicken w/ chick…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8842248" y="5056631"/>
            <a:ext cx="1301452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10198564" y="5038343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123 ₴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236208" y="521207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Samyang · chicken flavor extra hot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8842248" y="5225795"/>
            <a:ext cx="1445352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10342464" y="520750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137 ₴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236208" y="5381243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Samyang · chicken flavor spicy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842248" y="5394959"/>
            <a:ext cx="1458049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10355161" y="5376671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138 ₴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613648" y="557326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9248502" y="557326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9883357" y="557326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518212" y="557326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 lang="en-US">
                <a:solidFill>
                  <a:srgbClr val="9FA9C4"/>
                </a:solidFill>
                <a:latin typeface="Segoe UI"/>
              </a:rPr>
              <a:t>Chain catalogues, 29 Sep 2026: median pack price across the chains where the SKU is listed. Red line = 120 ₴. SIAS: current shelf price per the financial model, chain bonus 35 %.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COMPETITORS · BELOW 120 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Key competitors sell below 120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PACK PRICE RANGE ACROSS CHAINS, 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45920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627632"/>
            <a:ext cx="15316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 lang="en-US">
                <a:solidFill>
                  <a:srgbClr val="303A5D"/>
                </a:solidFill>
                <a:latin typeface="Segoe UI"/>
              </a:rPr>
              <a:t>below 120 ₴ target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74036" y="1645920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75204" y="1627632"/>
            <a:ext cx="11201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 lang="en-US">
                <a:solidFill>
                  <a:srgbClr val="303A5D"/>
                </a:solidFill>
                <a:latin typeface="Segoe UI"/>
              </a:rPr>
              <a:t>above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06587" y="2167128"/>
            <a:ext cx="568462" cy="3749039"/>
          </a:xfrm>
          <a:prstGeom prst="rect">
            <a:avLst/>
          </a:prstGeom>
          <a:solidFill>
            <a:srgbClr val="FD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60453" y="2167128"/>
            <a:ext cx="730595" cy="3749039"/>
          </a:xfrm>
          <a:prstGeom prst="rect">
            <a:avLst/>
          </a:prstGeom>
          <a:solidFill>
            <a:srgbClr val="F6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8892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1460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470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4038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79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66159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6626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9194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9204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1772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140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17819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43499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6938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9506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95159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2084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224942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 Buldak 2× spicy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243230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140 g · 10 chains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7691" y="2322576"/>
            <a:ext cx="888568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366260" y="2322576"/>
            <a:ext cx="814958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563291" y="2221991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86 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8971" y="239572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Onde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36082" y="2221991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151 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36082" y="239572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 lang="en-US">
                <a:solidFill>
                  <a:srgbClr val="717890"/>
                </a:solidFill>
                <a:latin typeface="Segoe UI"/>
              </a:rPr>
              <a:t>Vostorg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266090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 Chapaghetti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284378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140 g · 6 chains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51300" y="2734056"/>
            <a:ext cx="814959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366260" y="2734056"/>
            <a:ext cx="420623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636900" y="2633472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89 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62580" y="280720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 lang="en-US">
                <a:solidFill>
                  <a:srgbClr val="717890"/>
                </a:solidFill>
                <a:latin typeface="Segoe UI"/>
              </a:rPr>
              <a:t>Auchan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1747" y="2633472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136 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1747" y="280720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 lang="en-US">
                <a:solidFill>
                  <a:srgbClr val="717890"/>
                </a:solidFill>
                <a:latin typeface="Segoe UI"/>
              </a:rPr>
              <a:t>Vostorg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307238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 Buldak Hot Chicken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3255263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140 g · 7 chains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3828" y="3145536"/>
            <a:ext cx="712431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366260" y="3145536"/>
            <a:ext cx="946403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739428" y="3044951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93 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65108" y="321868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 lang="en-US">
                <a:solidFill>
                  <a:srgbClr val="717890"/>
                </a:solidFill>
                <a:latin typeface="Segoe UI"/>
              </a:rPr>
              <a:t>Torba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67527" y="3044951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156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67527" y="321868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" y="348386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Samyang Buldak braised chicken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366674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145 g · 7 chains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69601" y="3557016"/>
            <a:ext cx="696658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366260" y="3557016"/>
            <a:ext cx="1682495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755201" y="3456432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94 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80881" y="363016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 lang="en-US">
                <a:solidFill>
                  <a:srgbClr val="717890"/>
                </a:solidFill>
                <a:latin typeface="Segoe UI"/>
              </a:rPr>
              <a:t>Auchan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03620" y="3456432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184 ₴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03620" y="363016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NOVUS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" y="389534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Nongshim Ramen spicy seasoning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" y="407822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120 g · 7 chains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795262" y="3968496"/>
            <a:ext cx="570997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6260" y="3968496"/>
            <a:ext cx="236600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880862" y="3867911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98 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06542" y="404164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57724" y="3867911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129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57724" y="404164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NOVUS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6928" y="430682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 Kimchi Ramyun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" y="448970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120 g · 9 chains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795262" y="4379976"/>
            <a:ext cx="570997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4366260" y="4379976"/>
            <a:ext cx="105155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880862" y="4279392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98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06542" y="445312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26279" y="4279392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124 ₴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26279" y="445312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NOVUS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6928" y="471830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Samyang Buldak cheese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6928" y="490118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130 g · 9 chains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837851" y="4791456"/>
            <a:ext cx="528408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4366260" y="4791456"/>
            <a:ext cx="814958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2923451" y="4690872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100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649131" y="486460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 lang="en-US">
                <a:solidFill>
                  <a:srgbClr val="717890"/>
                </a:solidFill>
                <a:latin typeface="Segoe UI"/>
              </a:rPr>
              <a:t>ChudoMarket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236082" y="4690872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151 ₴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36082" y="486460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 lang="en-US">
                <a:solidFill>
                  <a:srgbClr val="717890"/>
                </a:solidFill>
                <a:latin typeface="Segoe UI"/>
              </a:rPr>
              <a:t>Vostorg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" y="512978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Paldo Volcano Carbonara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6928" y="531266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130 g · 3 chains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979811" y="5202936"/>
            <a:ext cx="386448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4366260" y="5202936"/>
            <a:ext cx="26288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065411" y="5102352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105 ₴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791091" y="527608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 lang="en-US">
                <a:solidFill>
                  <a:srgbClr val="717890"/>
                </a:solidFill>
                <a:latin typeface="Segoe UI"/>
              </a:rPr>
              <a:t>Auchan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447412" y="5102352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121 ₴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447412" y="527608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6928" y="554126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 Toomba Spicy &amp; Creamy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66928" y="572414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137 g · 7 chains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58067" y="5614416"/>
            <a:ext cx="602018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3743667" y="5513831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131 ₴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69347" y="568756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 lang="en-US">
                <a:solidFill>
                  <a:srgbClr val="717890"/>
                </a:solidFill>
                <a:latin typeface="Segoe UI"/>
              </a:rPr>
              <a:t>ChudoMarket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314949" y="5513831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154 ₴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314949" y="568756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358944" y="2167128"/>
            <a:ext cx="16459" cy="3776472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3451860" y="1965960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 lang="en-US">
                <a:solidFill>
                  <a:srgbClr val="B53A3A"/>
                </a:solidFill>
                <a:latin typeface="Segoe UI"/>
              </a:rPr>
              <a:t>target 120 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924875" y="1965960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C4820A"/>
                </a:solidFill>
                <a:latin typeface="Segoe UI"/>
              </a:rPr>
              <a:t>now · 33 pallets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978741" y="1965960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B53A3A"/>
                </a:solidFill>
                <a:latin typeface="Segoe UI"/>
              </a:rPr>
              <a:t>now · 6 pallets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001000" y="138988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PROMOS: REGULAR PRICE → PROMO PRICE, ₴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001000" y="1645920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202168" y="162763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 lang="en-US">
                <a:solidFill>
                  <a:srgbClr val="303A5D"/>
                </a:solidFill>
                <a:latin typeface="Segoe UI"/>
              </a:rPr>
              <a:t>regular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116568" y="1645920"/>
            <a:ext cx="146304" cy="12801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9317736" y="1627632"/>
            <a:ext cx="571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 lang="en-US">
                <a:solidFill>
                  <a:srgbClr val="303A5D"/>
                </a:solidFill>
                <a:latin typeface="Segoe UI"/>
              </a:rPr>
              <a:t>promo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01000" y="2084831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Samyang Buldak chicken &amp; cheese · 140 g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001000" y="2286000"/>
            <a:ext cx="2847152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10903016" y="226771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174 ₴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001000" y="2450591"/>
            <a:ext cx="1472501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528365" y="2432303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C4820A"/>
                </a:solidFill>
                <a:latin typeface="Segoe UI"/>
              </a:rPr>
              <a:t>90 ₴  (−48 %) · Silpo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001000" y="2724911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Samyang Buldak carbonara · 130 g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001000" y="2926079"/>
            <a:ext cx="2847152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10903016" y="2907791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174 ₴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001000" y="3090671"/>
            <a:ext cx="1472501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9528365" y="3072383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C4820A"/>
                </a:solidFill>
                <a:latin typeface="Segoe UI"/>
              </a:rPr>
              <a:t>90 ₴  (−48 %) · Silpo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001000" y="3364991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Samyang · Ramen chicken flav… · 135 g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001000" y="3566160"/>
            <a:ext cx="2909332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10965196" y="354787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178 ₴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001000" y="3730752"/>
            <a:ext cx="1775379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9831243" y="3712463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C4820A"/>
                </a:solidFill>
                <a:latin typeface="Segoe UI"/>
              </a:rPr>
              <a:t>108 ₴  (−39 %) · Auchan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001000" y="4005072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Samyang · chicken flavor spicy · 140 g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001000" y="4206240"/>
            <a:ext cx="2364445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10420309" y="418795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144 ₴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001000" y="4370832"/>
            <a:ext cx="1520117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9575981" y="435254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C4820A"/>
                </a:solidFill>
                <a:latin typeface="Segoe UI"/>
              </a:rPr>
              <a:t>93 ₴  (−36 %) · Torba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001000" y="4645152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Nongshim · Soon Veggie Ramyun veg… · 112 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001000" y="4846320"/>
            <a:ext cx="1564297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9620161" y="482803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96 ₴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001000" y="5010912"/>
            <a:ext cx="1202676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9258540" y="499262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C4820A"/>
                </a:solidFill>
                <a:latin typeface="Segoe UI"/>
              </a:rPr>
              <a:t>74 ₴  (−23 %) · Auchan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001000" y="5285232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Ottogi · Jin Jjambbong Ramen seaf… · 130 g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001000" y="5486400"/>
            <a:ext cx="2393899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10449763" y="546811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146 ₴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001000" y="5650992"/>
            <a:ext cx="1840831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9896695" y="563270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C4820A"/>
                </a:solidFill>
                <a:latin typeface="Segoe UI"/>
              </a:rPr>
              <a:t>112 ₴  (−23 %) · Auchan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 lang="en-US">
                <a:solidFill>
                  <a:srgbClr val="9FA9C4"/>
                </a:solidFill>
                <a:latin typeface="Segoe UI"/>
              </a:rPr>
              <a:t>Chain catalogues, 29 Sep 2026: SKU price within the chain (median across stores); not all chains publish an "old price", so there are more promos than shown. Bands = our current shelf price: Vegetable/Spicy/Beef/Chicken (lower bound) and Gouda/Carbonara (upper).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FINANCIAL MODEL · 33 PALLETS · FINAL FIGURES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33 pallets: purchase €0.65–0.75 → €0.54, shelf 120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298448"/>
            <a:ext cx="45720" cy="9326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717890"/>
                </a:solidFill>
                <a:latin typeface="Segoe UI"/>
              </a:rPr>
              <a:t>NOW · SHELF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spc="-10" lang="en-US">
                <a:solidFill>
                  <a:srgbClr val="B53A3A"/>
                </a:solidFill>
                <a:latin typeface="Segoe UI"/>
              </a:rPr>
              <a:t>140.55 / 162.18 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 lang="en-US">
                <a:solidFill>
                  <a:srgbClr val="717890"/>
                </a:solidFill>
                <a:latin typeface="Segoe UI"/>
              </a:rPr>
              <a:t>purchase €0.65 / €0.75 · +17…35 % above the 120 ₴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298448"/>
            <a:ext cx="45720" cy="9326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717890"/>
                </a:solidFill>
                <a:latin typeface="Segoe UI"/>
              </a:rPr>
              <a:t>REQUEST TO SIAS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 lang="en-US">
                <a:solidFill>
                  <a:srgbClr val="1E9EA6"/>
                </a:solidFill>
                <a:latin typeface="Segoe UI"/>
              </a:rPr>
              <a:t>€0.54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 lang="en-US">
                <a:solidFill>
                  <a:srgbClr val="717890"/>
                </a:solidFill>
                <a:latin typeface="Segoe UI"/>
              </a:rPr>
              <a:t>−17 % / −28 % vs current purchase price (one price for all 6 SKUs)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5007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7" y="1298448"/>
            <a:ext cx="45720" cy="9326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7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717890"/>
                </a:solidFill>
                <a:latin typeface="Segoe UI"/>
              </a:rPr>
              <a:t>AFTER · SHELF PRICE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7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spc="-10" lang="en-US">
                <a:solidFill>
                  <a:srgbClr val="1E9EA6"/>
                </a:solidFill>
                <a:latin typeface="Segoe UI"/>
              </a:rPr>
              <a:t>119.86 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7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 lang="en-US">
                <a:solidFill>
                  <a:srgbClr val="717890"/>
                </a:solidFill>
                <a:latin typeface="Segoe UI"/>
              </a:rPr>
              <a:t>chain bonus 35 % · cost 38.53 ₴ · headroom 0.14 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4680" y="2395728"/>
            <a:ext cx="1170432" cy="51206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91256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SIAS purchase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91256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BBE1E4"/>
                </a:solidFill>
                <a:latin typeface="Segoe UI"/>
              </a:rPr>
              <a:t>price per pack, 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1688" y="2395728"/>
            <a:ext cx="1170432" cy="512064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98264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Landed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8264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C7CBD9"/>
                </a:solidFill>
                <a:latin typeface="Segoe UI"/>
              </a:rPr>
              <a:t>full, in Ukraine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68696" y="2395728"/>
            <a:ext cx="1170432" cy="51206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05272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Partner price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5272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9FA9C4"/>
                </a:solidFill>
                <a:latin typeface="Segoe UI"/>
              </a:rPr>
              <a:t>from landed cost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75704" y="2395728"/>
            <a:ext cx="1170432" cy="51206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Chain bonus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EDD9B5"/>
                </a:solidFill>
                <a:latin typeface="Segoe UI"/>
              </a:rPr>
              <a:t>35 % of partner price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82712" y="2395728"/>
            <a:ext cx="1170432" cy="51206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19288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Left for 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9288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EDD9B5"/>
                </a:solidFill>
                <a:latin typeface="Segoe UI"/>
              </a:rPr>
              <a:t>costs &amp; margin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20" y="2395728"/>
            <a:ext cx="1170432" cy="512064"/>
          </a:xfrm>
          <a:prstGeom prst="rect">
            <a:avLst/>
          </a:prstGeom>
          <a:solidFill>
            <a:srgbClr val="7C8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Markup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D7DAE4"/>
                </a:solidFill>
                <a:latin typeface="Segoe UI"/>
              </a:rPr>
              <a:t>store · +40 %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96728" y="2395728"/>
            <a:ext cx="1170432" cy="51206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33304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SHELF PRICE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33304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E8C3C3"/>
                </a:solidFill>
                <a:latin typeface="Segoe UI"/>
              </a:rPr>
              <a:t>partner × 1.40 + VAT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2962656"/>
            <a:ext cx="2542032" cy="512063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303580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1C2235"/>
                </a:solidFill>
                <a:latin typeface="Segoe UI"/>
              </a:rPr>
              <a:t>BEFORE · 4 SKUs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326440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Vegetable, Spicy, Beef, Chicken · purchase €0.65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54680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154680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54680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54680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33.28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54680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€0.650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61688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61688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61688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61688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45.18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61688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€0.882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68696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8696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568696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68696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100.40 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68696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€1.961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75704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775704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775704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75704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35.14 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75704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€0.686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82712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982712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982712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82712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20.08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82712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€0.392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89720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189720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189720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89720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40.16 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89720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€0.784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396728" y="2962656"/>
            <a:ext cx="1170432" cy="512063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396728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 lang="en-US">
                <a:solidFill>
                  <a:srgbClr val="B53A3A"/>
                </a:solidFill>
                <a:latin typeface="Segoe UI"/>
              </a:rPr>
              <a:t>140.55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96728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€2.745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6928" y="3511296"/>
            <a:ext cx="2542032" cy="512063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8368" y="358444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1C2235"/>
                </a:solidFill>
                <a:latin typeface="Segoe UI"/>
              </a:rPr>
              <a:t>BEFORE · 2 SKUs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8368" y="381304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Gouda, Carbonara · purchase €0.75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154680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154680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154680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154680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38.40 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54680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€0.750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361688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361688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361688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361688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52.13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61688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€1.018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568696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568696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568696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568696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115.84 ₴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568696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€2.263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775704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775704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775704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775704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40.54 ₴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775704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€0.792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982712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982712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982712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982712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23.17 ₴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82712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€0.453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89720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189720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189720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189720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46.34 ₴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189720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€0.905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396728" y="3511296"/>
            <a:ext cx="1170432" cy="512063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396728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 lang="en-US">
                <a:solidFill>
                  <a:srgbClr val="B53A3A"/>
                </a:solidFill>
                <a:latin typeface="Segoe UI"/>
              </a:rPr>
              <a:t>162.18 ₴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396728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€3.168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66928" y="4059936"/>
            <a:ext cx="25420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58368" y="413308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303A5D"/>
                </a:solidFill>
                <a:latin typeface="Segoe UI"/>
              </a:rPr>
              <a:t>AFTER · SIAS request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58368" y="436168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all 6 SKUs · purchase €0.54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154680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154680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27.65 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154680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€0.540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361688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361688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38.53 ₴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361688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€0.752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568696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568696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85.62 ₴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568696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€1.672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775704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775704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29.97 ₴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775704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€0.585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982712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982712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17.12 ₴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982712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€0.334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189720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189720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34.25 ₴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189720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€0.669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0396728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396728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 lang="en-US">
                <a:solidFill>
                  <a:srgbClr val="1E9EA6"/>
                </a:solidFill>
                <a:latin typeface="Segoe UI"/>
              </a:rPr>
              <a:t>119.86 ₴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396728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€2.341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66928" y="4608576"/>
            <a:ext cx="25420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58368" y="470916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 lang="en-US">
                <a:solidFill>
                  <a:srgbClr val="B53A3A"/>
                </a:solidFill>
                <a:latin typeface="Segoe UI"/>
              </a:rPr>
              <a:t>CHANGE · AFTER − BEFORE (4 SKUs)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154680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154680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−5.63 ₴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154680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−€0.110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361688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361688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−6.65 ₴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361688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−€0.130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568696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568696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−14.78 ₴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568696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−€0.289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775704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775704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−5.17 ₴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775704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−€0.101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982712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982712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−2.96 ₴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982712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−€0.058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9189720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189720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−5.91 ₴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189720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−€0.115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0396728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0396728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−20.69 ₴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396728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−€0.404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66928" y="5084064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SIAS PURCHASE PRICE BY SKU · NOW → REQUEST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56692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566928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5836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Vegetable Flavor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5836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113 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5836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€0.65 → €0.54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181051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81051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−17 %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41858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2418588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51002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Spicy Flavor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51002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112.5 g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51002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€0.65 → €0.54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366217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66217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−17 %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27024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4270248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436168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Beef Flavor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36168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113 g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36168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€0.65 → €0.54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551383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551383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−17 %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6121907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6121907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21334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Chicken Flavor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21334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113 g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21334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€0.65 → €0.54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736549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736549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−17 %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973567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7973567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806500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Gouda Cheese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806500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123 g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806500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€0.75 → €0.54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9217151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9217151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−28 %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982522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825228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91666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Carbonara Spicy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991666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131 g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991666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€0.75 → €0.54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11068811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1068811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−28 %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66928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 spc="-10" lang="en-US">
                <a:solidFill>
                  <a:srgbClr val="9FA9C4"/>
                </a:solidFill>
                <a:latin typeface="Segoe UI"/>
              </a:rPr>
              <a:t>Rate 51.20 ₴/€. Partner price = landed cost ÷ (1 − chain bonus 35 % − our share 20 %); shelf price = partner price × 1.40; all prices incl. VAT, per pack. "Before" landed cost per our cost file; "after" at the requested €0.54. Indicative model for discussion; the price has not been agreed.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FINANCIAL MODEL · 6 PALLETS · FINAL FIGURES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6 pallets: purchase €0.65–0.75 → €0.32, shelf 120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298448"/>
            <a:ext cx="45720" cy="9326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717890"/>
                </a:solidFill>
                <a:latin typeface="Segoe UI"/>
              </a:rPr>
              <a:t>NOW · SHELF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spc="-10" lang="en-US">
                <a:solidFill>
                  <a:srgbClr val="B53A3A"/>
                </a:solidFill>
                <a:latin typeface="Segoe UI"/>
              </a:rPr>
              <a:t>180.64 / 208.43 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 lang="en-US">
                <a:solidFill>
                  <a:srgbClr val="717890"/>
                </a:solidFill>
                <a:latin typeface="Segoe UI"/>
              </a:rPr>
              <a:t>purchase €0.65 / €0.75 · +51…74 % above the 120 ₴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298448"/>
            <a:ext cx="45720" cy="9326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717890"/>
                </a:solidFill>
                <a:latin typeface="Segoe UI"/>
              </a:rPr>
              <a:t>REQUEST TO SIAS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 lang="en-US">
                <a:solidFill>
                  <a:srgbClr val="B53A3A"/>
                </a:solidFill>
                <a:latin typeface="Segoe UI"/>
              </a:rPr>
              <a:t>€0.32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 lang="en-US">
                <a:solidFill>
                  <a:srgbClr val="717890"/>
                </a:solidFill>
                <a:latin typeface="Segoe UI"/>
              </a:rPr>
              <a:t>−51 % / −57 % vs current purchase price (one price for all 6 SKUs)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5007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7" y="1298448"/>
            <a:ext cx="45720" cy="9326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7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717890"/>
                </a:solidFill>
                <a:latin typeface="Segoe UI"/>
              </a:rPr>
              <a:t>AFTER · SHELF PRICE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7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spc="-10" lang="en-US">
                <a:solidFill>
                  <a:srgbClr val="1E9EA6"/>
                </a:solidFill>
                <a:latin typeface="Segoe UI"/>
              </a:rPr>
              <a:t>118.72 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7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 lang="en-US">
                <a:solidFill>
                  <a:srgbClr val="717890"/>
                </a:solidFill>
                <a:latin typeface="Segoe UI"/>
              </a:rPr>
              <a:t>chain bonus 35 % · cost 38.16 ₴ · headroom 1.28 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4680" y="2395728"/>
            <a:ext cx="1170432" cy="51206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91256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SIAS purchase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91256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BBE1E4"/>
                </a:solidFill>
                <a:latin typeface="Segoe UI"/>
              </a:rPr>
              <a:t>price per pack, 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1688" y="2395728"/>
            <a:ext cx="1170432" cy="512064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98264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Landed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8264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C7CBD9"/>
                </a:solidFill>
                <a:latin typeface="Segoe UI"/>
              </a:rPr>
              <a:t>full, in Ukraine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68696" y="2395728"/>
            <a:ext cx="1170432" cy="51206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05272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Partner price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5272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9FA9C4"/>
                </a:solidFill>
                <a:latin typeface="Segoe UI"/>
              </a:rPr>
              <a:t>from landed cost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75704" y="2395728"/>
            <a:ext cx="1170432" cy="51206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Chain bonus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EDD9B5"/>
                </a:solidFill>
                <a:latin typeface="Segoe UI"/>
              </a:rPr>
              <a:t>35 % of partner price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82712" y="2395728"/>
            <a:ext cx="1170432" cy="51206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19288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Left for 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9288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EDD9B5"/>
                </a:solidFill>
                <a:latin typeface="Segoe UI"/>
              </a:rPr>
              <a:t>costs &amp; margin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20" y="2395728"/>
            <a:ext cx="1170432" cy="512064"/>
          </a:xfrm>
          <a:prstGeom prst="rect">
            <a:avLst/>
          </a:prstGeom>
          <a:solidFill>
            <a:srgbClr val="7C8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Markup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D7DAE4"/>
                </a:solidFill>
                <a:latin typeface="Segoe UI"/>
              </a:rPr>
              <a:t>store · +40 %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96728" y="2395728"/>
            <a:ext cx="1170432" cy="51206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33304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SHELF PRICE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33304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E8C3C3"/>
                </a:solidFill>
                <a:latin typeface="Segoe UI"/>
              </a:rPr>
              <a:t>partner × 1.40 + VAT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2962656"/>
            <a:ext cx="2542032" cy="512063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303580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1C2235"/>
                </a:solidFill>
                <a:latin typeface="Segoe UI"/>
              </a:rPr>
              <a:t>BEFORE · 4 SKUs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326440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Vegetable, Spicy, Beef, Chicken · purchase €0.65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54680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154680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54680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54680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33.28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54680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€0.650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61688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61688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61688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61688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58.06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61688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€1.134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68696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8696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568696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68696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129.03 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68696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€2.520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75704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775704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775704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75704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45.16 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75704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€0.882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82712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982712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982712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82712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25.81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82712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€0.504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89720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189720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189720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89720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51.61 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89720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€1.008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396728" y="2962656"/>
            <a:ext cx="1170432" cy="512063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396728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 lang="en-US">
                <a:solidFill>
                  <a:srgbClr val="B53A3A"/>
                </a:solidFill>
                <a:latin typeface="Segoe UI"/>
              </a:rPr>
              <a:t>180.64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96728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€3.528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6928" y="3511296"/>
            <a:ext cx="2542032" cy="512063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8368" y="358444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1C2235"/>
                </a:solidFill>
                <a:latin typeface="Segoe UI"/>
              </a:rPr>
              <a:t>BEFORE · 2 SKUs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8368" y="381304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Gouda, Carbonara · purchase €0.75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154680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154680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154680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154680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38.40 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54680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€0.750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361688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361688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361688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361688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67.00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61688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€1.309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568696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568696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568696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568696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148.88 ₴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568696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€2.908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775704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775704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775704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775704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52.11 ₴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775704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€1.018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982712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982712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982712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982712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29.78 ₴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82712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€0.582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89720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189720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189720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189720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59.55 ₴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189720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€1.163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396728" y="3511296"/>
            <a:ext cx="1170432" cy="512063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396728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 lang="en-US">
                <a:solidFill>
                  <a:srgbClr val="B53A3A"/>
                </a:solidFill>
                <a:latin typeface="Segoe UI"/>
              </a:rPr>
              <a:t>208.43 ₴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396728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€4.071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66928" y="4059936"/>
            <a:ext cx="25420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58368" y="413308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303A5D"/>
                </a:solidFill>
                <a:latin typeface="Segoe UI"/>
              </a:rPr>
              <a:t>AFTER · SIAS request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58368" y="436168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all 6 SKUs · purchase €0.32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154680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154680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16.38 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154680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€0.320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361688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361688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38.16 ₴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361688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€0.745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568696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568696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84.80 ₴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568696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€1.656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775704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775704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29.68 ₴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775704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€0.580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982712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982712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16.96 ₴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982712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€0.331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189720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189720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33.92 ₴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189720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€0.662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0396728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396728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 lang="en-US">
                <a:solidFill>
                  <a:srgbClr val="1E9EA6"/>
                </a:solidFill>
                <a:latin typeface="Segoe UI"/>
              </a:rPr>
              <a:t>118.72 ₴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396728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€2.319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66928" y="4608576"/>
            <a:ext cx="25420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58368" y="470916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 lang="en-US">
                <a:solidFill>
                  <a:srgbClr val="B53A3A"/>
                </a:solidFill>
                <a:latin typeface="Segoe UI"/>
              </a:rPr>
              <a:t>CHANGE · AFTER − BEFORE (4 SKUs)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154680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154680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−16.90 ₴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154680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−€0.330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361688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361688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−19.90 ₴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361688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−€0.389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568696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568696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−44.23 ₴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568696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−€0.864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775704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775704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−15.48 ₴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775704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−€0.302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982712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982712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−8.85 ₴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982712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−€0.173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9189720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189720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−17.69 ₴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189720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−€0.346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0396728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0396728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−61.92 ₴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396728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−€1.209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66928" y="5084064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SIAS PURCHASE PRICE BY SKU · NOW → REQUEST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56692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566928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5836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Vegetable Flavor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5836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113 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5836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€0.65 → €0.32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181051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81051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−51 %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41858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2418588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51002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Spicy Flavor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51002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112.5 g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51002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€0.65 → €0.32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366217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66217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−51 %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27024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4270248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436168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Beef Flavor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36168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113 g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36168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€0.65 → €0.32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551383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551383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−51 %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6121907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6121907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21334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Chicken Flavor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21334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113 g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21334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€0.65 → €0.32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736549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736549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−51 %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973567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7973567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806500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Gouda Cheese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806500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123 g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806500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€0.75 → €0.32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9217151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9217151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−57 %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982522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825228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91666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Carbonara Spicy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991666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131 g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991666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€0.75 → €0.32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11068811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1068811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−57 %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66928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 spc="-10" lang="en-US">
                <a:solidFill>
                  <a:srgbClr val="9FA9C4"/>
                </a:solidFill>
                <a:latin typeface="Segoe UI"/>
              </a:rPr>
              <a:t>Rate 51.20 ₴/€. Partner price = landed cost ÷ (1 − chain bonus 35 % − our share 20 %); shelf price = partner price × 1.40; all prices incl. VAT, per pack. "Before" landed cost per our cost file; "after" at the requested €0.32. Indicative model for discussion; the price has not been agreed.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LANDED COST · BUILDING BLOCKS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What the landed cost in Ukraine is made 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 lang="en-US">
                <a:solidFill>
                  <a:srgbClr val="717890"/>
                </a:solidFill>
                <a:latin typeface="Segoe UI"/>
              </a:rPr>
              <a:t>₴ per pack: SIAS purchase + delivery + import VAT + financing = landed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572768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 lang="en-US">
                <a:solidFill>
                  <a:srgbClr val="1E9EA6"/>
                </a:solidFill>
                <a:latin typeface="Segoe UI"/>
              </a:rPr>
              <a:t>33 PALLETS · FULL TRUCK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810512"/>
            <a:ext cx="1481328" cy="438912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2656" y="1865376"/>
            <a:ext cx="14081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SIAS purchase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066543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 lang="en-US">
                <a:solidFill>
                  <a:srgbClr val="BBE1E4"/>
                </a:solidFill>
                <a:latin typeface="Segoe UI"/>
              </a:rPr>
              <a:t>pack price ×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1920240"/>
            <a:ext cx="2011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717890"/>
                </a:solidFill>
                <a:latin typeface="Segoe UI"/>
              </a:rPr>
              <a:t>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08576" y="1810512"/>
            <a:ext cx="1481328" cy="438912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865376"/>
            <a:ext cx="14081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066543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 lang="en-US">
                <a:solidFill>
                  <a:srgbClr val="C7CBD9"/>
                </a:solidFill>
                <a:latin typeface="Segoe UI"/>
              </a:rPr>
              <a:t>freight, broker, terminal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1920240"/>
            <a:ext cx="2011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717890"/>
                </a:solidFill>
                <a:latin typeface="Segoe UI"/>
              </a:rPr>
              <a:t>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91072" y="1810512"/>
            <a:ext cx="1481328" cy="4389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1865376"/>
            <a:ext cx="14081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Import VAT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066543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 lang="en-US">
                <a:solidFill>
                  <a:srgbClr val="EDD9B5"/>
                </a:solidFill>
                <a:latin typeface="Segoe UI"/>
              </a:rPr>
              <a:t>20 % on goods and freight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1920240"/>
            <a:ext cx="2011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717890"/>
                </a:solidFill>
                <a:latin typeface="Segoe UI"/>
              </a:rPr>
              <a:t>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73568" y="1810512"/>
            <a:ext cx="1481328" cy="438912"/>
          </a:xfrm>
          <a:prstGeom prst="rect">
            <a:avLst/>
          </a:prstGeom>
          <a:solidFill>
            <a:srgbClr val="5B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0144" y="1865376"/>
            <a:ext cx="14081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Financing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2066543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 lang="en-US">
                <a:solidFill>
                  <a:srgbClr val="CDC9E0"/>
                </a:solidFill>
                <a:latin typeface="Segoe UI"/>
              </a:rPr>
              <a:t>2.5 % of the sum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1920240"/>
            <a:ext cx="2011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717890"/>
                </a:solidFill>
                <a:latin typeface="Segoe UI"/>
              </a:rPr>
              <a:t>=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56064" y="1810512"/>
            <a:ext cx="1481328" cy="4389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1865376"/>
            <a:ext cx="14081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Landed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066543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 lang="en-US">
                <a:solidFill>
                  <a:srgbClr val="9FA9C4"/>
                </a:solidFill>
                <a:latin typeface="Segoe UI"/>
              </a:rPr>
              <a:t>full, in Ukraine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2304288"/>
            <a:ext cx="2249424" cy="4389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2359152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1C2235"/>
                </a:solidFill>
                <a:latin typeface="Segoe UI"/>
              </a:rPr>
              <a:t>BEFORE · 4 SKUs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2569464"/>
            <a:ext cx="21396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Vegetable, Spicy, Beef, Chicken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2304288"/>
            <a:ext cx="1481328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926080" y="2304288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26080" y="2734056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26080" y="2340864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33.28 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2587752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€0.650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08576" y="2304288"/>
            <a:ext cx="1481328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608576" y="2304288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608576" y="2734056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08576" y="2340864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3.67 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8576" y="2587752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€0.072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91072" y="2304288"/>
            <a:ext cx="1481328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91072" y="2304288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91072" y="2734056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91072" y="2340864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7.13 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91072" y="2587752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€0.139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73568" y="2304288"/>
            <a:ext cx="1481328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973568" y="2304288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973568" y="2734056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73568" y="2340864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1.10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73568" y="2587752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€0.022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56064" y="2304288"/>
            <a:ext cx="1481328" cy="438912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56064" y="2340864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spc="-10" lang="en-US">
                <a:solidFill>
                  <a:srgbClr val="303A5D"/>
                </a:solidFill>
                <a:latin typeface="Segoe UI"/>
              </a:rPr>
              <a:t>45.18 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56064" y="2587752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€0.882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2779776"/>
            <a:ext cx="2249424" cy="4389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" y="2834640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1C2235"/>
                </a:solidFill>
                <a:latin typeface="Segoe UI"/>
              </a:rPr>
              <a:t>BEFORE · 2 SKUs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3044952"/>
            <a:ext cx="21396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Gouda, Carbonara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26080" y="2779776"/>
            <a:ext cx="1481328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926080" y="2779776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926080" y="3209544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26080" y="2816352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38.40 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26080" y="3063240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€0.750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608576" y="2779776"/>
            <a:ext cx="1481328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608576" y="2779776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608576" y="3209544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608576" y="2816352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4.23 ₴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608576" y="3063240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€0.083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91072" y="2779776"/>
            <a:ext cx="1481328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91072" y="2779776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291072" y="3209544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91072" y="2816352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8.22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91072" y="3063240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€0.161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973568" y="2779776"/>
            <a:ext cx="1481328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973568" y="2779776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973568" y="3209544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973568" y="2816352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1.27 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973568" y="3063240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€0.025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656064" y="2779776"/>
            <a:ext cx="1481328" cy="438912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656064" y="2816352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spc="-10" lang="en-US">
                <a:solidFill>
                  <a:srgbClr val="303A5D"/>
                </a:solidFill>
                <a:latin typeface="Segoe UI"/>
              </a:rPr>
              <a:t>52.13 ₴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656064" y="3063240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€1.018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66928" y="3255264"/>
            <a:ext cx="2249424" cy="438912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8368" y="3310128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303A5D"/>
                </a:solidFill>
                <a:latin typeface="Segoe UI"/>
              </a:rPr>
              <a:t>AFTER · SIAS request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8368" y="3520440"/>
            <a:ext cx="21396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all 6 SKUs · purchase €0.54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926080" y="3255264"/>
            <a:ext cx="1481328" cy="438912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926080" y="329184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27.65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926080" y="3538728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€0.540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08576" y="3255264"/>
            <a:ext cx="1481328" cy="438912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608576" y="329184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3.91 ₴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608576" y="3538728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€0.076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291072" y="3255264"/>
            <a:ext cx="1481328" cy="438912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291072" y="329184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6.03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91072" y="3538728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€0.118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973568" y="3255264"/>
            <a:ext cx="1481328" cy="438912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973568" y="329184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0.94 ₴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973568" y="3538728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€0.018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656064" y="3255264"/>
            <a:ext cx="1481328" cy="438912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656064" y="329184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spc="-10" lang="en-US">
                <a:solidFill>
                  <a:srgbClr val="1E9EA6"/>
                </a:solidFill>
                <a:latin typeface="Segoe UI"/>
              </a:rPr>
              <a:t>38.53 ₴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656064" y="3538728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€0.752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66928" y="3877056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 lang="en-US">
                <a:solidFill>
                  <a:srgbClr val="B53A3A"/>
                </a:solidFill>
                <a:latin typeface="Segoe UI"/>
              </a:rPr>
              <a:t>6 PALLETS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926080" y="4114800"/>
            <a:ext cx="1481328" cy="438912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962656" y="4169663"/>
            <a:ext cx="14081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SIAS purchase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962656" y="4370832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 lang="en-US">
                <a:solidFill>
                  <a:srgbClr val="BBE1E4"/>
                </a:solidFill>
                <a:latin typeface="Segoe UI"/>
              </a:rPr>
              <a:t>pack price × rate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407408" y="4224528"/>
            <a:ext cx="2011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717890"/>
                </a:solidFill>
                <a:latin typeface="Segoe UI"/>
              </a:rPr>
              <a:t>+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608576" y="4114800"/>
            <a:ext cx="1481328" cy="438912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645152" y="4169663"/>
            <a:ext cx="14081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Delivery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645152" y="4370832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 lang="en-US">
                <a:solidFill>
                  <a:srgbClr val="C7CBD9"/>
                </a:solidFill>
                <a:latin typeface="Segoe UI"/>
              </a:rPr>
              <a:t>freight, broker, terminal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089904" y="4224528"/>
            <a:ext cx="2011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717890"/>
                </a:solidFill>
                <a:latin typeface="Segoe UI"/>
              </a:rPr>
              <a:t>+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91072" y="4114800"/>
            <a:ext cx="1481328" cy="4389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327648" y="4169663"/>
            <a:ext cx="14081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Import VAT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327648" y="4370832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 lang="en-US">
                <a:solidFill>
                  <a:srgbClr val="EDD9B5"/>
                </a:solidFill>
                <a:latin typeface="Segoe UI"/>
              </a:rPr>
              <a:t>20 % on goods and freight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72400" y="4224528"/>
            <a:ext cx="2011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717890"/>
                </a:solidFill>
                <a:latin typeface="Segoe UI"/>
              </a:rPr>
              <a:t>+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973568" y="4114800"/>
            <a:ext cx="1481328" cy="438912"/>
          </a:xfrm>
          <a:prstGeom prst="rect">
            <a:avLst/>
          </a:prstGeom>
          <a:solidFill>
            <a:srgbClr val="5B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010144" y="4169663"/>
            <a:ext cx="14081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Financing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010144" y="4370832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 lang="en-US">
                <a:solidFill>
                  <a:srgbClr val="CDC9E0"/>
                </a:solidFill>
                <a:latin typeface="Segoe UI"/>
              </a:rPr>
              <a:t>2.5 % of the sum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454896" y="4224528"/>
            <a:ext cx="2011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717890"/>
                </a:solidFill>
                <a:latin typeface="Segoe UI"/>
              </a:rPr>
              <a:t>=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656064" y="4114800"/>
            <a:ext cx="1481328" cy="4389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692640" y="4169663"/>
            <a:ext cx="14081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Landed cost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692640" y="4370832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 lang="en-US">
                <a:solidFill>
                  <a:srgbClr val="9FA9C4"/>
                </a:solidFill>
                <a:latin typeface="Segoe UI"/>
              </a:rPr>
              <a:t>full, in Ukraine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66928" y="4608576"/>
            <a:ext cx="2249424" cy="4389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8368" y="4663440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1C2235"/>
                </a:solidFill>
                <a:latin typeface="Segoe UI"/>
              </a:rPr>
              <a:t>BEFORE · 4 SKUs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58368" y="4873752"/>
            <a:ext cx="21396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Vegetable, Spicy, Beef, Chicken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926080" y="4608576"/>
            <a:ext cx="1481328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2926080" y="4608576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2926080" y="5038344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926080" y="4645152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33.28 ₴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926080" y="4892040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€0.650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608576" y="4608576"/>
            <a:ext cx="1481328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608576" y="4608576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608576" y="5038344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608576" y="4645152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14.86 ₴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608576" y="4892040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€0.290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291072" y="4608576"/>
            <a:ext cx="1481328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6291072" y="4608576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291072" y="5038344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291072" y="4645152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8.50 ₴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291072" y="4892040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€0.166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973568" y="4608576"/>
            <a:ext cx="1481328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7973568" y="4608576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7973568" y="5038344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973568" y="4645152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1.42 ₴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973568" y="4892040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€0.028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9656064" y="4608576"/>
            <a:ext cx="1481328" cy="438912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656064" y="4645152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spc="-10" lang="en-US">
                <a:solidFill>
                  <a:srgbClr val="303A5D"/>
                </a:solidFill>
                <a:latin typeface="Segoe UI"/>
              </a:rPr>
              <a:t>58.06 ₴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656064" y="4892040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€1.134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66928" y="5084064"/>
            <a:ext cx="2249424" cy="4389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58368" y="5138928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1C2235"/>
                </a:solidFill>
                <a:latin typeface="Segoe UI"/>
              </a:rPr>
              <a:t>BEFORE · 2 SKUs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58368" y="5349240"/>
            <a:ext cx="21396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Gouda, Carbonara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926080" y="5084064"/>
            <a:ext cx="1481328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2926080" y="5084064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2926080" y="5513832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926080" y="512064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38.40 ₴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926080" y="5367528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€0.750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08576" y="5084064"/>
            <a:ext cx="1481328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4608576" y="5084064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4608576" y="5513832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4608576" y="512064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17.15 ₴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608576" y="5367528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€0.335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291072" y="5084064"/>
            <a:ext cx="1481328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291072" y="5084064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291072" y="5513832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291072" y="512064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9.81 ₴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291072" y="5367528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€0.192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973568" y="5084064"/>
            <a:ext cx="1481328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973568" y="5084064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973568" y="5513832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7973568" y="512064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1.63 ₴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973568" y="5367528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€0.032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9656064" y="5084064"/>
            <a:ext cx="1481328" cy="438912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9656064" y="512064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spc="-10" lang="en-US">
                <a:solidFill>
                  <a:srgbClr val="303A5D"/>
                </a:solidFill>
                <a:latin typeface="Segoe UI"/>
              </a:rPr>
              <a:t>67.00 ₴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9656064" y="5367528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€1.309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566928" y="5559552"/>
            <a:ext cx="2249424" cy="438912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658368" y="5614416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303A5D"/>
                </a:solidFill>
                <a:latin typeface="Segoe UI"/>
              </a:rPr>
              <a:t>AFTER · SIAS request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658368" y="5824728"/>
            <a:ext cx="21396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all 6 SKUs · purchase €0.32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926080" y="5559552"/>
            <a:ext cx="1481328" cy="438912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926080" y="5596128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16.38 ₴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2926080" y="5843016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€0.320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4608576" y="5559552"/>
            <a:ext cx="1481328" cy="438912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4608576" y="5596128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15.63 ₴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4608576" y="5843016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€0.305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291072" y="5559552"/>
            <a:ext cx="1481328" cy="438912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291072" y="5596128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5.22 ₴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6291072" y="5843016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€0.102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7973568" y="5559552"/>
            <a:ext cx="1481328" cy="438912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7973568" y="5596128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0.93 ₴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7973568" y="5843016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€0.018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9656064" y="5559552"/>
            <a:ext cx="1481328" cy="438912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9656064" y="5596128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spc="-10" lang="en-US">
                <a:solidFill>
                  <a:srgbClr val="1E9EA6"/>
                </a:solidFill>
                <a:latin typeface="Segoe UI"/>
              </a:rPr>
              <a:t>38.16 ₴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9656064" y="5843016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€0.745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566928" y="6400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 spc="-10" lang="en-US">
                <a:solidFill>
                  <a:srgbClr val="9FA9C4"/>
                </a:solidFill>
                <a:latin typeface="Segoe UI"/>
              </a:rPr>
              <a:t>Delivery = freight, broker, terminal and certification of the batch, per pack; the smaller the batch, the higher the delivery cost per pack. Customs duty 0 %. VAT 20 % is charged on the goods value plus 70 % of freight. Rate 51.20 ₴/€. "Before" per our cost file (logistics allocated by value), "after" spread evenly per pack.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SENSITIVITY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Purchase price needed at other shelf prices and our 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 lang="en-US">
                <a:solidFill>
                  <a:srgbClr val="717890"/>
                </a:solidFill>
                <a:latin typeface="Segoe UI"/>
              </a:rPr>
              <a:t>Maximum purchase price, € per pack, at a 35 % chain bonus. Colour = comparison with the current SIAS price: €0.75 (Gouda, Carbonara) and €0.65 (the rest).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394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 lang="en-US">
                <a:solidFill>
                  <a:srgbClr val="1E9EA6"/>
                </a:solidFill>
                <a:latin typeface="Segoe UI"/>
              </a:rPr>
              <a:t>33 PALLETS · FULL TRUCK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938528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 spc="-10" lang="en-US">
                <a:solidFill>
                  <a:srgbClr val="717890"/>
                </a:solidFill>
                <a:latin typeface="Segoe UI"/>
              </a:rPr>
              <a:t>OUR SHARE \ SHELF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105 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110 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6976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B53A3A"/>
                </a:solidFill>
                <a:latin typeface="Segoe UI"/>
              </a:rPr>
              <a:t>120 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130 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2624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140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28600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30 %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8760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€0.34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86584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6584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€0.36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4408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64408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42232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42232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0056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0056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279806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25 %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08760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8760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86584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86584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64408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64408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2232" y="2715768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42232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0056" y="2715768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0056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331012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B53A3A"/>
                </a:solidFill>
                <a:latin typeface="Segoe UI"/>
              </a:rPr>
              <a:t>20 %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08760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08760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86584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86584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64408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64408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64408" y="3227832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64408" y="3648455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64408" y="3227832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050791" y="3227832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42232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42232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0056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0056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€0.64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382219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08760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08760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86584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86584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64408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64408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€0.60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42232" y="3739896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42232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€0.66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0056" y="3739896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0056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€0.72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" y="433425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10 %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508760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508760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386584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386584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€0.61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64408" y="4251960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64408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€0.67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42232" y="4251960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42232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€0.73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0056" y="4251960"/>
            <a:ext cx="822959" cy="4572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20056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FFFFFF"/>
                </a:solidFill>
                <a:latin typeface="Segoe UI"/>
              </a:rPr>
              <a:t>€0.80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1627632"/>
            <a:ext cx="5394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 lang="en-US">
                <a:solidFill>
                  <a:srgbClr val="B53A3A"/>
                </a:solidFill>
                <a:latin typeface="Segoe UI"/>
              </a:rPr>
              <a:t>6 PALLETS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17920" y="1938528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 spc="-10" lang="en-US">
                <a:solidFill>
                  <a:srgbClr val="717890"/>
                </a:solidFill>
                <a:latin typeface="Segoe UI"/>
              </a:rPr>
              <a:t>OUR SHARE \ SHELF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32320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105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10144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110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87967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B53A3A"/>
                </a:solidFill>
                <a:latin typeface="Segoe UI"/>
              </a:rPr>
              <a:t>120 ₴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65792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130 ₴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43616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140 ₴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17920" y="228600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30 %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159752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159752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€0.13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37575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037575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€0.15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15399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15399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€0.19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793224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793224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€0.23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671048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671048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€0.26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17920" y="279806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25 %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159752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159752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€0.19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037575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037575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€0.21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915399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15399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€0.25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793224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793224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€0.30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671048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671048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€0.34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217920" y="331012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B53A3A"/>
                </a:solidFill>
                <a:latin typeface="Segoe UI"/>
              </a:rPr>
              <a:t>20 %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159752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159752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€0.24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037575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037575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€0.27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915399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915399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€0.32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915399" y="3227832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915399" y="3648455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915399" y="3227832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701784" y="3227832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93224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793224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€0.37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671048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671048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217920" y="382219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159752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159752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€0.30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037575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037575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€0.33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915399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915399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€0.39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793224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793224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€0.45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671048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671048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217920" y="433425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10 %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159752" y="4251960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159752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€0.36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037575" y="4251960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037575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€0.40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915399" y="4251960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915399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€0.46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793224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793224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€0.52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0671048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0671048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€0.58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94944" y="4718304"/>
            <a:ext cx="164592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914400" y="4700016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≥ €0.75 — achievable for all SKUs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419856" y="4718304"/>
            <a:ext cx="164592" cy="128016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3639312" y="4700016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€0.65–0.75 — for four SKUs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144768" y="4718304"/>
            <a:ext cx="164592" cy="128016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364224" y="4700016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€0.50–0.65 — price reduction needed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869680" y="4718304"/>
            <a:ext cx="164592" cy="128016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089136" y="4700016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&lt; €0.50 — substantial reduction needed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94944" y="4901184"/>
            <a:ext cx="10789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 lang="en-US">
                <a:solidFill>
                  <a:srgbClr val="B53A3A"/>
                </a:solidFill>
                <a:latin typeface="Segoe UI"/>
              </a:rPr>
              <a:t>Red frame = target: shelf price 120 ₴, chain bonus 35 %, "left for us" share 20 %.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66928" y="645566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 lang="en-US">
                <a:solidFill>
                  <a:srgbClr val="9FA9C4"/>
                </a:solidFill>
                <a:latin typeface="Segoe UI"/>
              </a:rPr>
              <a:t>Calculated with the financial-model formula (rate 51.20; chain bonus 35 %; markup 1.40; financing 2.5 %; VAT 20 %). Price rounded down to the euro cent.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6507</Words>
  <Application>Microsoft Office PowerPoint</Application>
  <PresentationFormat>Широкий екран</PresentationFormat>
  <Paragraphs>1932</Paragraphs>
  <Slides>29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29</vt:i4>
      </vt:variant>
    </vt:vector>
  </HeadingPairs>
  <TitlesOfParts>
    <vt:vector size="33" baseType="lpstr">
      <vt:lpstr>Arial</vt:lpstr>
      <vt:lpstr>Calibri</vt:lpstr>
      <vt:lpstr>Segoe UI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3</cp:revision>
  <dcterms:created xsi:type="dcterms:W3CDTF">2013-01-27T09:14:16Z</dcterms:created>
  <dcterms:modified xsi:type="dcterms:W3CDTF">2026-10-13T12:43:07Z</dcterms:modified>
  <cp:category/>
</cp:coreProperties>
</file>