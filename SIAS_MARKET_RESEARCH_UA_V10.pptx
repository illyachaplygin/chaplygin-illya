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5" r:id="rId2"/>
    <p:sldId id="258" r:id="rId3"/>
    <p:sldId id="286" r:id="rId4"/>
    <p:sldId id="260" r:id="rId5"/>
    <p:sldId id="287" r:id="rId6"/>
    <p:sldId id="288" r:id="rId7"/>
    <p:sldId id="289" r:id="rId8"/>
    <p:sldId id="290" r:id="rId9"/>
    <p:sldId id="291" r:id="rId10"/>
    <p:sldId id="265" r:id="rId11"/>
    <p:sldId id="292" r:id="rId12"/>
    <p:sldId id="293" r:id="rId13"/>
    <p:sldId id="294" r:id="rId14"/>
    <p:sldId id="295" r:id="rId15"/>
    <p:sldId id="270" r:id="rId16"/>
    <p:sldId id="296" r:id="rId17"/>
    <p:sldId id="297" r:id="rId18"/>
    <p:sldId id="298" r:id="rId19"/>
    <p:sldId id="299" r:id="rId20"/>
    <p:sldId id="300" r:id="rId21"/>
    <p:sldId id="301" r:id="rId22"/>
    <p:sldId id="303" r:id="rId23"/>
    <p:sldId id="304" r:id="rId24"/>
    <p:sldId id="280" r:id="rId25"/>
    <p:sldId id="305" r:id="rId26"/>
    <p:sldId id="306" r:id="rId27"/>
    <p:sldId id="309" r:id="rId35"/>
    <p:sldId id="310" r:id="rId36"/>
    <p:sldId id="311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jpg"/><Relationship Id="rId4" Type="http://schemas.openxmlformats.org/officeDocument/2006/relationships/image" Target="../media/image4.jpg"/><Relationship Id="rId5" Type="http://schemas.openxmlformats.org/officeDocument/2006/relationships/image" Target="../media/image7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image" Target="../media/image10.jpg"/><Relationship Id="rId6" Type="http://schemas.openxmlformats.org/officeDocument/2006/relationships/image" Target="../media/image11.jpg"/><Relationship Id="rId7" Type="http://schemas.openxmlformats.org/officeDocument/2006/relationships/image" Target="../media/image3.jpg"/><Relationship Id="rId8" Type="http://schemas.openxmlformats.org/officeDocument/2006/relationships/image" Target="../media/image1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jpg"/><Relationship Id="rId4" Type="http://schemas.openxmlformats.org/officeDocument/2006/relationships/image" Target="../media/image13.jpg"/><Relationship Id="rId5" Type="http://schemas.openxmlformats.org/officeDocument/2006/relationships/image" Target="../media/image14.jpg"/><Relationship Id="rId6" Type="http://schemas.openxmlformats.org/officeDocument/2006/relationships/image" Target="../media/image3.jpg"/><Relationship Id="rId7" Type="http://schemas.openxmlformats.org/officeDocument/2006/relationships/image" Target="../media/image15.jpg"/><Relationship Id="rId8" Type="http://schemas.openxmlformats.org/officeDocument/2006/relationships/image" Target="../media/image16.jpg"/><Relationship Id="rId9" Type="http://schemas.openxmlformats.org/officeDocument/2006/relationships/image" Target="../media/image17.jpg"/><Relationship Id="rId10" Type="http://schemas.openxmlformats.org/officeDocument/2006/relationships/image" Target="../media/image18.jpg"/><Relationship Id="rId11" Type="http://schemas.openxmlformats.org/officeDocument/2006/relationships/image" Target="../media/image9.jpg"/><Relationship Id="rId12" Type="http://schemas.openxmlformats.org/officeDocument/2006/relationships/image" Target="../media/image19.jpg"/><Relationship Id="rId13" Type="http://schemas.openxmlformats.org/officeDocument/2006/relationships/image" Target="../media/image20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jpg"/><Relationship Id="rId4" Type="http://schemas.openxmlformats.org/officeDocument/2006/relationships/image" Target="../media/image22.jpg"/><Relationship Id="rId5" Type="http://schemas.openxmlformats.org/officeDocument/2006/relationships/image" Target="../media/image23.jpg"/><Relationship Id="rId6" Type="http://schemas.openxmlformats.org/officeDocument/2006/relationships/image" Target="../media/image24.jpg"/><Relationship Id="rId7" Type="http://schemas.openxmlformats.org/officeDocument/2006/relationships/image" Target="../media/image19.jpg"/><Relationship Id="rId8" Type="http://schemas.openxmlformats.org/officeDocument/2006/relationships/image" Target="../media/image10.jpg"/><Relationship Id="rId9" Type="http://schemas.openxmlformats.org/officeDocument/2006/relationships/image" Target="../media/image25.jpg"/><Relationship Id="rId10" Type="http://schemas.openxmlformats.org/officeDocument/2006/relationships/image" Target="../media/image26.jpg"/><Relationship Id="rId11" Type="http://schemas.openxmlformats.org/officeDocument/2006/relationships/image" Target="../media/image27.jpg"/><Relationship Id="rId12" Type="http://schemas.openxmlformats.org/officeDocument/2006/relationships/image" Target="../media/image28.jpg"/><Relationship Id="rId13" Type="http://schemas.openxmlformats.org/officeDocument/2006/relationships/image" Target="../media/image29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0.jpg"/><Relationship Id="rId4" Type="http://schemas.openxmlformats.org/officeDocument/2006/relationships/image" Target="../media/image31.jpg"/><Relationship Id="rId5" Type="http://schemas.openxmlformats.org/officeDocument/2006/relationships/image" Target="../media/image11.jpg"/><Relationship Id="rId6" Type="http://schemas.openxmlformats.org/officeDocument/2006/relationships/image" Target="../media/image6.jpg"/><Relationship Id="rId7" Type="http://schemas.openxmlformats.org/officeDocument/2006/relationships/image" Target="../media/image32.jpg"/><Relationship Id="rId8" Type="http://schemas.openxmlformats.org/officeDocument/2006/relationships/image" Target="../media/image33.jpg"/><Relationship Id="rId9" Type="http://schemas.openxmlformats.org/officeDocument/2006/relationships/image" Target="../media/image34.jpg"/><Relationship Id="rId10" Type="http://schemas.openxmlformats.org/officeDocument/2006/relationships/image" Target="../media/image35.jpg"/><Relationship Id="rId11" Type="http://schemas.openxmlformats.org/officeDocument/2006/relationships/image" Target="../media/image36.jpg"/><Relationship Id="rId12" Type="http://schemas.openxmlformats.org/officeDocument/2006/relationships/image" Target="../media/image37.jpg"/><Relationship Id="rId13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jpg"/><Relationship Id="rId4" Type="http://schemas.openxmlformats.org/officeDocument/2006/relationships/image" Target="../media/image38.jpg"/><Relationship Id="rId5" Type="http://schemas.openxmlformats.org/officeDocument/2006/relationships/image" Target="../media/image39.jpg"/><Relationship Id="rId6" Type="http://schemas.openxmlformats.org/officeDocument/2006/relationships/image" Target="../media/image40.jpg"/><Relationship Id="rId7" Type="http://schemas.openxmlformats.org/officeDocument/2006/relationships/image" Target="../media/image41.jpg"/><Relationship Id="rId8" Type="http://schemas.openxmlformats.org/officeDocument/2006/relationships/image" Target="../media/image42.jpg"/><Relationship Id="rId9" Type="http://schemas.openxmlformats.org/officeDocument/2006/relationships/image" Target="../media/image43.jpg"/><Relationship Id="rId10" Type="http://schemas.openxmlformats.org/officeDocument/2006/relationships/image" Target="../media/image1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4.jpg"/><Relationship Id="rId4" Type="http://schemas.openxmlformats.org/officeDocument/2006/relationships/image" Target="../media/image45.jpg"/><Relationship Id="rId5" Type="http://schemas.openxmlformats.org/officeDocument/2006/relationships/image" Target="../media/image46.jpg"/><Relationship Id="rId6" Type="http://schemas.openxmlformats.org/officeDocument/2006/relationships/image" Target="../media/image47.jpg"/><Relationship Id="rId7" Type="http://schemas.openxmlformats.org/officeDocument/2006/relationships/image" Target="../media/image2.jpg"/><Relationship Id="rId8" Type="http://schemas.openxmlformats.org/officeDocument/2006/relationships/image" Target="../media/image48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4.jpg"/><Relationship Id="rId4" Type="http://schemas.openxmlformats.org/officeDocument/2006/relationships/image" Target="../media/image49.jpg"/><Relationship Id="rId5" Type="http://schemas.openxmlformats.org/officeDocument/2006/relationships/image" Target="../media/image50.jpg"/><Relationship Id="rId6" Type="http://schemas.openxmlformats.org/officeDocument/2006/relationships/image" Target="../media/image51.jpg"/><Relationship Id="rId7" Type="http://schemas.openxmlformats.org/officeDocument/2006/relationships/image" Target="../media/image52.jpg"/><Relationship Id="rId8" Type="http://schemas.openxmlformats.org/officeDocument/2006/relationships/image" Target="../media/image45.jpg"/><Relationship Id="rId9" Type="http://schemas.openxmlformats.org/officeDocument/2006/relationships/image" Target="../media/image53.jpg"/><Relationship Id="rId10" Type="http://schemas.openxmlformats.org/officeDocument/2006/relationships/image" Target="../media/image54.jpg"/><Relationship Id="rId11" Type="http://schemas.openxmlformats.org/officeDocument/2006/relationships/image" Target="../media/image55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6.jpg"/><Relationship Id="rId4" Type="http://schemas.openxmlformats.org/officeDocument/2006/relationships/image" Target="../media/image57.jpg"/><Relationship Id="rId5" Type="http://schemas.openxmlformats.org/officeDocument/2006/relationships/image" Target="../media/image46.jpg"/><Relationship Id="rId6" Type="http://schemas.openxmlformats.org/officeDocument/2006/relationships/image" Target="../media/image58.jpg"/><Relationship Id="rId7" Type="http://schemas.openxmlformats.org/officeDocument/2006/relationships/image" Target="../media/image59.jpg"/><Relationship Id="rId8" Type="http://schemas.openxmlformats.org/officeDocument/2006/relationships/image" Target="../media/image60.jpg"/><Relationship Id="rId9" Type="http://schemas.openxmlformats.org/officeDocument/2006/relationships/image" Target="../media/image4.jpg"/><Relationship Id="rId10" Type="http://schemas.openxmlformats.org/officeDocument/2006/relationships/image" Target="../media/image47.jpg"/><Relationship Id="rId11" Type="http://schemas.openxmlformats.org/officeDocument/2006/relationships/image" Target="../media/image61.jpg"/><Relationship Id="rId12" Type="http://schemas.openxmlformats.org/officeDocument/2006/relationships/image" Target="../media/image6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jpg"/><Relationship Id="rId4" Type="http://schemas.openxmlformats.org/officeDocument/2006/relationships/image" Target="../media/image63.jpg"/><Relationship Id="rId5" Type="http://schemas.openxmlformats.org/officeDocument/2006/relationships/image" Target="../media/image64.jpg"/><Relationship Id="rId6" Type="http://schemas.openxmlformats.org/officeDocument/2006/relationships/image" Target="../media/image2.jpg"/><Relationship Id="rId7" Type="http://schemas.openxmlformats.org/officeDocument/2006/relationships/image" Target="../media/image47.jpg"/><Relationship Id="rId8" Type="http://schemas.openxmlformats.org/officeDocument/2006/relationships/image" Target="../media/image65.jpg"/><Relationship Id="rId9" Type="http://schemas.openxmlformats.org/officeDocument/2006/relationships/image" Target="../media/image66.jpg"/><Relationship Id="rId10" Type="http://schemas.openxmlformats.org/officeDocument/2006/relationships/image" Target="../media/image44.jpg"/><Relationship Id="rId11" Type="http://schemas.openxmlformats.org/officeDocument/2006/relationships/image" Target="../media/image67.jpg"/><Relationship Id="rId12" Type="http://schemas.openxmlformats.org/officeDocument/2006/relationships/image" Target="../media/image48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8.jpg"/><Relationship Id="rId4" Type="http://schemas.openxmlformats.org/officeDocument/2006/relationships/image" Target="../media/image69.jpg"/><Relationship Id="rId5" Type="http://schemas.openxmlformats.org/officeDocument/2006/relationships/image" Target="../media/image70.jpg"/><Relationship Id="rId6" Type="http://schemas.openxmlformats.org/officeDocument/2006/relationships/image" Target="../media/image71.jpg"/><Relationship Id="rId7" Type="http://schemas.openxmlformats.org/officeDocument/2006/relationships/image" Target="../media/image72.jpg"/><Relationship Id="rId8" Type="http://schemas.openxmlformats.org/officeDocument/2006/relationships/image" Target="../media/image73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8.jpg"/><Relationship Id="rId4" Type="http://schemas.openxmlformats.org/officeDocument/2006/relationships/image" Target="../media/image74.jpg"/><Relationship Id="rId5" Type="http://schemas.openxmlformats.org/officeDocument/2006/relationships/image" Target="../media/image75.jpg"/><Relationship Id="rId6" Type="http://schemas.openxmlformats.org/officeDocument/2006/relationships/image" Target="../media/image69.jpg"/><Relationship Id="rId7" Type="http://schemas.openxmlformats.org/officeDocument/2006/relationships/image" Target="../media/image76.jpg"/><Relationship Id="rId8" Type="http://schemas.openxmlformats.org/officeDocument/2006/relationships/image" Target="../media/image77.jpg"/><Relationship Id="rId9" Type="http://schemas.openxmlformats.org/officeDocument/2006/relationships/image" Target="../media/image7.jpg"/><Relationship Id="rId10" Type="http://schemas.openxmlformats.org/officeDocument/2006/relationships/image" Target="../media/image70.jpg"/><Relationship Id="rId11" Type="http://schemas.openxmlformats.org/officeDocument/2006/relationships/image" Target="../media/image78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6.jpg"/><Relationship Id="rId4" Type="http://schemas.openxmlformats.org/officeDocument/2006/relationships/image" Target="../media/image71.jpg"/><Relationship Id="rId5" Type="http://schemas.openxmlformats.org/officeDocument/2006/relationships/image" Target="../media/image79.jpg"/><Relationship Id="rId6" Type="http://schemas.openxmlformats.org/officeDocument/2006/relationships/image" Target="../media/image78.jpg"/><Relationship Id="rId7" Type="http://schemas.openxmlformats.org/officeDocument/2006/relationships/image" Target="../media/image80.jpg"/><Relationship Id="rId8" Type="http://schemas.openxmlformats.org/officeDocument/2006/relationships/image" Target="../media/image72.jpg"/><Relationship Id="rId9" Type="http://schemas.openxmlformats.org/officeDocument/2006/relationships/image" Target="../media/image81.jpg"/><Relationship Id="rId10" Type="http://schemas.openxmlformats.org/officeDocument/2006/relationships/image" Target="../media/image82.jpg"/><Relationship Id="rId11" Type="http://schemas.openxmlformats.org/officeDocument/2006/relationships/image" Target="../media/image73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629400" y="0"/>
            <a:ext cx="5562295" cy="685800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858000" y="640080"/>
            <a:ext cx="5120640" cy="5120640"/>
          </a:xfrm>
          <a:prstGeom prst="ellipse">
            <a:avLst/>
          </a:prstGeom>
          <a:solidFill>
            <a:srgbClr val="FFC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035040" y="4297680"/>
            <a:ext cx="2286000" cy="2286000"/>
          </a:xfrm>
          <a:prstGeom prst="ellipse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509760" y="4206240"/>
            <a:ext cx="2560320" cy="2560320"/>
          </a:xfrm>
          <a:prstGeom prst="ellipse">
            <a:avLst/>
          </a:prstGeom>
          <a:solidFill>
            <a:srgbClr val="FFC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566928"/>
            <a:ext cx="2331720" cy="1024128"/>
          </a:xfrm>
          <a:prstGeom prst="roundRect">
            <a:avLst>
              <a:gd name="adj" fmla="val 12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658368"/>
            <a:ext cx="2002536" cy="868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331720"/>
            <a:ext cx="5669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>
                <a:solidFill>
                  <a:srgbClr val="C4820A"/>
                </a:solidFill>
                <a:latin typeface="Segoe UI"/>
              </a:rPr>
              <a:t>ДОСЛІДЖЕННЯ РИНКУ ТА ПОЗИЦІОНУВАННЯ · ЖОВТЕНЬ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697480"/>
            <a:ext cx="585216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 spc="-10">
                <a:solidFill>
                  <a:srgbClr val="303A5D"/>
                </a:solidFill>
                <a:latin typeface="Segoe UI"/>
              </a:rPr>
              <a:t>Корейський</a:t>
            </a:r>
          </a:p>
          <a:p>
            <a:pPr algn="l">
              <a:lnSpc>
                <a:spcPct val="100000"/>
              </a:lnSpc>
            </a:pPr>
            <a:r>
              <a:rPr sz="5800" b="1" spc="-10">
                <a:solidFill>
                  <a:srgbClr val="303A5D"/>
                </a:solidFill>
                <a:latin typeface="Segoe UI"/>
              </a:rPr>
              <a:t>рамен</a:t>
            </a:r>
          </a:p>
          <a:p>
            <a:pPr algn="l">
              <a:lnSpc>
                <a:spcPct val="100000"/>
              </a:lnSpc>
            </a:pPr>
            <a:r>
              <a:rPr sz="5800" b="1" spc="-10">
                <a:solidFill>
                  <a:srgbClr val="303A5D"/>
                </a:solidFill>
                <a:latin typeface="Segoe UI"/>
              </a:rPr>
              <a:t>в Україні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" y="5532120"/>
            <a:ext cx="1463040" cy="8229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958583" y="566928"/>
            <a:ext cx="2331720" cy="2240280"/>
          </a:xfrm>
          <a:prstGeom prst="roundRect">
            <a:avLst>
              <a:gd name="adj" fmla="val 6000"/>
            </a:avLst>
          </a:prstGeom>
          <a:solidFill>
            <a:srgbClr val="D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903720" y="502920"/>
            <a:ext cx="233172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79" y="594360"/>
            <a:ext cx="2057400" cy="205740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6958583" y="2990088"/>
            <a:ext cx="2331720" cy="2240280"/>
          </a:xfrm>
          <a:prstGeom prst="roundRect">
            <a:avLst>
              <a:gd name="adj" fmla="val 6000"/>
            </a:avLst>
          </a:prstGeom>
          <a:solidFill>
            <a:srgbClr val="D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903720" y="2926080"/>
            <a:ext cx="233172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79" y="3017520"/>
            <a:ext cx="2057400" cy="205740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9656064" y="1389888"/>
            <a:ext cx="2331720" cy="2240280"/>
          </a:xfrm>
          <a:prstGeom prst="roundRect">
            <a:avLst>
              <a:gd name="adj" fmla="val 6000"/>
            </a:avLst>
          </a:prstGeom>
          <a:solidFill>
            <a:srgbClr val="D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601200" y="1325880"/>
            <a:ext cx="233172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8360" y="1417320"/>
            <a:ext cx="2057400" cy="205740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9656064" y="3858768"/>
            <a:ext cx="2331720" cy="2240280"/>
          </a:xfrm>
          <a:prstGeom prst="roundRect">
            <a:avLst>
              <a:gd name="adj" fmla="val 6000"/>
            </a:avLst>
          </a:prstGeom>
          <a:solidFill>
            <a:srgbClr val="D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601200" y="3794760"/>
            <a:ext cx="233172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38360" y="3886200"/>
            <a:ext cx="2057400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ОБСЯГ РИНКУ · МИТНА БАЗА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Скільки локшини ввозять в Україну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27632"/>
            <a:ext cx="54864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ОБСЯГ ІМПОРТУ, ТОНН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50008" y="1883664"/>
            <a:ext cx="5486" cy="14630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984248" y="338328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79648" y="1883664"/>
            <a:ext cx="5486" cy="14630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13888" y="338328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300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9288" y="1883664"/>
            <a:ext cx="5486" cy="14630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43528" y="338328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600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38927" y="1883664"/>
            <a:ext cx="5486" cy="14630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73167" y="338328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900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2071116"/>
            <a:ext cx="16733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2025 · січень–травень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50008" y="2029968"/>
            <a:ext cx="742689" cy="237744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165849" y="2066544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239,7 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2528316"/>
            <a:ext cx="16733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C4820A"/>
                </a:solidFill>
                <a:latin typeface="Segoe UI"/>
              </a:rPr>
              <a:t>2026 · січень–травень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50008" y="2487168"/>
            <a:ext cx="2598281" cy="237744"/>
          </a:xfrm>
          <a:prstGeom prst="rect">
            <a:avLst/>
          </a:prstGeom>
          <a:solidFill>
            <a:srgbClr val="F5A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1441" y="2523744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C4820A"/>
                </a:solidFill>
                <a:latin typeface="Segoe UI"/>
              </a:rPr>
              <a:t>838,5 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2985516"/>
            <a:ext cx="16733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2025 · увесь рік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50008" y="2944368"/>
            <a:ext cx="2205106" cy="23774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28266" y="2980944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303A5D"/>
                </a:solidFill>
                <a:latin typeface="Segoe UI"/>
              </a:rPr>
              <a:t>711,6 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3675887"/>
            <a:ext cx="54864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ІНВОЙС, МЛН ДОЛАРІВ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50008" y="3931920"/>
            <a:ext cx="5486" cy="10058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984248" y="4974336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24707" y="3931920"/>
            <a:ext cx="5486" cy="10058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758947" y="4974336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99407" y="3931920"/>
            <a:ext cx="5486" cy="10058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533647" y="4974336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74108" y="3931920"/>
            <a:ext cx="5486" cy="10058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308347" y="4974336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4119372"/>
            <a:ext cx="16733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2025 · січень–травень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50008" y="4078224"/>
            <a:ext cx="793749" cy="237744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216909" y="4114800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$1,02 млн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4576572"/>
            <a:ext cx="16733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C4820A"/>
                </a:solidFill>
                <a:latin typeface="Segoe UI"/>
              </a:rPr>
              <a:t>2026 · січень–травень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350008" y="4535424"/>
            <a:ext cx="2479520" cy="237744"/>
          </a:xfrm>
          <a:prstGeom prst="rect">
            <a:avLst/>
          </a:prstGeom>
          <a:solidFill>
            <a:srgbClr val="F5A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902680" y="4572000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C4820A"/>
                </a:solidFill>
                <a:latin typeface="Segoe UI"/>
              </a:rPr>
              <a:t>$3,20 млн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МИТНА БАЗА · ПОХОДЖЕННЯ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Звідки їде локшина: усі напрямки ввозу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Січень–травень 2026 · вага нетто, тонн · частка в загальному ввозі 838,5 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27632"/>
            <a:ext cx="54864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>
                <a:solidFill>
                  <a:srgbClr val="303A5D"/>
                </a:solidFill>
                <a:latin typeface="Segoe UI"/>
              </a:rPr>
              <a:t>СТРУКТУРА ВВОЗУ, 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847088"/>
            <a:ext cx="2181252" cy="45720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1984248"/>
            <a:ext cx="218125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FFFFFF"/>
                </a:solidFill>
                <a:latin typeface="Segoe UI"/>
              </a:rPr>
              <a:t>19,9 %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66468" y="1847088"/>
            <a:ext cx="1545354" cy="457200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66468" y="1984248"/>
            <a:ext cx="154535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FFFFFF"/>
                </a:solidFill>
                <a:latin typeface="Segoe UI"/>
              </a:rPr>
              <a:t>14,1 %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30111" y="1847088"/>
            <a:ext cx="1128660" cy="45720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30111" y="1984248"/>
            <a:ext cx="11286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FFFFFF"/>
                </a:solidFill>
                <a:latin typeface="Segoe UI"/>
              </a:rPr>
              <a:t>10,4 %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77059" y="1847088"/>
            <a:ext cx="754509" cy="45720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77059" y="1984248"/>
            <a:ext cx="754509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FFFFFF"/>
                </a:solidFill>
                <a:latin typeface="Segoe UI"/>
              </a:rPr>
              <a:t>7,0 %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9857" y="1847088"/>
            <a:ext cx="737879" cy="45720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49857" y="1984248"/>
            <a:ext cx="737879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FFFFFF"/>
                </a:solidFill>
                <a:latin typeface="Segoe UI"/>
              </a:rPr>
              <a:t>6,8 %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06024" y="1847088"/>
            <a:ext cx="652058" cy="45720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06024" y="1984248"/>
            <a:ext cx="65205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FFFFFF"/>
                </a:solidFill>
                <a:latin typeface="Segoe UI"/>
              </a:rPr>
              <a:t>6,1 %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76370" y="1847088"/>
            <a:ext cx="625148" cy="457200"/>
          </a:xfrm>
          <a:prstGeom prst="rect">
            <a:avLst/>
          </a:prstGeom>
          <a:solidFill>
            <a:srgbClr val="4E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676370" y="1984248"/>
            <a:ext cx="6251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FFFFFF"/>
                </a:solidFill>
                <a:latin typeface="Segoe UI"/>
              </a:rPr>
              <a:t>5,8 %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19806" y="1847088"/>
            <a:ext cx="3293073" cy="45720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19806" y="1984248"/>
            <a:ext cx="3293073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FFFFFF"/>
                </a:solidFill>
                <a:latin typeface="Segoe UI"/>
              </a:rPr>
              <a:t>29,9 %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2487168"/>
            <a:ext cx="54864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>
                <a:solidFill>
                  <a:srgbClr val="303A5D"/>
                </a:solidFill>
                <a:latin typeface="Segoe UI"/>
              </a:rPr>
              <a:t>ПО КРАЇНАХ ПОХОДЖЕННЯ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2852928"/>
            <a:ext cx="128016" cy="12801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04672" y="2816352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В’єтнам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0" y="2798064"/>
            <a:ext cx="3251606" cy="24688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61734" y="2816352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166,7 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2816352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717890"/>
                </a:solidFill>
                <a:latin typeface="Segoe UI"/>
              </a:rPr>
              <a:t>19,9 %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3255264"/>
            <a:ext cx="128016" cy="128016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04672" y="3218688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Корея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0" y="3200400"/>
            <a:ext cx="2311551" cy="246888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621679" y="3218688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118,5 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24160" y="3218688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717890"/>
                </a:solidFill>
                <a:latin typeface="Segoe UI"/>
              </a:rPr>
              <a:t>14,1 %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3657600"/>
            <a:ext cx="128016" cy="12801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04672" y="3621024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Румунія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0" y="3602736"/>
            <a:ext cx="1695547" cy="24688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005675" y="3621024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86,9 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24160" y="3621024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717890"/>
                </a:solidFill>
                <a:latin typeface="Segoe UI"/>
              </a:rPr>
              <a:t>10,4 %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" y="4059935"/>
            <a:ext cx="128016" cy="12801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04672" y="4023359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Велика Британія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0" y="4005072"/>
            <a:ext cx="1142436" cy="246888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452564" y="4023359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58,6 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24160" y="4023359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717890"/>
                </a:solidFill>
                <a:latin typeface="Segoe UI"/>
              </a:rPr>
              <a:t>7,0 %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" y="4462272"/>
            <a:ext cx="128016" cy="12801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04672" y="4425696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Латвія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0" y="4407408"/>
            <a:ext cx="1117850" cy="246888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427978" y="4425696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57,3 т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24160" y="4425696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717890"/>
                </a:solidFill>
                <a:latin typeface="Segoe UI"/>
              </a:rPr>
              <a:t>6,8 %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864608"/>
            <a:ext cx="128016" cy="12801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04672" y="4828032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Чехія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0" y="4809744"/>
            <a:ext cx="990980" cy="24688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301108" y="4828032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50,8 т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424160" y="4828032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717890"/>
                </a:solidFill>
                <a:latin typeface="Segoe UI"/>
              </a:rPr>
              <a:t>6,1 %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66928" y="5266944"/>
            <a:ext cx="128016" cy="128016"/>
          </a:xfrm>
          <a:prstGeom prst="rect">
            <a:avLst/>
          </a:prstGeom>
          <a:solidFill>
            <a:srgbClr val="4E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04672" y="5230368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Польща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00400" y="5212080"/>
            <a:ext cx="951199" cy="246888"/>
          </a:xfrm>
          <a:prstGeom prst="rect">
            <a:avLst/>
          </a:prstGeom>
          <a:solidFill>
            <a:srgbClr val="4E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261327" y="5230368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48,8 т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424160" y="5230368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717890"/>
                </a:solidFill>
                <a:latin typeface="Segoe UI"/>
              </a:rPr>
              <a:t>5,8 %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66928" y="5669280"/>
            <a:ext cx="128016" cy="12801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04672" y="5632704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Інші країни разом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00400" y="5614416"/>
            <a:ext cx="4895224" cy="246888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205352" y="5632704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250,9 т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424160" y="5632704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717890"/>
                </a:solidFill>
                <a:latin typeface="Segoe UI"/>
              </a:rPr>
              <a:t>29,9 %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66928" y="6016752"/>
            <a:ext cx="11064240" cy="109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04672" y="6089904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Усього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200400" y="6089904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838,5 т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424160" y="6089904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100 %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66928" y="6437376"/>
            <a:ext cx="110642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9FA9C4"/>
                </a:solidFill>
                <a:latin typeface="Segoe UI"/>
              </a:rPr>
              <a:t>Митна база користувача, код УКТ ЗЕД 1902 30 10 00. «Інші країни» — одним рядком: розбивки за країнами в базі немає.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СЕГМЕНТАЦІЯ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Сегментація за способом приготування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27632"/>
            <a:ext cx="3566160" cy="36576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4944" y="1700784"/>
            <a:ext cx="33101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РАМЕН У ПАКЕТІ · З БУЛЬЙОНОМ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" y="2066543"/>
            <a:ext cx="3438144" cy="1042415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0880104306958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2807" y="2130551"/>
            <a:ext cx="914400" cy="914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94944" y="3163824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spc="-10">
                <a:solidFill>
                  <a:srgbClr val="303A5D"/>
                </a:solidFill>
                <a:latin typeface="Segoe UI"/>
              </a:rPr>
              <a:t>41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3310128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позицій · 46 %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3657600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ВАГА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95728" y="3639312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102–144 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3904487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МЕДІАНА ЦІНИ ЗА ПАЧКУ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95728" y="3886200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95 грн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" y="4151376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ДІАПАЗОН ЦІН ПАЧКИ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95728" y="4133088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67–209 грн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" y="4398264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БРЕНДІВ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95728" y="4379976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15968" y="1627632"/>
            <a:ext cx="3566160" cy="36576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43983" y="1700784"/>
            <a:ext cx="33101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РАМЕН У ПАКЕТІ · ІЗ СОУСОМ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79976" y="2066543"/>
            <a:ext cx="3438144" cy="1042415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0064843631068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1848" y="2130551"/>
            <a:ext cx="914400" cy="9144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443983" y="3163824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spc="-10">
                <a:solidFill>
                  <a:srgbClr val="C4820A"/>
                </a:solidFill>
                <a:latin typeface="Segoe UI"/>
              </a:rPr>
              <a:t>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21808" y="3310128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позицій · 34 %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43983" y="3657600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ВАГА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44768" y="3639312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105–145 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43983" y="3904487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МЕДІАНА ЦІНИ ЗА ПАЧКУ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44768" y="3886200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106 грн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43983" y="4151376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ДІАПАЗОН ЦІН ПАЧКИ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4768" y="4133088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72–198 грн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43983" y="4398264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БРЕНДІВ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44768" y="4379976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65008" y="1627632"/>
            <a:ext cx="3566160" cy="36576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193024" y="1700784"/>
            <a:ext cx="33101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РАМЕН У СТАКАНІ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29016" y="2066543"/>
            <a:ext cx="3438144" cy="1042415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08801073210776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0888" y="2130551"/>
            <a:ext cx="914400" cy="9144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193024" y="3163824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spc="-10">
                <a:solidFill>
                  <a:srgbClr val="5D4B96"/>
                </a:solidFill>
                <a:latin typeface="Segoe UI"/>
              </a:rPr>
              <a:t>18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70848" y="3310128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позицій · 20 %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93024" y="3657600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ВАГА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93808" y="3639312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62–120 г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93024" y="3904487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МЕДІАНА ЦІНИ ЗА ПАЧКУ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93808" y="3886200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104 грн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93024" y="4151376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ДІАПАЗОН ЦІН ПАЧКИ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93808" y="4133088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34–195 грн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93024" y="4398264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БРЕНДІВ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93808" y="4379976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6928" y="4700016"/>
            <a:ext cx="73152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>
                <a:solidFill>
                  <a:srgbClr val="303A5D"/>
                </a:solidFill>
                <a:latin typeface="Segoe UI"/>
              </a:rPr>
              <a:t>СЕГМЕНТ × ЦІНОВА СМУГА · ПОЗИЦІЙ, грн за пачку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29968" y="48463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до 80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035808" y="48463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80–95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041648" y="48463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95–110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47488" y="48463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110–130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53328" y="48463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130–150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59168" y="48463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150–180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65008" y="48463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180 +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53728" y="4846320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УСЬОГО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6928" y="5166360"/>
            <a:ext cx="13350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Пакет · з бульйоном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057400" y="5129784"/>
            <a:ext cx="950976" cy="256032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2057400" y="5148072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8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63240" y="5129784"/>
            <a:ext cx="950976" cy="256032"/>
          </a:xfrm>
          <a:prstGeom prst="rect">
            <a:avLst/>
          </a:prstGeom>
          <a:solidFill>
            <a:srgbClr val="1A7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3063240" y="5148072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FFFFFF"/>
                </a:solidFill>
                <a:latin typeface="Segoe UI"/>
              </a:rPr>
              <a:t>13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069080" y="5129784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069080" y="5148072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074920" y="5129784"/>
            <a:ext cx="950976" cy="256032"/>
          </a:xfrm>
          <a:prstGeom prst="rect">
            <a:avLst/>
          </a:prstGeom>
          <a:solidFill>
            <a:srgbClr val="1A7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074920" y="5148072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FFFFFF"/>
                </a:solidFill>
                <a:latin typeface="Segoe UI"/>
              </a:rPr>
              <a:t>14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080760" y="5129784"/>
            <a:ext cx="950976" cy="25603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080760" y="5148072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086600" y="5129784"/>
            <a:ext cx="950976" cy="25603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086600" y="5148072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092440" y="5129784"/>
            <a:ext cx="950976" cy="25603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8092440" y="5148072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253728" y="5175504"/>
            <a:ext cx="2103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41 SKU · медіана 95 грн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66928" y="5477256"/>
            <a:ext cx="13350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Пакет · із соусом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057400" y="5440680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2057400" y="5458968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063240" y="5440680"/>
            <a:ext cx="950976" cy="256032"/>
          </a:xfrm>
          <a:prstGeom prst="rect">
            <a:avLst/>
          </a:prstGeom>
          <a:solidFill>
            <a:srgbClr val="359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3063240" y="5458968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069080" y="5440680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4069080" y="5458968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074920" y="5440680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074920" y="5458968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080760" y="5440680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080760" y="5458968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086600" y="5440680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7086600" y="5458968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092440" y="5440680"/>
            <a:ext cx="950976" cy="25603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8092440" y="5458968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253728" y="5486400"/>
            <a:ext cx="2103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30 SKU · медіана 106 грн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66928" y="5788152"/>
            <a:ext cx="13350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Стакан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057400" y="5751576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2057400" y="5769864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063240" y="5751576"/>
            <a:ext cx="950976" cy="25603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3063240" y="5769864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069080" y="5751576"/>
            <a:ext cx="950976" cy="256032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4069080" y="5769864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7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074920" y="5751576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5074920" y="5769864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080760" y="5751576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6080760" y="5769864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086600" y="5751576"/>
            <a:ext cx="950976" cy="25603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7086600" y="5769864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092440" y="5751576"/>
            <a:ext cx="950976" cy="25603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8092440" y="5769864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253728" y="5797296"/>
            <a:ext cx="2103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18 SKU · медіана 104 грн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1 · РАМЕН У ПАКЕТІ · З БУЛЬЙОНОМ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Пакет з бульйоном: найбільший сегмент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Основна частина корейської полиці: локшина й порошковий бульйон, вариться в каструлі.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91056"/>
            <a:ext cx="2834640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1591056"/>
            <a:ext cx="41148" cy="107899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1746504"/>
            <a:ext cx="235915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ПОЗИЦІЙ У СЕГМЕНТІ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956816"/>
            <a:ext cx="235915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303A5D"/>
                </a:solidFill>
                <a:latin typeface="Segoe UI"/>
              </a:rPr>
              <a:t>41 SKU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360930"/>
            <a:ext cx="2359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6 брендів у 11 мережах.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46 % усієї категорії.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7872" y="1591056"/>
            <a:ext cx="2834640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547872" y="1591056"/>
            <a:ext cx="41148" cy="107899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03904" y="1746504"/>
            <a:ext cx="235915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МЕДІАНА ПОЛИЦІ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03904" y="1956816"/>
            <a:ext cx="235915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303A5D"/>
                </a:solidFill>
                <a:latin typeface="Segoe UI"/>
              </a:rPr>
              <a:t>95 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03904" y="2360930"/>
            <a:ext cx="2359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P25–P75: 84–113 ₴.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Діапазон: 67–209 ₴.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28816" y="1591056"/>
            <a:ext cx="2834640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528816" y="1591056"/>
            <a:ext cx="41148" cy="107899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84848" y="1746504"/>
            <a:ext cx="235915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ДОРОЖЧІ ЗА ЦІЛЬ 120 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84848" y="1956816"/>
            <a:ext cx="235915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303A5D"/>
                </a:solidFill>
                <a:latin typeface="Segoe UI"/>
              </a:rPr>
              <a:t>7 з 41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84848" y="2360930"/>
            <a:ext cx="2359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позицій сегмента.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Дорожчі за 140,55 ₴ (зараз): 2.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0" y="1591056"/>
            <a:ext cx="2121408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509760" y="1591056"/>
            <a:ext cx="41148" cy="107899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765792" y="1746504"/>
            <a:ext cx="1645919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ВАГА ПАЧКИ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65792" y="1956816"/>
            <a:ext cx="164591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303A5D"/>
                </a:solidFill>
                <a:latin typeface="Segoe UI"/>
              </a:rPr>
              <a:t>102–144 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65792" y="2313305"/>
            <a:ext cx="16459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межі сегмента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за зрізом 29.09.2026.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2779776"/>
            <a:ext cx="5120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ХТО ТРИМАЄ СЕГМЕНТ · SKU НА БРЕНД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3017520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Nongshim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755648" y="3040379"/>
            <a:ext cx="3474720" cy="960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230368" y="3017520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3195827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755648" y="3218687"/>
            <a:ext cx="1737360" cy="960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230368" y="3195827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3374135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Paldo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755648" y="3396995"/>
            <a:ext cx="1520189" cy="960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230368" y="3374135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3552443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Samyang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755648" y="3575303"/>
            <a:ext cx="1085850" cy="960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230368" y="3552443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3730751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O'Food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755648" y="3753611"/>
            <a:ext cx="868680" cy="960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230368" y="3730751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3909059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Otoki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755648" y="3931920"/>
            <a:ext cx="217170" cy="960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230368" y="3909059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5080" y="2779776"/>
            <a:ext cx="5303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ПОЗИЦІЙ ЗА ЦІНОВОЮ СМУГОЮ · ₴ ЗА ПАЧКУ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55080" y="3597510"/>
            <a:ext cx="566928" cy="40756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263640" y="3414630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до 80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114032" y="3342785"/>
            <a:ext cx="566928" cy="66228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022592" y="3159905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13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22592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80–95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872983" y="3801291"/>
            <a:ext cx="566928" cy="20378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781544" y="3618411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81544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95–110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631936" y="3291839"/>
            <a:ext cx="566928" cy="71323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540496" y="3108959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14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540496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110–130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390888" y="3986784"/>
            <a:ext cx="566928" cy="1828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9299448" y="3803904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—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299448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130–150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149840" y="3954126"/>
            <a:ext cx="566928" cy="50945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10058400" y="3771246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058400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150–180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908792" y="3954126"/>
            <a:ext cx="566928" cy="50945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0817352" y="3771246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817352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180 +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66928" y="4224528"/>
            <a:ext cx="36576" cy="17373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713232" y="4233672"/>
            <a:ext cx="640080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spc="-10">
                <a:solidFill>
                  <a:srgbClr val="303A5D"/>
                </a:solidFill>
                <a:latin typeface="Segoe UI"/>
              </a:rPr>
              <a:t>ПРЕДСТАВНИКИ СЕГМЕНТА · ВІД НАЙДЕШЕВШОЇ ДО НАЙДОРОЖЧОЇ ПОЗИЦІЇ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66928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566928" y="449884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640080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6" name="Picture 75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4645152"/>
            <a:ext cx="1115568" cy="1115568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658368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Ottogi · Yeul Ramen дуже гостра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8368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68 ₴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58368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Ашан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428646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2428646" y="449884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2501798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3" name="Picture 82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8686" y="4645152"/>
            <a:ext cx="1115568" cy="1115568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2520086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Ottogi · З сиром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520086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83 ₴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520086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111 г · Зараз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290364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4290364" y="449884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4363516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0" name="Picture 89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0404" y="4645152"/>
            <a:ext cx="1115568" cy="1115568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4381804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Ottogi · Середньогостра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381804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67–101 ₴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381804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Ашан · Космос · Grono +2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52083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6152083" y="449884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6225235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7" name="Picture 96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2123" y="4645152"/>
            <a:ext cx="1115568" cy="1115568"/>
          </a:xfrm>
          <a:prstGeom prst="rect">
            <a:avLst/>
          </a:prstGeom>
        </p:spPr>
      </p:pic>
      <p:sp>
        <p:nvSpPr>
          <p:cNvPr id="98" name="TextBox 97"/>
          <p:cNvSpPr txBox="1"/>
          <p:nvPr/>
        </p:nvSpPr>
        <p:spPr>
          <a:xfrm>
            <a:off x="6243523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Зі смаком морепродуктів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243523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108 ₴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243523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Onde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013801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8013801" y="449884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8086953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4" name="Picture 103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3841" y="4645152"/>
            <a:ext cx="1115568" cy="1115568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8105241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Зі спеціями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105241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98–129 ₴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105241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Космос · Клас · METRO +4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875519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9875519" y="449884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9948672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1" name="Picture 110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95559" y="4645152"/>
            <a:ext cx="1115568" cy="1115568"/>
          </a:xfrm>
          <a:prstGeom prst="rect">
            <a:avLst/>
          </a:prstGeom>
        </p:spPr>
      </p:pic>
      <p:sp>
        <p:nvSpPr>
          <p:cNvPr id="112" name="TextBox 111"/>
          <p:cNvSpPr txBox="1"/>
          <p:nvPr/>
        </p:nvSpPr>
        <p:spPr>
          <a:xfrm>
            <a:off x="9966959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Shin Ramyun Black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966959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202–209 ₴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966959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130 г · Ашан · Grono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1 · РАМЕН У ПАКЕТІ · З БУЛЬЙОНОМ   ·   41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Пакет з бульйоном: каталог 1 з 4 — 68–85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06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71600"/>
            <a:ext cx="36576" cy="19202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389888"/>
            <a:ext cx="1069848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303A5D"/>
                </a:solidFill>
                <a:latin typeface="Segoe UI"/>
              </a:rPr>
              <a:t>СЕГМЕНТ 1 · РАМЕН У ПАКЕТІ · З БУЛЬЙОНОМ   ·   Варіння 4–5 хв · подається з бульйоном   ·   вага 102–144 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1810512"/>
            <a:ext cx="1344168" cy="1344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Ottogi · Yeul Ramen дуже гостра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68 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Ашан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8646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428646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501798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386" y="1810512"/>
            <a:ext cx="1344168" cy="13441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520086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O'Food · Кімчі Рамен локшина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0086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68–72 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0086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144 г · Ашан · Зараз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0364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90364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63516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6104" y="1810512"/>
            <a:ext cx="1344168" cy="1344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381804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Paldo · Teumsae Ramen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1804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72 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1804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Grono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52083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52083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25235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7823" y="1810512"/>
            <a:ext cx="1344168" cy="13441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43523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Зі спеціями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3523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74 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3523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Ашан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13801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013801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086953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9541" y="1810512"/>
            <a:ext cx="1344168" cy="134416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105241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Ottogi · Kimchi Ramen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5241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67–85 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5241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Ашан · Космос · Таврія …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75519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875519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948672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1259" y="1810512"/>
            <a:ext cx="1344168" cy="134416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966959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O'Food · Кімчі Рамен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59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74–80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59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129 г · Ашан · Зараз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66928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40080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668" y="4389120"/>
            <a:ext cx="1344168" cy="134416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58368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O'Food · Сівід Рамен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74–80 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103 г · Ашан · Зараз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8646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2428646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2501798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3" name="Picture 62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34386" y="4389120"/>
            <a:ext cx="1344168" cy="134416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520086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O'Food · Смак морепродуктів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20086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74–84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20086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102 г · Ашан · Зараз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90364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4290364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4363516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0" name="Picture 69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96104" y="4389120"/>
            <a:ext cx="1344168" cy="1344168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4381804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Ottogi · З сиром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81804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83 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81804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111 г · Зараз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52083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6152083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6225235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7" name="Picture 76" descr="image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57823" y="4389120"/>
            <a:ext cx="1344168" cy="1344168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6243523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Ottogi · Jin рамен гостра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43523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84 ₴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43523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Ашан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013801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8013801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8086953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4" name="Picture 83" descr="image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19541" y="4389120"/>
            <a:ext cx="1344168" cy="1344168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8105241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Кімчі Рамьон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105241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85 ₴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105241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Ашан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1 · РАМЕН У ПАКЕТІ · З БУЛЬЙОНОМ   ·   41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Пакет з бульйоном: каталог 2 з 4 — 88–98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07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71600"/>
            <a:ext cx="36576" cy="19202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389888"/>
            <a:ext cx="1069848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303A5D"/>
                </a:solidFill>
                <a:latin typeface="Segoe UI"/>
              </a:rPr>
              <a:t>СЕГМЕНТ 1 · РАМЕН У ПАКЕТІ · З БУЛЬЙОНОМ   ·   Варіння 4–5 хв · подається з бульйоном   ·   вага 102–144 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1810512"/>
            <a:ext cx="1344168" cy="1344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Soon Veggie Ramyun овоч…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74–102 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112 г · Ашан · Onde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8646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428646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501798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386" y="1810512"/>
            <a:ext cx="1344168" cy="13441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520086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Cham-Pong Ramyun з море…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0086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89 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0086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124 г · Ашан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0364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90364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63516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6104" y="1810512"/>
            <a:ext cx="1344168" cy="1344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381804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Paldo · Hwa Ramyun з гострим пе…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1804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87–93 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1804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Ашан · Grono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52083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52083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25235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7823" y="1810512"/>
            <a:ext cx="1344168" cy="13441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43523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Paldo · Kokomen зі смаком курки…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3523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92 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3523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Ашан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13801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013801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086953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9541" y="1810512"/>
            <a:ext cx="1344168" cy="134416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105241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Ottogi · Jin рамен гостра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5241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93 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5241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Космос · Таврія В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75519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875519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948672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1259" y="1810512"/>
            <a:ext cx="1344168" cy="134416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966959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Ottogi · Середньогостра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59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67–101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59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Ашан · Космос · Grono +2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66928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40080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668" y="4389120"/>
            <a:ext cx="1344168" cy="134416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58368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Paldo · Зі смаком морепродуктів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93 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Ашан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8646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2428646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2501798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3" name="Picture 62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34386" y="4389120"/>
            <a:ext cx="1344168" cy="134416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520086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Paldo · Spicy Zanmang Loopy з б…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20086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76–113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20086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110 г · Ашан · Grono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90364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4290364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4363516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0" name="Picture 69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96104" y="4389120"/>
            <a:ext cx="1344168" cy="1344168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4381804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Paldo · Zanmang Loopy оригіналь…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81804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76–113 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81804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110 г · Ашан · Grono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52083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6152083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6225235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7" name="Picture 76" descr="image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57823" y="4389120"/>
            <a:ext cx="1344168" cy="1344168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6243523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Otoki · Cheesy Ramen зі смаком…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43523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95 ₴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43523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Ашан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013801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8013801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8086953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4" name="Picture 83" descr="image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19541" y="4389120"/>
            <a:ext cx="1344168" cy="1344168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8105241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AnSungTangMyun з грибам…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105241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74–122 ₴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105241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125 г · Ашан · Onde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1 · РАМЕН У ПАКЕТІ · З БУЛЬЙОНОМ   ·   41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Пакет з бульйоном: каталог 3 з 4 — 104–117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08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71600"/>
            <a:ext cx="36576" cy="19202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389888"/>
            <a:ext cx="1069848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303A5D"/>
                </a:solidFill>
                <a:latin typeface="Segoe UI"/>
              </a:rPr>
              <a:t>СЕГМЕНТ 1 · РАМЕН У ПАКЕТІ · З БУЛЬЙОНОМ   ·   Варіння 4–5 хв · подається з бульйоном   ·   вага 102–144 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1810512"/>
            <a:ext cx="1344168" cy="1344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З морепродуктами гостра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85–122 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Ашан · Onde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8646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428646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501798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386" y="1810512"/>
            <a:ext cx="1344168" cy="13441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520086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Paldo · З сиром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0086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105 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0086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110 г · Ашан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0364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90364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63516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6104" y="1810512"/>
            <a:ext cx="1344168" cy="1344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381804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Зі смаком морепродуктів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1804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108 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1804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Onde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52083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52083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25235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7823" y="1810512"/>
            <a:ext cx="1344168" cy="13441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43523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Shin Ramyun зі смаком г…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3523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89–132 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3523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Ашан · Grono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13801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013801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086953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9541" y="1810512"/>
            <a:ext cx="1344168" cy="134416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105241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Макаронні вироби Samyan…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5241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112 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5241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115 г · Ашан · Зараз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75519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875519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948672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1259" y="1810512"/>
            <a:ext cx="1344168" cy="134416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966959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Локшина зі смаком курки…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59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108–169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59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135 г · Ашан · Grono · Зараз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66928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40080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668" y="4389120"/>
            <a:ext cx="1344168" cy="134416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58368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З сиром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99–124 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Ашан · Зараз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8646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2428646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2501798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3" name="Picture 62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34386" y="4389120"/>
            <a:ext cx="1344168" cy="134416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520086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Ottogi · З кунжутом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20086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112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20086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115 г · Ашан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90364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4290364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4363516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0" name="Picture 69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96104" y="4389120"/>
            <a:ext cx="1344168" cy="1344168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4381804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Ottogi · Jin Jjambbong Ramen з м…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81804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112 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81804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130 г · Ашан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52083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6152083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6225235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7" name="Picture 76" descr="image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57823" y="4389120"/>
            <a:ext cx="1344168" cy="1344168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6243523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З морепродуктами середн…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43523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85–125 ₴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43523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Ашан · Клас · METRO +2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013801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8013801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8086953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4" name="Picture 83" descr="image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19541" y="4389120"/>
            <a:ext cx="1344168" cy="1344168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8105241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Зі спеціями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105241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98–129 ₴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105241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Космос · Клас · METRO +4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1 · РАМЕН У ПАКЕТІ · З БУЛЬЙОНОМ   ·   41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Пакет з бульйоном: каталог 4 з 4 — 118–205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09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71600"/>
            <a:ext cx="36576" cy="19202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389888"/>
            <a:ext cx="1069848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303A5D"/>
                </a:solidFill>
                <a:latin typeface="Segoe UI"/>
              </a:rPr>
              <a:t>СЕГМЕНТ 1 · РАМЕН У ПАКЕТІ · З БУЛЬЙОНОМ   ·   Варіння 4–5 хв · подається з бульйоном   ·   вага 102–144 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1810512"/>
            <a:ext cx="1344168" cy="1344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Kimchi Ramyun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98–124 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ЧудоМаркет · Космос · G…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8646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428646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501798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386" y="1810512"/>
            <a:ext cx="1344168" cy="13441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520086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Зі смаком сиру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0086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112–130 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0086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105 г · Ашан · Зараз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0364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90364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63516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6104" y="1810512"/>
            <a:ext cx="1344168" cy="1344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381804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З морепродуктами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1804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125–135 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1804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125 г · Клас · Onde · Восторг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52083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52083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25235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7823" y="1810512"/>
            <a:ext cx="1344168" cy="13441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43523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Зі спеціями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3523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125 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3523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Grono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13801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013801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086953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9541" y="1810512"/>
            <a:ext cx="1344168" cy="134416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105241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Shin Ramyun з грибами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5241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128 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5241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Onde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75519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875519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948672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1259" y="1810512"/>
            <a:ext cx="1344168" cy="134416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966959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Shin Ramyun Tom Yum Том…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59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116–142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59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123 г · Ашан · Grono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66928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40080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668" y="4389120"/>
            <a:ext cx="1344168" cy="134416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58368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Шин Рамен Black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165 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130 г · METRO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8646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2428646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2501798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3" name="Picture 62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34386" y="4389120"/>
            <a:ext cx="1344168" cy="134416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520086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Shin Ramyun Black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20086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202–209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20086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130 г · Ашан · Grono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1 · ДЕ ПРОДАЄТЬСЯ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Пакет з бульйоном: де продається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45920"/>
            <a:ext cx="45720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ПОЗИЦІЙ СЕГМЕНТА В МЕРЕЖІ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4248" y="1901952"/>
            <a:ext cx="5486" cy="3822191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618488" y="576072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016252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Ашан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84248" y="2007107"/>
            <a:ext cx="2867890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25290" y="2011680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31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327148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Grono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84248" y="2318003"/>
            <a:ext cx="1017638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075038" y="2322576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2638044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«Зараз»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84248" y="2628899"/>
            <a:ext cx="1017638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075038" y="2633472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2948939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Onde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84248" y="2939795"/>
            <a:ext cx="832613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890013" y="2944368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3259835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«Космос»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84248" y="3250691"/>
            <a:ext cx="462563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519963" y="3255263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3570731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«Таврія В»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84248" y="3561587"/>
            <a:ext cx="462563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519963" y="3566159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3881627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«Клас»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84248" y="3872483"/>
            <a:ext cx="370050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427450" y="3877055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4192523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METRO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84248" y="4183379"/>
            <a:ext cx="370050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427450" y="4187951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4503419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«Восторг»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84248" y="4494275"/>
            <a:ext cx="370050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427450" y="4498847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4814315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NOVUS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84248" y="4805171"/>
            <a:ext cx="185025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242425" y="4809743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5125211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«ЧудоМаркет»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984248" y="5116067"/>
            <a:ext cx="92512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149912" y="5120639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5436107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«Сільпо»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984248" y="5426963"/>
            <a:ext cx="92512" cy="173736"/>
          </a:xfrm>
          <a:prstGeom prst="rect">
            <a:avLst/>
          </a:prstGeom>
          <a:solidFill>
            <a:srgbClr val="787E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149912" y="5431535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1*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35040" y="1645920"/>
            <a:ext cx="41148" cy="138988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236208" y="1700784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Національні мережі · 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149840" y="1709928"/>
            <a:ext cx="1481328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149840" y="1737360"/>
            <a:ext cx="148132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>
                <a:solidFill>
                  <a:srgbClr val="FFFFFF"/>
                </a:solidFill>
                <a:latin typeface="Segoe UI"/>
              </a:rPr>
              <a:t>ЦІЛЬОВИЙ КАНАЛ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36208" y="2029968"/>
            <a:ext cx="92537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327648" y="2089404"/>
            <a:ext cx="4681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Ашан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795820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795820" y="20894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31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253020" y="2029968"/>
            <a:ext cx="996696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344460" y="2089404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NOVUS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883956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883956" y="20894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341156" y="2029968"/>
            <a:ext cx="996696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432596" y="2089404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METRO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972092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972092" y="20894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429292" y="2029968"/>
            <a:ext cx="113934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520732" y="2089404"/>
            <a:ext cx="68214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«Зараз»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202875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0202875" y="20894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236208" y="2377440"/>
            <a:ext cx="1210665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327648" y="2436876"/>
            <a:ext cx="75346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«Сільпо»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081113" y="2414016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7081113" y="2436876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1*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035040" y="3127248"/>
            <a:ext cx="41148" cy="138988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236208" y="3182112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Регіональні мережі · 7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149840" y="3191256"/>
            <a:ext cx="1481328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0149840" y="3218688"/>
            <a:ext cx="148132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>
                <a:solidFill>
                  <a:srgbClr val="FFFFFF"/>
                </a:solidFill>
                <a:latin typeface="Segoe UI"/>
              </a:rPr>
              <a:t>РЕГІОНАЛЬНИЙ ВХІД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236208" y="3511296"/>
            <a:ext cx="996696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327648" y="3570732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Grono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867144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6867144" y="3570732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324344" y="3511296"/>
            <a:ext cx="92537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7415783" y="3570732"/>
            <a:ext cx="4681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Onde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883956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7883956" y="3570732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341156" y="3511296"/>
            <a:ext cx="1068019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8432596" y="3570732"/>
            <a:ext cx="61081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«Клас»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043415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9043415" y="3570732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500616" y="3511296"/>
            <a:ext cx="128198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9592056" y="3570732"/>
            <a:ext cx="82478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«Восторг»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416844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10416844" y="3570732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236208" y="3858768"/>
            <a:ext cx="1210665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6327648" y="3918204"/>
            <a:ext cx="75346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«Космос»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081113" y="3895344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7081113" y="39182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538313" y="3858768"/>
            <a:ext cx="135331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7629753" y="3918204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«Таврія В»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525865" y="3895344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8525865" y="39182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983065" y="3858768"/>
            <a:ext cx="149595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9074505" y="3918204"/>
            <a:ext cx="103875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«ЧудоМаркет»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113263" y="3895344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10113263" y="39182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035040" y="4608576"/>
            <a:ext cx="41148" cy="1481328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6236208" y="4663440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Без позицій сегмента · 6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0149840" y="4672584"/>
            <a:ext cx="1481328" cy="201168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10149840" y="4700016"/>
            <a:ext cx="148132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>
                <a:solidFill>
                  <a:srgbClr val="FFFFFF"/>
                </a:solidFill>
                <a:latin typeface="Segoe UI"/>
              </a:rPr>
              <a:t>ВІЛЬНА ПОЛИЦЯ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236208" y="4992624"/>
            <a:ext cx="93268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6327648" y="5052060"/>
            <a:ext cx="8046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МегаМаркет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260336" y="4992624"/>
            <a:ext cx="1004011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7351776" y="5052060"/>
            <a:ext cx="87599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Ultramarket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355787" y="4992624"/>
            <a:ext cx="433425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8447227" y="5052060"/>
            <a:ext cx="3054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ЕКО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880652" y="4992624"/>
            <a:ext cx="790041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8972092" y="5052060"/>
            <a:ext cx="66202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Епіцентр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9762134" y="4992624"/>
            <a:ext cx="71871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9853574" y="5052060"/>
            <a:ext cx="59070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«Торба»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0572292" y="4992624"/>
            <a:ext cx="71871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10663732" y="5052060"/>
            <a:ext cx="59070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«Ідеал»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2 · РАМЕН У ПАКЕТІ · ІЗ СОУСОМ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Пакет із соусом: 30 позицій, медіана 106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591056"/>
            <a:ext cx="2834640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1591056"/>
            <a:ext cx="41148" cy="107899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1746504"/>
            <a:ext cx="235915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ПОЗИЦІЙ У СЕГМЕНТІ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956816"/>
            <a:ext cx="235915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C4820A"/>
                </a:solidFill>
                <a:latin typeface="Segoe UI"/>
              </a:rPr>
              <a:t>30 SKU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360930"/>
            <a:ext cx="2359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7 брендів у 12 мережах.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34 % усієї категорії.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47872" y="1591056"/>
            <a:ext cx="2834640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547872" y="1591056"/>
            <a:ext cx="41148" cy="107899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03904" y="1746504"/>
            <a:ext cx="235915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МЕДІАНА ПОЛИЦІ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03904" y="1956816"/>
            <a:ext cx="235915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C4820A"/>
                </a:solidFill>
                <a:latin typeface="Segoe UI"/>
              </a:rPr>
              <a:t>106 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03904" y="2360930"/>
            <a:ext cx="2359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P25–P75: 86–137 ₴.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Діапазон: 72–198 ₴.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28816" y="1591056"/>
            <a:ext cx="2834640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528816" y="1591056"/>
            <a:ext cx="41148" cy="107899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84848" y="1746504"/>
            <a:ext cx="235915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ДОРОЖЧІ ЗА ЦІЛЬ 120 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84848" y="1956816"/>
            <a:ext cx="235915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C4820A"/>
                </a:solidFill>
                <a:latin typeface="Segoe UI"/>
              </a:rPr>
              <a:t>11 з 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84848" y="2360930"/>
            <a:ext cx="2359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позицій сегмента.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Дорожчі за 140,55 ₴ (зараз): 5.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09760" y="1591056"/>
            <a:ext cx="2121408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509760" y="1591056"/>
            <a:ext cx="41148" cy="107899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765792" y="1746504"/>
            <a:ext cx="1645919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ВАГА ПАЧКИ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65792" y="1956816"/>
            <a:ext cx="164591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C4820A"/>
                </a:solidFill>
                <a:latin typeface="Segoe UI"/>
              </a:rPr>
              <a:t>105–145 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65792" y="2313305"/>
            <a:ext cx="16459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межі сегмента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за зрізом 29.09.2026.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2779776"/>
            <a:ext cx="5120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ХТО ТРИМАЄ СЕГМЕНТ · SKU НА БРЕНД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3017520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Samyang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755648" y="3040379"/>
            <a:ext cx="3474720" cy="9601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230368" y="3017520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3195827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Paldo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755648" y="3218687"/>
            <a:ext cx="1895301" cy="9601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30368" y="3195827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3374135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Nongshim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755648" y="3396995"/>
            <a:ext cx="1579418" cy="9601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230368" y="3374135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3552443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Bibigo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755648" y="3575303"/>
            <a:ext cx="1263534" cy="9601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230368" y="3552443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3730751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755648" y="3753611"/>
            <a:ext cx="631767" cy="9601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230368" y="3730751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" y="3909059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Choi's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755648" y="3931920"/>
            <a:ext cx="315883" cy="9601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230368" y="3909059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55080" y="2779776"/>
            <a:ext cx="5303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ПОЗИЦІЙ ЗА ЦІНОВОЮ СМУГОЮ · ₴ ЗА ПАЧКУ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55080" y="3846576"/>
            <a:ext cx="566928" cy="15849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263640" y="3663696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до 80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14032" y="3291839"/>
            <a:ext cx="566928" cy="71323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022592" y="3108959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22592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80–95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872983" y="3608831"/>
            <a:ext cx="566928" cy="39624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781544" y="3425951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81544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95–110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631936" y="3608831"/>
            <a:ext cx="566928" cy="39624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540496" y="3425951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40496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110–130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390888" y="3608831"/>
            <a:ext cx="566928" cy="39624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299448" y="3425951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299448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130–150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149840" y="3767328"/>
            <a:ext cx="566928" cy="23774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0058400" y="35844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058400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150–180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908792" y="3925823"/>
            <a:ext cx="566928" cy="79248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0817352" y="3742943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817352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180 +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66928" y="4224528"/>
            <a:ext cx="36576" cy="17373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713232" y="4233672"/>
            <a:ext cx="640080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spc="-10">
                <a:solidFill>
                  <a:srgbClr val="303A5D"/>
                </a:solidFill>
                <a:latin typeface="Segoe UI"/>
              </a:rPr>
              <a:t>ПРЕДСТАВНИКИ СЕГМЕНТА · ВІД НАЙДЕШЕВШОЇ ДО НАЙДОРОЖЧОЇ ПОЗИЦІЇ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66928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566928" y="449884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640080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5" name="Picture 7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4645152"/>
            <a:ext cx="1115568" cy="1115568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658368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Tangle зі смаком вершко…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58368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78 ₴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8368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105 г · Onde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428646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2428646" y="449884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2501798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2" name="Picture 81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8686" y="4645152"/>
            <a:ext cx="1115568" cy="1115568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2520086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Bibigo · Стір-фрай Рамен Spicy T…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520086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86 ₴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520086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122 г · Ашан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290364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4290364" y="449884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4363516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9" name="Picture 88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0404" y="4645152"/>
            <a:ext cx="1115568" cy="1115568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4381804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Paldo · Bibim Men в корейському…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381804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72–124 ₴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381804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130 г · ЧудоМаркет · Grono · NO…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152083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6152083" y="449884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6225235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6" name="Picture 95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2123" y="4645152"/>
            <a:ext cx="1115568" cy="1115568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6243523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З сиром гостра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243523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115 ₴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243523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130 г · Ашан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013801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8013801" y="449884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8086953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3" name="Picture 102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3841" y="4645152"/>
            <a:ext cx="1115568" cy="1115568"/>
          </a:xfrm>
          <a:prstGeom prst="rect">
            <a:avLst/>
          </a:prstGeom>
        </p:spPr>
      </p:pic>
      <p:sp>
        <p:nvSpPr>
          <p:cNvPr id="104" name="TextBox 103"/>
          <p:cNvSpPr txBox="1"/>
          <p:nvPr/>
        </p:nvSpPr>
        <p:spPr>
          <a:xfrm>
            <a:off x="8105241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Зі смаком курки гостра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105241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93–156 ₴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105241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140 г · Ашан · Космос · Grono +4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9875519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9875519" y="449884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9948672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0" name="Picture 10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95559" y="4645152"/>
            <a:ext cx="1115568" cy="1115568"/>
          </a:xfrm>
          <a:prstGeom prst="rect">
            <a:avLst/>
          </a:prstGeom>
        </p:spPr>
      </p:pic>
      <p:sp>
        <p:nvSpPr>
          <p:cNvPr id="111" name="TextBox 110"/>
          <p:cNvSpPr txBox="1"/>
          <p:nvPr/>
        </p:nvSpPr>
        <p:spPr>
          <a:xfrm>
            <a:off x="9966959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Spicy &amp; Creamy Toomba K…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966959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198 ₴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966959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137 г · Grono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2 · РАМЕН У ПАКЕТІ · ІЗ СОУСОМ   ·   30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Пакет із соусом: каталог 1 з 3 — 78–89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71600"/>
            <a:ext cx="36576" cy="19202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389888"/>
            <a:ext cx="1069848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C4820A"/>
                </a:solidFill>
                <a:latin typeface="Segoe UI"/>
              </a:rPr>
              <a:t>СЕГМЕНТ 2 · РАМЕН У ПАКЕТІ · ІЗ СОУСОМ   ·   Варіння 4–5 хв · воду злити, змішати із соусом   ·   вага 105–145 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1810512"/>
            <a:ext cx="1344168" cy="1344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Tangle зі смаком вершко…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78 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105 г · Onde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8646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428646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501798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501798" y="2409444"/>
            <a:ext cx="160934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spc="-10">
                <a:solidFill>
                  <a:srgbClr val="9FA9C4"/>
                </a:solidFill>
                <a:latin typeface="Segoe UI"/>
              </a:rPr>
              <a:t>фото немає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20086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fire bull · Stir-Fried Ramen Beef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0086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78 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0086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138 г · Onde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0364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90364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63516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6104" y="1810512"/>
            <a:ext cx="1344168" cy="1344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381804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Paldo · Volcano Carbonara гостр…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1804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80 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1804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105 г · Ашан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52083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52083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25235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7823" y="1810512"/>
            <a:ext cx="1344168" cy="13441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43523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Paldo · Compaghetti локшина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3523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81 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3523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110 г · Ашан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13801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013801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086953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9541" y="1810512"/>
            <a:ext cx="1344168" cy="134416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105241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Bibigo · Стір-фрай Рамен зі смак…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5241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86 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5241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122 г · Ашан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75519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875519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948672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81259" y="1810512"/>
            <a:ext cx="1344168" cy="134416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966959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Bibigo · Стір-фрай Рамен Курка б…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59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86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59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122 г · Ашан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66928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40080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2668" y="4389120"/>
            <a:ext cx="1344168" cy="134416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58368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Bibigo · Стір-фрай Рамен Spicy T…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86 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122 г · Ашан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8646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2428646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2501798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3" name="Picture 62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34386" y="4389120"/>
            <a:ext cx="1344168" cy="134416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520086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Bibigo · Стір-фрай Рамен Cheese…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20086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86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20086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127 г · Ашан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90364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4290364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4363516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0" name="Picture 69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96104" y="4389120"/>
            <a:ext cx="1344168" cy="1344168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4381804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Ottogi · Stir-Fry Рамен із сиром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81804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89 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81804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Ашан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52083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6152083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6225235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7" name="Picture 76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57823" y="4389120"/>
            <a:ext cx="1344168" cy="1344168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6243523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Ottogi · Stir-Fry Рамен із сиром…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43523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89 ₴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43523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130 г · Ашан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2 · РАМЕН У ПАКЕТІ · ІЗ СОУСОМ   ·   30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Пакет із соусом: каталог 2 з 3 — 89–123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13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71600"/>
            <a:ext cx="36576" cy="19202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389888"/>
            <a:ext cx="1069848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C4820A"/>
                </a:solidFill>
                <a:latin typeface="Segoe UI"/>
              </a:rPr>
              <a:t>СЕГМЕНТ 2 · РАМЕН У ПАКЕТІ · ІЗ СОУСОМ   ·   Варіння 4–5 хв · воду злити, змішати із соусом   ·   вага 105–145 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1810512"/>
            <a:ext cx="1344168" cy="1344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Stir Fry Шин Рамьойн го…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89 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131 г · Ашан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8646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428646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501798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386" y="1810512"/>
            <a:ext cx="1344168" cy="13441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520086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Shin Ramyun Stir Fry зі…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0086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96 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0086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136 г · Ашан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0364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90364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63516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6104" y="1810512"/>
            <a:ext cx="1344168" cy="1344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381804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Paldo · Bibim Men в корейському…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1804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72–124 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1804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130 г · ЧудоМаркет · Grono · NO…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52083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52083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25235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7823" y="1810512"/>
            <a:ext cx="1344168" cy="13441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43523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Chacharoni зі смаком чо…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3523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90–115 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3523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140 г · Ашан · Зараз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13801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013801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086953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9541" y="1810512"/>
            <a:ext cx="1344168" cy="134416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105241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Paldo · Stir fried з куркою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5241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86–123 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5241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130 г · Ашан · Grono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75519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875519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948672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1259" y="1810512"/>
            <a:ext cx="1344168" cy="134416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966959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Buldak Jjajang зі смако…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59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108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59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140 г · Ашан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66928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40080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668" y="4389120"/>
            <a:ext cx="1344168" cy="134416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58368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Paldo · Volcano Carbonara куряча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105–121 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130 г · Ашан · Grono · Onde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8646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2428646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2501798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3" name="Picture 62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34386" y="4389120"/>
            <a:ext cx="1344168" cy="134416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520086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З сиром гостра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20086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115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20086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130 г · Ашан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90364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4290364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4363516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0" name="Picture 69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96104" y="4389120"/>
            <a:ext cx="1344168" cy="1344168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4381804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Chapaghetti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81804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89–136 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81804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140 г · Ашан · Клас · METRO +3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52083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6152083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6225235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7" name="Picture 76" descr="image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57823" y="4389120"/>
            <a:ext cx="1344168" cy="1344168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6243523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Paldo · Volcano Chicken з курко…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43523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84–123 ₴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43523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140 г · Ашан · Grono · Onde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2 · РАМЕН У ПАКЕТІ · ІЗ СОУСОМ   ·   30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Пакет із соусом: каталог 3 з 3 — 125–198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14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71600"/>
            <a:ext cx="36576" cy="19202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389888"/>
            <a:ext cx="1069848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C4820A"/>
                </a:solidFill>
                <a:latin typeface="Segoe UI"/>
              </a:rPr>
              <a:t>СЕГМЕНТ 2 · РАМЕН У ПАКЕТІ · ІЗ СОУСОМ   ·   Варіння 4–5 хв · воду злити, змішати із соусом   ·   вага 105–145 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1810512"/>
            <a:ext cx="1344168" cy="1344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Choi's · Карбон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125 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131 г · Космос · Таврія В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8646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428646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501798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386" y="1810512"/>
            <a:ext cx="1344168" cy="13441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520086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Buldak Рамен з гострою…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0086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94–184 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0086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145 г · Ашан · ЧудоМаркет · Кос…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0364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90364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63516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6104" y="1810512"/>
            <a:ext cx="1344168" cy="1344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381804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Зі смаком курки дуже го…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1804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86–151 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1804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140 г · Ашан · ЧудоМаркет · Кос…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52083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52083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25235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7823" y="1810512"/>
            <a:ext cx="1344168" cy="13441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43523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Зі смаком курки гостра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3523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93–156 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3523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140 г · Ашан · Космос · Grono +4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13801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013801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086953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9541" y="1810512"/>
            <a:ext cx="1344168" cy="134416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105241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Гостра з сиром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5241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100–151 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5241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130 г · ЧудоМаркет · Космос · G…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75519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875519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948672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1259" y="1810512"/>
            <a:ext cx="1344168" cy="134416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966959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Toomba Spicy&amp;Creamy Sti…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59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131–154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59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137 г · Ашан · ЧудоМаркет · Gro…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66928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40080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668" y="4389120"/>
            <a:ext cx="1344168" cy="134416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58368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Tangle зі смаком вершко…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78–157 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105 г · Клас · Onde · Восторг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8646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2428646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2501798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3" name="Picture 62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34386" y="4389120"/>
            <a:ext cx="1344168" cy="134416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520086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Tangle зі смаком вершко…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20086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157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20086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105 г · Клас · Восторг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90364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4290364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4363516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0" name="Picture 69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96104" y="4389120"/>
            <a:ext cx="1344168" cy="1344168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4381804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Tangle зі смаком часник…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81804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78–157 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81804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105 г · Клас · Onde · Восторг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52083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6152083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6225235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7" name="Picture 76" descr="image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57823" y="4389120"/>
            <a:ext cx="1344168" cy="1344168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6243523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Spicy &amp; Creamy Toomba K…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43523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198 ₴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43523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137 г · Grono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2 · ДЕ ПРОДАЄТЬСЯ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Пакет із соусом: де продається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45920"/>
            <a:ext cx="45720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ПОЗИЦІЙ СЕГМЕНТА В МЕРЕЖІ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4248" y="1901952"/>
            <a:ext cx="5486" cy="4133087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618488" y="6071616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016252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Ашан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84248" y="2007107"/>
            <a:ext cx="2867890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25290" y="2011680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327148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Onde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84248" y="2318003"/>
            <a:ext cx="1638794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96194" y="2322576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2638044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Grono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84248" y="2628899"/>
            <a:ext cx="1365662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23062" y="2633472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2948939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«Клас»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84248" y="2939795"/>
            <a:ext cx="955963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013363" y="2944368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3259835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«Восторг»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84248" y="3250691"/>
            <a:ext cx="955963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013363" y="3255263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3570731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NOVUS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84248" y="3561587"/>
            <a:ext cx="819397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876797" y="3566159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3881627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«ЧудоМаркет»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84248" y="3872483"/>
            <a:ext cx="682831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740231" y="3877055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4192523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«Космос»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84248" y="4183379"/>
            <a:ext cx="682831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740231" y="4187951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4503419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«Таврія В»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84248" y="4494275"/>
            <a:ext cx="682831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740231" y="4498847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4814315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«Зараз»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84248" y="4805171"/>
            <a:ext cx="409698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467098" y="4809743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5125211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«Сільпо»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984248" y="5116067"/>
            <a:ext cx="409698" cy="173736"/>
          </a:xfrm>
          <a:prstGeom prst="rect">
            <a:avLst/>
          </a:prstGeom>
          <a:solidFill>
            <a:srgbClr val="D8AD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467098" y="5120639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3*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5436107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«Торба»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984248" y="5426963"/>
            <a:ext cx="273132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330532" y="5431535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6928" y="5747003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METRO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84248" y="5737859"/>
            <a:ext cx="136566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193966" y="5742431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35040" y="1645920"/>
            <a:ext cx="41148" cy="138988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236208" y="1700784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Національні мережі · 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149840" y="1709928"/>
            <a:ext cx="1481328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0149840" y="1737360"/>
            <a:ext cx="148132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>
                <a:solidFill>
                  <a:srgbClr val="FFFFFF"/>
                </a:solidFill>
                <a:latin typeface="Segoe UI"/>
              </a:rPr>
              <a:t>ЦІЛЬОВИЙ КАНАЛ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36208" y="2029968"/>
            <a:ext cx="92537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327648" y="2089404"/>
            <a:ext cx="4681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Ашан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795820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795820" y="20894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21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253020" y="2029968"/>
            <a:ext cx="996696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344460" y="2089404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NOVUS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883956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883956" y="20894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341156" y="2029968"/>
            <a:ext cx="996696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432596" y="2089404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METRO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972092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972092" y="20894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429292" y="2029968"/>
            <a:ext cx="113934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520732" y="2089404"/>
            <a:ext cx="68214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«Зараз»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202875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10202875" y="20894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236208" y="2377440"/>
            <a:ext cx="1210665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327648" y="2436876"/>
            <a:ext cx="75346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«Сільпо»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081113" y="2414016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7081113" y="2436876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3*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035040" y="3127248"/>
            <a:ext cx="41148" cy="138988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6236208" y="3182112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Регіональні мережі · 8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149840" y="3191256"/>
            <a:ext cx="1481328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10149840" y="3218688"/>
            <a:ext cx="148132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>
                <a:solidFill>
                  <a:srgbClr val="FFFFFF"/>
                </a:solidFill>
                <a:latin typeface="Segoe UI"/>
              </a:rPr>
              <a:t>РЕГІОНАЛЬНИЙ ВХІД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236208" y="3511296"/>
            <a:ext cx="996696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327648" y="3570732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Grono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867144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6867144" y="3570732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324344" y="3511296"/>
            <a:ext cx="92537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415783" y="3570732"/>
            <a:ext cx="4681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Onde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883956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7883956" y="3570732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341156" y="3511296"/>
            <a:ext cx="1068019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8432596" y="3570732"/>
            <a:ext cx="61081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«Клас»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043415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9043415" y="3570732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500616" y="3511296"/>
            <a:ext cx="128198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9592056" y="3570732"/>
            <a:ext cx="82478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«Восторг»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0416844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10416844" y="3570732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236208" y="3858768"/>
            <a:ext cx="1210665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6327648" y="3918204"/>
            <a:ext cx="75346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«Космос»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081113" y="3895344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7081113" y="39182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538313" y="3858768"/>
            <a:ext cx="135331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7629753" y="3918204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«Таврія В»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525865" y="3895344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8525865" y="39182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983065" y="3858768"/>
            <a:ext cx="149595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9074505" y="3918204"/>
            <a:ext cx="103875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«ЧудоМаркет»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113263" y="3895344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10113263" y="39182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236208" y="4206240"/>
            <a:ext cx="113934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6327648" y="4265676"/>
            <a:ext cx="68214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«Торба»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009790" y="4242816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7009790" y="4265676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035040" y="4608576"/>
            <a:ext cx="41148" cy="1481328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6236208" y="4663440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Без позицій сегмента · 5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0149840" y="4672584"/>
            <a:ext cx="1481328" cy="201168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10149840" y="4700016"/>
            <a:ext cx="148132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>
                <a:solidFill>
                  <a:srgbClr val="FFFFFF"/>
                </a:solidFill>
                <a:latin typeface="Segoe UI"/>
              </a:rPr>
              <a:t>ВІЛЬНА ПОЛИЦЯ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6236208" y="4992624"/>
            <a:ext cx="93268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6327648" y="5052060"/>
            <a:ext cx="8046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МегаМаркет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7260336" y="4992624"/>
            <a:ext cx="1004011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7351776" y="5052060"/>
            <a:ext cx="87599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Ultramarket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8355787" y="4992624"/>
            <a:ext cx="433425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8447227" y="5052060"/>
            <a:ext cx="3054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ЕКО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8880652" y="4992624"/>
            <a:ext cx="790041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8972092" y="5052060"/>
            <a:ext cx="66202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Епіцентр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9762134" y="4992624"/>
            <a:ext cx="71871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9853574" y="5052060"/>
            <a:ext cx="59070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«Ідеал»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3 · РАМЕН У СТАКАНІ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Стакан: заливається окропом, без плити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16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591056"/>
            <a:ext cx="2834640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1591056"/>
            <a:ext cx="41148" cy="107899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1746504"/>
            <a:ext cx="235915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ПОЗИЦІЙ У СЕГМЕНТІ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956816"/>
            <a:ext cx="235915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5D4B96"/>
                </a:solidFill>
                <a:latin typeface="Segoe UI"/>
              </a:rPr>
              <a:t>18 SKU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360930"/>
            <a:ext cx="2359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4 брендів у 8 мережах.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20 % усієї категорії.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47872" y="1591056"/>
            <a:ext cx="2834640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547872" y="1591056"/>
            <a:ext cx="41148" cy="107899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03904" y="1746504"/>
            <a:ext cx="235915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МЕДІАНА ПОЛИЦІ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03904" y="1956816"/>
            <a:ext cx="235915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5D4B96"/>
                </a:solidFill>
                <a:latin typeface="Segoe UI"/>
              </a:rPr>
              <a:t>104 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03904" y="2360930"/>
            <a:ext cx="2359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P25–P75: 93–111 ₴.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Діапазон: 34–195 ₴.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28816" y="1591056"/>
            <a:ext cx="2834640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528816" y="1591056"/>
            <a:ext cx="41148" cy="107899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84848" y="1746504"/>
            <a:ext cx="235915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ДОРОЖЧІ ЗА ЦІЛЬ 120 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84848" y="1956816"/>
            <a:ext cx="235915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5D4B96"/>
                </a:solidFill>
                <a:latin typeface="Segoe UI"/>
              </a:rPr>
              <a:t>3 з 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84848" y="2360930"/>
            <a:ext cx="2359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позицій сегмента.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Дорожчі за 140,55 ₴ (зараз): 3.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09760" y="1591056"/>
            <a:ext cx="2121408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509760" y="1591056"/>
            <a:ext cx="41148" cy="107899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765792" y="1746504"/>
            <a:ext cx="1645919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ВАГА ПАЧКИ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65792" y="1956816"/>
            <a:ext cx="164591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5D4B96"/>
                </a:solidFill>
                <a:latin typeface="Segoe UI"/>
              </a:rPr>
              <a:t>62–120 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65792" y="2313305"/>
            <a:ext cx="16459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межі сегмента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за зрізом 29.09.2026.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2779776"/>
            <a:ext cx="5120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ХТО ТРИМАЄ СЕГМЕНТ · SKU НА БРЕНД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3017520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Nongshim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755648" y="3040379"/>
            <a:ext cx="3474720" cy="9601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230368" y="3017520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3195827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Samyang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755648" y="3218687"/>
            <a:ext cx="1579418" cy="9601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30368" y="3195827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3374135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Paldo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755648" y="3396995"/>
            <a:ext cx="315883" cy="9601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230368" y="3374135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3552443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755648" y="3575303"/>
            <a:ext cx="315883" cy="9601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230368" y="3552443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2779776"/>
            <a:ext cx="5303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ПОЗИЦІЙ ЗА ЦІНОВОЮ СМУГОЮ · ₴ ЗА ПАЧКУ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55080" y="3699401"/>
            <a:ext cx="566928" cy="30567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263640" y="3516521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до 80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14032" y="3903181"/>
            <a:ext cx="566928" cy="10189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022592" y="3720301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22592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80–95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872983" y="3291839"/>
            <a:ext cx="566928" cy="71323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781544" y="3108959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81544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95–110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631936" y="3597510"/>
            <a:ext cx="566928" cy="407561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540496" y="3414630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40496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110–130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390888" y="3801291"/>
            <a:ext cx="566928" cy="20378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299448" y="3618411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99448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130–150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149840" y="3986784"/>
            <a:ext cx="566928" cy="1828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0058400" y="3803904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58400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150–180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908792" y="3903181"/>
            <a:ext cx="566928" cy="10189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0817352" y="3720301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817352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180 +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66928" y="4224528"/>
            <a:ext cx="36576" cy="17373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13232" y="4233672"/>
            <a:ext cx="640080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spc="-10">
                <a:solidFill>
                  <a:srgbClr val="303A5D"/>
                </a:solidFill>
                <a:latin typeface="Segoe UI"/>
              </a:rPr>
              <a:t>ПРЕДСТАВНИКИ СЕГМЕНТА · ВІД НАЙДЕШЕВШОЇ ДО НАЙДОРОЖЧОЇ ПОЗИЦІЇ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66928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566928" y="449884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640080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9" name="Picture 6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4645152"/>
            <a:ext cx="1115568" cy="1115568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658368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Bulgogi Рамен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8368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65 ₴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58368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80 г · Ашан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428646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2428646" y="449884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2501798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6" name="Picture 7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8686" y="4645152"/>
            <a:ext cx="1115568" cy="1115568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2520086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Ottogi · Jin Ramen Гостра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520086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82 ₴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520086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67 г · Ашан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290364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4290364" y="449884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4363516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3" name="Picture 82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0404" y="4645152"/>
            <a:ext cx="1115568" cy="1115568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4381804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Shrimp в стакані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381804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103 ₴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381804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67 г · Ашан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152083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6152083" y="449884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6225235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0" name="Picture 89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2123" y="4645152"/>
            <a:ext cx="1115568" cy="1115568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6243523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Shin Red Super Spicy го…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243523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105 ₴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243523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68 г · METRO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013801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8013801" y="449884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8086953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7" name="Picture 96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3841" y="4645152"/>
            <a:ext cx="1115568" cy="1115568"/>
          </a:xfrm>
          <a:prstGeom prst="rect">
            <a:avLst/>
          </a:prstGeom>
        </p:spPr>
      </p:pic>
      <p:sp>
        <p:nvSpPr>
          <p:cNvPr id="98" name="TextBox 97"/>
          <p:cNvSpPr txBox="1"/>
          <p:nvPr/>
        </p:nvSpPr>
        <p:spPr>
          <a:xfrm>
            <a:off x="8105241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Soon Veggie Cup Noodle…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105241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111 ₴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105241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67 г · METRO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875519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9875519" y="449884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9948672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4" name="Picture 103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95559" y="4645152"/>
            <a:ext cx="1115568" cy="1115568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9966959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Shin Cup локшина з гриб…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966959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195 ₴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966959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80 г · Grono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3 · РАМЕН У СТАКАНІ   ·   18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Стакан: каталог 1 з 2 — 65–103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17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71600"/>
            <a:ext cx="36576" cy="192024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389888"/>
            <a:ext cx="1069848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5D4B96"/>
                </a:solidFill>
                <a:latin typeface="Segoe UI"/>
              </a:rPr>
              <a:t>СЕГМЕНТ 3 · РАМЕН У СТАКАНІ   ·   Залити окропом 3–4 хв · без плити   ·   вага 62–120 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1810512"/>
            <a:ext cx="1344168" cy="1344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Bulgogi Рамен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65 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80 г · Ашан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8646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428646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501798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386" y="1810512"/>
            <a:ext cx="1344168" cy="13441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520086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Jjanang Рамен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0086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65 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0086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80 г · Ашан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0364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90364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63516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6104" y="1810512"/>
            <a:ext cx="1344168" cy="1344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381804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Кімчі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1804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65–86 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1804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80 г · Ашан · Onde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52083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52083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25235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7823" y="1810512"/>
            <a:ext cx="1344168" cy="13441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43523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Ottogi · Jin Ramen Гостра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3523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82 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3523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67 г · Ашан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13801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013801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086953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9541" y="1810512"/>
            <a:ext cx="1344168" cy="134416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105241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Шин Рамьон гостра сублі…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5241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97 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5241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68 г · Ашан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75519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875519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948672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1259" y="1810512"/>
            <a:ext cx="1344168" cy="134416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966959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Paldo · Jumbo Noodle Hot &amp; Spic…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59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99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59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Ашан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66928" y="4242816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40080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668" y="4389120"/>
            <a:ext cx="1344168" cy="134416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58368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Buldak Hot Chicken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34–149 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70 г · Космос · Grono · Клас +3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8646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2428646" y="4242816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2501798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3" name="Picture 62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34386" y="4389120"/>
            <a:ext cx="1344168" cy="134416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520086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Shrimp в стакані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20086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103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20086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67 г · Ашан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90364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4290364" y="4242816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4363516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0" name="Picture 69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96104" y="4389120"/>
            <a:ext cx="1344168" cy="1344168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4381804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Tempura Udon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81804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103 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81804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62 г · Ашан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3 · РАМЕН У СТАКАНІ   ·   18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Стакан: каталог 2 з 2 — 105–195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18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71600"/>
            <a:ext cx="36576" cy="192024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389888"/>
            <a:ext cx="1069848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5D4B96"/>
                </a:solidFill>
                <a:latin typeface="Segoe UI"/>
              </a:rPr>
              <a:t>СЕГМЕНТ 3 · РАМЕН У СТАКАНІ   ·   Залити окропом 3–4 хв · без плити   ·   вага 62–120 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1810512"/>
            <a:ext cx="1344168" cy="1344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Шин Рамьон гостра сублі…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105 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68 г · METRO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8646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428646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501798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386" y="1810512"/>
            <a:ext cx="1344168" cy="13441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520086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Shin Red Super Spicy го…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0086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105 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0086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68 г · METRO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0364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90364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63516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6104" y="1810512"/>
            <a:ext cx="1344168" cy="1344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381804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Cup Ramyun Shrimp гостра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1804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111 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1804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67 г · METRO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52083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52083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25235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7823" y="1810512"/>
            <a:ext cx="1344168" cy="13441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43523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Tempura Udon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3523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111 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3523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62 г · METRO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13801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013801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086953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9541" y="1810512"/>
            <a:ext cx="1344168" cy="134416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105241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Суп Neoguri з морепроду…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5241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111 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5241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62 г · METRO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75519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875519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948672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1259" y="1810512"/>
            <a:ext cx="1344168" cy="134416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966959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Soon Veggie Cup Noodle…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59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111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59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67 г · METRO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66928" y="4242816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40080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668" y="4389120"/>
            <a:ext cx="1344168" cy="134416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58368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Buldak Hot Chicken сир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137–150 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70 г · Космос · Клас · Таврія …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8646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2428646" y="4242816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2501798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3" name="Picture 62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34386" y="4389120"/>
            <a:ext cx="1344168" cy="134416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520086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Kimchi Shin Ramyun Cup…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20086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100–158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20086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75 г · Grono · METRO · Onde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90364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4290364" y="4242816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4363516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0" name="Picture 69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96104" y="4389120"/>
            <a:ext cx="1344168" cy="1344168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4381804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Shin Cup локшина з гриб…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81804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195 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81804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80 г · Grono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ЗВЕДЕННЯ · БРЕНДИ × МЕРЕЖІ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Усі бренди в усіх мережах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19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261872"/>
            <a:ext cx="566928" cy="402336"/>
          </a:xfrm>
          <a:prstGeom prst="rect">
            <a:avLst/>
          </a:prstGeom>
          <a:solidFill>
            <a:srgbClr val="359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" y="1298448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FFFFFF"/>
                </a:solidFill>
                <a:latin typeface="Segoe UI"/>
              </a:rPr>
              <a:t>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481328"/>
            <a:ext cx="56692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spc="-10">
                <a:solidFill>
                  <a:srgbClr val="FFFFFF"/>
                </a:solidFill>
                <a:latin typeface="Segoe UI"/>
              </a:rPr>
              <a:t>89 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25296" y="1261872"/>
            <a:ext cx="5120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верхнє число — кількість позицій (SKU) бренду в мережі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5296" y="1463040"/>
            <a:ext cx="5120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нижнє число — медіанна ціна пачки в ₴  ·  чим темніше, тим більше позицій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73936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773936" y="192024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Ашан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22576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322576" y="192024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Grono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71216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871216" y="192024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Onde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19856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19856" y="192024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METRO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68496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968496" y="192024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«Зараз»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17136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17136" y="192024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«Клас»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65775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65775" y="192024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«Восторг»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14416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14416" y="192024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«Космос»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63055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63055" y="192024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«Таврія»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11695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711695" y="192024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NOVUS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60336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260336" y="192024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«ЧудоМ.»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08975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808975" y="192024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«Торба»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57615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357615" y="192024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«Сільпо»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79407" y="1810512"/>
            <a:ext cx="539496" cy="3474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979407" y="1920240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SKU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546335" y="1810512"/>
            <a:ext cx="612647" cy="3474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546335" y="1920240"/>
            <a:ext cx="612647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МЕРЕЖ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186415" y="1810512"/>
            <a:ext cx="722375" cy="3474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186415" y="1920240"/>
            <a:ext cx="72237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МЕДІАНА, ₴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936223" y="1810512"/>
            <a:ext cx="868680" cy="3474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936223" y="1920240"/>
            <a:ext cx="868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ВАГА ПАЧКИ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2297430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Nongshim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773936" y="2212848"/>
            <a:ext cx="512063" cy="333756"/>
          </a:xfrm>
          <a:prstGeom prst="rect">
            <a:avLst/>
          </a:prstGeom>
          <a:solidFill>
            <a:srgbClr val="1A7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773936" y="222656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17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73936" y="2404872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FFFFFF"/>
                </a:solidFill>
                <a:latin typeface="Segoe UI"/>
              </a:rPr>
              <a:t>89 ₴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322576" y="2212848"/>
            <a:ext cx="512063" cy="333756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2322576" y="222656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22576" y="2404872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145 ₴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871216" y="2212848"/>
            <a:ext cx="512063" cy="333756"/>
          </a:xfrm>
          <a:prstGeom prst="rect">
            <a:avLst/>
          </a:prstGeom>
          <a:solidFill>
            <a:srgbClr val="359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2871216" y="222656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871216" y="2404872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FFFFFF"/>
                </a:solidFill>
                <a:latin typeface="Segoe UI"/>
              </a:rPr>
              <a:t>122 ₴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419856" y="2212848"/>
            <a:ext cx="512063" cy="333756"/>
          </a:xfrm>
          <a:prstGeom prst="rect">
            <a:avLst/>
          </a:prstGeom>
          <a:solidFill>
            <a:srgbClr val="359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419856" y="222656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19856" y="2404872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FFFFFF"/>
                </a:solidFill>
                <a:latin typeface="Segoe UI"/>
              </a:rPr>
              <a:t>108 ₴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968496" y="221284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3968496" y="230428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17136" y="2212848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517136" y="222656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17136" y="2404872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125 ₴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65775" y="2212848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5065775" y="222656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065775" y="2404872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125 ₴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614416" y="2212848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614416" y="222656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614416" y="2404872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116 ₴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63055" y="2212848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163055" y="222656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163055" y="2404872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118 ₴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711695" y="2212848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6711695" y="222656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711695" y="2404872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126 ₴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260336" y="2212848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7260336" y="222656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260336" y="2404872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120 ₴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808975" y="221284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7808975" y="230428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357615" y="2212848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8357615" y="222656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357615" y="2404872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139 ₴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979407" y="2212848"/>
            <a:ext cx="539496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8979407" y="2304288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33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546335" y="2212848"/>
            <a:ext cx="612647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9546335" y="2304288"/>
            <a:ext cx="612647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11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186415" y="2212848"/>
            <a:ext cx="722375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10186415" y="2304288"/>
            <a:ext cx="72237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111 ₴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936223" y="2212848"/>
            <a:ext cx="868680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10936223" y="2304288"/>
            <a:ext cx="868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62–140 г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66928" y="2667762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Samyang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773936" y="2583179"/>
            <a:ext cx="512063" cy="333756"/>
          </a:xfrm>
          <a:prstGeom prst="rect">
            <a:avLst/>
          </a:prstGeom>
          <a:solidFill>
            <a:srgbClr val="359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1773936" y="259689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13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773936" y="2775203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FFFFFF"/>
                </a:solidFill>
                <a:latin typeface="Segoe UI"/>
              </a:rPr>
              <a:t>108 ₴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322576" y="2583179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2322576" y="259689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322576" y="2775203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152 ₴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871216" y="2583179"/>
            <a:ext cx="512063" cy="333756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2871216" y="259689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871216" y="2775203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86 ₴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419856" y="2583179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3419856" y="267462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968496" y="2583179"/>
            <a:ext cx="512063" cy="333756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3968496" y="259689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7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968496" y="2775203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112 ₴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517136" y="2583179"/>
            <a:ext cx="512063" cy="333756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4517136" y="259689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7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517136" y="2775203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151 ₴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065775" y="2583179"/>
            <a:ext cx="512063" cy="333756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5065775" y="259689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065775" y="2775203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151 ₴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614416" y="2583179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5614416" y="259689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614416" y="2775203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140 ₴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163055" y="2583179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6163055" y="259689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163055" y="2775203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140 ₴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6711695" y="2583179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6711695" y="259689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711695" y="2775203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139 ₴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7260336" y="2583179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7260336" y="259689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260336" y="2775203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130 ₴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7808975" y="2583179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7808975" y="259689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808975" y="2775203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102 ₴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8357615" y="2583179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8357615" y="259689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357615" y="2775203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90 ₴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8979407" y="2583179"/>
            <a:ext cx="539496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8979407" y="2674620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24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9546335" y="2583179"/>
            <a:ext cx="612647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9546335" y="2674620"/>
            <a:ext cx="612647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12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0186415" y="2583179"/>
            <a:ext cx="722375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10186415" y="2674620"/>
            <a:ext cx="72237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112 ₴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10936223" y="2583179"/>
            <a:ext cx="868680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10936223" y="2674620"/>
            <a:ext cx="868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70–145 г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66928" y="3038094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Paldo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1773936" y="2953512"/>
            <a:ext cx="512063" cy="333756"/>
          </a:xfrm>
          <a:prstGeom prst="rect">
            <a:avLst/>
          </a:prstGeom>
          <a:solidFill>
            <a:srgbClr val="359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1773936" y="296722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773936" y="3145536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FFFFFF"/>
                </a:solidFill>
                <a:latin typeface="Segoe UI"/>
              </a:rPr>
              <a:t>89 ₴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2322576" y="2953512"/>
            <a:ext cx="512063" cy="333756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2322576" y="296722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8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2322576" y="3145536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113 ₴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2871216" y="2953512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2871216" y="296722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2871216" y="3145536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118 ₴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3419856" y="295351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3419856" y="304495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3968496" y="295351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3968496" y="304495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4517136" y="295351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4517136" y="304495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5065775" y="295351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5065775" y="304495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5614416" y="295351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5614416" y="304495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6163055" y="295351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6163055" y="304495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711695" y="2953512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163"/>
          <p:cNvSpPr txBox="1"/>
          <p:nvPr/>
        </p:nvSpPr>
        <p:spPr>
          <a:xfrm>
            <a:off x="6711695" y="296722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711695" y="3145536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124 ₴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7260336" y="2953512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7260336" y="296722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7260336" y="3145536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100 ₴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7808975" y="295351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extBox 169"/>
          <p:cNvSpPr txBox="1"/>
          <p:nvPr/>
        </p:nvSpPr>
        <p:spPr>
          <a:xfrm>
            <a:off x="7808975" y="304495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8357615" y="295351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TextBox 171"/>
          <p:cNvSpPr txBox="1"/>
          <p:nvPr/>
        </p:nvSpPr>
        <p:spPr>
          <a:xfrm>
            <a:off x="8357615" y="304495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8979407" y="2953512"/>
            <a:ext cx="539496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/>
          <p:cNvSpPr txBox="1"/>
          <p:nvPr/>
        </p:nvSpPr>
        <p:spPr>
          <a:xfrm>
            <a:off x="8979407" y="3044952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14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9546335" y="2953512"/>
            <a:ext cx="612647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TextBox 175"/>
          <p:cNvSpPr txBox="1"/>
          <p:nvPr/>
        </p:nvSpPr>
        <p:spPr>
          <a:xfrm>
            <a:off x="9546335" y="3044952"/>
            <a:ext cx="612647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10186415" y="2953512"/>
            <a:ext cx="722375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TextBox 177"/>
          <p:cNvSpPr txBox="1"/>
          <p:nvPr/>
        </p:nvSpPr>
        <p:spPr>
          <a:xfrm>
            <a:off x="10186415" y="3044952"/>
            <a:ext cx="72237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94 ₴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10936223" y="2953512"/>
            <a:ext cx="868680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TextBox 179"/>
          <p:cNvSpPr txBox="1"/>
          <p:nvPr/>
        </p:nvSpPr>
        <p:spPr>
          <a:xfrm>
            <a:off x="10936223" y="3044952"/>
            <a:ext cx="868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105–140 г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566928" y="3408426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1773936" y="3323844"/>
            <a:ext cx="512063" cy="333756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TextBox 182"/>
          <p:cNvSpPr txBox="1"/>
          <p:nvPr/>
        </p:nvSpPr>
        <p:spPr>
          <a:xfrm>
            <a:off x="1773936" y="333756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9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773936" y="3515868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89 ₴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2322576" y="3323844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TextBox 185"/>
          <p:cNvSpPr txBox="1"/>
          <p:nvPr/>
        </p:nvSpPr>
        <p:spPr>
          <a:xfrm>
            <a:off x="2322576" y="333756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2322576" y="3515868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101 ₴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2871216" y="332384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TextBox 188"/>
          <p:cNvSpPr txBox="1"/>
          <p:nvPr/>
        </p:nvSpPr>
        <p:spPr>
          <a:xfrm>
            <a:off x="2871216" y="341528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3419856" y="332384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TextBox 190"/>
          <p:cNvSpPr txBox="1"/>
          <p:nvPr/>
        </p:nvSpPr>
        <p:spPr>
          <a:xfrm>
            <a:off x="3419856" y="341528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3968496" y="3323844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TextBox 192"/>
          <p:cNvSpPr txBox="1"/>
          <p:nvPr/>
        </p:nvSpPr>
        <p:spPr>
          <a:xfrm>
            <a:off x="3968496" y="333756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3968496" y="3515868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67 ₴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4517136" y="332384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TextBox 195"/>
          <p:cNvSpPr txBox="1"/>
          <p:nvPr/>
        </p:nvSpPr>
        <p:spPr>
          <a:xfrm>
            <a:off x="4517136" y="341528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5065775" y="332384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TextBox 197"/>
          <p:cNvSpPr txBox="1"/>
          <p:nvPr/>
        </p:nvSpPr>
        <p:spPr>
          <a:xfrm>
            <a:off x="5065775" y="341528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5614416" y="3323844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TextBox 199"/>
          <p:cNvSpPr txBox="1"/>
          <p:nvPr/>
        </p:nvSpPr>
        <p:spPr>
          <a:xfrm>
            <a:off x="5614416" y="333756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5614416" y="3515868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93 ₴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6163055" y="3323844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TextBox 202"/>
          <p:cNvSpPr txBox="1"/>
          <p:nvPr/>
        </p:nvSpPr>
        <p:spPr>
          <a:xfrm>
            <a:off x="6163055" y="333756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6163055" y="3515868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93 ₴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6711695" y="332384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TextBox 205"/>
          <p:cNvSpPr txBox="1"/>
          <p:nvPr/>
        </p:nvSpPr>
        <p:spPr>
          <a:xfrm>
            <a:off x="6711695" y="341528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7260336" y="332384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TextBox 207"/>
          <p:cNvSpPr txBox="1"/>
          <p:nvPr/>
        </p:nvSpPr>
        <p:spPr>
          <a:xfrm>
            <a:off x="7260336" y="341528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7808975" y="332384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TextBox 209"/>
          <p:cNvSpPr txBox="1"/>
          <p:nvPr/>
        </p:nvSpPr>
        <p:spPr>
          <a:xfrm>
            <a:off x="7808975" y="341528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8357615" y="332384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TextBox 211"/>
          <p:cNvSpPr txBox="1"/>
          <p:nvPr/>
        </p:nvSpPr>
        <p:spPr>
          <a:xfrm>
            <a:off x="8357615" y="341528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8979407" y="3323844"/>
            <a:ext cx="539496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TextBox 213"/>
          <p:cNvSpPr txBox="1"/>
          <p:nvPr/>
        </p:nvSpPr>
        <p:spPr>
          <a:xfrm>
            <a:off x="8979407" y="3415284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11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9546335" y="3323844"/>
            <a:ext cx="612647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TextBox 215"/>
          <p:cNvSpPr txBox="1"/>
          <p:nvPr/>
        </p:nvSpPr>
        <p:spPr>
          <a:xfrm>
            <a:off x="9546335" y="3415284"/>
            <a:ext cx="612647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10186415" y="3323844"/>
            <a:ext cx="722375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TextBox 217"/>
          <p:cNvSpPr txBox="1"/>
          <p:nvPr/>
        </p:nvSpPr>
        <p:spPr>
          <a:xfrm>
            <a:off x="10186415" y="3415284"/>
            <a:ext cx="72237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89 ₴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10936223" y="3323844"/>
            <a:ext cx="868680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TextBox 219"/>
          <p:cNvSpPr txBox="1"/>
          <p:nvPr/>
        </p:nvSpPr>
        <p:spPr>
          <a:xfrm>
            <a:off x="10936223" y="3415284"/>
            <a:ext cx="868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67–130 г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566928" y="3778758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O'Food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1773936" y="3694176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TextBox 222"/>
          <p:cNvSpPr txBox="1"/>
          <p:nvPr/>
        </p:nvSpPr>
        <p:spPr>
          <a:xfrm>
            <a:off x="1773936" y="370789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1773936" y="3886200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74 ₴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2322576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6" name="TextBox 225"/>
          <p:cNvSpPr txBox="1"/>
          <p:nvPr/>
        </p:nvSpPr>
        <p:spPr>
          <a:xfrm>
            <a:off x="2322576" y="378561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2871216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TextBox 227"/>
          <p:cNvSpPr txBox="1"/>
          <p:nvPr/>
        </p:nvSpPr>
        <p:spPr>
          <a:xfrm>
            <a:off x="2871216" y="378561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3419856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0" name="TextBox 229"/>
          <p:cNvSpPr txBox="1"/>
          <p:nvPr/>
        </p:nvSpPr>
        <p:spPr>
          <a:xfrm>
            <a:off x="3419856" y="378561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3968496" y="3694176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2" name="TextBox 231"/>
          <p:cNvSpPr txBox="1"/>
          <p:nvPr/>
        </p:nvSpPr>
        <p:spPr>
          <a:xfrm>
            <a:off x="3968496" y="370789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3968496" y="3886200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80 ₴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4517136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TextBox 234"/>
          <p:cNvSpPr txBox="1"/>
          <p:nvPr/>
        </p:nvSpPr>
        <p:spPr>
          <a:xfrm>
            <a:off x="4517136" y="378561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5065775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7" name="TextBox 236"/>
          <p:cNvSpPr txBox="1"/>
          <p:nvPr/>
        </p:nvSpPr>
        <p:spPr>
          <a:xfrm>
            <a:off x="5065775" y="378561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5614416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TextBox 238"/>
          <p:cNvSpPr txBox="1"/>
          <p:nvPr/>
        </p:nvSpPr>
        <p:spPr>
          <a:xfrm>
            <a:off x="5614416" y="378561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6163055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1" name="TextBox 240"/>
          <p:cNvSpPr txBox="1"/>
          <p:nvPr/>
        </p:nvSpPr>
        <p:spPr>
          <a:xfrm>
            <a:off x="6163055" y="378561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6711695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TextBox 242"/>
          <p:cNvSpPr txBox="1"/>
          <p:nvPr/>
        </p:nvSpPr>
        <p:spPr>
          <a:xfrm>
            <a:off x="6711695" y="378561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7260336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5" name="TextBox 244"/>
          <p:cNvSpPr txBox="1"/>
          <p:nvPr/>
        </p:nvSpPr>
        <p:spPr>
          <a:xfrm>
            <a:off x="7260336" y="378561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7808975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7" name="TextBox 246"/>
          <p:cNvSpPr txBox="1"/>
          <p:nvPr/>
        </p:nvSpPr>
        <p:spPr>
          <a:xfrm>
            <a:off x="7808975" y="378561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8357615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TextBox 248"/>
          <p:cNvSpPr txBox="1"/>
          <p:nvPr/>
        </p:nvSpPr>
        <p:spPr>
          <a:xfrm>
            <a:off x="8357615" y="378561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8979407" y="3694176"/>
            <a:ext cx="539496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1" name="TextBox 250"/>
          <p:cNvSpPr txBox="1"/>
          <p:nvPr/>
        </p:nvSpPr>
        <p:spPr>
          <a:xfrm>
            <a:off x="8979407" y="3785616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9546335" y="3694176"/>
            <a:ext cx="612647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TextBox 252"/>
          <p:cNvSpPr txBox="1"/>
          <p:nvPr/>
        </p:nvSpPr>
        <p:spPr>
          <a:xfrm>
            <a:off x="9546335" y="3785616"/>
            <a:ext cx="612647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254" name="Rectangle 253"/>
          <p:cNvSpPr/>
          <p:nvPr/>
        </p:nvSpPr>
        <p:spPr>
          <a:xfrm>
            <a:off x="10186415" y="3694176"/>
            <a:ext cx="722375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5" name="TextBox 254"/>
          <p:cNvSpPr txBox="1"/>
          <p:nvPr/>
        </p:nvSpPr>
        <p:spPr>
          <a:xfrm>
            <a:off x="10186415" y="3785616"/>
            <a:ext cx="72237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77 ₴</a:t>
            </a:r>
          </a:p>
        </p:txBody>
      </p:sp>
      <p:sp>
        <p:nvSpPr>
          <p:cNvPr id="256" name="Rectangle 255"/>
          <p:cNvSpPr/>
          <p:nvPr/>
        </p:nvSpPr>
        <p:spPr>
          <a:xfrm>
            <a:off x="10936223" y="3694176"/>
            <a:ext cx="868680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7" name="TextBox 256"/>
          <p:cNvSpPr txBox="1"/>
          <p:nvPr/>
        </p:nvSpPr>
        <p:spPr>
          <a:xfrm>
            <a:off x="10936223" y="3785616"/>
            <a:ext cx="868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102–144 г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566928" y="4149090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Bibigo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1773936" y="4064508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0" name="TextBox 259"/>
          <p:cNvSpPr txBox="1"/>
          <p:nvPr/>
        </p:nvSpPr>
        <p:spPr>
          <a:xfrm>
            <a:off x="1773936" y="407822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1773936" y="4256532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86 ₴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2322576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3" name="TextBox 262"/>
          <p:cNvSpPr txBox="1"/>
          <p:nvPr/>
        </p:nvSpPr>
        <p:spPr>
          <a:xfrm>
            <a:off x="2322576" y="415594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64" name="Rectangle 263"/>
          <p:cNvSpPr/>
          <p:nvPr/>
        </p:nvSpPr>
        <p:spPr>
          <a:xfrm>
            <a:off x="2871216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5" name="TextBox 264"/>
          <p:cNvSpPr txBox="1"/>
          <p:nvPr/>
        </p:nvSpPr>
        <p:spPr>
          <a:xfrm>
            <a:off x="2871216" y="415594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66" name="Rectangle 265"/>
          <p:cNvSpPr/>
          <p:nvPr/>
        </p:nvSpPr>
        <p:spPr>
          <a:xfrm>
            <a:off x="3419856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7" name="TextBox 266"/>
          <p:cNvSpPr txBox="1"/>
          <p:nvPr/>
        </p:nvSpPr>
        <p:spPr>
          <a:xfrm>
            <a:off x="3419856" y="415594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68" name="Rectangle 267"/>
          <p:cNvSpPr/>
          <p:nvPr/>
        </p:nvSpPr>
        <p:spPr>
          <a:xfrm>
            <a:off x="3968496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9" name="TextBox 268"/>
          <p:cNvSpPr txBox="1"/>
          <p:nvPr/>
        </p:nvSpPr>
        <p:spPr>
          <a:xfrm>
            <a:off x="3968496" y="415594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70" name="Rectangle 269"/>
          <p:cNvSpPr/>
          <p:nvPr/>
        </p:nvSpPr>
        <p:spPr>
          <a:xfrm>
            <a:off x="4517136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1" name="TextBox 270"/>
          <p:cNvSpPr txBox="1"/>
          <p:nvPr/>
        </p:nvSpPr>
        <p:spPr>
          <a:xfrm>
            <a:off x="4517136" y="415594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72" name="Rectangle 271"/>
          <p:cNvSpPr/>
          <p:nvPr/>
        </p:nvSpPr>
        <p:spPr>
          <a:xfrm>
            <a:off x="5065775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3" name="TextBox 272"/>
          <p:cNvSpPr txBox="1"/>
          <p:nvPr/>
        </p:nvSpPr>
        <p:spPr>
          <a:xfrm>
            <a:off x="5065775" y="415594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74" name="Rectangle 273"/>
          <p:cNvSpPr/>
          <p:nvPr/>
        </p:nvSpPr>
        <p:spPr>
          <a:xfrm>
            <a:off x="5614416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5" name="TextBox 274"/>
          <p:cNvSpPr txBox="1"/>
          <p:nvPr/>
        </p:nvSpPr>
        <p:spPr>
          <a:xfrm>
            <a:off x="5614416" y="415594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76" name="Rectangle 275"/>
          <p:cNvSpPr/>
          <p:nvPr/>
        </p:nvSpPr>
        <p:spPr>
          <a:xfrm>
            <a:off x="6163055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7" name="TextBox 276"/>
          <p:cNvSpPr txBox="1"/>
          <p:nvPr/>
        </p:nvSpPr>
        <p:spPr>
          <a:xfrm>
            <a:off x="6163055" y="415594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78" name="Rectangle 277"/>
          <p:cNvSpPr/>
          <p:nvPr/>
        </p:nvSpPr>
        <p:spPr>
          <a:xfrm>
            <a:off x="6711695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9" name="TextBox 278"/>
          <p:cNvSpPr txBox="1"/>
          <p:nvPr/>
        </p:nvSpPr>
        <p:spPr>
          <a:xfrm>
            <a:off x="6711695" y="415594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80" name="Rectangle 279"/>
          <p:cNvSpPr/>
          <p:nvPr/>
        </p:nvSpPr>
        <p:spPr>
          <a:xfrm>
            <a:off x="7260336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1" name="TextBox 280"/>
          <p:cNvSpPr txBox="1"/>
          <p:nvPr/>
        </p:nvSpPr>
        <p:spPr>
          <a:xfrm>
            <a:off x="7260336" y="415594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82" name="Rectangle 281"/>
          <p:cNvSpPr/>
          <p:nvPr/>
        </p:nvSpPr>
        <p:spPr>
          <a:xfrm>
            <a:off x="7808975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3" name="TextBox 282"/>
          <p:cNvSpPr txBox="1"/>
          <p:nvPr/>
        </p:nvSpPr>
        <p:spPr>
          <a:xfrm>
            <a:off x="7808975" y="415594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84" name="Rectangle 283"/>
          <p:cNvSpPr/>
          <p:nvPr/>
        </p:nvSpPr>
        <p:spPr>
          <a:xfrm>
            <a:off x="8357615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5" name="TextBox 284"/>
          <p:cNvSpPr txBox="1"/>
          <p:nvPr/>
        </p:nvSpPr>
        <p:spPr>
          <a:xfrm>
            <a:off x="8357615" y="415594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86" name="Rectangle 285"/>
          <p:cNvSpPr/>
          <p:nvPr/>
        </p:nvSpPr>
        <p:spPr>
          <a:xfrm>
            <a:off x="8979407" y="4064508"/>
            <a:ext cx="539496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7" name="TextBox 286"/>
          <p:cNvSpPr txBox="1"/>
          <p:nvPr/>
        </p:nvSpPr>
        <p:spPr>
          <a:xfrm>
            <a:off x="8979407" y="4155948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288" name="Rectangle 287"/>
          <p:cNvSpPr/>
          <p:nvPr/>
        </p:nvSpPr>
        <p:spPr>
          <a:xfrm>
            <a:off x="9546335" y="4064508"/>
            <a:ext cx="612647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9" name="TextBox 288"/>
          <p:cNvSpPr txBox="1"/>
          <p:nvPr/>
        </p:nvSpPr>
        <p:spPr>
          <a:xfrm>
            <a:off x="9546335" y="4155948"/>
            <a:ext cx="612647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290" name="Rectangle 289"/>
          <p:cNvSpPr/>
          <p:nvPr/>
        </p:nvSpPr>
        <p:spPr>
          <a:xfrm>
            <a:off x="10186415" y="4064508"/>
            <a:ext cx="722375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1" name="TextBox 290"/>
          <p:cNvSpPr txBox="1"/>
          <p:nvPr/>
        </p:nvSpPr>
        <p:spPr>
          <a:xfrm>
            <a:off x="10186415" y="4155948"/>
            <a:ext cx="72237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86 ₴</a:t>
            </a:r>
          </a:p>
        </p:txBody>
      </p:sp>
      <p:sp>
        <p:nvSpPr>
          <p:cNvPr id="292" name="Rectangle 291"/>
          <p:cNvSpPr/>
          <p:nvPr/>
        </p:nvSpPr>
        <p:spPr>
          <a:xfrm>
            <a:off x="10936223" y="4064508"/>
            <a:ext cx="868680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3" name="TextBox 292"/>
          <p:cNvSpPr txBox="1"/>
          <p:nvPr/>
        </p:nvSpPr>
        <p:spPr>
          <a:xfrm>
            <a:off x="10936223" y="4155948"/>
            <a:ext cx="868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122–127 г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566928" y="4519422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Otoki</a:t>
            </a:r>
          </a:p>
        </p:txBody>
      </p:sp>
      <p:sp>
        <p:nvSpPr>
          <p:cNvPr id="295" name="Rectangle 294"/>
          <p:cNvSpPr/>
          <p:nvPr/>
        </p:nvSpPr>
        <p:spPr>
          <a:xfrm>
            <a:off x="1773936" y="4434840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6" name="TextBox 295"/>
          <p:cNvSpPr txBox="1"/>
          <p:nvPr/>
        </p:nvSpPr>
        <p:spPr>
          <a:xfrm>
            <a:off x="1773936" y="444855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773936" y="4626864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95 ₴</a:t>
            </a:r>
          </a:p>
        </p:txBody>
      </p:sp>
      <p:sp>
        <p:nvSpPr>
          <p:cNvPr id="298" name="Rectangle 297"/>
          <p:cNvSpPr/>
          <p:nvPr/>
        </p:nvSpPr>
        <p:spPr>
          <a:xfrm>
            <a:off x="2322576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9" name="TextBox 298"/>
          <p:cNvSpPr txBox="1"/>
          <p:nvPr/>
        </p:nvSpPr>
        <p:spPr>
          <a:xfrm>
            <a:off x="2322576" y="452628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00" name="Rectangle 299"/>
          <p:cNvSpPr/>
          <p:nvPr/>
        </p:nvSpPr>
        <p:spPr>
          <a:xfrm>
            <a:off x="2871216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1" name="TextBox 300"/>
          <p:cNvSpPr txBox="1"/>
          <p:nvPr/>
        </p:nvSpPr>
        <p:spPr>
          <a:xfrm>
            <a:off x="2871216" y="452628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02" name="Rectangle 301"/>
          <p:cNvSpPr/>
          <p:nvPr/>
        </p:nvSpPr>
        <p:spPr>
          <a:xfrm>
            <a:off x="3419856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3" name="TextBox 302"/>
          <p:cNvSpPr txBox="1"/>
          <p:nvPr/>
        </p:nvSpPr>
        <p:spPr>
          <a:xfrm>
            <a:off x="3419856" y="452628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3968496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5" name="TextBox 304"/>
          <p:cNvSpPr txBox="1"/>
          <p:nvPr/>
        </p:nvSpPr>
        <p:spPr>
          <a:xfrm>
            <a:off x="3968496" y="452628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4517136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7" name="TextBox 306"/>
          <p:cNvSpPr txBox="1"/>
          <p:nvPr/>
        </p:nvSpPr>
        <p:spPr>
          <a:xfrm>
            <a:off x="4517136" y="452628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5065775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9" name="TextBox 308"/>
          <p:cNvSpPr txBox="1"/>
          <p:nvPr/>
        </p:nvSpPr>
        <p:spPr>
          <a:xfrm>
            <a:off x="5065775" y="452628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5614416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1" name="TextBox 310"/>
          <p:cNvSpPr txBox="1"/>
          <p:nvPr/>
        </p:nvSpPr>
        <p:spPr>
          <a:xfrm>
            <a:off x="5614416" y="452628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6163055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3" name="TextBox 312"/>
          <p:cNvSpPr txBox="1"/>
          <p:nvPr/>
        </p:nvSpPr>
        <p:spPr>
          <a:xfrm>
            <a:off x="6163055" y="452628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6711695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5" name="TextBox 314"/>
          <p:cNvSpPr txBox="1"/>
          <p:nvPr/>
        </p:nvSpPr>
        <p:spPr>
          <a:xfrm>
            <a:off x="6711695" y="452628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7260336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7" name="TextBox 316"/>
          <p:cNvSpPr txBox="1"/>
          <p:nvPr/>
        </p:nvSpPr>
        <p:spPr>
          <a:xfrm>
            <a:off x="7260336" y="452628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7808975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9" name="TextBox 318"/>
          <p:cNvSpPr txBox="1"/>
          <p:nvPr/>
        </p:nvSpPr>
        <p:spPr>
          <a:xfrm>
            <a:off x="7808975" y="452628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8357615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1" name="TextBox 320"/>
          <p:cNvSpPr txBox="1"/>
          <p:nvPr/>
        </p:nvSpPr>
        <p:spPr>
          <a:xfrm>
            <a:off x="8357615" y="452628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8979407" y="4434840"/>
            <a:ext cx="539496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3" name="TextBox 322"/>
          <p:cNvSpPr txBox="1"/>
          <p:nvPr/>
        </p:nvSpPr>
        <p:spPr>
          <a:xfrm>
            <a:off x="8979407" y="4526280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24" name="Rectangle 323"/>
          <p:cNvSpPr/>
          <p:nvPr/>
        </p:nvSpPr>
        <p:spPr>
          <a:xfrm>
            <a:off x="9546335" y="4434840"/>
            <a:ext cx="612647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5" name="TextBox 324"/>
          <p:cNvSpPr txBox="1"/>
          <p:nvPr/>
        </p:nvSpPr>
        <p:spPr>
          <a:xfrm>
            <a:off x="9546335" y="4526280"/>
            <a:ext cx="612647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26" name="Rectangle 325"/>
          <p:cNvSpPr/>
          <p:nvPr/>
        </p:nvSpPr>
        <p:spPr>
          <a:xfrm>
            <a:off x="10186415" y="4434840"/>
            <a:ext cx="722375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7" name="TextBox 326"/>
          <p:cNvSpPr txBox="1"/>
          <p:nvPr/>
        </p:nvSpPr>
        <p:spPr>
          <a:xfrm>
            <a:off x="10186415" y="4526280"/>
            <a:ext cx="72237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95 ₴</a:t>
            </a:r>
          </a:p>
        </p:txBody>
      </p:sp>
      <p:sp>
        <p:nvSpPr>
          <p:cNvPr id="328" name="Rectangle 327"/>
          <p:cNvSpPr/>
          <p:nvPr/>
        </p:nvSpPr>
        <p:spPr>
          <a:xfrm>
            <a:off x="10936223" y="4434840"/>
            <a:ext cx="868680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9" name="TextBox 328"/>
          <p:cNvSpPr txBox="1"/>
          <p:nvPr/>
        </p:nvSpPr>
        <p:spPr>
          <a:xfrm>
            <a:off x="10936223" y="4526280"/>
            <a:ext cx="868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330" name="TextBox 329"/>
          <p:cNvSpPr txBox="1"/>
          <p:nvPr/>
        </p:nvSpPr>
        <p:spPr>
          <a:xfrm>
            <a:off x="566928" y="4889754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fire bull</a:t>
            </a:r>
          </a:p>
        </p:txBody>
      </p:sp>
      <p:sp>
        <p:nvSpPr>
          <p:cNvPr id="331" name="Rectangle 330"/>
          <p:cNvSpPr/>
          <p:nvPr/>
        </p:nvSpPr>
        <p:spPr>
          <a:xfrm>
            <a:off x="1773936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2" name="TextBox 331"/>
          <p:cNvSpPr txBox="1"/>
          <p:nvPr/>
        </p:nvSpPr>
        <p:spPr>
          <a:xfrm>
            <a:off x="1773936" y="489661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33" name="Rectangle 332"/>
          <p:cNvSpPr/>
          <p:nvPr/>
        </p:nvSpPr>
        <p:spPr>
          <a:xfrm>
            <a:off x="2322576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4" name="TextBox 333"/>
          <p:cNvSpPr txBox="1"/>
          <p:nvPr/>
        </p:nvSpPr>
        <p:spPr>
          <a:xfrm>
            <a:off x="2322576" y="489661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35" name="Rectangle 334"/>
          <p:cNvSpPr/>
          <p:nvPr/>
        </p:nvSpPr>
        <p:spPr>
          <a:xfrm>
            <a:off x="2871216" y="4805172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6" name="TextBox 335"/>
          <p:cNvSpPr txBox="1"/>
          <p:nvPr/>
        </p:nvSpPr>
        <p:spPr>
          <a:xfrm>
            <a:off x="2871216" y="481888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871216" y="4997196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78 ₴</a:t>
            </a:r>
          </a:p>
        </p:txBody>
      </p:sp>
      <p:sp>
        <p:nvSpPr>
          <p:cNvPr id="338" name="Rectangle 337"/>
          <p:cNvSpPr/>
          <p:nvPr/>
        </p:nvSpPr>
        <p:spPr>
          <a:xfrm>
            <a:off x="3419856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9" name="TextBox 338"/>
          <p:cNvSpPr txBox="1"/>
          <p:nvPr/>
        </p:nvSpPr>
        <p:spPr>
          <a:xfrm>
            <a:off x="3419856" y="489661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40" name="Rectangle 339"/>
          <p:cNvSpPr/>
          <p:nvPr/>
        </p:nvSpPr>
        <p:spPr>
          <a:xfrm>
            <a:off x="3968496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1" name="TextBox 340"/>
          <p:cNvSpPr txBox="1"/>
          <p:nvPr/>
        </p:nvSpPr>
        <p:spPr>
          <a:xfrm>
            <a:off x="3968496" y="489661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42" name="Rectangle 341"/>
          <p:cNvSpPr/>
          <p:nvPr/>
        </p:nvSpPr>
        <p:spPr>
          <a:xfrm>
            <a:off x="4517136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3" name="TextBox 342"/>
          <p:cNvSpPr txBox="1"/>
          <p:nvPr/>
        </p:nvSpPr>
        <p:spPr>
          <a:xfrm>
            <a:off x="4517136" y="489661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44" name="Rectangle 343"/>
          <p:cNvSpPr/>
          <p:nvPr/>
        </p:nvSpPr>
        <p:spPr>
          <a:xfrm>
            <a:off x="5065775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5" name="TextBox 344"/>
          <p:cNvSpPr txBox="1"/>
          <p:nvPr/>
        </p:nvSpPr>
        <p:spPr>
          <a:xfrm>
            <a:off x="5065775" y="489661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46" name="Rectangle 345"/>
          <p:cNvSpPr/>
          <p:nvPr/>
        </p:nvSpPr>
        <p:spPr>
          <a:xfrm>
            <a:off x="5614416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7" name="TextBox 346"/>
          <p:cNvSpPr txBox="1"/>
          <p:nvPr/>
        </p:nvSpPr>
        <p:spPr>
          <a:xfrm>
            <a:off x="5614416" y="489661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48" name="Rectangle 347"/>
          <p:cNvSpPr/>
          <p:nvPr/>
        </p:nvSpPr>
        <p:spPr>
          <a:xfrm>
            <a:off x="6163055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9" name="TextBox 348"/>
          <p:cNvSpPr txBox="1"/>
          <p:nvPr/>
        </p:nvSpPr>
        <p:spPr>
          <a:xfrm>
            <a:off x="6163055" y="489661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50" name="Rectangle 349"/>
          <p:cNvSpPr/>
          <p:nvPr/>
        </p:nvSpPr>
        <p:spPr>
          <a:xfrm>
            <a:off x="6711695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1" name="TextBox 350"/>
          <p:cNvSpPr txBox="1"/>
          <p:nvPr/>
        </p:nvSpPr>
        <p:spPr>
          <a:xfrm>
            <a:off x="6711695" y="489661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52" name="Rectangle 351"/>
          <p:cNvSpPr/>
          <p:nvPr/>
        </p:nvSpPr>
        <p:spPr>
          <a:xfrm>
            <a:off x="7260336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3" name="TextBox 352"/>
          <p:cNvSpPr txBox="1"/>
          <p:nvPr/>
        </p:nvSpPr>
        <p:spPr>
          <a:xfrm>
            <a:off x="7260336" y="489661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54" name="Rectangle 353"/>
          <p:cNvSpPr/>
          <p:nvPr/>
        </p:nvSpPr>
        <p:spPr>
          <a:xfrm>
            <a:off x="7808975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5" name="TextBox 354"/>
          <p:cNvSpPr txBox="1"/>
          <p:nvPr/>
        </p:nvSpPr>
        <p:spPr>
          <a:xfrm>
            <a:off x="7808975" y="489661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56" name="Rectangle 355"/>
          <p:cNvSpPr/>
          <p:nvPr/>
        </p:nvSpPr>
        <p:spPr>
          <a:xfrm>
            <a:off x="8357615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7" name="TextBox 356"/>
          <p:cNvSpPr txBox="1"/>
          <p:nvPr/>
        </p:nvSpPr>
        <p:spPr>
          <a:xfrm>
            <a:off x="8357615" y="489661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58" name="Rectangle 357"/>
          <p:cNvSpPr/>
          <p:nvPr/>
        </p:nvSpPr>
        <p:spPr>
          <a:xfrm>
            <a:off x="8979407" y="4805172"/>
            <a:ext cx="539496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9" name="TextBox 358"/>
          <p:cNvSpPr txBox="1"/>
          <p:nvPr/>
        </p:nvSpPr>
        <p:spPr>
          <a:xfrm>
            <a:off x="8979407" y="4896612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60" name="Rectangle 359"/>
          <p:cNvSpPr/>
          <p:nvPr/>
        </p:nvSpPr>
        <p:spPr>
          <a:xfrm>
            <a:off x="9546335" y="4805172"/>
            <a:ext cx="612647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1" name="TextBox 360"/>
          <p:cNvSpPr txBox="1"/>
          <p:nvPr/>
        </p:nvSpPr>
        <p:spPr>
          <a:xfrm>
            <a:off x="9546335" y="4896612"/>
            <a:ext cx="612647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62" name="Rectangle 361"/>
          <p:cNvSpPr/>
          <p:nvPr/>
        </p:nvSpPr>
        <p:spPr>
          <a:xfrm>
            <a:off x="10186415" y="4805172"/>
            <a:ext cx="722375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3" name="TextBox 362"/>
          <p:cNvSpPr txBox="1"/>
          <p:nvPr/>
        </p:nvSpPr>
        <p:spPr>
          <a:xfrm>
            <a:off x="10186415" y="4896612"/>
            <a:ext cx="72237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78 ₴</a:t>
            </a:r>
          </a:p>
        </p:txBody>
      </p:sp>
      <p:sp>
        <p:nvSpPr>
          <p:cNvPr id="364" name="Rectangle 363"/>
          <p:cNvSpPr/>
          <p:nvPr/>
        </p:nvSpPr>
        <p:spPr>
          <a:xfrm>
            <a:off x="10936223" y="4805172"/>
            <a:ext cx="868680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5" name="TextBox 364"/>
          <p:cNvSpPr txBox="1"/>
          <p:nvPr/>
        </p:nvSpPr>
        <p:spPr>
          <a:xfrm>
            <a:off x="10936223" y="4896612"/>
            <a:ext cx="868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137,8 г</a:t>
            </a:r>
          </a:p>
        </p:txBody>
      </p:sp>
      <p:sp>
        <p:nvSpPr>
          <p:cNvPr id="366" name="TextBox 365"/>
          <p:cNvSpPr txBox="1"/>
          <p:nvPr/>
        </p:nvSpPr>
        <p:spPr>
          <a:xfrm>
            <a:off x="566928" y="5260086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>
                <a:solidFill>
                  <a:srgbClr val="C4820A"/>
                </a:solidFill>
                <a:latin typeface="Segoe UI"/>
              </a:rPr>
              <a:t>Choi’s (SIAS)</a:t>
            </a:r>
          </a:p>
        </p:txBody>
      </p:sp>
      <p:sp>
        <p:nvSpPr>
          <p:cNvPr id="367" name="Rectangle 366"/>
          <p:cNvSpPr/>
          <p:nvPr/>
        </p:nvSpPr>
        <p:spPr>
          <a:xfrm>
            <a:off x="1773936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8" name="TextBox 367"/>
          <p:cNvSpPr txBox="1"/>
          <p:nvPr/>
        </p:nvSpPr>
        <p:spPr>
          <a:xfrm>
            <a:off x="1773936" y="526694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69" name="Rectangle 368"/>
          <p:cNvSpPr/>
          <p:nvPr/>
        </p:nvSpPr>
        <p:spPr>
          <a:xfrm>
            <a:off x="2322576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0" name="TextBox 369"/>
          <p:cNvSpPr txBox="1"/>
          <p:nvPr/>
        </p:nvSpPr>
        <p:spPr>
          <a:xfrm>
            <a:off x="2322576" y="526694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71" name="Rectangle 370"/>
          <p:cNvSpPr/>
          <p:nvPr/>
        </p:nvSpPr>
        <p:spPr>
          <a:xfrm>
            <a:off x="2871216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2" name="TextBox 371"/>
          <p:cNvSpPr txBox="1"/>
          <p:nvPr/>
        </p:nvSpPr>
        <p:spPr>
          <a:xfrm>
            <a:off x="2871216" y="526694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73" name="Rectangle 372"/>
          <p:cNvSpPr/>
          <p:nvPr/>
        </p:nvSpPr>
        <p:spPr>
          <a:xfrm>
            <a:off x="3419856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4" name="TextBox 373"/>
          <p:cNvSpPr txBox="1"/>
          <p:nvPr/>
        </p:nvSpPr>
        <p:spPr>
          <a:xfrm>
            <a:off x="3419856" y="526694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75" name="Rectangle 374"/>
          <p:cNvSpPr/>
          <p:nvPr/>
        </p:nvSpPr>
        <p:spPr>
          <a:xfrm>
            <a:off x="3968496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6" name="TextBox 375"/>
          <p:cNvSpPr txBox="1"/>
          <p:nvPr/>
        </p:nvSpPr>
        <p:spPr>
          <a:xfrm>
            <a:off x="3968496" y="526694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77" name="Rectangle 376"/>
          <p:cNvSpPr/>
          <p:nvPr/>
        </p:nvSpPr>
        <p:spPr>
          <a:xfrm>
            <a:off x="4517136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8" name="TextBox 377"/>
          <p:cNvSpPr txBox="1"/>
          <p:nvPr/>
        </p:nvSpPr>
        <p:spPr>
          <a:xfrm>
            <a:off x="4517136" y="526694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79" name="Rectangle 378"/>
          <p:cNvSpPr/>
          <p:nvPr/>
        </p:nvSpPr>
        <p:spPr>
          <a:xfrm>
            <a:off x="5065775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0" name="TextBox 379"/>
          <p:cNvSpPr txBox="1"/>
          <p:nvPr/>
        </p:nvSpPr>
        <p:spPr>
          <a:xfrm>
            <a:off x="5065775" y="526694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81" name="Rectangle 380"/>
          <p:cNvSpPr/>
          <p:nvPr/>
        </p:nvSpPr>
        <p:spPr>
          <a:xfrm>
            <a:off x="5614416" y="5175504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2" name="TextBox 381"/>
          <p:cNvSpPr txBox="1"/>
          <p:nvPr/>
        </p:nvSpPr>
        <p:spPr>
          <a:xfrm>
            <a:off x="5614416" y="518922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83" name="TextBox 382"/>
          <p:cNvSpPr txBox="1"/>
          <p:nvPr/>
        </p:nvSpPr>
        <p:spPr>
          <a:xfrm>
            <a:off x="5614416" y="5367528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125 ₴</a:t>
            </a:r>
          </a:p>
        </p:txBody>
      </p:sp>
      <p:sp>
        <p:nvSpPr>
          <p:cNvPr id="384" name="Rectangle 383"/>
          <p:cNvSpPr/>
          <p:nvPr/>
        </p:nvSpPr>
        <p:spPr>
          <a:xfrm>
            <a:off x="6163055" y="5175504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5" name="TextBox 384"/>
          <p:cNvSpPr txBox="1"/>
          <p:nvPr/>
        </p:nvSpPr>
        <p:spPr>
          <a:xfrm>
            <a:off x="6163055" y="518922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86" name="TextBox 385"/>
          <p:cNvSpPr txBox="1"/>
          <p:nvPr/>
        </p:nvSpPr>
        <p:spPr>
          <a:xfrm>
            <a:off x="6163055" y="5367528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125 ₴</a:t>
            </a:r>
          </a:p>
        </p:txBody>
      </p:sp>
      <p:sp>
        <p:nvSpPr>
          <p:cNvPr id="387" name="Rectangle 386"/>
          <p:cNvSpPr/>
          <p:nvPr/>
        </p:nvSpPr>
        <p:spPr>
          <a:xfrm>
            <a:off x="6711695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8" name="TextBox 387"/>
          <p:cNvSpPr txBox="1"/>
          <p:nvPr/>
        </p:nvSpPr>
        <p:spPr>
          <a:xfrm>
            <a:off x="6711695" y="526694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89" name="Rectangle 388"/>
          <p:cNvSpPr/>
          <p:nvPr/>
        </p:nvSpPr>
        <p:spPr>
          <a:xfrm>
            <a:off x="7260336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0" name="TextBox 389"/>
          <p:cNvSpPr txBox="1"/>
          <p:nvPr/>
        </p:nvSpPr>
        <p:spPr>
          <a:xfrm>
            <a:off x="7260336" y="526694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91" name="Rectangle 390"/>
          <p:cNvSpPr/>
          <p:nvPr/>
        </p:nvSpPr>
        <p:spPr>
          <a:xfrm>
            <a:off x="7808975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2" name="TextBox 391"/>
          <p:cNvSpPr txBox="1"/>
          <p:nvPr/>
        </p:nvSpPr>
        <p:spPr>
          <a:xfrm>
            <a:off x="7808975" y="526694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93" name="Rectangle 392"/>
          <p:cNvSpPr/>
          <p:nvPr/>
        </p:nvSpPr>
        <p:spPr>
          <a:xfrm>
            <a:off x="8357615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4" name="TextBox 393"/>
          <p:cNvSpPr txBox="1"/>
          <p:nvPr/>
        </p:nvSpPr>
        <p:spPr>
          <a:xfrm>
            <a:off x="8357615" y="526694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95" name="Rectangle 394"/>
          <p:cNvSpPr/>
          <p:nvPr/>
        </p:nvSpPr>
        <p:spPr>
          <a:xfrm>
            <a:off x="8979407" y="5175504"/>
            <a:ext cx="539496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6" name="TextBox 395"/>
          <p:cNvSpPr txBox="1"/>
          <p:nvPr/>
        </p:nvSpPr>
        <p:spPr>
          <a:xfrm>
            <a:off x="8979407" y="5266944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97" name="Rectangle 396"/>
          <p:cNvSpPr/>
          <p:nvPr/>
        </p:nvSpPr>
        <p:spPr>
          <a:xfrm>
            <a:off x="9546335" y="5175504"/>
            <a:ext cx="612647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8" name="TextBox 397"/>
          <p:cNvSpPr txBox="1"/>
          <p:nvPr/>
        </p:nvSpPr>
        <p:spPr>
          <a:xfrm>
            <a:off x="9546335" y="5266944"/>
            <a:ext cx="612647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399" name="Rectangle 398"/>
          <p:cNvSpPr/>
          <p:nvPr/>
        </p:nvSpPr>
        <p:spPr>
          <a:xfrm>
            <a:off x="10186415" y="5175504"/>
            <a:ext cx="722375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0" name="TextBox 399"/>
          <p:cNvSpPr txBox="1"/>
          <p:nvPr/>
        </p:nvSpPr>
        <p:spPr>
          <a:xfrm>
            <a:off x="10186415" y="5266944"/>
            <a:ext cx="72237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125 ₴</a:t>
            </a:r>
          </a:p>
        </p:txBody>
      </p:sp>
      <p:sp>
        <p:nvSpPr>
          <p:cNvPr id="401" name="Rectangle 400"/>
          <p:cNvSpPr/>
          <p:nvPr/>
        </p:nvSpPr>
        <p:spPr>
          <a:xfrm>
            <a:off x="10936223" y="5175504"/>
            <a:ext cx="868680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2" name="TextBox 401"/>
          <p:cNvSpPr txBox="1"/>
          <p:nvPr/>
        </p:nvSpPr>
        <p:spPr>
          <a:xfrm>
            <a:off x="10936223" y="5266944"/>
            <a:ext cx="868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131 г</a:t>
            </a:r>
          </a:p>
        </p:txBody>
      </p:sp>
      <p:sp>
        <p:nvSpPr>
          <p:cNvPr id="403" name="Rectangle 402"/>
          <p:cNvSpPr/>
          <p:nvPr/>
        </p:nvSpPr>
        <p:spPr>
          <a:xfrm>
            <a:off x="1755648" y="5564124"/>
            <a:ext cx="10076688" cy="109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4" name="TextBox 403"/>
          <p:cNvSpPr txBox="1"/>
          <p:nvPr/>
        </p:nvSpPr>
        <p:spPr>
          <a:xfrm>
            <a:off x="566928" y="5655564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>
                <a:solidFill>
                  <a:srgbClr val="C4820A"/>
                </a:solidFill>
                <a:latin typeface="Segoe UI"/>
              </a:rPr>
              <a:t>УСЬОГО</a:t>
            </a:r>
          </a:p>
        </p:txBody>
      </p:sp>
      <p:sp>
        <p:nvSpPr>
          <p:cNvPr id="405" name="TextBox 404"/>
          <p:cNvSpPr txBox="1"/>
          <p:nvPr/>
        </p:nvSpPr>
        <p:spPr>
          <a:xfrm>
            <a:off x="1755648" y="561898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60</a:t>
            </a:r>
          </a:p>
        </p:txBody>
      </p:sp>
      <p:sp>
        <p:nvSpPr>
          <p:cNvPr id="406" name="TextBox 405"/>
          <p:cNvSpPr txBox="1"/>
          <p:nvPr/>
        </p:nvSpPr>
        <p:spPr>
          <a:xfrm>
            <a:off x="1755648" y="580186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89 ₴</a:t>
            </a:r>
          </a:p>
        </p:txBody>
      </p:sp>
      <p:sp>
        <p:nvSpPr>
          <p:cNvPr id="407" name="TextBox 406"/>
          <p:cNvSpPr txBox="1"/>
          <p:nvPr/>
        </p:nvSpPr>
        <p:spPr>
          <a:xfrm>
            <a:off x="2304288" y="561898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24</a:t>
            </a:r>
          </a:p>
        </p:txBody>
      </p:sp>
      <p:sp>
        <p:nvSpPr>
          <p:cNvPr id="408" name="TextBox 407"/>
          <p:cNvSpPr txBox="1"/>
          <p:nvPr/>
        </p:nvSpPr>
        <p:spPr>
          <a:xfrm>
            <a:off x="2304288" y="580186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126 ₴</a:t>
            </a:r>
          </a:p>
        </p:txBody>
      </p:sp>
      <p:sp>
        <p:nvSpPr>
          <p:cNvPr id="409" name="TextBox 408"/>
          <p:cNvSpPr txBox="1"/>
          <p:nvPr/>
        </p:nvSpPr>
        <p:spPr>
          <a:xfrm>
            <a:off x="2852928" y="561898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24</a:t>
            </a:r>
          </a:p>
        </p:txBody>
      </p:sp>
      <p:sp>
        <p:nvSpPr>
          <p:cNvPr id="410" name="TextBox 409"/>
          <p:cNvSpPr txBox="1"/>
          <p:nvPr/>
        </p:nvSpPr>
        <p:spPr>
          <a:xfrm>
            <a:off x="2852928" y="580186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114 ₴</a:t>
            </a:r>
          </a:p>
        </p:txBody>
      </p:sp>
      <p:sp>
        <p:nvSpPr>
          <p:cNvPr id="411" name="TextBox 410"/>
          <p:cNvSpPr txBox="1"/>
          <p:nvPr/>
        </p:nvSpPr>
        <p:spPr>
          <a:xfrm>
            <a:off x="3401568" y="561898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12</a:t>
            </a:r>
          </a:p>
        </p:txBody>
      </p:sp>
      <p:sp>
        <p:nvSpPr>
          <p:cNvPr id="412" name="TextBox 411"/>
          <p:cNvSpPr txBox="1"/>
          <p:nvPr/>
        </p:nvSpPr>
        <p:spPr>
          <a:xfrm>
            <a:off x="3401568" y="580186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108 ₴</a:t>
            </a:r>
          </a:p>
        </p:txBody>
      </p:sp>
      <p:sp>
        <p:nvSpPr>
          <p:cNvPr id="413" name="TextBox 412"/>
          <p:cNvSpPr txBox="1"/>
          <p:nvPr/>
        </p:nvSpPr>
        <p:spPr>
          <a:xfrm>
            <a:off x="3950208" y="561898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14</a:t>
            </a:r>
          </a:p>
        </p:txBody>
      </p:sp>
      <p:sp>
        <p:nvSpPr>
          <p:cNvPr id="414" name="TextBox 413"/>
          <p:cNvSpPr txBox="1"/>
          <p:nvPr/>
        </p:nvSpPr>
        <p:spPr>
          <a:xfrm>
            <a:off x="3950208" y="580186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88 ₴</a:t>
            </a:r>
          </a:p>
        </p:txBody>
      </p:sp>
      <p:sp>
        <p:nvSpPr>
          <p:cNvPr id="415" name="TextBox 414"/>
          <p:cNvSpPr txBox="1"/>
          <p:nvPr/>
        </p:nvSpPr>
        <p:spPr>
          <a:xfrm>
            <a:off x="4498848" y="561898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13</a:t>
            </a:r>
          </a:p>
        </p:txBody>
      </p:sp>
      <p:sp>
        <p:nvSpPr>
          <p:cNvPr id="416" name="TextBox 415"/>
          <p:cNvSpPr txBox="1"/>
          <p:nvPr/>
        </p:nvSpPr>
        <p:spPr>
          <a:xfrm>
            <a:off x="4498848" y="580186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137 ₴</a:t>
            </a:r>
          </a:p>
        </p:txBody>
      </p:sp>
      <p:sp>
        <p:nvSpPr>
          <p:cNvPr id="417" name="TextBox 416"/>
          <p:cNvSpPr txBox="1"/>
          <p:nvPr/>
        </p:nvSpPr>
        <p:spPr>
          <a:xfrm>
            <a:off x="5047488" y="561898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13</a:t>
            </a:r>
          </a:p>
        </p:txBody>
      </p:sp>
      <p:sp>
        <p:nvSpPr>
          <p:cNvPr id="418" name="TextBox 417"/>
          <p:cNvSpPr txBox="1"/>
          <p:nvPr/>
        </p:nvSpPr>
        <p:spPr>
          <a:xfrm>
            <a:off x="5047488" y="580186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137 ₴</a:t>
            </a:r>
          </a:p>
        </p:txBody>
      </p:sp>
      <p:sp>
        <p:nvSpPr>
          <p:cNvPr id="419" name="TextBox 418"/>
          <p:cNvSpPr txBox="1"/>
          <p:nvPr/>
        </p:nvSpPr>
        <p:spPr>
          <a:xfrm>
            <a:off x="5596128" y="561898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12</a:t>
            </a:r>
          </a:p>
        </p:txBody>
      </p:sp>
      <p:sp>
        <p:nvSpPr>
          <p:cNvPr id="420" name="TextBox 419"/>
          <p:cNvSpPr txBox="1"/>
          <p:nvPr/>
        </p:nvSpPr>
        <p:spPr>
          <a:xfrm>
            <a:off x="5596128" y="580186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122 ₴</a:t>
            </a:r>
          </a:p>
        </p:txBody>
      </p:sp>
      <p:sp>
        <p:nvSpPr>
          <p:cNvPr id="421" name="TextBox 420"/>
          <p:cNvSpPr txBox="1"/>
          <p:nvPr/>
        </p:nvSpPr>
        <p:spPr>
          <a:xfrm>
            <a:off x="6144768" y="561898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12</a:t>
            </a:r>
          </a:p>
        </p:txBody>
      </p:sp>
      <p:sp>
        <p:nvSpPr>
          <p:cNvPr id="422" name="TextBox 421"/>
          <p:cNvSpPr txBox="1"/>
          <p:nvPr/>
        </p:nvSpPr>
        <p:spPr>
          <a:xfrm>
            <a:off x="6144768" y="580186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122 ₴</a:t>
            </a:r>
          </a:p>
        </p:txBody>
      </p:sp>
      <p:sp>
        <p:nvSpPr>
          <p:cNvPr id="423" name="TextBox 422"/>
          <p:cNvSpPr txBox="1"/>
          <p:nvPr/>
        </p:nvSpPr>
        <p:spPr>
          <a:xfrm>
            <a:off x="6693407" y="561898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8</a:t>
            </a:r>
          </a:p>
        </p:txBody>
      </p:sp>
      <p:sp>
        <p:nvSpPr>
          <p:cNvPr id="424" name="TextBox 423"/>
          <p:cNvSpPr txBox="1"/>
          <p:nvPr/>
        </p:nvSpPr>
        <p:spPr>
          <a:xfrm>
            <a:off x="6693407" y="580186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134 ₴</a:t>
            </a:r>
          </a:p>
        </p:txBody>
      </p:sp>
      <p:sp>
        <p:nvSpPr>
          <p:cNvPr id="425" name="TextBox 424"/>
          <p:cNvSpPr txBox="1"/>
          <p:nvPr/>
        </p:nvSpPr>
        <p:spPr>
          <a:xfrm>
            <a:off x="7242048" y="561898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6</a:t>
            </a:r>
          </a:p>
        </p:txBody>
      </p:sp>
      <p:sp>
        <p:nvSpPr>
          <p:cNvPr id="426" name="TextBox 425"/>
          <p:cNvSpPr txBox="1"/>
          <p:nvPr/>
        </p:nvSpPr>
        <p:spPr>
          <a:xfrm>
            <a:off x="7242048" y="580186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120 ₴</a:t>
            </a:r>
          </a:p>
        </p:txBody>
      </p:sp>
      <p:sp>
        <p:nvSpPr>
          <p:cNvPr id="427" name="TextBox 426"/>
          <p:cNvSpPr txBox="1"/>
          <p:nvPr/>
        </p:nvSpPr>
        <p:spPr>
          <a:xfrm>
            <a:off x="7790688" y="561898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2</a:t>
            </a:r>
          </a:p>
        </p:txBody>
      </p:sp>
      <p:sp>
        <p:nvSpPr>
          <p:cNvPr id="428" name="TextBox 427"/>
          <p:cNvSpPr txBox="1"/>
          <p:nvPr/>
        </p:nvSpPr>
        <p:spPr>
          <a:xfrm>
            <a:off x="7790688" y="580186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102 ₴</a:t>
            </a:r>
          </a:p>
        </p:txBody>
      </p:sp>
      <p:sp>
        <p:nvSpPr>
          <p:cNvPr id="429" name="TextBox 428"/>
          <p:cNvSpPr txBox="1"/>
          <p:nvPr/>
        </p:nvSpPr>
        <p:spPr>
          <a:xfrm>
            <a:off x="8339327" y="561898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4</a:t>
            </a:r>
          </a:p>
        </p:txBody>
      </p:sp>
      <p:sp>
        <p:nvSpPr>
          <p:cNvPr id="430" name="TextBox 429"/>
          <p:cNvSpPr txBox="1"/>
          <p:nvPr/>
        </p:nvSpPr>
        <p:spPr>
          <a:xfrm>
            <a:off x="8339327" y="580186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114 ₴</a:t>
            </a:r>
          </a:p>
        </p:txBody>
      </p:sp>
      <p:sp>
        <p:nvSpPr>
          <p:cNvPr id="431" name="TextBox 430"/>
          <p:cNvSpPr txBox="1"/>
          <p:nvPr/>
        </p:nvSpPr>
        <p:spPr>
          <a:xfrm>
            <a:off x="8979407" y="5710428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C4820A"/>
                </a:solidFill>
                <a:latin typeface="Segoe UI"/>
              </a:rPr>
              <a:t>93</a:t>
            </a:r>
          </a:p>
        </p:txBody>
      </p:sp>
      <p:sp>
        <p:nvSpPr>
          <p:cNvPr id="432" name="TextBox 431"/>
          <p:cNvSpPr txBox="1"/>
          <p:nvPr/>
        </p:nvSpPr>
        <p:spPr>
          <a:xfrm>
            <a:off x="9546335" y="5710428"/>
            <a:ext cx="612647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C4820A"/>
                </a:solidFill>
                <a:latin typeface="Segoe UI"/>
              </a:rPr>
              <a:t>13</a:t>
            </a:r>
          </a:p>
        </p:txBody>
      </p:sp>
      <p:sp>
        <p:nvSpPr>
          <p:cNvPr id="433" name="TextBox 432"/>
          <p:cNvSpPr txBox="1"/>
          <p:nvPr/>
        </p:nvSpPr>
        <p:spPr>
          <a:xfrm>
            <a:off x="10186415" y="5710428"/>
            <a:ext cx="72237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C4820A"/>
                </a:solidFill>
                <a:latin typeface="Segoe UI"/>
              </a:rPr>
              <a:t>103 ₴</a:t>
            </a:r>
          </a:p>
        </p:txBody>
      </p:sp>
      <p:sp>
        <p:nvSpPr>
          <p:cNvPr id="434" name="TextBox 433"/>
          <p:cNvSpPr txBox="1"/>
          <p:nvPr/>
        </p:nvSpPr>
        <p:spPr>
          <a:xfrm>
            <a:off x="10936223" y="5710428"/>
            <a:ext cx="868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C4820A"/>
                </a:solidFill>
                <a:latin typeface="Segoe UI"/>
              </a:rPr>
              <a:t>62–145 г</a:t>
            </a:r>
          </a:p>
        </p:txBody>
      </p:sp>
      <p:sp>
        <p:nvSpPr>
          <p:cNvPr id="435" name="TextBox 434"/>
          <p:cNvSpPr txBox="1"/>
          <p:nvPr/>
        </p:nvSpPr>
        <p:spPr>
          <a:xfrm>
            <a:off x="566928" y="6437376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9FA9C4"/>
                </a:solidFill>
                <a:latin typeface="Segoe UI"/>
              </a:rPr>
              <a:t>Каталоги мереж (zakaz.ua) і «Сільпо», 29.09.2026. Клітинка = унікальні EAN × медіана цін по магазинах мережі. «Сільпо» — 4 позиції без EAN (3 Samyang, 1 Nongshim); 93 = 89 позицій з EAN + 4 «Сільпо». Вага — мін.–макс. пачки бренду.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ФОРМАТ × ВАГА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Де насправді щільна полиця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Кількість позицій і медіанна ціна пачки за ваговими смугами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09344"/>
            <a:ext cx="146304" cy="12801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1591056"/>
            <a:ext cx="4343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-10">
                <a:solidFill>
                  <a:srgbClr val="303A5D"/>
                </a:solidFill>
                <a:latin typeface="Segoe UI"/>
              </a:rPr>
              <a:t>Пакет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31036" y="1609344"/>
            <a:ext cx="146304" cy="12801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632204" y="1591056"/>
            <a:ext cx="50291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-10">
                <a:solidFill>
                  <a:srgbClr val="303A5D"/>
                </a:solidFill>
                <a:latin typeface="Segoe UI"/>
              </a:rPr>
              <a:t>Стакан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874519"/>
            <a:ext cx="6217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>
                <a:solidFill>
                  <a:srgbClr val="303A5D"/>
                </a:solidFill>
                <a:latin typeface="Segoe UI"/>
              </a:rPr>
              <a:t>ПОЗИЦІЙ У ВАГОВІЙ СМУЗІ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1874519"/>
            <a:ext cx="31089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>
                <a:solidFill>
                  <a:srgbClr val="303A5D"/>
                </a:solidFill>
                <a:latin typeface="Segoe UI"/>
              </a:rPr>
              <a:t>МЕДІАННА ЦІНА ПАЧКИ, 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310127"/>
            <a:ext cx="11064240" cy="1133856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" y="2368296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40–90 г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74519" y="2304288"/>
            <a:ext cx="1759016" cy="34747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874519" y="2377440"/>
            <a:ext cx="17590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FFFFFF"/>
                </a:solidFill>
                <a:latin typeface="Segoe UI"/>
              </a:rPr>
              <a:t>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24976" y="237744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17  ·  19 %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35240" y="2304288"/>
            <a:ext cx="1952243" cy="3474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35240" y="2377440"/>
            <a:ext cx="184251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105 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2935224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90–110 г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74519" y="2871216"/>
            <a:ext cx="827772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874519" y="2944368"/>
            <a:ext cx="82777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93732" y="2944368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8  ·  9 %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35240" y="2871216"/>
            <a:ext cx="1877872" cy="3474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635240" y="2944368"/>
            <a:ext cx="176814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101 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3502151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110–125 г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74519" y="3438144"/>
            <a:ext cx="3621505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874519" y="3511296"/>
            <a:ext cx="362150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FFFFFF"/>
                </a:solidFill>
                <a:latin typeface="Segoe UI"/>
              </a:rPr>
              <a:t>35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96025" y="3438144"/>
            <a:ext cx="103471" cy="34747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690936" y="3511296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36  ·  40 %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35240" y="3438144"/>
            <a:ext cx="1729130" cy="3474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635240" y="3511296"/>
            <a:ext cx="161940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93 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4069080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125–145 г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74519" y="4005072"/>
            <a:ext cx="2793732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874519" y="4078224"/>
            <a:ext cx="27937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FFFFFF"/>
                </a:solidFill>
                <a:latin typeface="Segoe UI"/>
              </a:rPr>
              <a:t>27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9692" y="4078224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27  ·  30 %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635240" y="4005072"/>
            <a:ext cx="2082393" cy="3474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635240" y="4078224"/>
            <a:ext cx="197266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112 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4636008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145 г +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74519" y="4572000"/>
            <a:ext cx="103471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069431" y="4645152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  ·  1 %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635240" y="4572000"/>
            <a:ext cx="2510028" cy="3474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635240" y="4645152"/>
            <a:ext cx="24003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135 ₴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860889" y="2176272"/>
            <a:ext cx="12801" cy="287121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454896" y="5065776"/>
            <a:ext cx="8229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B53A3A"/>
                </a:solidFill>
                <a:latin typeface="Segoe UI"/>
              </a:rPr>
              <a:t>120 грн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61320" y="3739896"/>
            <a:ext cx="1051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1" spc="-10">
                <a:solidFill>
                  <a:srgbClr val="C4820A"/>
                </a:solidFill>
                <a:latin typeface="Segoe UI"/>
              </a:rPr>
              <a:t>наші SKU:</a:t>
            </a:r>
          </a:p>
          <a:p>
            <a:pPr algn="ctr">
              <a:lnSpc>
                <a:spcPct val="110000"/>
              </a:lnSpc>
            </a:pPr>
            <a:r>
              <a:rPr sz="850" b="1" spc="-10">
                <a:solidFill>
                  <a:srgbClr val="C4820A"/>
                </a:solidFill>
                <a:latin typeface="Segoe UI"/>
              </a:rPr>
              <a:t>112,5–131 г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6928" y="5614416"/>
            <a:ext cx="5413248" cy="78638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566928" y="5614416"/>
            <a:ext cx="41148" cy="786384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41247" y="5779007"/>
            <a:ext cx="48646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ВАГА НАШИХ SKU — РИНКОВА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7" y="6053327"/>
            <a:ext cx="4864608" cy="1828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112,5–131 г потрапляє у дві найщільніші смуги: 70 % усіх позицій ринку.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17920" y="5614416"/>
            <a:ext cx="5413248" cy="78638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217920" y="5614416"/>
            <a:ext cx="41148" cy="786384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492240" y="5779007"/>
            <a:ext cx="48646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ЦІНА НАШИХ SKU ПРОТИ ЦИХ СМУГ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92240" y="6053327"/>
            <a:ext cx="4864608" cy="1828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При полиці 120 грн наші SKU на 29 % дорожчі за медіану смуги 110–125 г (93 грн), при поточних 140,55 грн — на 51 %.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РИТЕЙЛ-АУДИТ · МЕРЕЖІ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Що з корейського рамену стоїть у мережах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Суцільна перевірка онлайн-каталогів 18 мереж, зріз 29.09.2026. SKU — унікальні позиції корейського рамену в каталозі мережі.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17904"/>
            <a:ext cx="146304" cy="12801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1499616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303A5D"/>
                </a:solidFill>
                <a:latin typeface="Segoe UI"/>
              </a:rPr>
              <a:t>Samyang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85569" y="1517904"/>
            <a:ext cx="146304" cy="12801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786737" y="1499616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303A5D"/>
                </a:solidFill>
                <a:latin typeface="Segoe UI"/>
              </a:rPr>
              <a:t>Nongshim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79191" y="1517904"/>
            <a:ext cx="146304" cy="12801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880360" y="1499616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303A5D"/>
                </a:solidFill>
                <a:latin typeface="Segoe UI"/>
              </a:rPr>
              <a:t>Paldo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47872" y="1517904"/>
            <a:ext cx="146304" cy="12801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749039" y="1499616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91532" y="1517904"/>
            <a:ext cx="146304" cy="12801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92700" y="1499616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303A5D"/>
                </a:solidFill>
                <a:latin typeface="Segoe UI"/>
              </a:rPr>
              <a:t>O'Food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35193" y="1517904"/>
            <a:ext cx="146304" cy="128016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36361" y="1499616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303A5D"/>
                </a:solidFill>
                <a:latin typeface="Segoe UI"/>
              </a:rPr>
              <a:t>Bibigo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78854" y="1517904"/>
            <a:ext cx="146304" cy="12801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80022" y="1499616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303A5D"/>
                </a:solidFill>
                <a:latin typeface="Segoe UI"/>
              </a:rPr>
              <a:t>Otoki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47534" y="1517904"/>
            <a:ext cx="146304" cy="12801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48702" y="1499616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303A5D"/>
                </a:solidFill>
                <a:latin typeface="Segoe UI"/>
              </a:rPr>
              <a:t>Choi's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0" y="1499616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spc="-10">
                <a:solidFill>
                  <a:srgbClr val="717890"/>
                </a:solidFill>
                <a:latin typeface="Segoe UI"/>
              </a:rPr>
              <a:t>ЦІНА ПАЧКИ, ₴: мін.–макс. (лінія) · медіана (мітка)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1847088"/>
            <a:ext cx="11064240" cy="23042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1888236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Ашан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965960" y="1892807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965960" y="1903780"/>
            <a:ext cx="71323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НАЦ.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88920" y="1883664"/>
            <a:ext cx="845820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788920" y="1894636"/>
            <a:ext cx="8458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17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43884" y="1883664"/>
            <a:ext cx="644652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43884" y="1894636"/>
            <a:ext cx="64465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13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97680" y="1883664"/>
            <a:ext cx="594360" cy="16642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297680" y="1894636"/>
            <a:ext cx="5943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01184" y="1883664"/>
            <a:ext cx="443484" cy="16642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901184" y="1894636"/>
            <a:ext cx="44348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53812" y="1883664"/>
            <a:ext cx="192024" cy="16642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353812" y="1894636"/>
            <a:ext cx="19202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54980" y="1883664"/>
            <a:ext cx="192024" cy="166420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554980" y="1894636"/>
            <a:ext cx="19202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756148" y="1883664"/>
            <a:ext cx="41148" cy="16642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852159" y="1888236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60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45780" y="1953158"/>
            <a:ext cx="2296668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8520684" y="1888236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497312" y="1888236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65–202 ₴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27080" y="1888236"/>
            <a:ext cx="7040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89 ₴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2136952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Onde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965960" y="2141524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965960" y="2152497"/>
            <a:ext cx="71323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РЕГІОН.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88920" y="2132380"/>
            <a:ext cx="544068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2788920" y="2143353"/>
            <a:ext cx="54406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342132" y="2132380"/>
            <a:ext cx="493776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342132" y="2143353"/>
            <a:ext cx="49377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845052" y="2132380"/>
            <a:ext cx="91440" cy="16642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3945636" y="2132380"/>
            <a:ext cx="41148" cy="16642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041648" y="2136952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24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179307" y="2201875"/>
            <a:ext cx="1525524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8939784" y="2136952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759696" y="2136952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67–158 ₴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927080" y="2136952"/>
            <a:ext cx="7040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114 ₴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66928" y="2344521"/>
            <a:ext cx="11064240" cy="23042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40080" y="2385669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Grono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965960" y="2390241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1965960" y="2401214"/>
            <a:ext cx="71323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РЕГІОН.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88920" y="2381097"/>
            <a:ext cx="443484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2788920" y="2392070"/>
            <a:ext cx="44348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241548" y="2381097"/>
            <a:ext cx="393192" cy="16642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3241548" y="2392070"/>
            <a:ext cx="3931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43884" y="2381097"/>
            <a:ext cx="292608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3643884" y="2392070"/>
            <a:ext cx="2926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945635" y="2381097"/>
            <a:ext cx="41148" cy="16642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4041647" y="2385669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24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263127" y="2450592"/>
            <a:ext cx="2296668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9140952" y="2385669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10614660" y="2385669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72–209 ₴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927080" y="2385669"/>
            <a:ext cx="7040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126 ₴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0080" y="2634386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«Зараз»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965960" y="2638958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1965960" y="2649931"/>
            <a:ext cx="71323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НАЦ.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788920" y="2629814"/>
            <a:ext cx="342900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2788920" y="2640787"/>
            <a:ext cx="3429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140963" y="2629814"/>
            <a:ext cx="192024" cy="16642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3140963" y="2640787"/>
            <a:ext cx="19202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342132" y="2629814"/>
            <a:ext cx="141732" cy="16642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3538727" y="2634386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14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179307" y="2699308"/>
            <a:ext cx="955547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8503919" y="2634386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9189719" y="2634386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67–124 ₴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927080" y="2634386"/>
            <a:ext cx="7040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88 ₴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66928" y="2841955"/>
            <a:ext cx="11064240" cy="23042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640080" y="2883103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«Клас»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1965960" y="2887675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1965960" y="2898648"/>
            <a:ext cx="71323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РЕГІОН.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788920" y="2878531"/>
            <a:ext cx="342900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2788920" y="2889504"/>
            <a:ext cx="3429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140963" y="2878531"/>
            <a:ext cx="292608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3140963" y="2889504"/>
            <a:ext cx="2926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488435" y="2883103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13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017508" y="2948025"/>
            <a:ext cx="670559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9325356" y="2883103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9742932" y="2883103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117–157 ₴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927080" y="2883103"/>
            <a:ext cx="7040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137 ₴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40080" y="3131820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«Восторг»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1965960" y="3136391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1965960" y="3147364"/>
            <a:ext cx="71323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РЕГІОН.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788920" y="3127248"/>
            <a:ext cx="342900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2788920" y="3138220"/>
            <a:ext cx="3429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3140963" y="3127248"/>
            <a:ext cx="292608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3140963" y="3138220"/>
            <a:ext cx="2926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488435" y="313182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13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9017508" y="3196742"/>
            <a:ext cx="670559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9325356" y="3131820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9742932" y="3131820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117–157 ₴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927080" y="3131820"/>
            <a:ext cx="7040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137 ₴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566928" y="3339388"/>
            <a:ext cx="11064240" cy="23042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640080" y="3380536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«Космос»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1965960" y="3385108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1965960" y="3396081"/>
            <a:ext cx="71323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РЕГІОН.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2788920" y="3375964"/>
            <a:ext cx="292608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2788920" y="3386937"/>
            <a:ext cx="2926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090672" y="3375964"/>
            <a:ext cx="141732" cy="16642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241548" y="3375964"/>
            <a:ext cx="91440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ectangle 124"/>
          <p:cNvSpPr/>
          <p:nvPr/>
        </p:nvSpPr>
        <p:spPr>
          <a:xfrm>
            <a:off x="3342132" y="3375964"/>
            <a:ext cx="41148" cy="16642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3438144" y="3380536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12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7726679" y="3445459"/>
            <a:ext cx="1844039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Rectangle 127"/>
          <p:cNvSpPr/>
          <p:nvPr/>
        </p:nvSpPr>
        <p:spPr>
          <a:xfrm>
            <a:off x="9073896" y="3380536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9625583" y="3380536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40–150 ₴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0927080" y="3380536"/>
            <a:ext cx="7040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122 ₴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40080" y="3629253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METRO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1965960" y="3633825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1965960" y="3644798"/>
            <a:ext cx="71323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НАЦ.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2788920" y="3624681"/>
            <a:ext cx="594360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2788920" y="3635654"/>
            <a:ext cx="5943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438144" y="3629253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12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698991" y="3694176"/>
            <a:ext cx="1123188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Rectangle 137"/>
          <p:cNvSpPr/>
          <p:nvPr/>
        </p:nvSpPr>
        <p:spPr>
          <a:xfrm>
            <a:off x="8839200" y="3629253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9877044" y="3629253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98–165 ₴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0927080" y="3629253"/>
            <a:ext cx="7040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108 ₴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566928" y="3836822"/>
            <a:ext cx="11064240" cy="23042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640080" y="3877970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«Таврія В»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1965960" y="3882542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1965960" y="3893515"/>
            <a:ext cx="71323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РЕГІОН.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2788920" y="3873398"/>
            <a:ext cx="292608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2788920" y="3884371"/>
            <a:ext cx="2926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3090672" y="3873398"/>
            <a:ext cx="141732" cy="16642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Rectangle 147"/>
          <p:cNvSpPr/>
          <p:nvPr/>
        </p:nvSpPr>
        <p:spPr>
          <a:xfrm>
            <a:off x="3241548" y="3873398"/>
            <a:ext cx="91440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Rectangle 148"/>
          <p:cNvSpPr/>
          <p:nvPr/>
        </p:nvSpPr>
        <p:spPr>
          <a:xfrm>
            <a:off x="3342132" y="3873398"/>
            <a:ext cx="41148" cy="16642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3438144" y="387797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12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7726679" y="3942892"/>
            <a:ext cx="1844039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Rectangle 151"/>
          <p:cNvSpPr/>
          <p:nvPr/>
        </p:nvSpPr>
        <p:spPr>
          <a:xfrm>
            <a:off x="9073896" y="3877970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9625583" y="3877970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34–150 ₴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0927080" y="3877970"/>
            <a:ext cx="7040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122 ₴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40080" y="4126687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NOVUS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1965960" y="4131259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1965960" y="4142232"/>
            <a:ext cx="71323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НАЦ.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2788920" y="4122115"/>
            <a:ext cx="192024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2788920" y="4133087"/>
            <a:ext cx="19202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2990088" y="4122115"/>
            <a:ext cx="141732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Rectangle 160"/>
          <p:cNvSpPr/>
          <p:nvPr/>
        </p:nvSpPr>
        <p:spPr>
          <a:xfrm>
            <a:off x="3140964" y="4122115"/>
            <a:ext cx="41148" cy="16642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3236976" y="4126687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8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9051036" y="4191609"/>
            <a:ext cx="1089659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Rectangle 163"/>
          <p:cNvSpPr/>
          <p:nvPr/>
        </p:nvSpPr>
        <p:spPr>
          <a:xfrm>
            <a:off x="9275064" y="4126687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10195560" y="4126687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119–184 ₴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0927080" y="4126687"/>
            <a:ext cx="7040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134 ₴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566928" y="4334256"/>
            <a:ext cx="11064240" cy="23042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TextBox 167"/>
          <p:cNvSpPr txBox="1"/>
          <p:nvPr/>
        </p:nvSpPr>
        <p:spPr>
          <a:xfrm>
            <a:off x="640080" y="4375404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«ЧудоМаркет»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1965960" y="4379976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extBox 169"/>
          <p:cNvSpPr txBox="1"/>
          <p:nvPr/>
        </p:nvSpPr>
        <p:spPr>
          <a:xfrm>
            <a:off x="1965960" y="4390948"/>
            <a:ext cx="71323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РЕГІОН.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2788920" y="4370832"/>
            <a:ext cx="141732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Rectangle 171"/>
          <p:cNvSpPr/>
          <p:nvPr/>
        </p:nvSpPr>
        <p:spPr>
          <a:xfrm>
            <a:off x="2939796" y="4370832"/>
            <a:ext cx="91440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Rectangle 172"/>
          <p:cNvSpPr/>
          <p:nvPr/>
        </p:nvSpPr>
        <p:spPr>
          <a:xfrm>
            <a:off x="3040379" y="4370832"/>
            <a:ext cx="41148" cy="16642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/>
          <p:cNvSpPr txBox="1"/>
          <p:nvPr/>
        </p:nvSpPr>
        <p:spPr>
          <a:xfrm>
            <a:off x="3136391" y="4375404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8732519" y="4440326"/>
            <a:ext cx="569975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Rectangle 175"/>
          <p:cNvSpPr/>
          <p:nvPr/>
        </p:nvSpPr>
        <p:spPr>
          <a:xfrm>
            <a:off x="9040368" y="4375404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TextBox 176"/>
          <p:cNvSpPr txBox="1"/>
          <p:nvPr/>
        </p:nvSpPr>
        <p:spPr>
          <a:xfrm>
            <a:off x="9357360" y="4375404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100–134 ₴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10927080" y="4375404"/>
            <a:ext cx="7040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120 ₴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640080" y="4624120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«Сільпо»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1965960" y="4628692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TextBox 180"/>
          <p:cNvSpPr txBox="1"/>
          <p:nvPr/>
        </p:nvSpPr>
        <p:spPr>
          <a:xfrm>
            <a:off x="1965960" y="4639665"/>
            <a:ext cx="71323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НАЦ.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2788920" y="4619548"/>
            <a:ext cx="141732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Rectangle 182"/>
          <p:cNvSpPr/>
          <p:nvPr/>
        </p:nvSpPr>
        <p:spPr>
          <a:xfrm>
            <a:off x="2939796" y="4619548"/>
            <a:ext cx="41148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TextBox 183"/>
          <p:cNvSpPr txBox="1"/>
          <p:nvPr/>
        </p:nvSpPr>
        <p:spPr>
          <a:xfrm>
            <a:off x="3035808" y="462412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8564879" y="4689043"/>
            <a:ext cx="1827275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Rectangle 185"/>
          <p:cNvSpPr/>
          <p:nvPr/>
        </p:nvSpPr>
        <p:spPr>
          <a:xfrm>
            <a:off x="8939784" y="4624120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TextBox 186"/>
          <p:cNvSpPr txBox="1"/>
          <p:nvPr/>
        </p:nvSpPr>
        <p:spPr>
          <a:xfrm>
            <a:off x="10447019" y="4624120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90–199 ₴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10927080" y="4624120"/>
            <a:ext cx="7040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114 ₴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566928" y="4831689"/>
            <a:ext cx="11064240" cy="23042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TextBox 189"/>
          <p:cNvSpPr txBox="1"/>
          <p:nvPr/>
        </p:nvSpPr>
        <p:spPr>
          <a:xfrm>
            <a:off x="640080" y="4872837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«Торба»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1965960" y="4877409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TextBox 191"/>
          <p:cNvSpPr txBox="1"/>
          <p:nvPr/>
        </p:nvSpPr>
        <p:spPr>
          <a:xfrm>
            <a:off x="1965960" y="4888382"/>
            <a:ext cx="71323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РЕГІОН.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2788920" y="4868265"/>
            <a:ext cx="91440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TextBox 193"/>
          <p:cNvSpPr txBox="1"/>
          <p:nvPr/>
        </p:nvSpPr>
        <p:spPr>
          <a:xfrm>
            <a:off x="2935223" y="4872837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8615171" y="4937760"/>
            <a:ext cx="301752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Rectangle 195"/>
          <p:cNvSpPr/>
          <p:nvPr/>
        </p:nvSpPr>
        <p:spPr>
          <a:xfrm>
            <a:off x="8738616" y="4872837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TextBox 196"/>
          <p:cNvSpPr txBox="1"/>
          <p:nvPr/>
        </p:nvSpPr>
        <p:spPr>
          <a:xfrm>
            <a:off x="8971788" y="4872837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93–111 ₴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10927080" y="4872837"/>
            <a:ext cx="7040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102 ₴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566928" y="5080406"/>
            <a:ext cx="11064240" cy="23042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TextBox 199"/>
          <p:cNvSpPr txBox="1"/>
          <p:nvPr/>
        </p:nvSpPr>
        <p:spPr>
          <a:xfrm>
            <a:off x="640080" y="5121554"/>
            <a:ext cx="7772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717890"/>
                </a:solidFill>
                <a:latin typeface="Segoe UI"/>
              </a:rPr>
              <a:t>МегаМаркет · Ultramarket · ЕКО · Епіцентр · «Ідеал» — 0 позицій у зрізі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9060484" y="1819656"/>
            <a:ext cx="14630" cy="327903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TextBox 201"/>
          <p:cNvSpPr txBox="1"/>
          <p:nvPr/>
        </p:nvSpPr>
        <p:spPr>
          <a:xfrm>
            <a:off x="8610600" y="1719072"/>
            <a:ext cx="9144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B53A3A"/>
                </a:solidFill>
                <a:latin typeface="Segoe UI"/>
              </a:rPr>
              <a:t>120 ₴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10561320" y="1719072"/>
            <a:ext cx="106984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МЕДІАНА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566928" y="5961888"/>
            <a:ext cx="3547872" cy="80467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Rectangle 204"/>
          <p:cNvSpPr/>
          <p:nvPr/>
        </p:nvSpPr>
        <p:spPr>
          <a:xfrm>
            <a:off x="566928" y="5961888"/>
            <a:ext cx="41148" cy="80467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TextBox 205"/>
          <p:cNvSpPr txBox="1"/>
          <p:nvPr/>
        </p:nvSpPr>
        <p:spPr>
          <a:xfrm>
            <a:off x="841247" y="6126479"/>
            <a:ext cx="299923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ДІРКА №1 · «СІЛЬПО»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841247" y="6400800"/>
            <a:ext cx="2999232" cy="2011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Найбільша мережа країни тримає 4 позиції. Полиця відкрита, але вхід там 90–199 ₴.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4315968" y="5961888"/>
            <a:ext cx="3547872" cy="80467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Rectangle 208"/>
          <p:cNvSpPr/>
          <p:nvPr/>
        </p:nvSpPr>
        <p:spPr>
          <a:xfrm>
            <a:off x="4315968" y="5961888"/>
            <a:ext cx="41148" cy="80467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TextBox 209"/>
          <p:cNvSpPr txBox="1"/>
          <p:nvPr/>
        </p:nvSpPr>
        <p:spPr>
          <a:xfrm>
            <a:off x="4590288" y="6126479"/>
            <a:ext cx="299923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ДІРКА №2 · П’ЯТЬ МЕРЕЖ З НУЛЕМ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4590288" y="6400800"/>
            <a:ext cx="2999232" cy="2011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МегаМаркет, Ultramarket, ЕКО, Епіцентр, «Ідеал» — жодної позиції у зрізі.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8065008" y="5961888"/>
            <a:ext cx="3566160" cy="80467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Rectangle 212"/>
          <p:cNvSpPr/>
          <p:nvPr/>
        </p:nvSpPr>
        <p:spPr>
          <a:xfrm>
            <a:off x="8065008" y="5961888"/>
            <a:ext cx="41148" cy="8046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TextBox 213"/>
          <p:cNvSpPr txBox="1"/>
          <p:nvPr/>
        </p:nvSpPr>
        <p:spPr>
          <a:xfrm>
            <a:off x="8339328" y="6126479"/>
            <a:ext cx="3017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ОДИН ПОСТАЧАЛЬНИК НА ДВІ МЕРЕЖІ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8339328" y="6400800"/>
            <a:ext cx="3017520" cy="2011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«Космос» і «Таврія В» — по 12 позицій; 12 із них збігаються за EAN.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КАНАЛИ · ЦІНИ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Ціна пачки по каналах і наша поточна полиця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Мін.–макс. (лінія), 25–75 % пропозицій (блок), медіана (риска) · ціна пачки, ₴ · смуги — наша поточна полиця у двох варіантах закупівлі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286000"/>
            <a:ext cx="11064240" cy="54864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3419856"/>
            <a:ext cx="11064240" cy="54864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4553712"/>
            <a:ext cx="11064240" cy="54864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85674" y="2240280"/>
            <a:ext cx="735980" cy="3447287"/>
          </a:xfrm>
          <a:prstGeom prst="rect">
            <a:avLst/>
          </a:prstGeom>
          <a:solidFill>
            <a:srgbClr val="FDF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850099" y="2240280"/>
            <a:ext cx="945892" cy="3447287"/>
          </a:xfrm>
          <a:prstGeom prst="rect">
            <a:avLst/>
          </a:prstGeom>
          <a:solidFill>
            <a:srgbClr val="F6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063240" y="2286000"/>
            <a:ext cx="5486" cy="340156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88920" y="57332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40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43960" y="2286000"/>
            <a:ext cx="5486" cy="340156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69640" y="57332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60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24680" y="2286000"/>
            <a:ext cx="5486" cy="340156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50360" y="57332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80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05400" y="2286000"/>
            <a:ext cx="5486" cy="340156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31080" y="57332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86120" y="2286000"/>
            <a:ext cx="5486" cy="340156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511800" y="57332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120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66840" y="2286000"/>
            <a:ext cx="5486" cy="340156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192520" y="57332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140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47560" y="2286000"/>
            <a:ext cx="5486" cy="340156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73240" y="57332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160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28280" y="2286000"/>
            <a:ext cx="5486" cy="340156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553960" y="57332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180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09000" y="2286000"/>
            <a:ext cx="5486" cy="340156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34679" y="57332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200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89720" y="2286000"/>
            <a:ext cx="5486" cy="340156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915400" y="57332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220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46920" y="1828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ПРОПОЗИЦІЙ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52760" y="1828800"/>
            <a:ext cx="9784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ДО 120 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368296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Національні мережі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" y="2569464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5 мереж · Ашан, METRO, NOVUS…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914140" y="2546604"/>
            <a:ext cx="4645914" cy="45720"/>
          </a:xfrm>
          <a:prstGeom prst="rect">
            <a:avLst/>
          </a:prstGeom>
          <a:solidFill>
            <a:srgbClr val="828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549762" y="2459736"/>
            <a:ext cx="965771" cy="219456"/>
          </a:xfrm>
          <a:prstGeom prst="rect">
            <a:avLst/>
          </a:prstGeom>
          <a:solidFill>
            <a:srgbClr val="4F57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23739" y="2414016"/>
            <a:ext cx="36576" cy="31089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76267" y="2295144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95 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33206" y="248716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202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46920" y="2468880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98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52760" y="2468880"/>
            <a:ext cx="9784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85 %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" y="2935224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Регіональні мережі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6656" y="3136392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8 мереж · Grono, Onde, «Космос»…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63240" y="3113532"/>
            <a:ext cx="5752084" cy="45720"/>
          </a:xfrm>
          <a:prstGeom prst="rect">
            <a:avLst/>
          </a:prstGeom>
          <a:solidFill>
            <a:srgbClr val="8B9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470436" y="3026664"/>
            <a:ext cx="1084046" cy="219456"/>
          </a:xfrm>
          <a:prstGeom prst="rect">
            <a:avLst/>
          </a:prstGeom>
          <a:solidFill>
            <a:srgbClr val="5A7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5938012" y="2980944"/>
            <a:ext cx="36576" cy="310896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590540" y="2862072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125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88476" y="3054096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209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46920" y="303580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106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652760" y="3035808"/>
            <a:ext cx="9784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41 %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6656" y="3502152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Суші Повар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6656" y="3703320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фудшоп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131312" y="3680459"/>
            <a:ext cx="3301492" cy="45720"/>
          </a:xfrm>
          <a:prstGeom prst="rect">
            <a:avLst/>
          </a:prstGeom>
          <a:solidFill>
            <a:srgbClr val="78C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4731004" y="3593591"/>
            <a:ext cx="918971" cy="219456"/>
          </a:xfrm>
          <a:prstGeom prst="rect">
            <a:avLst/>
          </a:prstGeom>
          <a:solidFill>
            <a:srgbClr val="3FAC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5053076" y="3547872"/>
            <a:ext cx="36576" cy="31089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705604" y="3429000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99 ₴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05956" y="3621024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139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46920" y="3602736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77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652760" y="3602736"/>
            <a:ext cx="9784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90 %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6656" y="4069079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Asia Foods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76656" y="4270247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фудшоп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41852" y="4247387"/>
            <a:ext cx="4016248" cy="45720"/>
          </a:xfrm>
          <a:prstGeom prst="rect">
            <a:avLst/>
          </a:prstGeom>
          <a:solidFill>
            <a:srgbClr val="78C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5241544" y="4160519"/>
            <a:ext cx="850899" cy="219456"/>
          </a:xfrm>
          <a:prstGeom prst="rect">
            <a:avLst/>
          </a:prstGeom>
          <a:solidFill>
            <a:srgbClr val="3FAC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5665724" y="4114799"/>
            <a:ext cx="36576" cy="31089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318252" y="3995927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117 ₴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731252" y="4187951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175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646920" y="4169663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23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652760" y="4169663"/>
            <a:ext cx="9784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61 %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76656" y="4636008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Тайякі Март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76656" y="4837176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фудшоп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777996" y="4814316"/>
            <a:ext cx="3301492" cy="45720"/>
          </a:xfrm>
          <a:prstGeom prst="rect">
            <a:avLst/>
          </a:prstGeom>
          <a:solidFill>
            <a:srgbClr val="78C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4050283" y="4727448"/>
            <a:ext cx="2025142" cy="219456"/>
          </a:xfrm>
          <a:prstGeom prst="rect">
            <a:avLst/>
          </a:prstGeom>
          <a:solidFill>
            <a:srgbClr val="3FAC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5813780" y="4681728"/>
            <a:ext cx="36576" cy="31089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466308" y="4562856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121 ₴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152640" y="4754880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158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646920" y="473659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24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652760" y="4736592"/>
            <a:ext cx="9784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50 %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76656" y="5202936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Prom.ua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76656" y="5404103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маркетплейс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424680" y="5381243"/>
            <a:ext cx="4050283" cy="45720"/>
          </a:xfrm>
          <a:prstGeom prst="rect">
            <a:avLst/>
          </a:prstGeom>
          <a:solidFill>
            <a:srgbClr val="DBB4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5113909" y="5294375"/>
            <a:ext cx="1608201" cy="219456"/>
          </a:xfrm>
          <a:prstGeom prst="rect">
            <a:avLst/>
          </a:prstGeom>
          <a:solidFill>
            <a:srgbClr val="CC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5631688" y="5248655"/>
            <a:ext cx="36576" cy="31089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284215" y="5129783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116 ₴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548116" y="5321807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199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646920" y="5303520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24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652760" y="5303520"/>
            <a:ext cx="9784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62 %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778804" y="2240280"/>
            <a:ext cx="16459" cy="34747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4871720" y="2039112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B53A3A"/>
                </a:solidFill>
                <a:latin typeface="Segoe UI"/>
              </a:rPr>
              <a:t>ціль 120 ₴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503962" y="2039112"/>
            <a:ext cx="2011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>
                <a:solidFill>
                  <a:srgbClr val="C4820A"/>
                </a:solidFill>
                <a:latin typeface="Segoe UI"/>
              </a:rPr>
              <a:t>зараз · 33 палети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503962" y="2176272"/>
            <a:ext cx="20116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C4820A"/>
                </a:solidFill>
                <a:latin typeface="Segoe UI"/>
              </a:rPr>
              <a:t>141–162 ₴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868387" y="2039112"/>
            <a:ext cx="2011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>
                <a:solidFill>
                  <a:srgbClr val="B53A3A"/>
                </a:solidFill>
                <a:latin typeface="Segoe UI"/>
              </a:rPr>
              <a:t>зараз · 6 палет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868387" y="2176272"/>
            <a:ext cx="20116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B53A3A"/>
                </a:solidFill>
                <a:latin typeface="Segoe UI"/>
              </a:rPr>
              <a:t>181–208 ₴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66928" y="6437376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9FA9C4"/>
                </a:solidFill>
                <a:latin typeface="Segoe UI"/>
              </a:rPr>
              <a:t>Мережі: каталоги 29.09.2026, медіана ціни позиції в мережі. Фудшопи й Prom.ua: сторінки категорій, жовтень 2026, без наборів дорожче 250 ₴. Смуги: Vegetable/Spicy/Beef/Chicken (нижня межа) і Gouda/Carbonara (верхня межа) за фінмоделлю, бонус 35 %, маржа 20 %.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КАНАЛИ · ЦІНОВІ РІВНІ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Частка пропозицій за ціною пачки в кожному каналі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Мережі — 89 SKU корейського рамену (пакети й стакани); фудшопи й Prom.ua — рамен зі сторінок категорій, без наборів. Числа в смугах — % пропозицій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17904"/>
            <a:ext cx="146304" cy="12801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1499616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303A5D"/>
                </a:solidFill>
                <a:latin typeface="Segoe UI"/>
              </a:rPr>
              <a:t>до 100 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28216" y="1517904"/>
            <a:ext cx="146304" cy="128016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29384" y="1499616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303A5D"/>
                </a:solidFill>
                <a:latin typeface="Segoe UI"/>
              </a:rPr>
              <a:t>100–120 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20924" y="1517904"/>
            <a:ext cx="146304" cy="128016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22092" y="1499616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303A5D"/>
                </a:solidFill>
                <a:latin typeface="Segoe UI"/>
              </a:rPr>
              <a:t>120–140 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13631" y="1517904"/>
            <a:ext cx="146304" cy="12801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14799" y="1499616"/>
            <a:ext cx="84581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303A5D"/>
                </a:solidFill>
                <a:latin typeface="Segoe UI"/>
              </a:rPr>
              <a:t>понад 140 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1517904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ДО 120 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1517904"/>
            <a:ext cx="4572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ПОЗ.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1517904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ЯКІ БРЕНДИ (ПОЗИЦІЙ)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1847088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«Торба»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23160" y="1837943"/>
            <a:ext cx="2286000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423160" y="1860804"/>
            <a:ext cx="2286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50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09160" y="1837943"/>
            <a:ext cx="2286000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09160" y="1860804"/>
            <a:ext cx="2286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50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1847088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100 %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1856231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1856231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Samyang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2105863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Ашан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423160" y="2096719"/>
            <a:ext cx="3276600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423160" y="2119579"/>
            <a:ext cx="3276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72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99760" y="2096719"/>
            <a:ext cx="1066800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699760" y="2119579"/>
            <a:ext cx="1066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23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66560" y="2096719"/>
            <a:ext cx="76200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842760" y="2096719"/>
            <a:ext cx="152400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995160" y="2105863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95 %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2115007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60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2115007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Nongshim 17 · Samyang 13 · Paldo 12 · Ottogi 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2364638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METRO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423160" y="2355494"/>
            <a:ext cx="1143000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423160" y="2378354"/>
            <a:ext cx="1143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25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566160" y="2355494"/>
            <a:ext cx="3047999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566160" y="2378354"/>
            <a:ext cx="304799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67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614159" y="2355494"/>
            <a:ext cx="380999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614159" y="2378354"/>
            <a:ext cx="38099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95160" y="2364638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92 %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2373782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12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52560" y="2373782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Nongshim 12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6928" y="2623413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Суші Повар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423160" y="2614269"/>
            <a:ext cx="2671948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423160" y="2637129"/>
            <a:ext cx="267194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58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95108" y="2614269"/>
            <a:ext cx="1425038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095108" y="2637129"/>
            <a:ext cx="142503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31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20147" y="2614269"/>
            <a:ext cx="475012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520147" y="2637129"/>
            <a:ext cx="4750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95160" y="2623413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90 %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12480" y="2632557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77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52560" y="2632557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Samyang 28 · інші 16 · Paldo 15 · Nongshim 13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6928" y="2882188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«Зараз»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3160" y="2873044"/>
            <a:ext cx="2612571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2423160" y="2895904"/>
            <a:ext cx="2612571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57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035731" y="2873044"/>
            <a:ext cx="1306285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035731" y="2895904"/>
            <a:ext cx="130628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29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42017" y="2873044"/>
            <a:ext cx="653142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342017" y="2895904"/>
            <a:ext cx="65314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995160" y="2882188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86 %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12480" y="2891332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14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52560" y="2891332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Samyang 7 · O'Food 4 · Ottogi 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66928" y="3140963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Prom.ua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423160" y="3131819"/>
            <a:ext cx="1143000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2423160" y="3154679"/>
            <a:ext cx="1143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25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566160" y="3131819"/>
            <a:ext cx="1714500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3566160" y="3154679"/>
            <a:ext cx="17145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38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280660" y="3131819"/>
            <a:ext cx="190499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5471160" y="3131819"/>
            <a:ext cx="1523999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471160" y="3154679"/>
            <a:ext cx="152399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33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995160" y="3140963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62 %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412480" y="3150107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24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052560" y="3150107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Samyang 8 · Nongshim 6 · Paldo 4 · Ottogi 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66928" y="3399739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Asia Foods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423160" y="3390595"/>
            <a:ext cx="993913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2423160" y="3413455"/>
            <a:ext cx="99391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22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417073" y="3390595"/>
            <a:ext cx="1789043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3417073" y="3413455"/>
            <a:ext cx="178904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39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206116" y="3390595"/>
            <a:ext cx="1391478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5206116" y="3413455"/>
            <a:ext cx="139147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30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597594" y="3390595"/>
            <a:ext cx="397565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6597594" y="3413455"/>
            <a:ext cx="39756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995160" y="3399739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61 %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412480" y="3408883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23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052560" y="3408883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інші 18 · Paldo 3 · Nongshim 2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66928" y="3658514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Onde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423160" y="3649370"/>
            <a:ext cx="1333500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2423160" y="3672230"/>
            <a:ext cx="13335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29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756660" y="3649370"/>
            <a:ext cx="1333500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3756660" y="3672230"/>
            <a:ext cx="13335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29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090160" y="3649370"/>
            <a:ext cx="1333500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5090160" y="3672230"/>
            <a:ext cx="13335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29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423660" y="3649370"/>
            <a:ext cx="571500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6423660" y="3672230"/>
            <a:ext cx="5715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995160" y="3658514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58 %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412480" y="3667658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24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052560" y="3667658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Nongshim 11 · Samyang 10 · Paldo 2 · fire bull 1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66928" y="3917289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«Таврія В»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423160" y="3908145"/>
            <a:ext cx="1523999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2423160" y="3931005"/>
            <a:ext cx="152399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33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947160" y="3908145"/>
            <a:ext cx="761999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3947160" y="3931005"/>
            <a:ext cx="76199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17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709159" y="3908145"/>
            <a:ext cx="1905000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4709159" y="3931005"/>
            <a:ext cx="1905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42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614159" y="3908145"/>
            <a:ext cx="380999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6614159" y="3931005"/>
            <a:ext cx="38099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995160" y="3917289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50 %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412480" y="3926433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12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052560" y="3926433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Samyang 6 · Ottogi 3 · Nongshim 2 · Choi's 1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66928" y="4176064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«Космос»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423160" y="4166920"/>
            <a:ext cx="1523999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2423160" y="4189780"/>
            <a:ext cx="152399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33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3947160" y="4166920"/>
            <a:ext cx="761999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3947160" y="4189780"/>
            <a:ext cx="76199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17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709159" y="4166920"/>
            <a:ext cx="1905000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4709159" y="4189780"/>
            <a:ext cx="1905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42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614159" y="4166920"/>
            <a:ext cx="380999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6614159" y="4189780"/>
            <a:ext cx="38099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995160" y="4176064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50 %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412480" y="4185208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12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052560" y="4185208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Samyang 6 · Ottogi 3 · Nongshim 2 · Choi's 1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66928" y="4434840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«ЧудоМаркет»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423160" y="4425696"/>
            <a:ext cx="1523999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2423160" y="4448555"/>
            <a:ext cx="152399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33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3947160" y="4425696"/>
            <a:ext cx="761999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3947160" y="4448555"/>
            <a:ext cx="76199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17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4709159" y="4425696"/>
            <a:ext cx="2286000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4709159" y="4448555"/>
            <a:ext cx="2286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50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995160" y="4434840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50 %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412480" y="4443983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6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9052560" y="4443983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Samyang 3 · Nongshim 2 · Paldo 1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566928" y="4693615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«Сільпо»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2423160" y="4684471"/>
            <a:ext cx="2286000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2423160" y="4707331"/>
            <a:ext cx="2286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50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4709160" y="4684471"/>
            <a:ext cx="1143000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4709160" y="4707331"/>
            <a:ext cx="1143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25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5852160" y="4684471"/>
            <a:ext cx="1143000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5852160" y="4707331"/>
            <a:ext cx="1143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25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995160" y="4693615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50 %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8412480" y="4702759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9052560" y="4702759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Samyang 3 · Nongshim 1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566928" y="4952390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Тайякі Март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2423160" y="4943246"/>
            <a:ext cx="1714500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2423160" y="4966106"/>
            <a:ext cx="17145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38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4137660" y="4943246"/>
            <a:ext cx="571500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4137660" y="4966106"/>
            <a:ext cx="5715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12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4709160" y="4943246"/>
            <a:ext cx="1714500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4709160" y="4966106"/>
            <a:ext cx="17145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38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6423660" y="4943246"/>
            <a:ext cx="571500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6423660" y="4966106"/>
            <a:ext cx="5715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6995160" y="4952390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50 %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8412480" y="4961534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24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9052560" y="4961534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інші 10 · Samyang 7 · Ottogi 4 · Nongshim 3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566928" y="5211165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Grono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2423160" y="5202021"/>
            <a:ext cx="571500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2423160" y="5224881"/>
            <a:ext cx="5715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2994660" y="5202021"/>
            <a:ext cx="952500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163"/>
          <p:cNvSpPr txBox="1"/>
          <p:nvPr/>
        </p:nvSpPr>
        <p:spPr>
          <a:xfrm>
            <a:off x="2994660" y="5224881"/>
            <a:ext cx="9525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21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3947160" y="5202021"/>
            <a:ext cx="1143000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TextBox 165"/>
          <p:cNvSpPr txBox="1"/>
          <p:nvPr/>
        </p:nvSpPr>
        <p:spPr>
          <a:xfrm>
            <a:off x="3947160" y="5224881"/>
            <a:ext cx="1143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25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5090160" y="5202021"/>
            <a:ext cx="1905000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TextBox 167"/>
          <p:cNvSpPr txBox="1"/>
          <p:nvPr/>
        </p:nvSpPr>
        <p:spPr>
          <a:xfrm>
            <a:off x="5090160" y="5224881"/>
            <a:ext cx="1905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42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995160" y="5211165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33 %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8412480" y="5220309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24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9052560" y="5220309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Nongshim 9 · Paldo 8 · Samyang 6 · Ottogi 1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566928" y="5469940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«Восторг»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2423160" y="5460796"/>
            <a:ext cx="703384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/>
          <p:cNvSpPr txBox="1"/>
          <p:nvPr/>
        </p:nvSpPr>
        <p:spPr>
          <a:xfrm>
            <a:off x="2423160" y="5483656"/>
            <a:ext cx="7033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15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3126544" y="5460796"/>
            <a:ext cx="1758461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TextBox 175"/>
          <p:cNvSpPr txBox="1"/>
          <p:nvPr/>
        </p:nvSpPr>
        <p:spPr>
          <a:xfrm>
            <a:off x="3126544" y="5483656"/>
            <a:ext cx="1758461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38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4885006" y="5460796"/>
            <a:ext cx="2110153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TextBox 177"/>
          <p:cNvSpPr txBox="1"/>
          <p:nvPr/>
        </p:nvSpPr>
        <p:spPr>
          <a:xfrm>
            <a:off x="4885006" y="5483656"/>
            <a:ext cx="211015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46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6995160" y="5469940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15 %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8412480" y="5479084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13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9052560" y="5479084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Samyang 7 · Nongshim 6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566928" y="5728716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«Клас»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2423160" y="5719572"/>
            <a:ext cx="703384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TextBox 183"/>
          <p:cNvSpPr txBox="1"/>
          <p:nvPr/>
        </p:nvSpPr>
        <p:spPr>
          <a:xfrm>
            <a:off x="2423160" y="5742431"/>
            <a:ext cx="7033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15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3126544" y="5719572"/>
            <a:ext cx="1758461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TextBox 185"/>
          <p:cNvSpPr txBox="1"/>
          <p:nvPr/>
        </p:nvSpPr>
        <p:spPr>
          <a:xfrm>
            <a:off x="3126544" y="5742431"/>
            <a:ext cx="1758461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38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4885006" y="5719572"/>
            <a:ext cx="2110153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TextBox 187"/>
          <p:cNvSpPr txBox="1"/>
          <p:nvPr/>
        </p:nvSpPr>
        <p:spPr>
          <a:xfrm>
            <a:off x="4885006" y="5742431"/>
            <a:ext cx="211015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46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6995160" y="5728716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15 %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8412480" y="5737859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13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9052560" y="5737859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Samyang 7 · Nongshim 6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566928" y="5987491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NOVUS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2423160" y="5978347"/>
            <a:ext cx="571500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TextBox 193"/>
          <p:cNvSpPr txBox="1"/>
          <p:nvPr/>
        </p:nvSpPr>
        <p:spPr>
          <a:xfrm>
            <a:off x="2423160" y="6001207"/>
            <a:ext cx="5715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12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2994660" y="5978347"/>
            <a:ext cx="2857500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TextBox 195"/>
          <p:cNvSpPr txBox="1"/>
          <p:nvPr/>
        </p:nvSpPr>
        <p:spPr>
          <a:xfrm>
            <a:off x="2994660" y="6001207"/>
            <a:ext cx="28575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62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5852160" y="5978347"/>
            <a:ext cx="1143000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TextBox 197"/>
          <p:cNvSpPr txBox="1"/>
          <p:nvPr/>
        </p:nvSpPr>
        <p:spPr>
          <a:xfrm>
            <a:off x="5852160" y="6001207"/>
            <a:ext cx="1143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25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6995160" y="5987491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12 %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8412480" y="5996635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8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9052560" y="5996635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Nongshim 4 · Samyang 3 · Paldo 1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566928" y="6437376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9FA9C4"/>
                </a:solidFill>
                <a:latin typeface="Segoe UI"/>
              </a:rPr>
              <a:t>Мережі — унікальні позиції (EAN) за медіанною ціною в мережі, 29.09.2026; «Сільпо» — 4 позиції. Фудшопи й Prom.ua — сторінки категорій, жовтень 2026 (бренд визначено за назвою; «інші» — не корейські або без бренду).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ОКРЕМИЙ КОНКУРЕНТ · ЦІНА ПРОДАЖУ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Choi’s у «Таврії В»: по чому продавали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Той самий бренд SIAS уже стоїть на українській полиці. Три дати й три рівні цін — щоб порівняти з нашою ціллю та поточною моделлю.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45920"/>
            <a:ext cx="56692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>
                <a:solidFill>
                  <a:srgbClr val="303A5D"/>
                </a:solidFill>
                <a:latin typeface="Segoe UI"/>
              </a:rPr>
              <a:t>CHOI’S CARBONARA 131 Г · ЦІНА ЗА ПАЧКУ, ГРН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27248" y="1883664"/>
            <a:ext cx="5486" cy="30175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61488" y="493776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76135" y="1883664"/>
            <a:ext cx="5486" cy="30175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10375" y="493776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40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25022" y="1883664"/>
            <a:ext cx="5486" cy="30175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9262" y="493776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80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73909" y="1883664"/>
            <a:ext cx="5486" cy="30175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08149" y="493776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22797" y="1883664"/>
            <a:ext cx="5486" cy="30175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57037" y="493776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160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71684" y="1883664"/>
            <a:ext cx="5486" cy="30175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05924" y="493776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200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2025396"/>
            <a:ext cx="2450591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ЄС · dotasia.eu · акція €1,80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27248" y="1997964"/>
            <a:ext cx="1034236" cy="210312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234636" y="2020824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92,2 грн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2391156"/>
            <a:ext cx="2450591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ЄС · dotasia.eu · звичайна €2,20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27248" y="2363724"/>
            <a:ext cx="1264066" cy="210312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464466" y="2386584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112,6 грн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2756916"/>
            <a:ext cx="2450591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«Таврія В» · 29.09.2026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27248" y="2729484"/>
            <a:ext cx="1405017" cy="2103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605417" y="2752344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303A5D"/>
                </a:solidFill>
                <a:latin typeface="Segoe UI"/>
              </a:rPr>
              <a:t>125,20 грн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3122676"/>
            <a:ext cx="2450591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«Космос» · 29.09.2026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27248" y="3095244"/>
            <a:ext cx="1405017" cy="2103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605417" y="3118104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303A5D"/>
                </a:solidFill>
                <a:latin typeface="Segoe UI"/>
              </a:rPr>
              <a:t>125,20 грн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3488436"/>
            <a:ext cx="2450591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«Таврія В» · 05–06.10 (за V3)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27248" y="3461003"/>
            <a:ext cx="1475716" cy="2103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676116" y="3483864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303A5D"/>
                </a:solidFill>
                <a:latin typeface="Segoe UI"/>
              </a:rPr>
              <a:t>131,50 грн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3854196"/>
            <a:ext cx="2450591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C4820A"/>
                </a:solidFill>
                <a:latin typeface="Segoe UI"/>
              </a:rPr>
              <a:t>НАШ SIAS · ціль за моделлю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27248" y="3826763"/>
            <a:ext cx="1346661" cy="210312"/>
          </a:xfrm>
          <a:prstGeom prst="rect">
            <a:avLst/>
          </a:prstGeom>
          <a:solidFill>
            <a:srgbClr val="F5A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47061" y="3849624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C4820A"/>
                </a:solidFill>
                <a:latin typeface="Segoe UI"/>
              </a:rPr>
              <a:t>120,00 грн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4219956"/>
            <a:ext cx="2450591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НАШ SIAS · зараз, 33 палети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27248" y="4192524"/>
            <a:ext cx="1819979" cy="210312"/>
          </a:xfrm>
          <a:prstGeom prst="rect">
            <a:avLst/>
          </a:prstGeom>
          <a:solidFill>
            <a:srgbClr val="F8C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020379" y="4215384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162,18 грн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4585716"/>
            <a:ext cx="2450591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НАШ SIAS · зараз, 6 палет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127248" y="4558284"/>
            <a:ext cx="2339061" cy="210312"/>
          </a:xfrm>
          <a:prstGeom prst="rect">
            <a:avLst/>
          </a:prstGeom>
          <a:solidFill>
            <a:srgbClr val="F8C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539461" y="4581144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208,43 грн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03720" y="1645920"/>
            <a:ext cx="47548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ПОРІВНЯННЯ · «ЗАРАЗ» = 33 ПАЛЕТИ, БОНУС 35 %, МАРЖА 20 %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03720" y="1920240"/>
            <a:ext cx="155448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458200" y="1920240"/>
            <a:ext cx="105156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CHOI’S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09760" y="1920240"/>
            <a:ext cx="105156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ЦІЛЬ 120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61320" y="1920240"/>
            <a:ext cx="106984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ЗАРАЗ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03720" y="2103120"/>
            <a:ext cx="15544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303A5D"/>
                </a:solidFill>
                <a:latin typeface="Segoe UI"/>
              </a:rPr>
              <a:t>Ціна, грн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58200" y="2103120"/>
            <a:ext cx="10515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125,20 / 131,50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09760" y="2103120"/>
            <a:ext cx="10515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120,00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61320" y="2103120"/>
            <a:ext cx="106984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162,18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830568" y="2468880"/>
            <a:ext cx="4727448" cy="3931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903720" y="2505456"/>
            <a:ext cx="15544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303A5D"/>
                </a:solidFill>
                <a:latin typeface="Segoe UI"/>
              </a:rPr>
              <a:t>До Choi’s 125,20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58200" y="2505456"/>
            <a:ext cx="10515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—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509760" y="2505456"/>
            <a:ext cx="10515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−4,2 %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61320" y="2505456"/>
            <a:ext cx="106984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+29,5 %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903720" y="2907792"/>
            <a:ext cx="15544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303A5D"/>
                </a:solidFill>
                <a:latin typeface="Segoe UI"/>
              </a:rPr>
              <a:t>До медіани пакета 102,8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458200" y="2907792"/>
            <a:ext cx="10515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+21,8 %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509760" y="2907792"/>
            <a:ext cx="10515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+16,7 %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61320" y="2907792"/>
            <a:ext cx="106984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+57,8 %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830568" y="3273552"/>
            <a:ext cx="4727448" cy="3931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903720" y="3310128"/>
            <a:ext cx="15544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303A5D"/>
                </a:solidFill>
                <a:latin typeface="Segoe UI"/>
              </a:rPr>
              <a:t>Дорожчих у категорії*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58200" y="3310128"/>
            <a:ext cx="10515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13 з 71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509760" y="3310128"/>
            <a:ext cx="10515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18 з 71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61320" y="3310128"/>
            <a:ext cx="106984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3 з 71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КОНКУРЕНТИ · ПОПУЛЯРНІ ПАКЕТИ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Популярні пакети: кожна позиція та її ціна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25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16736"/>
            <a:ext cx="146304" cy="12801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1298448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spc="-10">
                <a:solidFill>
                  <a:srgbClr val="303A5D"/>
                </a:solidFill>
                <a:latin typeface="Segoe UI"/>
              </a:rPr>
              <a:t>Nongshim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09928" y="1316736"/>
            <a:ext cx="146304" cy="12801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911096" y="1298448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spc="-10">
                <a:solidFill>
                  <a:srgbClr val="303A5D"/>
                </a:solidFill>
                <a:latin typeface="Segoe UI"/>
              </a:rPr>
              <a:t>Samyang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75204" y="1316736"/>
            <a:ext cx="146304" cy="12801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76372" y="1298448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spc="-10">
                <a:solidFill>
                  <a:srgbClr val="303A5D"/>
                </a:solidFill>
                <a:latin typeface="Segoe UI"/>
              </a:rPr>
              <a:t>Paldo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85032" y="1316736"/>
            <a:ext cx="146304" cy="12801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86200" y="1298448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spc="-1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72584" y="1316736"/>
            <a:ext cx="146304" cy="128016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73752" y="1298448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spc="-10">
                <a:solidFill>
                  <a:srgbClr val="303A5D"/>
                </a:solidFill>
                <a:latin typeface="Segoe UI"/>
              </a:rPr>
              <a:t>Bibigo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0136" y="1316736"/>
            <a:ext cx="146304" cy="12801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61304" y="1298448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spc="-10">
                <a:solidFill>
                  <a:srgbClr val="303A5D"/>
                </a:solidFill>
                <a:latin typeface="Segoe UI"/>
              </a:rPr>
              <a:t>O'Food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47688" y="1316736"/>
            <a:ext cx="146304" cy="12801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48856" y="1298448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spc="-10">
                <a:solidFill>
                  <a:srgbClr val="303A5D"/>
                </a:solidFill>
                <a:latin typeface="Segoe UI"/>
              </a:rPr>
              <a:t>Otoki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57516" y="1316736"/>
            <a:ext cx="146304" cy="12801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58684" y="1298448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C4820A"/>
                </a:solidFill>
                <a:latin typeface="Segoe UI"/>
              </a:rPr>
              <a:t>SIAS: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7596" y="1298448"/>
            <a:ext cx="3108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C4820A"/>
                </a:solidFill>
                <a:latin typeface="Segoe UI"/>
              </a:rPr>
              <a:t>смуга: ціль 120 → зараз 33 палети → 6 палет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1645920"/>
            <a:ext cx="5440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ПАКЕТ 120 Г · 22 ПОЗИЦІЙ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1828800"/>
            <a:ext cx="5440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68–128 ₴ · до 120 ₴ включно: 20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72968" y="2048256"/>
            <a:ext cx="5486" cy="4142231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462402" y="2020824"/>
            <a:ext cx="13716" cy="4178807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66928" y="2080260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Ottogi · Yeul Ramen дуже гостра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72968" y="2093976"/>
            <a:ext cx="735386" cy="960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963218" y="2075688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68 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2240280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Paldo · Teumsae Ramen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72968" y="2253996"/>
            <a:ext cx="777501" cy="96011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005333" y="2235708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72 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2400300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Nongshim · зі спеціями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72968" y="2414015"/>
            <a:ext cx="793699" cy="9601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021531" y="239572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74 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2560320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Ottogi · Kimchi Ramen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72968" y="2574035"/>
            <a:ext cx="830414" cy="960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058246" y="255574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77 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272033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Ottogi · Jin гостра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72968" y="2734055"/>
            <a:ext cx="903845" cy="960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131677" y="271576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84 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" y="288035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Nongshim · Кімчі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172968" y="2894075"/>
            <a:ext cx="916803" cy="9601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144635" y="287578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85 ₴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304037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Ottogi · Stir-Fry із сиром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72968" y="3054095"/>
            <a:ext cx="961077" cy="960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188909" y="303580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89 ₴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6928" y="320039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Paldo · Hwa Ramyun з гострим перцем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172968" y="3214115"/>
            <a:ext cx="971336" cy="96011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199168" y="319582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90 ₴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336041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Paldo · Kokomen зі смаком курки го…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172968" y="3374135"/>
            <a:ext cx="993473" cy="96011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221305" y="335584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92 ₴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6928" y="352043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Ottogi · Jin гостра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172968" y="3534155"/>
            <a:ext cx="1001032" cy="960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228864" y="351586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93 ₴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6928" y="368045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Ottogi · середньогостра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172968" y="3694175"/>
            <a:ext cx="1001032" cy="960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228864" y="367588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93 ₴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6928" y="384047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Paldo · зі смаком морепродуктів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172968" y="3854195"/>
            <a:ext cx="1003192" cy="96011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231024" y="383590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93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6928" y="400049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Otoki · Cheesy Ramen зі смаком сир…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172968" y="4014215"/>
            <a:ext cx="1024789" cy="96011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252621" y="399592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95 ₴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66928" y="416051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Nongshim · з морепродуктами гостра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172968" y="4174235"/>
            <a:ext cx="1118197" cy="9601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4346029" y="415594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104 ₴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66928" y="432053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Samyang · зі смаком морепродуктів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172968" y="4334255"/>
            <a:ext cx="1166251" cy="960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4394083" y="431596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108 ₴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66928" y="448055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Nongshim · Shin Ramyun зі смаком гост…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172968" y="4494275"/>
            <a:ext cx="1193248" cy="9601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4421080" y="447598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110 ₴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66928" y="464057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Samyang · Ramen з сиром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172968" y="4654295"/>
            <a:ext cx="1206746" cy="960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4434578" y="463600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112 ₴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66928" y="480059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Nongshim · з морепродуктами середньог…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172968" y="4814315"/>
            <a:ext cx="1226724" cy="9601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4454556" y="479602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114 ₴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66928" y="496061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Nongshim · зі спеціями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172968" y="4974335"/>
            <a:ext cx="1263439" cy="9601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4491271" y="495604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117 ₴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66928" y="512063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Nongshim · Kimchi Ramyun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172968" y="5134355"/>
            <a:ext cx="1274238" cy="9601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4502070" y="511606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118 ₴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66928" y="5262371"/>
            <a:ext cx="5440680" cy="292608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603504" y="5276087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1" spc="-10">
                <a:solidFill>
                  <a:srgbClr val="C4820A"/>
                </a:solidFill>
                <a:latin typeface="Segoe UI"/>
              </a:rPr>
              <a:t>SIAS · Vegetable/Spicy/Beef/Chicken 113 г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172968" y="5294375"/>
            <a:ext cx="1295835" cy="109728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4468803" y="5294375"/>
            <a:ext cx="221948" cy="109728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4690751" y="5294375"/>
            <a:ext cx="432892" cy="109728"/>
          </a:xfrm>
          <a:prstGeom prst="rect">
            <a:avLst/>
          </a:prstGeom>
          <a:solidFill>
            <a:srgbClr val="E1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603504" y="5426963"/>
            <a:ext cx="53492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ціль 120 ₴  ·  зараз: 33 палети 141 ₴  ·  6 палет 181 ₴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66928" y="5554979"/>
            <a:ext cx="5440680" cy="292608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603504" y="5568695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1" spc="-10">
                <a:solidFill>
                  <a:srgbClr val="C4820A"/>
                </a:solidFill>
                <a:latin typeface="Segoe UI"/>
              </a:rPr>
              <a:t>SIAS · Gouda Cheese 123 г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172968" y="5586983"/>
            <a:ext cx="1295835" cy="109728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4468803" y="5586983"/>
            <a:ext cx="455453" cy="109728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4924256" y="5586983"/>
            <a:ext cx="499490" cy="109728"/>
          </a:xfrm>
          <a:prstGeom prst="rect">
            <a:avLst/>
          </a:prstGeom>
          <a:solidFill>
            <a:srgbClr val="E1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603504" y="5719571"/>
            <a:ext cx="53492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ціль 120 ₴  ·  зараз: 33 палети 162 ₴  ·  6 палет 208 ₴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66928" y="5865875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Nongshim · зі спеціями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3172968" y="5879591"/>
            <a:ext cx="1349828" cy="9601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4577660" y="5861303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125 ₴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66928" y="6025895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Nongshim · Shin Ramyun з грибами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172968" y="6039611"/>
            <a:ext cx="1386543" cy="9601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4614375" y="6021323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128 ₴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944368" y="6208775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592285" y="6208775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60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240203" y="6208775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120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888121" y="6208775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180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236208" y="1645920"/>
            <a:ext cx="5394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ПАКЕТ 130 Г · 9 ПОЗИЦІЙ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236208" y="1828800"/>
            <a:ext cx="53949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89–205 ₴ · до 120 ₴ включно: 6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842248" y="2048256"/>
            <a:ext cx="5486" cy="186994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10105556" y="2020824"/>
            <a:ext cx="13716" cy="1906524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6236208" y="2080260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Ottogi · Stir-Fry із сиром гостра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8842248" y="2093976"/>
            <a:ext cx="941701" cy="105155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9838813" y="2075688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89 ₴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236208" y="2249424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Paldo · Bibim Men в корейському ст…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8842248" y="2263140"/>
            <a:ext cx="1057033" cy="105155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9954145" y="2244852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100 ₴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236208" y="2418588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Paldo · Stir fried з куркою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8842248" y="2432304"/>
            <a:ext cx="1103060" cy="105155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10000172" y="2414016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104 ₴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236208" y="2587752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Ottogi · Jin Jjambbong Ramen з море…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8842248" y="2601468"/>
            <a:ext cx="1190352" cy="105155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10087464" y="2583180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112 ₴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36208" y="2756916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Paldo · Volcano Carbonara куряча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8842248" y="2770632"/>
            <a:ext cx="1201991" cy="105155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10099103" y="2752344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114 ₴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236208" y="2926080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Samyang · Ramen з сиром гостра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8842248" y="2939796"/>
            <a:ext cx="1217863" cy="105155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10114975" y="2921508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115 ₴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6236208" y="3076956"/>
            <a:ext cx="5394960" cy="310896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6272784" y="3090672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1" spc="-10">
                <a:solidFill>
                  <a:srgbClr val="C4820A"/>
                </a:solidFill>
                <a:latin typeface="Segoe UI"/>
              </a:rPr>
              <a:t>SIAS · Carbonara Spicy 131 г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8842248" y="3108960"/>
            <a:ext cx="1269709" cy="109728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Rectangle 136"/>
          <p:cNvSpPr/>
          <p:nvPr/>
        </p:nvSpPr>
        <p:spPr>
          <a:xfrm>
            <a:off x="10111957" y="3108960"/>
            <a:ext cx="446271" cy="109728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Rectangle 137"/>
          <p:cNvSpPr/>
          <p:nvPr/>
        </p:nvSpPr>
        <p:spPr>
          <a:xfrm>
            <a:off x="10558228" y="3108960"/>
            <a:ext cx="489420" cy="109728"/>
          </a:xfrm>
          <a:prstGeom prst="rect">
            <a:avLst/>
          </a:prstGeom>
          <a:solidFill>
            <a:srgbClr val="E1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6272784" y="3241548"/>
            <a:ext cx="5303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ціль 120 ₴  ·  зараз: 33 палети 162 ₴  ·  6 палет 208 ₴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6236208" y="3406140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Samyang · гостра з сиром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8842248" y="3419856"/>
            <a:ext cx="1470747" cy="105155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10367859" y="3401568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139 ₴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6236208" y="3575304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Nongshim · Шин Black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8842248" y="3589020"/>
            <a:ext cx="1748390" cy="105155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10645502" y="3570732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165 ₴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6236208" y="3744468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Nongshim · Shin Ramyun Black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8842248" y="3758184"/>
            <a:ext cx="2171732" cy="105155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11068844" y="3739896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205 ₴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8613648" y="3936491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9248502" y="3936491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60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9883357" y="3936491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120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0518212" y="3936491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180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6236208" y="4101083"/>
            <a:ext cx="5394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ПАКЕТ 140 Г · 6 ПОЗИЦІЙ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36208" y="4283964"/>
            <a:ext cx="53949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103–138 ₴ · до 120 ₴ включно: 3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8842248" y="4503420"/>
            <a:ext cx="5486" cy="105156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Rectangle 155"/>
          <p:cNvSpPr/>
          <p:nvPr/>
        </p:nvSpPr>
        <p:spPr>
          <a:xfrm>
            <a:off x="10105556" y="4475988"/>
            <a:ext cx="13716" cy="108813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6236208" y="4535423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Samyang · Chacharoni зі смаком чорни…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8842248" y="4549140"/>
            <a:ext cx="1087717" cy="105155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9984829" y="4530851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103 ₴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6236208" y="4704587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Samyang · Buldak Jjajang зі смаком г…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8842248" y="4718303"/>
            <a:ext cx="1148029" cy="105155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10045141" y="4700015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108 ₴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6236208" y="4873751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Nongshim · Chapaghetti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8842248" y="4887467"/>
            <a:ext cx="1269709" cy="105155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10166821" y="4869179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120 ₴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236208" y="5042915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Paldo · Volcano Chicken з куркою д…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8842248" y="5056631"/>
            <a:ext cx="1301452" cy="105155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TextBox 167"/>
          <p:cNvSpPr txBox="1"/>
          <p:nvPr/>
        </p:nvSpPr>
        <p:spPr>
          <a:xfrm>
            <a:off x="10198564" y="5038343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123 ₴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236208" y="521207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Samyang · зі смаком курки дуже гостра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8842248" y="5225795"/>
            <a:ext cx="1445352" cy="105155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TextBox 170"/>
          <p:cNvSpPr txBox="1"/>
          <p:nvPr/>
        </p:nvSpPr>
        <p:spPr>
          <a:xfrm>
            <a:off x="10342464" y="520750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137 ₴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6236208" y="5381243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Samyang · зі смаком курки гостра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8842248" y="5394959"/>
            <a:ext cx="1458049" cy="105155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/>
          <p:cNvSpPr txBox="1"/>
          <p:nvPr/>
        </p:nvSpPr>
        <p:spPr>
          <a:xfrm>
            <a:off x="10355161" y="5376671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138 ₴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8613648" y="5573267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9248502" y="5573267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60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9883357" y="5573267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120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10518212" y="5573267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180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566928" y="6510528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9FA9C4"/>
                </a:solidFill>
                <a:latin typeface="Segoe UI"/>
              </a:rPr>
              <a:t>Каталоги мереж 29.09.2026: медіанна ціна пачки по мережах, де позиція є. Червона лінія — 120 ₴. SIAS: поточна полиця за фінмоделлю, бонус 35 %, маржа 20 %.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КОНКУРЕНТИ · НИЖЧЕ 120 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Ключові конкуренти продаються нижче 120 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389888"/>
            <a:ext cx="6400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ДІАПАЗОН ЦІНИ ПАЧКИ ПО МЕРЕЖАХ, ₴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45920"/>
            <a:ext cx="146304" cy="12801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1627632"/>
            <a:ext cx="15316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-10">
                <a:solidFill>
                  <a:srgbClr val="303A5D"/>
                </a:solidFill>
                <a:latin typeface="Segoe UI"/>
              </a:rPr>
              <a:t>дешевше за ціль 120 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74036" y="1645920"/>
            <a:ext cx="146304" cy="12801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75204" y="1627632"/>
            <a:ext cx="11201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-10">
                <a:solidFill>
                  <a:srgbClr val="303A5D"/>
                </a:solidFill>
                <a:latin typeface="Segoe UI"/>
              </a:rPr>
              <a:t>дорожче за ціль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06587" y="2167128"/>
            <a:ext cx="568462" cy="3749039"/>
          </a:xfrm>
          <a:prstGeom prst="rect">
            <a:avLst/>
          </a:prstGeom>
          <a:solidFill>
            <a:srgbClr val="FDF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960453" y="2167128"/>
            <a:ext cx="730595" cy="3749039"/>
          </a:xfrm>
          <a:prstGeom prst="rect">
            <a:avLst/>
          </a:prstGeom>
          <a:solidFill>
            <a:srgbClr val="F6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788920" y="2212848"/>
            <a:ext cx="5486" cy="37033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514600" y="59618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60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14700" y="2212848"/>
            <a:ext cx="5486" cy="37033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040380" y="59618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80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79" y="2212848"/>
            <a:ext cx="5486" cy="37033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66159" y="59618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66260" y="2212848"/>
            <a:ext cx="5486" cy="37033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091940" y="59618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120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92040" y="2212848"/>
            <a:ext cx="5486" cy="37033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17720" y="59618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140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17819" y="2212848"/>
            <a:ext cx="5486" cy="37033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143499" y="59618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160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2212848"/>
            <a:ext cx="5486" cy="37033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69280" y="59618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180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69380" y="2212848"/>
            <a:ext cx="5486" cy="37033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95060" y="59618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200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95159" y="2212848"/>
            <a:ext cx="5486" cy="37033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720840" y="59618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220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2249424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Samyang Buldak 2× spicy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2432304"/>
            <a:ext cx="21945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140 г · 10 мереж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77691" y="2322576"/>
            <a:ext cx="888568" cy="1828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366260" y="2322576"/>
            <a:ext cx="814958" cy="18288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563291" y="2221991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1E9EA6"/>
                </a:solidFill>
                <a:latin typeface="Segoe UI"/>
              </a:rPr>
              <a:t>86 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88971" y="2395728"/>
            <a:ext cx="114300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Onde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36082" y="2221991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151 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36082" y="2395728"/>
            <a:ext cx="100584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«Восторг»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2660904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Nongshim Chapaghetti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2843784"/>
            <a:ext cx="21945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140 г · 6 мереж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551300" y="2734056"/>
            <a:ext cx="814959" cy="1828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366260" y="2734056"/>
            <a:ext cx="420623" cy="18288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636900" y="2633472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1E9EA6"/>
                </a:solidFill>
                <a:latin typeface="Segoe UI"/>
              </a:rPr>
              <a:t>89 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62580" y="2807208"/>
            <a:ext cx="114300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41747" y="2633472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136 ₴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41747" y="2807208"/>
            <a:ext cx="100584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«Восторг»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" y="3072384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Samyang Buldak Hot Chicken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6928" y="3255263"/>
            <a:ext cx="21945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140 г · 7 мереж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3828" y="3145536"/>
            <a:ext cx="712431" cy="1828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4366260" y="3145536"/>
            <a:ext cx="946403" cy="18288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2739428" y="3044951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1E9EA6"/>
                </a:solidFill>
                <a:latin typeface="Segoe UI"/>
              </a:rPr>
              <a:t>93 ₴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465108" y="3218688"/>
            <a:ext cx="114300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«Торба»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367527" y="3044951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156 ₴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67527" y="3218688"/>
            <a:ext cx="100584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Grono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6928" y="3483864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Samyang Buldak тушкована курка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6928" y="3666744"/>
            <a:ext cx="21945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145 г · 7 мереж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69601" y="3557016"/>
            <a:ext cx="696658" cy="1828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4366260" y="3557016"/>
            <a:ext cx="1682495" cy="18288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2755201" y="3456432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1E9EA6"/>
                </a:solidFill>
                <a:latin typeface="Segoe UI"/>
              </a:rPr>
              <a:t>94 ₴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480881" y="3630168"/>
            <a:ext cx="114300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03620" y="3456432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184 ₴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03620" y="3630168"/>
            <a:ext cx="100584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NOVUS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6928" y="3895344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Nongshim Рамен зі спеціями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66928" y="4078224"/>
            <a:ext cx="21945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120 г · 7 мереж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795262" y="3968496"/>
            <a:ext cx="570997" cy="1828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4366260" y="3968496"/>
            <a:ext cx="236600" cy="18288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2880862" y="3867911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1E9EA6"/>
                </a:solidFill>
                <a:latin typeface="Segoe UI"/>
              </a:rPr>
              <a:t>98 ₴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606542" y="4041648"/>
            <a:ext cx="114300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METRO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657724" y="3867911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129 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657724" y="4041648"/>
            <a:ext cx="100584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NOVUS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66928" y="4306824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Nongshim Kimchi Ramyun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66928" y="4489704"/>
            <a:ext cx="21945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120 г · 9 мереж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795262" y="4379976"/>
            <a:ext cx="570997" cy="1828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4366260" y="4379976"/>
            <a:ext cx="105155" cy="18288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2880862" y="4279392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1E9EA6"/>
                </a:solidFill>
                <a:latin typeface="Segoe UI"/>
              </a:rPr>
              <a:t>98 ₴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606542" y="4453128"/>
            <a:ext cx="114300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METRO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526279" y="4279392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124 ₴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526279" y="4453128"/>
            <a:ext cx="100584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NOVUS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66928" y="4718304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Samyang Buldak з сиром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66928" y="4901184"/>
            <a:ext cx="21945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130 г · 9 мереж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837851" y="4791456"/>
            <a:ext cx="528408" cy="1828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4366260" y="4791456"/>
            <a:ext cx="814958" cy="18288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2923451" y="4690872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1E9EA6"/>
                </a:solidFill>
                <a:latin typeface="Segoe UI"/>
              </a:rPr>
              <a:t>100 ₴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649131" y="4864608"/>
            <a:ext cx="114300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«ЧудоМаркет»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236082" y="4690872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151 ₴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236082" y="4864608"/>
            <a:ext cx="100584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«Восторг»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66928" y="5129784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Paldo Volcano Carbonara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66928" y="5312664"/>
            <a:ext cx="21945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130 г · 3 мереж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979811" y="5202936"/>
            <a:ext cx="386448" cy="1828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4366260" y="5202936"/>
            <a:ext cx="26288" cy="18288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3065411" y="5102352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1E9EA6"/>
                </a:solidFill>
                <a:latin typeface="Segoe UI"/>
              </a:rPr>
              <a:t>105 ₴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791091" y="5276088"/>
            <a:ext cx="114300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447412" y="5102352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121 ₴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447412" y="5276088"/>
            <a:ext cx="100584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Grono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66928" y="5541264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Nongshim Toomba Spicy &amp; Creamy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66928" y="5724144"/>
            <a:ext cx="21945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137 г · 7 мереж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58067" y="5614416"/>
            <a:ext cx="602018" cy="18288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3743667" y="5513831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131 ₴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469347" y="5687568"/>
            <a:ext cx="114300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«ЧудоМаркет»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314949" y="5513831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154 ₴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314949" y="5687568"/>
            <a:ext cx="100584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Grono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358944" y="2167128"/>
            <a:ext cx="16459" cy="3776472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3451860" y="1965960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B53A3A"/>
                </a:solidFill>
                <a:latin typeface="Segoe UI"/>
              </a:rPr>
              <a:t>ціль 120 ₴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924875" y="1965960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C4820A"/>
                </a:solidFill>
                <a:latin typeface="Segoe UI"/>
              </a:rPr>
              <a:t>зараз · 33 палети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978741" y="1965960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B53A3A"/>
                </a:solidFill>
                <a:latin typeface="Segoe UI"/>
              </a:rPr>
              <a:t>зараз · 6 палет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001000" y="1389888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АКЦІЇ: ЗВИЧАЙНА ЦІНА → АКЦІЙНА, ₴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001000" y="1645920"/>
            <a:ext cx="146304" cy="12801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8202168" y="1627632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-10">
                <a:solidFill>
                  <a:srgbClr val="303A5D"/>
                </a:solidFill>
                <a:latin typeface="Segoe UI"/>
              </a:rPr>
              <a:t>звичайна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9116568" y="1645920"/>
            <a:ext cx="146304" cy="12801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9317736" y="1627632"/>
            <a:ext cx="5715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-10">
                <a:solidFill>
                  <a:srgbClr val="303A5D"/>
                </a:solidFill>
                <a:latin typeface="Segoe UI"/>
              </a:rPr>
              <a:t>акційна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01000" y="2084831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Samyang Buldak курка та сир · 140 г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001000" y="2286000"/>
            <a:ext cx="2847152" cy="13716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10903016" y="2267712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174 ₴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8001000" y="2450591"/>
            <a:ext cx="1472501" cy="13716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9528365" y="2432303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C4820A"/>
                </a:solidFill>
                <a:latin typeface="Segoe UI"/>
              </a:rPr>
              <a:t>90 ₴  (−48 %) · «Сільпо»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001000" y="2724911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Samyang Buldak карбонара · 130 г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8001000" y="2926079"/>
            <a:ext cx="2847152" cy="13716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10903016" y="2907791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174 ₴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8001000" y="3090671"/>
            <a:ext cx="1472501" cy="13716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9528365" y="3072383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C4820A"/>
                </a:solidFill>
                <a:latin typeface="Segoe UI"/>
              </a:rPr>
              <a:t>90 ₴  (−48 %) · «Сільпо»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001000" y="3364991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Samyang · Ramen зі смаком курки з… · 135 г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8001000" y="3566160"/>
            <a:ext cx="2909332" cy="13716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10965196" y="3547872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178 ₴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8001000" y="3730752"/>
            <a:ext cx="1775379" cy="13716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9831243" y="3712463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C4820A"/>
                </a:solidFill>
                <a:latin typeface="Segoe UI"/>
              </a:rPr>
              <a:t>108 ₴  (−39 %) · Ашан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001000" y="4005072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Samyang · зі смаком курки гостра · 140 г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8001000" y="4206240"/>
            <a:ext cx="2364445" cy="13716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10420309" y="4187952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144 ₴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8001000" y="4370832"/>
            <a:ext cx="1520117" cy="13716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9575981" y="4352544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C4820A"/>
                </a:solidFill>
                <a:latin typeface="Segoe UI"/>
              </a:rPr>
              <a:t>93 ₴  (−36 %) · «Торба»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001000" y="4645152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Nongshim · Soon Veggie Ramyun овоч… · 112 г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8001000" y="4846320"/>
            <a:ext cx="1564297" cy="13716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9620161" y="4828032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96 ₴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001000" y="5010912"/>
            <a:ext cx="1202676" cy="13716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9258540" y="4992624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C4820A"/>
                </a:solidFill>
                <a:latin typeface="Segoe UI"/>
              </a:rPr>
              <a:t>74 ₴  (−23 %) · Ашан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8001000" y="5285232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Ottogi · Jin Jjambbong Ramen з м… · 130 г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8001000" y="5486400"/>
            <a:ext cx="2393899" cy="13716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10449763" y="5468112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146 ₴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8001000" y="5650992"/>
            <a:ext cx="1840831" cy="13716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9896695" y="5632704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C4820A"/>
                </a:solidFill>
                <a:latin typeface="Segoe UI"/>
              </a:rPr>
              <a:t>112 ₴  (−23 %) · Ашан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566928" y="6437376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9FA9C4"/>
                </a:solidFill>
                <a:latin typeface="Segoe UI"/>
              </a:rPr>
              <a:t>Каталоги мереж 29.09.2026: ціна позиції в мережі (медіана по магазинах); «стара ціна» віддається не всіма мережами, тому акцій насправді більше. Смуги — наша поточна полиця: Vegetable/Spicy/Beef/Chicken (нижня межа) і Gouda/Carbonara (верхня).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ФІНМОДЕЛЬ · 33 ПАЛЕТИ · ФІНАЛЬНІ ЦИФРИ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33 палети: закупівля €0,65–0,75 → €0,54, полиця 120 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27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3566160" cy="93268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298448"/>
            <a:ext cx="45720" cy="93268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1371600"/>
            <a:ext cx="3200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717890"/>
                </a:solidFill>
                <a:latin typeface="Segoe UI"/>
              </a:rPr>
              <a:t>ЗАРАЗ · ПОЛИЦЯ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15544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spc="-10">
                <a:solidFill>
                  <a:srgbClr val="B53A3A"/>
                </a:solidFill>
                <a:latin typeface="Segoe UI"/>
              </a:rPr>
              <a:t>140,55 / 162,18 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1965960"/>
            <a:ext cx="3246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закупівля €0,65 / €0,75 · +17…35 % до цілі 120 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15968" y="1298448"/>
            <a:ext cx="3566160" cy="93268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5968" y="1298448"/>
            <a:ext cx="45720" cy="93268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4568" y="1371600"/>
            <a:ext cx="3200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717890"/>
                </a:solidFill>
                <a:latin typeface="Segoe UI"/>
              </a:rPr>
              <a:t>ЗАПИТ ДО SIAS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15544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1E9EA6"/>
                </a:solidFill>
                <a:latin typeface="Segoe UI"/>
              </a:rPr>
              <a:t>€0,54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1965960"/>
            <a:ext cx="3246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−17 % / −28 % від теперішньої закупівлі (одна ціна для 6 SKU)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65007" y="1298448"/>
            <a:ext cx="3566160" cy="93268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65007" y="1298448"/>
            <a:ext cx="45720" cy="93268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3607" y="1371600"/>
            <a:ext cx="3200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717890"/>
                </a:solidFill>
                <a:latin typeface="Segoe UI"/>
              </a:rPr>
              <a:t>ПІСЛЯ · ПОЛИЦЯ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3607" y="15544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spc="-10">
                <a:solidFill>
                  <a:srgbClr val="1E9EA6"/>
                </a:solidFill>
                <a:latin typeface="Segoe UI"/>
              </a:rPr>
              <a:t>119,86 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3607" y="1965960"/>
            <a:ext cx="3246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бонус 35 % · маржа 20 % · СС 38,53 ₴ · запас 0,14 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54680" y="2395728"/>
            <a:ext cx="1170432" cy="512064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91256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FFFFFF"/>
                </a:solidFill>
                <a:latin typeface="Segoe UI"/>
              </a:rPr>
              <a:t>Закупівля SIAS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91256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BBE1E4"/>
                </a:solidFill>
                <a:latin typeface="Segoe UI"/>
              </a:rPr>
              <a:t>ціна пачки, 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61688" y="2395728"/>
            <a:ext cx="1170432" cy="512064"/>
          </a:xfrm>
          <a:prstGeom prst="rect">
            <a:avLst/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98264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FFFFFF"/>
                </a:solidFill>
                <a:latin typeface="Segoe UI"/>
              </a:rPr>
              <a:t>Собівартість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98264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C7CBD9"/>
                </a:solidFill>
                <a:latin typeface="Segoe UI"/>
              </a:rPr>
              <a:t>повна, в Україні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68696" y="2395728"/>
            <a:ext cx="1170432" cy="51206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05272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FFFFFF"/>
                </a:solidFill>
                <a:latin typeface="Segoe UI"/>
              </a:rPr>
              <a:t>Ціна партнеру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05272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9FA9C4"/>
                </a:solidFill>
                <a:latin typeface="Segoe UI"/>
              </a:rPr>
              <a:t>СС ÷ 0,45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75704" y="2395728"/>
            <a:ext cx="1170432" cy="51206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12280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FFFFFF"/>
                </a:solidFill>
                <a:latin typeface="Segoe UI"/>
              </a:rPr>
              <a:t>Бонус мережі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80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EDD9B5"/>
                </a:solidFill>
                <a:latin typeface="Segoe UI"/>
              </a:rPr>
              <a:t>35 % ціни партнеру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82712" y="2395728"/>
            <a:ext cx="1170432" cy="51206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19288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FFFFFF"/>
                </a:solidFill>
                <a:latin typeface="Segoe UI"/>
              </a:rPr>
              <a:t>Наш прибуток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19288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EDD9B5"/>
                </a:solidFill>
                <a:latin typeface="Segoe UI"/>
              </a:rPr>
              <a:t>20 % ціни партнеру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89720" y="2395728"/>
            <a:ext cx="1170432" cy="512064"/>
          </a:xfrm>
          <a:prstGeom prst="rect">
            <a:avLst/>
          </a:prstGeom>
          <a:solidFill>
            <a:srgbClr val="7C8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26296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FFFFFF"/>
                </a:solidFill>
                <a:latin typeface="Segoe UI"/>
              </a:rPr>
              <a:t>Націнка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26296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D7DAE4"/>
                </a:solidFill>
                <a:latin typeface="Segoe UI"/>
              </a:rPr>
              <a:t>магазину · +40 %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396728" y="2395728"/>
            <a:ext cx="1170432" cy="512064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433304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FFFFFF"/>
                </a:solidFill>
                <a:latin typeface="Segoe UI"/>
              </a:rPr>
              <a:t>ПОЛИЦЯ з ПДВ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33304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E8C3C3"/>
                </a:solidFill>
                <a:latin typeface="Segoe UI"/>
              </a:rPr>
              <a:t>партнеру × 1,40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" y="2962656"/>
            <a:ext cx="2542032" cy="512063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" y="303580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1C2235"/>
                </a:solidFill>
                <a:latin typeface="Segoe UI"/>
              </a:rPr>
              <a:t>ДО · 4 SKU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3264408"/>
            <a:ext cx="2395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Vegetable, Spicy, Beef, Chicken · закупівля €0,65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154680" y="296265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154680" y="296265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154680" y="346557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154680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33,28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154680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€0,650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61688" y="296265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361688" y="296265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361688" y="346557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361688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45,18 ₴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61688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€0,882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568696" y="296265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568696" y="296265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568696" y="346557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568696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100,40 ₴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568696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€1,961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775704" y="296265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775704" y="296265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775704" y="346557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775704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35,14 ₴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75704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€0,686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982712" y="296265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982712" y="296265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982712" y="346557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982712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20,08 ₴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982712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€0,392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189720" y="296265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189720" y="296265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189720" y="346557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189720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40,16 ₴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189720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€0,784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396728" y="2962656"/>
            <a:ext cx="1170432" cy="512063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396728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spc="-10">
                <a:solidFill>
                  <a:srgbClr val="B53A3A"/>
                </a:solidFill>
                <a:latin typeface="Segoe UI"/>
              </a:rPr>
              <a:t>140,55 ₴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396728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€2,745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66928" y="3511296"/>
            <a:ext cx="2542032" cy="512063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58368" y="358444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1C2235"/>
                </a:solidFill>
                <a:latin typeface="Segoe UI"/>
              </a:rPr>
              <a:t>ДО · 2 SKU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58368" y="3813048"/>
            <a:ext cx="2395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Gouda, Carbonara · закупівля €0,75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154680" y="351129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154680" y="351129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154680" y="401421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154680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38,40 ₴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154680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€0,750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361688" y="351129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4361688" y="351129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4361688" y="401421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361688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52,13 ₴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361688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€1,018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568696" y="351129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5568696" y="351129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5568696" y="401421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568696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115,84 ₴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568696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€2,263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775704" y="351129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6775704" y="351129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6775704" y="401421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775704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40,54 ₴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775704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€0,792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982712" y="351129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7982712" y="351129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7982712" y="401421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982712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23,17 ₴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982712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€0,453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9189720" y="351129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189720" y="351129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189720" y="401421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189720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46,34 ₴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189720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€0,905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0396728" y="3511296"/>
            <a:ext cx="1170432" cy="512063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0396728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spc="-10">
                <a:solidFill>
                  <a:srgbClr val="B53A3A"/>
                </a:solidFill>
                <a:latin typeface="Segoe UI"/>
              </a:rPr>
              <a:t>162,18 ₴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396728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€3,168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566928" y="4059936"/>
            <a:ext cx="25420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58368" y="413308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ПІСЛЯ · запит SIAS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58368" y="4361688"/>
            <a:ext cx="2395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усі 6 SKU · закупівля €0,54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154680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154680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27,65 ₴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154680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€0,540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361688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361688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38,53 ₴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361688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€0,752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5568696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5568696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85,62 ₴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568696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€1,672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6775704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6775704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29,97 ₴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775704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€0,585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7982712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982712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17,12 ₴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7982712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€0,334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9189720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9189720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34,25 ₴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9189720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€0,669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0396728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0396728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spc="-10">
                <a:solidFill>
                  <a:srgbClr val="1E9EA6"/>
                </a:solidFill>
                <a:latin typeface="Segoe UI"/>
              </a:rPr>
              <a:t>119,86 ₴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0396728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€2,341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566928" y="4608576"/>
            <a:ext cx="25420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658368" y="4709160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>
                <a:solidFill>
                  <a:srgbClr val="B53A3A"/>
                </a:solidFill>
                <a:latin typeface="Segoe UI"/>
              </a:rPr>
              <a:t>ЗМІНА · ПІСЛЯ − ДО (4 SKU)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3154680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3154680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>
                <a:solidFill>
                  <a:srgbClr val="B53A3A"/>
                </a:solidFill>
                <a:latin typeface="Segoe UI"/>
              </a:rPr>
              <a:t>−5,63 ₴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154680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−€0,110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4361688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4361688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>
                <a:solidFill>
                  <a:srgbClr val="B53A3A"/>
                </a:solidFill>
                <a:latin typeface="Segoe UI"/>
              </a:rPr>
              <a:t>−6,65 ₴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361688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−€0,130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5568696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5568696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>
                <a:solidFill>
                  <a:srgbClr val="B53A3A"/>
                </a:solidFill>
                <a:latin typeface="Segoe UI"/>
              </a:rPr>
              <a:t>−14,78 ₴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568696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−€0,289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6775704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6775704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>
                <a:solidFill>
                  <a:srgbClr val="B53A3A"/>
                </a:solidFill>
                <a:latin typeface="Segoe UI"/>
              </a:rPr>
              <a:t>−5,17 ₴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775704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−€0,101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7982712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7982712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>
                <a:solidFill>
                  <a:srgbClr val="B53A3A"/>
                </a:solidFill>
                <a:latin typeface="Segoe UI"/>
              </a:rPr>
              <a:t>−2,96 ₴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7982712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−€0,058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9189720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9189720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>
                <a:solidFill>
                  <a:srgbClr val="B53A3A"/>
                </a:solidFill>
                <a:latin typeface="Segoe UI"/>
              </a:rPr>
              <a:t>−5,91 ₴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9189720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−€0,115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10396728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10396728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>
                <a:solidFill>
                  <a:srgbClr val="B53A3A"/>
                </a:solidFill>
                <a:latin typeface="Segoe UI"/>
              </a:rPr>
              <a:t>−20,69 ₴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396728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−€0,404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566928" y="5084064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ЗАКУПІВЛЯ SIAS ПО ПОЗИЦІЯХ · ЗАРАЗ → ЗАПИТ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566928" y="5303520"/>
            <a:ext cx="1764792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566928" y="5303520"/>
            <a:ext cx="1764792" cy="3657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658368" y="539496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Vegetable Flavor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58368" y="555955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113 г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58368" y="57241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1C2235"/>
                </a:solidFill>
                <a:latin typeface="Segoe UI"/>
              </a:rPr>
              <a:t>€0,65 → €0,54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1810512" y="5742432"/>
            <a:ext cx="457200" cy="20116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1810512" y="576986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−17 %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2418588" y="5303520"/>
            <a:ext cx="1764792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2418588" y="5303520"/>
            <a:ext cx="1764792" cy="3657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2510028" y="539496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Spicy Flavor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2510028" y="555955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112,5 г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2510028" y="57241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1C2235"/>
                </a:solidFill>
                <a:latin typeface="Segoe UI"/>
              </a:rPr>
              <a:t>€0,65 → €0,54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3662172" y="5742432"/>
            <a:ext cx="457200" cy="20116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3662172" y="576986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−17 %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4270248" y="5303520"/>
            <a:ext cx="1764792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4270248" y="5303520"/>
            <a:ext cx="1764792" cy="3657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4361688" y="539496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Beef Flavor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4361688" y="555955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113 г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4361688" y="57241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1C2235"/>
                </a:solidFill>
                <a:latin typeface="Segoe UI"/>
              </a:rPr>
              <a:t>€0,65 → €0,54</a:t>
            </a:r>
          </a:p>
        </p:txBody>
      </p:sp>
      <p:sp>
        <p:nvSpPr>
          <p:cNvPr id="184" name="Rounded Rectangle 183"/>
          <p:cNvSpPr/>
          <p:nvPr/>
        </p:nvSpPr>
        <p:spPr>
          <a:xfrm>
            <a:off x="5513832" y="5742432"/>
            <a:ext cx="457200" cy="20116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5513832" y="576986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−17 %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6121907" y="5303520"/>
            <a:ext cx="1764792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6121907" y="5303520"/>
            <a:ext cx="1764792" cy="3657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6213347" y="539496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Chicken Flavor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6213347" y="555955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113 г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6213347" y="57241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1C2235"/>
                </a:solidFill>
                <a:latin typeface="Segoe UI"/>
              </a:rPr>
              <a:t>€0,65 → €0,54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7365492" y="5742432"/>
            <a:ext cx="457200" cy="20116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7365492" y="576986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−17 %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7973567" y="5303520"/>
            <a:ext cx="1764792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7973567" y="5303520"/>
            <a:ext cx="1764792" cy="3657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8065007" y="539496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Gouda Cheese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8065007" y="555955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123 г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8065007" y="57241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1C2235"/>
                </a:solidFill>
                <a:latin typeface="Segoe UI"/>
              </a:rPr>
              <a:t>€0,75 → €0,54</a:t>
            </a:r>
          </a:p>
        </p:txBody>
      </p:sp>
      <p:sp>
        <p:nvSpPr>
          <p:cNvPr id="198" name="Rounded Rectangle 197"/>
          <p:cNvSpPr/>
          <p:nvPr/>
        </p:nvSpPr>
        <p:spPr>
          <a:xfrm>
            <a:off x="9217151" y="5742432"/>
            <a:ext cx="457200" cy="20116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9217151" y="576986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−28 %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9825228" y="5303520"/>
            <a:ext cx="1764792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9825228" y="5303520"/>
            <a:ext cx="1764792" cy="3657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9916667" y="539496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Carbonara Spicy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9916667" y="555955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131 г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9916667" y="57241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1C2235"/>
                </a:solidFill>
                <a:latin typeface="Segoe UI"/>
              </a:rPr>
              <a:t>€0,75 → €0,54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11068811" y="5742432"/>
            <a:ext cx="457200" cy="20116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11068811" y="576986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−28 %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566928" y="644652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0" spc="-10">
                <a:solidFill>
                  <a:srgbClr val="9FA9C4"/>
                </a:solidFill>
                <a:latin typeface="Segoe UI"/>
              </a:rPr>
              <a:t>Курс 51,20 ₴/€. Ціна партнеру = СС ÷ (1 − бонус 35 % − маржа 20 %), полиця = ціна партнеру × 1,40; усі ціни з ПДВ, за пачку. Собівартість «до» — з Self-Cost; «після» — за запитом €0,54. Джерело: RAMEN_FINMODEL_4_TABS, вкладка «Цена 120 грн — 33 паллет». Згоди SIAS немає — ціна для переговорів.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ФІНМОДЕЛЬ · 6 ПАЛЕТ · ФІНАЛЬНІ ЦИФРИ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6 палет: закупівля €0,65–0,75 → €0,32, полиця 120 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28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3566160" cy="93268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298448"/>
            <a:ext cx="45720" cy="93268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1371600"/>
            <a:ext cx="3200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717890"/>
                </a:solidFill>
                <a:latin typeface="Segoe UI"/>
              </a:rPr>
              <a:t>ЗАРАЗ · ПОЛИЦЯ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15544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spc="-10">
                <a:solidFill>
                  <a:srgbClr val="B53A3A"/>
                </a:solidFill>
                <a:latin typeface="Segoe UI"/>
              </a:rPr>
              <a:t>180,64 / 208,43 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1965960"/>
            <a:ext cx="3246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закупівля €0,65 / €0,75 · +51…74 % до цілі 120 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15968" y="1298448"/>
            <a:ext cx="3566160" cy="93268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5968" y="1298448"/>
            <a:ext cx="45720" cy="93268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4568" y="1371600"/>
            <a:ext cx="3200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717890"/>
                </a:solidFill>
                <a:latin typeface="Segoe UI"/>
              </a:rPr>
              <a:t>ЗАПИТ ДО SIAS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15544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B53A3A"/>
                </a:solidFill>
                <a:latin typeface="Segoe UI"/>
              </a:rPr>
              <a:t>€0,32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1965960"/>
            <a:ext cx="3246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−51 % / −57 % від теперішньої закупівлі (одна ціна для 6 SKU)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65007" y="1298448"/>
            <a:ext cx="3566160" cy="93268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65007" y="1298448"/>
            <a:ext cx="45720" cy="93268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3607" y="1371600"/>
            <a:ext cx="3200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717890"/>
                </a:solidFill>
                <a:latin typeface="Segoe UI"/>
              </a:rPr>
              <a:t>ПІСЛЯ · ПОЛИЦЯ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3607" y="15544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spc="-10">
                <a:solidFill>
                  <a:srgbClr val="1E9EA6"/>
                </a:solidFill>
                <a:latin typeface="Segoe UI"/>
              </a:rPr>
              <a:t>118,72 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3607" y="1965960"/>
            <a:ext cx="3246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бонус 35 % · маржа 20 % · СС 38,16 ₴ · запас 1,28 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54680" y="2395728"/>
            <a:ext cx="1170432" cy="512064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91256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FFFFFF"/>
                </a:solidFill>
                <a:latin typeface="Segoe UI"/>
              </a:rPr>
              <a:t>Закупівля SIAS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91256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BBE1E4"/>
                </a:solidFill>
                <a:latin typeface="Segoe UI"/>
              </a:rPr>
              <a:t>ціна пачки, 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61688" y="2395728"/>
            <a:ext cx="1170432" cy="512064"/>
          </a:xfrm>
          <a:prstGeom prst="rect">
            <a:avLst/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98264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FFFFFF"/>
                </a:solidFill>
                <a:latin typeface="Segoe UI"/>
              </a:rPr>
              <a:t>Собівартість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98264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C7CBD9"/>
                </a:solidFill>
                <a:latin typeface="Segoe UI"/>
              </a:rPr>
              <a:t>повна, в Україні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68696" y="2395728"/>
            <a:ext cx="1170432" cy="51206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05272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FFFFFF"/>
                </a:solidFill>
                <a:latin typeface="Segoe UI"/>
              </a:rPr>
              <a:t>Ціна партнеру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05272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9FA9C4"/>
                </a:solidFill>
                <a:latin typeface="Segoe UI"/>
              </a:rPr>
              <a:t>СС ÷ 0,45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75704" y="2395728"/>
            <a:ext cx="1170432" cy="51206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12280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FFFFFF"/>
                </a:solidFill>
                <a:latin typeface="Segoe UI"/>
              </a:rPr>
              <a:t>Бонус мережі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80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EDD9B5"/>
                </a:solidFill>
                <a:latin typeface="Segoe UI"/>
              </a:rPr>
              <a:t>35 % ціни партнеру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82712" y="2395728"/>
            <a:ext cx="1170432" cy="51206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19288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FFFFFF"/>
                </a:solidFill>
                <a:latin typeface="Segoe UI"/>
              </a:rPr>
              <a:t>Наш прибуток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19288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EDD9B5"/>
                </a:solidFill>
                <a:latin typeface="Segoe UI"/>
              </a:rPr>
              <a:t>20 % ціни партнеру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89720" y="2395728"/>
            <a:ext cx="1170432" cy="512064"/>
          </a:xfrm>
          <a:prstGeom prst="rect">
            <a:avLst/>
          </a:prstGeom>
          <a:solidFill>
            <a:srgbClr val="7C8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26296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FFFFFF"/>
                </a:solidFill>
                <a:latin typeface="Segoe UI"/>
              </a:rPr>
              <a:t>Націнка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26296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D7DAE4"/>
                </a:solidFill>
                <a:latin typeface="Segoe UI"/>
              </a:rPr>
              <a:t>магазину · +40 %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396728" y="2395728"/>
            <a:ext cx="1170432" cy="512064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433304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FFFFFF"/>
                </a:solidFill>
                <a:latin typeface="Segoe UI"/>
              </a:rPr>
              <a:t>ПОЛИЦЯ з ПДВ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33304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E8C3C3"/>
                </a:solidFill>
                <a:latin typeface="Segoe UI"/>
              </a:rPr>
              <a:t>партнеру × 1,40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" y="2962656"/>
            <a:ext cx="2542032" cy="512063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" y="303580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1C2235"/>
                </a:solidFill>
                <a:latin typeface="Segoe UI"/>
              </a:rPr>
              <a:t>ДО · 4 SKU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3264408"/>
            <a:ext cx="2395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Vegetable, Spicy, Beef, Chicken · закупівля €0,65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154680" y="296265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154680" y="296265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154680" y="346557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154680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33,28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154680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€0,650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61688" y="296265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361688" y="296265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361688" y="346557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361688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58,06 ₴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61688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€1,134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568696" y="296265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568696" y="296265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568696" y="346557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568696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129,03 ₴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568696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€2,520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775704" y="296265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775704" y="296265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775704" y="346557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775704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45,16 ₴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75704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€0,882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982712" y="296265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982712" y="296265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982712" y="346557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982712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25,81 ₴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982712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€0,504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189720" y="296265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189720" y="296265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189720" y="346557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189720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51,61 ₴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189720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€1,008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396728" y="2962656"/>
            <a:ext cx="1170432" cy="512063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396728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spc="-10">
                <a:solidFill>
                  <a:srgbClr val="B53A3A"/>
                </a:solidFill>
                <a:latin typeface="Segoe UI"/>
              </a:rPr>
              <a:t>180,64 ₴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396728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€3,528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66928" y="3511296"/>
            <a:ext cx="2542032" cy="512063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58368" y="358444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1C2235"/>
                </a:solidFill>
                <a:latin typeface="Segoe UI"/>
              </a:rPr>
              <a:t>ДО · 2 SKU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58368" y="3813048"/>
            <a:ext cx="2395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Gouda, Carbonara · закупівля €0,75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154680" y="351129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154680" y="351129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154680" y="401421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154680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38,40 ₴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154680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€0,750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361688" y="351129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4361688" y="351129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4361688" y="401421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361688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67,00 ₴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361688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€1,309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568696" y="351129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5568696" y="351129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5568696" y="401421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568696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148,88 ₴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568696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€2,908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775704" y="351129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6775704" y="351129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6775704" y="401421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775704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52,11 ₴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775704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€1,018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982712" y="351129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7982712" y="351129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7982712" y="401421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982712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29,78 ₴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982712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€0,582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9189720" y="351129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189720" y="351129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189720" y="401421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189720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59,55 ₴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189720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€1,163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0396728" y="3511296"/>
            <a:ext cx="1170432" cy="512063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0396728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spc="-10">
                <a:solidFill>
                  <a:srgbClr val="B53A3A"/>
                </a:solidFill>
                <a:latin typeface="Segoe UI"/>
              </a:rPr>
              <a:t>208,43 ₴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396728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€4,071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566928" y="4059936"/>
            <a:ext cx="25420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58368" y="413308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ПІСЛЯ · запит SIAS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58368" y="4361688"/>
            <a:ext cx="2395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усі 6 SKU · закупівля €0,32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154680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154680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16,38 ₴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154680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€0,320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361688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361688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38,16 ₴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361688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€0,745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5568696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5568696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84,80 ₴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568696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€1,656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6775704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6775704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29,68 ₴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775704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€0,580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7982712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982712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16,96 ₴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7982712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€0,331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9189720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9189720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33,92 ₴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9189720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€0,662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0396728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0396728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spc="-10">
                <a:solidFill>
                  <a:srgbClr val="1E9EA6"/>
                </a:solidFill>
                <a:latin typeface="Segoe UI"/>
              </a:rPr>
              <a:t>118,72 ₴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0396728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€2,319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566928" y="4608576"/>
            <a:ext cx="25420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658368" y="4709160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>
                <a:solidFill>
                  <a:srgbClr val="B53A3A"/>
                </a:solidFill>
                <a:latin typeface="Segoe UI"/>
              </a:rPr>
              <a:t>ЗМІНА · ПІСЛЯ − ДО (4 SKU)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3154680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3154680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>
                <a:solidFill>
                  <a:srgbClr val="B53A3A"/>
                </a:solidFill>
                <a:latin typeface="Segoe UI"/>
              </a:rPr>
              <a:t>−16,90 ₴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154680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−€0,330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4361688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4361688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>
                <a:solidFill>
                  <a:srgbClr val="B53A3A"/>
                </a:solidFill>
                <a:latin typeface="Segoe UI"/>
              </a:rPr>
              <a:t>−19,90 ₴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361688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−€0,389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5568696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5568696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>
                <a:solidFill>
                  <a:srgbClr val="B53A3A"/>
                </a:solidFill>
                <a:latin typeface="Segoe UI"/>
              </a:rPr>
              <a:t>−44,23 ₴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568696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−€0,864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6775704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6775704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>
                <a:solidFill>
                  <a:srgbClr val="B53A3A"/>
                </a:solidFill>
                <a:latin typeface="Segoe UI"/>
              </a:rPr>
              <a:t>−15,48 ₴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775704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−€0,302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7982712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7982712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>
                <a:solidFill>
                  <a:srgbClr val="B53A3A"/>
                </a:solidFill>
                <a:latin typeface="Segoe UI"/>
              </a:rPr>
              <a:t>−8,85 ₴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7982712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−€0,173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9189720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9189720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>
                <a:solidFill>
                  <a:srgbClr val="B53A3A"/>
                </a:solidFill>
                <a:latin typeface="Segoe UI"/>
              </a:rPr>
              <a:t>−17,69 ₴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9189720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−€0,346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10396728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10396728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>
                <a:solidFill>
                  <a:srgbClr val="B53A3A"/>
                </a:solidFill>
                <a:latin typeface="Segoe UI"/>
              </a:rPr>
              <a:t>−61,92 ₴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396728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−€1,209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566928" y="5084064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ЗАКУПІВЛЯ SIAS ПО ПОЗИЦІЯХ · ЗАРАЗ → ЗАПИТ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566928" y="5303520"/>
            <a:ext cx="1764792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566928" y="5303520"/>
            <a:ext cx="1764792" cy="3657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658368" y="539496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Vegetable Flavor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58368" y="555955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113 г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58368" y="57241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1C2235"/>
                </a:solidFill>
                <a:latin typeface="Segoe UI"/>
              </a:rPr>
              <a:t>€0,65 → €0,32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1810512" y="5742432"/>
            <a:ext cx="457200" cy="201168"/>
          </a:xfrm>
          <a:prstGeom prst="roundRect">
            <a:avLst>
              <a:gd name="adj" fmla="val 30000"/>
            </a:avLst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1810512" y="576986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−51 %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2418588" y="5303520"/>
            <a:ext cx="1764792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2418588" y="5303520"/>
            <a:ext cx="1764792" cy="3657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2510028" y="539496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Spicy Flavor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2510028" y="555955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112,5 г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2510028" y="57241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1C2235"/>
                </a:solidFill>
                <a:latin typeface="Segoe UI"/>
              </a:rPr>
              <a:t>€0,65 → €0,32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3662172" y="5742432"/>
            <a:ext cx="457200" cy="201168"/>
          </a:xfrm>
          <a:prstGeom prst="roundRect">
            <a:avLst>
              <a:gd name="adj" fmla="val 30000"/>
            </a:avLst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3662172" y="576986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−51 %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4270248" y="5303520"/>
            <a:ext cx="1764792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4270248" y="5303520"/>
            <a:ext cx="1764792" cy="3657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4361688" y="539496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Beef Flavor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4361688" y="555955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113 г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4361688" y="57241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1C2235"/>
                </a:solidFill>
                <a:latin typeface="Segoe UI"/>
              </a:rPr>
              <a:t>€0,65 → €0,32</a:t>
            </a:r>
          </a:p>
        </p:txBody>
      </p:sp>
      <p:sp>
        <p:nvSpPr>
          <p:cNvPr id="184" name="Rounded Rectangle 183"/>
          <p:cNvSpPr/>
          <p:nvPr/>
        </p:nvSpPr>
        <p:spPr>
          <a:xfrm>
            <a:off x="5513832" y="5742432"/>
            <a:ext cx="457200" cy="201168"/>
          </a:xfrm>
          <a:prstGeom prst="roundRect">
            <a:avLst>
              <a:gd name="adj" fmla="val 30000"/>
            </a:avLst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5513832" y="576986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−51 %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6121907" y="5303520"/>
            <a:ext cx="1764792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6121907" y="5303520"/>
            <a:ext cx="1764792" cy="3657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6213347" y="539496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Chicken Flavor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6213347" y="555955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113 г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6213347" y="57241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1C2235"/>
                </a:solidFill>
                <a:latin typeface="Segoe UI"/>
              </a:rPr>
              <a:t>€0,65 → €0,32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7365492" y="5742432"/>
            <a:ext cx="457200" cy="201168"/>
          </a:xfrm>
          <a:prstGeom prst="roundRect">
            <a:avLst>
              <a:gd name="adj" fmla="val 30000"/>
            </a:avLst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7365492" y="576986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−51 %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7973567" y="5303520"/>
            <a:ext cx="1764792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7973567" y="5303520"/>
            <a:ext cx="1764792" cy="3657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8065007" y="539496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Gouda Cheese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8065007" y="555955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123 г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8065007" y="57241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1C2235"/>
                </a:solidFill>
                <a:latin typeface="Segoe UI"/>
              </a:rPr>
              <a:t>€0,75 → €0,32</a:t>
            </a:r>
          </a:p>
        </p:txBody>
      </p:sp>
      <p:sp>
        <p:nvSpPr>
          <p:cNvPr id="198" name="Rounded Rectangle 197"/>
          <p:cNvSpPr/>
          <p:nvPr/>
        </p:nvSpPr>
        <p:spPr>
          <a:xfrm>
            <a:off x="9217151" y="5742432"/>
            <a:ext cx="457200" cy="201168"/>
          </a:xfrm>
          <a:prstGeom prst="roundRect">
            <a:avLst>
              <a:gd name="adj" fmla="val 30000"/>
            </a:avLst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9217151" y="576986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−57 %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9825228" y="5303520"/>
            <a:ext cx="1764792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9825228" y="5303520"/>
            <a:ext cx="1764792" cy="3657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9916667" y="539496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Carbonara Spicy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9916667" y="555955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131 г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9916667" y="57241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1C2235"/>
                </a:solidFill>
                <a:latin typeface="Segoe UI"/>
              </a:rPr>
              <a:t>€0,75 → €0,32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11068811" y="5742432"/>
            <a:ext cx="457200" cy="201168"/>
          </a:xfrm>
          <a:prstGeom prst="roundRect">
            <a:avLst>
              <a:gd name="adj" fmla="val 30000"/>
            </a:avLst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11068811" y="576986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−57 %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566928" y="644652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0" spc="-10">
                <a:solidFill>
                  <a:srgbClr val="9FA9C4"/>
                </a:solidFill>
                <a:latin typeface="Segoe UI"/>
              </a:rPr>
              <a:t>Курс 51,20 ₴/€. Ціна партнеру = СС ÷ (1 − бонус 35 % − маржа 20 %), полиця = ціна партнеру × 1,40; усі ціни з ПДВ, за пачку. Собівартість «до» — з Self-Cost; «після» — за запитом €0,32. Джерело: RAMEN_FINMODEL_4_TABS, вкладка «Цена 120 грн — 6 паллет». Згоди SIAS немає — ціна для переговорів.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ЧУТЛИВІСТЬ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Яка закупівля потрібна при іншій полиці й іншій маржі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Максимальна ціна закупівлі, €/пачку, при бонусі мережі 35 %. Колір — порівняння з поточною ціною SIAS: €0,75 (Gouda, Carbonara) і €0,65 (решта).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27632"/>
            <a:ext cx="5394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1" spc="-10">
                <a:solidFill>
                  <a:srgbClr val="1E9EA6"/>
                </a:solidFill>
                <a:latin typeface="Segoe UI"/>
              </a:rPr>
              <a:t>33 ПАЛЕТИ · ПОВНА МАШИНА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938528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1" spc="-10">
                <a:solidFill>
                  <a:srgbClr val="717890"/>
                </a:solidFill>
                <a:latin typeface="Segoe UI"/>
              </a:rPr>
              <a:t>МАРЖА \ ПОЛИЦЯ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1920240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105 грн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9152" y="1920240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110 грн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36976" y="1920240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B53A3A"/>
                </a:solidFill>
                <a:latin typeface="Segoe UI"/>
              </a:rPr>
              <a:t>120 грн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1920240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130 грн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92624" y="1920240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140 грн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2286000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30 %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08760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2322576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€0,34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86584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86584" y="2322576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€0,36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64408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64408" y="2322576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€0,40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42232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42232" y="2322576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€0,44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0056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0056" y="2322576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€0,48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2798064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25 %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08760" y="2715768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08760" y="2834640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€0,40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86584" y="2715768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86584" y="2834640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€0,42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64408" y="2715768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64408" y="2834640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€0,47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42232" y="2715768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42232" y="2834640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€0,51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0056" y="2715768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0056" y="2834640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€0,56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3310128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B53A3A"/>
                </a:solidFill>
                <a:latin typeface="Segoe UI"/>
              </a:rPr>
              <a:t>20 %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508760" y="3227832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508760" y="3346704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€0,46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386584" y="3227832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386584" y="3346704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€0,48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64408" y="3227832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64408" y="3346704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€0,54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64408" y="3227832"/>
            <a:ext cx="822959" cy="3657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264408" y="3648455"/>
            <a:ext cx="822959" cy="3657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264408" y="3227832"/>
            <a:ext cx="36576" cy="45720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050791" y="3227832"/>
            <a:ext cx="36576" cy="45720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142232" y="3227832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42232" y="3346704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€0,59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0056" y="3227832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20056" y="3346704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€0,64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3822192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15 %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508760" y="3739896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508760" y="3858768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€0,52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386584" y="3739896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386584" y="3858768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€0,55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64408" y="3739896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64408" y="3858768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€0,60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142232" y="3739896"/>
            <a:ext cx="822959" cy="457200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42232" y="3858768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€0,66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020056" y="3739896"/>
            <a:ext cx="822959" cy="457200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020056" y="3858768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€0,72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6928" y="4334256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10 %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508760" y="4251960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508760" y="4370832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€0,58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386584" y="4251960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386584" y="4370832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€0,61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264408" y="4251960"/>
            <a:ext cx="822959" cy="457200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264408" y="4370832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€0,67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142232" y="4251960"/>
            <a:ext cx="822959" cy="457200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142232" y="4370832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€0,73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020056" y="4251960"/>
            <a:ext cx="822959" cy="45720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020056" y="4370832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FFFFFF"/>
                </a:solidFill>
                <a:latin typeface="Segoe UI"/>
              </a:rPr>
              <a:t>€0,80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17920" y="1627632"/>
            <a:ext cx="5394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1" spc="-10">
                <a:solidFill>
                  <a:srgbClr val="B53A3A"/>
                </a:solidFill>
                <a:latin typeface="Segoe UI"/>
              </a:rPr>
              <a:t>6 ПАЛЕТ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217920" y="1938528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1" spc="-10">
                <a:solidFill>
                  <a:srgbClr val="717890"/>
                </a:solidFill>
                <a:latin typeface="Segoe UI"/>
              </a:rPr>
              <a:t>МАРЖА \ ПОЛИЦЯ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132320" y="1920240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105 грн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10144" y="1920240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110 грн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87967" y="1920240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B53A3A"/>
                </a:solidFill>
                <a:latin typeface="Segoe UI"/>
              </a:rPr>
              <a:t>120 грн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65792" y="1920240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130 грн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43616" y="1920240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140 грн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217920" y="2286000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30 %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159752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159752" y="2322576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€0,13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037575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037575" y="2322576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€0,15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915399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915399" y="2322576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€0,19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793224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793224" y="2322576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€0,23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671048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0671048" y="2322576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€0,26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217920" y="2798064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25 %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159752" y="2715768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159752" y="2834640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€0,19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037575" y="2715768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037575" y="2834640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€0,21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915399" y="2715768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915399" y="2834640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€0,25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793224" y="2715768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793224" y="2834640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€0,30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671048" y="2715768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0671048" y="2834640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€0,34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217920" y="3310128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B53A3A"/>
                </a:solidFill>
                <a:latin typeface="Segoe UI"/>
              </a:rPr>
              <a:t>20 %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159752" y="3227832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159752" y="3346704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€0,24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8037575" y="3227832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037575" y="3346704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€0,27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915399" y="3227832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915399" y="3346704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€0,32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915399" y="3227832"/>
            <a:ext cx="822959" cy="3657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8915399" y="3648455"/>
            <a:ext cx="822959" cy="3657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8915399" y="3227832"/>
            <a:ext cx="36576" cy="45720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701784" y="3227832"/>
            <a:ext cx="36576" cy="45720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9793224" y="3227832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9793224" y="3346704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€0,37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0671048" y="3227832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0671048" y="3346704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€0,42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217920" y="3822192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15 %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7159752" y="3739896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7159752" y="3858768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€0,30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8037575" y="3739896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8037575" y="3858768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€0,33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8915399" y="3739896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8915399" y="3858768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€0,39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9793224" y="3739896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9793224" y="3858768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€0,45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0671048" y="3739896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0671048" y="3858768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€0,50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217920" y="4334256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10 %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7159752" y="4251960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159752" y="4370832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€0,36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8037575" y="4251960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8037575" y="4370832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€0,40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8915399" y="4251960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8915399" y="4370832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€0,46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9793224" y="4251960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9793224" y="4370832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€0,52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10671048" y="4251960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10671048" y="4370832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€0,58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694944" y="4718304"/>
            <a:ext cx="164592" cy="12801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914400" y="4700016"/>
            <a:ext cx="23774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≥ €0,75 — досяжно для всіх SKU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3419856" y="4718304"/>
            <a:ext cx="164592" cy="128016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3639312" y="4700016"/>
            <a:ext cx="23774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€0,65–0,75 — для чотирьох SKU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6144768" y="4718304"/>
            <a:ext cx="164592" cy="128016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6364224" y="4700016"/>
            <a:ext cx="23774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€0,50–0,65 — потрібне зниження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8869680" y="4718304"/>
            <a:ext cx="164592" cy="128016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9089136" y="4700016"/>
            <a:ext cx="23774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&lt; €0,50 — суттєве зниження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694944" y="4901184"/>
            <a:ext cx="10789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>
                <a:solidFill>
                  <a:srgbClr val="B53A3A"/>
                </a:solidFill>
                <a:latin typeface="Segoe UI"/>
              </a:rPr>
              <a:t>Червона рамка — ціль: полиця 120 грн, бонус мережі 35 %, маржа 20 %.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66928" y="6455664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9FA9C4"/>
                </a:solidFill>
                <a:latin typeface="Segoe UI"/>
              </a:rPr>
              <a:t>Розрахунок за формулою вкладок «Цена 120 грн» (курс 51,20; бонус 35 %; націнка 1,40; фінансування 2,5 %; ПДВ 20 %). Ціна вниз до євроцента.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6507</Words>
  <Application>Microsoft Office PowerPoint</Application>
  <PresentationFormat>Широкий екран</PresentationFormat>
  <Paragraphs>1932</Paragraphs>
  <Slides>29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29</vt:i4>
      </vt:variant>
    </vt:vector>
  </HeadingPairs>
  <TitlesOfParts>
    <vt:vector size="33" baseType="lpstr">
      <vt:lpstr>Arial</vt:lpstr>
      <vt:lpstr>Calibri</vt:lpstr>
      <vt:lpstr>Segoe UI</vt:lpstr>
      <vt:lpstr>Office Theme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Чаплигін lлля</cp:lastModifiedBy>
  <cp:revision>3</cp:revision>
  <dcterms:created xsi:type="dcterms:W3CDTF">2013-01-27T09:14:16Z</dcterms:created>
  <dcterms:modified xsi:type="dcterms:W3CDTF">2026-10-13T12:43:07Z</dcterms:modified>
  <cp:category/>
</cp:coreProperties>
</file>