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Relationship Id="rId13" Type="http://schemas.openxmlformats.org/officeDocument/2006/relationships/image" Target="../media/image46.png"/><Relationship Id="rId14" Type="http://schemas.openxmlformats.org/officeDocument/2006/relationships/image" Target="../media/image47.png"/><Relationship Id="rId15" Type="http://schemas.openxmlformats.org/officeDocument/2006/relationships/image" Target="../media/image48.pn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png"/><Relationship Id="rId19" Type="http://schemas.openxmlformats.org/officeDocument/2006/relationships/image" Target="../media/image52.png"/><Relationship Id="rId20" Type="http://schemas.openxmlformats.org/officeDocument/2006/relationships/image" Target="../media/image5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image" Target="../media/image69.png"/><Relationship Id="rId19" Type="http://schemas.openxmlformats.org/officeDocument/2006/relationships/image" Target="../media/image70.png"/><Relationship Id="rId20" Type="http://schemas.openxmlformats.org/officeDocument/2006/relationships/image" Target="../media/image71.png"/><Relationship Id="rId21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852160"/>
            <a:ext cx="3931920" cy="493776"/>
          </a:xfrm>
          <a:prstGeom prst="roundRect">
            <a:avLst>
              <a:gd name="adj" fmla="val 22000"/>
            </a:avLst>
          </a:prstGeom>
          <a:solidFill>
            <a:srgbClr val="3C4772"/>
          </a:solidFill>
          <a:ln w="9525">
            <a:solidFill>
              <a:srgbClr val="5A67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5989320"/>
            <a:ext cx="219456" cy="219456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59436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MADE IN JAPAN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6163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9FA9C4"/>
                </a:solidFill>
                <a:latin typeface="Segoe UI"/>
              </a:rPr>
              <a:t>Усі 60 брендів і 259 ножів у роботі — японського виробництва</a:t>
            </a:r>
          </a:p>
        </p:txBody>
      </p:sp>
      <p:pic>
        <p:nvPicPr>
          <p:cNvPr id="15" name="Picture 14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51d1ad7b2afeb1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15 слайдів · 17 продавців · 60 японських брендів · 259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 В РОЗДРІБІ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ЗРОБЛЕНО В ЯПОНІЇ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каталогах продавців.
Сумарно 754 позиції.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726–60 495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1 · ГЕОМЕТРІЯ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8" name="Picture 17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2" name="Picture 21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7" name="Picture 26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1" name="Picture 30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6" name="Picture 35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0" name="Picture 39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5" name="Picture 44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2 · СТАЛЬ І РЕГІОН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Tojiro DP, KAI Wasabi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damascus clad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43 020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63–65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Секі, Гіфу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70 102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Сакаї, Осака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 – 15 580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16 677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Тоса, Коті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10 035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РОБОТИ І РОЗМІР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Під вивіскою «японський ніж» в Україні продають три різні товари. Ця колода рахує лише перший — вироблений у Японії.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17904"/>
            <a:ext cx="6638544" cy="23042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8096" y="1700784"/>
            <a:ext cx="310896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760220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1737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1719072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769363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ШТУК НА РІК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D4B96"/>
                </a:solidFill>
                <a:latin typeface="Segoe UI"/>
              </a:rPr>
              <a:t>≈ 3 700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4820A"/>
                </a:solidFill>
                <a:latin typeface="Segoe UI"/>
              </a:rPr>
              <a:t>2 % у грошах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94F7C"/>
                </a:solidFill>
                <a:latin typeface="Segoe UI"/>
              </a:rPr>
              <a:t>60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" y="2615184"/>
            <a:ext cx="6236208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2724912"/>
            <a:ext cx="6236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Mcusta Zanmai, Sakai Takayuki, Takeshi Saji, Tamahagane і ще 46 марок — усі в переписі на слайді 9.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43216" y="1517904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26096" y="1664207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6096" y="1705355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166420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195681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₴150–230 млн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76688" y="1993391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76688" y="20345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2249424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Назва японська, виробництво — ні. Видалено з усіх цифр колоди.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43216" y="2724912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43216" y="2724912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26096" y="2871216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26096" y="291236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28712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3163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₴140–260 млн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76688" y="3200400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76688" y="3241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6096" y="3456432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європейських марок. Японського постачальника тут немає в принципі.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МИТНА БАЗА КАТЕГОРІЇ, ІМПОРТ 2024, ТИС. $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206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21408" y="4206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819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 НИХ ЯПОНІЯ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438454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2140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0408" y="44256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1928" y="442569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 виділена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21408" y="470001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5968" y="47000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50408" y="470001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1928" y="470001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14,3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3776" y="493318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9743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21408" y="49743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15968" y="49743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50408" y="49743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81928" y="497433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103,3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266943"/>
            <a:ext cx="704088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537667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21408" y="5376671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8" y="537667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50408" y="5376671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81928" y="5376671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117,5 = 1,3 %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63840" y="3968496"/>
            <a:ext cx="3767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8211 92, ТИС. $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424281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0767" y="4283964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430767" y="4283964"/>
            <a:ext cx="2012242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716767" y="424281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3840" y="453542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30767" y="4576572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30767" y="4576572"/>
            <a:ext cx="133868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716767" y="45354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63840" y="482803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30767" y="4869180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430767" y="4869180"/>
            <a:ext cx="174383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716767" y="48280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32704"/>
            <a:ext cx="704088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6565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ЦЕЙ СЛАЙД — ГОЛОВНИЙ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656539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розмежування A / B / C цифру ₴16–19 млн легко сплутати з розміром усієї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категорії кухонних ножів — а це ₴691–924 млн, у 40 разів більше.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863840" y="5193792"/>
            <a:ext cx="376732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863840" y="5193792"/>
            <a:ext cx="36576" cy="1316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101583" y="5349240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ДИНАМІКА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01583" y="557784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Імпорт 2024 на 13 % нижчий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 2022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Стрибок 2023→2024 —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відновлення після провалу,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 не тренд зростання.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митних даних: World Bank WITS / UN Comtrade, імпорт України 2022–2024. Оцінки B і C — власний розрахунок за SKU-аудитом.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ЦІНОЮ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5448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45720" cy="89611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До 2 500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1 790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Seki Kanetsugu 8 · Satake 4 · HONMAMON 4</a:t>
            </a:r>
          </a:p>
        </p:txBody>
      </p:sp>
      <p:pic>
        <p:nvPicPr>
          <p:cNvPr id="26" name="Picture 25" descr="p_94f49bdd99d60c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514246" cy="438911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3310128" y="213512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2424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31" name="Picture 30" descr="p_ec239970f314e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627632"/>
            <a:ext cx="1514246" cy="438911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4934102" y="213512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398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4102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1 650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36" name="Picture 35" descr="p_47e36ce71044c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8076" y="1627632"/>
            <a:ext cx="1514246" cy="438911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558076" y="213512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0372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Takanori Izumi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8076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1 980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41" name="Picture 40" descr="p_462c6d754ce0aa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2051" y="1627632"/>
            <a:ext cx="1514246" cy="438911"/>
          </a:xfrm>
          <a:prstGeom prst="rect">
            <a:avLst/>
          </a:prstGeom>
        </p:spPr>
      </p:pic>
      <p:sp>
        <p:nvSpPr>
          <p:cNvPr id="42" name="Oval 41"/>
          <p:cNvSpPr/>
          <p:nvPr/>
        </p:nvSpPr>
        <p:spPr>
          <a:xfrm>
            <a:off x="8182051" y="213512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4347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2051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46" name="Picture 45" descr="p_2ef97b201bc8cf2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6025" y="1627632"/>
            <a:ext cx="1514246" cy="438911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806025" y="213512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88321" y="2103120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6025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256032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2560320"/>
            <a:ext cx="45720" cy="8961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2 500 – 5 000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80744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93392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3 539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10 · Masahiro 8 · Tojiro 7</a:t>
            </a:r>
          </a:p>
        </p:txBody>
      </p:sp>
      <p:pic>
        <p:nvPicPr>
          <p:cNvPr id="64" name="Picture 63" descr="p_e3d54c83d65142d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0128" y="2633472"/>
            <a:ext cx="1514246" cy="438911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3310128" y="314096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92424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0128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69" name="Picture 68" descr="p_23ead9acd0d4ae8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4102" y="2633472"/>
            <a:ext cx="1514246" cy="438911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4934102" y="314096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16398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4102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3 231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74" name="Picture 73" descr="p_403ad1c9ffd8e37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8076" y="2633472"/>
            <a:ext cx="1514246" cy="438911"/>
          </a:xfrm>
          <a:prstGeom prst="rect">
            <a:avLst/>
          </a:prstGeom>
        </p:spPr>
      </p:pic>
      <p:sp>
        <p:nvSpPr>
          <p:cNvPr id="75" name="Oval 74"/>
          <p:cNvSpPr/>
          <p:nvPr/>
        </p:nvSpPr>
        <p:spPr>
          <a:xfrm>
            <a:off x="6558076" y="314096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40372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58076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3 539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79" name="Picture 78" descr="p_73480f37f39f17a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82051" y="2633472"/>
            <a:ext cx="1514246" cy="438911"/>
          </a:xfrm>
          <a:prstGeom prst="rect">
            <a:avLst/>
          </a:prstGeom>
        </p:spPr>
      </p:pic>
      <p:sp>
        <p:nvSpPr>
          <p:cNvPr id="80" name="Oval 79"/>
          <p:cNvSpPr/>
          <p:nvPr/>
        </p:nvSpPr>
        <p:spPr>
          <a:xfrm>
            <a:off x="8182051" y="314096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64347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2051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84" name="Picture 83" descr="p_7a0ba7a86bed26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06025" y="2633472"/>
            <a:ext cx="1514246" cy="438911"/>
          </a:xfrm>
          <a:prstGeom prst="rect">
            <a:avLst/>
          </a:prstGeom>
        </p:spPr>
      </p:pic>
      <p:sp>
        <p:nvSpPr>
          <p:cNvPr id="85" name="Oval 84"/>
          <p:cNvSpPr/>
          <p:nvPr/>
        </p:nvSpPr>
        <p:spPr>
          <a:xfrm>
            <a:off x="9806025" y="314096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88321" y="310895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06025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356615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3566159"/>
            <a:ext cx="45720" cy="8961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5 000 – 10 000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68096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380744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93392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7 290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06040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24 · Yaxell 23 · KAI 15</a:t>
            </a:r>
          </a:p>
        </p:txBody>
      </p:sp>
      <p:pic>
        <p:nvPicPr>
          <p:cNvPr id="102" name="Picture 101" descr="p_835994bb5a94d0c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10128" y="3639311"/>
            <a:ext cx="1514246" cy="438911"/>
          </a:xfrm>
          <a:prstGeom prst="rect">
            <a:avLst/>
          </a:prstGeom>
        </p:spPr>
      </p:pic>
      <p:sp>
        <p:nvSpPr>
          <p:cNvPr id="103" name="Oval 102"/>
          <p:cNvSpPr/>
          <p:nvPr/>
        </p:nvSpPr>
        <p:spPr>
          <a:xfrm>
            <a:off x="3310128" y="414680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392424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10128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07" name="Picture 106" descr="p_4ab436256b1923c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34102" y="3639311"/>
            <a:ext cx="1514246" cy="438911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4934102" y="414680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016398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34102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6 401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12" name="Picture 111" descr="p_db9f4add72913e5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8076" y="3639311"/>
            <a:ext cx="1514246" cy="438911"/>
          </a:xfrm>
          <a:prstGeom prst="rect">
            <a:avLst/>
          </a:prstGeom>
        </p:spPr>
      </p:pic>
      <p:sp>
        <p:nvSpPr>
          <p:cNvPr id="113" name="Oval 112"/>
          <p:cNvSpPr/>
          <p:nvPr/>
        </p:nvSpPr>
        <p:spPr>
          <a:xfrm>
            <a:off x="6558076" y="414680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640372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58076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17" name="Picture 116" descr="p_d828cc662fb91c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2051" y="3639311"/>
            <a:ext cx="1514246" cy="438911"/>
          </a:xfrm>
          <a:prstGeom prst="rect">
            <a:avLst/>
          </a:prstGeom>
        </p:spPr>
      </p:pic>
      <p:sp>
        <p:nvSpPr>
          <p:cNvPr id="118" name="Oval 117"/>
          <p:cNvSpPr/>
          <p:nvPr/>
        </p:nvSpPr>
        <p:spPr>
          <a:xfrm>
            <a:off x="8182051" y="414680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64347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2051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8 050 грн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22" name="Picture 121" descr="p_bd68987c0b443e4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06025" y="3639311"/>
            <a:ext cx="1514246" cy="438911"/>
          </a:xfrm>
          <a:prstGeom prst="rect">
            <a:avLst/>
          </a:prstGeom>
        </p:spPr>
      </p:pic>
      <p:sp>
        <p:nvSpPr>
          <p:cNvPr id="123" name="Oval 122"/>
          <p:cNvSpPr/>
          <p:nvPr/>
        </p:nvSpPr>
        <p:spPr>
          <a:xfrm>
            <a:off x="9806025" y="414680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888321" y="411479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06025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66928" y="457199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66928" y="4571999"/>
            <a:ext cx="45720" cy="896111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68096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80744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18 %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993392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06040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KAI 15 · Yaxell 10 · Tojiro 8</a:t>
            </a:r>
          </a:p>
        </p:txBody>
      </p:sp>
      <p:pic>
        <p:nvPicPr>
          <p:cNvPr id="140" name="Picture 139" descr="p_36e32f36e7146691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10128" y="4645151"/>
            <a:ext cx="1514246" cy="438911"/>
          </a:xfrm>
          <a:prstGeom prst="rect">
            <a:avLst/>
          </a:prstGeom>
        </p:spPr>
      </p:pic>
      <p:sp>
        <p:nvSpPr>
          <p:cNvPr id="141" name="Oval 140"/>
          <p:cNvSpPr/>
          <p:nvPr/>
        </p:nvSpPr>
        <p:spPr>
          <a:xfrm>
            <a:off x="3310128" y="515264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392424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10128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45" name="Picture 144" descr="p_afd633ee725b6d4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34102" y="4645151"/>
            <a:ext cx="1514246" cy="438911"/>
          </a:xfrm>
          <a:prstGeom prst="rect">
            <a:avLst/>
          </a:prstGeom>
        </p:spPr>
      </p:pic>
      <p:sp>
        <p:nvSpPr>
          <p:cNvPr id="146" name="Oval 145"/>
          <p:cNvSpPr/>
          <p:nvPr/>
        </p:nvSpPr>
        <p:spPr>
          <a:xfrm>
            <a:off x="4934102" y="515264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16398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Takamura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34102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11 990 грн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50" name="Picture 149" descr="p_e87b83e3d3fdd66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58076" y="4645151"/>
            <a:ext cx="1514246" cy="438911"/>
          </a:xfrm>
          <a:prstGeom prst="rect">
            <a:avLst/>
          </a:prstGeom>
        </p:spPr>
      </p:pic>
      <p:sp>
        <p:nvSpPr>
          <p:cNvPr id="151" name="Oval 150"/>
          <p:cNvSpPr/>
          <p:nvPr/>
        </p:nvSpPr>
        <p:spPr>
          <a:xfrm>
            <a:off x="6558076" y="515264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640372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Hatsukokoro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58076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13 865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55" name="Picture 154" descr="p_077042a75de1c23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82051" y="4645151"/>
            <a:ext cx="1514246" cy="43891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8182051" y="515264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264347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182051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16 677 грн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60" name="Picture 159" descr="p_7ca3a50e75e0b8a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06025" y="4645151"/>
            <a:ext cx="1514246" cy="438911"/>
          </a:xfrm>
          <a:prstGeom prst="rect">
            <a:avLst/>
          </a:prstGeom>
        </p:spPr>
      </p:pic>
      <p:sp>
        <p:nvSpPr>
          <p:cNvPr id="161" name="Oval 160"/>
          <p:cNvSpPr/>
          <p:nvPr/>
        </p:nvSpPr>
        <p:spPr>
          <a:xfrm>
            <a:off x="9806025" y="515264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888321" y="5120639"/>
            <a:ext cx="141366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806025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27 822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Аналітика рахована по всіх позиціях діапазону, фото — п'ять із них. Джерело: картки товарів ProfiMax, ROKS, WildCat, Sekator, жовтень 2026. Ціна за один ніж, роздріб.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ТИПОМ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5448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45720" cy="12313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Шеф і гюто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14 · HONMAMON 7 · Yaxell 5</a:t>
            </a:r>
          </a:p>
        </p:txBody>
      </p:sp>
      <p:pic>
        <p:nvPicPr>
          <p:cNvPr id="26" name="Picture 25" descr="p_0de2d5e262e947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243584" cy="774191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3310128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2424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1" name="Picture 30" descr="p_2633fda7c2461e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627632"/>
            <a:ext cx="1243584" cy="774191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4663440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45736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36" name="Picture 35" descr="p_ba6a3e3f6095b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1627632"/>
            <a:ext cx="1243584" cy="774191"/>
          </a:xfrm>
          <a:prstGeom prst="rect">
            <a:avLst/>
          </a:prstGeom>
        </p:spPr>
      </p:pic>
      <p:sp>
        <p:nvSpPr>
          <p:cNvPr id="37" name="Oval 36"/>
          <p:cNvSpPr/>
          <p:nvPr/>
        </p:nvSpPr>
        <p:spPr>
          <a:xfrm>
            <a:off x="6016752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9048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16752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41" name="Picture 40" descr="p_e14f2209a0827d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3" y="1627632"/>
            <a:ext cx="1243584" cy="774191"/>
          </a:xfrm>
          <a:prstGeom prst="rect">
            <a:avLst/>
          </a:prstGeom>
        </p:spPr>
      </p:pic>
      <p:sp>
        <p:nvSpPr>
          <p:cNvPr id="42" name="Oval 41"/>
          <p:cNvSpPr/>
          <p:nvPr/>
        </p:nvSpPr>
        <p:spPr>
          <a:xfrm>
            <a:off x="7370063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59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3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9 520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46" name="Picture 45" descr="p_d920f645d31f988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3376" y="1627632"/>
            <a:ext cx="1243584" cy="774191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8723376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05672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3376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51" name="Picture 50" descr="p_2af9b201d857b2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6688" y="1627632"/>
            <a:ext cx="1243584" cy="774191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0076688" y="247040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58984" y="243840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7668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23 990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289560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2895600"/>
            <a:ext cx="45720" cy="12313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80744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30 %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3392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06040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Yaxell 12 · Tojiro 10 · HONMAMON 9</a:t>
            </a:r>
          </a:p>
        </p:txBody>
      </p:sp>
      <p:pic>
        <p:nvPicPr>
          <p:cNvPr id="69" name="Picture 68" descr="p_f24ec9d36cb64bb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8" y="2968752"/>
            <a:ext cx="1243584" cy="774191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3310128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92424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1012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74" name="Picture 73" descr="p_ef75062df950609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2968752"/>
            <a:ext cx="1243584" cy="774191"/>
          </a:xfrm>
          <a:prstGeom prst="rect">
            <a:avLst/>
          </a:prstGeom>
        </p:spPr>
      </p:pic>
      <p:sp>
        <p:nvSpPr>
          <p:cNvPr id="75" name="Oval 74"/>
          <p:cNvSpPr/>
          <p:nvPr/>
        </p:nvSpPr>
        <p:spPr>
          <a:xfrm>
            <a:off x="4663440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45736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79" name="Picture 78" descr="p_0101cd1ded1a063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6752" y="2968752"/>
            <a:ext cx="1243584" cy="774191"/>
          </a:xfrm>
          <a:prstGeom prst="rect">
            <a:avLst/>
          </a:prstGeom>
        </p:spPr>
      </p:pic>
      <p:sp>
        <p:nvSpPr>
          <p:cNvPr id="80" name="Oval 79"/>
          <p:cNvSpPr/>
          <p:nvPr/>
        </p:nvSpPr>
        <p:spPr>
          <a:xfrm>
            <a:off x="6016752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99048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16752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5 538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84" name="Picture 83" descr="p_9c2aaec32dc6d13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70063" y="2968752"/>
            <a:ext cx="1243584" cy="774191"/>
          </a:xfrm>
          <a:prstGeom prst="rect">
            <a:avLst/>
          </a:prstGeom>
        </p:spPr>
      </p:pic>
      <p:sp>
        <p:nvSpPr>
          <p:cNvPr id="85" name="Oval 84"/>
          <p:cNvSpPr/>
          <p:nvPr/>
        </p:nvSpPr>
        <p:spPr>
          <a:xfrm>
            <a:off x="7370063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52359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70063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89" name="Picture 88" descr="p_df97c02d864bd12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23376" y="2968752"/>
            <a:ext cx="1243584" cy="774191"/>
          </a:xfrm>
          <a:prstGeom prst="rect">
            <a:avLst/>
          </a:prstGeom>
        </p:spPr>
      </p:pic>
      <p:sp>
        <p:nvSpPr>
          <p:cNvPr id="90" name="Oval 89"/>
          <p:cNvSpPr/>
          <p:nvPr/>
        </p:nvSpPr>
        <p:spPr>
          <a:xfrm>
            <a:off x="8723376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05672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23376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8 610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94" name="Picture 93" descr="p_957906e03cad2c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76688" y="2968752"/>
            <a:ext cx="1243584" cy="774191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10076688" y="3811523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158984" y="3779519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7668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11 790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66928" y="423672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66928" y="4236720"/>
            <a:ext cx="45720" cy="12313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8096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80744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3392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4 550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11 · KAI 8 · HONMAMON 3</a:t>
            </a:r>
          </a:p>
        </p:txBody>
      </p:sp>
      <p:pic>
        <p:nvPicPr>
          <p:cNvPr id="112" name="Picture 111" descr="p_60662ad9f02f39e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10128" y="4309872"/>
            <a:ext cx="1243584" cy="774191"/>
          </a:xfrm>
          <a:prstGeom prst="rect">
            <a:avLst/>
          </a:prstGeom>
        </p:spPr>
      </p:pic>
      <p:sp>
        <p:nvSpPr>
          <p:cNvPr id="113" name="Oval 112"/>
          <p:cNvSpPr/>
          <p:nvPr/>
        </p:nvSpPr>
        <p:spPr>
          <a:xfrm>
            <a:off x="3310128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392424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012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2 660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17" name="Picture 116" descr="p_ef5b811819ea9ce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3440" y="4309872"/>
            <a:ext cx="1243584" cy="774191"/>
          </a:xfrm>
          <a:prstGeom prst="rect">
            <a:avLst/>
          </a:prstGeom>
        </p:spPr>
      </p:pic>
      <p:sp>
        <p:nvSpPr>
          <p:cNvPr id="118" name="Oval 117"/>
          <p:cNvSpPr/>
          <p:nvPr/>
        </p:nvSpPr>
        <p:spPr>
          <a:xfrm>
            <a:off x="4663440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45736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3440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22" name="Picture 121" descr="p_c9db2995f67c68f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16752" y="4309872"/>
            <a:ext cx="1243584" cy="774191"/>
          </a:xfrm>
          <a:prstGeom prst="rect">
            <a:avLst/>
          </a:prstGeom>
        </p:spPr>
      </p:pic>
      <p:sp>
        <p:nvSpPr>
          <p:cNvPr id="123" name="Oval 122"/>
          <p:cNvSpPr/>
          <p:nvPr/>
        </p:nvSpPr>
        <p:spPr>
          <a:xfrm>
            <a:off x="6016752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99048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16752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4 451 грн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27" name="Picture 126" descr="p_a146f87fe576c8f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70063" y="4309872"/>
            <a:ext cx="1243584" cy="774191"/>
          </a:xfrm>
          <a:prstGeom prst="rect">
            <a:avLst/>
          </a:prstGeom>
        </p:spPr>
      </p:pic>
      <p:sp>
        <p:nvSpPr>
          <p:cNvPr id="128" name="Oval 127"/>
          <p:cNvSpPr/>
          <p:nvPr/>
        </p:nvSpPr>
        <p:spPr>
          <a:xfrm>
            <a:off x="7370063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452359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70063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32" name="Picture 131" descr="p_1a9ca90c0351b5d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23376" y="4309872"/>
            <a:ext cx="1243584" cy="774191"/>
          </a:xfrm>
          <a:prstGeom prst="rect">
            <a:avLst/>
          </a:prstGeom>
        </p:spPr>
      </p:pic>
      <p:sp>
        <p:nvSpPr>
          <p:cNvPr id="133" name="Oval 132"/>
          <p:cNvSpPr/>
          <p:nvPr/>
        </p:nvSpPr>
        <p:spPr>
          <a:xfrm>
            <a:off x="8723376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805672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723376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37" name="Picture 136" descr="p_06a999719c231f7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076688" y="4309872"/>
            <a:ext cx="1243584" cy="774191"/>
          </a:xfrm>
          <a:prstGeom prst="rect">
            <a:avLst/>
          </a:prstGeom>
        </p:spPr>
      </p:pic>
      <p:sp>
        <p:nvSpPr>
          <p:cNvPr id="138" name="Oval 137"/>
          <p:cNvSpPr/>
          <p:nvPr/>
        </p:nvSpPr>
        <p:spPr>
          <a:xfrm>
            <a:off x="10076688" y="5152644"/>
            <a:ext cx="50292" cy="50292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158984" y="5120640"/>
            <a:ext cx="114299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07668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7 460 грн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Позиції, які не потрапили в жодну з трьох груп (слайсери, хлібні, бунка, фунаюкі, набори), становлять решту каталогу. Джерело: картки товарів українських магазинів,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Шістдесят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марок японського виробництва, знайдених у каталогах українських продавців і вітрин Prom. Відсортовано за кількістю позицій у країні.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1536192"/>
            <a:ext cx="6583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1216" y="1536192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ПОХ.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1136" y="173736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4" name="Oval 23"/>
          <p:cNvSpPr/>
          <p:nvPr/>
        </p:nvSpPr>
        <p:spPr>
          <a:xfrm>
            <a:off x="2907792" y="176296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726 – 27 970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1136" y="191841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0" name="Oval 29"/>
          <p:cNvSpPr/>
          <p:nvPr/>
        </p:nvSpPr>
        <p:spPr>
          <a:xfrm>
            <a:off x="2907792" y="1944014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1 199 – 70 102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1136" y="2099462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7" name="Oval 36"/>
          <p:cNvSpPr/>
          <p:nvPr/>
        </p:nvSpPr>
        <p:spPr>
          <a:xfrm>
            <a:off x="2907792" y="2125065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1 199 – 18 999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1136" y="228051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43" name="Oval 42"/>
          <p:cNvSpPr/>
          <p:nvPr/>
        </p:nvSpPr>
        <p:spPr>
          <a:xfrm>
            <a:off x="2907792" y="2306116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599 – 16 499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31136" y="246156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50" name="Oval 49"/>
          <p:cNvSpPr/>
          <p:nvPr/>
        </p:nvSpPr>
        <p:spPr>
          <a:xfrm>
            <a:off x="2907792" y="2487168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64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849 – 16 999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Kanetsune Seki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31136" y="264261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56" name="Oval 55"/>
          <p:cNvSpPr/>
          <p:nvPr/>
        </p:nvSpPr>
        <p:spPr>
          <a:xfrm>
            <a:off x="2907792" y="2668219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150 – 16 360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Tosa / Tosauchi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2823667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63" name="Oval 62"/>
          <p:cNvSpPr/>
          <p:nvPr/>
        </p:nvSpPr>
        <p:spPr>
          <a:xfrm>
            <a:off x="2907792" y="2849270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2 929 – 10 035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Miyabi (Zwilling)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31136" y="300471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69" name="Oval 68"/>
          <p:cNvSpPr/>
          <p:nvPr/>
        </p:nvSpPr>
        <p:spPr>
          <a:xfrm>
            <a:off x="2907792" y="3030321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5 900 – 43 020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31136" y="318576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76" name="Oval 75"/>
          <p:cNvSpPr/>
          <p:nvPr/>
        </p:nvSpPr>
        <p:spPr>
          <a:xfrm>
            <a:off x="2907792" y="3211372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1 180 – 15 229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Mcusta Zanmai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31136" y="336682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82" name="Oval 81"/>
          <p:cNvSpPr/>
          <p:nvPr/>
        </p:nvSpPr>
        <p:spPr>
          <a:xfrm>
            <a:off x="2907792" y="339242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7 960 – 24 767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31136" y="354787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89" name="Oval 88"/>
          <p:cNvSpPr/>
          <p:nvPr/>
        </p:nvSpPr>
        <p:spPr>
          <a:xfrm>
            <a:off x="2907792" y="3573475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Yoshihiro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31136" y="372892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95" name="Oval 94"/>
          <p:cNvSpPr/>
          <p:nvPr/>
        </p:nvSpPr>
        <p:spPr>
          <a:xfrm>
            <a:off x="2907792" y="3754526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3 609 – 6 747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Takeshi Saji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31136" y="390997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02" name="Oval 101"/>
          <p:cNvSpPr/>
          <p:nvPr/>
        </p:nvSpPr>
        <p:spPr>
          <a:xfrm>
            <a:off x="2907792" y="3935577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21 684 – 60 125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31136" y="409102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08" name="Oval 107"/>
          <p:cNvSpPr/>
          <p:nvPr/>
        </p:nvSpPr>
        <p:spPr>
          <a:xfrm>
            <a:off x="2907792" y="4116628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2 400 – 4 100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Kyocera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4272076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5" name="Oval 114"/>
          <p:cNvSpPr/>
          <p:nvPr/>
        </p:nvSpPr>
        <p:spPr>
          <a:xfrm>
            <a:off x="2907792" y="4297680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4 166 – 11 880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Takamura Hamono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231136" y="445312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21" name="Oval 120"/>
          <p:cNvSpPr/>
          <p:nvPr/>
        </p:nvSpPr>
        <p:spPr>
          <a:xfrm>
            <a:off x="2907792" y="4478731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5 320 – 11 990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Tamahagane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31136" y="463417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128" name="Oval 127"/>
          <p:cNvSpPr/>
          <p:nvPr/>
        </p:nvSpPr>
        <p:spPr>
          <a:xfrm>
            <a:off x="2907792" y="4659782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7 242 – 15 873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Fukamizu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31136" y="481523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134" name="Oval 133"/>
          <p:cNvSpPr/>
          <p:nvPr/>
        </p:nvSpPr>
        <p:spPr>
          <a:xfrm>
            <a:off x="2907792" y="4840833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2 610 – 4 850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Takanori Izumi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231136" y="499628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1" name="Oval 140"/>
          <p:cNvSpPr/>
          <p:nvPr/>
        </p:nvSpPr>
        <p:spPr>
          <a:xfrm>
            <a:off x="2907792" y="5021884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1 980 – 3 080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Tomita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31136" y="5177332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7" name="Oval 146"/>
          <p:cNvSpPr/>
          <p:nvPr/>
        </p:nvSpPr>
        <p:spPr>
          <a:xfrm>
            <a:off x="2907792" y="5202936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3 215 – 6 600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Inoguchi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31136" y="535838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Oval 153"/>
          <p:cNvSpPr/>
          <p:nvPr/>
        </p:nvSpPr>
        <p:spPr>
          <a:xfrm>
            <a:off x="2907792" y="5383987"/>
            <a:ext cx="71323" cy="71323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971032" y="1536192"/>
            <a:ext cx="6583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611112" y="1536192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ПОХ.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Shigeki Tanaka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71032" y="173736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68" name="Oval 167"/>
          <p:cNvSpPr/>
          <p:nvPr/>
        </p:nvSpPr>
        <p:spPr>
          <a:xfrm>
            <a:off x="6647688" y="176296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5 203 – 19 990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Motokane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71032" y="191841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174" name="Oval 173"/>
          <p:cNvSpPr/>
          <p:nvPr/>
        </p:nvSpPr>
        <p:spPr>
          <a:xfrm>
            <a:off x="6647688" y="1944014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2 090 – 2 695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Seto Iseya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971032" y="2099462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81" name="Oval 180"/>
          <p:cNvSpPr/>
          <p:nvPr/>
        </p:nvSpPr>
        <p:spPr>
          <a:xfrm>
            <a:off x="6647688" y="2125065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5 500 – 6 550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Hanakumagawa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971032" y="228051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87" name="Oval 186"/>
          <p:cNvSpPr/>
          <p:nvPr/>
        </p:nvSpPr>
        <p:spPr>
          <a:xfrm>
            <a:off x="6647688" y="2306116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2 390 – 2 790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Harukaze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71032" y="246156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94" name="Oval 193"/>
          <p:cNvSpPr/>
          <p:nvPr/>
        </p:nvSpPr>
        <p:spPr>
          <a:xfrm>
            <a:off x="6647688" y="2487168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19 990 – 26 990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Misono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971032" y="264261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00" name="Oval 199"/>
          <p:cNvSpPr/>
          <p:nvPr/>
        </p:nvSpPr>
        <p:spPr>
          <a:xfrm>
            <a:off x="6647688" y="2668219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1 690 – 4 990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28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Myojin (Naohito)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71032" y="2823667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07" name="Oval 206"/>
          <p:cNvSpPr/>
          <p:nvPr/>
        </p:nvSpPr>
        <p:spPr>
          <a:xfrm>
            <a:off x="6647688" y="2849270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13 200 – 15 580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29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Nigara Hamono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971032" y="300471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03B4B"/>
                </a:solidFill>
                <a:latin typeface="Segoe UI"/>
              </a:rPr>
              <a:t>Хіросакі</a:t>
            </a:r>
          </a:p>
        </p:txBody>
      </p:sp>
      <p:sp>
        <p:nvSpPr>
          <p:cNvPr id="213" name="Oval 212"/>
          <p:cNvSpPr/>
          <p:nvPr/>
        </p:nvSpPr>
        <p:spPr>
          <a:xfrm>
            <a:off x="6647688" y="3030321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14 800 – 16 740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C03B4B"/>
                </a:solidFill>
                <a:latin typeface="Segoe UI"/>
              </a:rPr>
              <a:t>30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C03B4B"/>
                </a:solidFill>
                <a:latin typeface="Segoe UI"/>
              </a:rPr>
              <a:t>Sakai Takayuki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318576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20" name="Oval 219"/>
          <p:cNvSpPr/>
          <p:nvPr/>
        </p:nvSpPr>
        <p:spPr>
          <a:xfrm>
            <a:off x="6647688" y="3211372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C03B4B"/>
                </a:solidFill>
                <a:latin typeface="Segoe UI"/>
              </a:rPr>
              <a:t>2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7 460 – 7 640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Shimomura Kihan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971032" y="336682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226" name="Oval 225"/>
          <p:cNvSpPr/>
          <p:nvPr/>
        </p:nvSpPr>
        <p:spPr>
          <a:xfrm>
            <a:off x="6647688" y="339242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6 140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32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Teruhide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5971032" y="354787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33" name="Oval 232"/>
          <p:cNvSpPr/>
          <p:nvPr/>
        </p:nvSpPr>
        <p:spPr>
          <a:xfrm>
            <a:off x="6647688" y="3573475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8 000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33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Anryu Hamono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971032" y="372892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39" name="Oval 238"/>
          <p:cNvSpPr/>
          <p:nvPr/>
        </p:nvSpPr>
        <p:spPr>
          <a:xfrm>
            <a:off x="6647688" y="3754526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Etsu / Ittetsu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971032" y="390997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46" name="Oval 245"/>
          <p:cNvSpPr/>
          <p:nvPr/>
        </p:nvSpPr>
        <p:spPr>
          <a:xfrm>
            <a:off x="6647688" y="3935577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16 677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35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Fuji Cutlery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5971032" y="409102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52" name="Oval 251"/>
          <p:cNvSpPr/>
          <p:nvPr/>
        </p:nvSpPr>
        <p:spPr>
          <a:xfrm>
            <a:off x="6647688" y="4116628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1 950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36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Gyokucho / Kamisaku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971032" y="4272076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59" name="Oval 258"/>
          <p:cNvSpPr/>
          <p:nvPr/>
        </p:nvSpPr>
        <p:spPr>
          <a:xfrm>
            <a:off x="6647688" y="4297680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7 300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37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Hatsukokoro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445312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65" name="Oval 264"/>
          <p:cNvSpPr/>
          <p:nvPr/>
        </p:nvSpPr>
        <p:spPr>
          <a:xfrm>
            <a:off x="6647688" y="4478731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13 865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38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Higonokami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463417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72" name="Oval 271"/>
          <p:cNvSpPr/>
          <p:nvPr/>
        </p:nvSpPr>
        <p:spPr>
          <a:xfrm>
            <a:off x="6647688" y="4659782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2 090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39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Hisashige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971032" y="481523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78" name="Oval 277"/>
          <p:cNvSpPr/>
          <p:nvPr/>
        </p:nvSpPr>
        <p:spPr>
          <a:xfrm>
            <a:off x="6647688" y="4840833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JCK Natures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5971032" y="499628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85" name="Oval 284"/>
          <p:cNvSpPr/>
          <p:nvPr/>
        </p:nvSpPr>
        <p:spPr>
          <a:xfrm>
            <a:off x="6647688" y="5021884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12 220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Jikko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5971032" y="5177332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91" name="Oval 290"/>
          <p:cNvSpPr/>
          <p:nvPr/>
        </p:nvSpPr>
        <p:spPr>
          <a:xfrm>
            <a:off x="6647688" y="5202936"/>
            <a:ext cx="71323" cy="71323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9 267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42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KAI Sekimagoroku Imayo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71032" y="535838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98" name="Oval 297"/>
          <p:cNvSpPr/>
          <p:nvPr/>
        </p:nvSpPr>
        <p:spPr>
          <a:xfrm>
            <a:off x="6647688" y="5383987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2 700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9710928" y="1536192"/>
            <a:ext cx="65836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351007" y="1536192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ПОХ.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43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Kanetaka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9710928" y="173736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12" name="Oval 311"/>
          <p:cNvSpPr/>
          <p:nvPr/>
        </p:nvSpPr>
        <p:spPr>
          <a:xfrm>
            <a:off x="10387584" y="1762963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44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Kazuhira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9710928" y="191841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18" name="Oval 317"/>
          <p:cNvSpPr/>
          <p:nvPr/>
        </p:nvSpPr>
        <p:spPr>
          <a:xfrm>
            <a:off x="10387584" y="1944014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45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Kiyokane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9710928" y="2099462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325" name="Oval 324"/>
          <p:cNvSpPr/>
          <p:nvPr/>
        </p:nvSpPr>
        <p:spPr>
          <a:xfrm>
            <a:off x="10387584" y="2125065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4 590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Mikihisa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9710928" y="228051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31" name="Oval 330"/>
          <p:cNvSpPr/>
          <p:nvPr/>
        </p:nvSpPr>
        <p:spPr>
          <a:xfrm>
            <a:off x="10387584" y="2306116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47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S.K.K. Cutlery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9710928" y="246156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38" name="Oval 337"/>
          <p:cNvSpPr/>
          <p:nvPr/>
        </p:nvSpPr>
        <p:spPr>
          <a:xfrm>
            <a:off x="10387584" y="2487168"/>
            <a:ext cx="71323" cy="71323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48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Sakai Haruhiko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9710928" y="264261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44" name="Oval 343"/>
          <p:cNvSpPr/>
          <p:nvPr/>
        </p:nvSpPr>
        <p:spPr>
          <a:xfrm>
            <a:off x="10387584" y="2668219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7 040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49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Sakai Ichiji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710928" y="2823667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51" name="Oval 350"/>
          <p:cNvSpPr/>
          <p:nvPr/>
        </p:nvSpPr>
        <p:spPr>
          <a:xfrm>
            <a:off x="10387584" y="2849270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1 999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50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Satake Masamune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710928" y="300471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57" name="Oval 356"/>
          <p:cNvSpPr/>
          <p:nvPr/>
        </p:nvSpPr>
        <p:spPr>
          <a:xfrm>
            <a:off x="10387584" y="3030321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Shigehiro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710928" y="318576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64" name="Oval 363"/>
          <p:cNvSpPr/>
          <p:nvPr/>
        </p:nvSpPr>
        <p:spPr>
          <a:xfrm>
            <a:off x="10387584" y="3211372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8 490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Tadafusa / Ohishi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336682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370" name="Oval 369"/>
          <p:cNvSpPr/>
          <p:nvPr/>
        </p:nvSpPr>
        <p:spPr>
          <a:xfrm>
            <a:off x="10387584" y="339242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5 891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53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Tsukasa (Hinoura)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3547871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377" name="Oval 376"/>
          <p:cNvSpPr/>
          <p:nvPr/>
        </p:nvSpPr>
        <p:spPr>
          <a:xfrm>
            <a:off x="10387584" y="3573475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9 900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54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Yamawaki Hamono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9710928" y="3728923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83" name="Oval 382"/>
          <p:cNvSpPr/>
          <p:nvPr/>
        </p:nvSpPr>
        <p:spPr>
          <a:xfrm>
            <a:off x="10387584" y="3754526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3 528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55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Global (Yoshikin)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710928" y="3909974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390" name="Oval 389"/>
          <p:cNvSpPr/>
          <p:nvPr/>
        </p:nvSpPr>
        <p:spPr>
          <a:xfrm>
            <a:off x="10387584" y="3935577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2 618 – 13 195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56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HONMAMON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9710928" y="4091025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396" name="Oval 395"/>
          <p:cNvSpPr/>
          <p:nvPr/>
        </p:nvSpPr>
        <p:spPr>
          <a:xfrm>
            <a:off x="10387584" y="4116628"/>
            <a:ext cx="71323" cy="71323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7991855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8046719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57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66175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Hokiyama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9710928" y="4272076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403" name="Oval 402"/>
          <p:cNvSpPr/>
          <p:nvPr/>
        </p:nvSpPr>
        <p:spPr>
          <a:xfrm>
            <a:off x="10387584" y="4297680"/>
            <a:ext cx="71323" cy="71323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10588751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0954511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8046719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58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8266175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Kaneyoshi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9710928" y="4453128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9" name="Oval 408"/>
          <p:cNvSpPr/>
          <p:nvPr/>
        </p:nvSpPr>
        <p:spPr>
          <a:xfrm>
            <a:off x="10387584" y="4478731"/>
            <a:ext cx="71323" cy="71323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10588751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0954511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5 740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7991855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8046719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59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8266175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Sekiryu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9710928" y="4634179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416" name="Oval 415"/>
          <p:cNvSpPr/>
          <p:nvPr/>
        </p:nvSpPr>
        <p:spPr>
          <a:xfrm>
            <a:off x="10387584" y="4659782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10588751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1 107 – 1 638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60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Suisin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4815230"/>
            <a:ext cx="658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422" name="Oval 421"/>
          <p:cNvSpPr/>
          <p:nvPr/>
        </p:nvSpPr>
        <p:spPr>
          <a:xfrm>
            <a:off x="10387584" y="4840833"/>
            <a:ext cx="71323" cy="71323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588751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954511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566928" y="5650992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ЯК ПЕРЕВІРЕНО ПОХОДЖЕННЯ</a:t>
            </a:r>
          </a:p>
        </p:txBody>
      </p:sp>
      <p:sp>
        <p:nvSpPr>
          <p:cNvPr id="426" name="Rounded Rectangle 425"/>
          <p:cNvSpPr/>
          <p:nvPr/>
        </p:nvSpPr>
        <p:spPr>
          <a:xfrm>
            <a:off x="566928" y="5833872"/>
            <a:ext cx="2743200" cy="73152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731520" y="5934456"/>
            <a:ext cx="91440" cy="91440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877824" y="59070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ЗАВОД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938528" y="590702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30 брендів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731520" y="61081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32" name="Rounded Rectangle 431"/>
          <p:cNvSpPr/>
          <p:nvPr/>
        </p:nvSpPr>
        <p:spPr>
          <a:xfrm>
            <a:off x="3419856" y="5833872"/>
            <a:ext cx="2743200" cy="73152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3419856" y="5833872"/>
            <a:ext cx="36576" cy="7315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584448" y="5934456"/>
            <a:ext cx="91440" cy="91440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3730752" y="59070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КАРТКА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4791456" y="590702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25 брендів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584448" y="61081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Походження підтверджене карткою
продавця або профільним каталогом</a:t>
            </a:r>
          </a:p>
        </p:txBody>
      </p:sp>
      <p:sp>
        <p:nvSpPr>
          <p:cNvPr id="438" name="Rounded Rectangle 437"/>
          <p:cNvSpPr/>
          <p:nvPr/>
        </p:nvSpPr>
        <p:spPr>
          <a:xfrm>
            <a:off x="6272784" y="5833872"/>
            <a:ext cx="2743200" cy="73152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6272784" y="5833872"/>
            <a:ext cx="36576" cy="731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6437376" y="5934456"/>
            <a:ext cx="91440" cy="91440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583680" y="59070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ПЕРЕВІРИТИ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7644383" y="590702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5 брендів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6437376" y="61081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Бренд знайдено лише як токен
у назві товару. До рішення — перевірити</a:t>
            </a:r>
          </a:p>
        </p:txBody>
      </p:sp>
      <p:sp>
        <p:nvSpPr>
          <p:cNvPr id="444" name="Rounded Rectangle 443"/>
          <p:cNvSpPr/>
          <p:nvPr/>
        </p:nvSpPr>
        <p:spPr>
          <a:xfrm>
            <a:off x="9144000" y="5833872"/>
            <a:ext cx="2487168" cy="73152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144000" y="5833872"/>
            <a:ext cx="36576" cy="731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9308592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ВІДБРАКОВАНО ПРИ ПЕРЕВІРЦІ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9308592" y="605332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Hattori — назва моделі Fissman, не кузня з Секі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Aritsugu — ціна 1 200 грн виключає оригінал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Samura, Chang Keng, Satori · Takagi — азійський завод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Усі 60 марок — японського виробництва. SKU — позиції в публічних каталогах, жовтень 2026. Колір регіону — за слайдом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ЗБУТУ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ЦЕ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F9A50B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≈ 1 000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217 – 38 640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E9EA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≈ 130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н/д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Опт HoReCa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2 бренди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ЗАСНОВАНО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1950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Сакаї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D4B96"/>
                </a:solidFill>
                <a:latin typeface="Segoe UI"/>
              </a:rPr>
              <a:t>50+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1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ЕКСПОРТ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94F7C"/>
                </a:solidFill>
                <a:latin typeface="Segoe UI"/>
              </a:rPr>
              <a:t>100+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ГРУПА СТАЛІ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КОНКРЕТНО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ЦЕ В ЦІНІ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7 000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і дамаск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Ginsan / Silver #3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9 000 – 20 000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Вуглецева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SPG2 / R2, ZA-18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ЗНАЙДЕНО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4820A"/>
                </a:solidFill>
                <a:latin typeface="Segoe UI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РЕАЛЬНО НА СКЛАДІ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ДРОПШИП-ЛІСТИНГИ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1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ФАХОВИХ ПРОДАВЦІВ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12 550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17 387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18 415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Livico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61 891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 Prom дві позиції, на roks.com.ua — жодної.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20685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01291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81897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62502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12 550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3108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15 266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23714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20685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8" name="Rounded Rectangle 77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01291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81897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17 387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62502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18 415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99" name="Rounded Rectangle 98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43108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20 572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6" name="Rounded Rectangle 105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123714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0080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0" name="Rounded Rectangle 119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220685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7" name="Rounded Rectangle 126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801291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4" name="Rounded Rectangle 133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381897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962502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61 891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Livico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/ Shun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(кузні)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Ginsan / Silver #3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0 із 523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Рекомендація: вузький вхід, а не дистрибуція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61288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07008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07008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52728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 за умови, що розглядається лише японське виробництво. Розташовані за спаданням привабливості.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ВУЗЬКИЙ ВХІД У ПОРОЖНІ ЗОНИ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60–90 SKU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7 000 – 45 000 грн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Тільки те, чого в країні немає: honyaki, Ginsan / Silver #3,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односторонні дорожчі за 10 000 грн, wa-руків'я у профканалі.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Sakai Takayuki закриває всі чотири зони однією лінійкою.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Мала партія, висока маржа, немає прямого конкурента на полиці.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малий: сотні ножів на рік, не тисячі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Окупність повільна: оборотність 2–4 рази на рік</a:t>
            </a:r>
          </a:p>
        </p:txBody>
      </p:sp>
      <p:pic>
        <p:nvPicPr>
          <p:cNvPr id="31" name="Picture 30" descr="p_dab1718fad393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27024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ДИСТРИБУЦІЯ ПОВНОЇ ЛІНІЙКИ SAKAI TAKAYUKI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₴16–19 млн ніша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3 000 – 20 000 грн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Ексклюзив по території з виробником, що експортує у 100+ країн.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Бренд у країні фактично відсутній: 2 позиції на складі.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Але цільова зона 7 000 – 20 000 грн тримає 105 позицій каталогу: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там уже стоять Yaxell, KAI, Tojiro і Kasumi з полицею і глибиною.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7141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Вхід у найгустішу частину шкали без упізнаваності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Ексклюзив вимагає мінімальної партії й цінової дисципліни</a:t>
            </a:r>
          </a:p>
        </p:txBody>
      </p:sp>
      <p:pic>
        <p:nvPicPr>
          <p:cNvPr id="50" name="Picture 49" descr="p_f1288f001cdba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7973567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ШИРОКИЙ ІМПОРТ ПРЕМІАЛЬНОЇ ЯПОНІЇ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7 500 – 60 495 грн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 на 13 %.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60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7473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7473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473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9" name="Picture 68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66928" y="537667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ТРИ БЛОКУЮЧІ РИЗИКИ, СПІЛЬНІ ДЛЯ ВСІХ СЦЕНАРІЇВ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692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6692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Японський сегмент не росте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Імпорт 2024 нижчий за 2022 на 13 % при 60 присутніх брендах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7024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7024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5312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Професійна кухня Японію не купує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2 японські бренди з 15, 523 проф. ножі в каталозі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973567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973567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56447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Структурний програш 10 пунктів мита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56447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10 % на Японію проти 0 % на ЄС, плюс 20 % ПДВ на обидва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" y="614476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3232" y="618591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400800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Ринок японського виробництва — 16–19 млн грн, не росте, 60 брендів у 17 каналах. Sakai Takayuki у ньому майже відсутній: дві позиції на складі з 19 лістингів.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556248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Це одночасно вільна територія і попередження — нульова впізнаваність. Рекомендація: сценарій A; B — лише після перевірки умов виробника;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