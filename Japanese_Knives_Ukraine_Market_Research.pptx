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Relationship Id="rId12" Type="http://schemas.openxmlformats.org/officeDocument/2006/relationships/image" Target="../media/image37.png"/><Relationship Id="rId13" Type="http://schemas.openxmlformats.org/officeDocument/2006/relationships/image" Target="../media/image38.png"/><Relationship Id="rId14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71.png"/><Relationship Id="rId11" Type="http://schemas.openxmlformats.org/officeDocument/2006/relationships/image" Target="../media/image72.png"/><Relationship Id="rId12" Type="http://schemas.openxmlformats.org/officeDocument/2006/relationships/image" Target="../media/image73.png"/><Relationship Id="rId13" Type="http://schemas.openxmlformats.org/officeDocument/2006/relationships/image" Target="../media/image74.png"/><Relationship Id="rId14" Type="http://schemas.openxmlformats.org/officeDocument/2006/relationships/image" Target="../media/image75.png"/><Relationship Id="rId15" Type="http://schemas.openxmlformats.org/officeDocument/2006/relationships/image" Target="../media/image76.png"/><Relationship Id="rId16" Type="http://schemas.openxmlformats.org/officeDocument/2006/relationships/image" Target="../media/image77.png"/><Relationship Id="rId17" Type="http://schemas.openxmlformats.org/officeDocument/2006/relationships/image" Target="../media/image78.png"/><Relationship Id="rId18" Type="http://schemas.openxmlformats.org/officeDocument/2006/relationships/image" Target="../media/image79.png"/><Relationship Id="rId19" Type="http://schemas.openxmlformats.org/officeDocument/2006/relationships/image" Target="../media/image80.png"/><Relationship Id="rId20" Type="http://schemas.openxmlformats.org/officeDocument/2006/relationships/image" Target="../media/image81.png"/><Relationship Id="rId21" Type="http://schemas.openxmlformats.org/officeDocument/2006/relationships/image" Target="../media/image82.png"/><Relationship Id="rId22" Type="http://schemas.openxmlformats.org/officeDocument/2006/relationships/image" Target="../media/image8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42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Relationship Id="rId13" Type="http://schemas.openxmlformats.org/officeDocument/2006/relationships/image" Target="../media/image56.png"/><Relationship Id="rId14" Type="http://schemas.openxmlformats.org/officeDocument/2006/relationships/image" Target="../media/image9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Relationship Id="rId6" Type="http://schemas.openxmlformats.org/officeDocument/2006/relationships/image" Target="../media/image96.png"/><Relationship Id="rId7" Type="http://schemas.openxmlformats.org/officeDocument/2006/relationships/image" Target="../media/image97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46.png"/><Relationship Id="rId11" Type="http://schemas.openxmlformats.org/officeDocument/2006/relationships/image" Target="../media/image4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6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33.png"/><Relationship Id="rId7" Type="http://schemas.openxmlformats.org/officeDocument/2006/relationships/image" Target="../media/image104.png"/><Relationship Id="rId8" Type="http://schemas.openxmlformats.org/officeDocument/2006/relationships/image" Target="../media/image105.png"/><Relationship Id="rId9" Type="http://schemas.openxmlformats.org/officeDocument/2006/relationships/image" Target="../media/image106.png"/><Relationship Id="rId10" Type="http://schemas.openxmlformats.org/officeDocument/2006/relationships/image" Target="../media/image107.png"/><Relationship Id="rId11" Type="http://schemas.openxmlformats.org/officeDocument/2006/relationships/image" Target="../media/image108.png"/><Relationship Id="rId12" Type="http://schemas.openxmlformats.org/officeDocument/2006/relationships/image" Target="../media/image109.png"/><Relationship Id="rId13" Type="http://schemas.openxmlformats.org/officeDocument/2006/relationships/image" Target="../media/image110.png"/><Relationship Id="rId14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7" Type="http://schemas.openxmlformats.org/officeDocument/2006/relationships/image" Target="../media/image115.png"/><Relationship Id="rId8" Type="http://schemas.openxmlformats.org/officeDocument/2006/relationships/image" Target="../media/image116.png"/><Relationship Id="rId9" Type="http://schemas.openxmlformats.org/officeDocument/2006/relationships/image" Target="../media/image117.png"/><Relationship Id="rId10" Type="http://schemas.openxmlformats.org/officeDocument/2006/relationships/image" Target="../media/image118.png"/><Relationship Id="rId11" Type="http://schemas.openxmlformats.org/officeDocument/2006/relationships/image" Target="../media/image119.png"/><Relationship Id="rId12" Type="http://schemas.openxmlformats.org/officeDocument/2006/relationships/image" Target="../media/image120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Relationship Id="rId20" Type="http://schemas.openxmlformats.org/officeDocument/2006/relationships/image" Target="../media/image1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Relationship Id="rId7" Type="http://schemas.openxmlformats.org/officeDocument/2006/relationships/image" Target="../media/image133.png"/><Relationship Id="rId8" Type="http://schemas.openxmlformats.org/officeDocument/2006/relationships/image" Target="../media/image134.png"/><Relationship Id="rId9" Type="http://schemas.openxmlformats.org/officeDocument/2006/relationships/image" Target="../media/image135.png"/><Relationship Id="rId10" Type="http://schemas.openxmlformats.org/officeDocument/2006/relationships/image" Target="../media/image136.png"/><Relationship Id="rId11" Type="http://schemas.openxmlformats.org/officeDocument/2006/relationships/image" Target="../media/image137.png"/><Relationship Id="rId12" Type="http://schemas.openxmlformats.org/officeDocument/2006/relationships/image" Target="../media/image138.png"/><Relationship Id="rId13" Type="http://schemas.openxmlformats.org/officeDocument/2006/relationships/image" Target="../media/image139.png"/><Relationship Id="rId14" Type="http://schemas.openxmlformats.org/officeDocument/2006/relationships/image" Target="../media/image140.png"/><Relationship Id="rId15" Type="http://schemas.openxmlformats.org/officeDocument/2006/relationships/image" Target="../media/image141.png"/><Relationship Id="rId16" Type="http://schemas.openxmlformats.org/officeDocument/2006/relationships/image" Target="../media/image142.png"/><Relationship Id="rId17" Type="http://schemas.openxmlformats.org/officeDocument/2006/relationships/image" Target="../media/image143.png"/><Relationship Id="rId18" Type="http://schemas.openxmlformats.org/officeDocument/2006/relationships/image" Target="../media/image144.png"/><Relationship Id="rId19" Type="http://schemas.openxmlformats.org/officeDocument/2006/relationships/image" Target="../media/image145.png"/><Relationship Id="rId20" Type="http://schemas.openxmlformats.org/officeDocument/2006/relationships/image" Target="../media/image146.png"/><Relationship Id="rId21" Type="http://schemas.openxmlformats.org/officeDocument/2006/relationships/image" Target="../media/image1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743072269df032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8c342e6a18561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54ae9b9a940c6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4bd94ac4fb0bd5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21 слайд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91056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15910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59105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59105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ТРИМАЄ КРОМКУ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59105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ІРЖАВІЄ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159105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РИЗИК СКОЛУ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1591056"/>
            <a:ext cx="11521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ЗАТОЧУВАННЯ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159105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591056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ДОРЕЧНО НА КУХНІ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1769364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181051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AUS-8 / AUS-10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8256" y="181051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181051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18105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181051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5312" y="181051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18105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просте, мусат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181051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81051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11683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Мо-ванадієва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8256" y="211683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3552" y="211683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57–59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211683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11683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5312" y="211683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21168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9872" y="211683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900 – 3 000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11683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382012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42316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8256" y="242316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3552" y="242316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42316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добре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242316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242316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42316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 1000/3000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242316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12 000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42316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72948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Ginsan / Silver #3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8256" y="272948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3552" y="272948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27294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272948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25312" y="272948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272948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19872" y="272948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272948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2994660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03580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SG-2 / R2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8256" y="3035808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3035808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358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3035808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25312" y="3035808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7728" y="303580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навичка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19872" y="3035808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45 000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3035808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34213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ZDP-189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334213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73552" y="334213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65–67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3421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334213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25312" y="334213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дуже високий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67728" y="334213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лише майстер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19872" y="334213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17 000 – 70 000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334213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" y="3607308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364845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Shirogami (біла)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48256" y="364845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73552" y="364845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40480" y="364845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0" y="364845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312" y="364845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67728" y="364845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19872" y="364845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18320" y="364845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395478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Aogami (синя)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48256" y="395478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73552" y="395478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40480" y="39547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0" y="395478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25312" y="395478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7728" y="395478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19872" y="395478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4 000 – 60 000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18320" y="395478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3776" y="4219956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6928" y="426110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SLD / Chromax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8256" y="426110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інструментальна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73552" y="426110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0" y="42611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29200" y="426110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майже ні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25312" y="426110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426110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19872" y="426110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20 000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18320" y="426110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66928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66928" y="4645152"/>
            <a:ext cx="36576" cy="100218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4672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HRC — ЩО ЦЕ НАСПРАВДІ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29768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297680" y="4645152"/>
            <a:ext cx="36576" cy="100218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53542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ВУГЛЕЦЬ ПРОТИ НЕРЖАВІЙКИ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3542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04672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046720" y="4645152"/>
            <a:ext cx="36576" cy="100218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8446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ПОРОШКОВА СТАЛЬ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8446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565099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232" y="569214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ЯК ЦЕ ЧИТАТИ ПРИ ВИБОРІ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6928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961888"/>
            <a:ext cx="32004" cy="54864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9808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Потік, велика бригада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9808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або мо-ванадій, 58–61 HRC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419856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419856" y="5961888"/>
            <a:ext cx="32004" cy="54864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02736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Шеф для себе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02736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дамаск або SLD, 60–62 HRC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72784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72784" y="5961888"/>
            <a:ext cx="32004" cy="54864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55664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Суші й риба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125712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125712" y="5961888"/>
            <a:ext cx="32004" cy="54864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308592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A84A6B"/>
                </a:solidFill>
                <a:latin typeface="Segoe UI"/>
              </a:rPr>
              <a:t>Презентація, фініш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08592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/ R2, 62–64 HRC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41148" cy="832104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82495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5681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17007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170078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74519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B7282"/>
                </a:solidFill>
                <a:latin typeface="Georgia"/>
              </a:rPr>
              <a:t>700 – 3 000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70078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0384" y="1874519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 базові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459736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459736"/>
            <a:ext cx="41148" cy="83210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256946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Сан-май / касумі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284378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Тверда серцевина між двома
м'якшими шарами.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58775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258775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276148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A7F86"/>
                </a:solidFill>
                <a:latin typeface="Georgia"/>
              </a:rPr>
              <a:t>2 500 – 12 000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0384" y="258775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761488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Shun, Suncraft Senzo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346704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346704"/>
            <a:ext cx="41148" cy="832104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45643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Дамаск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373075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Той самий сан-май, але шарів
17 – 193.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4747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7472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364845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54780"/>
                </a:solidFill>
                <a:latin typeface="Georgia"/>
              </a:rPr>
              <a:t>5 000 – 40 000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347472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648456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 Damascus, Yaxell Ran, Mcusta Zanmai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233672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233672"/>
            <a:ext cx="41148" cy="83210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3434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B42E3A"/>
                </a:solidFill>
                <a:latin typeface="Georgia"/>
              </a:rPr>
              <a:t>Хоньякі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61772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Один шматок сталі, зонне
гартування як у катани.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36168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36168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535424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B42E3A"/>
                </a:solidFill>
                <a:latin typeface="Georgia"/>
              </a:rPr>
              <a:t>35 000 – 70 000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0384" y="436168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0384" y="4535424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Sakai Takayuki Shoryu · у країні немає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120640"/>
            <a:ext cx="11064240" cy="832104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5120640"/>
            <a:ext cx="41148" cy="83210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6384" y="52303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Куроучі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50468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Чорна ковальська окалина
залишена на клинку.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248655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3568" y="5248655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5422392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966E28"/>
                </a:solidFill>
                <a:latin typeface="Georgia"/>
              </a:rPr>
              <a:t>3 000 – 15 000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0384" y="5248655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30384" y="5422392"/>
            <a:ext cx="17373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 Kurouchi, HONMAMON, Motokane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6144768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6144768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63002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ГОЛОВНЕ ПРО КОНСТРУКЦІЮ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6528816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093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ПАРАМЕТР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ЄВРОПЕЙСЬКА ШКОЛА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ЯПОНСЬКА ШКОЛА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160934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87652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8288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Твердість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56–58 HRC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900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60–65 HRC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182880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6255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Кут заточування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20–22° на сторону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12–15° на сторону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216255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455164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49631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Як правлять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мусат, щодня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8300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Поведінка на кістці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загинається, правиться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викришується назавжди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8300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3122676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Дошка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будь-яка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дерево або м'який пластик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1638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4975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Посудомийка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витримує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00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деформує руків'я, тупить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7968" y="349758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790188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83133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Втрата ножа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300 – 900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5 000 – 20 000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383133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1650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реально виграє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лінійний кухар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7900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шеф, су-шеф, суші-майстер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87968" y="416509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645152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686300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974336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1.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4974336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212080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2.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212080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449824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3.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" y="5449824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4.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5687568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925312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5.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2" y="5925312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19088" y="4645152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65392" y="4686300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</a:p>
        </p:txBody>
      </p:sp>
      <p:sp>
        <p:nvSpPr>
          <p:cNvPr id="68" name="Oval 67"/>
          <p:cNvSpPr/>
          <p:nvPr/>
        </p:nvSpPr>
        <p:spPr>
          <a:xfrm>
            <a:off x="6492240" y="5015484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93408" y="4974336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</a:p>
        </p:txBody>
      </p:sp>
      <p:sp>
        <p:nvSpPr>
          <p:cNvPr id="70" name="Oval 69"/>
          <p:cNvSpPr/>
          <p:nvPr/>
        </p:nvSpPr>
        <p:spPr>
          <a:xfrm>
            <a:off x="6492240" y="5253228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93408" y="52120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</a:p>
        </p:txBody>
      </p:sp>
      <p:sp>
        <p:nvSpPr>
          <p:cNvPr id="72" name="Oval 71"/>
          <p:cNvSpPr/>
          <p:nvPr/>
        </p:nvSpPr>
        <p:spPr>
          <a:xfrm>
            <a:off x="6492240" y="5490972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93408" y="5449824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</a:p>
        </p:txBody>
      </p:sp>
      <p:sp>
        <p:nvSpPr>
          <p:cNvPr id="74" name="Oval 73"/>
          <p:cNvSpPr/>
          <p:nvPr/>
        </p:nvSpPr>
        <p:spPr>
          <a:xfrm>
            <a:off x="6492240" y="5728716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93408" y="5687568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</a:p>
        </p:txBody>
      </p:sp>
      <p:sp>
        <p:nvSpPr>
          <p:cNvPr id="76" name="Oval 75"/>
          <p:cNvSpPr/>
          <p:nvPr/>
        </p:nvSpPr>
        <p:spPr>
          <a:xfrm>
            <a:off x="6492240" y="5966459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93408" y="5925312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  Н А   Р І 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2A7F86"/>
                </a:solidFill>
                <a:latin typeface="Georgia"/>
              </a:rPr>
              <a:t>16–19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Японське виробництво
у роздрібі України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Ш Т У К   Н А   Р І 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554780"/>
                </a:solidFill>
                <a:latin typeface="Georgia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ножів японського
виробництва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Ч А С Т К А   Р И Н К 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966E28"/>
                </a:solidFill>
                <a:latin typeface="Georgia"/>
              </a:rPr>
              <a:t>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грошах і 0,15 %
у штуках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84A6B"/>
                </a:solidFill>
                <a:latin typeface="Georgia"/>
              </a:rPr>
              <a:t>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25 продавців,
759 позицій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907792"/>
            <a:ext cx="70408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48940"/>
            <a:ext cx="38724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0040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4288" y="320040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2004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3408" y="32004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378708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4198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34198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4198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3419856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7124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288" y="371246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21808" y="371246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93408" y="371246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963924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050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40050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1808" y="400507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93408" y="4005072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315968"/>
            <a:ext cx="704088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4439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444398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21808" y="444398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444398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907792"/>
            <a:ext cx="3767328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10144" y="2948940"/>
            <a:ext cx="207203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ІМПОРТ ІЗ ЯПОНІЇ · 8211 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25526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0767" y="3296412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0767" y="3296412"/>
            <a:ext cx="1978705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80191" y="3255264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56616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0767" y="3607308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30767" y="3607308"/>
            <a:ext cx="1316370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80191" y="3566160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387705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0767" y="3918204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30767" y="3918204"/>
            <a:ext cx="1714767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80191" y="3877056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427939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495604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" y="499719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266944"/>
            <a:ext cx="32004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A7F86"/>
                </a:solidFill>
                <a:latin typeface="Georgia"/>
              </a:rPr>
              <a:t>56 брендів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японського виробництва, перевірених
на країну походження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52544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52544" y="5266944"/>
            <a:ext cx="32004" cy="73152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53712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54780"/>
                </a:solidFill>
                <a:latin typeface="Georgia"/>
              </a:rPr>
              <a:t>6 регіонів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3712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Секі, Сакаї, Ечідзен, Тоса,
Сандзьо, Аоморі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59" y="5266944"/>
            <a:ext cx="3639312" cy="73152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138159" y="5266944"/>
            <a:ext cx="32004" cy="73152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53583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966E28"/>
                </a:solidFill>
                <a:latin typeface="Georgia"/>
              </a:rPr>
              <a:t>25 продавців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5669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від фахових магазинів
до оптового профканалу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6126480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6126480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628192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ЗНАЧИТЬ ДЛЯ ОЦІНКИ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510528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594360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6e17fcf3d2475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33a70b88b0d74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59826c51e9236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abc40943b88d2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3652eb649de86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04ca1fd405b651c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449a0fa005f3fe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451123c4ea3ce3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a8dda7845ccd96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24bcd2f1c88598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53450017d7bcce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2468ec49793a87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43e68bae1d5168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fb344401d15f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797ecda963e1f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de561360f20efbd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8c9c80959cd1561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97660616646e1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a318bfe8552265a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2e91ea756b0ad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9338fbf5fd17d5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cc824488ee159b8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876fa17e2def4a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e4f1f50101e1ad5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f3989c9b25a05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918967fa97605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a251d8125cd55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754cc797ae3a1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eda8d124c955ab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3b0138473ac2d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c77e4a68891c0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2371d536e521f9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976c7316ce0589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9e9e46e10fb56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db43e088e35fc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18f52bb3af9119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b52150e4883a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91dad844d142b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02d3b3a4d1494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0827187fef7ab34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de04470743a33c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f37e18b42894173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b4d0d2f644ed9d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58b514d4c51b78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7208732ebeb99d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9020c3c0c6b53c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fbf18e2e77d70d1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9f9892533a47e3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A84A6B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06070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5e39e1543fcec9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583740" cy="60350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5148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1532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8b66ad87f5c1c9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252" y="1645920"/>
            <a:ext cx="1583740" cy="603504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491532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1532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11572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1532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0057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6441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02d9eb8e846b79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161" y="1645920"/>
            <a:ext cx="1583740" cy="603504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76441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6441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6481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6441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4966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61350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35c06f672ce010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7070" y="1645920"/>
            <a:ext cx="1583740" cy="60350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061350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61350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1390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350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9875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46259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19268526f3d170b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1979" y="1645920"/>
            <a:ext cx="1583740" cy="603504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9846259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6259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6299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6259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2724912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2724912"/>
            <a:ext cx="41148" cy="106070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277063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303580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82495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82495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06624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_4c8e89d2fb84b5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2344" y="2816352"/>
            <a:ext cx="1583740" cy="60350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2706624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06624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26664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06624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05148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91532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a19a1d68e068cd3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37252" y="2816352"/>
            <a:ext cx="1583740" cy="603504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4491532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91532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1572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1532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90057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76441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2d8fe301a72c8dc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2161" y="2816352"/>
            <a:ext cx="1583740" cy="603504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6276441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76441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96481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76441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74966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1350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ac2e57381642d4d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7070" y="2816352"/>
            <a:ext cx="1583740" cy="603504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061350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61350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81390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61350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9875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846259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ff9a5c2c6926f12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1979" y="2816352"/>
            <a:ext cx="1583740" cy="603504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9846259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46259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66299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46259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44784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3895344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3895344"/>
            <a:ext cx="41148" cy="1060704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8096" y="3941063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8096" y="4206240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096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82495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82495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06624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p_60dbee1c6d5c1d9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2344" y="3986783"/>
            <a:ext cx="1583740" cy="603504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2706624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06624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26664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06624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05148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91532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p_7b56666f0aed347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37252" y="3986783"/>
            <a:ext cx="1583740" cy="603504"/>
          </a:xfrm>
          <a:prstGeom prst="rect">
            <a:avLst/>
          </a:prstGeom>
        </p:spPr>
      </p:pic>
      <p:sp>
        <p:nvSpPr>
          <p:cNvPr id="117" name="Rounded Rectangle 116"/>
          <p:cNvSpPr/>
          <p:nvPr/>
        </p:nvSpPr>
        <p:spPr>
          <a:xfrm>
            <a:off x="4491532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491532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11572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491532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90057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76441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640f6c9933ce6f9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2161" y="3986783"/>
            <a:ext cx="1583740" cy="603504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276441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276441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96481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76441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74966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61350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f639a91b4ddc848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07070" y="3986783"/>
            <a:ext cx="1583740" cy="603504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8061350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61350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1390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61350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59875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846259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3bc0d7100d8b8989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91979" y="3986783"/>
            <a:ext cx="1583740" cy="603504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9846259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846259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166299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46259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844784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6928" y="5065776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6928" y="5065776"/>
            <a:ext cx="41148" cy="1060704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8096" y="511149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8096" y="537667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68096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68096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82495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82495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706624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152161a0836ac04f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2344" y="5157216"/>
            <a:ext cx="1583740" cy="603504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26664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06624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70514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491532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e9bde94c92bd01f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37252" y="5157216"/>
            <a:ext cx="1583740" cy="603504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449153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9153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811572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91532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490057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76441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7ec9849c5ce8e8b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2161" y="5157216"/>
            <a:ext cx="1583740" cy="603504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6276441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76441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596481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6441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7496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61350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982543d3c689896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07070" y="5157216"/>
            <a:ext cx="1583740" cy="603504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806135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135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381390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61350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059875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846259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0" name="Picture 179" descr="p_cb1b107fb18986b2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91979" y="5157216"/>
            <a:ext cx="1583740" cy="603504"/>
          </a:xfrm>
          <a:prstGeom prst="rect">
            <a:avLst/>
          </a:prstGeom>
        </p:spPr>
      </p:pic>
      <p:sp>
        <p:nvSpPr>
          <p:cNvPr id="181" name="Rounded Rectangle 180"/>
          <p:cNvSpPr/>
          <p:nvPr/>
        </p:nvSpPr>
        <p:spPr>
          <a:xfrm>
            <a:off x="9846259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846259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166299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46259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16 охоплює 56 брендів у 25 продавців.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596083796f5dc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c20b8a1e4ff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8382864aecd41c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a251d8125cd55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5a0943241c592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bb99d1bed4318d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f9bd757125b1f1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0e12cd6efde637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f6dfad583b163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6c1054787c0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de04470743a33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8e07256bad34f30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4ca1fd405b65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dd50e9ce39d19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047a123d3bb31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4982b36aba845b3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fa3a403ceaa113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50690736f1ed1a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f30cc82e04ffdb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77e4a68891c07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9e9e46e10fb56e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2ada46424bc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d0542d538a2f984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a9020c3c0c6b53c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b24bcd2f1c8859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69ad419a09a1bd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36fcbe5427e2db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397660616646e1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e44228ad9d8f07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e210647f2461b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2f9af68a7fa6237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b33a10e2bbc7f6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847d7acc3d88e47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5376f73217a9bb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3db5b8fa0291a23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2371d536e521f9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789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789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743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5009083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743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12338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12338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1188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53558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11881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6785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6785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6328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98033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6328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412333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412333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40776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442508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407761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55680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55680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5522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8698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552236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6880" y="497433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881360" y="497433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326880" y="511881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881360" y="511881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6880" y="526328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881360" y="5263286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5407761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881360" y="5407761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6880" y="5607100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45084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57f36b2cbd89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286256" cy="9936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766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4048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68ca7eb4b9a395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768" y="1645920"/>
            <a:ext cx="1286256" cy="99364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194048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4048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4088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4048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5088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81472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c0a6c216400647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92" y="1645920"/>
            <a:ext cx="1286256" cy="993648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681472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1472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01512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1472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68896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66b7969f004a576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1645920"/>
            <a:ext cx="1286256" cy="99364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68896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68896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88936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9936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56320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f495830eeb510f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1645920"/>
            <a:ext cx="1286256" cy="993648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8656320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6320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6360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6320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57360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4374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p_fd78a297ae45da6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9464" y="1645920"/>
            <a:ext cx="1286256" cy="993648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1014374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4374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378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374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4478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115056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3115056"/>
            <a:ext cx="41148" cy="145084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8096" y="316077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42595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82495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82495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0662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7f1c56870f777be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52344" y="3206496"/>
            <a:ext cx="1286256" cy="993648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270662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662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2666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0662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0766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94048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8ec2de29c7b9e57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9768" y="3206496"/>
            <a:ext cx="1286256" cy="993648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4194048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94048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14088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4048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5088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81472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0da0deb0e19197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7192" y="3206496"/>
            <a:ext cx="1286256" cy="99364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5681472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81472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01512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1472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2512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6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cc88c6f1282f6b4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14616" y="3206496"/>
            <a:ext cx="1286256" cy="993648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7168896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68896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88936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68896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9936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56320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77988d04fb3415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02040" y="3206496"/>
            <a:ext cx="1286256" cy="993648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8656320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656320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6360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56320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57360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14374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p_78c2312bbf3207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464" y="3206496"/>
            <a:ext cx="1286256" cy="993648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1014374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14374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46378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374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4478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4675632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6928" y="4675632"/>
            <a:ext cx="41148" cy="145084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8096" y="472135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Односторонні: янагіба, деба, усуба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096" y="498652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8096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8096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682495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82495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0662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b8164538696ad1c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52344" y="4767072"/>
            <a:ext cx="1286256" cy="993648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02666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62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0766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94048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38d65c2523e17b7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9768" y="4767072"/>
            <a:ext cx="1286256" cy="993648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4194048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194048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14088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94048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9508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81472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44c0755137b2af6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27192" y="4767072"/>
            <a:ext cx="1286256" cy="993648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568147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8147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01512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81472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82512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68896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p_e27317f47c159c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14616" y="4767072"/>
            <a:ext cx="1286256" cy="993648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7168896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68896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88936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68896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86993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656320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p_8224c226524ce191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02040" y="4767072"/>
            <a:ext cx="1286256" cy="993648"/>
          </a:xfrm>
          <a:prstGeom prst="rect">
            <a:avLst/>
          </a:prstGeom>
        </p:spPr>
      </p:pic>
      <p:sp>
        <p:nvSpPr>
          <p:cNvPr id="152" name="Rounded Rectangle 151"/>
          <p:cNvSpPr/>
          <p:nvPr/>
        </p:nvSpPr>
        <p:spPr>
          <a:xfrm>
            <a:off x="865632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5632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976360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656320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57360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14374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_7e27192db4c4a93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89464" y="4767072"/>
            <a:ext cx="1286256" cy="993648"/>
          </a:xfrm>
          <a:prstGeom prst="rect">
            <a:avLst/>
          </a:prstGeom>
        </p:spPr>
      </p:pic>
      <p:sp>
        <p:nvSpPr>
          <p:cNvPr id="159" name="Rounded Rectangle 158"/>
          <p:cNvSpPr/>
          <p:nvPr/>
        </p:nvSpPr>
        <p:spPr>
          <a:xfrm>
            <a:off x="1014374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14374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46378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14374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14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7525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6235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95339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5790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4894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5877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981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Sekiryu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43525" y="1783080"/>
            <a:ext cx="2211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Fuji Cutlery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4333" y="1952243"/>
            <a:ext cx="4929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5205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21664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Kanetsune Seki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84831" y="2121408"/>
            <a:ext cx="20222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35632" y="209946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52092" y="210677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Ichiji</a:t>
            </a:r>
          </a:p>
        </p:txBody>
      </p:sp>
      <p:sp>
        <p:nvSpPr>
          <p:cNvPr id="37" name="Oval 36"/>
          <p:cNvSpPr/>
          <p:nvPr/>
        </p:nvSpPr>
        <p:spPr>
          <a:xfrm>
            <a:off x="2626805" y="225948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38693" y="2271369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Inoguchi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78970" y="2459736"/>
            <a:ext cx="23109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Higonokami</a:t>
            </a:r>
          </a:p>
        </p:txBody>
      </p:sp>
      <p:sp>
        <p:nvSpPr>
          <p:cNvPr id="44" name="Oval 43"/>
          <p:cNvSpPr/>
          <p:nvPr/>
        </p:nvSpPr>
        <p:spPr>
          <a:xfrm>
            <a:off x="2651932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63819" y="260969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Motokane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02224" y="2798064"/>
            <a:ext cx="143496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Takanori Izumi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1707" y="2967228"/>
            <a:ext cx="249382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36592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Hanakumagawa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77930" y="3136392"/>
            <a:ext cx="87344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Sekimagoroku Imayo</a:t>
            </a:r>
          </a:p>
        </p:txBody>
      </p:sp>
      <p:sp>
        <p:nvSpPr>
          <p:cNvPr id="57" name="Oval 56"/>
          <p:cNvSpPr/>
          <p:nvPr/>
        </p:nvSpPr>
        <p:spPr>
          <a:xfrm>
            <a:off x="2796475" y="327446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08362" y="3286353"/>
            <a:ext cx="76809" cy="76809"/>
          </a:xfrm>
          <a:prstGeom prst="ellipse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36592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Misono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82320" y="3474720"/>
            <a:ext cx="611109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271" y="345277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8730" y="346008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6592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0287" y="3643884"/>
            <a:ext cx="30226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36592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084831" y="3813048"/>
            <a:ext cx="1783575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0704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2350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36592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Kanetaka</a:t>
            </a:r>
          </a:p>
        </p:txBody>
      </p:sp>
      <p:sp>
        <p:nvSpPr>
          <p:cNvPr id="74" name="Oval 73"/>
          <p:cNvSpPr/>
          <p:nvPr/>
        </p:nvSpPr>
        <p:spPr>
          <a:xfrm>
            <a:off x="2946166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8053" y="3963009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Hisashige</a:t>
            </a:r>
          </a:p>
        </p:txBody>
      </p:sp>
      <p:sp>
        <p:nvSpPr>
          <p:cNvPr id="78" name="Oval 77"/>
          <p:cNvSpPr/>
          <p:nvPr/>
        </p:nvSpPr>
        <p:spPr>
          <a:xfrm>
            <a:off x="2946166" y="412028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8053" y="4132173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36592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Yamawaki Hamono</a:t>
            </a:r>
          </a:p>
        </p:txBody>
      </p:sp>
      <p:sp>
        <p:nvSpPr>
          <p:cNvPr id="82" name="Oval 81"/>
          <p:cNvSpPr/>
          <p:nvPr/>
        </p:nvSpPr>
        <p:spPr>
          <a:xfrm>
            <a:off x="2947448" y="428945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9335" y="430133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36592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827632" y="4489703"/>
            <a:ext cx="34973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76896" y="446775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93356" y="447507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36592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80476" y="4658867"/>
            <a:ext cx="154865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9201" y="463692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45661" y="464423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36592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93754" y="4828031"/>
            <a:ext cx="176819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52249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8708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36592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Kasumi / Sumikama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379569" y="4997195"/>
            <a:ext cx="1443628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075780" y="497525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092240" y="498256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36592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105416" y="5166359"/>
            <a:ext cx="206091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10270" y="514441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26729" y="515172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36592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Kiyokane</a:t>
            </a:r>
          </a:p>
        </p:txBody>
      </p:sp>
      <p:sp>
        <p:nvSpPr>
          <p:cNvPr id="111" name="Oval 110"/>
          <p:cNvSpPr/>
          <p:nvPr/>
        </p:nvSpPr>
        <p:spPr>
          <a:xfrm>
            <a:off x="3095976" y="530443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107863" y="5316321"/>
            <a:ext cx="76809" cy="76809"/>
          </a:xfrm>
          <a:prstGeom prst="ellipse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36592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5302" y="5504687"/>
            <a:ext cx="405959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22679" y="548274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9138" y="549005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36592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Suncraft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88585" y="5673851"/>
            <a:ext cx="15594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142710" y="565190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59169" y="565922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36592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Yoshihiro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010552" y="5843015"/>
            <a:ext cx="353143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161520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177980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36592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10293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99397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3037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31948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309934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99038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30021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619125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0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91072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Tosa / Tosauchi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616861" y="1783080"/>
            <a:ext cx="69504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38780" y="176113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55239" y="176844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460736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91072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Global (Yoshikin)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553503" y="1952243"/>
            <a:ext cx="912920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84360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00819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60736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91072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Tadafusa / Ohishi</a:t>
            </a:r>
          </a:p>
        </p:txBody>
      </p:sp>
      <p:sp>
        <p:nvSpPr>
          <p:cNvPr id="149" name="Oval 148"/>
          <p:cNvSpPr/>
          <p:nvPr/>
        </p:nvSpPr>
        <p:spPr>
          <a:xfrm>
            <a:off x="8960970" y="209031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972858" y="2102205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60736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91072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Seto Iseya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972499" y="2290572"/>
            <a:ext cx="98615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460736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91072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Shimomura Kihan</a:t>
            </a:r>
          </a:p>
        </p:txBody>
      </p:sp>
      <p:sp>
        <p:nvSpPr>
          <p:cNvPr id="156" name="Oval 155"/>
          <p:cNvSpPr/>
          <p:nvPr/>
        </p:nvSpPr>
        <p:spPr>
          <a:xfrm>
            <a:off x="8984337" y="242864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996224" y="2440533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460736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291072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Yoshiharu</a:t>
            </a:r>
          </a:p>
        </p:txBody>
      </p:sp>
      <p:sp>
        <p:nvSpPr>
          <p:cNvPr id="160" name="Oval 159"/>
          <p:cNvSpPr/>
          <p:nvPr/>
        </p:nvSpPr>
        <p:spPr>
          <a:xfrm>
            <a:off x="9005979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9017866" y="260969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460736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91072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Haruhiko</a:t>
            </a:r>
          </a:p>
        </p:txBody>
      </p:sp>
      <p:sp>
        <p:nvSpPr>
          <p:cNvPr id="164" name="Oval 163"/>
          <p:cNvSpPr/>
          <p:nvPr/>
        </p:nvSpPr>
        <p:spPr>
          <a:xfrm>
            <a:off x="9061541" y="276697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73429" y="2778861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460736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91072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Gyokucho / Kamisaku</a:t>
            </a:r>
          </a:p>
        </p:txBody>
      </p:sp>
      <p:sp>
        <p:nvSpPr>
          <p:cNvPr id="168" name="Oval 167"/>
          <p:cNvSpPr/>
          <p:nvPr/>
        </p:nvSpPr>
        <p:spPr>
          <a:xfrm>
            <a:off x="9082011" y="293613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93898" y="294802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460736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36208" y="3065068"/>
            <a:ext cx="5486400" cy="1691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91072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44540" y="3136392"/>
            <a:ext cx="13457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460736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91072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Takamura Hamono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953718" y="3305556"/>
            <a:ext cx="458653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157441" y="328361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3900" y="329092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460736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291072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Teruhide</a:t>
            </a:r>
          </a:p>
        </p:txBody>
      </p:sp>
      <p:sp>
        <p:nvSpPr>
          <p:cNvPr id="181" name="Oval 180"/>
          <p:cNvSpPr/>
          <p:nvPr/>
        </p:nvSpPr>
        <p:spPr>
          <a:xfrm>
            <a:off x="9133694" y="344363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45581" y="345551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460736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91072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Shigehiro</a:t>
            </a:r>
          </a:p>
        </p:txBody>
      </p:sp>
      <p:sp>
        <p:nvSpPr>
          <p:cNvPr id="185" name="Oval 184"/>
          <p:cNvSpPr/>
          <p:nvPr/>
        </p:nvSpPr>
        <p:spPr>
          <a:xfrm>
            <a:off x="9167248" y="361279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79135" y="362468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460736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291072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112729" y="3813048"/>
            <a:ext cx="22963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23530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25176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460736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291072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Tsukasa (Hinoura)</a:t>
            </a:r>
          </a:p>
        </p:txBody>
      </p:sp>
      <p:sp>
        <p:nvSpPr>
          <p:cNvPr id="194" name="Oval 193"/>
          <p:cNvSpPr/>
          <p:nvPr/>
        </p:nvSpPr>
        <p:spPr>
          <a:xfrm>
            <a:off x="9253970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265857" y="3963009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460736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291072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Tamahagane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127801" y="4151375"/>
            <a:ext cx="442918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323657" y="412943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340116" y="413674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60736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Shigeki Tanaka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41166" y="4320539"/>
            <a:ext cx="9291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380152" y="429859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396611" y="430590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60736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291072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JCK Natures</a:t>
            </a:r>
          </a:p>
        </p:txBody>
      </p:sp>
      <p:sp>
        <p:nvSpPr>
          <p:cNvPr id="208" name="Oval 207"/>
          <p:cNvSpPr/>
          <p:nvPr/>
        </p:nvSpPr>
        <p:spPr>
          <a:xfrm>
            <a:off x="9372804" y="445861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384691" y="447050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0460736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291072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Hatsukokoro</a:t>
            </a:r>
          </a:p>
        </p:txBody>
      </p:sp>
      <p:sp>
        <p:nvSpPr>
          <p:cNvPr id="212" name="Oval 211"/>
          <p:cNvSpPr/>
          <p:nvPr/>
        </p:nvSpPr>
        <p:spPr>
          <a:xfrm>
            <a:off x="9444087" y="462777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55975" y="4639665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460736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291072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Mcusta Zanmai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181157" y="4828031"/>
            <a:ext cx="64067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475890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492349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460736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1072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Myojin (Naohito)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66637" y="4997195"/>
            <a:ext cx="157544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460736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291072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Nigara Hamono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531214" y="5166359"/>
            <a:ext cx="69522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460736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291072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Miyabi (Zwilling)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9012124" y="5335523"/>
            <a:ext cx="112135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547198" y="531357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563657" y="532089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60736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291072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Etsu / Ittetsu</a:t>
            </a:r>
          </a:p>
        </p:txBody>
      </p:sp>
      <p:sp>
        <p:nvSpPr>
          <p:cNvPr id="232" name="Oval 231"/>
          <p:cNvSpPr/>
          <p:nvPr/>
        </p:nvSpPr>
        <p:spPr>
          <a:xfrm>
            <a:off x="9548316" y="547359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60203" y="548548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460736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291072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Harukaze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9700883" y="5673851"/>
            <a:ext cx="16946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460736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291072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Takeshi Saji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9746795" y="5843015"/>
            <a:ext cx="575631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0009008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0025467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460736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66928" y="6181344"/>
            <a:ext cx="20116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4124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Секі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792224" y="6181344"/>
            <a:ext cx="20116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066543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Сакаї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017520" y="6181344"/>
            <a:ext cx="20116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91839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Ечідзен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242816" y="6181344"/>
            <a:ext cx="20116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517136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Тоса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68112" y="6181344"/>
            <a:ext cx="201168" cy="6858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742431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Сандзьо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693407" y="6181344"/>
            <a:ext cx="201168" cy="685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6772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Аоморі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918704" y="6181344"/>
            <a:ext cx="201168" cy="68580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193024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регіон не вказано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9125712" y="6164884"/>
            <a:ext cx="21945" cy="89611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9235440" y="614476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середина</a:t>
            </a:r>
          </a:p>
        </p:txBody>
      </p:sp>
      <p:sp>
        <p:nvSpPr>
          <p:cNvPr id="259" name="Oval 258"/>
          <p:cNvSpPr/>
          <p:nvPr/>
        </p:nvSpPr>
        <p:spPr>
          <a:xfrm>
            <a:off x="10460736" y="6164884"/>
            <a:ext cx="89611" cy="89611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607040" y="6144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одна ціна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03504" y="647395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73152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731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7315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73152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562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5604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7550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7550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24865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41324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907024"/>
            <a:ext cx="3602736" cy="658368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907024"/>
            <a:ext cx="36576" cy="65836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80176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144768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ЩО ТАКЕ «ТІЛЬКИ НА PROM»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Товар є на вітрині продавця в Prom, але на його власному сайті його немає.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62701c6bdd72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56cc87b54bc0cc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097322211c3d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1cbfa5f76fbf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8c72624cb8cb4a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1687a41703a9aa9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e13e4aecb494f2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0a10ffb6ac10f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84ff0752eb21dc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de239a57651f6e4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6fc69c5adeb0e5d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7a6ca1f08184868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70d8e72a0bc497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9e3c84dc09761d9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a8884f1317e00cc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21440b925015ef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f7f53c299894aac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2ed6ae5f98147da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c774391e57a98ba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70448"/>
            <a:ext cx="11064240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70448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54496"/>
            <a:ext cx="10588752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Л Ь О В А   З О Н 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554780"/>
                </a:solidFill>
                <a:latin typeface="Georgia"/>
              </a:rPr>
              <a:t>7 000 – 20 000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Сюди потрапляє
основна лінійка 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966E28"/>
                </a:solidFill>
                <a:latin typeface="Georgia"/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із 259 каталогу,
тобто 41 %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  Н И Х   S A K A I   T A K A Y U K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B42E3A"/>
                </a:solidFill>
                <a:latin typeface="Georg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менше ніж 2 %
зайнятої зони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Б Р Е Н Д І В   У   З О Н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A7F86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усі з полицею
і глибиною лінійки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871216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12364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32186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4015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4015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0401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0401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13248" y="36319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62425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900830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3900830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13248" y="386242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092854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131259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4131259"/>
            <a:ext cx="1371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3248" y="409285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323283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4361688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4361688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13248" y="43232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5537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592116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03120" y="4592116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3248" y="45537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78414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4822545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03120" y="4822545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248" y="47841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014569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052974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03120" y="5052974"/>
            <a:ext cx="609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13248" y="501456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5212994"/>
            <a:ext cx="5687568" cy="2103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24499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5283403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3120" y="5283403"/>
            <a:ext cx="304800" cy="7772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13248" y="524499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2871216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2912364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31638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316382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ДВАНАДЦЯТЬ У ЗОНІ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68128" y="31638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45936" y="3342132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9088" y="33832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Позицій у зоні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4 – 21 у кожного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68128" y="33832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80390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3803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є імпортер або
фаховий магазин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68128" y="38039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немає нікого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45936" y="4183380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422452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2245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Suncraft, Tojiro, KAI
стоять в Епіцентрі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42245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9088" y="46451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Опт HoReCa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22208" y="464515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у каталозі
AL-Group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68128" y="46451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345936" y="5024628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19088" y="506577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Впізнаваність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22208" y="506577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роками на полиці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68128" y="50657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фактично нульова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