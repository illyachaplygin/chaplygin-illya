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ced8cc3671657b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34 слайди · 6 каналів продажу · 28 брендів · 5 осей сегментації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НАЙБІЛЬШИЙ «ЯПОНСЬКИЙ» БРЕНД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в Епіцентрі. Засновано
для ринку РФ, вироблено в Китаї.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175–40 140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ніж. Розрив
у 229 разів усередині категорії.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Справжня Японія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Гроші під вивіскою «японський ніж» заробляє Китай: 64 % митної бази.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Найбільша комерційна можливість категорії не потребує японського постачальника.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ВИЗНАЧЕННЯ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 різні «японські ножі», які відрізняються у 15 разів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Перед тим як рахувати ринок, треба домовитись, що саме ми рахуємо. Від визначення залежить і розмір, і стратегія.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36192"/>
            <a:ext cx="3547872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pic>
        <p:nvPicPr>
          <p:cNvPr id="15" name="Picture 14" descr="p_52ed752ac25240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011680"/>
            <a:ext cx="3145536" cy="7863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809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3 700 шт/рік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Країна походження — Японія, підтверджена митним кодом.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Yaxell, KAI Shun, Kasumi, Tojiro, Satake,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Suncraft, Kanetsugu, Miyabi, Sakai Takayuki.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митна статистика 8211 92, Японія, 2024.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2 % ринку в грошах, 0,15 % у штуках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8" y="1536192"/>
            <a:ext cx="3547872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7141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141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546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ЯПОНСЬКИЙ БРЕНД</a:t>
            </a:r>
          </a:p>
        </p:txBody>
      </p:sp>
      <p:pic>
        <p:nvPicPr>
          <p:cNvPr id="27" name="Picture 26" descr="p_b9e6dbc59ad140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011680"/>
            <a:ext cx="3145536" cy="7863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7141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₴150–230 млн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120–200 тис. шт/рік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141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подається як японський, виробництво — інше.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Samura (Китай), Sekiryu, Satori, Takagi,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плюс безіменні «японські» пропозиції.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SKU-аудит Епіцентр, Rozetka, Prom, ProfiMax.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7141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141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17–25 % ринку в грошах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7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3567" y="1536192"/>
            <a:ext cx="3547872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7473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ЯПОНСЬКА ФОРМА</a:t>
            </a:r>
          </a:p>
        </p:txBody>
      </p:sp>
      <p:pic>
        <p:nvPicPr>
          <p:cNvPr id="39" name="Picture 38" descr="p_42251fe95197c2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1680"/>
            <a:ext cx="3145536" cy="7863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17473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9A50B"/>
                </a:solidFill>
                <a:latin typeface="Segoe UI"/>
              </a:rPr>
              <a:t>₴140–260 млн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400–700 тис. шт/рік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Сантоку / накірі / гюто будь-якого походження.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Fissman, Krauff, Ardesto, Vinzer, Maestro,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DICK, ICEL, Hendi, Tramontina, Victorinox.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фільтр «японський ніж (сантоку)» в роздробі.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Сантоку став другим ножем у масовій рознічі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46320"/>
            <a:ext cx="5532120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4846320"/>
            <a:ext cx="36576" cy="138988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001768"/>
            <a:ext cx="5056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НАЙВАЖЛИВІШИЙ СЛАЙД У КОЛОДІ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230368"/>
            <a:ext cx="505663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Питання «який обсяг ринку японських ножів» не має однієї відповіді.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Різниця між визначенням A і B — 12 разів у грошах і 40 разів у штуках.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Постачальник із Секі і постачальник із Янцзяна конкурують у різних всесвітах,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хоча на полиці Епіцентру стоять поруч і обидва підписані «японський ніж».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846320"/>
            <a:ext cx="5413248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846320"/>
            <a:ext cx="36576" cy="138988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4" y="500176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НАСЛІДОК ДЛЯ ВХОДУ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5230368"/>
            <a:ext cx="49377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Вибір визначення = вибір бізнес-моделі.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A — імпорт преміуму з 10 % митом у ніші, що не росте.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B — брендинг і контрактне виробництво, де вже сидить Samura.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C — товарна війна цінників із Fissman і Krauff.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Змішувати їх в одній фінмоделі не можна.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Оцінки B і C — власний розрахунок на основі SKU-аудиту та припущень про оборотність; вони мають нижчу надійність, ніж A, яка спирається на митну статистику. Див. слайд 30.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9,02 млн $ імпорту — і 1,3 % із них із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Останній повний рік у Comtrade — 2024. Дані за 2025 рік ще не опубліковані, тому вся митна частина колоди — це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МИТНІ КОДИ КАТЕГОРІЇ, ІМПОРТ 2024, ТИС. $ CIF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7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7" y="1810512"/>
            <a:ext cx="2057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ГОЛОВНЕ 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1810512"/>
            <a:ext cx="2926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98882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2996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8211 10 00 00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299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0299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7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7" y="202996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2 021,3 (86 %)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20299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Подарунковий сегмент. Майже повністю Китай.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8211 91 00 00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230428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230428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7" y="230428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7" y="230428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969,6 (89 %)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230428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Столові набори, HoReCa-сервіровка.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53746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57860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8211 92 00 00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5786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7" y="25786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6167" y="257860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7" y="257860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3 555,9 (64 %)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57860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Тут і кухонні, і мисливські, і польові.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71215"/>
            <a:ext cx="1106424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80944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298094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7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7" y="298094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7" y="2980944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Китай 6 546,7 (73 %)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2980944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 — 117,5 тис. $, або 1,3 %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КОД 8211 92, ТИС. $ CIF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493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07007" y="3534156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7" y="3534156"/>
            <a:ext cx="276683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15967" y="34930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0390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07007" y="3845052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7007" y="3845052"/>
            <a:ext cx="184068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7" y="380390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114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007" y="4155948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007" y="4155948"/>
            <a:ext cx="239776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7" y="41148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517136"/>
            <a:ext cx="5413248" cy="17007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4517136"/>
            <a:ext cx="36576" cy="17007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46725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ЦЯ ДИНАМІКА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4901184"/>
            <a:ext cx="493776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імпорт у 2024 році на 13 % нижчий за 2022 рік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урахуванням доларової інфляції падіння реальне і суттєвіше.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Стрибок 2023→2024 (+30 %) — це відновлення після провалу, а не тренд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Висновок: у цій ніші немає імпортної хвилі, на яку можна сісти.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ТОП-10 КРАЇН-ПОСТАЧАЛЬНИКІВ, 8211 92, 2024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347472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760" y="3515868"/>
            <a:ext cx="3070875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60" y="347472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3 556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7307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3771900"/>
            <a:ext cx="37376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0" y="373075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8678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4027932"/>
            <a:ext cx="290515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24160" y="398678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24281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Бразилія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283964"/>
            <a:ext cx="22997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24160" y="424281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4988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23760" y="4539996"/>
            <a:ext cx="17220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24160" y="44988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475488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Швеція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23760" y="4796028"/>
            <a:ext cx="12384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0" y="47548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01091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5052060"/>
            <a:ext cx="8920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50109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26694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5308092"/>
            <a:ext cx="74183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52669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229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564124"/>
            <a:ext cx="6071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24160" y="552297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7790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Швейцарія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5820156"/>
            <a:ext cx="5432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24160" y="5779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63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World Bank WITS / UN Comtrade, імпорт України, 2022–2024, коди 8211 10, 8211 91, 8211 92. Сума по Японії: 103,3 (8211 92) + 14,3 (8211 91) = 117,5 тис. $; у наборах 8211 10 Японія не потрапила в опубліковані рядки.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 РАХУВАЛИ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9,02 млн $ митниці до 691–924 млн грн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крок — це припущення. Показую всі, щоб можна було не погодитись із конкретним, а не з результатом.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717890"/>
                </a:solidFill>
                <a:latin typeface="Segoe UI"/>
              </a:rPr>
              <a:t>9 020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митна база
8211 10+91+92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4016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4820A"/>
                </a:solidFill>
                <a:latin typeface="Segoe UI"/>
              </a:rPr>
              <a:t>6 600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кухонна частка:
55–70 % коду 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E9EA6"/>
                </a:solidFill>
                <a:latin typeface="Segoe UI"/>
              </a:rPr>
              <a:t>7 130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+8 % сірий імпорт
і локальне пакування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2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5D4B96"/>
                </a:solidFill>
                <a:latin typeface="Segoe UI"/>
              </a:rPr>
              <a:t>×1,30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мито + ПДВ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10 % Китай/Японія,
0 % ЄС; ПДВ 20 %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1583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94F7C"/>
                </a:solidFill>
                <a:latin typeface="Segoe UI"/>
              </a:rPr>
              <a:t>×1,8–2,4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583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торгова націнка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маса 1,7–2,0;
спеціалізація 2,0–2,6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02367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4867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37A169"/>
                </a:solidFill>
                <a:latin typeface="Segoe UI"/>
              </a:rPr>
              <a:t>691–924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млн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роздріб на рік
= 15,4–20,6 млн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9443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ПЕРЕРАХУНОК У ШТУКИ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8211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СЕГМЕНТ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3182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СЕРЕДНЯ ЦІНА CIF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3182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ОЦІНКА ШТУК НА РІК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34213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38328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Китай, масовий сегмент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33832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1,2–2,5 $/шт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≈ 1 900–2 400 тис. шт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65760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Європа, середній і проф.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36576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6–12 $/шт CIF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65760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≈ 90–140 тис. шт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89077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319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Японія, преміум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31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25–45 $/шт CIF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39319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≈ 3–4 тис. шт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297680"/>
            <a:ext cx="5577840" cy="6400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4443984"/>
            <a:ext cx="2377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РАЗОМ, ШТУК НА РІК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" y="462686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C2235"/>
                </a:solidFill>
                <a:latin typeface="Segoe UI"/>
              </a:rPr>
              <a:t>2,0–2,6 млн ножів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4988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≈ 0,17–0,22 ножа
на домогосподарство на рік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2944368"/>
            <a:ext cx="5321808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09360" y="2944368"/>
            <a:ext cx="36576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47104" y="30998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ПЕРЕВІРКА НА ЗДОРОВИЙ ГЛУЗД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7104" y="3328416"/>
            <a:ext cx="484632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11–12 млн домогосподарств × 0,2 ножа на рік = цикл заміни 5 років на 1 ніж.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відповідає поведінці масового покупця: ніж змінюють, коли він перестав різати,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не за графіком. Порядок величини правдоподібний.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09360" y="4572000"/>
            <a:ext cx="5321808" cy="16642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4572000"/>
            <a:ext cx="36576" cy="16642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47104" y="4727448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ЦЯ МОДЕЛЬ НАЙБІЛЬШЕ МОЖЕ ПОМИЛЯТИСЬ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47104" y="4956048"/>
            <a:ext cx="4846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Частка кухонних ножів у коді 8211 92 — головна невизначеність. Війна підняла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    попит на польові й тактичні ножі, тому реальна частка може бути ближче до 50 %.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Торгова націнка 1,8–2,4 — галузева конвенція, а не виміряна маржа.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Середні ціни CIF по сегментах — експертна оцінка, не митні дані по вагах.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Курс НБУ 44,86 грн/$ станом на 30.09.2026. Діапазон 691–924 млн грн = 15,4–20,6 млн $. Середина діапазону ≈ 18 млн $ або 807 млн грн.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МИТО І СОБІВАРТІСТЬ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Японія платить 10 % там, де ЄС платить 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Угоди про вільну торгівлю між Україною та Японією немає. Це не деталь оформлення — це 10 пунктів собівартості назавжди.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СТАВКИ ДЛЯ КОДУ 8211 92 00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МИТО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ПДВ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МНОЖНИК НА CIF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1810512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88820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299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202996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02996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× 1,32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202996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Режим найбільшого сприяння СОТ. FTA немає.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8600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Китай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1448" y="2286000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228600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1648" y="228600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× 1,32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2860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Той самий режим, що й Японія.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500884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4203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ЄС (Польща, Іспанія, Італія)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41448" y="2542032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54203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254203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25420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Поглиблена ЗВТ Україна–ЄС.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9806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1448" y="279806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279806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279806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9806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ЗВТ, з 01.04.2026.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3012948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054096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Канада, ЄАВТ, Ізраїль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41448" y="3054096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3054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41648" y="3054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58968" y="305409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Чинні угоди про вільну торгівлю.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012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ОАЕ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41448" y="331012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6,7 %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3310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41648" y="3310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× 1,28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331012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Перехідна ставка на 2026 рік.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712463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І ТОЙ САМИЙ САНТОКУ, ДВА ПОХОДЖЕННЯ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95020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СТАТТЯ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84448" y="39502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38928" y="39502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ЄС, СОЛІНГЕН / ТОЛЕДО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110228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1513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EXW / FOB постачальника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38928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40740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Фрахт і страхування до кордону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444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+2,40 $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440740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+1,00 $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622292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66344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CIF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4448" y="46634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22,40 $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38928" y="46634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94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Мито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49194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+2,24 $ (10 %)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38928" y="49194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0,00 $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5134356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517550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База ПДВ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44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38928" y="51755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54315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Собівартість на складі, без ПДВ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84448" y="54315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38928" y="543153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3776" y="5646420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6875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Роздріб при націнці ×2,2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84448" y="56875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2 432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568756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2 072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6800" y="1810512"/>
            <a:ext cx="294436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1810512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24544" y="1965960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4544" y="2194560"/>
            <a:ext cx="246888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приїжджає на полицю на 17 % дорожче за європейський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аналог тієї самої закупівельної ціни.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 полиці це 360 грн різниці на кожному ножі за 2 000 грн.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86800" y="4041648"/>
            <a:ext cx="294436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8680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24544" y="4197096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ЦЕ ЗМІНЮЄ В СТРАТЕГІЇ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24544" y="4425696"/>
            <a:ext cx="246888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треба продавати як цінність, а не як характеристику.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Якщо покупець не платить премію за напис «Made in Seki»,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постачальник програє європейському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ще до першої продажі.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Ставки: УКТЗЕД 8211 92 00 00, повна (РНС) ставка 10 % із 01.01.2023, ПДВ 20 %. Преференційні ставки 0 % — ЄС, ЄАВТ, Канада, Ізраїль, Північна Македонія, Велика Британія. Приклад розрахунку умовний.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1 · ГЕОМЕТРІЯ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 Fissman 61 SKU сантоку на Rozetka.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2 · СТАЛЬ І КОНСТРУКЦІЯ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Справжні цінові сходи — не бренд, а сталь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японського ножа на 70 % визначається маркою сталі й кількістю шарів. Це єдина вісь, яку можна перевірити лабораторно.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ТВЕРДІСТЬ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5727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17922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AUS-8, 8Cr13MoV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 HRC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7922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Kasumi Tora, Satake Saku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833372"/>
            <a:ext cx="16495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06654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06654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06654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206654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6654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Satake Sakura, KAI Wasabi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81360" y="2107691"/>
            <a:ext cx="28492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6" y="229971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4086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 шарів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234086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damascus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408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34086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34086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Damascus, Yaxell Zen/Ran, KAI Shun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81360" y="2382011"/>
            <a:ext cx="434888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518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61518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61518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 HRC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261518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40 140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261518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 / Super Gou / Ypsilon, Miyabi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81360" y="2656331"/>
            <a:ext cx="749808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" y="284835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8950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28895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288950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 HRC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6168" y="288950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15 000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3488" y="288950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Takayuki, Kaneyoshi, Yoshihiro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81360" y="2930651"/>
            <a:ext cx="337413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1638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Кераміка ZrO₂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6382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цирконій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47488" y="316382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16382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1 900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16382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Samura Inca, Fissman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204971"/>
            <a:ext cx="7498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81360" y="1572768"/>
            <a:ext cx="749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ВІДН. ЦІНА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584448"/>
            <a:ext cx="2340864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724b2936515eb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194560" cy="102412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13232" y="4754880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Дамаск, 32–69 шарів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" y="4919472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VG-10 у серцевині, 60–61 HRC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84" y="358444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3 · РУКІВ'Я — ЩО ВОНО ГОВОРИТЬ ПРО КАНАЛ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2384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5504" y="3822191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МАТЕРІАЛ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5783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ЗУСТРІЧАЄТЬСЯ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99232" y="3982212"/>
            <a:ext cx="6272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384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Wa — японське восьмигранне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75504" y="402336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магнолія, пакка, стабілізоване дерево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5783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Тільки спеціалізовані магазини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72384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Yo — західне клепане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75504" y="429768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мікарта, POM, ламінат, сталь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5783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Усе, що доходить до полиці та HoReCa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184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25db2918203bf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657600"/>
            <a:ext cx="896111" cy="13716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10588752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6627fa7684885d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3657600"/>
            <a:ext cx="896111" cy="13716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473184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wa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88752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358384"/>
            <a:ext cx="36576" cy="104302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ЦЯ ВІСЬ ВАЖЛИВІША ЗА 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можна перевірити: твердомір, XRF-аналізатор, різ по канату. Бренд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можна. У категорії, де 3 000+ пропозицій на Prom підписані «японська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AUS-8», сталь — єдина основа для порівняння.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358384"/>
            <a:ext cx="36576" cy="10430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 ТВЕРДОСТІ ПОНАД 60 HRC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Чим вища твердість, тим довше тримає кромку — і тим легше вона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викришується на кістці й замороженому продукті. Ножі 62–64 HRC вимагають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водних каменів і навички, а сервісу заточення в Україні немає.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4 · ЦІНОВІ ДІАПАЗОНИ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Половина штук дає 12 % грошей, 4 % штук дають 24 %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— власна оцінка на основі структури асортименту й спостережених цін. Це модель, а не виміряні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ЦІНОВІ ДІАПАЗОНИ · ЧАСТКА У ШТУКАХ І В ГРОШАХ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105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ГРН ЗА НІЖ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ШТУКИ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810512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ТИПОВІ БРЕНДИ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0528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00710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Вхідний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048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699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2048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Kamille, Maestro, Vinzer, no-name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528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21608" y="2089404"/>
            <a:ext cx="118872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4688" y="2089404"/>
            <a:ext cx="57058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3912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Цінність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23225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1 499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7768" y="23225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Krauff, Fissman, Satake Saku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Rozetka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21608" y="2363724"/>
            <a:ext cx="64190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4688" y="2363724"/>
            <a:ext cx="95097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912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5557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Середній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25968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3 499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87768" y="25968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Satoru/Sakura, Samura Mo-V, KAI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спеціалізація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21608" y="2638044"/>
            <a:ext cx="30906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5604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4688" y="2638044"/>
            <a:ext cx="1046073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3912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Верхній середній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5856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3 500 – 7 499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87768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Suncraft Senzo, Kasumi Damascus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0528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21608" y="2912363"/>
            <a:ext cx="142646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04688" y="2912363"/>
            <a:ext cx="104607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3912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3104387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58568" y="31455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7 500 – 14 999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87768" y="31455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Ran, KAI Shun, Kanetsugu Saiun, Miyabi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528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21608" y="3186683"/>
            <a:ext cx="71323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5604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4688" y="3186683"/>
            <a:ext cx="713232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3912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Ультра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58568" y="341985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15 000 – 40 140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7768" y="341985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Super Gou / Ypsilon, Shun сети, Miyabi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528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під замовлення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21608" y="3461003"/>
            <a:ext cx="2377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5604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04688" y="3461003"/>
            <a:ext cx="42793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3912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8096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СЕРЕДНІЙ ЧЕК КАТЕГОРІЇ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≈ 330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096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807 млн грн / 2,4 млн шт.
Домінує вхідний сегмент.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83280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84448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ЗАРПЛАТА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84448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30 926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4448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Держстат, грудень 2025.
Повна зайнятість.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99632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ШЕФ-НІЖ KAI SHUN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94F7C"/>
                </a:solidFill>
                <a:latin typeface="Segoe UI"/>
              </a:rPr>
              <a:t>35 %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10 710 грн за один ніж.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15984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17152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YAXELL SUPER GOU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17152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03B4B"/>
                </a:solidFill>
                <a:latin typeface="Segoe UI"/>
              </a:rPr>
              <a:t>57 %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17 746 грн за один ніж.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6928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513892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4672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СТЕЛЯ ДОСТУПНОСТІ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4672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Преміум-сегмент в Україні обмежений не смаком, а доходом. При середній зарплаті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30,9 тис. грн ніж за 10–18 тис. грн — це покупка рівня побутової техніки,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яку роблять раз на кілька років і переважно як подарунок.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513892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55664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ГРОШІ, А ДЕ ОБСЯГ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55664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живе до 1 500 грн, гроші — від 1 500 до 7 500 грн. Діапазон 1 500–7 500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дає 44 % грошей при 19 % штук. Це найпривабливіша зона за співвідношенням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маржі й оборотності — і саме там сидить Samura.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Розподіл часток — авторська оцінка на базі структури асортименту (SKU-аудит Епіцентр, Rozetka, ProfiMax, Prom) і спостережених цін. Прямих даних sell-through по категорії в Україні немає.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5 · ПОКУПЕЦЬ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покупців, і лише два з них купують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Сегментація за тим, хто платить і за що. Вона визначає канал, комунікацію і повернення на маркетинг.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ЧЕК,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727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ВИРІШУЄ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КУПУЄ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2248" y="1572768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ПОРТРЕТ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B2C · масовий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792224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179222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Форма леза, ціна, знижка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792224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1792224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знає брендів. Купує сантоку, бо «японський»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B2C · просьюмер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08026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6 000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08026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Марка сталі, огляди, HRC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2080260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2080260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Tojiro, Kasumi Tora. Читає перед покупкою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B2C · ентузіаст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2368296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40 140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23682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Ковалі, серії, колекція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сірий імпорт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368296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2368296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Gou, Shun, одностороннє вуглецеве. 2–4 тис. людей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B2C · подарунок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2656332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26563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Коробка, гравіювання, набір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656332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2656332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Пік у грудні та березні. Купує не для себе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B2B · лінійний кухар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2944368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29443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Зносостійкість, ціна заміни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6188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8" y="2944368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2944368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Arcos, Tramontina, Pirge. Ніж — витратний матеріал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B2B · шеф і суші-майстер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3232403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2 000 – 15 000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0208" y="32324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Особистий набір, геометрія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Купує сам, часто за кордоном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3232403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2248" y="3232403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професіонал, що платить за Японію. Але не через дистриб'ютора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B2B · інституційний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0048" y="3520439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200 – 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50208" y="35204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HACCP, кольорове кодування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Тендер, опт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5008" y="3520439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2248" y="3520439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Їдальні, кейтеринг, харчові виробництва. Європа за замовчуванням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4041648"/>
            <a:ext cx="36576" cy="21945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ЄДИНІ ДВА, ХТО ПЛАТИТЬ ЗА ЯПОНІЮ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Просьюмер і ентузіаст. Разом це, за оцінкою, 15–25 тис. активних покупців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Подарунковий покупець платить за коробку, а не за походження: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його однаково влаштує Solingen.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768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768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3542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ПАРАДОКС ШЕФА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Шеф-кухар — найкваліфікованіший покупець японського ножа в країні.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саме він найгірший клієнт для дистриб'ютора: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він купує один ніж раз на 3–5 років, обирає сам, часто привозить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із-за кордону або замовляє напряму. Він не канал — він референс.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6720" y="4041648"/>
            <a:ext cx="36576" cy="21945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8446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РЕАЛЬНІ ГРОШІ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446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Масовий B2C і лінійний кухар — це 80 % штук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не купують Японію і не збираються.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Будь-яка модель, побудована на японському походженні,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визначенням відрізає себе від 80 % ринку.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КАНАЛІВ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каналів, і японська глибина тільки в двох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Аудит публічних каталогів, вересень 2026. SKU — це ширина асортименту, а не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ГРАВЦІ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ГЛИБИНА ЯПОНІЇ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77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73936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2880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8288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japan-knife, ProfiMax, ROKS, Volod, Rezat,
Hangiri, Nojaro, Smart-Kitchen, Europosud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4728" y="182880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Максимальна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2880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1 000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182880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просьюмер, подарунок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9608" y="182880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Авторитет категорії. Малий обіг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32304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432304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arcos.com.ua, lacocotte.com.ua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4728" y="243230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Ексклюзив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2432304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2 895 – 40 140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243230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B2C, подарунок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9608" y="243230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Слоти топ-брендів уже зайняті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980944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3035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SKU ножів,
з них Samura 287, Suncraft 97, Tojiro 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3035808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Дрібна, але справжня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3035808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 – 56 242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8" y="303580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8" y="30358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Основний обсяг. Домінує Samura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39312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639312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(Samura 218 SKU), Prom (3 000+
«японських»), Kasta, Bigl, Shafa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36393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Широка, непідтверджена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42048" y="3639312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175 – 9 499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8" y="363931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B2C, мисливець за ціною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8" y="363931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Цінова війна. Потік no-name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4187952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42816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Опт HoReCa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4242816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 Gastro24,
Profood, Новий Проект, System4, Kareho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4728" y="4242816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Майже нульова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048" y="424281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296 – 13 290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59368" y="4242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Ресторани, кейтеринг, виробництва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79608" y="424281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Тримають європейські бренди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Сірий / особистий імпорт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484632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Meest, Nova Poshta Global, Amazon,
mygoodknife, eBay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24728" y="4846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Будь-яка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484632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до 150 € без мита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59368" y="48463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шеф-кухар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9608" y="484632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Витік найдорожчого попиту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504688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СТРУКТУРА, ЯКА ВИЗНАЧАЄ ВСЕ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і глибина Японії розведені по різних каналах. Там, де є обіг (Епіцентр,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маркетплейси), японського майже немає. Там, де є Японія, немає обігу.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5504688"/>
            <a:ext cx="36576" cy="87213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ВХОДУ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Новий гравець мусить обрати: або ставати шостим спеціалістом у ніші на 16–19 млн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або битися за полицю Епіцентру — де японського походження ніхто не вимагає.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1 · СПЕЦІАЛІЗОВАНИЙ ОНЛАЙН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магазинів тримають усю справжню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вся категорія «зроблено в Японії» в Україні. Разом — близько 1 000 японських SKU і оцінно 16–19 млн грн роздрібу на рік.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МАГАЗИН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72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ГЕО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АСОРТИМЕНТ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7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БРЕНДИ І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6807" y="15727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profimax.com.ua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1792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12 япон. брендів, ~700 япон.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7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1 041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 103, KAI 140, Samura 206, Tojiro 86, Suncraft 79, Satake 64, Kasumi 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1792224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каталог країни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roks.in.ua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06197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24 япон. бренди, 137 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7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80 – 16 740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7" y="206197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Tosa 26, Kanetsugu 17, Masahiro 16, Yoshihiro 15, Takamura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061972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Найрідкісніші ковалі. Дилерства не заявляє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233172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Київ,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 брендів + камені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7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899 – 9 999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7" y="233172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Yaxell, KAI, Kasumi, Tojiro, Samura, Suncraft + Shapton, Naniwa, 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331720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Ніж + заточення в одному місці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volod.in.ua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260146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18 SKU, японська секція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7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7" y="26014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Kasumi Damascus 13, Tora 10, Kuro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1468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одному бренду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rezat.com.ua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41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44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300+ позицій япон. категорії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7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570 – 1 150 (масова полиця)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7767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KAI, Samura, Satake, Kanetsugu, Tojiro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871215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Найдоступніший вхід у категорію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hangiri.com.ua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3140963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644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для суші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87767" y="314096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Sekiryu, Sakai Takayuki, KAI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140963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профільний суші-магазин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smart-kitchen.com.ua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41448" y="3410711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644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«для суші»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96127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7" y="3410711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 та ін.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3410711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спеціалізація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nojaro.com.ua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41448" y="368045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сантоку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96127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7" y="368045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Змішаний асортимент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3680459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Нішевий агрегатор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950207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europosud.ua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41448" y="3950207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64408" y="39502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Серія «японські ножі»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96127" y="3950207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7767" y="3950207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Samura, Tojiro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78440" y="3950207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Посуд + ножі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78440" y="1572768"/>
            <a:ext cx="1252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4315968"/>
            <a:ext cx="36576" cy="19202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КАНАЛ НЕ МАСШТАБУЄТЬСЯ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Дев'ять магазинів на 33 млн населення — це не недорозвиненість,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рівновага. Ринок, який вони обслуговують, замалий для десятого.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офлайн-мережі: усе працює через Нову пошту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одного київського складу.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7680" y="4315968"/>
            <a:ext cx="36576" cy="19202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542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ЦЕЙ КАНАЛ РОБИТЬ ДОБРЕ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Продає складний товар складному покупцю: описи сталі, HRC,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кількість шарів, походження заводу.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єдиний канал, де маржа виправдовує консультацію.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Тут можна запустити новий бренд — але не можна заробити обсяг.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04672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046720" y="4315968"/>
            <a:ext cx="36576" cy="1920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8446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ЗАУВАЖЕННЯ ПРО ДОСТОВІРНІСТЬ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8446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ROKS прямо не заявляє статусу офіційного дилера, хоча продає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24 японські бренди. japan-knife працює через Prom.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покупця це означає, що гарантія і походження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тримаються на слові продавця, а не на дилерському договорі.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2 · МОНОБРЕНДОВІ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Найкращі бренди вже мають ексклюзивного партнера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головна перешкода входу, яку зазвичай помічають надто пізно: вільних топ-брендів на ринку немає.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5727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572768"/>
            <a:ext cx="2514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1572768"/>
            <a:ext cx="3246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 ДИСТРИБУЦІЇ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15727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647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1810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1810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yaxell.com.ua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1810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Ексклюзивний імпортер, шоурум у Києві
(Борщагівська 154а, ТЦ Аркадія)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1810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18520" y="1792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1819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267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Miyabi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2267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 (Zwilling)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2267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lacocotte.com.ua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267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Офіційне представництво Zwilling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9528" y="2267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2249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2276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6791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724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724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2724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japan-knife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2724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продавців, дистриб'ютор не афішується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724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18520" y="2706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18520" y="2734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1821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31821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3 заводи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8808" y="31821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31821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9528" y="31821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18520" y="31638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18520" y="31912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5935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6393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36393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8808" y="36393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 (97 SKU)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3408" y="36393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Присутній у великому форматі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39528" y="36393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18520" y="36210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18520" y="36484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96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50008" y="4096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Секі, з 1947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8808" y="4096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4096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Розсіяний, без явного ексклюзиву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9528" y="4096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018520" y="4078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20" y="4105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5079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553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0008" y="4553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4553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japan-knife, 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3408" y="4553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9528" y="4553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018520" y="4535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20" y="4562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5010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50008" y="5010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78808" y="5010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arcos.com.ua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93408" y="5010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Офіційний сайт бренду в Україні, 311 SKU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9528" y="5010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018520" y="4992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18520" y="5020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18520" y="1572768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СЛОТ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504688"/>
            <a:ext cx="36576" cy="8778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ЗАЛИШИЛОСЬ ВІЛЬНИМ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і Kasumi — єдині серйозні японські бренди без явного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— середній ціновий сегмент. Верхній сегмент закритий повністю.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504688"/>
            <a:ext cx="36576" cy="8778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АЛЬТЕРНАТИВА ДИСТРИБУЦІЇ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Власна торгова марка з японського заводу (OEM) обходить питання слотів,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додає вартість побудови бренду до вже наявних 10 % мита.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Статус дистрибуції визначено за наявністю окремого брендового сайту з українською доменною зоною та заявою про ексклюзив; це непрямий індикатор, а не перевірені дилерські договори.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3 · ВЕЛИКИЙ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Епіцентр: 4 950 ножів, і третій бренд у ньому — Samura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Найбільша офлайн-полиця кухонних ножів в Україні. Саме вона визначає, що більшість людей вважає нормальною ціною.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БРЕНДИ ЗА ШИРИНОЮ АСОРТИМЕНТУ · КАТЕГОРІЯ «КУХОННІ НОЖІ»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1851660"/>
            <a:ext cx="27956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105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81051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і масовий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66543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93392" y="2107691"/>
            <a:ext cx="223936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2" y="2066543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066543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06654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32257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2" y="2363724"/>
            <a:ext cx="101692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232257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32257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32257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середній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7860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2619756"/>
            <a:ext cx="8468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257860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57860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257860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83464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Maestro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93392" y="2875788"/>
            <a:ext cx="425196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9472" y="283464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3464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83464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9067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Tescoma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93392" y="3131820"/>
            <a:ext cx="40039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19472" y="309067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09067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30906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34670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Vinzer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93392" y="3387852"/>
            <a:ext cx="3897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19472" y="334670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34670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34670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0273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Krauff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93392" y="3643884"/>
            <a:ext cx="36141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19472" y="360273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32120" y="360273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60273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85876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93392" y="3899916"/>
            <a:ext cx="34370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19472" y="385876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85876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8040" y="38587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 і преміум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11480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Kamille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93392" y="4155948"/>
            <a:ext cx="3153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19472" y="411480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2120" y="411480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78040" y="411480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37083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93392" y="4411980"/>
            <a:ext cx="10629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19472" y="437083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437083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437083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62686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93392" y="4668012"/>
            <a:ext cx="2125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19472" y="462686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2120" y="462686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462686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833104" y="1810512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34272" y="1965960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УСЬОГО SKU В КАТЕГОРІЇ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34272" y="217627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4820A"/>
                </a:solidFill>
                <a:latin typeface="Segoe UI"/>
              </a:rPr>
              <a:t>4 950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34272" y="26517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Ножі кухонні, Епіцентр,
вересень 2026.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33104" y="2926080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34272" y="3081528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3291840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9EA6"/>
                </a:solidFill>
                <a:latin typeface="Segoe UI"/>
              </a:rPr>
              <a:t>8 – 56 242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34272" y="3767328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Основна маса —
79–699 грн.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33104" y="4041648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34272" y="4197096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34272" y="44074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D4B96"/>
                </a:solidFill>
                <a:latin typeface="Segoe UI"/>
              </a:rPr>
              <a:t>133 SKU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488289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Suncraft 97 + Tojiro 30 + KAI 6.
2,7 % полиці.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33104" y="5157216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034272" y="5312664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«ЯПОНІЯ» З КИТАЮ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4272" y="5522976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03B4B"/>
                </a:solidFill>
                <a:latin typeface="Segoe UI"/>
              </a:rPr>
              <a:t>287 SKU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34272" y="599846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Тільки Samura.
У 2,2 раза більше за всю Японію.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5029200"/>
            <a:ext cx="36576" cy="12070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4672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ГОЛОВНИЙ ФАКТ ЦІЄЇ ПОЛИЦІ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Найбільша мережа країни продає під вивіскою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ножа у 2,2 раза більше SKU бренду з Китаю, ніж усіх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справжніх японців разом. Покупець різниці не бачить.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18304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18304" y="5029200"/>
            <a:ext cx="36576" cy="120700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56048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ВІДКРИВАЄ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56048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Suncraft із 97 SKU — не тест, а повноцінна лінійка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справжньої Японії у великому форматі. Бар'єр не в мережі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 не в покупцеві, а в тому, хто зайде з пропозицією.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публічний каталог epicentrk.ua, фільтр «Кухонні ножі», вересень 2026. Кількість SKU відображає ширину асортименту, а не продажі. Походження вказано за даними виробників і публічних джерел.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4 · МАРКЕТПЛЕЙСИ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3 000+ «японських ножів», з яких японських — одиниці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Тут формується уявлення покупця про ціну. І тут же — найбільший ризик для будь-якого бренду, який хоче тримати позиціювання.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Samura — 218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Fissman сантоку — 61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175 – 9 499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Найбільший трафік категорії в Україні.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Фільтр «японський ніж (сантоку)» — це тип леза,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 не походження. Global присутній, 2 618 – 13 195 грн.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PROM.UA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29 на першій сторінці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399 – 6 200 грн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Продавці: KnivaX, Ukrmaga, City Home, Rubanok,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Комплекс Маркет. Бренди: Satake, Takagi, Satori,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Suncraft Senzo, Vinzer, SONMELONY, TURWHO.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ІНШІ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3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Kasta, Bigl, Shafa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Shafa — вторинний ринок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1 999 – 2 979 грн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93023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3023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Shafa продає «професійний японський кіріцуке»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 2 979 грн без бренду взагалі.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Вторинний ринок japanese-style уже сформувався.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РЕАЛЬНО ПРОДАЄТЬСЯ ПІД СЛОВОМ «ЯПОНСЬКИЙ»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06240"/>
            <a:ext cx="3840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МАЙДАНЧИК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20624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4206240"/>
            <a:ext cx="4800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НАСПРАВДІ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436626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40740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TURWHO шеф 8″, дамаск VG-10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4074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1848" y="440740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4848" y="440740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Китай, бренд без історії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66344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без бренду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46634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466344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1 586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466344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Походження не вказано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" y="487832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19472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Кіріцуке «професійний»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7408" y="49194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Shafa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1848" y="491947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4919472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Вторинний ринок, без бренду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5175504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Saku накірі 170 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07408" y="51755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1848" y="517550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84848" y="5175504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Секі, Японія, з 1947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539038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431536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Sekiryu SR-400 янагіба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07408" y="54315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Hangiri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41848" y="543153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5431536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Японський бренд, бюджетна лінія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68756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Krauff Luxus сантоку 17,7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07408" y="56875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1848" y="56875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540 (з 720)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84848" y="568756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Німецький бренд, Китай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90245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94360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Fissman Elegance сантоку 13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594360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1848" y="594360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84848" y="594360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Латвійський бренд, 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63276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Ціни зібрані з публічних сторінок магазинів у вересні 2026 і включають промо-знижки. Вони не є середніми цінами продажу.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5 · ОПТ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523 професійні ножі — і два японські бренди серед них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головний негативний результат дослідження. Професійний канал в Україні японські ножі не продає.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AL-GROUP · ОПТ ПРОФЕСІЙНИХ НОЖІВ ДЛЯ HORECA · 523 ПОЗИЦІЇ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Arcos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Tramontina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Pirge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Туреччина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Sanelli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Hendi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Нідерланди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Stalgast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Польща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2571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Paderno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Lacor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93392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93392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Giesser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19856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9856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WAS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GI.Metall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Chef-1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0464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ЄВРОПА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0464" y="19751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13 брендів
із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ЯПОНСЬКІ ПОЗИЦІЇ В ЦЬОМУ КАТАЛОЗІ — ВСЬОГО ТРИ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089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310896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310896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0368" y="31089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26898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3101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9968" y="33101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165 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1648" y="33101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8 004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33101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5844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Kaneyoshi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29968" y="35844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41648" y="35844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358444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381762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587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Ketu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8587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Накірі 165 мм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1648" y="38587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13 290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0368" y="38587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23760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p_834b41037720a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926080"/>
            <a:ext cx="1956815" cy="100584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4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Європа на профкухні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4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Arcos, Tramontina, Pirge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28048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3f769ecb739067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926080"/>
            <a:ext cx="1956815" cy="10058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674352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«Японський» в опті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= форма леза, не походження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517136"/>
            <a:ext cx="44074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0" y="4517136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61504" y="4672584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LFOOD.COM.UA · КАТЕГОРІЯ «ЯПОНСЬКІ НОЖІ»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1504" y="4901184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28 позицій, 1 274 – 5 907 грн. Бренди: DICK (Німеччина, 13),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ICEL (Португалія, 8), Hendi (6), Stalgast (1).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Японських брендів — жодного.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«Японський ніж» у профканалі означає форму леза.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041648"/>
            <a:ext cx="321868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6928" y="4041648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" y="4197096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ЄВРОПА ВИГРАЛА ЦЕЙ КАНАЛ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4425696"/>
            <a:ext cx="274320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Ціна заміни. Arcos і Tramontina — 300–900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ніж, це списується без болю.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Логістика. Ножі приїжджають разом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 каструлями, дошками і формою.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Ніж — рядок у накладній, а не окрема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закупівля.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31920" y="4041648"/>
            <a:ext cx="30358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31920" y="4041648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69663" y="4197096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МОДЕЛІ ВХОДУ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9663" y="4425696"/>
            <a:ext cx="25603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Продати японський ніж у HoReCa через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існуючий опт не вийде: у цих каталогів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немає ні полиці, ні аргументу, ні сервісу.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Єдиний виняток — односторонні ножі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суші, але це 500–900 штук на рік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преміум: ₴7 000 – 40 140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Бренди з підтвердженим японським виробництвом у верхньому ціновому діапазоні. Усі мають робочий канал в Україні.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5727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СЕРІЇ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8524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 НА РИНКУ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5107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17922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Zen 37, Ran 69, Gou 101, Super Gou 161,
Ypsilon 193 шари, Ketu, Taishi, Rei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Ексклюзив + ProfiMax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Верх ринку. SG-2 порошок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0894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KAI / Shun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0894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0894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20894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Shun Classic 42, Premier Tim Mälzer 18,
Wasabi Black 20, Seki Magoroku 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894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Найвідоміше ім'я. Шеф 20 см — 10 710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34543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865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Miyabi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3865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 (Zwilling)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7288" y="23865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23865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Традиційні японські серії
під німецьким власником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8" y="23865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Найдорожчий бренд у роздрібі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6837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Kasumi / Sumikama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6837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26837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 – 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6837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Damascus 32 шари VG-10 61 HRC,
Kuro 32 шари, Tora AUS-6A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2208" y="26837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524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293979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9809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Suncraft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7288" y="29809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79 – 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9809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Elegancia, Senzo Black / Classic /
Professional / Clad / Retro, MU Bamboo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29809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преміум у великому форматі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2781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Kanetsugu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2781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47288" y="32781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456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1 290 – 8 890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44768" y="32781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Saiun, Pro-M, Miyabi Isshin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32781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ROKS, ProfiMax, РіЗ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524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Недооцінений. Saiun 8 290 – 8 890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53415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5753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Global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2848" y="35753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 (Yoshikin)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47288" y="35753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4456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4768" y="35753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Суцільнометалевий корпус,
упізнаваний дизайн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35753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Rozetka, m.ua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524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Іконічний дизайн, слабка присутність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8724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2848" y="38724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Сакаї, Японія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47288" y="38724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4456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38724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Ковані односторонні,
вуглецева Yellow Steel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38724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Hangiri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Традиційна ковка. Ніша суші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412851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1696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Yoshihiro / Takamura / Tosa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12848" y="41696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ковалі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47288" y="41696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/ 8 /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4456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16 740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41696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Дрібносерійні та ковальські лінії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22208" y="41696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524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Довгий хвіст для колекціонерів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668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Masahiro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12848" y="44668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47288" y="44668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– 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4456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44768" y="44668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лінії, точильні камені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4668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ROKS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8524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Історичний бренд, слабка дистрибуція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19088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_4b3c700b00dc8c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901184"/>
            <a:ext cx="1115568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565392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 Super Gou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17 746 грн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735823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272761f443e37e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5" y="4901184"/>
            <a:ext cx="1115568" cy="91440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882127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Kasumi Damascus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82127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7 400 грн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52559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8389d55acc887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5711" y="4901184"/>
            <a:ext cx="1115568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198863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 Ran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98863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7 426 грн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369295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p_dee392611edd8a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2447" y="4901184"/>
            <a:ext cx="1115568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515599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Преміум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15599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10–28 тис. грн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4828032"/>
            <a:ext cx="5650992" cy="172659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4828032"/>
            <a:ext cx="36576" cy="172659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4983480"/>
            <a:ext cx="51755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ЦЕЙ СЕГМЕНТ ГОВОРИТЬ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5212080"/>
            <a:ext cx="5175504" cy="1196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Десять брендів на ринок обсягом 16–19 млн грн — щільність, яка вже перевищує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економічну доцільність. Yaxell і Miyabi мають ексклюзивних партнерів; KAI, Tojiro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Suncraft продаються кількома продавцями паралельно, а це вже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конкуренція всередині бренду.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в Україні сервісу заточення чи відновлення кромки: ніж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10–18 тис. грн продається як коробка.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доступна: ₴900 – 7 500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сегмент, де японське походження зустрічається з ціною, яку платить масовий покупець. І він майже порожній.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54480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ОПОРНІ ПОЗИЦІЇ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5100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ВАЖЛИВИЙ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32788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7393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з 1947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17739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77393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Saku універсальний 979 · Saku накірі 1 249 ·
Satoru сантоку 1 599 · Sakura шеф 2 999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1007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справжній японець
у масовій ціні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1671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Tojiro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167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заводи, з 1953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167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 – 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16712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2167128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Basic F-318 2 599 · DP F-807 шеф 18 см 5 999 ·
DP Damascus F-659 сантоку 7 499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1671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51007" y="216712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Стандарт «першого
серйозного ножа»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519172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5603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56032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56032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25603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2560320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SR-400 янагіба 1 107 · SR-240S 24 см 1 638 ·
деба 15 см 1 470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25603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Hangiri, Smart-Kitchen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51007" y="25603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Найдешевший вхід
у односторонні ножі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9535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KAI Wasabi 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953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2953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2 520 – 3 499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1888" y="2953512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16,5 см 2 730 · шеф 20 см 3 499 ·
янагіба 15,5 см 2 520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Найдоступніша лінія
великого бренду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305556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3467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34670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0168" y="334670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33467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3 000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34670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AUS-6A моносталь, 56–58 HRC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33467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7" y="33467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Вхід у бренд 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73989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Kaneyoshi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7398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30168" y="37398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37398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73989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 5 740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96528" y="37398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AL-Group (опт HoReCa)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51007" y="37398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японець
у профканалі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602e9dd50399b5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42816"/>
            <a:ext cx="1271016" cy="82296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713232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Satoru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1 599 грн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39112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826c3391179f4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2264" y="4242816"/>
            <a:ext cx="1271016" cy="82296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185416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85416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накірі · 1 249 грн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11296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14672108e1315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4242816"/>
            <a:ext cx="1271016" cy="82296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657600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Sakura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0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2 999 грн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83480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64897f7ec23107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4242816"/>
            <a:ext cx="1271016" cy="82296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129784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29784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від 1 180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55664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f470a6d3833e8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4242816"/>
            <a:ext cx="1271016" cy="82296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601968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янагіба · 1 107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36992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38160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ВХІДНА ЦІНА СПРАВЖНЬОЇ ЯПОНІЇ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38160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9A50B"/>
                </a:solidFill>
                <a:latin typeface="Segoe UI"/>
              </a:rPr>
              <a:t>979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38160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Satake Saku. Нижче
Японії на ринку немає.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20656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021824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ЩО ВИБИРАЄ ПОКУПЕЦЬ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21824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21824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проти 64 у Satake.
Ширина перемагає походження.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14416"/>
            <a:ext cx="11064240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14416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6986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ГОЛОВНИЙ ВИСНОВОК ЦЬОГО СЕГМЕНТА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5998464"/>
            <a:ext cx="10588752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доводить, що справжній японський ніж може коштувати 979 грн і продаватися в Україні. Але Satake один, у нього 64 SKU, і він не має ані маркетингу, ані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неохоронювана ділянка матриці справжньої Японії — і найтонша за юніт-економікою: при ціні 1 000–3 000 грн націнка не покриває консультації, якої вимагає товар.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«Японські» бренди, зроблені не в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за грошима сегмент під вивіскою японського ножа. Формально це не підробка — це маркетингова конструкція.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ВЛАСНИК / 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ВИРОБНИЦТВО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1554480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ПОДАЄТЬСЯ В УКРАЇНІ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17739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Засновано 2003, Алєксєй Яковлєв;
бренд будувався для ринку РФ; HQ Дубай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Переважно Китай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287 Епіцентр · 218 Rozetka
· 206 ProfiMax · 8 ROKS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679 – 14 299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177393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«Японська сталь AUS-8», «японські кухонні ножі».
Країна виробництва в картках не вказується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9456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219456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Японський бренд бюджетної лінії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219456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 / Азія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219456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219456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8" y="219456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для суші та сашимі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574036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6151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Satori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261518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26151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1848" y="26151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26151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1 200 – 2 500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9368" y="2615184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«Ручна робота», «японський стиль»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3580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Takagi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303580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30358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41848" y="30358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96328" y="30358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1 000 – 2 500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035808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«Kanesada деба», японська номенклатура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415284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45643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TURWHO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2848" y="345643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Китайський бренд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4564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34564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 Prom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8" y="34564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2 870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59368" y="3456432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«Професійний японський шеф-ніж, дамаск VG-10»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7705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Ketu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12848" y="387705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38770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38770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96328" y="38770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13 290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59368" y="387705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Продається в опті HoReCa як окремий бренд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256532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2976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Без бренду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12848" y="429768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Продавці Prom, Shafa, OLX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29768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41848" y="42976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96328" y="42976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6 200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59368" y="429768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«Японський», «кіріцуке», «янагіба» без походження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7309d76fc9b15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700016"/>
            <a:ext cx="1024128" cy="768096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1792224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29fb8195e4566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5376" y="4700016"/>
            <a:ext cx="1024128" cy="768096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3017520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d7587c34c502c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700016"/>
            <a:ext cx="1024128" cy="768096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4242816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_269ae8787e24ca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700016"/>
            <a:ext cx="1024128" cy="768096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5468112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1bcfb57b5e40e6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1264" y="4700016"/>
            <a:ext cx="1024128" cy="768096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84848" y="47000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SAMURA НА УКРАЇНСЬКІЙ ПОЛИЦІ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84848" y="491947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Лінійка Harakiri: 679–1 499 грн, найширше представлена серія бренду в Україні.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картках товару зазначено «японська сталь AUS-8»; країна виробництва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зазвичай ні. Це не порушення: японська сталь і японська назва серії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потребують японського заводу.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554126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НЕ ПІДРОБКА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Японська номенклатура — сантоку, накірі, дамаск, AUS-8 — не 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торговою маркою, ані захищеним найменуванням.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9768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97680" y="554126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3542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ПРАЦЮЄ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3542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Покупець не може перевірити походження на полиці. Ширина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асортименту читається як авторитет: 287 SKU перемагають 64.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4672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554126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8446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не є умовою продажу японського ножа.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здешевлює вхід — і знижує захищеність позиції.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КЕЙС · SAMURA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Найбільший «японський» бренд України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Окремий слайд, бо це водночас головний конкурент, головний ризик категорії та головна можливість.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В ЕПІЦЕНТРІ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3-й бренд мережі за шириною.
Більше, ніж уся справжня Японія ×2,2.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НА ROZETKA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Найширший «японський»
асортимент маркетплейсу.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679–14 299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Перекриває 5 із 6
цінових діапазонів ринку.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Harakiri, Mo-V, 67 Damascus,
Kaiju, Super 5, Bamboo, Inca…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73cbbb4df9c094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07792"/>
            <a:ext cx="1152144" cy="8229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920240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ed8f99c81037f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2907792"/>
            <a:ext cx="1152144" cy="82296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273552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2b74db21b9806d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6704" y="2907792"/>
            <a:ext cx="1152144" cy="82296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626864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_bbf26e090cbe97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016" y="2907792"/>
            <a:ext cx="1152144" cy="8229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16752" y="2871216"/>
            <a:ext cx="5614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ВІДОМО ПРО БРЕНД ІЗ ПУБЛІЧНИХ ДЖЕРЕЛ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3044952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16752" y="309067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Заснування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0064" y="3072384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2003 рік. Засновник — Алєксєй Яковлєв, дизайнер та інженер.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6752" y="356616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Цільовий ринок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70064" y="3547872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Бренд будувався як «японська якість, адаптована для російського ринку»;
офіційний магазин samura.ru, профіль компанії на Forbes.ru, понад 1 000 точок продажу в РФ.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3995928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16752" y="4041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Штаб-квартира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4023360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Дубай, ОАЕ.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451713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Виробництво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0064" y="4498848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Переважно Китай під контролем бренду. Перші партії (2003) — кооперація з Mcusta і MAC.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0" y="4946903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4992623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Подання в Україні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4" y="4974336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«Японські кухонні ножі», «японська корозійностійка сталь AUS-8».
Країна виробництва в картках товару зазвичай не вказується.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3968496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3968496"/>
            <a:ext cx="36576" cy="100218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" y="4123944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" y="4352544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Найбільший «японський» асортимент країни належить бренду,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створеному для російського ринку. Це репутаційна експозиція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для будь-якого рітейлера і будь-якого партнера.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4937760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4937760"/>
            <a:ext cx="36576" cy="100218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093208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МОЖЛИВІСТЬ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5321808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Якщо позиція Samura похитнеться, звільниться оцінно 85–140 млн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полиці. Це найбільша окрема можливість у категорії — і вона не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японського постачальника.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5504688"/>
            <a:ext cx="568756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43600" y="5504688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81344" y="5660136"/>
            <a:ext cx="521207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ТРЕБА ПЕРЕВІРИТИ ДО РІШЕННЯ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81344" y="5888736"/>
            <a:ext cx="5212079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Маркування країни походження на фізичному товарі в мережі,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ранг і швидкість обігу Samura в Епіцентрі та на Rozetka.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" y="643737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Джерела: samura.ru, профіль компанії на Forbes.ru, каталоги epicentrk.ua, rozetka.com.ua, profimax.com.ua, roks.in.ua (вересень 2026). Твердження про виробництво і власність потребують незалежного підтвердження.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Японська форма, європейський або китайський бренд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сегмент у штуках. Тут «японський ніж» — це рядок у характеристиках товару, і нічого більше.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 БРЕНДУ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7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7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55448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ПРИКЛАДИ ПОЗИЦІЙ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95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Fissman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177393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239 Епіцентр
61 сантоку Rozetka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7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 – 1 099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17739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Elegance 13 см 436 · Kojiro 18 см · Bremen ·
Frankfurt · Linz · Bergen · Mainz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396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Krauff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21396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7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102 Епіцентр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7" y="2139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310 – 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7" y="21396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Luxus сантоку 17,7 см 720 → 540 ·
29-305-168 17,9 см 710 → 310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46430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5054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Ardesto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25054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4487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7" y="25054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 175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7" y="25054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Fresh керамічні універсальні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87121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Vinzer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67128" y="287121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7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110 Епіцентр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7" y="287121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7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Natura Line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952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195827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23697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Maestro / Kamille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67128" y="323697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04487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120 / 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7527" y="32369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7" y="323697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Масові набори й окремі ножі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9528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Епіцентр, маркетплейс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6027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Tescoma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36027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4487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113 Епіцентр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67527" y="36027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7" y="36027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Європейська геометрія + сантоку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9528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92734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DICK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67128" y="39684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4487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у LFood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67527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22007" y="39684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«Японські ножі» в профкаталозі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3952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3342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ICEL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67128" y="43342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Португалія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04487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у LFood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67527" y="43342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22007" y="4334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для профкухні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9528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465886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470001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Hendi / Stalgast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67128" y="47000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Нідерланди / Польща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487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/ 1 у LFood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7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рівень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22007" y="470001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в лінійці обладнання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39528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08287fab39ec9a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47488"/>
            <a:ext cx="1737360" cy="8046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13232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Natura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«японський» сантоку, Іспанія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523744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67543a3f9dff80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5047488"/>
            <a:ext cx="1737360" cy="8046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670048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Universal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0048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«янагіба» 240 мм, Іспанія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480560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ccf4816ce5209d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5047488"/>
            <a:ext cx="1737360" cy="8046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626864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26864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європейська сталь, японська форма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37376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919b10f30dc473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5047488"/>
            <a:ext cx="1737360" cy="80467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83680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Manhattan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83680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«кіріцуке» 190 мм, Іспанія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394192" y="4974336"/>
            <a:ext cx="3236976" cy="165511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94192" y="4974336"/>
            <a:ext cx="36576" cy="165511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31936" y="5129784"/>
            <a:ext cx="27614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31936" y="5358384"/>
            <a:ext cx="2761488" cy="1124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Krauff продає сантоку 17,9 см за 310 грн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ця цифра формує уявлення про те, скільки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«японський ніж».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Іспанський Arcos продає янагібу й кіріцуке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японськими назвами і тримає 311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проти 64 у Satake.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Фото: arcos.com.ua — офіційний каталог Arcos в Україні, розділ «японські ножі». Усі показані ножі виготовлені в Іспанії.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РЕАЛЬНО ТРИМАЄ ПОЛИЦЮ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європейських брендів проти всієї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ширини асортименту в українських каталогах. Це не частка ринку, але це те, що бачить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ШИРИНА АСОРТИМЕНТУ В УКРАЇНСЬКИХ КАТАЛОГАХ,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18105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1851660"/>
            <a:ext cx="3246577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8105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105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105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стандарт. Проф. і масовий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80260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208026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2121408"/>
            <a:ext cx="26005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08026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80260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80260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заміни. Домінує в HoReCa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5000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35000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328" y="2391156"/>
            <a:ext cx="127970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2350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311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35000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5000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стандарт ресторанів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61975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261975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2660903"/>
            <a:ext cx="118094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0608" y="261975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61975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61975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Найширша «японська» лінійка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889503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2889503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2930651"/>
            <a:ext cx="98343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288950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889503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889503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159251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3" y="3159251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3200399"/>
            <a:ext cx="5760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0608" y="315925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159251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159251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Найширший справжній японець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42899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342899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67328" y="3470147"/>
            <a:ext cx="4238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0608" y="342899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42899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42899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SG-2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874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69874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67328" y="3739896"/>
            <a:ext cx="399135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36987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69874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/ Епіцентр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369874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японець у великому форматі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684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66543" y="39684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67328" y="4009644"/>
            <a:ext cx="3538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0608" y="39684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9684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9684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преміум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238244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66543" y="423824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7328" y="4279392"/>
            <a:ext cx="26334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0608" y="42382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4238244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4238244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Доступна 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50799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Kasumi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450799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67328" y="4549140"/>
            <a:ext cx="8641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50608" y="450799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50799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4507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66928" y="4901184"/>
            <a:ext cx="5413248" cy="9692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5065776"/>
            <a:ext cx="4974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УСЯ СПРАВЖНЯ ЯПОНІЯ В ОДНОМУ КАТАЛОЗІ (PROFIMAX)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" y="5285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≈ 500 SKU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0" y="5285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проти 311 SKU одного
іспанського бренду Arcos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4901184"/>
            <a:ext cx="5413248" cy="13350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4901184"/>
            <a:ext cx="36576" cy="13350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55664" y="50566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5285232"/>
            <a:ext cx="49377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— це ставка дистриб'ютора, а не попит покупця.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789 SKU Victorinox в Епіцентрі означають, що мережа впевнена в обороті.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140 SKU KAI у спеціалізованому магазині означають, що власник готовий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тримати капітал у складі заради статусу категорійного експерта.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63459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Дані з різних каталогів не є прямо порівнюваними: Епіцентр — мережевий рітейл, ProfiMax — спеціалізований онлайн. Порівняння показує доступність бренду покупцю, а не обсяг продажів.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175 до 40 140 грн: уся категорія на одній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Спостережені роздрібні ціни за один ніж, вересень 2026. Набори виключені. Шкала логарифмічна за змістом, не за побудовою.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Ardesto Fresh, кераміка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29-305-168, сантоку 17,9 см (промо)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436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Fissman Elegance, сантоку 13 см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540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Luxus, сантоку 17,7 см (промо)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Samura, нижня межа лінійки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979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універсальний — вхід у справжню Японію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1 199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 Harakiri SHR-0185B, шеф 18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1 249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накірі 170 мм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" y="39044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1 599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Satoru, сантоку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2 599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Basic F-318 · Samura Mo-V SM-0085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2816" y="18242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2 730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Wasabi Black, сантоку 16,5 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2 895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Blue Breeze 34602, овочевий 12 см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42816" y="2418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2 999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Sakura, шеф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4 190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Pro-M 7003, сантоку 17 см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42816" y="30129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4 420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07003, янагіба 24 см, вуглець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5 999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F-807, шеф 18 см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42816" y="36073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7 426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Ran 36001, сантоку 165 мм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7 499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7800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Damascus F-659, сантоку 17 см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1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8 290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552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Saiun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8431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9 999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88552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Suncraft Elegancia KSK-01, шеф 20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73567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1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10 710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Shun Classic DM-0706, шеф 20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1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13 290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8552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Ketu, накірі 165 мм (опт HoReCa)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3567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28431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16 499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Flash FF-CH240, шеф 24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17 746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Super Gou 37100, шеф 20 см, SG-2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7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1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40 140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Miyabi, верхня межа роздрібу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6928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66928" y="4626864"/>
            <a:ext cx="36576" cy="16093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ВИДНО НА ЦІЙ ШКАЛІ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2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1. Розрив у 229 разів усередині однієї товарної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2. Справжня Японія починається з 979 грн (Satake) — не з 3 000, як прийнято вважати.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3. Зона 1 000–3 000 грн — єдина, де справжня Японія і Samura стоять поруч.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4. Вище 5 000 грн китайських брендів немає: там тільки Японія і Німеччина.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5. Вище 15 000 грн ринок — це 2–3 бренди й кілька тисяч покупців.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217920" y="4626864"/>
            <a:ext cx="36576" cy="16093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55664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БИ СТАВ НОВИЙ ГРАВЕЦЬ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55664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Вільних цінових точок у справжній Японії фактично дві: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1 500–2 500 грн — між Satake Satoru і Tojiro Basic, тут немає нікого;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3 000–4 000 грн — між Sakura і Kanetsugu Pro-M, теж порожньо.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Обидві точки вимагають японського заводу, готового на OEM, і 10 % мита зверху.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 У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Що саме отримує покупець на кожному щаблі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Один і той самий сантоку в шести цінових діапазонах. Різниця, яку покупець бачить на полиці, і різниця, яку він не бачить.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1792224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ВХІДНИЙ</a:t>
            </a:r>
          </a:p>
        </p:txBody>
      </p:sp>
      <p:pic>
        <p:nvPicPr>
          <p:cNvPr id="14" name="Picture 13" descr="p_60b689fae2f196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011680"/>
            <a:ext cx="1536192" cy="12252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717890"/>
                </a:solidFill>
                <a:latin typeface="Segoe UI"/>
              </a:rPr>
              <a:t>175 – 699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Кераміка, штампована
моносталь. Ardesto, Kamille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50 % штук
12 % грошей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14016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14016" y="1554480"/>
            <a:ext cx="1792224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0320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ЦІННІСТЬ</a:t>
            </a:r>
          </a:p>
        </p:txBody>
      </p:sp>
      <p:pic>
        <p:nvPicPr>
          <p:cNvPr id="24" name="Picture 23" descr="p_1ae18a395d9508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2032" y="2011680"/>
            <a:ext cx="1536192" cy="12252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560320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700 – 1 499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AUS-8 / 8Cr13MoV, 56–58 HRC.
Samura Harakiri, Krauff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27 % штук
20 % грошей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61104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61104" y="1554480"/>
            <a:ext cx="1792224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07408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8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СЕРЕДНІЙ</a:t>
            </a:r>
          </a:p>
        </p:txBody>
      </p:sp>
      <p:pic>
        <p:nvPicPr>
          <p:cNvPr id="34" name="Picture 33" descr="p_a47176f78a9983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011680"/>
            <a:ext cx="1536192" cy="12252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407408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1 500 – 3 499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8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Справжня Японія починається тут.
Satake Satoru, KAI Wasabi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7408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13 % штук
22 % грошей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08192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08192" y="1554480"/>
            <a:ext cx="1792224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54496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ВЕРХНІЙ СЕРЕДНІЙ</a:t>
            </a:r>
          </a:p>
        </p:txBody>
      </p:sp>
      <p:pic>
        <p:nvPicPr>
          <p:cNvPr id="44" name="Picture 43" descr="p_d3665f6f12666c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7" y="2011680"/>
            <a:ext cx="1536192" cy="12252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54496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3 500 – 7 499 грн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54496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VG-10, 60–61 HRC.
Tojiro DP, Suncraft Senzo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54496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6 % штук
22 % грошей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955279" y="1554480"/>
            <a:ext cx="1792224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01583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01583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ПРЕМІУМ</a:t>
            </a:r>
          </a:p>
        </p:txBody>
      </p:sp>
      <p:pic>
        <p:nvPicPr>
          <p:cNvPr id="54" name="Picture 53" descr="p_10542f6757891a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3296" y="2011680"/>
            <a:ext cx="1536192" cy="122529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101583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7 500 – 14 999 грн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1583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01583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 + дамаск 32–69 шарів.
Kasumi, Yaxell Ran, KAI Shun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01583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01583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3 % штук
15 % грошей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02367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02367" y="1554480"/>
            <a:ext cx="1792224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4867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4867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УЛЬТРА</a:t>
            </a:r>
          </a:p>
        </p:txBody>
      </p:sp>
      <p:pic>
        <p:nvPicPr>
          <p:cNvPr id="64" name="Picture 63" descr="p_49025ad881696f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384" y="2011680"/>
            <a:ext cx="1536192" cy="12252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94867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03B4B"/>
                </a:solidFill>
                <a:latin typeface="Segoe UI"/>
              </a:rPr>
              <a:t>15 000 – 40 140 грн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94867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4867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Порошкова SG-2, 101–193 шари.
Yaxell Super Gou, Miyabi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4867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4867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1 % штук
9 % грошей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6928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6928" y="5010912"/>
            <a:ext cx="36576" cy="1316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4672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ПОКУПЕЦЬ БАЧИТЬ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4672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700 і 7 500 грн видно: дамаск, товщина обуха, якість 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7 500 і 40 000 грн на фото не видно — там платять за марку сталі,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кількість шарів і твердість, які неможливо перевірити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визначає, скільки коштує комунікація в кожному діапазоні.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17920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5010912"/>
            <a:ext cx="36576" cy="131673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55664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5664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тому Samura з китайського заводу успішно продається поруч із Satake із Секі: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візуально в діапазоні 1 000–3 000 грн вони нерозрізнювані. Конкуренція тут іде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за якістю продукту, а за шириною лінійки і місцем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Новому гравцю це одночасно вхідний квиток і головна пастка.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— картки товарів українських магазинів (volod.in.ua, rezat.com.ua, yaxell.com.ua, arcos.com.ua). Наведені як ілюстрація цінових діапазонів; конкретні моделі можуть відрізнятись від типових для діапазону.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РОЗМІР І МОДЕЛЬ ПОПИТУ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180–220 тисяч професійних ножів на рік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Прямої статистики закупівель ножів у HoReCa не існує. Нижче — модель із трьох параметрів; кожен із них оцінка.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ВИРУЧКА РЕСТОРАННОГО РИНКУ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246,7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млрд грн, +21,7 % р/р.
Ресторани +26,9 %, кафе +20,5 %.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ЧИСТИЙ ПРИРІСТ ФОП У ХАРЧУВАННІ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37A169"/>
                </a:solidFill>
                <a:latin typeface="Segoe UI"/>
              </a:rPr>
              <a:t>+2 728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13 373 відкрилось,
10 645 закрилось.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25–30 тис.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Оцінка. Без кав'ярень
і барів без кухні.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ЯПОНСЬКА КУХНЯ, КИЇВ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D4B96"/>
                </a:solidFill>
                <a:latin typeface="Segoe UI"/>
              </a:rPr>
              <a:t>130–200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закладів, менш як 10 % міста.
Було ≈15 % у 2015 році.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5292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МОДЕЛЬ ПОПИТУ НА ПРОФЕСІЙНІ НОЖІ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7238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0723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3072384"/>
            <a:ext cx="2423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ОБҐРУНТУВАННЯ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323240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7355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327355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25 000 – 30 000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27355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Оцінка на базі динаміки ФОП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4787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Ножів в активній ротації на кухню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5478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354787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Шеф, лінія, заготівля, м'ясо, риба, хліб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378104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82219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382219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Викришування, втрати, знос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09651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попит, штук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0965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180 000 – 220 000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09651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25 000 × 11 ÷ 1,5 року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432968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7083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 ціна закупівлі,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437083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437083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Рівень Arcos / Tramontina / Pirge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64515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Обсяг каналу, грн на 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64515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– 120 млн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3208" y="464515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= 2,2 – 2,7 млн $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87832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91947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З них японських, оцінка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91947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&lt; 3 %   ≈ 3 – 4 млн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3208" y="491947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 часткою позицій у профкаталогах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285292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ВУЗЬКИЙ СЕГМЕНТ: НОЖІ ДЛЯ СУШІ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723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8128" y="30723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7536" y="323240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0688" y="327355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японської кухні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8128" y="32735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600 –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90688" y="35478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/ деба на кухню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81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2 – 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17536" y="378104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90688" y="38221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8128" y="38221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3 роки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0688" y="40965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81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500 – 900 ножів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17536" y="4329683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43708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Обсяг, грн на рік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68128" y="43708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1,0 – 3,5 млн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90688" y="4754880"/>
            <a:ext cx="3840480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90688" y="4754880"/>
            <a:ext cx="36576" cy="148132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28431" y="4910328"/>
            <a:ext cx="3364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ЧОМУ ЦЕ ВБИВЧА ЦИФРА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8431" y="5138928"/>
            <a:ext cx="33649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500–900 ножів на рік — це один піддон.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японський завод не відкриє рахунок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такий обсяг, і жоден дистриб'ютор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окупить під нього окремий канал.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230368"/>
            <a:ext cx="6949440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2303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385816"/>
            <a:ext cx="64739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ЦЯ МОДЕЛЬ ГОВОРИТЬ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614416"/>
            <a:ext cx="6473952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Канал HoReCa у грошах у 7 разів менший за роздріб, а японська частка в ньому ще нижча.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подвоїти японську частку з 3 % до 6 %, приріст становитиме 3–4 млн грн на рік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менше за вартість побудови окремого каналу продажу.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 фактів: Держстат / профільні огляди ресторанного ринку 2025, дані про реєстрацію ФОП у сфері харчування, LunchPoint (заклади японської кухні в Києві). Модель попиту — авторський розрахунок.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ДІАГНОЗ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причин, чому професійна кухня не купує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не питання обізнаності чи маркетингу. Це операційна економіка кухні, і вона не змінюється від зміни постачальника.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Ніж на професійній кухні губиться, ламається, йде з кухарем.
При плинності персоналу 40–60 % на рік списувати 8 000 грн так само легко,
як 500 грн,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Твердість 60–64 HRC і тонке зведення викришуються на кістці,
замороженому продукті й скляній дошці. Європейський ніж 56 HRC
гнеться там, де японський ламається.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889504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6384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треба правити на водних каменях кожні 2–3 дні.
В Україні немає організованого ринку професійного заточення —
ані сервісу при дистриб'юторі, ані навчання.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889504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Ножі купуються разом із посудом, дошками і формою одним рахунком.
Японський постачальник не може бути рядком у цій накладній —
йому доведеться створювати окремий канал.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6384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 і деба вимагають окремої навички. Лінійний кухар нею не володіє,
а вчити його ніхто не буде: він піде через пів року.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37376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Єдиний професіонал, який реально хоче японський ніж, купує його
особисто, часто за кордоном, і не через дистриб'ютора закладу.
Він референс, а не канал збуту.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Жодну з шести причин не можна зняти комерційними засобами постачальника. Дві з них — заточення і навчання — теоретично розв'язні, але вимагають побудови сервісної інфраструктури,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вартість якої непорівнянна з сегментом на 3–4 млн грн. Висновок однозначний: HoReCa не може бути точкою входу в цю категорію в Україні. Вона може бути тільки джерелом референсів для B2C.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 ПРОТИ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Два ринки з протилежною логікою купівлі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показує, чому одна товарна пропозиція не може обслуговувати обидва канали.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157276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 B2C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157276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HORECA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157276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Розмір каналу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17922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691 – 924 млн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17922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100 – 120 млн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5168" y="1792224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Ритейл у 7 разів більший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19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Японська частка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2061972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2 % (16–19 млн грн)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061972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&lt; 3 % (3–4 млн грн)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2061972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Однаково мала в обох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317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Хто вирішує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8" y="2331720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Кінцевий користувач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331720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Закупівельник або шеф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233172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Різні комунікації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601468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Головний критерій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44368" y="2601468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Вигляд, бренд, форма, відгуки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2601468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Ціна заміни й зносостійкість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2601468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Протилежні пріоритети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7121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Чутливість до походження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4368" y="287121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Середня, декларативна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287121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Нульова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8" y="2871215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 HoReCa походження не продає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4096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4368" y="314096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4 – 5 років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314096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3140963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HoReCa частіша, але дешевша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107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Середній чек за ніж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44368" y="3410711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330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3410711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550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5168" y="3410711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HoReCa платить більше за одиницю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80459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Сезонність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44368" y="3680459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Грудень, березень — подарунки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4768" y="3680459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Рівна, прив'язана до відкриттів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45168" y="3680459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Різне планування складу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50207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Канал доступу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50207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Мережа, маркетплейс, спеціаліст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50207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Опт, тендер, прямий контракт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45168" y="3950207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Різні команди продажу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21995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Вартість входу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4368" y="421995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Лістинг, промо, контент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4768" y="421995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Каталог дистриб'ютора, зразки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45168" y="4219955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Ритейл дорожчий, але масштабується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44855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48970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Потреба в сервісі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44368" y="448970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Низька, покупець терпить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44768" y="448970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Критична, без сервісу товар не працює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45168" y="4489703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Головний бар'єр для Японії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4956048"/>
            <a:ext cx="5413248" cy="12801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4956048"/>
            <a:ext cx="36576" cy="1280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51114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ЄДИНЕ, ЩО ЇХ ПОВ'ЯЗУЄ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5340096"/>
            <a:ext cx="49377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Шеф-кухар. Він працює в HoReCa, а купує в роздробі —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робить його не клієнтом, а медіа: рекомендація шефа в роздробі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дорожче за будь-який контракт із його рестораном.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Правильна робота з HoReCa в цій категорії — це PR, а не продаж.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4956048"/>
            <a:ext cx="5413248" cy="12801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4956048"/>
            <a:ext cx="36576" cy="12801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51114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ПОМИЛКА, ЯКУ ЛЕГКО ЗРОБИТИ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5340096"/>
            <a:ext cx="49377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Побудувати пропозицію «для професійної кухні», продавати її в роздробі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рахувати HoReCa як окремий канал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Перше працює як позиціювання. Друге — 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Слово «професійний» на упаковці продає домогосподаркам, а не кухням.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НА РИНКУ Є І ЧОГО НЕМАЄ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прогалин, і лише дві з них варті грошей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Прогалина — це не завжди можливість. Нижче кожна оцінена за розміром і за причиною, чому вона досі відкрита.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ПРОГАЛИНА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ПІДТВЕРДЖЕННЯ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5727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3688" y="1572768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ДОСІ ВІДКРИТА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справжньої Японії в 1 500–2 500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Між Satake Satoru (1 599) і Tojiro Basic (2 599) порожньо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1792224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Юніт-економіка не витримує консультації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769364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1801368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Мала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80260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208026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Камені продаються, послуги немає ні в кого з 9 спеціалістів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33688" y="208026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майстрів і точок, а не імпорту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2057400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2089404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368296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Немає українського бренду японського типу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3087" y="23682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Grand Way / Grossman у цю нішу не заходили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3688" y="236829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Ніхто не спробував із серйозним бюджетом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127" y="2345436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2127" y="23774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Велика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656332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Немає японця в масовій мережі, крім Suncraft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3087" y="265633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Епіцентр: 97 SKU Suncraft, 30 Tojiro, 6 KAI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3688" y="265633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Мережі відкриті, пропозиції немає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2633472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82127" y="2665476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944368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Немає прозорості походження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9443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Samura подається як японський без країни виробництва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944368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Ніхто не зробив із чесності позиціювання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82127" y="2921508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82127" y="2953512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Велика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3232403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Немає лінійки для домашнього преміуму 4–7 тис.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33087" y="323240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Tojiro DP і Yaxell Ran — це імпорт без адаптації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3232403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 не виправдовує OEM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82127" y="3209544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82127" y="3241548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Мала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520439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Немає односторонніх ножів у профканалі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3087" y="352043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AL-Group і LFood їх просто не тримають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33688" y="3520439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500–900 ножів на рік на країну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82127" y="3497579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82127" y="3529584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Дуже мала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808476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україномовної упаковки і контенту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33087" y="380847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Уся категорія — імпортні коробки з англійською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33688" y="380847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Дешево зробити, важко монетизувати окремо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82127" y="3785615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82127" y="38176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4133087"/>
            <a:ext cx="36576" cy="21031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ПРОГАЛИНА №1 ЗА ГРОШИМА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Український бренд японського типу з чесним походженням.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Цільова зона — 700–2 500 грн, де сьогодні стоїть Samura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287 SKU і оцінно 85–140 млн грн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потребує японського постачальника взагалі.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97680" y="4133087"/>
            <a:ext cx="36576" cy="2103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3542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ПРОГАЛИНА №2 ЗА ЗАХИЩЕНІСТЮ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542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Сервіс заточення як частина пропозиції бренду.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Сам по собі не заробляє, але це єдиний бар'єр входу,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який неможливо скопіювати закупівлею контейнера.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Логічно запускати тільки разом із товарною лінійкою.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4672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46720" y="4133087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8446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РЕШТА НЕ ВАРТА ГРОШЕЙ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8446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Прогалини в справжній Японії малі не через недогляд ринку,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тому що сегмент замалий: 16–19 млн грн на 10 брендів.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Односторонні ножі — 500–900 штук на рік.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не ніша, це хобі.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РИЗИКИ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ризиків, три з них блокуючі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Оцінка ймовірності та впливу — авторська, за шкалою від низького до високого. Блокуючий = ризик, що ставить під питання саму модель.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 ЧОМУ ҐРУНТУЄТЬСЯ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157276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ЙМОВІРНІСТЬ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15727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24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Ринок справжньої Японії не росте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1792224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Імпорт 2024 нижчий за 2022 на 13 %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79222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17922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176936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80136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80260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HoReCa не є доступним каналом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080260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японські бренди з 15 в опті; 6 структурних причин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208026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08026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2057400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4120" y="208940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6829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Топ-бренди мають ексклюзивних партнерів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36829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Yaxell, Miyabi, Arcos — закриті слоти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236829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36829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45436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237744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5633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Мито 10 % проти 0 % у ЄС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65633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Немає FTA Україна–Японія; переговорів про неї немає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65633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Визначений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6563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263347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266547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44368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Стеля платоспроможності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29443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Шеф-ніж KAI = 35 % місячної зарплати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29443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294436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04120" y="2921508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2953512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2403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інфраструктури заточення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3232403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Претензії на викришування в преміумі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232403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3240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04120" y="320954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04120" y="324154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520439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Товарна війна на маркетплейсах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58768" y="3520439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3 000+ пропозицій, Krauff сантоку за 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9288" y="3520439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352043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04120" y="3497579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04120" y="352958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80847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Репутаційна експозиція через Samura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58768" y="380847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Якщо категорія «японський ніж» асоціюється з брендом РФ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9288" y="380847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2288" y="38084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04120" y="3785615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81762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0553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09651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Валютний і логістичний ризик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58768" y="409651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Гривня 44,86/$ у вересні 2026; морський фрахт з Азії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9288" y="409651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2288" y="409651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Низький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104120" y="407365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20" y="41056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4407408"/>
            <a:ext cx="36576" cy="182880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ОЗНАЧАЮТЬ ТРИ БЛОКУЮЧІ РИЗИКИ РАЗОМ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додаються — вони перемножуються. Ніша, що не росте, без доступу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професійного каналу і без вільних топ-брендів, не залишає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жодної точки опори для нового імпортера справжньої Японії.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 на питання «чи варто туди йти» у формулюванні,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якому воно було поставлене.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17920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4407408"/>
            <a:ext cx="36576" cy="18288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5664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ЗМІНИЛО Б ОЦІНКУ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55664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Угода про вільну торгівлю Україна–Японія або скасування мита на 8211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Вихід Samura з ринку або зміна споживчих настроїв щодо бренду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Партнер із національною мережею заточення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Пропозиція категорійного капітанства від Епіцентру або Rozetka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Поява японського заводу, готового на OEM від 5 000 штук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із цих тригерів окремо не знімає блокування. Два разом — знімають.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ЯКІСТЬ ДАНИХ І ОБМЕЖЕННЯ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ця робота може помилятися і наскільки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Без цього слайда колода була б рекламою власних висновків. Нижче — усе, що знижує надійність оцінок.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ОБМЕЖЕННЯ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572768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5727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 НА ВИСНОВКИ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ЗАКРИТИ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Митний код 8211 92 не є кухонним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1792224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Містить мисливські, обробні, польові ножі. Частка кухонних — припущення 55–70 %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179222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20 % на весь розмір ринку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0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Найбільше джерело похибки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654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Немає даних за 2025 рік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6654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Comtrade / WITS ще не опублікували українську статистику за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206654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Уся митна частина —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206654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Ринок міг зрушити за 9 місяців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29971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4086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Війна спотворює структуру коду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34086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Попит на польові й тактичні ножі 2022–2025 завищує 8211 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234086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частка може бути ближче до 50 %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23408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Напрям похибки відомий, величина — ні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61518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SKU ≠ продажі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61518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Ширина асортименту — це ставка продавця, а не попит покупця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26151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Частки брендів можуть бути іншими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261518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Панелі Nielsen/GfK по категорії в Україні немає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84835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8950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Ціни — вітринні, не чисті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1568" y="288950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Включають промо; оптові ціни без акаунта постачальника недоступні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6368" y="288950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Маржинальні розрахунки орієнтовні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288950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Потрібен доступ до прайсів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6382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Торгові націнки — конвенція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1568" y="316382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Множники 1,8–2,4 взяті як галузеві, не виміряні в Україні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8" y="316382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15 % на роздрібну оцінку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8" y="316382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Перевіряється тільки через продавців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9699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3814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Модель HoReCa — не вимір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1568" y="343814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Заклади × ножі × цикл заміни: три оцінки поспіль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6368" y="343814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30 % на обсяг каналу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8" y="343814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Потрібні інтерв'ю з шефами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71246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Сірий імпорт невидимий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371246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Посилки до 150 € не оподатковуються і не обліковуються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6368" y="371246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Недооцінка верхнього сегмента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8" y="37124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Саме там, де Amazon дешевший за локальну ціну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94563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8678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Населення і територія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01568" y="398678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База для розрахунку на душу невизначена (≈ 31–33 млн)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6368" y="39867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6 % на подушові показники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398678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Окуповані території не охоплені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26110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Дані про Samura — публічні джерела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426110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Власність, походження і виробництво не перевірені незалежно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16368" y="426110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Потребує підтвердження до рішення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0928" y="426110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Ключове твердження колоди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4718304"/>
            <a:ext cx="5413248" cy="15179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4718304"/>
            <a:ext cx="36576" cy="1517904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48737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НЕ ЗМІНЮЄ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102352"/>
            <a:ext cx="49377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Похибки впливають на розмір ринку, але не на його структуру.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кухонна частка коду 8211 92 становить 50 %, а не 65 %,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співвідношення 1,3 % японського імпорту проти 73 % китайського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залишається тим самим. Усі структурні висновки колоди стійкі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похибки в розмірі.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0" y="4718304"/>
            <a:ext cx="5413248" cy="15179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17920" y="4718304"/>
            <a:ext cx="36576" cy="15179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55664" y="48737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ЗМІНЮЄ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5102352"/>
            <a:ext cx="49377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Абсолютні цифри — 691–924 млн грн, 16–19 млн грн, 180–220 тис. ножів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можна класти у фінмодель без перевірки.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придатні для рішення «йти / не йти» і непридатні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для рішення «скільки закупити».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Перед закупівлею потрібні дані оборотності від мереж.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Рекомендація: не заходити як імпортер японських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ринку. Розташовані за спаданням привабливості, а не за звичністю.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ВЛАСНИЙ БРЕНД У ЦІНОВІЙ ЗОНІ SAMURA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₴150–230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700 – 2 500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Своя ТМ японського типу з чесним походженням і україномовною упаковкою.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Постачальник — ЄС (0 % мита) або Китай за власною специфікацією.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Уразливість конкурента — не продукт, а походження бренду.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Потрібно 40–60 тис. штук на рік для точки беззбитковості.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Ризик стати дванадцятим me-too брендом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Fissman і Krauff уже захищають цю ціну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Побудова бренду коштує дорожче за закупівлю</a:t>
            </a:r>
          </a:p>
        </p:txBody>
      </p:sp>
      <p:pic>
        <p:nvPicPr>
          <p:cNvPr id="28" name="Picture 27" descr="p_407a198e1355c9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ДОСТУПНА СПРАВЖНЯ ЯПОНІЯ 1 500–4 000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₴8–12 млн сьогодні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1 500 – 4 000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Єдина неохоронювана ділянка матриці справжньої Японії, де стоїть лише Satake.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Потрібен завод у Секі, готовий на OEM або дилерство.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Захищено автентичністю: історію не скопіювати закупівлею.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Потенціал зростання сегмента до 25–35 млн грн за 3–4 роки.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 навіть після зростання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</p:txBody>
      </p:sp>
      <p:pic>
        <p:nvPicPr>
          <p:cNvPr id="47" name="Picture 46" descr="p_cd7e51fe466c5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7 500 – 40 140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Десять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566928" y="5870448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870448"/>
            <a:ext cx="36576" cy="858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6254496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У поставленому формулюванні — преміальний японський продукт для професійної та домашньої кухні — ринок становить 16–19 млн грн, не росте і вже обслуговується десятьма брендами.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Гроші лежать не там, де написано «Японія», а там, де написано «сантоку». Рекомендація: сценарій A; B — лише за наявності заводу в Секі на OEM; C закрити.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РОБИТИ ДАЛІ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кроків до розмови з першим постачальником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дослідження відповідає на питання «чи йти». Наступний блок робіт відповідає на питання «з чим і за скільки».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493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ЗРОБИТИ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1572768"/>
            <a:ext cx="4096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ЗМІСТ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0336" y="15727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БЮДЖЕТ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15727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54896" y="1572768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ЗАКРИВАЄ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5648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1883664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93395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190195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ВИКУПИТИ ПОЛИЦЮ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3824" y="1828800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30–40 SKU в шести цінових діапазонах. Твердомір, XRF-аналіз
сталі, фотофіксація маркування, тест на різ.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192024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120–150 тис.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92024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1828800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Підтверджує заявлені характеристики конкурентів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2542032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592324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" y="256032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ОТРИМАТИ ДАНІ ОБОРОТНОСТІ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824" y="2487168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Категорійні дані від одного маркетплейсу (Rozetka або Prom)
і одного великого формату (Епіцентр).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257860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Комерційні умови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257860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4–8 тижнів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54896" y="2487168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Замінює SKU-оцінки реальними частками ринку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3072384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6928" y="3200400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250692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32186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ПЕРЕВІРИТИ ПОЗИЦІЮ SAMURA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3145536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Ранг і швидкість обігу в мережах. Маркування країни
виробництва на фізичному товарі з полиці.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0336" y="323697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Включено в крок 01–02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648" y="323697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тижні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54896" y="3145536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Головна гіпотеза колоди: без неї сценарій A не рахується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3858768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90906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" y="3877055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ТЕСТ ЦІНОВОЇ ЕЛАСТИЧНОСТІ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63824" y="3803903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200 респондентів: готовність платити за сантоку 170 мм
на точках 699 / 1 199 / 1 999 / 3 499 грн.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0336" y="3895344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60–90 тис.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13648" y="389534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54896" y="3803903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Дає цільову цінову точку до першої закупівлі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4389120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517136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4567428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0704" y="4535423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ІНТЕРВ'Ю З ШЕФАМИ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63824" y="4462271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12 шефів ресторанів і 4 шефи суші-закладів: що купують,
де, чому не Японію, хто платить — заклад чи вони самі.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0336" y="455371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30 тис.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13648" y="455371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54896" y="4462271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Перевіряє шість причин зі слайда 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175503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22579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" y="5193791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ДВІ ЗУСТРІЧНІ КОТИРОВКИ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3824" y="5120639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Один завод у ЄС і один у Секі на ту саму специфікацію.
Порівняти landed cost із урахуванням 10 % мита.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5212079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Вартість зразків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13648" y="521207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4–6 тижнів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54896" y="5120639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Перетворює тарифну різницю зі слайда 6 на цифру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5779008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577900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4672" y="59344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РАЗОМ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6163056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Бюджет блоку: ≈ 210–270 тис. грн плюс комерційні умови на дані мереж.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Строк: 8–10 тижнів. Це менше за вартість однієї помилкової контейнерної закупівлі.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5779008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577900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59344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ПОСЛІДОВНІСТЬ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55664" y="6163056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Кроки 01, 03 і 04 виконуються паралельно і дають рішення по сценарію 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Крок 06 запускається тільки якщо сценарій B залишається на столі після кроку 04.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ДЖЕРЕЛА І 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 чому побудована кожна цифра в цій колоді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дані зібрані з публічних джерел у вересні 2026 року. Первинних інтерв'ю та закритих баз не використовувалось.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197510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МИТНА СТАТИСТИКА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World Bank WITS / UN Comtrade — імпорт України, коди 8211 10, 8211 91, 8211 92,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роки 2022, 2023, 2024, розбивка за країнами походження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УКТЗЕД / QDPro — ставки ввізного мита та ПДВ для коду 8211 92 00 00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Перевірено: даних за 2025 рік станом на вересень 2026 не опубліковано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36576" cy="19751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190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АУДИТ АСОРТИМЕНТУ ТА ЦІН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epicentrk.ua — категорія «Кухонні ножі», 4 950 SKU, бренди та ціни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rozetka.com.ua — фільтри за брендами і типом «японський ніж (сантоку)»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prom.ua — категорія «Японські кухонні ножі», продавці та ціни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profimax.com.ua, roks.in.ua, japan-knife.com.ua, volod.in.ua, rezat.com.ua,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hangiri.com.ua, europosud.ua, nojaro.com.ua, smart-kitchen.com.ua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yaxell.com.ua, zwilling.in.ua, lacocotte.com.ua, arcos.com.ua — монобренд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al-group.com.ua, lfood.com.ua — оптові каталоги HoReCa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75887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675887"/>
            <a:ext cx="36576" cy="197510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840479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МАКРОЕКОНОМІКА ТА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078224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Держстат — середня заробітна плата, грудень 2025: 30 926 грн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НБУ — офіційний курс USD/UAH, 30.09.2026: 44,86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Профільні огляди ресторанного ринку 2025: виручка 246,7 млрд грн, +21,7 %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Дані про реєстрацію та закриття ФОП у сфері харчування, 2025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LunchPoint та публікації про заклади японської кухні в Києві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675887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675887"/>
            <a:ext cx="36576" cy="197510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3840479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БРЕНДИ, ПОХОДЖЕННЯ ТА ЗОБРАЖЕННЯ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4078224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Фото — картки товарів із каталогів volod.in.ua, roks.in.ua, rezat.com.ua,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yaxell.com.ua, arcos.com.ua. Використані як ілюстрація до конкурентного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аналізу з посиланням на джерело; права належать правовласникам.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Креслення профілів клинка — власні схеми, не зображення конкретних моделей.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samura.ru — офіційний магазин бренду; профіль компанії на Forbes.ru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Офіційні описи виробників: Yaxell, KAI, Tojiro (з 1953), Satake (Секі, з 1947),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Kasumi / Sumikama, Suncraft, Kanetsugu, Sakai Takayuki, Global (Yoshikin)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742432"/>
            <a:ext cx="11064240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742432"/>
            <a:ext cx="36576" cy="8517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897880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МЕТОДОЛОГІЧНЕ ЗАСТЕРЕЖЕННЯ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6126480"/>
            <a:ext cx="10588752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Оцінки обсягу ринку, часток цінових діапазонів і попиту HoReCa — авторські розрахунки на базі публічних даних і явно зазначених припущень.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є виміряними продажами і не замінюють рітейл-панель.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