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Relationship Id="rId9" Type="http://schemas.openxmlformats.org/officeDocument/2006/relationships/image" Target="../media/image34.png"/><Relationship Id="rId10" Type="http://schemas.openxmlformats.org/officeDocument/2006/relationships/image" Target="../media/image35.png"/><Relationship Id="rId11" Type="http://schemas.openxmlformats.org/officeDocument/2006/relationships/image" Target="../media/image36.png"/><Relationship Id="rId12" Type="http://schemas.openxmlformats.org/officeDocument/2006/relationships/image" Target="../media/image37.png"/><Relationship Id="rId13" Type="http://schemas.openxmlformats.org/officeDocument/2006/relationships/image" Target="../media/image38.png"/><Relationship Id="rId14" Type="http://schemas.openxmlformats.org/officeDocument/2006/relationships/image" Target="../media/image3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png"/><Relationship Id="rId13" Type="http://schemas.openxmlformats.org/officeDocument/2006/relationships/image" Target="../media/image50.png"/><Relationship Id="rId14" Type="http://schemas.openxmlformats.org/officeDocument/2006/relationships/image" Target="../media/image5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Relationship Id="rId8" Type="http://schemas.openxmlformats.org/officeDocument/2006/relationships/image" Target="../media/image57.png"/><Relationship Id="rId9" Type="http://schemas.openxmlformats.org/officeDocument/2006/relationships/image" Target="../media/image58.png"/><Relationship Id="rId10" Type="http://schemas.openxmlformats.org/officeDocument/2006/relationships/image" Target="../media/image59.png"/><Relationship Id="rId11" Type="http://schemas.openxmlformats.org/officeDocument/2006/relationships/image" Target="../media/image60.png"/><Relationship Id="rId12" Type="http://schemas.openxmlformats.org/officeDocument/2006/relationships/image" Target="../media/image61.png"/><Relationship Id="rId13" Type="http://schemas.openxmlformats.org/officeDocument/2006/relationships/image" Target="../media/image62.png"/><Relationship Id="rId14" Type="http://schemas.openxmlformats.org/officeDocument/2006/relationships/image" Target="../media/image6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Relationship Id="rId7" Type="http://schemas.openxmlformats.org/officeDocument/2006/relationships/image" Target="../media/image68.png"/><Relationship Id="rId8" Type="http://schemas.openxmlformats.org/officeDocument/2006/relationships/image" Target="../media/image69.png"/><Relationship Id="rId9" Type="http://schemas.openxmlformats.org/officeDocument/2006/relationships/image" Target="../media/image70.png"/><Relationship Id="rId10" Type="http://schemas.openxmlformats.org/officeDocument/2006/relationships/image" Target="../media/image71.png"/><Relationship Id="rId11" Type="http://schemas.openxmlformats.org/officeDocument/2006/relationships/image" Target="../media/image72.png"/><Relationship Id="rId12" Type="http://schemas.openxmlformats.org/officeDocument/2006/relationships/image" Target="../media/image73.png"/><Relationship Id="rId13" Type="http://schemas.openxmlformats.org/officeDocument/2006/relationships/image" Target="../media/image74.png"/><Relationship Id="rId14" Type="http://schemas.openxmlformats.org/officeDocument/2006/relationships/image" Target="../media/image75.png"/><Relationship Id="rId15" Type="http://schemas.openxmlformats.org/officeDocument/2006/relationships/image" Target="../media/image76.png"/><Relationship Id="rId16" Type="http://schemas.openxmlformats.org/officeDocument/2006/relationships/image" Target="../media/image77.png"/><Relationship Id="rId17" Type="http://schemas.openxmlformats.org/officeDocument/2006/relationships/image" Target="../media/image78.png"/><Relationship Id="rId18" Type="http://schemas.openxmlformats.org/officeDocument/2006/relationships/image" Target="../media/image79.png"/><Relationship Id="rId19" Type="http://schemas.openxmlformats.org/officeDocument/2006/relationships/image" Target="../media/image80.png"/><Relationship Id="rId20" Type="http://schemas.openxmlformats.org/officeDocument/2006/relationships/image" Target="../media/image81.png"/><Relationship Id="rId21" Type="http://schemas.openxmlformats.org/officeDocument/2006/relationships/image" Target="../media/image82.png"/><Relationship Id="rId22" Type="http://schemas.openxmlformats.org/officeDocument/2006/relationships/image" Target="../media/image8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4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Relationship Id="rId6" Type="http://schemas.openxmlformats.org/officeDocument/2006/relationships/image" Target="../media/image42.png"/><Relationship Id="rId7" Type="http://schemas.openxmlformats.org/officeDocument/2006/relationships/image" Target="../media/image87.png"/><Relationship Id="rId8" Type="http://schemas.openxmlformats.org/officeDocument/2006/relationships/image" Target="../media/image88.png"/><Relationship Id="rId9" Type="http://schemas.openxmlformats.org/officeDocument/2006/relationships/image" Target="../media/image89.png"/><Relationship Id="rId10" Type="http://schemas.openxmlformats.org/officeDocument/2006/relationships/image" Target="../media/image90.png"/><Relationship Id="rId11" Type="http://schemas.openxmlformats.org/officeDocument/2006/relationships/image" Target="../media/image91.png"/><Relationship Id="rId12" Type="http://schemas.openxmlformats.org/officeDocument/2006/relationships/image" Target="../media/image92.png"/><Relationship Id="rId13" Type="http://schemas.openxmlformats.org/officeDocument/2006/relationships/image" Target="../media/image56.png"/><Relationship Id="rId14" Type="http://schemas.openxmlformats.org/officeDocument/2006/relationships/image" Target="../media/image9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Relationship Id="rId6" Type="http://schemas.openxmlformats.org/officeDocument/2006/relationships/image" Target="../media/image96.png"/><Relationship Id="rId7" Type="http://schemas.openxmlformats.org/officeDocument/2006/relationships/image" Target="../media/image97.png"/><Relationship Id="rId8" Type="http://schemas.openxmlformats.org/officeDocument/2006/relationships/image" Target="../media/image98.png"/><Relationship Id="rId9" Type="http://schemas.openxmlformats.org/officeDocument/2006/relationships/image" Target="../media/image99.png"/><Relationship Id="rId10" Type="http://schemas.openxmlformats.org/officeDocument/2006/relationships/image" Target="../media/image46.png"/><Relationship Id="rId11" Type="http://schemas.openxmlformats.org/officeDocument/2006/relationships/image" Target="../media/image4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6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102.png"/><Relationship Id="rId5" Type="http://schemas.openxmlformats.org/officeDocument/2006/relationships/image" Target="../media/image103.png"/><Relationship Id="rId6" Type="http://schemas.openxmlformats.org/officeDocument/2006/relationships/image" Target="../media/image33.png"/><Relationship Id="rId7" Type="http://schemas.openxmlformats.org/officeDocument/2006/relationships/image" Target="../media/image104.png"/><Relationship Id="rId8" Type="http://schemas.openxmlformats.org/officeDocument/2006/relationships/image" Target="../media/image105.png"/><Relationship Id="rId9" Type="http://schemas.openxmlformats.org/officeDocument/2006/relationships/image" Target="../media/image106.png"/><Relationship Id="rId10" Type="http://schemas.openxmlformats.org/officeDocument/2006/relationships/image" Target="../media/image107.png"/><Relationship Id="rId11" Type="http://schemas.openxmlformats.org/officeDocument/2006/relationships/image" Target="../media/image108.png"/><Relationship Id="rId12" Type="http://schemas.openxmlformats.org/officeDocument/2006/relationships/image" Target="../media/image109.png"/><Relationship Id="rId13" Type="http://schemas.openxmlformats.org/officeDocument/2006/relationships/image" Target="../media/image110.png"/><Relationship Id="rId14" Type="http://schemas.openxmlformats.org/officeDocument/2006/relationships/image" Target="../media/image4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1.png"/><Relationship Id="rId4" Type="http://schemas.openxmlformats.org/officeDocument/2006/relationships/image" Target="../media/image112.png"/><Relationship Id="rId5" Type="http://schemas.openxmlformats.org/officeDocument/2006/relationships/image" Target="../media/image113.png"/><Relationship Id="rId6" Type="http://schemas.openxmlformats.org/officeDocument/2006/relationships/image" Target="../media/image114.png"/><Relationship Id="rId7" Type="http://schemas.openxmlformats.org/officeDocument/2006/relationships/image" Target="../media/image115.png"/><Relationship Id="rId8" Type="http://schemas.openxmlformats.org/officeDocument/2006/relationships/image" Target="../media/image116.png"/><Relationship Id="rId9" Type="http://schemas.openxmlformats.org/officeDocument/2006/relationships/image" Target="../media/image117.png"/><Relationship Id="rId10" Type="http://schemas.openxmlformats.org/officeDocument/2006/relationships/image" Target="../media/image118.png"/><Relationship Id="rId11" Type="http://schemas.openxmlformats.org/officeDocument/2006/relationships/image" Target="../media/image119.png"/><Relationship Id="rId12" Type="http://schemas.openxmlformats.org/officeDocument/2006/relationships/image" Target="../media/image120.png"/><Relationship Id="rId13" Type="http://schemas.openxmlformats.org/officeDocument/2006/relationships/image" Target="../media/image121.png"/><Relationship Id="rId14" Type="http://schemas.openxmlformats.org/officeDocument/2006/relationships/image" Target="../media/image122.png"/><Relationship Id="rId15" Type="http://schemas.openxmlformats.org/officeDocument/2006/relationships/image" Target="../media/image123.png"/><Relationship Id="rId16" Type="http://schemas.openxmlformats.org/officeDocument/2006/relationships/image" Target="../media/image124.png"/><Relationship Id="rId17" Type="http://schemas.openxmlformats.org/officeDocument/2006/relationships/image" Target="../media/image125.png"/><Relationship Id="rId18" Type="http://schemas.openxmlformats.org/officeDocument/2006/relationships/image" Target="../media/image126.png"/><Relationship Id="rId19" Type="http://schemas.openxmlformats.org/officeDocument/2006/relationships/image" Target="../media/image127.png"/><Relationship Id="rId20" Type="http://schemas.openxmlformats.org/officeDocument/2006/relationships/image" Target="../media/image1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9.png"/><Relationship Id="rId4" Type="http://schemas.openxmlformats.org/officeDocument/2006/relationships/image" Target="../media/image130.png"/><Relationship Id="rId5" Type="http://schemas.openxmlformats.org/officeDocument/2006/relationships/image" Target="../media/image131.png"/><Relationship Id="rId6" Type="http://schemas.openxmlformats.org/officeDocument/2006/relationships/image" Target="../media/image132.png"/><Relationship Id="rId7" Type="http://schemas.openxmlformats.org/officeDocument/2006/relationships/image" Target="../media/image133.png"/><Relationship Id="rId8" Type="http://schemas.openxmlformats.org/officeDocument/2006/relationships/image" Target="../media/image134.png"/><Relationship Id="rId9" Type="http://schemas.openxmlformats.org/officeDocument/2006/relationships/image" Target="../media/image135.png"/><Relationship Id="rId10" Type="http://schemas.openxmlformats.org/officeDocument/2006/relationships/image" Target="../media/image136.png"/><Relationship Id="rId11" Type="http://schemas.openxmlformats.org/officeDocument/2006/relationships/image" Target="../media/image137.png"/><Relationship Id="rId12" Type="http://schemas.openxmlformats.org/officeDocument/2006/relationships/image" Target="../media/image138.png"/><Relationship Id="rId13" Type="http://schemas.openxmlformats.org/officeDocument/2006/relationships/image" Target="../media/image139.png"/><Relationship Id="rId14" Type="http://schemas.openxmlformats.org/officeDocument/2006/relationships/image" Target="../media/image140.png"/><Relationship Id="rId15" Type="http://schemas.openxmlformats.org/officeDocument/2006/relationships/image" Target="../media/image141.png"/><Relationship Id="rId16" Type="http://schemas.openxmlformats.org/officeDocument/2006/relationships/image" Target="../media/image142.png"/><Relationship Id="rId17" Type="http://schemas.openxmlformats.org/officeDocument/2006/relationships/image" Target="../media/image143.png"/><Relationship Id="rId18" Type="http://schemas.openxmlformats.org/officeDocument/2006/relationships/image" Target="../media/image144.png"/><Relationship Id="rId19" Type="http://schemas.openxmlformats.org/officeDocument/2006/relationships/image" Target="../media/image145.png"/><Relationship Id="rId20" Type="http://schemas.openxmlformats.org/officeDocument/2006/relationships/image" Target="../media/image146.png"/><Relationship Id="rId21" Type="http://schemas.openxmlformats.org/officeDocument/2006/relationships/image" Target="../media/image14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059168" cy="6858000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59168" y="0"/>
            <a:ext cx="16459" cy="685800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75488"/>
            <a:ext cx="1682496" cy="7273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" y="1792224"/>
            <a:ext cx="566928" cy="32004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2029968"/>
            <a:ext cx="6309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D9B165"/>
                </a:solidFill>
                <a:latin typeface="Segoe UI"/>
              </a:rPr>
              <a:t>Д О С Л І Д Ж Е Н Н Я   Р И Н К У   Т А   О Ц І Н К А   Д О Ц І Л Ь Н О С Т І   В Х О Д 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304288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Японські ножі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для професійної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та домашньої кухні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590288"/>
            <a:ext cx="3291840" cy="16459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4809744"/>
            <a:ext cx="60350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A2B4"/>
                </a:solidFill>
                <a:latin typeface="Segoe UI"/>
              </a:rPr>
              <a:t>Україна · роздріб, маркетплейси, HoReCa · вересень 2026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A2B4"/>
                </a:solidFill>
                <a:latin typeface="Segoe UI"/>
              </a:rPr>
              <a:t>Попередня робота до пошуку постачальника: хто вже на ринку, скільки він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A2B4"/>
                </a:solidFill>
                <a:latin typeface="Segoe UI"/>
              </a:rPr>
              <a:t>коштує в грошах і штуках, і чи є туди сенс іти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5742432"/>
            <a:ext cx="4078224" cy="566928"/>
          </a:xfrm>
          <a:prstGeom prst="roundRect">
            <a:avLst>
              <a:gd name="adj" fmla="val 16000"/>
            </a:avLst>
          </a:prstGeom>
          <a:solidFill>
            <a:srgbClr val="263150"/>
          </a:solidFill>
          <a:ln w="9525">
            <a:solidFill>
              <a:srgbClr val="4552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5907024"/>
            <a:ext cx="237744" cy="237744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870448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Georgia"/>
              </a:rPr>
              <a:t>M A D E   I N   J A P A N   O N L 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6099048"/>
            <a:ext cx="3383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9AA2B4"/>
                </a:solidFill>
                <a:latin typeface="Segoe UI"/>
              </a:rPr>
              <a:t>56 перевірених брендів · 259 ножів · жодної позиції іншого походження</a:t>
            </a:r>
          </a:p>
        </p:txBody>
      </p:sp>
      <p:pic>
        <p:nvPicPr>
          <p:cNvPr id="15" name="Picture 14" descr="p_743072269df032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512064"/>
            <a:ext cx="4114800" cy="267004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516368" y="3310128"/>
            <a:ext cx="1335024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b8c342e6a18561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0376" y="3374136"/>
            <a:ext cx="1207008" cy="9144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8906256" y="3310128"/>
            <a:ext cx="1335024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d54ae9b9a940c6c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0264" y="3374136"/>
            <a:ext cx="1207008" cy="9144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0296144" y="3310128"/>
            <a:ext cx="1335024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_4bd94ac4fb0bd52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0152" y="3374136"/>
            <a:ext cx="1207008" cy="9144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516368" y="4535424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16368" y="4535424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62672" y="466344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691–924 млн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2" y="495604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роздріб кухонних ножів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19488" y="4535424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19488" y="4535424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5792" y="466344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16–19 млн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495604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зроблено в Японії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16368" y="5321808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16368" y="5321808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544982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103 тис. $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57424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імпорт із Японії, 2024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19488" y="5321808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19488" y="5321808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65792" y="544982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1,3 %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65792" y="57424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частка Японії в митній базі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16368" y="5998464"/>
            <a:ext cx="4114800" cy="10972"/>
          </a:xfrm>
          <a:prstGeom prst="rect">
            <a:avLst/>
          </a:prstGeom>
          <a:solidFill>
            <a:srgbClr val="455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16368" y="6144768"/>
            <a:ext cx="416966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680" b="0">
                <a:solidFill>
                  <a:srgbClr val="9AA2B4"/>
                </a:solidFill>
                <a:latin typeface="Segoe UI"/>
              </a:rPr>
              <a:t>21 слайд · 25 продавців · 56 перевірених брендів · 259 ножів у каталозі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680" b="0">
                <a:solidFill>
                  <a:srgbClr val="9AA2B4"/>
                </a:solidFill>
                <a:latin typeface="Segoe UI"/>
              </a:rPr>
              <a:t>4 роки митної статистики · модель попиту HoReCa · 3 сценарії входу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Г О Л О В Н 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Вісім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Усі ціни в колоді — роздрібні, за один ніж, станом на вересень 2026. Курс НБУ 44,86 грн/$ (30.09.2026).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54480"/>
            <a:ext cx="261518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М И Т Н А   Б А З А   2 0 2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966E28"/>
                </a:solidFill>
                <a:latin typeface="Georgia"/>
              </a:rPr>
              <a:t>9,02 млн $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Кухонні + столові ножі та
набори, CIF. Останній повний рік.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83280" y="1554480"/>
            <a:ext cx="261518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О З Д Р І Б ,   О Ц І Н К 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02736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2A7F86"/>
                </a:solidFill>
                <a:latin typeface="Georgia"/>
              </a:rPr>
              <a:t>691–924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2736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млн грн на рік. Розрахунок
через імпорт × 2,34–3,12.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1554480"/>
            <a:ext cx="261518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І М П О Р Т   І З   Я П О Н І 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554780"/>
                </a:solidFill>
                <a:latin typeface="Georgia"/>
              </a:rPr>
              <a:t>103 тис. 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CIF 2024, код 8211 92.
Нижче за рівень 2022 року.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15984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15984" y="1554480"/>
            <a:ext cx="2615184" cy="25603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0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Я П О Н І Я   В   Р О З Д Р І Б 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A84A6B"/>
                </a:solidFill>
                <a:latin typeface="Georgia"/>
              </a:rPr>
              <a:t>16–19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млн грн на рік. Це 2 % ринку
в грошах і 0,15 % у штуках.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2798064"/>
            <a:ext cx="2615184" cy="25603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П Е Р Е В І Р Е Н И Х   Б Р Е Н Д І 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B42E3A"/>
                </a:solidFill>
                <a:latin typeface="Georgia"/>
              </a:rPr>
              <a:t>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каталогах продавців.
Сумарно 759 позицій.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83280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83280" y="2798064"/>
            <a:ext cx="2615184" cy="25603"/>
          </a:xfrm>
          <a:prstGeom prst="rect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2736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Я П О Н Ц І   В   П Р О Ф .   О П Т 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2736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A7D5A"/>
                </a:solidFill>
                <a:latin typeface="Georgia"/>
              </a:rPr>
              <a:t>2 з 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02736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брендів у каталозі опту HoReCa.
523 ножі, японських — одиниці.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9632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99632" y="2798064"/>
            <a:ext cx="2615184" cy="25603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19088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М И Т О   Н А   Я П О Н І 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9088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B88A3D"/>
                </a:solidFill>
                <a:latin typeface="Georgia"/>
              </a:rPr>
              <a:t>10 %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9088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+20 % ПДВ. З ЄС — 0 % мита.
Структурний програш 10 пунктів.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15984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015984" y="2798064"/>
            <a:ext cx="2615184" cy="25603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35440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Ц І Н О В И Й   Р О З М А Х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1B253F"/>
                </a:solidFill>
                <a:latin typeface="Georgia"/>
              </a:rPr>
              <a:t>726–60 495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грн за один японський ніж.
Розрив у 83 рази.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6928" y="4169663"/>
            <a:ext cx="36576" cy="1572768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4672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ЦЕ ОЗНАЧАЄ ДЛЯ РІШЕННЯ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4672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1. Ринок кухонних ножів в Україні великий — але «японського» в ньому майже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2. Японське виробництво — це нішa на 16–19 млн грн, яка за три роки не виросла.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3. Японія — 1,3 % митної бази категорії. Вивіска «японський ніж» до Японії не веде.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4. Професійна кухня японські ножі не купує — і структурних причин для зміни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5. Жоден японський бренд не має в країні ані дистриб'ютора, ані глибини лінійки.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17920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17920" y="4169663"/>
            <a:ext cx="36576" cy="1572768"/>
          </a:xfrm>
          <a:prstGeom prst="rect">
            <a:avLst/>
          </a:prstGeom>
          <a:solidFill>
            <a:srgbClr val="9AA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55664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AA2B4"/>
                </a:solidFill>
                <a:latin typeface="Segoe UI"/>
              </a:rPr>
              <a:t>ЧОГО В ЦІЙ КОЛОДІ НЕМАЄ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55664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1. Немає даних продажів: в Україні для цієї категорії немає панелі Nielsen/GfK.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2. Немає митної статистики за 2025 рік — вона ще не опублікована в Comtrade.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3. Немає оптових цін: їх не отримати без акаунта постачальника.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4. Немає точної частки кухонних ножів у коді 8211 92 — це припущення 55–70 %.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5. Немає прямої оцінки сірого імпорту до 150 € — він для митниці невидимий.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925312"/>
            <a:ext cx="110642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3232" y="5966460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ГОЛОВНЕ ПРО КАНДИДАТА У ПОСТАЧАЛЬНИКИ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6928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6928" y="6199632"/>
            <a:ext cx="36576" cy="475488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9808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966E28"/>
                </a:solidFill>
                <a:latin typeface="Segoe UI"/>
              </a:rPr>
              <a:t>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99616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позицій Sakai Takayuki знайдено в усій країні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383280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383280" y="6199632"/>
            <a:ext cx="36576" cy="475488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566160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A7F86"/>
                </a:solidFill>
                <a:latin typeface="Segoe UI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15968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із них реально на складі — обидві янагіба 24 см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99632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99632" y="6199632"/>
            <a:ext cx="36576" cy="47548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82512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B42E3A"/>
                </a:solidFill>
                <a:latin typeface="Segoe UI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дистриб'юторів, монобрендів і позицій в опті HoReCa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015984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015984" y="6199632"/>
            <a:ext cx="36576" cy="475488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98863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54780"/>
                </a:solidFill>
                <a:latin typeface="Segoe UI"/>
              </a:rPr>
              <a:t>105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48672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позицій каталогу вже стоять у його ціновій зоні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Щ О   Б У В А Є   ·   1   ·   Г Е О М Е Т Р І Я   Л Е З 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Вісім типів леза, з яких ринок купує три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Профілі накреслені в один масштаб за реальними довжинами клинка. Рукав'я умовне: чорне клепане — західне (yo), дерев'яне — японське (wa).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36192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ПРОФІЛІ КЛИНКА В ЄДИНОМУ МАСШТАБІ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46504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81965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66E28"/>
                </a:solidFill>
                <a:latin typeface="Segoe UI"/>
              </a:rPr>
              <a:t>Гюто / шеф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19842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180–240 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14884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Робочий ніж кухні</a:t>
            </a:r>
          </a:p>
        </p:txBody>
      </p:sp>
      <p:pic>
        <p:nvPicPr>
          <p:cNvPr id="19" name="Picture 18" descr="gyu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1778507"/>
            <a:ext cx="2740152" cy="5852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2468879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B88A3D"/>
                </a:solidFill>
                <a:latin typeface="Segoe UI"/>
              </a:rPr>
              <a:t>Сантоку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63347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165–180 мм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7980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Універсал, драйвер обсягу</a:t>
            </a:r>
          </a:p>
        </p:txBody>
      </p:sp>
      <p:pic>
        <p:nvPicPr>
          <p:cNvPr id="23" name="Picture 22" descr="santok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435352"/>
            <a:ext cx="2423160" cy="56997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493776" y="3044952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118103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Накірі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28269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165–180 мм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44728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Овочі, шаткування</a:t>
            </a:r>
          </a:p>
        </p:txBody>
      </p:sp>
      <p:pic>
        <p:nvPicPr>
          <p:cNvPr id="28" name="Picture 27" descr="nakir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069336"/>
            <a:ext cx="2383536" cy="6004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376732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Кіріцуке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9319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180–240 мм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0965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Гібрид, статусний</a:t>
            </a:r>
          </a:p>
        </p:txBody>
      </p:sp>
      <p:pic>
        <p:nvPicPr>
          <p:cNvPr id="32" name="Picture 31" descr="kiritsu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733800"/>
            <a:ext cx="2740152" cy="569976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493776" y="4343400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44165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54780"/>
                </a:solidFill>
                <a:latin typeface="Segoe UI"/>
              </a:rPr>
              <a:t>Янагіба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58114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210–300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47457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Сашимі, одностороннє</a:t>
            </a:r>
          </a:p>
        </p:txBody>
      </p:sp>
      <p:pic>
        <p:nvPicPr>
          <p:cNvPr id="37" name="Picture 36" descr="yanagib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439412"/>
            <a:ext cx="3215640" cy="457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6928" y="50657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54780"/>
                </a:solidFill>
                <a:latin typeface="Segoe UI"/>
              </a:rPr>
              <a:t>Деба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2303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150–180 мм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39496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Розбирання риби</a:t>
            </a:r>
          </a:p>
        </p:txBody>
      </p:sp>
      <p:pic>
        <p:nvPicPr>
          <p:cNvPr id="41" name="Picture 40" descr="deb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7632" y="5024628"/>
            <a:ext cx="2383536" cy="585216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493776" y="5641848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71500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6B7282"/>
                </a:solidFill>
                <a:latin typeface="Segoe UI"/>
              </a:rPr>
              <a:t>Петті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8795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90–150 мм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0441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Дрібна робота</a:t>
            </a:r>
          </a:p>
        </p:txBody>
      </p:sp>
      <p:pic>
        <p:nvPicPr>
          <p:cNvPr id="46" name="Picture 45" descr="pet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5760720"/>
            <a:ext cx="2026920" cy="4114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419088" y="1536192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ТИП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26096" y="1536192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ЦІНА,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96528" y="15361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49840" y="1536192"/>
            <a:ext cx="1481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РОЛЬ У КАТЕГОРІЇ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45936" y="1714500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19088" y="1755648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88A3D"/>
                </a:solidFill>
                <a:latin typeface="Segoe UI"/>
              </a:rPr>
              <a:t>Сантоку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26096" y="1755648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175 – 12 000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96528" y="1755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49840" y="1755648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Драйвер обсягу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19088" y="20299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66E28"/>
                </a:solidFill>
                <a:latin typeface="Segoe UI"/>
              </a:rPr>
              <a:t>Гюто / шеф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26096" y="20299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500 – 27 970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96528" y="20299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49840" y="20299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Драйвер ціни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45936" y="226313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19088" y="23042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Петті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6096" y="23042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175 – 5 000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96528" y="23042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23042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Часта купівля, малий чек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19088" y="257860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Накірі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26096" y="257860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1 249 – 13 290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96528" y="257860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Спеціаліст, Епіцентр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49840" y="257860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Зростає вдома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345936" y="281177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19088" y="285292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Янагіба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6096" y="285292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1 107 – 13 971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96528" y="285292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49840" y="285292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Вузький HoReCa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19088" y="312724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Деба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26096" y="312724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1 470 – 9 000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96528" y="312724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49840" y="312724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Вузький HoReCa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345936" y="336041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34015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AA2B4"/>
                </a:solidFill>
                <a:latin typeface="Segoe UI"/>
              </a:rPr>
              <a:t>Кіріцуке, бунка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26096" y="34015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3 000 – 20 000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96528" y="34015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Тільки спеціаліст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49840" y="34015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Довгий хвіст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19088" y="36758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A84A6B"/>
                </a:solidFill>
                <a:latin typeface="Segoe UI"/>
              </a:rPr>
              <a:t>Набори 2–5 шт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26096" y="36758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2 500 – 27 970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796528" y="36758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Усюди, пік у грудні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49840" y="36758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419088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4d367364e4ca0e9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2240" y="4114800"/>
            <a:ext cx="1499616" cy="932688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565392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Накірі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65392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Росте вдома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174736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d55507e899775b1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7888" y="4114800"/>
            <a:ext cx="1499616" cy="93268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8321040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Янагіба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21040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500–900 шт/рік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930384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p_a5500e2d77c6055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03536" y="4114800"/>
            <a:ext cx="1499616" cy="93268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0076688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Набір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076688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419088" y="5541264"/>
            <a:ext cx="5212080" cy="991971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419088" y="5541264"/>
            <a:ext cx="36576" cy="991971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56831" y="5696712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КУПУЮТЬ НАСПРАВДІ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56831" y="5925312"/>
            <a:ext cx="4736592" cy="4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Сантоку в Україні перестав бути японським ножем і став формою леза: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74 позиції каталогу — сантоку, петті й накірі. Покупець купує геометрію,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походження він не перевіряє.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03504" y="652881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Профілі — схематичні креслення за типовими пропорціями, а не зображення конкретних моделей. Фото — картки товарів українських магазинів, вересень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Щ О   Б У В А Є   ·   2   ·   С Т А Л Ь   І   Р Е Г І О 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Ціну визначає сталь, а можливість закупівлі — регіон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Дві осі, на яких тримається вся категорія. Марка сталі задає ціновий щабель; регіон кузні задає, чи взагалі можлива серійна поставка.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3619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ВІСЬ 1 · СТАЛЬ І КОНСТРУКЦІЯ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773936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КОНСТРУКЦІЯ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177393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СТАЛЬ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8808" y="177393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HRC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177393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РОЗДРІБ,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1773936"/>
            <a:ext cx="5349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ХТО ТУТ СТОЇТЬ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776" y="1952244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1993392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Мо-ванадієва моносталь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15768" y="199339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AUS-6A, AUS-8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808" y="1993392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56–58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199339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700 – 2 500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8" y="1993392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Satake Saku, Seki Kanetsugu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242108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VG-10 моно або 3 шари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15768" y="224210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VG-10 core, clad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8808" y="2242108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60–61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18888" y="224210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2 500 – 6 000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242108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Tojiro DP, KAI Wasabi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2449677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2490825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VG-10 + дамаск 32–69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15768" y="249082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damascus clad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8808" y="2490825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60–61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18888" y="2490825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5 000 – 12 000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2490825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Kasumi, Yaxell Ran, KAI Shun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2739542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Порошкова SG-2 / R2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15768" y="273954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101–193 шари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8808" y="2739542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62–64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18888" y="273954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12 000 – 43 020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36208" y="2739542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Yaxell Super Gou, Miyabi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947111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988259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Вуглецева Сіроґамі / Аоґамі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15768" y="298825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одностороннє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8808" y="2988259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62–65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18888" y="2988259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3 000 – 25 000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6208" y="2988259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Tosa, HONMAMON, Sakai Takayuki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236976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Honyaki, Ginsan моносталь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15768" y="32369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суцільне гартування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8808" y="3236976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63–65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18888" y="323697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35 000 – 70 000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6208" y="3236976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У країні немає жодної позиції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63931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ВІСЬ 2 · РЕГІОН ВИРОБНИЦТВА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387705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84248" y="3877056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ЦЕ ЗА ВИРОБНИЦТВО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33288" y="387705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64807" y="3877056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56448" y="3877056"/>
            <a:ext cx="3474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ЧИ МОЖЛИВА СЕРІЙНА ПОСТАВКА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93776" y="4055364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409651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Секі, Гіфу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84248" y="409651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Промисловий центр. Серійне виробництво, західні руків'я, стабільна якість.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33288" y="409651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64807" y="409651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726 – 70 102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56448" y="4096512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A7D5A"/>
                </a:solidFill>
                <a:latin typeface="Segoe UI"/>
              </a:rPr>
              <a:t>Так — заводи, контейнерні партії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43452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Сакаї, Осака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84248" y="4345228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600+ років. Розподіл праці: коваль, точильник, монтажник. Односторонні ножі.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33288" y="43452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64807" y="4345228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1 999 – 15 580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56448" y="4345228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88A3D"/>
                </a:solidFill>
                <a:latin typeface="Segoe UI"/>
              </a:rPr>
              <a:t>Частково — великі майстерні з експортом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93776" y="4552797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6928" y="4593945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Ечідзен, Фукуї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84248" y="4593945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700 років. Takefu Knife Village. Піонери порошкових сталей.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4593945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64807" y="459394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5 320 – 16 677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56448" y="4593945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484266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Тоса, Коті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84248" y="484266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400+ років. Вільна ковка: один коваль веде ніж від заготовки до кромки.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33288" y="484266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64807" y="484266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2 610 – 10 035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56448" y="4842662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93776" y="5050231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5091379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Цубаме-Сандзьо, Ніїґата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84248" y="5091379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700 років, Ніїґата. Ковальські майстерні та інструмент.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5091379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64807" y="5091379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9 900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56448" y="5091379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66928" y="53400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Хіросакі, Аоморі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84248" y="534009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Nigara Hamono: 350 років, ковалі клану Цуґару, 8 поколінь.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733288" y="53400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64807" y="534009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14 800 – 16 740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56448" y="5340096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66928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66928" y="5632704"/>
            <a:ext cx="36576" cy="851712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04672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ЧОМУ ЦЕ ВИРІШАЛЬНО ДЛЯ ЗАКУПІВЛІ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4672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Секі продасть контейнер. Сакаї — партію. Тоса, Ечідзен, Сандзьо й Аоморі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кують поштучно: це вітрина для репутації, а не канал постачання.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217920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217920" y="5632704"/>
            <a:ext cx="36576" cy="85171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55664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ДЕ В ЦЬОМУ SAKAI TAKAYUKI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55664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Сакаї, Осака. Велика майстерня з експортом у 100+ країн — тобто другий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за масштабованістю регіон після Секі, і єдиний із традицією ручної кузні.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HRC — твердість клинка за Роквеллом. Ціни — спостережений роздріб в Україні, жовтень 2026. «Серійна поставка» — оцінка на основі структури виробництва регіону, не підтверджена переговорами з виробниками.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Я К І С Т Ь   ·   1   ·   М А Р К А   С Т А Л 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Ніж купують не за брендом, а за сталлю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Марка сталі визначає три речі: скільки ніж тримає кромку, чи іржавіє і як легко викришується. Руків'я, дизайн та ім'я — вторинні.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91056"/>
            <a:ext cx="1481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СТАЛЬ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48256" y="1591056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ТИП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3552" y="1591056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HRC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159105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ТРИМАЄ КРОМКУ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591056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ІРЖАВІЄ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25312" y="1591056"/>
            <a:ext cx="104241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РИЗИК СКОЛУ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7728" y="1591056"/>
            <a:ext cx="11521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ЗАТОЧУВАННЯ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2" y="1591056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РОЗДРІБ,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1591056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ДЕ ЦЕ ДОРЕЧНО НА КУХНІ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" y="1769364"/>
            <a:ext cx="11210544" cy="2971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1810512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6B7282"/>
                </a:solidFill>
                <a:latin typeface="Segoe UI"/>
              </a:rPr>
              <a:t>AUS-8 / AUS-10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48256" y="1810512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нержавійка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73552" y="1810512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56–58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181051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коротко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1810512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ні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25312" y="1810512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низький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1810512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просте, мусат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9872" y="1810512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700 – 2 500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1810512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Лінійна станція, висока плинність персоналу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2116836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6B7282"/>
                </a:solidFill>
                <a:latin typeface="Segoe UI"/>
              </a:rPr>
              <a:t>Мо-ванадієва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48256" y="2116836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нержавійка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73552" y="2116836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57–59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0" y="211683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коротко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2116836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ні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25312" y="2116836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низький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67728" y="2116836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просте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19872" y="2116836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900 – 3 000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2116836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Заготовка, овочі, робота «на потік»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382012"/>
            <a:ext cx="11210544" cy="2971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423160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VG-10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48256" y="2423160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нержавійка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73552" y="2423160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60–61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242316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добре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0" y="2423160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ні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25312" y="2423160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середній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67728" y="2423160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камені 1000/3000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19872" y="2423160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2 500 – 12 000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423160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Універсальний вибір шефа: баланс усіх властивостей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2729484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Ginsan / Silver #3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48256" y="2729484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нержавійка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73552" y="2729484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61–62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40480" y="272948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дуже добре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0" y="2729484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ні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25312" y="2729484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середній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67728" y="2729484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камені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19872" y="2729484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9 000 – 20 000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18320" y="2729484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Коли потрібна гострота вуглецю без догляду за ним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3776" y="2994660"/>
            <a:ext cx="11210544" cy="2971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035808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SG-2 / R2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48256" y="3035808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порошкова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3552" y="3035808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62–64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40480" y="303580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відмінно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0" y="3035808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ні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25312" y="3035808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B42E3A"/>
                </a:solidFill>
                <a:latin typeface="Segoe UI"/>
              </a:rPr>
              <a:t>високий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67728" y="3035808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камені, навичка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19872" y="3035808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12 000 – 45 000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18320" y="3035808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Фініш, нарізка, презентація. Не для кістки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3342132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ZDP-189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48256" y="3342132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порошкова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73552" y="3342132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65–67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40480" y="334213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максимум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0" y="3342132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ні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25312" y="3342132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B42E3A"/>
                </a:solidFill>
                <a:latin typeface="Segoe UI"/>
              </a:rPr>
              <a:t>дуже високий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67728" y="3342132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лише майстер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19872" y="3342132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17 000 – 70 000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418320" y="3342132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Колекційний рівень. На потоковій кухні зайвий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93776" y="3607308"/>
            <a:ext cx="11210544" cy="2971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6928" y="3648456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Shirogami (біла)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048256" y="3648456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вуглець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73552" y="3648456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62–64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40480" y="364845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відмінно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0" y="3648456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так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25312" y="3648456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B42E3A"/>
                </a:solidFill>
                <a:latin typeface="Segoe UI"/>
              </a:rPr>
              <a:t>високий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67728" y="3648456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камені, часто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119872" y="3648456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3 000 – 25 000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418320" y="3648456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Суші-станція, риба. Витирати після кожного різу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3954780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Aogami (синя)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048256" y="3954780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вуглець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273552" y="3954780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62–65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840480" y="395478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максимум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9200" y="3954780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так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925312" y="3954780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B42E3A"/>
                </a:solidFill>
                <a:latin typeface="Segoe UI"/>
              </a:rPr>
              <a:t>високий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967728" y="3954780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камені, часто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19872" y="3954780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4 000 – 60 000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418320" y="3954780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Та сама задача, але кромка тримається довше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93776" y="4219956"/>
            <a:ext cx="11210544" cy="2971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66928" y="4261104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SLD / Chromax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048256" y="4261104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інструментальна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273552" y="4261104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61–63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840480" y="426110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дуже добре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029200" y="4261104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майже ні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925312" y="4261104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середній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67728" y="4261104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камені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19872" y="4261104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5 000 – 20 000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18320" y="4261104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Компроміс: ріже як вуглець, доглядається як нержавійка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66928" y="4645152"/>
            <a:ext cx="3584448" cy="100218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66928" y="4645152"/>
            <a:ext cx="36576" cy="100218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04672" y="4800600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HRC — ЩО ЦЕ НАСПРАВДІ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4672" y="5029200"/>
            <a:ext cx="3108960" cy="471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Твердість за Роквеллом. Кожні +2 HRC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приблизно вдвічі довша кромка і вдвічі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вищий ризик її виломити. Європа — 56–58.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297680" y="4645152"/>
            <a:ext cx="3584448" cy="100218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297680" y="4645152"/>
            <a:ext cx="36576" cy="100218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535424" y="4800600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66E28"/>
                </a:solidFill>
                <a:latin typeface="Segoe UI"/>
              </a:rPr>
              <a:t>ВУГЛЕЦЬ ПРОТИ НЕРЖАВІЙКИ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535424" y="5029200"/>
            <a:ext cx="3108960" cy="471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Вуглець гостріший і довше тримає кромку,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але вкривається патиною за годину роботи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й ржавіє. Режим простий: витер — поклав.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8046720" y="4645152"/>
            <a:ext cx="3584448" cy="100218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046720" y="4645152"/>
            <a:ext cx="36576" cy="100218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284464" y="4800600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54780"/>
                </a:solidFill>
                <a:latin typeface="Segoe UI"/>
              </a:rPr>
              <a:t>ПОРОШКОВА СТАЛЬ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284464" y="5029200"/>
            <a:ext cx="3108960" cy="471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Зерно дрібніше — звідси і гострота, і ціна.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Але чим твердіше, тим крихкіше: SG-2 при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64 HRC ламається там, де VG-10 загнеться.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66928" y="5650992"/>
            <a:ext cx="110642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13232" y="5692140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ЯК ЦЕ ЧИТАТИ ПРИ ВИБОРІ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66928" y="5961888"/>
            <a:ext cx="2706624" cy="5486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566928" y="5961888"/>
            <a:ext cx="32004" cy="54864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49808" y="6035040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Потік, велика бригада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49808" y="6217920"/>
            <a:ext cx="24140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VG-10 або мо-ванадій, 58–61 HRC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419856" y="5961888"/>
            <a:ext cx="2706624" cy="5486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3419856" y="5961888"/>
            <a:ext cx="32004" cy="548640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02736" y="6035040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Шеф для себе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602736" y="6217920"/>
            <a:ext cx="24140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VG-10 дамаск або SLD, 60–62 HRC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272784" y="5961888"/>
            <a:ext cx="2706624" cy="5486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272784" y="5961888"/>
            <a:ext cx="32004" cy="54864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55664" y="6035040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Суші й риба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455664" y="6217920"/>
            <a:ext cx="24140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Shirogami чи Aogami, одностороннє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125712" y="5961888"/>
            <a:ext cx="2706624" cy="5486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9125712" y="5961888"/>
            <a:ext cx="32004" cy="548640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308592" y="6035040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A84A6B"/>
                </a:solidFill>
                <a:latin typeface="Segoe UI"/>
              </a:rPr>
              <a:t>Презентація, фініш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08592" y="6217920"/>
            <a:ext cx="24140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SG-2 / R2, 62–64 HRC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Діапазони HRC — за специфікаціями виробників. Ціни — спостережений роздріб в Україні, жовтень 2026. «Тримає кромку» і «ризик сколу» — відносні оцінки в межах цієї таблиці, не лабораторні виміри.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Я К І С Т Ь   ·   2   ·   К О Н С Т Р У К Ц І Я   К Л И Н К 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Чому два ножі з однієї сталі коштують по-різному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Сталь — лише серцевина. Те, як її обгорнули й загартували, змінює ціну в кілька разів і визначає, як ніж поводиться в роботі.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1064240" cy="832104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72768"/>
            <a:ext cx="41148" cy="832104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682495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Моносталь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956816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Увесь клинок — одна сталь.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17007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Найпростіше у виробництві й найдешевше.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Весь клинок однаково твердий: якщо сталь м'яка —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кромка швидко сідає; якщо тверда — ніж крихкий цілком.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1700784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ТИПОВА ЦІНА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8" y="1874519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B7282"/>
                </a:solidFill>
                <a:latin typeface="Georgia"/>
              </a:rPr>
              <a:t>700 – 3 000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30384" y="1700784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ПРИКЛАДИ В УКРАЇНІ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30384" y="1874519"/>
            <a:ext cx="1737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Satake Saku, Seki Kanetsugu базові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459736"/>
            <a:ext cx="11064240" cy="832104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459736"/>
            <a:ext cx="41148" cy="83210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2569464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2A7F86"/>
                </a:solidFill>
                <a:latin typeface="Georgia"/>
              </a:rPr>
              <a:t>Сан-май / касумі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2843784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Тверда серцевина між двома
м'якшими шарами.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258775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Кромка тверда, а боки в'язкі — ніж тримає гостроту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й не ламається від бокового навантаження.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Це стандарт більшості японських ножів.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73568" y="258775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ТИПОВА ЦІНА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3568" y="276148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2A7F86"/>
                </a:solidFill>
                <a:latin typeface="Georgia"/>
              </a:rPr>
              <a:t>2 500 – 12 000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30384" y="258775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ПРИКЛАДИ В УКРАЇНІ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0384" y="2761488"/>
            <a:ext cx="1737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Tojiro DP, KAI Shun, Suncraft Senzo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3346704"/>
            <a:ext cx="11064240" cy="832104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3346704"/>
            <a:ext cx="41148" cy="832104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345643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54780"/>
                </a:solidFill>
                <a:latin typeface="Georgia"/>
              </a:rPr>
              <a:t>Дамаск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3730752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Той самий сан-май, але шарів
17 – 193.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347472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Шари — здебільшого естетика: ріже серцевина, не малюнок.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Проте багатошарова обкладка краще гасить вібрацію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і трохи легше відпускає продукт від клинка.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73568" y="347472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ТИПОВА ЦІНА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73568" y="3648456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54780"/>
                </a:solidFill>
                <a:latin typeface="Georgia"/>
              </a:rPr>
              <a:t>5 000 – 40 000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0384" y="347472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ПРИКЛАДИ В УКРАЇНІ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30384" y="3648456"/>
            <a:ext cx="1737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Kasumi Damascus, Yaxell Ran, Mcusta Zanmai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233672"/>
            <a:ext cx="11064240" cy="832104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4233672"/>
            <a:ext cx="41148" cy="832104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434340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B42E3A"/>
                </a:solidFill>
                <a:latin typeface="Georgia"/>
              </a:rPr>
              <a:t>Хоньякі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" y="461772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Один шматок сталі, зонне
гартування як у катани.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34640" y="4361688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Найскладніша технологія: кромка тверда, обух м'який,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між ними видима лінія гартування хамон.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Найдорожче і найкрихкіше. Правиться лише майстром.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73568" y="4361688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ТИПОВА ЦІНА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73568" y="4535424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B42E3A"/>
                </a:solidFill>
                <a:latin typeface="Georgia"/>
              </a:rPr>
              <a:t>35 000 – 70 000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30384" y="436168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ПРИКЛАДИ В УКРАЇНІ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30384" y="4535424"/>
            <a:ext cx="1737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Sakai Takayuki Shoryu · у країні немає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5120640"/>
            <a:ext cx="11064240" cy="832104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66928" y="5120640"/>
            <a:ext cx="41148" cy="832104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6384" y="523036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966E28"/>
                </a:solidFill>
                <a:latin typeface="Georgia"/>
              </a:rPr>
              <a:t>Куроучі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" y="5504688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Чорна ковальська окалина
залишена на клинку.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34640" y="5248655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Не оздоблення, а захист: окалина сповільнює корозію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вуглецевої сталі й знижує прилипання продукту.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Ознака ручної кузні, а не заводської лінії.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73568" y="5248655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ТИПОВА ЦІНА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73568" y="5422392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966E28"/>
                </a:solidFill>
                <a:latin typeface="Georgia"/>
              </a:rPr>
              <a:t>3 000 – 15 000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30384" y="5248655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ПРИКЛАДИ В УКРАЇНІ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30384" y="5422392"/>
            <a:ext cx="1737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Tosa Kurouchi, HONMAMON, Motokane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6144768"/>
            <a:ext cx="11064240" cy="694436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66928" y="6144768"/>
            <a:ext cx="36576" cy="69443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4672" y="63002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ГОЛОВНЕ ПРО КОНСТРУКЦІЮ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6528816"/>
            <a:ext cx="10588752" cy="164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Шари дамаску не ріжуть — ріже серцевина. Переплачувати за малюнок має сенс лише тоді, коли серцевина й гартування того варті.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Я К І С Т Ь   ·   3   ·   Щ О   Ц Е   З Н А Ч И Т Ь   Н А   К У Х Н 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Японський ніж не кращий — він інший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Те, що в каталозі виглядає перевагою, на лінії може стати проблемою. Чесне зіставлення двох шкіл для того, хто щодня стоїть на станції.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60934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ПАРАМЕТР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0048" y="1609344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ЄВРОПЕЙСЬКА ШКОЛА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79008" y="1609344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ЯПОНСЬКА ШКОЛА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8" y="1609344"/>
            <a:ext cx="2651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З ЦЬОГО ВИПЛИВАЄ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87652"/>
            <a:ext cx="11210544" cy="32461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82880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Твердість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0048" y="1828800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56–58 HRC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9008" y="1828800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60–65 HRC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7968" y="1828800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Японський довше ріже, легше виломлюється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16255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Кут заточування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2162556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20–22° на сторону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8" y="2162556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12–15° на сторону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7968" y="2162556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Тонша кромка — чистіший зріз, вища вразливість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455164"/>
            <a:ext cx="11210544" cy="32461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49631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Як правлять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70048" y="2496312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мусат, щодня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79008" y="2496312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водні камені, раз на 1–3 тижні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Потрібна навичка і 20–40 хв часу, а не 30 секунд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83006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Поведінка на кістці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70048" y="2830068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загинається, правиться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2830068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викришується назавжди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87968" y="2830068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Японський ніж — не для рубки й замороженого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3776" y="3122676"/>
            <a:ext cx="11210544" cy="32461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16382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Дошка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70048" y="3163824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будь-яка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8" y="3163824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дерево або м'який пластик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87968" y="3163824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Скло і камінь убивають кромку за один сервіс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49758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Посудомийка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70048" y="3497580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витримує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79008" y="3497580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деформує руків'я, тупить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87968" y="3497580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Тільки ручне миття і насухо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" y="3790188"/>
            <a:ext cx="11210544" cy="32461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383133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Втрата ножа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70048" y="3831336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300 – 900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79008" y="3831336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5 000 – 20 000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87968" y="3831336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При плинності 40–60 % на рік це інша економіка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416509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Хто реально виграє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70048" y="4165092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лінійний кухар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79008" y="4165092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шеф, су-шеф, суші-майстер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87968" y="416509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Інструмент для того, хто ним володіє, а не для всіх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645152"/>
            <a:ext cx="55778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3232" y="4686300"/>
            <a:ext cx="30678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ЩО ПИТАТИ В ПОСТАЧАЛЬНИКА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4974336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88A3D"/>
                </a:solidFill>
                <a:latin typeface="Segoe UI"/>
              </a:rPr>
              <a:t>1.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2" y="4974336"/>
            <a:ext cx="5193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Марка сталі й твердість у HRC — цифрою, не словом «японська сталь»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5212080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88A3D"/>
                </a:solidFill>
                <a:latin typeface="Segoe UI"/>
              </a:rPr>
              <a:t>2.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2" y="5212080"/>
            <a:ext cx="5193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Конструкція: моносталь, сан-май чи дамаск, скільки шарів і що в серцевині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5449824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88A3D"/>
                </a:solidFill>
                <a:latin typeface="Segoe UI"/>
              </a:rPr>
              <a:t>3.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6112" y="5449824"/>
            <a:ext cx="5193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Кут заточування з заводу і чи симетричний він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" y="5687568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88A3D"/>
                </a:solidFill>
                <a:latin typeface="Segoe UI"/>
              </a:rPr>
              <a:t>4.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6112" y="5687568"/>
            <a:ext cx="5193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Регіон і назва кузні, а не лише торгова марка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5925312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88A3D"/>
                </a:solidFill>
                <a:latin typeface="Segoe UI"/>
              </a:rPr>
              <a:t>5.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6112" y="5925312"/>
            <a:ext cx="5193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Чи є сервіс заточування й гарантія на кромку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19088" y="4645152"/>
            <a:ext cx="521208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65392" y="4686300"/>
            <a:ext cx="28666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ОЗНАКИ, ЩО ПЕРЕД ВАМИ НЕ ЯПОНІЯ</a:t>
            </a:r>
          </a:p>
        </p:txBody>
      </p:sp>
      <p:sp>
        <p:nvSpPr>
          <p:cNvPr id="68" name="Oval 67"/>
          <p:cNvSpPr/>
          <p:nvPr/>
        </p:nvSpPr>
        <p:spPr>
          <a:xfrm>
            <a:off x="6492240" y="5015484"/>
            <a:ext cx="68580" cy="68580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93408" y="4974336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У картці немає країни виробництва, лише «японський стиль»</a:t>
            </a:r>
          </a:p>
        </p:txBody>
      </p:sp>
      <p:sp>
        <p:nvSpPr>
          <p:cNvPr id="70" name="Oval 69"/>
          <p:cNvSpPr/>
          <p:nvPr/>
        </p:nvSpPr>
        <p:spPr>
          <a:xfrm>
            <a:off x="6492240" y="5253228"/>
            <a:ext cx="68580" cy="68580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93408" y="5212080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Сталь названа як «дамаск VG-10» без вказання виробника сталі</a:t>
            </a:r>
          </a:p>
        </p:txBody>
      </p:sp>
      <p:sp>
        <p:nvSpPr>
          <p:cNvPr id="72" name="Oval 71"/>
          <p:cNvSpPr/>
          <p:nvPr/>
        </p:nvSpPr>
        <p:spPr>
          <a:xfrm>
            <a:off x="6492240" y="5490972"/>
            <a:ext cx="68580" cy="68580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93408" y="5449824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Янагіба або деба дешевше за 2 000 грн</a:t>
            </a:r>
          </a:p>
        </p:txBody>
      </p:sp>
      <p:sp>
        <p:nvSpPr>
          <p:cNvPr id="74" name="Oval 73"/>
          <p:cNvSpPr/>
          <p:nvPr/>
        </p:nvSpPr>
        <p:spPr>
          <a:xfrm>
            <a:off x="6492240" y="5728716"/>
            <a:ext cx="68580" cy="68580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93408" y="5687568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Бренд із японською назвою, але без жодної кузні за ним</a:t>
            </a:r>
          </a:p>
        </p:txBody>
      </p:sp>
      <p:sp>
        <p:nvSpPr>
          <p:cNvPr id="76" name="Oval 75"/>
          <p:cNvSpPr/>
          <p:nvPr/>
        </p:nvSpPr>
        <p:spPr>
          <a:xfrm>
            <a:off x="6492240" y="5966459"/>
            <a:ext cx="68580" cy="68580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93408" y="5925312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Однакова ціна на різні моделі — ознака дропшип-фіда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5566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Кути й твердість — типові заводські значення, конкретна модель може відрізнятися. «Втрата ножа» — середня роздрібна ціна відповідного сегмента в Україні, жовтень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О Б С Я Г   Р О Б О Т И   І   Р О З М І Р   Р И Н К 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Georgia"/>
              </a:rPr>
              <a:t>Рахуємо тільки Японію: 16–19 млн грн із 9,02 млн $ категорії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Критерій відбору — країна виробництва Японія, підтверджена митним кодом або карткою товару продавця. Усе інше в цій роботі не рахується.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2706624" cy="1133856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72768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О З Д Р І Б   Н А   Р І 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2A7F86"/>
                </a:solidFill>
                <a:latin typeface="Georgia"/>
              </a:rPr>
              <a:t>16–19 млн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грн. Японське виробництво
у роздрібі України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572768"/>
            <a:ext cx="2706624" cy="1133856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572768"/>
            <a:ext cx="270662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Ш Т У К   Н А   Р І 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554780"/>
                </a:solidFill>
                <a:latin typeface="Georgia"/>
              </a:rPr>
              <a:t>≈ 3 700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ножів японського
виробництва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572768"/>
            <a:ext cx="2706624" cy="1133856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572768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Ч А С Т К А   Р И Н К 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966E28"/>
                </a:solidFill>
                <a:latin typeface="Georgia"/>
              </a:rPr>
              <a:t>2 %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грошах і 0,15 %
у штуках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572768"/>
            <a:ext cx="2706624" cy="1133856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572768"/>
            <a:ext cx="2706624" cy="25603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П Е Р Е В І Р Е Н И Х   Б Р Е Н Д І 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A84A6B"/>
                </a:solidFill>
                <a:latin typeface="Georgia"/>
              </a:rPr>
              <a:t>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25 продавців,
759 позицій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907792"/>
            <a:ext cx="704088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2948940"/>
            <a:ext cx="38724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МИТНА БАЗА КАТЕГОРІЇ · ІМПОРТ 2024, ТИС. $ CIF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20040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КОД УКТЗЕД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04288" y="3200400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НАЗВА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21808" y="320040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ІМПОРТ, ТИС. $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3408" y="320040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ЧАСТКА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" y="3378708"/>
            <a:ext cx="7187184" cy="27432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341985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8211 10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04288" y="341985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Набори ножів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21808" y="3419856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2 339,2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93408" y="3419856"/>
            <a:ext cx="859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26 %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71246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8211 91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04288" y="371246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Ножі столові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21808" y="3712464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1 093,4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93408" y="3712464"/>
            <a:ext cx="859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12 %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3776" y="3963924"/>
            <a:ext cx="7187184" cy="27432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400507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8211 92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04288" y="400507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Ножі з фіксованим лезом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21808" y="4005072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5 587,3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93408" y="4005072"/>
            <a:ext cx="859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62 %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315968"/>
            <a:ext cx="704088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444398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РАЗОМ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04288" y="444398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Митна база категорії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21808" y="4443984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9 019,8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93408" y="4443984"/>
            <a:ext cx="859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100 %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2907792"/>
            <a:ext cx="3767328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10144" y="2948940"/>
            <a:ext cx="207203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ІМПОРТ ІЗ ЯПОНІЇ · 8211 92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325526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0">
                <a:solidFill>
                  <a:srgbClr val="1B253F"/>
                </a:solidFill>
                <a:latin typeface="Segoe UI"/>
              </a:rPr>
              <a:t>2022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30767" y="3296412"/>
            <a:ext cx="2157984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430767" y="3296412"/>
            <a:ext cx="1978705" cy="8229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680191" y="3255264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51A26"/>
                </a:solidFill>
                <a:latin typeface="Segoe UI"/>
              </a:rPr>
              <a:t>119,2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3566160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0">
                <a:solidFill>
                  <a:srgbClr val="1B253F"/>
                </a:solidFill>
                <a:latin typeface="Segoe UI"/>
              </a:rPr>
              <a:t>2023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430767" y="3607308"/>
            <a:ext cx="2157984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30767" y="3607308"/>
            <a:ext cx="1316370" cy="8229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680191" y="3566160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51A26"/>
                </a:solidFill>
                <a:latin typeface="Segoe UI"/>
              </a:rPr>
              <a:t>79,3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387705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0">
                <a:solidFill>
                  <a:srgbClr val="1B253F"/>
                </a:solidFill>
                <a:latin typeface="Segoe UI"/>
              </a:rPr>
              <a:t>2024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430767" y="3918204"/>
            <a:ext cx="2157984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430767" y="3918204"/>
            <a:ext cx="1714767" cy="8229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680191" y="3877056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51A26"/>
                </a:solidFill>
                <a:latin typeface="Segoe UI"/>
              </a:rPr>
              <a:t>103,3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63840" y="4279392"/>
            <a:ext cx="376732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40" b="0">
                <a:solidFill>
                  <a:srgbClr val="6B7282"/>
                </a:solidFill>
                <a:latin typeface="Segoe UI"/>
              </a:rPr>
              <a:t>Імпорт 2024 на 13 % нижчий за 2022 у номінальних доларах.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40" b="0">
                <a:solidFill>
                  <a:srgbClr val="6B7282"/>
                </a:solidFill>
                <a:latin typeface="Segoe UI"/>
              </a:rPr>
              <a:t>Стрибок 2023 → 2024 — це відновлення після провалу, а не тренд.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4956048"/>
            <a:ext cx="110642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13232" y="4997196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ЩО САМЕ ВХОДИТЬ У ЦІ 16–19 МЛН ГРН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28" y="5266944"/>
            <a:ext cx="3639312" cy="73152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5266944"/>
            <a:ext cx="32004" cy="73152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68096" y="535838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2A7F86"/>
                </a:solidFill>
                <a:latin typeface="Georgia"/>
              </a:rPr>
              <a:t>56 брендів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8096" y="5669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японського виробництва, перевірених
на країну походження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352544" y="5266944"/>
            <a:ext cx="3639312" cy="73152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352544" y="5266944"/>
            <a:ext cx="32004" cy="731520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53712" y="535838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554780"/>
                </a:solidFill>
                <a:latin typeface="Georgia"/>
              </a:rPr>
              <a:t>6 регіонів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53712" y="5669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Секі, Сакаї, Ечідзен, Тоса,
Сандзьо, Аоморі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138159" y="5266944"/>
            <a:ext cx="3639312" cy="73152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138159" y="5266944"/>
            <a:ext cx="32004" cy="73152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39327" y="535838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966E28"/>
                </a:solidFill>
                <a:latin typeface="Georgia"/>
              </a:rPr>
              <a:t>25 продавців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39327" y="5669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від фахових магазинів
до оптового профканалу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66928" y="6126480"/>
            <a:ext cx="11064240" cy="694436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66928" y="6126480"/>
            <a:ext cx="36576" cy="69443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04672" y="6281928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ЦЕ ЗНАЧИТЬ ДЛЯ ОЦІНКИ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4672" y="6510528"/>
            <a:ext cx="10588752" cy="164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Японія — 1,3 % митної бази категорії. Уся робота рахує лише цю частку: 16–19 млн грн роздрібу, близько 3 700 ножів на рік.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3504" y="594360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Джерело митних даних: World Bank WITS / UN Comtrade, імпорт України 2022–2024, коди 8211 10, 8211 91, 8211 92. Роздріб — перерахунок через торгову націнку.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1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До 2 500 грн: японське виробництво сюди майже не дістає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Нижній діапазон каталогу. Саме тут лежить обсяг усього ринку кухонних ножів — і саме тут японське виробництво представлене найгірше.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d6e17fcf3d2475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Miyabi Isshin Vegetable 2000 90мм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990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33a70b88b0d741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Satake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Шеф малий Satake Swordsmith 803 · 274, 135мм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1 149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d59826c51e9236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Satake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Satake Saku 802 · 369 Air Hol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1 349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4abc40943b88d2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Mikihisa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MAKIRI MIKIHISA / Макірі Мікіхіса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1 650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23652eb649de86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Misono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Misono, 105 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1 690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04ca1fd405b651c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Miyabi Isshin Nakiri 2007 165мм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1 760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449a0fa005f3fe0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Paring, 120 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1 905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e451123c4ea3ce3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овочевий Kasumi TORA 36844, 9см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1 991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8a8dda7845ccd96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Wasabi Black 6716N Накірі, 16.5см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2 184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b24bcd2f1c88598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Motokane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Deba Motokane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2 200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453450017d7bcce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Hanakumagawa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Funayuki ніж Shirogami 2 Steel 165 mm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2 390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2468ec49793a87d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Masahiro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Petty MRS · 30 10696 120мм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2 400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66E28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966E28"/>
                </a:solidFill>
                <a:latin typeface="Georgia"/>
              </a:rP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11 %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1 790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726–2 400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Seki Kanetsugu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8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Satake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374904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374904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28575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3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28575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3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607100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29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66E28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Моносталь або базова VG-10, штамповка, західне руків'я. Японія дістає сюди лише Satake, Seki Kanetsugu, Fuji Cutlery і бюджетними лініями KAI Wasabi.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Це єдиний діапазон, де японський ніж конкурує з європейським за ціною, а не за походженням — і де покупець найчастіше не перевіряє країну виробництва.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2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2 500 – 5 000 грн: вхід у японське виробництво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Перший діапазон, де японське виробництво стає нормою, а не винятком. Тут з'являються імена кузень, а не лише промислові бренди.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43e68bae1d5168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Motokane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Paring Motokane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2 695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c4fb344401d15f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Hanakumagawa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для фруктів з дамаської сталі Hanakumagawa 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2 870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3797ecda963e1f9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Santoku, 165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3 090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de561360f20efbd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Tomita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Deba ніж Blue Steel #2 110 mm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3 215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8c9c80959cd1561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Tojiro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для овочів Tojiro DP F · 800, 9cм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3 499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397660616646e1a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Migaki Yanagiba HC305 · W2 210мм японський к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a318bfe8552265a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Seki Kanetsugu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SAIUN 9000 90мм VG10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3 980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82e91ea756b0ade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Seki Magoroku Red Wood MGR · 0210Y Янагіба, 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4 130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89338fbf5fd17d5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Fukamizu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Black 240мм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4 451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cc824488ee159b87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Yaxell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для стейка Yaxell RAN 36013, 113мм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4 657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9876fa17e2def4a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Black 240мм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4 850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e4f1f50101e1ad5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Misono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Misono MV, 120 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4 990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2A7F86"/>
                </a:solidFill>
                <a:latin typeface="Georgia"/>
              </a:rPr>
              <a:t>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26 %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3 539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2 640–4 996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10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Masahiro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588873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51755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7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51755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7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446227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6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11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607100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67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VG-10 у три шари, перші куроучі з Тоса, артизанальні ножі з вуглецевої сталі. Руків'я ще західне, але геометрія вже японська.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Найцікавіший діапазон для входу з японським постачальником: покупець уже готовий платити за походження, але ще не вимагає дамаску й порошкової сталі.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3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5 000 – 10 000 грн: ядро асортименту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Найгустіший діапазон каталогу. Сюди цілиться більшість спеціалізованих продавців країни.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f3989c9b25a050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Tojiro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ніж Tojiro DP F · 502 Накірі, 16.5см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5 299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8918967fa97605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Yaxell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Сантоку Yaxell Zen 35512, 125мм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5 538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aa251d8125cd559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Gyuto (Шеф), 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5 990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3754cc797ae3a1a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SHUN CLASSIC DM · 0701 універсальний, 15см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6 440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deda8d124c955ab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Yoshihiro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bocho 240мм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6 747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b3b0138473ac2d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Kasumi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Сантоку Kasumi Damascus 84013, 130мм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7 199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9c77e4a68891c07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Takamura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Chromax Petty 130мм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7 400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d2371d536e521f9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Янагіба SAKAI TAKAYUKI Yasugi для лівші, 24с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7 640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e976c7316ce0589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Santoku Damascus TADAYOSHI Tosa 165мм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7 907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69e9e46e10fb56e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Shigehiro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Shigehiro Speci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8 490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9db43e088e35fc4b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Seki Kanetsugu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Kiritsuke Zuiun 9302 150мм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9 040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418f52bb3af9119b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Tsukasa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Aogami super ніж слайсер 210 mm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9 900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54780"/>
                </a:solidFill>
                <a:latin typeface="Georgia"/>
              </a:rPr>
              <a:t>116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45 %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7 290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5 060–9 999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24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701802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23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464058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15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34518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11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34518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11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77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19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607100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116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54780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Дамаск 32–69 шарів поверх VG-10, куроучі Тоса, Takamura Chromax, Tojiro DP Damascus. Твердість 60–61 HRC, часто вже wa-руків'я.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Тут найбільша щільність позицій і найбільша конкуренція продавців за одного покупця. Новий бренд без історії аргументу тут не має.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4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Понад 10 000 грн: порошкова сталь і іменні ковалі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Верхній діапазон. Тут платять за марку сталі, кількість шарів і підпис майстра, а не за зручність.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2b52150e4883a7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Yaxell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універсальний Yaxell Super Gou 37102, 120мм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10 195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b91dad844d142b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SHUN CLASSIC DM · 0702 Сантоку, 180мм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10 220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02d3b3a4d1494e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Tojiro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Tojiro Shippu Black FD · 1594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10 799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0827187fef7ab34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HONMAMON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Santoku 170 мм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11 790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cde04470743a33c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JCK Natures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Aogami Super Series SAKURA · 2 Шеф 180mm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12 220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f37e18b42894173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Tojiro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Tojiro Flash FF · CH180, 18см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12 999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2b4d0d2f644ed9d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Hatsukokoro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HAYABUSA ZDP · 189 150MM PETTY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13 865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c58b514d4c51b78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Shun CLASSIC DM · 0712 Сокирка цайдао, 18см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15 120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27208732ebeb99d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Etsu / Ittetsu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Etsu (Ittetsu) R2 Damascus Bunka ніж 165мм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16 677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a9020c3c0c6b53c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Harukaze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"HARUKAZE" Pett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19 990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fbf18e2e77d70d1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HONMAMON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Gyuto (Шеф) Dam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23 990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89f9892533a47e3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Набір з 3 · х ножів KAI Shun Premier Tim Mal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27 970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A84A6B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A84A6B"/>
                </a:solidFill>
                <a:latin typeface="Georgia"/>
              </a:rP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18 %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13 500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10 035–38 640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15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493776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10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398678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8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Takamura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160934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3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160934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3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33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607100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47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A84A6B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SG-2 і R2 порошкові сталі, 101–193 шари, ZDP-189 при 65–67 HRC, honyaki. Yaxell Super Gou, Takeshi Saji, Nigara, Myojin, Hatsukokoro.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Покупців на всю країну — кілька тисяч. Ніж за 17 746 грн це 57 % середньої місячної зарплати: сегмент обмежений не смаком, а доходом.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К А Т А Л О Г   ·   С Е Г М Е Н Т А Ц І Я   З А   Ц І Н О 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Чотири цінові діапазони японського виробництва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Каталог із 259 ножів японського виробництва. На кожному щаблі — п'ять позицій, рівномірно розподілених за ціною.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11064240" cy="106070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54480"/>
            <a:ext cx="41148" cy="1060704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16002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966E28"/>
                </a:solidFill>
                <a:latin typeface="Segoe UI"/>
              </a:rPr>
              <a:t>До 2 500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865376"/>
            <a:ext cx="1773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Японія сюди майже не дістає: моносталь, штамповка, західне руків'я.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32257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523744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82495" y="232257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11 %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2495" y="2523744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1609344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5e39e1543fcec9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2344" y="1645920"/>
            <a:ext cx="1583740" cy="603504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706624" y="231800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06624" y="231800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6664" y="2313432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06624" y="2450592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1 140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5148" y="246430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91532" y="1609344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_8b66ad87f5c1c9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252" y="1645920"/>
            <a:ext cx="1583740" cy="603504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4491532" y="231800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91532" y="231800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11572" y="2313432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1532" y="2450592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1 650 грн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90057" y="246430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76441" y="1609344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p_02d9eb8e846b79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2161" y="1645920"/>
            <a:ext cx="1583740" cy="603504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6276441" y="231800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6441" y="231800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96481" y="2313432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Takanori Izumi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76441" y="2450592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1 980 грн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74966" y="246430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61350" y="1609344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p_35c06f672ce0104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7070" y="1645920"/>
            <a:ext cx="1583740" cy="603504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061350" y="231800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61350" y="231800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1390" y="2313432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1350" y="2450592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2 184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59875" y="246430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846259" y="1609344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_19268526f3d170b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91979" y="1645920"/>
            <a:ext cx="1583740" cy="603504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9846259" y="231800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46259" y="231800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66299" y="2313432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46259" y="2450592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2 390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44784" y="246430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6928" y="2724912"/>
            <a:ext cx="11064240" cy="106070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6928" y="2724912"/>
            <a:ext cx="41148" cy="106070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68096" y="2770632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2A7F86"/>
                </a:solidFill>
                <a:latin typeface="Segoe UI"/>
              </a:rPr>
              <a:t>2 500 – 5 000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" y="3035808"/>
            <a:ext cx="1773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Вхід у японське виробництво: VG-10 у три шари, перші куроучі з Тоса.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" y="349300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67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" y="3694176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82495" y="349300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26 %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82495" y="3694176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06624" y="2779776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p_4c8e89d2fb84b58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52344" y="2816352"/>
            <a:ext cx="1583740" cy="603504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2706624" y="3488436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706624" y="3488436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26664" y="3483863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06624" y="3621024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2 833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05148" y="3634739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491532" y="2779776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p_a19a1d68e068cd3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37252" y="2816352"/>
            <a:ext cx="1583740" cy="603504"/>
          </a:xfrm>
          <a:prstGeom prst="rect">
            <a:avLst/>
          </a:prstGeom>
        </p:spPr>
      </p:pic>
      <p:sp>
        <p:nvSpPr>
          <p:cNvPr id="74" name="Rounded Rectangle 73"/>
          <p:cNvSpPr/>
          <p:nvPr/>
        </p:nvSpPr>
        <p:spPr>
          <a:xfrm>
            <a:off x="4491532" y="3488436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91532" y="3488436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1572" y="3483863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91532" y="3621024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3 231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90057" y="3634739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76441" y="2779776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p_2d8fe301a72c8dc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2161" y="2816352"/>
            <a:ext cx="1583740" cy="603504"/>
          </a:xfrm>
          <a:prstGeom prst="rect">
            <a:avLst/>
          </a:prstGeom>
        </p:spPr>
      </p:pic>
      <p:sp>
        <p:nvSpPr>
          <p:cNvPr id="81" name="Rounded Rectangle 80"/>
          <p:cNvSpPr/>
          <p:nvPr/>
        </p:nvSpPr>
        <p:spPr>
          <a:xfrm>
            <a:off x="6276441" y="3488436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76441" y="3488436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96481" y="3483863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Tomita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276441" y="3621024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3 539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74966" y="3634739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61350" y="2779776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ac2e57381642d4d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07070" y="2816352"/>
            <a:ext cx="1583740" cy="603504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8061350" y="3488436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061350" y="3488436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81390" y="3483863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Seki Kanetsugu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61350" y="3621024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4 450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59875" y="3634739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846259" y="2779776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p_ff9a5c2c6926f12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91979" y="2816352"/>
            <a:ext cx="1583740" cy="603504"/>
          </a:xfrm>
          <a:prstGeom prst="rect">
            <a:avLst/>
          </a:prstGeom>
        </p:spPr>
      </p:pic>
      <p:sp>
        <p:nvSpPr>
          <p:cNvPr id="95" name="Rounded Rectangle 94"/>
          <p:cNvSpPr/>
          <p:nvPr/>
        </p:nvSpPr>
        <p:spPr>
          <a:xfrm>
            <a:off x="9846259" y="3488436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846259" y="3488436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166299" y="3483863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846259" y="3621024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4 850 грн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44784" y="3634739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6928" y="3895344"/>
            <a:ext cx="11064240" cy="106070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66928" y="3895344"/>
            <a:ext cx="41148" cy="1060704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68096" y="3941063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54780"/>
                </a:solidFill>
                <a:latin typeface="Segoe UI"/>
              </a:rPr>
              <a:t>5 000 – 10 000 грн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8096" y="4206240"/>
            <a:ext cx="1773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Ядро асортименту: дамаск 32–69 шарів, Chromax, 60–61 HRC.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68096" y="4663440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116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68096" y="4864608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82495" y="4663440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45 %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682495" y="4864608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706624" y="3950207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p_60dbee1c6d5c1d94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752344" y="3986783"/>
            <a:ext cx="1583740" cy="603504"/>
          </a:xfrm>
          <a:prstGeom prst="rect">
            <a:avLst/>
          </a:prstGeom>
        </p:spPr>
      </p:pic>
      <p:sp>
        <p:nvSpPr>
          <p:cNvPr id="110" name="Rounded Rectangle 109"/>
          <p:cNvSpPr/>
          <p:nvPr/>
        </p:nvSpPr>
        <p:spPr>
          <a:xfrm>
            <a:off x="2706624" y="465886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706624" y="465886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026664" y="4654296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06624" y="4791456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5 490 грн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705148" y="480517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91532" y="3950207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p_7b56666f0aed347b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37252" y="3986783"/>
            <a:ext cx="1583740" cy="603504"/>
          </a:xfrm>
          <a:prstGeom prst="rect">
            <a:avLst/>
          </a:prstGeom>
        </p:spPr>
      </p:pic>
      <p:sp>
        <p:nvSpPr>
          <p:cNvPr id="117" name="Rounded Rectangle 116"/>
          <p:cNvSpPr/>
          <p:nvPr/>
        </p:nvSpPr>
        <p:spPr>
          <a:xfrm>
            <a:off x="4491532" y="465886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491532" y="465886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811572" y="4654296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Yaxell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491532" y="4791456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6 401 грн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490057" y="480517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276441" y="3950207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3" name="Picture 122" descr="p_640f6c9933ce6f9c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22161" y="3986783"/>
            <a:ext cx="1583740" cy="603504"/>
          </a:xfrm>
          <a:prstGeom prst="rect">
            <a:avLst/>
          </a:prstGeom>
        </p:spPr>
      </p:pic>
      <p:sp>
        <p:nvSpPr>
          <p:cNvPr id="124" name="Rounded Rectangle 123"/>
          <p:cNvSpPr/>
          <p:nvPr/>
        </p:nvSpPr>
        <p:spPr>
          <a:xfrm>
            <a:off x="6276441" y="465886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276441" y="465886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596481" y="4654296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Motokane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76441" y="4791456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7 290 грн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274966" y="480517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061350" y="3950207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0" name="Picture 129" descr="p_f639a91b4ddc848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07070" y="3986783"/>
            <a:ext cx="1583740" cy="603504"/>
          </a:xfrm>
          <a:prstGeom prst="rect">
            <a:avLst/>
          </a:prstGeom>
        </p:spPr>
      </p:pic>
      <p:sp>
        <p:nvSpPr>
          <p:cNvPr id="131" name="Rounded Rectangle 130"/>
          <p:cNvSpPr/>
          <p:nvPr/>
        </p:nvSpPr>
        <p:spPr>
          <a:xfrm>
            <a:off x="8061350" y="465886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061350" y="465886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81390" y="4654296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061350" y="4791456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8 050 грн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059875" y="480517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846259" y="3950207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p_3bc0d7100d8b8989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91979" y="3986783"/>
            <a:ext cx="1583740" cy="603504"/>
          </a:xfrm>
          <a:prstGeom prst="rect">
            <a:avLst/>
          </a:prstGeom>
        </p:spPr>
      </p:pic>
      <p:sp>
        <p:nvSpPr>
          <p:cNvPr id="138" name="Rounded Rectangle 137"/>
          <p:cNvSpPr/>
          <p:nvPr/>
        </p:nvSpPr>
        <p:spPr>
          <a:xfrm>
            <a:off x="9846259" y="465886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846259" y="465886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166299" y="4654296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Tojiro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846259" y="4791456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9 470 грн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844784" y="480517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66928" y="5065776"/>
            <a:ext cx="11064240" cy="106070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66928" y="5065776"/>
            <a:ext cx="41148" cy="1060704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68096" y="5111496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A84A6B"/>
                </a:solidFill>
                <a:latin typeface="Segoe UI"/>
              </a:rPr>
              <a:t>Понад 10 000 грн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68096" y="5376672"/>
            <a:ext cx="1773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Порошкова сталь SG-2 / R2, 101–193 шари, іменні ковалі.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68096" y="583387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47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68096" y="6035040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82495" y="583387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18 %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82495" y="6035040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2706624" y="5120640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p_152161a0836ac04f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752344" y="5157216"/>
            <a:ext cx="1583740" cy="603504"/>
          </a:xfrm>
          <a:prstGeom prst="rect">
            <a:avLst/>
          </a:prstGeom>
        </p:spPr>
      </p:pic>
      <p:sp>
        <p:nvSpPr>
          <p:cNvPr id="153" name="Rounded Rectangle 152"/>
          <p:cNvSpPr/>
          <p:nvPr/>
        </p:nvSpPr>
        <p:spPr>
          <a:xfrm>
            <a:off x="2706624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706624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026664" y="5824728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706624" y="5961888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10 220 грн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705148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4491532" y="5120640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p_e9bde94c92bd01f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37252" y="5157216"/>
            <a:ext cx="1583740" cy="603504"/>
          </a:xfrm>
          <a:prstGeom prst="rect">
            <a:avLst/>
          </a:prstGeom>
        </p:spPr>
      </p:pic>
      <p:sp>
        <p:nvSpPr>
          <p:cNvPr id="160" name="Rounded Rectangle 159"/>
          <p:cNvSpPr/>
          <p:nvPr/>
        </p:nvSpPr>
        <p:spPr>
          <a:xfrm>
            <a:off x="4491532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491532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811572" y="5824728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A84A6B"/>
                </a:solidFill>
                <a:latin typeface="Segoe UI"/>
              </a:rPr>
              <a:t>Takamura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491532" y="5961888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11 990 грн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490057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276441" y="5120640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6" name="Picture 165" descr="p_7ec9849c5ce8e8b7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322161" y="5157216"/>
            <a:ext cx="1583740" cy="603504"/>
          </a:xfrm>
          <a:prstGeom prst="rect">
            <a:avLst/>
          </a:prstGeom>
        </p:spPr>
      </p:pic>
      <p:sp>
        <p:nvSpPr>
          <p:cNvPr id="167" name="Rounded Rectangle 166"/>
          <p:cNvSpPr/>
          <p:nvPr/>
        </p:nvSpPr>
        <p:spPr>
          <a:xfrm>
            <a:off x="6276441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276441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596481" y="5824728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A84A6B"/>
                </a:solidFill>
                <a:latin typeface="Segoe UI"/>
              </a:rPr>
              <a:t>Hatsukokoro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276441" y="5961888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13 865 грн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274966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8061350" y="5120640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3" name="Picture 172" descr="p_982543d3c6898967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107070" y="5157216"/>
            <a:ext cx="1583740" cy="603504"/>
          </a:xfrm>
          <a:prstGeom prst="rect">
            <a:avLst/>
          </a:prstGeom>
        </p:spPr>
      </p:pic>
      <p:sp>
        <p:nvSpPr>
          <p:cNvPr id="174" name="Rounded Rectangle 173"/>
          <p:cNvSpPr/>
          <p:nvPr/>
        </p:nvSpPr>
        <p:spPr>
          <a:xfrm>
            <a:off x="8061350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8061350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381390" y="5824728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A84A6B"/>
                </a:solidFill>
                <a:latin typeface="Segoe UI"/>
              </a:rPr>
              <a:t>Etsu / Ittetsu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061350" y="5961888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16 677 грн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059875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9846259" y="5120640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0" name="Picture 179" descr="p_cb1b107fb18986b2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891979" y="5157216"/>
            <a:ext cx="1583740" cy="603504"/>
          </a:xfrm>
          <a:prstGeom prst="rect">
            <a:avLst/>
          </a:prstGeom>
        </p:spPr>
      </p:pic>
      <p:sp>
        <p:nvSpPr>
          <p:cNvPr id="181" name="Rounded Rectangle 180"/>
          <p:cNvSpPr/>
          <p:nvPr/>
        </p:nvSpPr>
        <p:spPr>
          <a:xfrm>
            <a:off x="9846259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9846259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166299" y="5824728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A84A6B"/>
                </a:solidFill>
                <a:latin typeface="Segoe UI"/>
              </a:rPr>
              <a:t>Yaxell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846259" y="5961888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27 822 грн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0844784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03504" y="636422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— 259 ножів із карток чотирьох магазинів (ProfiMax, ROKS, Sekator, WildCat). Це не весь японський асортимент країни: перепис на слайді 16 охоплює 56 брендів у 25 продавців.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Т И П У   ·   1   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Шеф і гюто: найбільший тип каталогу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Робочий ніж кухні, 180–240 мм. Найширше представлений тип і головний драйвер середнього чека.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596083796f5dc1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Miyabi Isshin Gyuto 2004 180мм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1 560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fac20b8a1e4ffe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Kasumi TORA 36842, 18см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2 833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8382864aecd41cf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Masahiro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Chief MRS · 30 10692 180мм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4 100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aa251d8125cd559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Gyuto (Шеф), 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5 990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e5a0943241c5922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Yaxell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Yaxell ZEN 35500, 200мм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6 671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bb99d1bed4318d1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Takamura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Gyuto Migaki VG10 210мм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7 950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9f9bd757125b1f1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Tojiro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Tojiro DP Damascus F · 654, 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8 845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80e12cd6efde637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Tosa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Chief Damascus TADAYOSHI Tosa 210мм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9 720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1f6dfad583b1634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Takamura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Gyuto Migaki SG2 180мм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10 200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90d6c1054787c0c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SHUN CLASSIC DM · 0719 Кухарський Шеф, 20см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10 920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cde04470743a33cc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JCK Natures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Aogami Super Series SAKURA · 2 Шеф 180mm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12 220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8e07256bad34f30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Harukaze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"HARUKAZE" Gyut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26 990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66E28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966E28"/>
                </a:solidFill>
                <a:latin typeface="Georgia"/>
              </a:rP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19 %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8 490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1 149–26 990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14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374904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7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273013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5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Satake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222068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222068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8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607100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49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66E28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Універсальний робочий ніж: м'ясо, овочі, риба. Купує і домашній просьюмер, і шеф-кухар для себе.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Саме в цьому типі найширший ціновий розкид — у десятки разів. Тип не визначає ціну; її визначає сталь.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Т И П У   ·   2   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Сантоку, петті, накірі: домашня трійця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Три типи, які купує домашня кухня і які формують уявлення масового покупця про японський ніж.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04ca1fd405b651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Seki Kanetsugu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Miyabi Isshin Nakiri 2007 165мм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1 760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2dd50e9ce39d19b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Nakiri Kasumi TORA 36847, 16.5см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2 920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1047a123d3bb31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Tojiro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Shirogami Kasumi Петті ніж 150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3 247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4982b36aba845b3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Tomita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універсальний ніж Super Blue Steel 120 mm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4 362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fa3a403ceaa1132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Nakiri Kanto 54x165мм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5 439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150690736f1ed1a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SHUN CLASSIC DM · 0716 універсальний, 10см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6 160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f30cc82e04ffdb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Yaxell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Накірі Yaxell ZEN 35504, 180мм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6 999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9c77e4a68891c07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Takamura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Chromax Petty 130мм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7 400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69e9e46e10fb56e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Shigehiro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Shigehiro Speci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8 490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6de2ada46424bc7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Накірі Kasumi Damascus 84017, 180мм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8 999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d0542d538a2f984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Gyuto/Petty сер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9 950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a9020c3c0c6b53c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Harukaze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"HARUKAZE" Pett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19 990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2A7F86"/>
                </a:solidFill>
                <a:latin typeface="Georgia"/>
              </a:rPr>
              <a:t>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30 %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6 671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1 140–19 990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12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612648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10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553212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9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493776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43434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7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35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19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607100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77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Сантоку — другий ніж у домі після шефа. Петті — найчастіша купівля з найнижчим чеком. Накірі зростає разом із модою на овочі.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Єдина група, де японська геометрія вже стала масовою — і саме тому тут найважче продати походження: покупець бачить форму, а не країну.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Т И П У   ·   3   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Односторонні: янагіба, деба, сашимі, усуба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Єдина геометрія, де японське виробництво не має європейського замінника в принципі.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b24bcd2f1c8859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Motokane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Deba Motokane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2 200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69ad419a09a1bd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Sashimi Hocho,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2 695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36fcbe5427e2db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Fukamizu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Black 210мм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3 463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397660616646e1a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Migaki Yanagiba HC305 · W2 210мм японський 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e44228ad9d8f07a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Seki Magoroku Kinju AK · 1106 Янагіба, 24см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3 999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3e210647f2461b7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240мм (двосторонній)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4 400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2f9af68a7fa6237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Black 210мм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4 600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7b33a10e2bbc7f6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270мм (двосторонній)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4 900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847d7acc3d88e47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Tanaka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Kamagata Usuba ніж Super Blue Steel 150mm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5 203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5376f73217a9bb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Masahiro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Янагіба Masahiro 16220 Yanagiba, 27см сталь 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6 512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3db5b8fa0291a23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Sakai Haruhiko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White 2 Янагіба 240мм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7 040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d2371d536e521f9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Янагіба SAKAI TAKAYUKI Yasugi для лівші, 24с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7 640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54780"/>
                </a:solidFill>
                <a:latin typeface="Georgia"/>
              </a:rP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14 %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4 550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2 016–7 640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11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537002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8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212805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3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Fukamizu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14796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Tomita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14796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607100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35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54780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Одностороннє заточення під праву руку, вуглецева або високовуглецева сталь, традиційне руків'я wa. Вимагає водних каменів і навички.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Професійний інструмент суші-кухні. Попит на всю країну — 500–900 ножів на рік: канал реальний, ринок за обсягом — ні.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К А Т А Л О Г   ·   С Е Г М Е Н Т А Ц І Я   З А   Т И П О М   Л Е З 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Три групи, які покривають 62 % каталогу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Той самий каталог у розрізі геометрії. Тип не визначає ціну — її визначає сталь.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11064240" cy="145084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54480"/>
            <a:ext cx="41148" cy="1450848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16002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966E28"/>
                </a:solidFill>
                <a:latin typeface="Segoe UI"/>
              </a:rPr>
              <a:t>Шеф і гюто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865376"/>
            <a:ext cx="1773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Робочий ніж кухні, 180–240 мм. Найширший тип і головний драйвер чека.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32257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523744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82495" y="232257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19 %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2495" y="2523744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1609344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b57f36b2cbd898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2344" y="1645920"/>
            <a:ext cx="1286256" cy="99364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706624" y="270814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06624" y="270814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6664" y="2703576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Satake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06624" y="2840736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2 099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07664" y="285445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94048" y="1609344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_68ca7eb4b9a395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9768" y="1645920"/>
            <a:ext cx="1286256" cy="993648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4194048" y="270814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94048" y="270814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14088" y="2703576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Tojiro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94048" y="2840736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4 976 грн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5088" y="285445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81472" y="1609344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p_c0a6c216400647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7192" y="1645920"/>
            <a:ext cx="1286256" cy="993648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5681472" y="270814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81472" y="270814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01512" y="2703576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Yaxell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81472" y="2840736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7 804 грн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82512" y="285445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68896" y="1609344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p_66b7969f004a576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4616" y="1645920"/>
            <a:ext cx="1286256" cy="993648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7168896" y="270814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68896" y="270814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88936" y="2703576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68896" y="2840736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9 520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69936" y="285445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56320" y="1609344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_f495830eeb510f1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2040" y="1645920"/>
            <a:ext cx="1286256" cy="993648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8656320" y="270814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56320" y="270814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76360" y="2703576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Takamura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56320" y="2840736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10 200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57360" y="285445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143744" y="1609344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p_fd78a297ae45da6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89464" y="1645920"/>
            <a:ext cx="1286256" cy="993648"/>
          </a:xfrm>
          <a:prstGeom prst="rect">
            <a:avLst/>
          </a:prstGeom>
        </p:spPr>
      </p:pic>
      <p:sp>
        <p:nvSpPr>
          <p:cNvPr id="59" name="Rounded Rectangle 58"/>
          <p:cNvSpPr/>
          <p:nvPr/>
        </p:nvSpPr>
        <p:spPr>
          <a:xfrm>
            <a:off x="10143744" y="270814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143744" y="270814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63784" y="2703576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43744" y="2840736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23 990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44784" y="285445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3115056"/>
            <a:ext cx="11064240" cy="145084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6928" y="3115056"/>
            <a:ext cx="41148" cy="1450848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68096" y="3160776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2A7F86"/>
                </a:solidFill>
                <a:latin typeface="Segoe UI"/>
              </a:rPr>
              <a:t>Сантоку, петті, накірі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" y="3425952"/>
            <a:ext cx="1773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Домашня трійця. Єдина група, де японська геометрія вже стала масовою.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8096" y="388315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77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8096" y="4084320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82495" y="388315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30 %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82495" y="4084320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06624" y="3169920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p_7f1c56870f777be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52344" y="3206496"/>
            <a:ext cx="1286256" cy="993648"/>
          </a:xfrm>
          <a:prstGeom prst="rect">
            <a:avLst/>
          </a:prstGeom>
        </p:spPr>
      </p:pic>
      <p:sp>
        <p:nvSpPr>
          <p:cNvPr id="74" name="Rounded Rectangle 73"/>
          <p:cNvSpPr/>
          <p:nvPr/>
        </p:nvSpPr>
        <p:spPr>
          <a:xfrm>
            <a:off x="2706624" y="42687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06624" y="42687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026664" y="4264152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06624" y="4401312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2 390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07664" y="441502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94048" y="3169920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p_8ec2de29c7b9e57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39768" y="3206496"/>
            <a:ext cx="1286256" cy="993648"/>
          </a:xfrm>
          <a:prstGeom prst="rect">
            <a:avLst/>
          </a:prstGeom>
        </p:spPr>
      </p:pic>
      <p:sp>
        <p:nvSpPr>
          <p:cNvPr id="81" name="Rounded Rectangle 80"/>
          <p:cNvSpPr/>
          <p:nvPr/>
        </p:nvSpPr>
        <p:spPr>
          <a:xfrm>
            <a:off x="4194048" y="42687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194048" y="42687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14088" y="4264152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Masahiro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4048" y="4401312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895088" y="441502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81472" y="3169920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90da0deb0e19197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27192" y="3206496"/>
            <a:ext cx="1286256" cy="99364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5681472" y="42687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681472" y="42687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001512" y="4264152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Yaxell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81472" y="4401312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5 538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82512" y="441502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168896" y="3169920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p_cc88c6f1282f6b4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14616" y="3206496"/>
            <a:ext cx="1286256" cy="993648"/>
          </a:xfrm>
          <a:prstGeom prst="rect">
            <a:avLst/>
          </a:prstGeom>
        </p:spPr>
      </p:pic>
      <p:sp>
        <p:nvSpPr>
          <p:cNvPr id="95" name="Rounded Rectangle 94"/>
          <p:cNvSpPr/>
          <p:nvPr/>
        </p:nvSpPr>
        <p:spPr>
          <a:xfrm>
            <a:off x="7168896" y="42687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168896" y="42687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488936" y="4264152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Motokane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168896" y="4401312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7 290 грн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869936" y="441502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656320" y="3169920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p_577988d04fb3415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02040" y="3206496"/>
            <a:ext cx="1286256" cy="993648"/>
          </a:xfrm>
          <a:prstGeom prst="rect">
            <a:avLst/>
          </a:prstGeom>
        </p:spPr>
      </p:pic>
      <p:sp>
        <p:nvSpPr>
          <p:cNvPr id="102" name="Rounded Rectangle 101"/>
          <p:cNvSpPr/>
          <p:nvPr/>
        </p:nvSpPr>
        <p:spPr>
          <a:xfrm>
            <a:off x="8656320" y="42687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656320" y="42687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76360" y="4264152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KAI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656320" y="4401312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8 610 грн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357360" y="441502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143744" y="3169920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8" name="Picture 107" descr="p_78c2312bbf3207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89464" y="3206496"/>
            <a:ext cx="1286256" cy="993648"/>
          </a:xfrm>
          <a:prstGeom prst="rect">
            <a:avLst/>
          </a:prstGeom>
        </p:spPr>
      </p:pic>
      <p:sp>
        <p:nvSpPr>
          <p:cNvPr id="109" name="Rounded Rectangle 108"/>
          <p:cNvSpPr/>
          <p:nvPr/>
        </p:nvSpPr>
        <p:spPr>
          <a:xfrm>
            <a:off x="10143744" y="42687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143744" y="42687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463784" y="4264152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143744" y="4401312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11 790 грн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44784" y="441502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66928" y="4675632"/>
            <a:ext cx="11064240" cy="145084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66928" y="4675632"/>
            <a:ext cx="41148" cy="1450848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68096" y="4721352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54780"/>
                </a:solidFill>
                <a:latin typeface="Segoe UI"/>
              </a:rPr>
              <a:t>Односторонні: янагіба, деба, усуба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68096" y="4986528"/>
            <a:ext cx="1773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Професійний інструмент суші-кухні. Єдина геометрія без європейського замінника.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68096" y="544372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35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68096" y="5644896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682495" y="544372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14 %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682495" y="5644896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706624" y="4730496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3" name="Picture 122" descr="p_b8164538696ad1c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752344" y="4767072"/>
            <a:ext cx="1286256" cy="993648"/>
          </a:xfrm>
          <a:prstGeom prst="rect">
            <a:avLst/>
          </a:prstGeom>
        </p:spPr>
      </p:pic>
      <p:sp>
        <p:nvSpPr>
          <p:cNvPr id="124" name="Rounded Rectangle 123"/>
          <p:cNvSpPr/>
          <p:nvPr/>
        </p:nvSpPr>
        <p:spPr>
          <a:xfrm>
            <a:off x="2706624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706624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026664" y="5824728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706624" y="5961888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2 660 грн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407664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194048" y="4730496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0" name="Picture 129" descr="p_38d65c2523e17b7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39768" y="4767072"/>
            <a:ext cx="1286256" cy="993648"/>
          </a:xfrm>
          <a:prstGeom prst="rect">
            <a:avLst/>
          </a:prstGeom>
        </p:spPr>
      </p:pic>
      <p:sp>
        <p:nvSpPr>
          <p:cNvPr id="131" name="Rounded Rectangle 130"/>
          <p:cNvSpPr/>
          <p:nvPr/>
        </p:nvSpPr>
        <p:spPr>
          <a:xfrm>
            <a:off x="4194048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194048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514088" y="5824728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194048" y="5961888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895088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81472" y="4730496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p_44c0755137b2af6f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727192" y="4767072"/>
            <a:ext cx="1286256" cy="993648"/>
          </a:xfrm>
          <a:prstGeom prst="rect">
            <a:avLst/>
          </a:prstGeom>
        </p:spPr>
      </p:pic>
      <p:sp>
        <p:nvSpPr>
          <p:cNvPr id="138" name="Rounded Rectangle 137"/>
          <p:cNvSpPr/>
          <p:nvPr/>
        </p:nvSpPr>
        <p:spPr>
          <a:xfrm>
            <a:off x="5681472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681472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01512" y="5824728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Fukamizu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681472" y="5961888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4 451 грн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382512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168896" y="4730496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4" name="Picture 143" descr="p_e27317f47c159c1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214616" y="4767072"/>
            <a:ext cx="1286256" cy="993648"/>
          </a:xfrm>
          <a:prstGeom prst="rect">
            <a:avLst/>
          </a:prstGeom>
        </p:spPr>
      </p:pic>
      <p:sp>
        <p:nvSpPr>
          <p:cNvPr id="145" name="Rounded Rectangle 144"/>
          <p:cNvSpPr/>
          <p:nvPr/>
        </p:nvSpPr>
        <p:spPr>
          <a:xfrm>
            <a:off x="7168896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168896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488936" y="5824728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68896" y="5961888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4 850 грн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869936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656320" y="4730496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1" name="Picture 150" descr="p_8224c226524ce191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702040" y="4767072"/>
            <a:ext cx="1286256" cy="993648"/>
          </a:xfrm>
          <a:prstGeom prst="rect">
            <a:avLst/>
          </a:prstGeom>
        </p:spPr>
      </p:pic>
      <p:sp>
        <p:nvSpPr>
          <p:cNvPr id="152" name="Rounded Rectangle 151"/>
          <p:cNvSpPr/>
          <p:nvPr/>
        </p:nvSpPr>
        <p:spPr>
          <a:xfrm>
            <a:off x="8656320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656320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976360" y="5824728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656320" y="5961888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5 490 грн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357360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0143744" y="4730496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p_7e27192db4c4a93b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89464" y="4767072"/>
            <a:ext cx="1286256" cy="993648"/>
          </a:xfrm>
          <a:prstGeom prst="rect">
            <a:avLst/>
          </a:prstGeom>
        </p:spPr>
      </p:pic>
      <p:sp>
        <p:nvSpPr>
          <p:cNvPr id="159" name="Rounded Rectangle 158"/>
          <p:cNvSpPr/>
          <p:nvPr/>
        </p:nvSpPr>
        <p:spPr>
          <a:xfrm>
            <a:off x="10143744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0143744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463784" y="5824728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143744" y="5961888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7 460 грн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44784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03504" y="636422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Позиції поза трьома групами (слайсери, хлібні, бунка, фунаюкі, набори) становлять решту каталогу. Каталог — 259 ножів із чотирьох магазинів; повний перелік марок країни — у переписі на слайді 16.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Ц І Н О В И Й   К О Р И Д О Р   Б Р Е Н Д І 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Де кожен із п'ятдесяти брендів стоїть на ціновій шкалі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Смуга — спостережений діапазон роздрібних цін марки в Україні, риска — середина діапазону. Усі марки японського виробництва.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149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75253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1 000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06235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95339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3 000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85790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74894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10 тис.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5877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94981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30 тис.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1456" y="1536192"/>
            <a:ext cx="11155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AA2B4"/>
                </a:solidFill>
                <a:latin typeface="Segoe UI"/>
              </a:rPr>
              <a:t>ДІАПАЗОН,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173736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Sekiryu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43525" y="1783080"/>
            <a:ext cx="221155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36592" y="173736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1 107 – 1 638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190652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Fuji Cutlery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84333" y="1952243"/>
            <a:ext cx="492951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05205" y="1930298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21664" y="1937613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36592" y="190652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1 190 – 2 850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207568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Kanetsune Seki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084831" y="2121408"/>
            <a:ext cx="2022277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35632" y="2099462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652092" y="2106777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6592" y="207568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150 – 25 184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244852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Sakai Ichiji</a:t>
            </a:r>
          </a:p>
        </p:txBody>
      </p:sp>
      <p:sp>
        <p:nvSpPr>
          <p:cNvPr id="37" name="Oval 36"/>
          <p:cNvSpPr/>
          <p:nvPr/>
        </p:nvSpPr>
        <p:spPr>
          <a:xfrm>
            <a:off x="2626805" y="2259482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638693" y="2271369"/>
            <a:ext cx="76809" cy="76809"/>
          </a:xfrm>
          <a:prstGeom prst="ellipse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36592" y="224485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1 999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414016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Inoguchi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578970" y="2459736"/>
            <a:ext cx="231090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41401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1 680 – 2 530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58318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Higonokami</a:t>
            </a:r>
          </a:p>
        </p:txBody>
      </p:sp>
      <p:sp>
        <p:nvSpPr>
          <p:cNvPr id="44" name="Oval 43"/>
          <p:cNvSpPr/>
          <p:nvPr/>
        </p:nvSpPr>
        <p:spPr>
          <a:xfrm>
            <a:off x="2651932" y="2597810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663819" y="2609697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36592" y="258318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2 090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275234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Motokane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02224" y="2798064"/>
            <a:ext cx="143496" cy="38404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36592" y="275234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2 090 – 2 695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292150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Takanori Izumi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671707" y="2967228"/>
            <a:ext cx="249382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36592" y="292150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1 980 – 3 080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090672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Hanakumagawa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77930" y="3136392"/>
            <a:ext cx="87344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36592" y="309067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2 390 – 2 790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3259836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KAI Sekimagoroku Imayo</a:t>
            </a:r>
          </a:p>
        </p:txBody>
      </p:sp>
      <p:sp>
        <p:nvSpPr>
          <p:cNvPr id="57" name="Oval 56"/>
          <p:cNvSpPr/>
          <p:nvPr/>
        </p:nvSpPr>
        <p:spPr>
          <a:xfrm>
            <a:off x="2796475" y="3274466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808362" y="3286353"/>
            <a:ext cx="76809" cy="76809"/>
          </a:xfrm>
          <a:prstGeom prst="ellipse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36592" y="32598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2 700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342900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Misono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582320" y="3474720"/>
            <a:ext cx="611109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62271" y="3452774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878730" y="3460089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36592" y="342900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1 690 – 4 990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359816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Masahiro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80287" y="3643884"/>
            <a:ext cx="302261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36592" y="359816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2 400 – 4 100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76732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084831" y="3813048"/>
            <a:ext cx="1783575" cy="38404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907042" y="3791102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923501" y="3798417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736592" y="376732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599 – 16 499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6928" y="393649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Kanetaka</a:t>
            </a:r>
          </a:p>
        </p:txBody>
      </p:sp>
      <p:sp>
        <p:nvSpPr>
          <p:cNvPr id="74" name="Oval 73"/>
          <p:cNvSpPr/>
          <p:nvPr/>
        </p:nvSpPr>
        <p:spPr>
          <a:xfrm>
            <a:off x="2946166" y="3951122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2958053" y="3963009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36592" y="393649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3 520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928" y="410565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Hisashige</a:t>
            </a:r>
          </a:p>
        </p:txBody>
      </p:sp>
      <p:sp>
        <p:nvSpPr>
          <p:cNvPr id="78" name="Oval 77"/>
          <p:cNvSpPr/>
          <p:nvPr/>
        </p:nvSpPr>
        <p:spPr>
          <a:xfrm>
            <a:off x="2946166" y="4120286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2958053" y="4132173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736592" y="410565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3 520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4274819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Yamawaki Hamono</a:t>
            </a:r>
          </a:p>
        </p:txBody>
      </p:sp>
      <p:sp>
        <p:nvSpPr>
          <p:cNvPr id="82" name="Oval 81"/>
          <p:cNvSpPr/>
          <p:nvPr/>
        </p:nvSpPr>
        <p:spPr>
          <a:xfrm>
            <a:off x="2947448" y="4289450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959335" y="4301337"/>
            <a:ext cx="76809" cy="76809"/>
          </a:xfrm>
          <a:prstGeom prst="ellipse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736592" y="4274819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3 528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4443983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Fukamizu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827632" y="4489703"/>
            <a:ext cx="349735" cy="38404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976896" y="4467758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993356" y="4475073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36592" y="4443983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2 610 – 4 850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4613147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Seki Kanetsugu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280476" y="4658867"/>
            <a:ext cx="1548657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029201" y="4636922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045661" y="4644237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36592" y="461314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990 – 15 390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6928" y="478231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Satake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193754" y="4828031"/>
            <a:ext cx="1768195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052249" y="4806086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068708" y="4813401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36592" y="47823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849 – 19 473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495147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Kasumi / Sumikama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379569" y="4997195"/>
            <a:ext cx="1443628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075780" y="4975250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092240" y="4982565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736592" y="495147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1 180 – 15 229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6928" y="5120639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KAI / Shun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105416" y="5166359"/>
            <a:ext cx="2060914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110270" y="5144414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126729" y="5151729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36592" y="5120639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726 – 27 970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6928" y="5289803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Kiyokane</a:t>
            </a:r>
          </a:p>
        </p:txBody>
      </p:sp>
      <p:sp>
        <p:nvSpPr>
          <p:cNvPr id="111" name="Oval 110"/>
          <p:cNvSpPr/>
          <p:nvPr/>
        </p:nvSpPr>
        <p:spPr>
          <a:xfrm>
            <a:off x="3095976" y="5304434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107863" y="5316321"/>
            <a:ext cx="76809" cy="76809"/>
          </a:xfrm>
          <a:prstGeom prst="ellipse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736592" y="5289803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4 590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5458967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Tomita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945302" y="5504687"/>
            <a:ext cx="405959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122679" y="5482742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139138" y="5490057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736592" y="545896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3 215 – 6 600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66928" y="562813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Suncraft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388585" y="5673851"/>
            <a:ext cx="1559455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142710" y="5651906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159169" y="5659221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736592" y="562813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1 199 – 18 999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6928" y="579729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Yoshihiro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010552" y="5843015"/>
            <a:ext cx="353143" cy="38404"/>
          </a:xfrm>
          <a:prstGeom prst="roundRect">
            <a:avLst>
              <a:gd name="adj" fmla="val 50000"/>
            </a:avLst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161520" y="5821070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177980" y="5828385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36592" y="579729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3 609 – 6 747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010293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699397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1 000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630379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319483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3 000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309934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999038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10 тис.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930021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619125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30 тис.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15600" y="1536192"/>
            <a:ext cx="11155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AA2B4"/>
                </a:solidFill>
                <a:latin typeface="Segoe UI"/>
              </a:rPr>
              <a:t>ДІАПАЗОН, ГРН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91072" y="173736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Tosa / Tosauchi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616861" y="1783080"/>
            <a:ext cx="695045" cy="38404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8938780" y="1761134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8955239" y="1768449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460736" y="173736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2 929 – 10 035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291072" y="190652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Global (Yoshikin)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8553503" y="1952243"/>
            <a:ext cx="912920" cy="38404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984360" y="1930298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9000819" y="1937613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460736" y="190652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2 618 – 13 195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91072" y="207568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Tadafusa / Ohishi</a:t>
            </a:r>
          </a:p>
        </p:txBody>
      </p:sp>
      <p:sp>
        <p:nvSpPr>
          <p:cNvPr id="149" name="Oval 148"/>
          <p:cNvSpPr/>
          <p:nvPr/>
        </p:nvSpPr>
        <p:spPr>
          <a:xfrm>
            <a:off x="8960970" y="2090318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8972858" y="2102205"/>
            <a:ext cx="76809" cy="76809"/>
          </a:xfrm>
          <a:prstGeom prst="ellipse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0460736" y="207568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5 891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291072" y="2244852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Seto Iseya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972499" y="2290572"/>
            <a:ext cx="98615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460736" y="224485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5 500 – 6 550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291072" y="2414016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Shimomura Kihan</a:t>
            </a:r>
          </a:p>
        </p:txBody>
      </p:sp>
      <p:sp>
        <p:nvSpPr>
          <p:cNvPr id="156" name="Oval 155"/>
          <p:cNvSpPr/>
          <p:nvPr/>
        </p:nvSpPr>
        <p:spPr>
          <a:xfrm>
            <a:off x="8984337" y="2428646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996224" y="2440533"/>
            <a:ext cx="76809" cy="76809"/>
          </a:xfrm>
          <a:prstGeom prst="ellipse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0460736" y="241401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6 140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291072" y="258318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Sakai Yoshiharu</a:t>
            </a:r>
          </a:p>
        </p:txBody>
      </p:sp>
      <p:sp>
        <p:nvSpPr>
          <p:cNvPr id="160" name="Oval 159"/>
          <p:cNvSpPr/>
          <p:nvPr/>
        </p:nvSpPr>
        <p:spPr>
          <a:xfrm>
            <a:off x="9005979" y="2597810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9017866" y="2609697"/>
            <a:ext cx="76809" cy="76809"/>
          </a:xfrm>
          <a:prstGeom prst="ellipse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0460736" y="258318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6 380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291072" y="275234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Sakai Haruhiko</a:t>
            </a:r>
          </a:p>
        </p:txBody>
      </p:sp>
      <p:sp>
        <p:nvSpPr>
          <p:cNvPr id="164" name="Oval 163"/>
          <p:cNvSpPr/>
          <p:nvPr/>
        </p:nvSpPr>
        <p:spPr>
          <a:xfrm>
            <a:off x="9061541" y="2766974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9073429" y="2778861"/>
            <a:ext cx="76809" cy="76809"/>
          </a:xfrm>
          <a:prstGeom prst="ellipse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460736" y="275234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7 040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291072" y="292150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Gyokucho / Kamisaku</a:t>
            </a:r>
          </a:p>
        </p:txBody>
      </p:sp>
      <p:sp>
        <p:nvSpPr>
          <p:cNvPr id="168" name="Oval 167"/>
          <p:cNvSpPr/>
          <p:nvPr/>
        </p:nvSpPr>
        <p:spPr>
          <a:xfrm>
            <a:off x="9082011" y="2936138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093898" y="2948025"/>
            <a:ext cx="76809" cy="76809"/>
          </a:xfrm>
          <a:prstGeom prst="ellipse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0460736" y="292150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7 300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36208" y="3065068"/>
            <a:ext cx="5486400" cy="1691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291072" y="3090672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B42E3A"/>
                </a:solidFill>
                <a:latin typeface="Segoe UI"/>
              </a:rPr>
              <a:t>Sakai Takayuki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9144540" y="3136392"/>
            <a:ext cx="13457" cy="38404"/>
          </a:xfrm>
          <a:prstGeom prst="roundRect">
            <a:avLst>
              <a:gd name="adj" fmla="val 50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10460736" y="309067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7 460 – 7 640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291072" y="3259836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Takamura Hamono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8953718" y="3305556"/>
            <a:ext cx="458653" cy="38404"/>
          </a:xfrm>
          <a:prstGeom prst="roundRect">
            <a:avLst>
              <a:gd name="adj" fmla="val 50000"/>
            </a:avLst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157441" y="3283610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9173900" y="3290925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0460736" y="32598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5 320 – 11 990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291072" y="342900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Teruhide</a:t>
            </a:r>
          </a:p>
        </p:txBody>
      </p:sp>
      <p:sp>
        <p:nvSpPr>
          <p:cNvPr id="181" name="Oval 180"/>
          <p:cNvSpPr/>
          <p:nvPr/>
        </p:nvSpPr>
        <p:spPr>
          <a:xfrm>
            <a:off x="9133694" y="3443630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9145581" y="3455517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10460736" y="342900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8 000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291072" y="359816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Shigehiro</a:t>
            </a:r>
          </a:p>
        </p:txBody>
      </p:sp>
      <p:sp>
        <p:nvSpPr>
          <p:cNvPr id="185" name="Oval 184"/>
          <p:cNvSpPr/>
          <p:nvPr/>
        </p:nvSpPr>
        <p:spPr>
          <a:xfrm>
            <a:off x="9167248" y="3612794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9179135" y="3624681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460736" y="359816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8 490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291072" y="376732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8112729" y="3813048"/>
            <a:ext cx="2296351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9235302" y="3791102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9251761" y="3798417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0460736" y="376732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1 199 – 70 102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291072" y="393649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Tsukasa (Hinoura)</a:t>
            </a:r>
          </a:p>
        </p:txBody>
      </p:sp>
      <p:sp>
        <p:nvSpPr>
          <p:cNvPr id="194" name="Oval 193"/>
          <p:cNvSpPr/>
          <p:nvPr/>
        </p:nvSpPr>
        <p:spPr>
          <a:xfrm>
            <a:off x="9253970" y="3951122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9265857" y="3963009"/>
            <a:ext cx="76809" cy="76809"/>
          </a:xfrm>
          <a:prstGeom prst="ellipse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10460736" y="393649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9 900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6291072" y="410565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Tamahagane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9127801" y="4151375"/>
            <a:ext cx="442918" cy="38404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9323657" y="4129430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9340116" y="4136745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10460736" y="410565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7 242 – 15 873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6291072" y="4274819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Shigeki Tanaka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8941166" y="4320539"/>
            <a:ext cx="929177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9380152" y="4298594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9396611" y="4305909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0460736" y="4274819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5 203 – 26 990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291072" y="4443983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JCK Natures</a:t>
            </a:r>
          </a:p>
        </p:txBody>
      </p:sp>
      <p:sp>
        <p:nvSpPr>
          <p:cNvPr id="208" name="Oval 207"/>
          <p:cNvSpPr/>
          <p:nvPr/>
        </p:nvSpPr>
        <p:spPr>
          <a:xfrm>
            <a:off x="9372804" y="4458614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9384691" y="4470501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10460736" y="4443983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12 220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6291072" y="4613147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Hatsukokoro</a:t>
            </a:r>
          </a:p>
        </p:txBody>
      </p:sp>
      <p:sp>
        <p:nvSpPr>
          <p:cNvPr id="212" name="Oval 211"/>
          <p:cNvSpPr/>
          <p:nvPr/>
        </p:nvSpPr>
        <p:spPr>
          <a:xfrm>
            <a:off x="9444087" y="4627778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9455975" y="4639665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10460736" y="461314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13 865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6291072" y="478231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Mcusta Zanmai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9181157" y="4828031"/>
            <a:ext cx="640671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9475890" y="4806086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9492349" y="4813401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10460736" y="47823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7 960 – 24 767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6291072" y="495147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Myojin (Naohito)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9466637" y="4997195"/>
            <a:ext cx="157544" cy="38404"/>
          </a:xfrm>
          <a:prstGeom prst="roundRect">
            <a:avLst>
              <a:gd name="adj" fmla="val 50000"/>
            </a:avLst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0460736" y="495147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13 200 – 17 450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6291072" y="5120639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Nigara Hamono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9531214" y="5166359"/>
            <a:ext cx="69522" cy="38404"/>
          </a:xfrm>
          <a:prstGeom prst="roundRect">
            <a:avLst>
              <a:gd name="adj" fmla="val 50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10460736" y="5120639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14 800 – 16 740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6291072" y="5289803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Miyabi (Zwilling)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9012124" y="5335523"/>
            <a:ext cx="1121354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9547198" y="5313578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9563657" y="5320893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10460736" y="5289803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5 900 – 43 020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291072" y="5458967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Etsu / Ittetsu</a:t>
            </a:r>
          </a:p>
        </p:txBody>
      </p:sp>
      <p:sp>
        <p:nvSpPr>
          <p:cNvPr id="232" name="Oval 231"/>
          <p:cNvSpPr/>
          <p:nvPr/>
        </p:nvSpPr>
        <p:spPr>
          <a:xfrm>
            <a:off x="9548316" y="5473598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9560203" y="5485485"/>
            <a:ext cx="76809" cy="76809"/>
          </a:xfrm>
          <a:prstGeom prst="ellipse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10460736" y="545896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16 677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291072" y="562813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Harukaze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9700883" y="5673851"/>
            <a:ext cx="169460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10460736" y="562813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19 990 – 26 990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6291072" y="579729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Takeshi Saji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9746795" y="5843015"/>
            <a:ext cx="575631" cy="38404"/>
          </a:xfrm>
          <a:prstGeom prst="roundRect">
            <a:avLst>
              <a:gd name="adj" fmla="val 50000"/>
            </a:avLst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10009008" y="5821070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10025467" y="5828385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10460736" y="579729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21 684 – 60 125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66928" y="6181344"/>
            <a:ext cx="201168" cy="6858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841247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Секі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1792224" y="6181344"/>
            <a:ext cx="201168" cy="68580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066543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Сакаї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017520" y="6181344"/>
            <a:ext cx="201168" cy="68580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291839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Ечідзен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242816" y="6181344"/>
            <a:ext cx="201168" cy="6858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517136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Тоса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68112" y="6181344"/>
            <a:ext cx="201168" cy="68580"/>
          </a:xfrm>
          <a:prstGeom prst="rect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742431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Сандзьо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693407" y="6181344"/>
            <a:ext cx="201168" cy="68580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967727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Аоморі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918704" y="6181344"/>
            <a:ext cx="201168" cy="68580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8193024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регіон не вказано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9125712" y="6164884"/>
            <a:ext cx="21945" cy="89611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9235440" y="6144768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середина</a:t>
            </a:r>
          </a:p>
        </p:txBody>
      </p:sp>
      <p:sp>
        <p:nvSpPr>
          <p:cNvPr id="259" name="Oval 258"/>
          <p:cNvSpPr/>
          <p:nvPr/>
        </p:nvSpPr>
        <p:spPr>
          <a:xfrm>
            <a:off x="10460736" y="6164884"/>
            <a:ext cx="89611" cy="89611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10607040" y="6144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одна ціна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603504" y="647395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Шкала логарифмічна. Діапазон — найнижча і найвища спостережена роздрібна ціна марки, жовтень 2026; це не прайс виробника. Кружок замість смуги означає одну знайдену ціну. Шість марок без публічних цін у графік не входять.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Е Р Е П И С   ·   З Р О Б Л Е Н О   В   Я П О Н І 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Georgia"/>
              </a:rPr>
              <a:t>П'ятдесят шість перевірених брендів, і полиці немає в жодного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Перепис охоплює 25 продавців — ширше за фото-каталог. Позначка JP = підтверджене японське виробництво, її колір = чим підтверджене.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1136" y="153619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8064" y="1536192"/>
            <a:ext cx="2926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SKU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1682496"/>
            <a:ext cx="3602736" cy="1097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1717243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KAI / Shun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1136" y="173736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8064" y="174193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98064" y="174193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726 – 27 970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Yaxell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31136" y="191841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98064" y="192298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98064" y="192298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1 199 – 70 102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2064" y="207934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Suncraft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31136" y="209946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98064" y="210403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98064" y="210403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74720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1 199 – 18 999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Tojiro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31136" y="228051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98064" y="228508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98064" y="228508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08960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599 – 16 499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2064" y="2441448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31136" y="246156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798064" y="246613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98064" y="246613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08960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64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74720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849 – 19 473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Kanetsune Seki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31136" y="264261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798064" y="264718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98064" y="264718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08960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74720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150 – 25 184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2064" y="280355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6384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Tosa / Tosauchi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31136" y="2823667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798064" y="2828239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98064" y="2828239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08960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74720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2 929 – 10 035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Miyabi (Zwilling)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31136" y="300471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798064" y="300929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798064" y="300929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108960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74720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5 900 – 43 020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12064" y="316565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6384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Seki Kanetsugu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31136" y="318576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798064" y="319034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798064" y="319034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108960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74720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990 – 15 390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86384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Kasumi / Sumikama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31136" y="336682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798064" y="337139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798064" y="337139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08960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74720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1 180 – 15 229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12064" y="352775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6928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86384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Mcusta Zanmai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231136" y="354787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798064" y="355244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798064" y="355244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108960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474720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7 960 – 24 767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6384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Yoshihiro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231136" y="372892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798064" y="373349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798064" y="373349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108960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474720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3 609 – 6 747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12064" y="388985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66928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86384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Takeshi Saji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231136" y="390997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798064" y="391454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798064" y="391454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108960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21 684 – 60 125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66928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86384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Masahiro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231136" y="409102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798064" y="409559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798064" y="409559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08960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474720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2 400 – 4 100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12064" y="425196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66928" y="4272076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" y="4272076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Takamura Hamono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31136" y="4272076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798064" y="4276648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798064" y="4276648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108960" y="4272076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474720" y="4272076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5 320 – 11 990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6928" y="445312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86384" y="445312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Fuji Cutlery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231136" y="445312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798064" y="445770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2798064" y="445770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108960" y="445312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474720" y="445312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1 190 – 2 850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12064" y="461406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66928" y="463417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86384" y="463417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Tamahagane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231136" y="463417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98064" y="463875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798064" y="463875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108960" y="463417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474720" y="463417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7 242 – 15 873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66928" y="481523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86384" y="481523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Fukamizu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31136" y="481523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98064" y="481980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798064" y="481980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108960" y="481523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474720" y="481523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2 610 – 4 850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12064" y="4976164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66928" y="499628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86384" y="499628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Takanori Izumi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231136" y="499628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798064" y="500085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2798064" y="500085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108960" y="499628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474720" y="499628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1 980 – 3 080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66928" y="517733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86384" y="517733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Tomita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231136" y="517733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798064" y="518190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798064" y="518190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108960" y="517733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474720" y="517733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3 215 – 6 600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12064" y="533826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566928" y="535838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86384" y="535838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Myojin (Naohito)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231136" y="535838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2798064" y="536295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798064" y="536295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108960" y="535838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474720" y="535838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13 200 – 17 450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306824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№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526280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971032" y="153619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537960" y="1536192"/>
            <a:ext cx="2926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JP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848856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SKU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7214616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306824" y="1682496"/>
            <a:ext cx="3602736" cy="1097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251960" y="1717243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4306824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526280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Shigeki Tanaka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971032" y="173736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6537960" y="174193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37960" y="174193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848856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4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7214616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5 203 – 26 990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306824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26280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Motokane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5971032" y="191841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6537960" y="192298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537960" y="192298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848856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3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214616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2 090 – 2 695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4251960" y="207934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4306824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24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26280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Seto Iseya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5971032" y="209946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537960" y="210403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537960" y="210403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848856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214616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5 500 – 6 550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306824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25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526280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Hanakumagawa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5971032" y="228051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6537960" y="228508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6537960" y="228508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6848856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7214616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2 390 – 2 790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4251960" y="2441448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4306824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526280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Harukaze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971032" y="246156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6537960" y="246613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6537960" y="246613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6848856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7214616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19 990 – 26 990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06824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27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526280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Inoguchi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5971032" y="264261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6537960" y="264718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537960" y="264718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848856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7214616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1 680 – 2 530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4251960" y="280355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4306824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526280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Misono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5971032" y="2823667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537960" y="2828239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6537960" y="2828239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6848856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214616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1 690 – 4 990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306824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26280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Nigara Hamono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5971032" y="300471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B42E3A"/>
                </a:solidFill>
                <a:latin typeface="Segoe UI"/>
              </a:rPr>
              <a:t>Хіросакі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6537960" y="300929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6537960" y="300929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6848856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214616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14 800 – 16 740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4251960" y="316565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4306824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B42E3A"/>
                </a:solidFill>
                <a:latin typeface="Segoe UI"/>
              </a:rPr>
              <a:t>30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4526280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B42E3A"/>
                </a:solidFill>
                <a:latin typeface="Segoe UI"/>
              </a:rPr>
              <a:t>Sakai Takayuki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5971032" y="318576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6537960" y="319034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6537960" y="319034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6848856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B42E3A"/>
                </a:solidFill>
                <a:latin typeface="Segoe UI"/>
              </a:rPr>
              <a:t>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7214616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7 460 – 7 640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306824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31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526280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Sakai Yoshiharu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971032" y="336682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257" name="Rounded Rectangle 256"/>
          <p:cNvSpPr/>
          <p:nvPr/>
        </p:nvSpPr>
        <p:spPr>
          <a:xfrm>
            <a:off x="6537960" y="337139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537960" y="337139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6848856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7214616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6 380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4251960" y="352775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4306824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32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4526280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Shimomura Kihan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5971032" y="354787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265" name="Rounded Rectangle 264"/>
          <p:cNvSpPr/>
          <p:nvPr/>
        </p:nvSpPr>
        <p:spPr>
          <a:xfrm>
            <a:off x="6537960" y="355244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537960" y="355244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6848856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7214616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6 140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4306824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33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4526280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Teruhide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971032" y="372892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72" name="Rounded Rectangle 271"/>
          <p:cNvSpPr/>
          <p:nvPr/>
        </p:nvSpPr>
        <p:spPr>
          <a:xfrm>
            <a:off x="6537960" y="373349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537960" y="373349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6848856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7214616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8 000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4251960" y="388985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4306824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34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4526280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Anryu Hamono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5971032" y="390997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6537960" y="391454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6537960" y="391454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848856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7214616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4306824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35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4526280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Etsu / Ittetsu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5971032" y="409102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287" name="Rounded Rectangle 286"/>
          <p:cNvSpPr/>
          <p:nvPr/>
        </p:nvSpPr>
        <p:spPr>
          <a:xfrm>
            <a:off x="6537960" y="409559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537960" y="409559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6848856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7214616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16 677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4251960" y="425196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4306824" y="4272076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36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26280" y="4272076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Gyokucho / Kamisaku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5971032" y="4272076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295" name="Rounded Rectangle 294"/>
          <p:cNvSpPr/>
          <p:nvPr/>
        </p:nvSpPr>
        <p:spPr>
          <a:xfrm>
            <a:off x="6537960" y="4276648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537960" y="4276648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848856" y="4272076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7214616" y="4272076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7 300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306824" y="445312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37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4526280" y="445312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Hatsukokoro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5971032" y="445312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6537960" y="445770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6537960" y="445770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6848856" y="445312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7214616" y="445312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13 865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251960" y="461406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4306824" y="463417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38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526280" y="463417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Higonokami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971032" y="463417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10" name="Rounded Rectangle 309"/>
          <p:cNvSpPr/>
          <p:nvPr/>
        </p:nvSpPr>
        <p:spPr>
          <a:xfrm>
            <a:off x="6537960" y="463875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6537960" y="463875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6848856" y="463417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7214616" y="463417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2 090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4306824" y="481523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39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4526280" y="481523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Hisashige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5971032" y="481523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17" name="Rounded Rectangle 316"/>
          <p:cNvSpPr/>
          <p:nvPr/>
        </p:nvSpPr>
        <p:spPr>
          <a:xfrm>
            <a:off x="6537960" y="481980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537960" y="481980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6848856" y="481523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7214616" y="481523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3 520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251960" y="4976164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4306824" y="499628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4526280" y="499628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JCK Natures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5971032" y="499628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25" name="Rounded Rectangle 324"/>
          <p:cNvSpPr/>
          <p:nvPr/>
        </p:nvSpPr>
        <p:spPr>
          <a:xfrm>
            <a:off x="6537960" y="500085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6537960" y="500085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6848856" y="499628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7214616" y="499628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12 220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4306824" y="517733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41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4526280" y="517733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KAI Sekimagoroku Imayo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5971032" y="517733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332" name="Rounded Rectangle 331"/>
          <p:cNvSpPr/>
          <p:nvPr/>
        </p:nvSpPr>
        <p:spPr>
          <a:xfrm>
            <a:off x="6537960" y="518190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537960" y="518190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6848856" y="517733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7214616" y="517733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2 700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251960" y="533826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4306824" y="535838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42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4526280" y="535838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Kanetaka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5971032" y="535838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40" name="Rounded Rectangle 339"/>
          <p:cNvSpPr/>
          <p:nvPr/>
        </p:nvSpPr>
        <p:spPr>
          <a:xfrm>
            <a:off x="6537960" y="536295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6537960" y="536295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6848856" y="535838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7214616" y="535838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3 520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8046719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№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8266175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9710928" y="153619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10277855" y="1536192"/>
            <a:ext cx="2926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JP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10588751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SKU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10954511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046719" y="1682496"/>
            <a:ext cx="3602736" cy="1097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991855" y="1717243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046719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43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8266175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Kazuhira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9710928" y="173736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55" name="Rounded Rectangle 354"/>
          <p:cNvSpPr/>
          <p:nvPr/>
        </p:nvSpPr>
        <p:spPr>
          <a:xfrm>
            <a:off x="10277855" y="174193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10277855" y="174193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10588751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10954511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8046719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44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8266175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Kiyokane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9710928" y="191841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10277855" y="192298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10277855" y="192298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0588751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0954511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4 590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7991855" y="207934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8046719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45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8266175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Mikihisa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710928" y="209946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70" name="Rounded Rectangle 369"/>
          <p:cNvSpPr/>
          <p:nvPr/>
        </p:nvSpPr>
        <p:spPr>
          <a:xfrm>
            <a:off x="10277855" y="210403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10277855" y="210403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10588751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10954511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8046719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46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8266175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Sakai Haruhiko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9710928" y="228051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377" name="Rounded Rectangle 376"/>
          <p:cNvSpPr/>
          <p:nvPr/>
        </p:nvSpPr>
        <p:spPr>
          <a:xfrm>
            <a:off x="10277855" y="228508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10277855" y="228508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0588751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10954511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7 040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7991855" y="2441448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8046719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47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8266175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Sakai Ichiji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9710928" y="246156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385" name="Rounded Rectangle 384"/>
          <p:cNvSpPr/>
          <p:nvPr/>
        </p:nvSpPr>
        <p:spPr>
          <a:xfrm>
            <a:off x="10277855" y="246613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10277855" y="246613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10588751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10954511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1 999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8046719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48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8266175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Satake Masamune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9710928" y="264261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392" name="Rounded Rectangle 391"/>
          <p:cNvSpPr/>
          <p:nvPr/>
        </p:nvSpPr>
        <p:spPr>
          <a:xfrm>
            <a:off x="10277855" y="264718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10277855" y="264718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10588751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10954511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7991855" y="280355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8046719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49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8266175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Shigehiro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9710928" y="2823667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400" name="Rounded Rectangle 399"/>
          <p:cNvSpPr/>
          <p:nvPr/>
        </p:nvSpPr>
        <p:spPr>
          <a:xfrm>
            <a:off x="10277855" y="2828239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10277855" y="2828239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10588751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10954511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8 490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8046719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50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8266175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Tadafusa / Ohishi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9710928" y="300471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07" name="Rounded Rectangle 406"/>
          <p:cNvSpPr/>
          <p:nvPr/>
        </p:nvSpPr>
        <p:spPr>
          <a:xfrm>
            <a:off x="10277855" y="300929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10277855" y="300929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0588751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0954511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5 891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7991855" y="316565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8046719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51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8266175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Tsukasa (Hinoura)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9710928" y="318576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15" name="Rounded Rectangle 414"/>
          <p:cNvSpPr/>
          <p:nvPr/>
        </p:nvSpPr>
        <p:spPr>
          <a:xfrm>
            <a:off x="10277855" y="319034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10277855" y="319034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10588751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10954511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9 900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8046719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52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8266175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Yamawaki Hamono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9710928" y="336682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422" name="Rounded Rectangle 421"/>
          <p:cNvSpPr/>
          <p:nvPr/>
        </p:nvSpPr>
        <p:spPr>
          <a:xfrm>
            <a:off x="10277855" y="337139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10277855" y="337139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10588751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10954511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3 528</a:t>
            </a:r>
          </a:p>
        </p:txBody>
      </p:sp>
      <p:sp>
        <p:nvSpPr>
          <p:cNvPr id="426" name="Rectangle 425"/>
          <p:cNvSpPr/>
          <p:nvPr/>
        </p:nvSpPr>
        <p:spPr>
          <a:xfrm>
            <a:off x="7991855" y="352775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TextBox 426"/>
          <p:cNvSpPr txBox="1"/>
          <p:nvPr/>
        </p:nvSpPr>
        <p:spPr>
          <a:xfrm>
            <a:off x="8046719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53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8266175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Global (Yoshikin)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9710928" y="354787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30" name="Rounded Rectangle 429"/>
          <p:cNvSpPr/>
          <p:nvPr/>
        </p:nvSpPr>
        <p:spPr>
          <a:xfrm>
            <a:off x="10277855" y="355244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TextBox 430"/>
          <p:cNvSpPr txBox="1"/>
          <p:nvPr/>
        </p:nvSpPr>
        <p:spPr>
          <a:xfrm>
            <a:off x="10277855" y="355244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0588751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—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0954511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2 618 – 13 195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8046719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54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8266175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HONMAMON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9710928" y="372892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437" name="Rounded Rectangle 436"/>
          <p:cNvSpPr/>
          <p:nvPr/>
        </p:nvSpPr>
        <p:spPr>
          <a:xfrm>
            <a:off x="10277855" y="373349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TextBox 437"/>
          <p:cNvSpPr txBox="1"/>
          <p:nvPr/>
        </p:nvSpPr>
        <p:spPr>
          <a:xfrm>
            <a:off x="10277855" y="373349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0588751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—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10954511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441" name="Rectangle 440"/>
          <p:cNvSpPr/>
          <p:nvPr/>
        </p:nvSpPr>
        <p:spPr>
          <a:xfrm>
            <a:off x="7991855" y="388985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TextBox 441"/>
          <p:cNvSpPr txBox="1"/>
          <p:nvPr/>
        </p:nvSpPr>
        <p:spPr>
          <a:xfrm>
            <a:off x="8046719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55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8266175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Sekiryu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9710928" y="390997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445" name="Rounded Rectangle 444"/>
          <p:cNvSpPr/>
          <p:nvPr/>
        </p:nvSpPr>
        <p:spPr>
          <a:xfrm>
            <a:off x="10277855" y="391454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TextBox 445"/>
          <p:cNvSpPr txBox="1"/>
          <p:nvPr/>
        </p:nvSpPr>
        <p:spPr>
          <a:xfrm>
            <a:off x="10277855" y="391454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10588751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—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10954511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1 107 – 1 638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8046719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56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8266175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Suisin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9710928" y="409102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452" name="Rounded Rectangle 451"/>
          <p:cNvSpPr/>
          <p:nvPr/>
        </p:nvSpPr>
        <p:spPr>
          <a:xfrm>
            <a:off x="10277855" y="409559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10277855" y="409559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10588751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—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0954511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566928" y="5650992"/>
            <a:ext cx="6400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88A3D"/>
                </a:solidFill>
                <a:latin typeface="Segoe UI"/>
              </a:rPr>
              <a:t>ПОЗНАЧКА JP БІЛЯ КОЖНОГО ВИРОБНИКА — ЯК САМЕ ПІДТВЕРДЖЕНО ЯПОНСЬКЕ ПОХОДЖЕННЯ</a:t>
            </a:r>
          </a:p>
        </p:txBody>
      </p:sp>
      <p:sp>
        <p:nvSpPr>
          <p:cNvPr id="457" name="Rounded Rectangle 456"/>
          <p:cNvSpPr/>
          <p:nvPr/>
        </p:nvSpPr>
        <p:spPr>
          <a:xfrm>
            <a:off x="566928" y="5833872"/>
            <a:ext cx="4187952" cy="7315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566928" y="5833872"/>
            <a:ext cx="36576" cy="731520"/>
          </a:xfrm>
          <a:prstGeom prst="rect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ounded Rectangle 458"/>
          <p:cNvSpPr/>
          <p:nvPr/>
        </p:nvSpPr>
        <p:spPr>
          <a:xfrm>
            <a:off x="731520" y="5916168"/>
            <a:ext cx="292608" cy="132588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TextBox 459"/>
          <p:cNvSpPr txBox="1"/>
          <p:nvPr/>
        </p:nvSpPr>
        <p:spPr>
          <a:xfrm>
            <a:off x="731520" y="5916168"/>
            <a:ext cx="292608" cy="1325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1078992" y="590702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ЗАВОД</a:t>
            </a:r>
          </a:p>
        </p:txBody>
      </p:sp>
      <p:sp>
        <p:nvSpPr>
          <p:cNvPr id="462" name="TextBox 461"/>
          <p:cNvSpPr txBox="1"/>
          <p:nvPr/>
        </p:nvSpPr>
        <p:spPr>
          <a:xfrm>
            <a:off x="2395728" y="590702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30 брендів</a:t>
            </a:r>
          </a:p>
        </p:txBody>
      </p:sp>
      <p:sp>
        <p:nvSpPr>
          <p:cNvPr id="463" name="TextBox 462"/>
          <p:cNvSpPr txBox="1"/>
          <p:nvPr/>
        </p:nvSpPr>
        <p:spPr>
          <a:xfrm>
            <a:off x="731520" y="6108192"/>
            <a:ext cx="3913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Виробника і завод встановлено
за джерелами самого виробника</a:t>
            </a:r>
          </a:p>
        </p:txBody>
      </p:sp>
      <p:sp>
        <p:nvSpPr>
          <p:cNvPr id="464" name="Rounded Rectangle 463"/>
          <p:cNvSpPr/>
          <p:nvPr/>
        </p:nvSpPr>
        <p:spPr>
          <a:xfrm>
            <a:off x="4864608" y="5833872"/>
            <a:ext cx="4187952" cy="7315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ectangle 464"/>
          <p:cNvSpPr/>
          <p:nvPr/>
        </p:nvSpPr>
        <p:spPr>
          <a:xfrm>
            <a:off x="4864608" y="5833872"/>
            <a:ext cx="36576" cy="73152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ounded Rectangle 465"/>
          <p:cNvSpPr/>
          <p:nvPr/>
        </p:nvSpPr>
        <p:spPr>
          <a:xfrm>
            <a:off x="5029200" y="5916168"/>
            <a:ext cx="292608" cy="132588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TextBox 466"/>
          <p:cNvSpPr txBox="1"/>
          <p:nvPr/>
        </p:nvSpPr>
        <p:spPr>
          <a:xfrm>
            <a:off x="5029200" y="5916168"/>
            <a:ext cx="292608" cy="1325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5376672" y="590702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КАРТКА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693408" y="590702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26 брендів</a:t>
            </a:r>
          </a:p>
        </p:txBody>
      </p:sp>
      <p:sp>
        <p:nvSpPr>
          <p:cNvPr id="470" name="TextBox 469"/>
          <p:cNvSpPr txBox="1"/>
          <p:nvPr/>
        </p:nvSpPr>
        <p:spPr>
          <a:xfrm>
            <a:off x="5029200" y="6108192"/>
            <a:ext cx="3913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Походження підтверджене карткою продавця
або профільним торговим каталогом</a:t>
            </a:r>
          </a:p>
        </p:txBody>
      </p:sp>
      <p:sp>
        <p:nvSpPr>
          <p:cNvPr id="471" name="Rounded Rectangle 470"/>
          <p:cNvSpPr/>
          <p:nvPr/>
        </p:nvSpPr>
        <p:spPr>
          <a:xfrm>
            <a:off x="9162288" y="5833872"/>
            <a:ext cx="2468880" cy="7315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ectangle 471"/>
          <p:cNvSpPr/>
          <p:nvPr/>
        </p:nvSpPr>
        <p:spPr>
          <a:xfrm>
            <a:off x="9162288" y="5833872"/>
            <a:ext cx="36576" cy="731520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9326880" y="58887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НЕ ПРОЙШЛИ ПЕРЕВІРКУ</a:t>
            </a:r>
          </a:p>
        </p:txBody>
      </p:sp>
      <p:sp>
        <p:nvSpPr>
          <p:cNvPr id="474" name="TextBox 473"/>
          <p:cNvSpPr txBox="1"/>
          <p:nvPr/>
        </p:nvSpPr>
        <p:spPr>
          <a:xfrm>
            <a:off x="9326880" y="6053328"/>
            <a:ext cx="22311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Kyocera, Hattori, Ittosai, Aritsugu, Sakon Shiraume,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Samura, Chang Keng, Satori · Takagi · TURWHO,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XINZUO, HEZHEN, Tokisu, Hasaki, S.K.K., Jikko</a:t>
            </a:r>
          </a:p>
        </p:txBody>
      </p:sp>
      <p:sp>
        <p:nvSpPr>
          <p:cNvPr id="475" name="TextBox 474"/>
          <p:cNvSpPr txBox="1"/>
          <p:nvPr/>
        </p:nvSpPr>
        <p:spPr>
          <a:xfrm>
            <a:off x="603504" y="655624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У переписі лише марки з підтвердженим японським виробництвом. SKU — позиції в публічних каталогах, жовтень 2026.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К А Н А Л И   З Б У Т 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П'ять каналів, і японська глибина лише в одному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Де в Україні фізично можна купити ніж японського виробництва, із глибиною асортименту й цінами жовтня 2026.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54480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КАНАЛ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1448" y="1554480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ХТО ЦЕ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4688" y="155448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ЯПОН. SKU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9288" y="1554480"/>
            <a:ext cx="3611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ЦЕ ЗА КАНАЛ ДЛЯ ПОСТАЧАЛЬНИКА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" y="1719072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1810512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B88A3D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1448" y="1773936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ProfiMax, ROKS, WildCat, Sekator, Volod,
rezat, japan-knife, Hangiri, vodospad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1847088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B88A3D"/>
                </a:solidFill>
                <a:latin typeface="Segoe UI"/>
              </a:rPr>
              <a:t>≈ 1 000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1847088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217 – 38 640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9288" y="1773936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Уся глибина країни. Малий обіг, висока компетенція.
Єдиний канал, що тримає склад японських марок.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432304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2A7F86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1448" y="2395728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Епіцентр: 4 950 ножів,
з них японських 133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04688" y="2468880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2A7F86"/>
                </a:solidFill>
                <a:latin typeface="Segoe UI"/>
              </a:rPr>
              <a:t>133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468880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2 787 – 11 271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9288" y="239572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Єдиний офлайн-масштаб. Suncraft із 97 SKU доводить,
що бар'єр не в мережі й не в покупцеві.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962656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054096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A84A6B"/>
                </a:solidFill>
                <a:latin typeface="Segoe UI"/>
              </a:rPr>
              <a:t>Монобрендові імпортери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41448" y="3017520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yaxell.com.ua, zwilling.in.ua (Miyabi),
lacocotte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04688" y="3090672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A84A6B"/>
                </a:solidFill>
                <a:latin typeface="Segoe UI"/>
              </a:rPr>
              <a:t>≈ 130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3090672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2 145 – 70 102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9288" y="301752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Топові слоти вже зайняті ексклюзивами.
Для нового бренду вхід закритий.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675888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B42E3A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41448" y="3639312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Rozetka, Prom, Kasta, Bigl, Shafa.
Дропшип-вітрини без складу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04688" y="3712464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B42E3A"/>
                </a:solidFill>
                <a:latin typeface="Segoe UI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19088" y="3712464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2 618 – 13 195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9288" y="3639312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Полиця без складу: транслює чужий каталог.
Присутність без продажів і без контролю ціни.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4206240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4297680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B42E3A"/>
                </a:solidFill>
                <a:latin typeface="Segoe UI"/>
              </a:rPr>
              <a:t>Опт HoReCa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261104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AL-Group (523 проф. ножі), LFood,
Gastro24, Profood, System4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4688" y="4334256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B42E3A"/>
                </a:solidFill>
                <a:latin typeface="Segoe UI"/>
              </a:rPr>
              <a:t>2 бренди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19088" y="4334256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5 740 – 13 290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9288" y="4261104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Практично закритий: тримають європейські марки.
Шість структурних причин — у блоці нижче.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495604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42E3A"/>
                </a:solidFill>
                <a:latin typeface="Segoe UI"/>
              </a:rPr>
              <a:t>ЧОМУ ПРОФЕСІЙНА КУХНЯ НЕ КУПУЄ ЯПОНІЮ · ШІСТЬ ПРИЧИН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6928" y="517550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ЕКОНОМІКА ВТРАТ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Плинність кухарів 40–60 % на рік. Списати 8 000 грн
так само легко, як 500 грн, неможливо.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06824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06824" y="517550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71416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ГЕОМЕТРІЯ ПРОТИ ПРОДУКТУ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1416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60–64 HRC викришується на кістці й замороженому.
Європейський ніж 56 HRC гнеться, японський ламається.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46719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19" y="517550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11311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НЕМАЄ СЕРВІСУ ЗАТОЧЕННЯ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11311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Правка на водних каменях кожні 2–3 дні.
Організованого ринку заточення в Україні немає.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66928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66928" y="590702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1520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ЛОГІСТИКА ЗАКУПІВЛІ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Ножі купують разом із посудом одним рахунком.
Японцю доведеться будувати окремий канал.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306824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06824" y="590702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471416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71416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Вимагає навички, якої лінійний кухар не має
і вчити якої ніхто не буде.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46719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046719" y="590702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11311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ШЕФ КУПУЄ СОБІ САМ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11311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Часто за кордоном, не через дистриб'ютора закладу.
Він референс, а не канал збуту.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«Японські SKU» — оцінка за публічними каталогами. Жодну з шести причин не можна зняти засобами постачальника: HoReCa не є точкою входу, лише джерелом референсів для B2C.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1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Sakai Takayuki: хто це і чому це інший клас задачі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Профіль кандидата у постачальники за даними виробника й незалежних каталогів. Усе, що нижче, — публічна інформація, не комерційна пропозиція.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17904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З А С Н О В А Н 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966E28"/>
                </a:solidFill>
                <a:latin typeface="Georgia"/>
              </a:rPr>
              <a:t>1950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Майстерня Aokі Hamono,
родина Аокі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517904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Е Г І О 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2A7F86"/>
                </a:solidFill>
                <a:latin typeface="Georgia"/>
              </a:rPr>
              <a:t>Сакаї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Осака. 600 років
ковальської традиції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517904"/>
            <a:ext cx="270662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С Е Р І Й   У   Л І Н І Й Ц 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554780"/>
                </a:solidFill>
                <a:latin typeface="Georgia"/>
              </a:rPr>
              <a:t>50+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За власним каталогом
виробника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517904"/>
            <a:ext cx="2706624" cy="25603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Е К С П О Р 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A84A6B"/>
                </a:solidFill>
                <a:latin typeface="Georgia"/>
              </a:rPr>
              <a:t>100+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країн збуту
за заявою виробника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761488"/>
            <a:ext cx="110642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2802636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ЩО САМЕ ВИРОБЛЯЄ SAKAI TAKAYUKI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054096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ГРУПА СТАЛІ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3054096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КОНКРЕТНО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87568" y="305409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ДЕ ЦЕ В ЦІНІ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82127" y="3054096"/>
            <a:ext cx="3657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ХТО ВЖЕ ТРИМАЄ ЦЮ ЗОНУ В УКРАЇНІ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" y="3232404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327355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Нержавіюча базова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70048" y="327355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Hakugin INOX, молібден-ванадій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87568" y="327355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3 000 – 7 000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82127" y="327355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Satake, Seki Kanetsugu, Tojiro Basic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54330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VG-10 і дамаск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70048" y="3543300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17 / 33 / 45 шарів, Grand Chef SP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87568" y="354330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7 000 – 16 000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82127" y="3543300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Tojiro DP, Kasumi, KAI Shun, Yaxell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3776" y="3771900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381304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Ginsan / Silver #3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70048" y="381304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моносталь, Ginsan Warikomi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87568" y="3813048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9 000 – 20 000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82127" y="3813048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Практично ніхто: 1–2 позиції в країні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0827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Вуглецева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70048" y="40827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Aogami #2, Shirogami, Aoniko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87568" y="408279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6 000 – 25 000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82127" y="4082796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Tosa, HONMAMON, Takamura — артизанальний край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93776" y="4311396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928" y="435254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Порошкова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70048" y="435254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SPG2 / R2, ZA-18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87568" y="435254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16 000 – 45 000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2127" y="4352544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Yaxell Super Gou, Nigara, Hatsukokoro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6928" y="462229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Honyaki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70048" y="462229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Ginsan моносталь, Shoryu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87568" y="462229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35 000 – 70 000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882127" y="462229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Порожньо. У країні немає жодного honyaki на складі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66928" y="5047488"/>
            <a:ext cx="36576" cy="101239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2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ЧОМУ ЦЕЙ ПОСТАЧАЛЬНИК НЕ «ЩЕ ОДИН БРЕНД»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4672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Sakai Takayuki закриває весь діапазон від 3 000 до 70 000 грн однією лінійкою.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Жоден із присутніх в Україні японських брендів цього не робить: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KAI і Yaxell сильні зверху, Satake і Seki Kanetsugu — знизу.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17920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17920" y="5047488"/>
            <a:ext cx="36576" cy="1012393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55664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ЦЕ ДАЄ ШЕФУ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55664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Один виробник закриває всю кухню: від робочого гюто на VG-10 до янагіби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з Shirogami і хоньякі для презентації. Однакова геометрія руків'я,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однакова логіка заточування, один постачальник на всі станції.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Джерело профілю: офіційний каталог виробника (sakaitakayukiknives.com), жовтень 2026. Цінові зони — перерахунок спостережених роздрібних цін в Україні на відповідні типи сталі, не прайс виробника.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2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Дев'ятнадцять позицій на всю країну — і лише дві справжні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Обхід 17 продавців, Prom, Rozetka й Епіцентру на 1 жовтня 2026. Кожен рядок перевірено на картці товару.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463040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З Н А Й Д Е Н О   П О З И Ц І 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966E28"/>
                </a:solidFill>
                <a:latin typeface="Georgia"/>
              </a:rPr>
              <a:t>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в усіх каналах
країни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463040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Е А Л Ь Н О   Н А   С К Л А Д 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2A7F86"/>
                </a:solidFill>
                <a:latin typeface="Georgia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ProfiMax, обидві —
янагіба 24 см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463040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Д Р О П Ш И П - Л І С Т И Н Г 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966E28"/>
                </a:solidFill>
                <a:latin typeface="Georgia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пʼяти вітринах
Prom, складу немає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463040"/>
            <a:ext cx="2706624" cy="25603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Ф А Х О В И Х   П Р О Д А В Ц І 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B42E3A"/>
                </a:solidFill>
                <a:latin typeface="Georgia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ProfiMax — єдиний,
хто тримає склад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2688336"/>
            <a:ext cx="3931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ПОЗИЦІЯ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8848" y="268833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ПРОДАВЕЦЬ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268833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ЦІНА,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4928" y="268833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СТАТУС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9408" y="2688336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2830068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287121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Yanagiba Yasugi 24 см, з ножнами (07003)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98848" y="287121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287121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7 460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24928" y="28712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2A7F86"/>
                </a:solidFill>
                <a:latin typeface="Segoe UI"/>
              </a:rPr>
              <a:t>СКЛАД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79408" y="287121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Картка продавця, походження: Japan (Sakai, Osaka)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024835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Yanagiba Yasugi 24 см, для лівші (07005)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8848" y="302483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6208" y="3024835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7 640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24928" y="302483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2A7F86"/>
                </a:solidFill>
                <a:latin typeface="Segoe UI"/>
              </a:rPr>
              <a:t>СКЛАД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79408" y="3024835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3137306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17845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Chief 210мм (вінтажний)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8848" y="317845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ROKS·Prom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6208" y="317845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3 520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24928" y="317845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B42E3A"/>
                </a:solidFill>
                <a:latin typeface="Segoe UI"/>
              </a:rPr>
              <a:t>ТІЛЬКИ НА PROM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79408" y="317845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Є на вітрині Prom, на сайті продавця — немає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3332073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Chief 240мм (вінтажний)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98848" y="3332073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ROKS·Prom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3332073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4 070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24928" y="333207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B42E3A"/>
                </a:solidFill>
                <a:latin typeface="Segoe UI"/>
              </a:rPr>
              <a:t>ТІЛЬКИ НА PROM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79408" y="333207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3776" y="3444544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48569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Vg 10 15см (07942)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348569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36208" y="348569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12 550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24928" y="348569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79408" y="348569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Термін постачання 5–10 днів, складу немає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363931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98848" y="363931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36208" y="363931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15 266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24928" y="36393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79408" y="363931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93776" y="3751783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6928" y="3792931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Saiu Santoku 17см (VG-10)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98848" y="3792931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36208" y="3792931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24928" y="379293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979408" y="3792931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3946550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98848" y="3946550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36208" y="394655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424928" y="394655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79408" y="3946550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93776" y="4059021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4100169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Vg-10 Saiseki Kengata (7966)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498848" y="4100169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36208" y="4100169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24928" y="410016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79408" y="4100169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425378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Сантоку Nanairo Vg 10 Green (14576)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98848" y="425378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36208" y="425378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24928" y="425378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79408" y="425378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4366260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440740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шеф-кухаря Aogami#2 Iron Kurouchi 24см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98848" y="440740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36208" y="440740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17 387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24928" y="440740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79408" y="440740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4561027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Шеф Urushi Saiseki 24см (VG-10)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98848" y="4561027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36208" y="456102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18 415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24928" y="456102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79408" y="4561027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93776" y="4673498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66928" y="471464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Santoku Ginga Za 18 см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98848" y="471464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36208" y="471464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20 572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424928" y="471464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79408" y="471464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6928" y="4868265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Kasumi Shirogami 3 24см (6083)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498848" y="486826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236208" y="4868265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20 750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24928" y="486826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79408" y="4868265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93776" y="4980736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502188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Silver#3 Yanagiba 27см (4231)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498848" y="502188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36208" y="502188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34 857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24928" y="502188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979408" y="502188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6928" y="517550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Byakko Shirogami Kiritsuke Yanagiba 27см (2204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498848" y="517550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36208" y="517550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44 169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24928" y="51755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9408" y="517550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93776" y="5287975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66928" y="5329123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Shoryu Honyaki Vg 10 Kengata Yanagiba 30см (20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498848" y="5329123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36208" y="5329123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57 903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24928" y="532912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9408" y="532912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66928" y="548274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Shoryu Honyaki VG-10 Sakimaru 30см (0204)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498848" y="548274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236208" y="548274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60 495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424928" y="548274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979408" y="548274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93776" y="5595213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66928" y="5636361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Genbu Aogami 2 Sakimaru 30Cm (2245)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498848" y="5636361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Livico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36208" y="5636361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61 891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424928" y="563636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979408" y="5636361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852160"/>
            <a:ext cx="36576" cy="684225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66E28"/>
                </a:solidFill>
                <a:latin typeface="Segoe UI"/>
              </a:rPr>
              <a:t>ЧОМУ 15 326 ГРН ЧОТИРИ РАЗИ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Чотири моделі, одна ціна — спільний фід.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297680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297680" y="5852160"/>
            <a:ext cx="36576" cy="684225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4535424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42E3A"/>
                </a:solidFill>
                <a:latin typeface="Segoe UI"/>
              </a:rPr>
              <a:t>ЩО ТАКЕ «ТІЛЬКИ НА PROM»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535424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Товар є на вітрині продавця в Prom, але на його власному сайті його немає.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046720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046720" y="5852160"/>
            <a:ext cx="36576" cy="684225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284464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B7282"/>
                </a:solidFill>
                <a:latin typeface="Segoe UI"/>
              </a:rPr>
              <a:t>ДЕ БРЕНДУ НЕМАЄ ВЗАГАЛІ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284464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Rozetka, Епіцентр, Sekator, WildCat, rezat.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Перевірено 1 жовтня 2026. «Склад» — картка продавця з прямою наявністю і зазначеним походженням. «Під замовлення» — лістинг Prom із терміном постачання 5–10 днів. Hangiri перевірити не вдалося: сайт закритий Cloudflare.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3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Georgia"/>
              </a:rPr>
              <a:t>Усі дев'ятнадцять позицій бренду в країні — на одній сторінці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Фотографії з карток продавців. Зелена позначка — склад із підтвердженим походженням, жовта — лістинг під замовлення, червона — розбіжність із власним сайтом продавця.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062701c6bdd722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63624"/>
            <a:ext cx="1361149" cy="7315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40080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Yanagiba Yasugi 24 см, з ножнами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7 460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91056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47533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_56cc87b54bc0cc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1541" y="1563624"/>
            <a:ext cx="1361149" cy="73152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2220685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20685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20685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Yanagiba Yasugi 24 см, для лівші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20685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7 640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71661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28139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097322211c3da4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2147" y="1563624"/>
            <a:ext cx="1361149" cy="73152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3801291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01291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ТІЛЬКИ НА PROM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01291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Chief 210мм (вінтажний)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01291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42E3A"/>
                </a:solidFill>
                <a:latin typeface="Segoe UI"/>
              </a:rPr>
              <a:t>3 520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2267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08745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_31cbfa5f76fbf1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2753" y="1563624"/>
            <a:ext cx="1361149" cy="73152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5381897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81897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ТІЛЬКИ НА PROM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81897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Chief 240мм (вінтажний)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81897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42E3A"/>
                </a:solidFill>
                <a:latin typeface="Segoe UI"/>
              </a:rPr>
              <a:t>4 070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2873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89350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8c72624cb8cb4a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3358" y="1563624"/>
            <a:ext cx="1361149" cy="73152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6962502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62502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62502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універсальний Urushi Vg 10 15см (07942)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62502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12 550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13478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69956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p_1687a41703a9aa9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3964" y="1563624"/>
            <a:ext cx="1361149" cy="731520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8543108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43108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43108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43108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15 266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94084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050562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p_e13e4aecb494f27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14570" y="1563624"/>
            <a:ext cx="1361149" cy="731520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10123714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123714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23714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Saiu Santoku 17см (VG-10)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23714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74690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66928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p_20a10ffb6ac10f3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936" y="2999232"/>
            <a:ext cx="1361149" cy="731520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640080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91056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147533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284ff0752eb21dc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11541" y="2999232"/>
            <a:ext cx="1361149" cy="731520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220685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220685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20685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Vg-10 Saiseki Kengata (7966)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20685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71661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728139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p_de239a57651f6e4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92147" y="2999232"/>
            <a:ext cx="1361149" cy="731520"/>
          </a:xfrm>
          <a:prstGeom prst="rect">
            <a:avLst/>
          </a:prstGeom>
        </p:spPr>
      </p:pic>
      <p:sp>
        <p:nvSpPr>
          <p:cNvPr id="79" name="Rounded Rectangle 78"/>
          <p:cNvSpPr/>
          <p:nvPr/>
        </p:nvSpPr>
        <p:spPr>
          <a:xfrm>
            <a:off x="3801291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801291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01291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Сантоку Nanairo Vg 10 Green (14576)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01291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2267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308745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p_6fc69c5adeb0e5d8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72753" y="2999232"/>
            <a:ext cx="1361149" cy="731520"/>
          </a:xfrm>
          <a:prstGeom prst="rect">
            <a:avLst/>
          </a:prstGeom>
        </p:spPr>
      </p:pic>
      <p:sp>
        <p:nvSpPr>
          <p:cNvPr id="86" name="Rounded Rectangle 85"/>
          <p:cNvSpPr/>
          <p:nvPr/>
        </p:nvSpPr>
        <p:spPr>
          <a:xfrm>
            <a:off x="5381897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81897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381897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шеф-кухаря Aogami#2 Iron Kurouchi 24см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381897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17 387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32873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889350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7a6ca1f08184868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53358" y="2999232"/>
            <a:ext cx="1361149" cy="731520"/>
          </a:xfrm>
          <a:prstGeom prst="rect">
            <a:avLst/>
          </a:prstGeom>
        </p:spPr>
      </p:pic>
      <p:sp>
        <p:nvSpPr>
          <p:cNvPr id="93" name="Rounded Rectangle 92"/>
          <p:cNvSpPr/>
          <p:nvPr/>
        </p:nvSpPr>
        <p:spPr>
          <a:xfrm>
            <a:off x="6962502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962502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62502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Шеф Urushi Saiseki 24см (VG-10)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962502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18 415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13478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469956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870d8e72a0bc497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33964" y="2999232"/>
            <a:ext cx="1361149" cy="731520"/>
          </a:xfrm>
          <a:prstGeom prst="rect">
            <a:avLst/>
          </a:prstGeom>
        </p:spPr>
      </p:pic>
      <p:sp>
        <p:nvSpPr>
          <p:cNvPr id="100" name="Rounded Rectangle 99"/>
          <p:cNvSpPr/>
          <p:nvPr/>
        </p:nvSpPr>
        <p:spPr>
          <a:xfrm>
            <a:off x="8543108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3108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43108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Santoku Ginga Za 18 см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43108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20 572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494084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050562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p_9e3c84dc09761d93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14570" y="2999232"/>
            <a:ext cx="1361149" cy="731520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10123714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123714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23714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Kasumi Shirogami 3 24см (6083)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123714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20 750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074690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66928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p_a8884f1317e00cc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4434840"/>
            <a:ext cx="1361149" cy="731520"/>
          </a:xfrm>
          <a:prstGeom prst="rect">
            <a:avLst/>
          </a:prstGeom>
        </p:spPr>
      </p:pic>
      <p:sp>
        <p:nvSpPr>
          <p:cNvPr id="114" name="Rounded Rectangle 113"/>
          <p:cNvSpPr/>
          <p:nvPr/>
        </p:nvSpPr>
        <p:spPr>
          <a:xfrm>
            <a:off x="640080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40080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40080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Silver#3 Yanagiba 27см (4231)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0080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34 857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591056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47533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p_21440b925015ef16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11541" y="4434840"/>
            <a:ext cx="1361149" cy="731520"/>
          </a:xfrm>
          <a:prstGeom prst="rect">
            <a:avLst/>
          </a:prstGeom>
        </p:spPr>
      </p:pic>
      <p:sp>
        <p:nvSpPr>
          <p:cNvPr id="121" name="Rounded Rectangle 120"/>
          <p:cNvSpPr/>
          <p:nvPr/>
        </p:nvSpPr>
        <p:spPr>
          <a:xfrm>
            <a:off x="2220685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220685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220685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Byakko Shirogami Kiritsuke Yanagiba 27см (2204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220685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44 169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71661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728139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p_f7f53c299894aac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792147" y="4434840"/>
            <a:ext cx="1361149" cy="731520"/>
          </a:xfrm>
          <a:prstGeom prst="rect">
            <a:avLst/>
          </a:prstGeom>
        </p:spPr>
      </p:pic>
      <p:sp>
        <p:nvSpPr>
          <p:cNvPr id="128" name="Rounded Rectangle 127"/>
          <p:cNvSpPr/>
          <p:nvPr/>
        </p:nvSpPr>
        <p:spPr>
          <a:xfrm>
            <a:off x="3801291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801291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801291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Shoryu Honyaki Vg 10 Kengata Yanagiba 30см (20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01291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57 903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752267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308745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p_2ed6ae5f98147da7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372753" y="4434840"/>
            <a:ext cx="1361149" cy="731520"/>
          </a:xfrm>
          <a:prstGeom prst="rect">
            <a:avLst/>
          </a:prstGeom>
        </p:spPr>
      </p:pic>
      <p:sp>
        <p:nvSpPr>
          <p:cNvPr id="135" name="Rounded Rectangle 134"/>
          <p:cNvSpPr/>
          <p:nvPr/>
        </p:nvSpPr>
        <p:spPr>
          <a:xfrm>
            <a:off x="5381897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381897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381897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Shoryu Honyaki VG-10 Sakimaru 30см (0204)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381897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60 495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332873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889350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1" name="Picture 140" descr="p_c774391e57a98baf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53358" y="4434840"/>
            <a:ext cx="1361149" cy="731520"/>
          </a:xfrm>
          <a:prstGeom prst="rect">
            <a:avLst/>
          </a:prstGeom>
        </p:spPr>
      </p:pic>
      <p:sp>
        <p:nvSpPr>
          <p:cNvPr id="142" name="Rounded Rectangle 141"/>
          <p:cNvSpPr/>
          <p:nvPr/>
        </p:nvSpPr>
        <p:spPr>
          <a:xfrm>
            <a:off x="6962502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962502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962502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Genbu Aogami 2 Sakimaru 30Cm (2245)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62502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61 891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913478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Livico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66928" y="5870448"/>
            <a:ext cx="11064240" cy="68762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66928" y="5870448"/>
            <a:ext cx="36576" cy="687628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04672" y="602589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ВИДНО НА ЦІЙ СТОРІНЦІ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04672" y="6254496"/>
            <a:ext cx="10588752" cy="157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Зі складу — лише дві янагіби 24 см. Решта, разом із сантоку й гюто, тільки під замовлення.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03504" y="65745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Фотографії — з публічних карток товару ProfiMax і вітрин prom.ua, жовтень 2026. Наведено для ідентифікації позицій; права на зображення належать продавцям і виробнику.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4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Цільова зона зайнята дванадцятьма брендами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Де саме Sakai Takayuki опинився б на полиці, проти кого стояв би і чим від них відрізняється сьогодні.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72768"/>
            <a:ext cx="270662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Ц І Л Ь О В А   З О Н 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554780"/>
                </a:solidFill>
                <a:latin typeface="Georgia"/>
              </a:rPr>
              <a:t>7 000 – 20 000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грн. Сюди потрапляє
основна лінійка бренду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572768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572768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П О З И Ц І Й   У   Ц І Й   З О Н 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966E28"/>
                </a:solidFill>
                <a:latin typeface="Georgia"/>
              </a:rPr>
              <a:t>105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із 259 каталогу,
тобто 41 %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572768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572768"/>
            <a:ext cx="2706624" cy="25603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З   Н И Х   S A K A I   T A K A Y U K 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B42E3A"/>
                </a:solidFill>
                <a:latin typeface="Georgia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менше ніж 2 %
зайнятої зони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572768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572768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Б Р Е Н Д І В   У   З О Н 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2A7F86"/>
                </a:solidFill>
                <a:latin typeface="Georgia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усі з полицею
і глибиною лінійки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871216"/>
            <a:ext cx="55778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2912364"/>
            <a:ext cx="30678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ХТО ВЖЕ ТРИМАЄ ЗОНУ: 12 БРЕНДІВ, 105 ПОЗИЦІЙ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13248" y="321868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4015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03120" y="3439972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03120" y="3439972"/>
            <a:ext cx="3200400" cy="77724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3248" y="340156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66E28"/>
                </a:solidFill>
                <a:latin typeface="Segoe UI"/>
              </a:rPr>
              <a:t>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3631996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KAI / Shun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03120" y="3670401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103120" y="3670401"/>
            <a:ext cx="2743200" cy="77724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13248" y="36319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66E28"/>
                </a:solidFill>
                <a:latin typeface="Segoe UI"/>
              </a:rPr>
              <a:t>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3862425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103120" y="3900830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03120" y="3900830"/>
            <a:ext cx="2743200" cy="77724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13248" y="3862425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66E28"/>
                </a:solidFill>
                <a:latin typeface="Segoe UI"/>
              </a:rPr>
              <a:t>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4092854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103120" y="4131259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103120" y="4131259"/>
            <a:ext cx="13716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13248" y="409285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4323283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Takamura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103120" y="4361688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103120" y="4361688"/>
            <a:ext cx="12192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13248" y="432328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4553712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103120" y="4592116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103120" y="4592116"/>
            <a:ext cx="12192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13248" y="45537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" y="4784140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103120" y="4822545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103120" y="4822545"/>
            <a:ext cx="12192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13248" y="478414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0080" y="5014569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Seki Kanetsugu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103120" y="5052974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103120" y="5052974"/>
            <a:ext cx="6096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13248" y="501456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2064" y="5212994"/>
            <a:ext cx="5687568" cy="210312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524499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B42E3A"/>
                </a:solidFill>
                <a:latin typeface="Segoe UI"/>
              </a:rPr>
              <a:t>Sakai Takayuki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103120" y="5283403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103120" y="5283403"/>
            <a:ext cx="304800" cy="77724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13248" y="524499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B42E3A"/>
                </a:solidFill>
                <a:latin typeface="Segoe UI"/>
              </a:rPr>
              <a:t>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19088" y="2871216"/>
            <a:ext cx="521208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65392" y="2912364"/>
            <a:ext cx="28666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ЧИМ SAKAI TAKAYUKI ВІД НИХ ВІДРІЗНЯЄТЬСЯ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19088" y="316382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22208" y="3163824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ДВАНАДЦЯТЬ У ЗОНІ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68128" y="316382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SAKAI TAKAYUKI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345936" y="3342132"/>
            <a:ext cx="5358384" cy="402336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19088" y="338328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Позицій у зоні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22208" y="338328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4 – 21 у кожного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68128" y="338328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19088" y="380390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Хто завозить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522208" y="3803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є імпортер або
фаховий магазин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168128" y="380390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немає нікого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345936" y="4183380"/>
            <a:ext cx="5358384" cy="402336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19088" y="422452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22208" y="4224528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Suncraft, Tojiro, KAI
стоять в Епіцентрі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168128" y="422452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0 позицій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19088" y="464515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Опт HoReCa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22208" y="464515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Yaxell у каталозі
AL-Group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168128" y="464515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0 позицій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345936" y="5024628"/>
            <a:ext cx="5358384" cy="402336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19088" y="506577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Впізнаваність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22208" y="506577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роками на полиці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168128" y="50657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фактично нульова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566928" y="5577840"/>
            <a:ext cx="11064240" cy="85852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66928" y="5577840"/>
            <a:ext cx="36576" cy="85852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04672" y="5733288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З ЦЬОГО ВИПЛИВАЄ ДЛЯ РІШЕННЯ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" y="5961888"/>
            <a:ext cx="10588752" cy="328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Бренд не має в Україні ані дистриб'ютора, ані полиці, ані жодної позиції у великому форматі й в опті HoReCa — територія вільна.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Але вільна вона тому, що попиту на неї ніхто не створював: дві позиції за всю історію каналу не дали впізнаваності, на яку можна спертися в першій партії.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Кількість позицій у зоні 7 000 – 20 000 грн порахована за каталогом із 259 ножів японського виробництва. Це ширина присутності на полиці, а не обсяг продажів.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