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Relationship Id="rId13" Type="http://schemas.openxmlformats.org/officeDocument/2006/relationships/image" Target="../media/image46.png"/><Relationship Id="rId14" Type="http://schemas.openxmlformats.org/officeDocument/2006/relationships/image" Target="../media/image47.png"/><Relationship Id="rId15" Type="http://schemas.openxmlformats.org/officeDocument/2006/relationships/image" Target="../media/image48.pn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png"/><Relationship Id="rId19" Type="http://schemas.openxmlformats.org/officeDocument/2006/relationships/image" Target="../media/image52.png"/><Relationship Id="rId20" Type="http://schemas.openxmlformats.org/officeDocument/2006/relationships/image" Target="../media/image5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51d1ad7b2afeb1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15 слайдів · 17 продавців · 55 японських брендів · 259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ЗРОБЛЕНО В ЯПОНІЇ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каталогах 17 продавців.
Сумарно 708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726–60 495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1 · ГЕОМЕТРІЯ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2 · СТАЛЬ І РЕГІОН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Tojiro DP, KAI Wasabi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damascus clad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43 020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25 000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63–65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Секі, Гіфу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70 102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Сакаї, Осака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 – 15 580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16 677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Тоса, Коті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10 035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РОБОТИ І РОЗМІР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Під вивіскою «японський ніж» в Україні продають три різні товари. Ця колода рахує лише перший — вироблений у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6638544" cy="23042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00784"/>
            <a:ext cx="310896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60220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37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19072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1769363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ШТУК НА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D4B96"/>
                </a:solidFill>
                <a:latin typeface="Segoe UI"/>
              </a:rPr>
              <a:t>≈ 3 700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4820A"/>
                </a:solidFill>
                <a:latin typeface="Segoe UI"/>
              </a:rPr>
              <a:t>2 % у грошах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50992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0992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94F7C"/>
                </a:solidFill>
                <a:latin typeface="Segoe UI"/>
              </a:rPr>
              <a:t>55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2615184"/>
            <a:ext cx="6236208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2724912"/>
            <a:ext cx="6236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Sakai Takayuki, Misono, Masahiro, HONMAMON і ще 41 марка — усі в переписі на слайді 9.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216" y="1517904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26096" y="1664207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6096" y="1705355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166420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95681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₴150–230 млн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76688" y="1993391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6688" y="20345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2249424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Назва японська, виробництво — ні. Видалено з усіх цифр колоди.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3216" y="2724912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43216" y="2724912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26096" y="2871216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26096" y="291236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28712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6096" y="3163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₴140–260 млн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76688" y="3200400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76688" y="3241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3456432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європейських марок. Японського постачальника тут немає в принципі.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МИТНА БАЗА КАТЕГОРІЇ, ІМПОРТ 2024, ТИС. $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206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21408" y="4206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50408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19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 НИХ ЯПОНІЯ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38454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40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596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0408" y="44256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1928" y="442569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 виділена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21408" y="470001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5968" y="47000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70001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1928" y="470001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14,3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493318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49743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21408" y="49743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8" y="49743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49743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81928" y="497433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103,3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266943"/>
            <a:ext cx="704088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37667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21408" y="5376671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537667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5376671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1928" y="5376671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117,5 = 1,3 %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3968496"/>
            <a:ext cx="3767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8211 92, ТИС. $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24281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30767" y="4283964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30767" y="4283964"/>
            <a:ext cx="2012242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716767" y="424281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453542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0767" y="4576572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30767" y="4576572"/>
            <a:ext cx="133868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16767" y="45354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482803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30767" y="4869180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30767" y="4869180"/>
            <a:ext cx="174383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16767" y="48280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632704"/>
            <a:ext cx="704088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788152"/>
            <a:ext cx="6565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ЦЕЙ СЛАЙД — ГОЛОВНИЙ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6016752"/>
            <a:ext cx="656539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розмежування A / B / C цифру ₴16–19 млн легко сплутати з розміром усієї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категорії кухонних ножів — а це ₴691–924 млн, у 40 разів більше.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863840" y="5193792"/>
            <a:ext cx="376732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63840" y="5193792"/>
            <a:ext cx="36576" cy="1316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01583" y="5349240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ДИНАМІКА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01583" y="557784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Імпорт 2024 на 13 % нижчий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 2022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Стрибок 2023→2024 —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відновлення після провалу,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 не тренд зростання.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митних даних: World Bank WITS / UN Comtrade, імпорт України 2022–2024. Оцінки B і C — власний розрахунок за SKU-аудитом.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ЦІНОЮ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Каталог із 259 ножів японського виробництва, зібраний із карток товарів 17 продавців. На кожному щаблі — п'ять позицій, рівномірно розподілених за ціною.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45720" cy="89611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До 2 500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1 790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Seki Kanetsugu 8 · Satake 4 · HONMAMON 4</a:t>
            </a:r>
          </a:p>
        </p:txBody>
      </p:sp>
      <p:pic>
        <p:nvPicPr>
          <p:cNvPr id="23" name="Picture 22" descr="p_94f49bdd99d60c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514246" cy="43891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310128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27" name="Picture 26" descr="p_ec239970f314e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627632"/>
            <a:ext cx="1514246" cy="43891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934102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4102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1 650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31" name="Picture 30" descr="p_47e36ce71044c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8076" y="1627632"/>
            <a:ext cx="1514246" cy="43891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58076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Takanori Izumi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8076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1 980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35" name="Picture 34" descr="p_462c6d754ce0aa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2051" y="1627632"/>
            <a:ext cx="1514246" cy="43891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82051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2051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9" name="Picture 38" descr="p_2ef97b201bc8cf2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6025" y="1627632"/>
            <a:ext cx="1514246" cy="43891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06025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6025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256032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2560320"/>
            <a:ext cx="45720" cy="8961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2 500 – 5 000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0744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26 %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93392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3 539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06040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10 · Masahiro 8 · Tojiro 7</a:t>
            </a:r>
          </a:p>
        </p:txBody>
      </p:sp>
      <p:pic>
        <p:nvPicPr>
          <p:cNvPr id="56" name="Picture 55" descr="p_e3d54c83d65142d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0128" y="2633472"/>
            <a:ext cx="1514246" cy="43891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3310128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0128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60" name="Picture 59" descr="p_23ead9acd0d4ae8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4102" y="2633472"/>
            <a:ext cx="1514246" cy="43891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934102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4102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3 231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64" name="Picture 63" descr="p_403ad1c9ffd8e37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8076" y="2633472"/>
            <a:ext cx="1514246" cy="43891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558076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58076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3 539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68" name="Picture 67" descr="p_73480f37f39f17a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82051" y="2633472"/>
            <a:ext cx="1514246" cy="43891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182051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2051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72" name="Picture 71" descr="p_7a0ba7a86bed26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06025" y="2633472"/>
            <a:ext cx="1514246" cy="43891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806025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6025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356615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3566159"/>
            <a:ext cx="45720" cy="8961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5 000 – 10 000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80744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93392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7 290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06040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24 · Yaxell 23 · KAI 15</a:t>
            </a:r>
          </a:p>
        </p:txBody>
      </p:sp>
      <p:pic>
        <p:nvPicPr>
          <p:cNvPr id="89" name="Picture 88" descr="p_835994bb5a94d0c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10128" y="3639311"/>
            <a:ext cx="1514246" cy="438911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310128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10128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93" name="Picture 92" descr="p_4ab436256b1923c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34102" y="3639311"/>
            <a:ext cx="1514246" cy="438911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934102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4102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6 401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97" name="Picture 96" descr="p_db9f4add72913e5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8076" y="3639311"/>
            <a:ext cx="1514246" cy="43891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6558076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8076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01" name="Picture 100" descr="p_d828cc662fb91c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2051" y="3639311"/>
            <a:ext cx="1514246" cy="438911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182051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82051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8 050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05" name="Picture 104" descr="p_bd68987c0b443e4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06025" y="3639311"/>
            <a:ext cx="1514246" cy="438911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9806025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06025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66928" y="457199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66928" y="4571999"/>
            <a:ext cx="45720" cy="896111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80744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93392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06040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KAI 15 · Yaxell 10 · Tojiro 8</a:t>
            </a:r>
          </a:p>
        </p:txBody>
      </p:sp>
      <p:pic>
        <p:nvPicPr>
          <p:cNvPr id="122" name="Picture 121" descr="p_36e32f36e7146691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10128" y="4645151"/>
            <a:ext cx="1514246" cy="438911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3310128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10128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26" name="Picture 125" descr="p_afd633ee725b6d4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34102" y="4645151"/>
            <a:ext cx="1514246" cy="438911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4934102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Takamura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934102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11 990 грн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0" name="Picture 129" descr="p_e87b83e3d3fdd66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58076" y="4645151"/>
            <a:ext cx="1514246" cy="438911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6558076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Hatsukokoro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58076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13 865 грн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4" name="Picture 133" descr="p_077042a75de1c23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82051" y="4645151"/>
            <a:ext cx="1514246" cy="438911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8182051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182051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16 677 грн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8" name="Picture 137" descr="p_7ca3a50e75e0b8a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06025" y="4645151"/>
            <a:ext cx="1514246" cy="438911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9806025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806025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27 822 грн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Аналітика рахована по всіх позиціях діапазону, фото — п'ять із них. Джерело: картки товарів ProfiMax, ROKS, WildCat, Sekator, жовтень 2026. Ціна за один ніж, роздріб.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ТИПОМ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Той самий каталог у розрізі геометрії. Тип не визначає ціну — її визначає сталь, і розкид усередині кожного типу це показує.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45720" cy="12313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Шеф і гюто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14 · HONMAMON 7 · Yaxell 5</a:t>
            </a:r>
          </a:p>
        </p:txBody>
      </p:sp>
      <p:pic>
        <p:nvPicPr>
          <p:cNvPr id="23" name="Picture 22" descr="p_0de2d5e262e947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243584" cy="7741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310128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27" name="Picture 26" descr="p_2633fda7c2461e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627632"/>
            <a:ext cx="1243584" cy="77419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63440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31" name="Picture 30" descr="p_ba6a3e3f6095b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1627632"/>
            <a:ext cx="1243584" cy="7741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16752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5" name="Picture 34" descr="p_e14f2209a0827d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3" y="1627632"/>
            <a:ext cx="1243584" cy="77419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70063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3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9 520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9" name="Picture 38" descr="p_d920f645d31f988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3376" y="1627632"/>
            <a:ext cx="1243584" cy="77419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723376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43" name="Picture 42" descr="p_2af9b201d857b2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6688" y="1627632"/>
            <a:ext cx="1243584" cy="774191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076688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7668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23 990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289560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2895600"/>
            <a:ext cx="45720" cy="12313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80744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93392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06040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Yaxell 12 · Tojiro 10 · HONMAMON 9</a:t>
            </a:r>
          </a:p>
        </p:txBody>
      </p:sp>
      <p:pic>
        <p:nvPicPr>
          <p:cNvPr id="60" name="Picture 59" descr="p_f24ec9d36cb64bb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8" y="2968752"/>
            <a:ext cx="1243584" cy="77419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310128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012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64" name="Picture 63" descr="p_ef75062df950609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2968752"/>
            <a:ext cx="1243584" cy="77419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663440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68" name="Picture 67" descr="p_0101cd1ded1a063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6752" y="2968752"/>
            <a:ext cx="1243584" cy="77419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016752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16752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5 538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72" name="Picture 71" descr="p_9c2aaec32dc6d13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70063" y="2968752"/>
            <a:ext cx="1243584" cy="77419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3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3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76" name="Picture 75" descr="p_df97c02d864bd12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23376" y="2968752"/>
            <a:ext cx="1243584" cy="77419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723376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3376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8 610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80" name="Picture 79" descr="p_957906e03cad2c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76688" y="2968752"/>
            <a:ext cx="1243584" cy="774191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076688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7668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11 790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423672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4236720"/>
            <a:ext cx="45720" cy="12313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8096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80744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93392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4 550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06040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11 · KAI 8 · HONMAMON 3</a:t>
            </a:r>
          </a:p>
        </p:txBody>
      </p:sp>
      <p:pic>
        <p:nvPicPr>
          <p:cNvPr id="97" name="Picture 96" descr="p_60662ad9f02f39e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10128" y="4309872"/>
            <a:ext cx="1243584" cy="77419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3310128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1012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2 660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01" name="Picture 100" descr="p_ef5b811819ea9ce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3440" y="4309872"/>
            <a:ext cx="1243584" cy="774191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63440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63440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05" name="Picture 104" descr="p_c9db2995f67c68f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16752" y="4309872"/>
            <a:ext cx="1243584" cy="774191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6016752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16752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4 451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09" name="Picture 108" descr="p_a146f87fe576c8f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70063" y="4309872"/>
            <a:ext cx="1243584" cy="774191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7370063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70063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13" name="Picture 112" descr="p_1a9ca90c0351b5d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23376" y="4309872"/>
            <a:ext cx="1243584" cy="774191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8723376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23376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17" name="Picture 116" descr="p_06a999719c231f7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076688" y="4309872"/>
            <a:ext cx="1243584" cy="774191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0076688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7668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7 460 грн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Позиції, які не потрапили в жодну з трьох груп (слайсери, хлібні, бунка, фунаюкі, набори), становлять решту каталогу. Джерело: картки товарів українських магазинів,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П'ятдесят п'ять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марок японського виробництва, знайдених у каталогах 17 українських продавців. Відсортовано за кількістю позицій у 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1536192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2788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5564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9424" y="17556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75564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175564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726 – 27 970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96778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9424" y="19677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7792" y="196778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196778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1 199 – 70 102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215706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17992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9424" y="217992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2" y="217992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217992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1 199 – 18 999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207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9424" y="23920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239207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239207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599 – 16 499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2581351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260421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260421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2" y="260421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260421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849 – 16 999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81635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Kanetsune Seki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9424" y="28163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281635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281635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150 – 16 360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3005632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02849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Tosa / Tosauchi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9424" y="302849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7792" y="3028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302849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2 929 – 10 035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40633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Miyabi (Zwilling)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49424" y="324063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07792" y="3240633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3240633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5 900 – 43 020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3429914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452774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49424" y="345277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07792" y="345277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3452774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1 180 – 15 229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664915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Seki Kanetsugu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49424" y="366491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07792" y="3664915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3664915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990 – 13 900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" y="3854196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87705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Yoshihiro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49424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7792" y="38770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80" y="387705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3 609 – 6 747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08919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Masahiro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49424" y="4089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07792" y="408919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83280" y="408919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2 400 – 4 100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4278477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4301337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Takamura Hamono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49424" y="430133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07792" y="4301337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83280" y="4301337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5 320 – 11 990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51347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Fukamizu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9424" y="451347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2" y="451347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83280" y="451347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2 610 – 4 850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2064" y="470275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72561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Takanori Izumi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9424" y="472561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07792" y="472561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83280" y="472561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1 980 – 3 080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93776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Tomita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49424" y="493776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07792" y="493776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83280" y="493776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3 215 – 6 600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2064" y="5127040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514990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Inoguchi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49424" y="51499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07792" y="51499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83280" y="514990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36204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Motokane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49424" y="536204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07792" y="536204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83280" y="536204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2 090 – 2 695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06824" y="15361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989320" y="1536192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02552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41464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251960" y="1732788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06824" y="175564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Seto Iseya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89320" y="17556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47688" y="175564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123176" y="175564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5 500 – 6 550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06824" y="196778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Hanakumagawa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89320" y="19677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647688" y="196778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23176" y="196778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2 390 – 2 790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51960" y="215706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06824" y="217992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Harukaze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89320" y="217992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47688" y="217992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23176" y="217992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19 990 – 26 990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306824" y="239207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Misono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989320" y="23920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647688" y="239207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23176" y="239207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1 690 – 4 990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251960" y="2581351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06824" y="260421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Myojin (Naohito)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260421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47688" y="260421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123176" y="260421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13 200 – 15 580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306824" y="281635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Nigara Hamono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89320" y="28163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03B4B"/>
                </a:solidFill>
                <a:latin typeface="Segoe UI"/>
              </a:rPr>
              <a:t>Хіросакі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647688" y="281635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123176" y="281635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14 800 – 16 740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51960" y="3005632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306824" y="302849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03B4B"/>
                </a:solidFill>
                <a:latin typeface="Segoe UI"/>
              </a:rPr>
              <a:t>Sakai Takayuki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89320" y="302849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647688" y="3028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03B4B"/>
                </a:solidFill>
                <a:latin typeface="Segoe UI"/>
              </a:rPr>
              <a:t>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3176" y="302849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7 460 – 7 640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06824" y="3240633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Teruhide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89320" y="324063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47688" y="3240633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123176" y="3240633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8 000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251960" y="3429914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306824" y="3452774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Anryu Hamono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989320" y="345277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647688" y="345277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123176" y="3452774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06824" y="3664915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Etsu / Ittetsu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89320" y="366491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47688" y="3664915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23176" y="3664915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16 677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251960" y="3854196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306824" y="387705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Gyokucho / Kamisaku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89320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47688" y="38770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123176" y="387705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7 300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06824" y="408919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Hatsukokoro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89320" y="4089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47688" y="408919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23176" y="408919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13 865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251960" y="4278477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306824" y="4301337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Higonokami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989320" y="430133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647688" y="4301337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23176" y="4301337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2 090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306824" y="451347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Hisashige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989320" y="451347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647688" y="451347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123176" y="451347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251960" y="470275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306824" y="472561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JCK Natures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989320" y="472561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647688" y="472561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123176" y="472561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12 220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493776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KAI Sekimagoroku Imayo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989320" y="493776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647688" y="493776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123176" y="493776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2 700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251960" y="5127040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306824" y="514990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Kanetaka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989320" y="51499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647688" y="51499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123176" y="514990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306824" y="536204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Kazuhira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989320" y="536204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47688" y="536204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23176" y="536204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046719" y="15361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29215" y="1536192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42447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881359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991855" y="1732788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046719" y="175564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Kiyokane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729215" y="17556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387584" y="175564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863072" y="175564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4 590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46719" y="196778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Mikihisa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29215" y="19677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87584" y="196778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863072" y="196778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991855" y="215706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046719" y="217992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S.K.K. Cutlery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729215" y="217992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387584" y="217992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863072" y="217992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8046719" y="239207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Sakai Haruhiko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729215" y="23920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387584" y="239207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863072" y="239207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7 040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991855" y="2581351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046719" y="260421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Sakai Ichiji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729215" y="260421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387584" y="260421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0863072" y="260421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1 999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046719" y="281635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Satake Masamune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729215" y="28163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387584" y="281635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863072" y="281635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991855" y="3005632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046719" y="3028492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Shigehiro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9729215" y="302849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387584" y="3028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863072" y="302849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8 490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8046719" y="3240633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Shimomura Kihan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9729215" y="324063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387584" y="3240633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863072" y="3240633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7991855" y="3429914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046719" y="3452774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Tadayoshi Tokaji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729215" y="345277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387584" y="345277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863072" y="3452774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8 480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046719" y="3664915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Tanaka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729215" y="366491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387584" y="3664915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0863072" y="3664915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5 203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991855" y="3854196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8046719" y="387705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Teruhide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729215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387584" y="38770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863072" y="387705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8046719" y="4089196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Tsukasa (Hinoura)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9729215" y="4089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0387584" y="408919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863072" y="408919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9 900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991855" y="4278477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046719" y="4301337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Yamawaki Hamono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9729215" y="430133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0387584" y="4301337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0863072" y="4301337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3 528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8046719" y="4513478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Global (Yoshikin)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9729215" y="451347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387584" y="451347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0863072" y="4513478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2 618 – 13 195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991855" y="4702759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8046719" y="4725619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HONMAMON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29215" y="472561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87584" y="4725619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863072" y="4725619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046719" y="493776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Hokiyama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9729215" y="493776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0387584" y="493776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863072" y="493776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991855" y="5127040"/>
            <a:ext cx="3712463" cy="2057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8046719" y="5149900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Kaneyoshi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9729215" y="51499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387584" y="51499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863072" y="5149900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5 740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046719" y="5362041"/>
            <a:ext cx="16642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C2235"/>
                </a:solidFill>
                <a:latin typeface="Segoe UI"/>
              </a:rPr>
              <a:t>Sekiryu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9729215" y="536204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10387584" y="536204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0863072" y="5362041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1 107 – 1 638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566928" y="5632704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768096" y="5788152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68096" y="59984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55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768096" y="64739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17 продавців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3419856" y="5632704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3621024" y="5788152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СУМАРНО ПОЗИЦІЙ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621024" y="59984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708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621024" y="64739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японських SKU</a:t>
            </a:r>
          </a:p>
        </p:txBody>
      </p:sp>
      <p:sp>
        <p:nvSpPr>
          <p:cNvPr id="276" name="Rounded Rectangle 275"/>
          <p:cNvSpPr/>
          <p:nvPr/>
        </p:nvSpPr>
        <p:spPr>
          <a:xfrm>
            <a:off x="6272784" y="5632704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473952" y="5788152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ПЕРША СІМКА ТРИМАЄ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6473952" y="59984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78 %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473952" y="64739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553 позиції з 708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9125711" y="5632704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326880" y="5788152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МАЮТЬ 1–2 ПОЗИЦІЇ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9326880" y="59984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31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26880" y="64739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 — вітрина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витягти не вдалося. Колір регіону — за слайдом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ЗБУТУ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ЦЕ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F9A50B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≈ 1 000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217 – 38 640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E9EA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≈ 130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н/д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Опт HoReCa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2 бренди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ЗАСНОВАНО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Сакаї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D4B96"/>
                </a:solidFill>
                <a:latin typeface="Segoe UI"/>
              </a:rPr>
              <a:t>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ЕКСПОРТ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94F7C"/>
                </a:solidFill>
                <a:latin typeface="Segoe UI"/>
              </a:rPr>
              <a:t>100+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ГРУПА СТАЛІ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КОНКРЕТНО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ЦЕ В ЦІНІ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7 000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і дамаск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Ginsan / Silver #3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9 000 – 20 000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Вуглецева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25 000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SPG2 / R2, ZA-18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Суцільний обхід 17 продавців, Prom, Rozetka й Епіцентру станом на 1 жовтня 2026. Кожен рядок перевірено на картці товару, а не в пошуковій видачі.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ЗНАЙДЕНО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РЕАЛЬНО НА СКЛАДІ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ДРОПШИП-ЛІСТИНГИ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«поставка зі складу
5–10 днів»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ПРОДАВЦІВ З БРЕНДОМ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фаховий магазин,
що тримає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72491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7249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72491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27249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724912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90322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94436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29443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9443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8" y="29443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294436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5468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315468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1546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8" y="3154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315468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32384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3649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210 мм, вінтажна серія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8848" y="33649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33649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3649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9408" y="33649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753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240 мм, вінтажна серія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5753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35753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4928" y="35753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35753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3744468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37856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Saiu Santoku 17 см, VG-10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8848" y="37856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37856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8" y="37856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7856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9592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 см, VG-10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8848" y="39959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8" y="39959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24928" y="39959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79408" y="399592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3776" y="4165092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420624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Saiseki Kengata (7966), VG-10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98848" y="420624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420624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24928" y="4206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79408" y="420624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41655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Nanairo Santoku Green (14576), VG-10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8848" y="441655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441655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24928" y="441655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79408" y="441655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585716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62686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Kasumi Shirogami #3, 24 см (6083)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8848" y="46268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626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928" y="462686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62686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83717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Silver #3 Yanagiba 27 см (4231)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98848" y="483717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6208" y="483717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4928" y="48371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79408" y="483717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500634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0474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Byakko Shirogami Kiritsuke Yanagiba 27 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98848" y="50474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36208" y="50474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24928" y="50474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79408" y="50474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25780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Kengata Yanagiba 30 см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8848" y="525780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525780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8" y="52578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79408" y="525780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776" y="542696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6928" y="54681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Sakimaru 30 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98848" y="54681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36208" y="54681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24928" y="54681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9408" y="54681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66928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6928" y="5724144"/>
            <a:ext cx="36576" cy="83809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4672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різні моделі у двох продавців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однакова ціна. Це спільний фід, не склад.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9768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97680" y="5724144"/>
            <a:ext cx="36576" cy="83809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3542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3542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на Prom показує дві позиції.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Власний сайт roks.com.ua — жодної.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04672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46720" y="5724144"/>
            <a:ext cx="36576" cy="838098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8446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8446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Rozetka (API: 0), Епіцентр, Sekator, WildCat,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rezat, volod, Kagura, AL-Group.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Усі тринадцять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ea85c40997a9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82496"/>
            <a:ext cx="1361149" cy="1078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3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7533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_8708ea90b3918c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682496"/>
            <a:ext cx="1361149" cy="107899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220685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0685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0685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685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9949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28139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_abdd23921eef82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682496"/>
            <a:ext cx="1361149" cy="107899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801291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01291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1291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210мм (вінтажний)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1291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0555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8745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_cd48159923409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682496"/>
            <a:ext cx="1361149" cy="107899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381897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81897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897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240мм (вінтажний)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1897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161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9350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876eaee6495915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682496"/>
            <a:ext cx="1361149" cy="107899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962502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2502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2502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2502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1766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9956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4c9e84967203c7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682496"/>
            <a:ext cx="1361149" cy="1078992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543108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3108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3108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3108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12372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50562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7f0dd6bfec2c98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682496"/>
            <a:ext cx="1361149" cy="1078992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0123714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23714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23714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3714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92978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_cdb7790b52ecea0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3822191"/>
            <a:ext cx="1361149" cy="1078992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080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Nanairo Vg 10 Green (14576)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9343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533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fd7b56a995a721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3822191"/>
            <a:ext cx="1361149" cy="1078992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2220685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20685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20685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0685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89949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8139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p_076154df8814953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3822191"/>
            <a:ext cx="1361149" cy="107899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3801291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01291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1291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01291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70555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8745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_bfa9688130eb9c8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3822191"/>
            <a:ext cx="1361149" cy="1078992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81897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81897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81897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Byakko Shirogami Kiritsuke Yanagiba 27см (2204)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81897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1161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89350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a2e34c432a6c075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3822191"/>
            <a:ext cx="1361149" cy="1078992"/>
          </a:xfrm>
          <a:prstGeom prst="rect">
            <a:avLst/>
          </a:prstGeom>
        </p:spPr>
      </p:pic>
      <p:sp>
        <p:nvSpPr>
          <p:cNvPr id="89" name="Rounded Rectangle 88"/>
          <p:cNvSpPr/>
          <p:nvPr/>
        </p:nvSpPr>
        <p:spPr>
          <a:xfrm>
            <a:off x="6962502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62502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2502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 10 Kengata Yanagiba 30см (203)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2502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31766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469956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81389a13d1c8019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3822191"/>
            <a:ext cx="1361149" cy="1078992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543108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43108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43108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43108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12372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6928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4672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4672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Дві позиції зі складу — обидві янагіба 24 см. Жодного гюто,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чи петті бренду в Україні купити сьогодні неможливо.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568756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55664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55664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Асортимент, який бачить український покупець, зібрано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дистриб'ютором, а дропшиперами. Брендом у країні ніхто не керує.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/ Shun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(кузні)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Ginsan / Silver #3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0 із 523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Рекомендація: вузький вхід, а не дистрибуція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 за умови, що розглядається лише японське виробництво. Розташовані за спаданням привабливості.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ВУЗЬКИЙ ВХІД У ПОРОЖНІ ЗОНИ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60–90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7 000 – 45 000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Тільки те, чого в країні немає: honyaki, Ginsan / Silver #3,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односторонні дорожчі за 10 000 грн, wa-руків'я у профканалі.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Sakai Takayuki закриває всі чотири зони однією лінійкою.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Мала партія, висока маржа, немає прямого конкурента на полиці.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малий: сотні ножів на рік, не тисячі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Окупність повільна: оборотність 2–4 рази на рік</a:t>
            </a:r>
          </a:p>
        </p:txBody>
      </p:sp>
      <p:pic>
        <p:nvPicPr>
          <p:cNvPr id="28" name="Picture 27" descr="p_dab1718fad393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ДИСТРИБУЦІЯ ПОВНОЇ ЛІНІЙКИ SAKAI TAKAYUKI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₴16–19 млн ніша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3 000 – 20 000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Ексклюзив по території з виробником, що експортує у 100+ країн.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Бренд у країні фактично відсутній: 2 позиції на складі.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Але цільова зона 7 000 – 20 000 грн тримає 105 позицій каталогу: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там уже стоять Yaxell, KAI, Tojiro і Kasumi з полицею і глибиною.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Вхід у найгустішу частину шкали без упізнаваності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Ексклюзив вимагає мінімальної партії й цінової дисципліни</a:t>
            </a:r>
          </a:p>
        </p:txBody>
      </p:sp>
      <p:pic>
        <p:nvPicPr>
          <p:cNvPr id="47" name="Picture 46" descr="p_f1288f001cdba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ШИРОКИЙ 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7 500 – 60 495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 на 13 %.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55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66928" y="537667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ТРИ БЛОКУЮЧІ РИЗИКИ, СПІЛЬНІ ДЛЯ ВСІХ СЦЕНАРІЇВ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80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Японський сегмент не росте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Імпорт 2024 нижчий за 2022 на 13 % при 55 присутніх брендах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7024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7024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5312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Професійна кухня Японію не купує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312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2 японські бренди з 15, 523 проф. ножі в каталозі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73567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973567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56447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Структурний програш 10 пунктів мита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56447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10 % на Японію проти 0 % на ЄС, плюс 20 % ПДВ на обидва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14476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3232" y="618591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6400800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Ринок японського виробництва — 16–19 млн грн, не росте, 55 брендів у 17 каналах. Sakai Takayuki у ньому майже відсутній: дві позиції на складі на всю країну.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556248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Це одночасно вільна територія і попередження — нульова впізнаваність. Рекомендація: сценарій A; B — лише після перевірки умов виробника;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