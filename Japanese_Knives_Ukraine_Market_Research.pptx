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Relationship Id="rId9" Type="http://schemas.openxmlformats.org/officeDocument/2006/relationships/image" Target="../media/image12.png"/><Relationship Id="rId10" Type="http://schemas.openxmlformats.org/officeDocument/2006/relationships/image" Target="../media/image13.png"/><Relationship Id="rId11" Type="http://schemas.openxmlformats.org/officeDocument/2006/relationships/image" Target="../media/image14.png"/><Relationship Id="rId12" Type="http://schemas.openxmlformats.org/officeDocument/2006/relationships/image" Target="../media/image1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21.png"/><Relationship Id="rId9" Type="http://schemas.openxmlformats.org/officeDocument/2006/relationships/image" Target="../media/image22.png"/><Relationship Id="rId10" Type="http://schemas.openxmlformats.org/officeDocument/2006/relationships/image" Target="../media/image23.png"/><Relationship Id="rId11" Type="http://schemas.openxmlformats.org/officeDocument/2006/relationships/image" Target="../media/image24.png"/><Relationship Id="rId12" Type="http://schemas.openxmlformats.org/officeDocument/2006/relationships/image" Target="../media/image25.png"/><Relationship Id="rId13" Type="http://schemas.openxmlformats.org/officeDocument/2006/relationships/image" Target="../media/image26.png"/><Relationship Id="rId14" Type="http://schemas.openxmlformats.org/officeDocument/2006/relationships/image" Target="../media/image2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Relationship Id="rId6" Type="http://schemas.openxmlformats.org/officeDocument/2006/relationships/image" Target="../media/image31.png"/><Relationship Id="rId7" Type="http://schemas.openxmlformats.org/officeDocument/2006/relationships/image" Target="../media/image32.png"/><Relationship Id="rId8" Type="http://schemas.openxmlformats.org/officeDocument/2006/relationships/image" Target="../media/image33.png"/><Relationship Id="rId9" Type="http://schemas.openxmlformats.org/officeDocument/2006/relationships/image" Target="../media/image34.png"/><Relationship Id="rId10" Type="http://schemas.openxmlformats.org/officeDocument/2006/relationships/image" Target="../media/image35.png"/><Relationship Id="rId11" Type="http://schemas.openxmlformats.org/officeDocument/2006/relationships/image" Target="../media/image36.png"/><Relationship Id="rId12" Type="http://schemas.openxmlformats.org/officeDocument/2006/relationships/image" Target="../media/image37.png"/><Relationship Id="rId13" Type="http://schemas.openxmlformats.org/officeDocument/2006/relationships/image" Target="../media/image38.png"/><Relationship Id="rId14" Type="http://schemas.openxmlformats.org/officeDocument/2006/relationships/image" Target="../media/image3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image" Target="../media/image42.png"/><Relationship Id="rId6" Type="http://schemas.openxmlformats.org/officeDocument/2006/relationships/image" Target="../media/image43.png"/><Relationship Id="rId7" Type="http://schemas.openxmlformats.org/officeDocument/2006/relationships/image" Target="../media/image44.png"/><Relationship Id="rId8" Type="http://schemas.openxmlformats.org/officeDocument/2006/relationships/image" Target="../media/image45.png"/><Relationship Id="rId9" Type="http://schemas.openxmlformats.org/officeDocument/2006/relationships/image" Target="../media/image46.png"/><Relationship Id="rId10" Type="http://schemas.openxmlformats.org/officeDocument/2006/relationships/image" Target="../media/image47.png"/><Relationship Id="rId11" Type="http://schemas.openxmlformats.org/officeDocument/2006/relationships/image" Target="../media/image48.png"/><Relationship Id="rId12" Type="http://schemas.openxmlformats.org/officeDocument/2006/relationships/image" Target="../media/image49.png"/><Relationship Id="rId13" Type="http://schemas.openxmlformats.org/officeDocument/2006/relationships/image" Target="../media/image50.png"/><Relationship Id="rId14" Type="http://schemas.openxmlformats.org/officeDocument/2006/relationships/image" Target="../media/image5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2.png"/><Relationship Id="rId4" Type="http://schemas.openxmlformats.org/officeDocument/2006/relationships/image" Target="../media/image53.png"/><Relationship Id="rId5" Type="http://schemas.openxmlformats.org/officeDocument/2006/relationships/image" Target="../media/image54.png"/><Relationship Id="rId6" Type="http://schemas.openxmlformats.org/officeDocument/2006/relationships/image" Target="../media/image55.png"/><Relationship Id="rId7" Type="http://schemas.openxmlformats.org/officeDocument/2006/relationships/image" Target="../media/image56.png"/><Relationship Id="rId8" Type="http://schemas.openxmlformats.org/officeDocument/2006/relationships/image" Target="../media/image57.png"/><Relationship Id="rId9" Type="http://schemas.openxmlformats.org/officeDocument/2006/relationships/image" Target="../media/image58.png"/><Relationship Id="rId10" Type="http://schemas.openxmlformats.org/officeDocument/2006/relationships/image" Target="../media/image59.png"/><Relationship Id="rId11" Type="http://schemas.openxmlformats.org/officeDocument/2006/relationships/image" Target="../media/image60.png"/><Relationship Id="rId12" Type="http://schemas.openxmlformats.org/officeDocument/2006/relationships/image" Target="../media/image61.png"/><Relationship Id="rId13" Type="http://schemas.openxmlformats.org/officeDocument/2006/relationships/image" Target="../media/image62.png"/><Relationship Id="rId14" Type="http://schemas.openxmlformats.org/officeDocument/2006/relationships/image" Target="../media/image6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4.png"/><Relationship Id="rId4" Type="http://schemas.openxmlformats.org/officeDocument/2006/relationships/image" Target="../media/image65.png"/><Relationship Id="rId5" Type="http://schemas.openxmlformats.org/officeDocument/2006/relationships/image" Target="../media/image66.png"/><Relationship Id="rId6" Type="http://schemas.openxmlformats.org/officeDocument/2006/relationships/image" Target="../media/image67.png"/><Relationship Id="rId7" Type="http://schemas.openxmlformats.org/officeDocument/2006/relationships/image" Target="../media/image68.png"/><Relationship Id="rId8" Type="http://schemas.openxmlformats.org/officeDocument/2006/relationships/image" Target="../media/image69.png"/><Relationship Id="rId9" Type="http://schemas.openxmlformats.org/officeDocument/2006/relationships/image" Target="../media/image70.png"/><Relationship Id="rId10" Type="http://schemas.openxmlformats.org/officeDocument/2006/relationships/image" Target="../media/image71.png"/><Relationship Id="rId11" Type="http://schemas.openxmlformats.org/officeDocument/2006/relationships/image" Target="../media/image72.png"/><Relationship Id="rId12" Type="http://schemas.openxmlformats.org/officeDocument/2006/relationships/image" Target="../media/image73.png"/><Relationship Id="rId13" Type="http://schemas.openxmlformats.org/officeDocument/2006/relationships/image" Target="../media/image74.png"/><Relationship Id="rId14" Type="http://schemas.openxmlformats.org/officeDocument/2006/relationships/image" Target="../media/image75.png"/><Relationship Id="rId15" Type="http://schemas.openxmlformats.org/officeDocument/2006/relationships/image" Target="../media/image76.png"/><Relationship Id="rId16" Type="http://schemas.openxmlformats.org/officeDocument/2006/relationships/image" Target="../media/image77.png"/><Relationship Id="rId17" Type="http://schemas.openxmlformats.org/officeDocument/2006/relationships/image" Target="../media/image78.png"/><Relationship Id="rId18" Type="http://schemas.openxmlformats.org/officeDocument/2006/relationships/image" Target="../media/image79.png"/><Relationship Id="rId19" Type="http://schemas.openxmlformats.org/officeDocument/2006/relationships/image" Target="../media/image80.png"/><Relationship Id="rId20" Type="http://schemas.openxmlformats.org/officeDocument/2006/relationships/image" Target="../media/image81.png"/><Relationship Id="rId21" Type="http://schemas.openxmlformats.org/officeDocument/2006/relationships/image" Target="../media/image82.png"/><Relationship Id="rId22" Type="http://schemas.openxmlformats.org/officeDocument/2006/relationships/image" Target="../media/image8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4.png"/><Relationship Id="rId4" Type="http://schemas.openxmlformats.org/officeDocument/2006/relationships/image" Target="../media/image85.png"/><Relationship Id="rId5" Type="http://schemas.openxmlformats.org/officeDocument/2006/relationships/image" Target="../media/image86.png"/><Relationship Id="rId6" Type="http://schemas.openxmlformats.org/officeDocument/2006/relationships/image" Target="../media/image42.png"/><Relationship Id="rId7" Type="http://schemas.openxmlformats.org/officeDocument/2006/relationships/image" Target="../media/image87.png"/><Relationship Id="rId8" Type="http://schemas.openxmlformats.org/officeDocument/2006/relationships/image" Target="../media/image88.png"/><Relationship Id="rId9" Type="http://schemas.openxmlformats.org/officeDocument/2006/relationships/image" Target="../media/image89.png"/><Relationship Id="rId10" Type="http://schemas.openxmlformats.org/officeDocument/2006/relationships/image" Target="../media/image90.png"/><Relationship Id="rId11" Type="http://schemas.openxmlformats.org/officeDocument/2006/relationships/image" Target="../media/image91.png"/><Relationship Id="rId12" Type="http://schemas.openxmlformats.org/officeDocument/2006/relationships/image" Target="../media/image92.png"/><Relationship Id="rId13" Type="http://schemas.openxmlformats.org/officeDocument/2006/relationships/image" Target="../media/image56.png"/><Relationship Id="rId14" Type="http://schemas.openxmlformats.org/officeDocument/2006/relationships/image" Target="../media/image9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1.png"/><Relationship Id="rId4" Type="http://schemas.openxmlformats.org/officeDocument/2006/relationships/image" Target="../media/image94.png"/><Relationship Id="rId5" Type="http://schemas.openxmlformats.org/officeDocument/2006/relationships/image" Target="../media/image95.png"/><Relationship Id="rId6" Type="http://schemas.openxmlformats.org/officeDocument/2006/relationships/image" Target="../media/image96.png"/><Relationship Id="rId7" Type="http://schemas.openxmlformats.org/officeDocument/2006/relationships/image" Target="../media/image97.png"/><Relationship Id="rId8" Type="http://schemas.openxmlformats.org/officeDocument/2006/relationships/image" Target="../media/image98.png"/><Relationship Id="rId9" Type="http://schemas.openxmlformats.org/officeDocument/2006/relationships/image" Target="../media/image99.png"/><Relationship Id="rId10" Type="http://schemas.openxmlformats.org/officeDocument/2006/relationships/image" Target="../media/image46.png"/><Relationship Id="rId11" Type="http://schemas.openxmlformats.org/officeDocument/2006/relationships/image" Target="../media/image49.png"/><Relationship Id="rId12" Type="http://schemas.openxmlformats.org/officeDocument/2006/relationships/image" Target="../media/image100.png"/><Relationship Id="rId13" Type="http://schemas.openxmlformats.org/officeDocument/2006/relationships/image" Target="../media/image101.png"/><Relationship Id="rId14" Type="http://schemas.openxmlformats.org/officeDocument/2006/relationships/image" Target="../media/image6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5.png"/><Relationship Id="rId4" Type="http://schemas.openxmlformats.org/officeDocument/2006/relationships/image" Target="../media/image102.png"/><Relationship Id="rId5" Type="http://schemas.openxmlformats.org/officeDocument/2006/relationships/image" Target="../media/image103.png"/><Relationship Id="rId6" Type="http://schemas.openxmlformats.org/officeDocument/2006/relationships/image" Target="../media/image33.png"/><Relationship Id="rId7" Type="http://schemas.openxmlformats.org/officeDocument/2006/relationships/image" Target="../media/image104.png"/><Relationship Id="rId8" Type="http://schemas.openxmlformats.org/officeDocument/2006/relationships/image" Target="../media/image105.png"/><Relationship Id="rId9" Type="http://schemas.openxmlformats.org/officeDocument/2006/relationships/image" Target="../media/image106.png"/><Relationship Id="rId10" Type="http://schemas.openxmlformats.org/officeDocument/2006/relationships/image" Target="../media/image107.png"/><Relationship Id="rId11" Type="http://schemas.openxmlformats.org/officeDocument/2006/relationships/image" Target="../media/image108.png"/><Relationship Id="rId12" Type="http://schemas.openxmlformats.org/officeDocument/2006/relationships/image" Target="../media/image109.png"/><Relationship Id="rId13" Type="http://schemas.openxmlformats.org/officeDocument/2006/relationships/image" Target="../media/image110.png"/><Relationship Id="rId14" Type="http://schemas.openxmlformats.org/officeDocument/2006/relationships/image" Target="../media/image4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1.png"/><Relationship Id="rId4" Type="http://schemas.openxmlformats.org/officeDocument/2006/relationships/image" Target="../media/image112.png"/><Relationship Id="rId5" Type="http://schemas.openxmlformats.org/officeDocument/2006/relationships/image" Target="../media/image113.png"/><Relationship Id="rId6" Type="http://schemas.openxmlformats.org/officeDocument/2006/relationships/image" Target="../media/image114.png"/><Relationship Id="rId7" Type="http://schemas.openxmlformats.org/officeDocument/2006/relationships/image" Target="../media/image115.png"/><Relationship Id="rId8" Type="http://schemas.openxmlformats.org/officeDocument/2006/relationships/image" Target="../media/image116.png"/><Relationship Id="rId9" Type="http://schemas.openxmlformats.org/officeDocument/2006/relationships/image" Target="../media/image117.png"/><Relationship Id="rId10" Type="http://schemas.openxmlformats.org/officeDocument/2006/relationships/image" Target="../media/image118.png"/><Relationship Id="rId11" Type="http://schemas.openxmlformats.org/officeDocument/2006/relationships/image" Target="../media/image119.png"/><Relationship Id="rId12" Type="http://schemas.openxmlformats.org/officeDocument/2006/relationships/image" Target="../media/image120.png"/><Relationship Id="rId13" Type="http://schemas.openxmlformats.org/officeDocument/2006/relationships/image" Target="../media/image121.png"/><Relationship Id="rId14" Type="http://schemas.openxmlformats.org/officeDocument/2006/relationships/image" Target="../media/image122.png"/><Relationship Id="rId15" Type="http://schemas.openxmlformats.org/officeDocument/2006/relationships/image" Target="../media/image123.png"/><Relationship Id="rId16" Type="http://schemas.openxmlformats.org/officeDocument/2006/relationships/image" Target="../media/image124.png"/><Relationship Id="rId17" Type="http://schemas.openxmlformats.org/officeDocument/2006/relationships/image" Target="../media/image125.png"/><Relationship Id="rId18" Type="http://schemas.openxmlformats.org/officeDocument/2006/relationships/image" Target="../media/image126.png"/><Relationship Id="rId19" Type="http://schemas.openxmlformats.org/officeDocument/2006/relationships/image" Target="../media/image127.png"/><Relationship Id="rId20" Type="http://schemas.openxmlformats.org/officeDocument/2006/relationships/image" Target="../media/image12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9.png"/><Relationship Id="rId4" Type="http://schemas.openxmlformats.org/officeDocument/2006/relationships/image" Target="../media/image130.png"/><Relationship Id="rId5" Type="http://schemas.openxmlformats.org/officeDocument/2006/relationships/image" Target="../media/image131.png"/><Relationship Id="rId6" Type="http://schemas.openxmlformats.org/officeDocument/2006/relationships/image" Target="../media/image132.png"/><Relationship Id="rId7" Type="http://schemas.openxmlformats.org/officeDocument/2006/relationships/image" Target="../media/image133.png"/><Relationship Id="rId8" Type="http://schemas.openxmlformats.org/officeDocument/2006/relationships/image" Target="../media/image134.png"/><Relationship Id="rId9" Type="http://schemas.openxmlformats.org/officeDocument/2006/relationships/image" Target="../media/image135.png"/><Relationship Id="rId10" Type="http://schemas.openxmlformats.org/officeDocument/2006/relationships/image" Target="../media/image136.png"/><Relationship Id="rId11" Type="http://schemas.openxmlformats.org/officeDocument/2006/relationships/image" Target="../media/image137.png"/><Relationship Id="rId12" Type="http://schemas.openxmlformats.org/officeDocument/2006/relationships/image" Target="../media/image138.png"/><Relationship Id="rId13" Type="http://schemas.openxmlformats.org/officeDocument/2006/relationships/image" Target="../media/image139.png"/><Relationship Id="rId14" Type="http://schemas.openxmlformats.org/officeDocument/2006/relationships/image" Target="../media/image140.png"/><Relationship Id="rId15" Type="http://schemas.openxmlformats.org/officeDocument/2006/relationships/image" Target="../media/image141.png"/><Relationship Id="rId16" Type="http://schemas.openxmlformats.org/officeDocument/2006/relationships/image" Target="../media/image142.png"/><Relationship Id="rId17" Type="http://schemas.openxmlformats.org/officeDocument/2006/relationships/image" Target="../media/image143.png"/><Relationship Id="rId18" Type="http://schemas.openxmlformats.org/officeDocument/2006/relationships/image" Target="../media/image144.png"/><Relationship Id="rId19" Type="http://schemas.openxmlformats.org/officeDocument/2006/relationships/image" Target="../media/image145.png"/><Relationship Id="rId20" Type="http://schemas.openxmlformats.org/officeDocument/2006/relationships/image" Target="../media/image146.png"/><Relationship Id="rId21" Type="http://schemas.openxmlformats.org/officeDocument/2006/relationships/image" Target="../media/image14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4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059168" cy="6858000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059168" y="0"/>
            <a:ext cx="16459" cy="685800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475488"/>
            <a:ext cx="1682496" cy="72735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03504" y="1792224"/>
            <a:ext cx="566928" cy="32004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3504" y="2029968"/>
            <a:ext cx="6309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D9B165"/>
                </a:solidFill>
                <a:latin typeface="Segoe UI"/>
              </a:rPr>
              <a:t>Д О С Л І Д Ж Е Н Н Я   Р И Н К У   Т А   О Ц І Н К А   Д О Ц І Л Ь Н О С Т І   В Х О Д 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" y="2304288"/>
            <a:ext cx="64008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Georgia"/>
              </a:rPr>
              <a:t>Японські ножі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Georgia"/>
              </a:rPr>
              <a:t>для професійної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Georgia"/>
              </a:rPr>
              <a:t>та домашньої кухні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" y="4590288"/>
            <a:ext cx="3291840" cy="16459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4" y="4809744"/>
            <a:ext cx="6035040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900" b="0">
                <a:solidFill>
                  <a:srgbClr val="9AA2B4"/>
                </a:solidFill>
                <a:latin typeface="Segoe UI"/>
              </a:rPr>
              <a:t>Україна · роздріб, маркетплейси, HoReCa · вересень 2026</a:t>
            </a:r>
          </a:p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900" b="0">
                <a:solidFill>
                  <a:srgbClr val="9AA2B4"/>
                </a:solidFill>
                <a:latin typeface="Segoe UI"/>
              </a:rPr>
              <a:t>Попередня робота до пошуку постачальника: хто вже на ринку, скільки він</a:t>
            </a:r>
          </a:p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900" b="0">
                <a:solidFill>
                  <a:srgbClr val="9AA2B4"/>
                </a:solidFill>
                <a:latin typeface="Segoe UI"/>
              </a:rPr>
              <a:t>коштує в грошах і штуках, і чи є туди сенс іти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" y="5742432"/>
            <a:ext cx="4078224" cy="566928"/>
          </a:xfrm>
          <a:prstGeom prst="roundRect">
            <a:avLst>
              <a:gd name="adj" fmla="val 16000"/>
            </a:avLst>
          </a:prstGeom>
          <a:solidFill>
            <a:srgbClr val="263150"/>
          </a:solidFill>
          <a:ln w="9525">
            <a:solidFill>
              <a:srgbClr val="4552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41248" y="5907024"/>
            <a:ext cx="237744" cy="237744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5870448"/>
            <a:ext cx="33832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Georgia"/>
              </a:rPr>
              <a:t>M A D E   I N   J A P A N   O N L 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6099048"/>
            <a:ext cx="33832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9AA2B4"/>
                </a:solidFill>
                <a:latin typeface="Segoe UI"/>
              </a:rPr>
              <a:t>56 перевірених брендів · 259 ножів · жодної позиції іншого походження</a:t>
            </a:r>
          </a:p>
        </p:txBody>
      </p:sp>
      <p:pic>
        <p:nvPicPr>
          <p:cNvPr id="15" name="Picture 14" descr="p_743072269df0327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6368" y="512064"/>
            <a:ext cx="4114800" cy="2670048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7516368" y="3310128"/>
            <a:ext cx="1335024" cy="104241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_b8c342e6a18561c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0376" y="3374136"/>
            <a:ext cx="1207008" cy="914400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8906256" y="3310128"/>
            <a:ext cx="1335024" cy="104241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p_d54ae9b9a940c6c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70264" y="3374136"/>
            <a:ext cx="1207008" cy="914400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10296144" y="3310128"/>
            <a:ext cx="1335024" cy="104241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p_4bd94ac4fb0bd52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60152" y="3374136"/>
            <a:ext cx="1207008" cy="914400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7516368" y="4535424"/>
            <a:ext cx="2011680" cy="676656"/>
          </a:xfrm>
          <a:prstGeom prst="rect">
            <a:avLst/>
          </a:prstGeom>
          <a:solidFill>
            <a:srgbClr val="26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516368" y="4535424"/>
            <a:ext cx="2011680" cy="20116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62672" y="4663440"/>
            <a:ext cx="1737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D9B165"/>
                </a:solidFill>
                <a:latin typeface="Georgia"/>
              </a:rPr>
              <a:t>691–924 млн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62672" y="4956048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40" b="0">
                <a:solidFill>
                  <a:srgbClr val="9AA2B4"/>
                </a:solidFill>
                <a:latin typeface="Segoe UI"/>
              </a:rPr>
              <a:t>роздріб кухонних ножів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619488" y="4535424"/>
            <a:ext cx="2011680" cy="676656"/>
          </a:xfrm>
          <a:prstGeom prst="rect">
            <a:avLst/>
          </a:prstGeom>
          <a:solidFill>
            <a:srgbClr val="26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619488" y="4535424"/>
            <a:ext cx="2011680" cy="20116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765792" y="4663440"/>
            <a:ext cx="1737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D9B165"/>
                </a:solidFill>
                <a:latin typeface="Georgia"/>
              </a:rPr>
              <a:t>16–19 млн грн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65792" y="4956048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40" b="0">
                <a:solidFill>
                  <a:srgbClr val="9AA2B4"/>
                </a:solidFill>
                <a:latin typeface="Segoe UI"/>
              </a:rPr>
              <a:t>зроблено в Японії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516368" y="5321808"/>
            <a:ext cx="2011680" cy="676656"/>
          </a:xfrm>
          <a:prstGeom prst="rect">
            <a:avLst/>
          </a:prstGeom>
          <a:solidFill>
            <a:srgbClr val="26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516368" y="5321808"/>
            <a:ext cx="2011680" cy="20116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62672" y="5449824"/>
            <a:ext cx="1737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D9B165"/>
                </a:solidFill>
                <a:latin typeface="Georgia"/>
              </a:rPr>
              <a:t>103 тис. $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62672" y="5742432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40" b="0">
                <a:solidFill>
                  <a:srgbClr val="9AA2B4"/>
                </a:solidFill>
                <a:latin typeface="Segoe UI"/>
              </a:rPr>
              <a:t>імпорт із Японії, 2024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619488" y="5321808"/>
            <a:ext cx="2011680" cy="676656"/>
          </a:xfrm>
          <a:prstGeom prst="rect">
            <a:avLst/>
          </a:prstGeom>
          <a:solidFill>
            <a:srgbClr val="26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619488" y="5321808"/>
            <a:ext cx="2011680" cy="20116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765792" y="5449824"/>
            <a:ext cx="1737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D9B165"/>
                </a:solidFill>
                <a:latin typeface="Georgia"/>
              </a:rPr>
              <a:t>1,3 %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65792" y="5742432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40" b="0">
                <a:solidFill>
                  <a:srgbClr val="9AA2B4"/>
                </a:solidFill>
                <a:latin typeface="Segoe UI"/>
              </a:rPr>
              <a:t>частка Японії в митній базі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516368" y="5998464"/>
            <a:ext cx="4114800" cy="10972"/>
          </a:xfrm>
          <a:prstGeom prst="rect">
            <a:avLst/>
          </a:prstGeom>
          <a:solidFill>
            <a:srgbClr val="455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516368" y="6144768"/>
            <a:ext cx="4169663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680" b="0">
                <a:solidFill>
                  <a:srgbClr val="9AA2B4"/>
                </a:solidFill>
                <a:latin typeface="Segoe UI"/>
              </a:rPr>
              <a:t>21 слайд · 25 продавців · 56 перевірених брендів · 259 ножів у каталозі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680" b="0">
                <a:solidFill>
                  <a:srgbClr val="9AA2B4"/>
                </a:solidFill>
                <a:latin typeface="Segoe UI"/>
              </a:rPr>
              <a:t>4 роки митної статистики · модель попиту HoReCa · 3 сценарії входу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Г О Л О В Н 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Georgia"/>
              </a:rPr>
              <a:t>Вісім цифр, які описують ринок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02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Усі ціни в колоді — роздрібні, за один ніж, станом на вересень 2026. Курс НБУ 44,86 грн/$ (30.09.2026).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554480"/>
            <a:ext cx="2615184" cy="1152144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1554480"/>
            <a:ext cx="2615184" cy="25603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" y="1728216"/>
            <a:ext cx="217627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М И Т Н А   Б А З А   2 0 2 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1920240"/>
            <a:ext cx="217627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966E28"/>
                </a:solidFill>
                <a:latin typeface="Georgia"/>
              </a:rPr>
              <a:t>9,02 млн $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" y="2414015"/>
            <a:ext cx="21762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Кухонні + столові ножі та
набори, CIF. Останній повний рік.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83280" y="1554480"/>
            <a:ext cx="2615184" cy="1152144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383280" y="1554480"/>
            <a:ext cx="2615184" cy="25603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02736" y="1728216"/>
            <a:ext cx="217627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Р О З Д Р І Б ,   О Ц І Н К 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02736" y="1920240"/>
            <a:ext cx="217627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2A7F86"/>
                </a:solidFill>
                <a:latin typeface="Georgia"/>
              </a:rPr>
              <a:t>691–924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02736" y="2414015"/>
            <a:ext cx="21762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млн грн на рік. Розрахунок
через імпорт × 2,34–3,12.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99632" y="1554480"/>
            <a:ext cx="2615184" cy="1152144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99632" y="1554480"/>
            <a:ext cx="2615184" cy="25603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19088" y="1728216"/>
            <a:ext cx="217627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І М П О Р Т   І З   Я П О Н І 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19088" y="1920240"/>
            <a:ext cx="217627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554780"/>
                </a:solidFill>
                <a:latin typeface="Georgia"/>
              </a:rPr>
              <a:t>103 тис. $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19088" y="2414015"/>
            <a:ext cx="21762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CIF 2024, код 8211 92.
Нижче за рівень 2022 року.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15984" y="1554480"/>
            <a:ext cx="2615184" cy="1152144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015984" y="1554480"/>
            <a:ext cx="2615184" cy="25603"/>
          </a:xfrm>
          <a:prstGeom prst="rect">
            <a:avLst/>
          </a:prstGeom>
          <a:solidFill>
            <a:srgbClr val="A8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35440" y="1728216"/>
            <a:ext cx="217627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Я П О Н І Я   В   Р О З Д Р І Б 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35440" y="1920240"/>
            <a:ext cx="217627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A84A6B"/>
                </a:solidFill>
                <a:latin typeface="Georgia"/>
              </a:rPr>
              <a:t>16–19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35440" y="2414015"/>
            <a:ext cx="21762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млн грн на рік. Це 2 % ринку
в грошах і 0,15 % у штуках.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2798064"/>
            <a:ext cx="2615184" cy="1152144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2798064"/>
            <a:ext cx="2615184" cy="25603"/>
          </a:xfrm>
          <a:prstGeom prst="rect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86384" y="2971800"/>
            <a:ext cx="217627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П Е Р Е В І Р Е Н И Х   Б Р Е Н Д І В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6384" y="3163824"/>
            <a:ext cx="217627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B42E3A"/>
                </a:solidFill>
                <a:latin typeface="Georgia"/>
              </a:rPr>
              <a:t>56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86384" y="3657600"/>
            <a:ext cx="21762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у каталогах продавців.
Сумарно 759 позицій.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383280" y="2798064"/>
            <a:ext cx="2615184" cy="1152144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383280" y="2798064"/>
            <a:ext cx="2615184" cy="25603"/>
          </a:xfrm>
          <a:prstGeom prst="rect">
            <a:avLst/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02736" y="2971800"/>
            <a:ext cx="217627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Я П О Н Ц І   В   П Р О Ф .   О П Т І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02736" y="3163824"/>
            <a:ext cx="217627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3A7D5A"/>
                </a:solidFill>
                <a:latin typeface="Georgia"/>
              </a:rPr>
              <a:t>2 з 15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02736" y="3657600"/>
            <a:ext cx="21762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брендів у каталозі опту HoReCa.
523 ножі, японських — одиниці.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199632" y="2798064"/>
            <a:ext cx="2615184" cy="1152144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199632" y="2798064"/>
            <a:ext cx="2615184" cy="25603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19088" y="2971800"/>
            <a:ext cx="217627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М И Т О   Н А   Я П О Н І Ю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19088" y="3163824"/>
            <a:ext cx="217627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B88A3D"/>
                </a:solidFill>
                <a:latin typeface="Georgia"/>
              </a:rPr>
              <a:t>10 %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19088" y="3657600"/>
            <a:ext cx="21762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+20 % ПДВ. З ЄС — 0 % мита.
Структурний програш 10 пунктів.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015984" y="2798064"/>
            <a:ext cx="2615184" cy="1152144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015984" y="2798064"/>
            <a:ext cx="2615184" cy="25603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235440" y="2971800"/>
            <a:ext cx="217627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Ц І Н О В И Й   Р О З М А Х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235440" y="3163824"/>
            <a:ext cx="217627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1B253F"/>
                </a:solidFill>
                <a:latin typeface="Georgia"/>
              </a:rPr>
              <a:t>726–60 495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35440" y="3657600"/>
            <a:ext cx="21762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грн за один японський ніж.
Розрив у 83 рази.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66928" y="4169663"/>
            <a:ext cx="5413248" cy="1572768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66928" y="4169663"/>
            <a:ext cx="36576" cy="1572768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04672" y="432511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B88A3D"/>
                </a:solidFill>
                <a:latin typeface="Segoe UI"/>
              </a:rPr>
              <a:t>ЩО ЦЕ ОЗНАЧАЄ ДЛЯ РІШЕННЯ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04672" y="4553712"/>
            <a:ext cx="4937760" cy="1042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1B253F"/>
                </a:solidFill>
                <a:latin typeface="Segoe UI"/>
              </a:rPr>
              <a:t>1. Ринок кухонних ножів в Україні великий — але «японського» в ньому майже немає.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1B253F"/>
                </a:solidFill>
                <a:latin typeface="Segoe UI"/>
              </a:rPr>
              <a:t>2. Японське виробництво — це нішa на 16–19 млн грн, яка за три роки не виросла.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1B253F"/>
                </a:solidFill>
                <a:latin typeface="Segoe UI"/>
              </a:rPr>
              <a:t>3. Японія — 1,3 % митної бази категорії. Вивіска «японський ніж» до Японії не веде.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1B253F"/>
                </a:solidFill>
                <a:latin typeface="Segoe UI"/>
              </a:rPr>
              <a:t>4. Професійна кухня японські ножі не купує — і структурних причин для зміни немає.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1B253F"/>
                </a:solidFill>
                <a:latin typeface="Segoe UI"/>
              </a:rPr>
              <a:t>5. Жоден японський бренд не має в країні ані дистриб'ютора, ані глибини лінійки.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217920" y="4169663"/>
            <a:ext cx="5413248" cy="1572768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217920" y="4169663"/>
            <a:ext cx="36576" cy="1572768"/>
          </a:xfrm>
          <a:prstGeom prst="rect">
            <a:avLst/>
          </a:prstGeom>
          <a:solidFill>
            <a:srgbClr val="9AA2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55664" y="432511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9AA2B4"/>
                </a:solidFill>
                <a:latin typeface="Segoe UI"/>
              </a:rPr>
              <a:t>ЧОГО В ЦІЙ КОЛОДІ НЕМАЄ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455664" y="4553712"/>
            <a:ext cx="4937760" cy="1042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1B253F"/>
                </a:solidFill>
                <a:latin typeface="Segoe UI"/>
              </a:rPr>
              <a:t>1. Немає даних продажів: в Україні для цієї категорії немає панелі Nielsen/GfK.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1B253F"/>
                </a:solidFill>
                <a:latin typeface="Segoe UI"/>
              </a:rPr>
              <a:t>2. Немає митної статистики за 2025 рік — вона ще не опублікована в Comtrade.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1B253F"/>
                </a:solidFill>
                <a:latin typeface="Segoe UI"/>
              </a:rPr>
              <a:t>3. Немає оптових цін: їх не отримати без акаунта постачальника.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1B253F"/>
                </a:solidFill>
                <a:latin typeface="Segoe UI"/>
              </a:rPr>
              <a:t>4. Немає точної частки кухонних ножів у коді 8211 92 — це припущення 55–70 %.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1B253F"/>
                </a:solidFill>
                <a:latin typeface="Segoe UI"/>
              </a:rPr>
              <a:t>5. Немає прямої оцінки сірого імпорту до 150 € — він для митниці невидимий.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66928" y="5925312"/>
            <a:ext cx="11064240" cy="210312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13232" y="5966460"/>
            <a:ext cx="60853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Segoe UI"/>
              </a:rPr>
              <a:t>ГОЛОВНЕ ПРО КАНДИДАТА У ПОСТАЧАЛЬНИКИ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66928" y="6199632"/>
            <a:ext cx="2724912" cy="475488"/>
          </a:xfrm>
          <a:prstGeom prst="roundRect">
            <a:avLst>
              <a:gd name="adj" fmla="val 8000"/>
            </a:avLst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66928" y="6199632"/>
            <a:ext cx="36576" cy="475488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49808" y="6254496"/>
            <a:ext cx="731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966E28"/>
                </a:solidFill>
                <a:latin typeface="Segoe UI"/>
              </a:rPr>
              <a:t>19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499616" y="6291072"/>
            <a:ext cx="168249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680" b="0">
                <a:solidFill>
                  <a:srgbClr val="1B253F"/>
                </a:solidFill>
                <a:latin typeface="Segoe UI"/>
              </a:rPr>
              <a:t>позицій Sakai Takayuki знайдено в усій країні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3383280" y="6199632"/>
            <a:ext cx="2724912" cy="475488"/>
          </a:xfrm>
          <a:prstGeom prst="roundRect">
            <a:avLst>
              <a:gd name="adj" fmla="val 8000"/>
            </a:avLst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3383280" y="6199632"/>
            <a:ext cx="36576" cy="475488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566160" y="6254496"/>
            <a:ext cx="731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2A7F86"/>
                </a:solidFill>
                <a:latin typeface="Segoe UI"/>
              </a:rPr>
              <a:t>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315968" y="6291072"/>
            <a:ext cx="168249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680" b="0">
                <a:solidFill>
                  <a:srgbClr val="1B253F"/>
                </a:solidFill>
                <a:latin typeface="Segoe UI"/>
              </a:rPr>
              <a:t>із них реально на складі — обидві янагіба 24 см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199632" y="6199632"/>
            <a:ext cx="2724912" cy="475488"/>
          </a:xfrm>
          <a:prstGeom prst="roundRect">
            <a:avLst>
              <a:gd name="adj" fmla="val 8000"/>
            </a:avLst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199632" y="6199632"/>
            <a:ext cx="36576" cy="475488"/>
          </a:xfrm>
          <a:prstGeom prst="rect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382512" y="6254496"/>
            <a:ext cx="731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B42E3A"/>
                </a:solidFill>
                <a:latin typeface="Segoe UI"/>
              </a:rP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132320" y="6291072"/>
            <a:ext cx="168249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680" b="0">
                <a:solidFill>
                  <a:srgbClr val="1B253F"/>
                </a:solidFill>
                <a:latin typeface="Segoe UI"/>
              </a:rPr>
              <a:t>дистриб'юторів, монобрендів і позицій в опті HoReCa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9015984" y="6199632"/>
            <a:ext cx="2724912" cy="475488"/>
          </a:xfrm>
          <a:prstGeom prst="roundRect">
            <a:avLst>
              <a:gd name="adj" fmla="val 8000"/>
            </a:avLst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9015984" y="6199632"/>
            <a:ext cx="36576" cy="475488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198863" y="6254496"/>
            <a:ext cx="731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554780"/>
                </a:solidFill>
                <a:latin typeface="Segoe UI"/>
              </a:rPr>
              <a:t>105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948672" y="6291072"/>
            <a:ext cx="168249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680" b="0">
                <a:solidFill>
                  <a:srgbClr val="1B253F"/>
                </a:solidFill>
                <a:latin typeface="Segoe UI"/>
              </a:rPr>
              <a:t>позицій каталогу вже стоять у його ціновій зоні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Щ О   Б У В А Є   ·   1   ·   Г Е О М Е Т Р І Я   Л Е З 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Georgia"/>
              </a:rPr>
              <a:t>Вісім типів леза, з яких ринок купує три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Профілі накреслені в один масштаб за реальними довжинами клинка. Рукав'я умовне: чорне клепане — західне (yo), дерев'яне — японське (wa).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1536192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B88A3D"/>
                </a:solidFill>
                <a:latin typeface="Segoe UI"/>
              </a:rPr>
              <a:t>ПРОФІЛІ КЛИНКА В ЄДИНОМУ МАСШТАБІ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3776" y="1746504"/>
            <a:ext cx="5779008" cy="612647"/>
          </a:xfrm>
          <a:prstGeom prst="roundRect">
            <a:avLst>
              <a:gd name="adj" fmla="val 12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1819656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966E28"/>
                </a:solidFill>
                <a:latin typeface="Segoe UI"/>
              </a:rPr>
              <a:t>Гюто / шеф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1984248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0">
                <a:solidFill>
                  <a:srgbClr val="6B7282"/>
                </a:solidFill>
                <a:latin typeface="Segoe UI"/>
              </a:rPr>
              <a:t>180–240 мм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2148840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0">
                <a:solidFill>
                  <a:srgbClr val="1B253F"/>
                </a:solidFill>
                <a:latin typeface="Segoe UI"/>
              </a:rPr>
              <a:t>Робочий ніж кухні</a:t>
            </a:r>
          </a:p>
        </p:txBody>
      </p:sp>
      <p:pic>
        <p:nvPicPr>
          <p:cNvPr id="19" name="Picture 18" descr="gyu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7632" y="1778507"/>
            <a:ext cx="2740152" cy="58521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66928" y="2468879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B88A3D"/>
                </a:solidFill>
                <a:latin typeface="Segoe UI"/>
              </a:rPr>
              <a:t>Сантоку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2633472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0">
                <a:solidFill>
                  <a:srgbClr val="6B7282"/>
                </a:solidFill>
                <a:latin typeface="Segoe UI"/>
              </a:rPr>
              <a:t>165–180 мм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2798064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0">
                <a:solidFill>
                  <a:srgbClr val="1B253F"/>
                </a:solidFill>
                <a:latin typeface="Segoe UI"/>
              </a:rPr>
              <a:t>Універсал, драйвер обсягу</a:t>
            </a:r>
          </a:p>
        </p:txBody>
      </p:sp>
      <p:pic>
        <p:nvPicPr>
          <p:cNvPr id="23" name="Picture 22" descr="santok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7632" y="2435352"/>
            <a:ext cx="2423160" cy="569976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493776" y="3044952"/>
            <a:ext cx="5779008" cy="612647"/>
          </a:xfrm>
          <a:prstGeom prst="roundRect">
            <a:avLst>
              <a:gd name="adj" fmla="val 12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3118103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2A7F86"/>
                </a:solidFill>
                <a:latin typeface="Segoe UI"/>
              </a:rPr>
              <a:t>Накірі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3282696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0">
                <a:solidFill>
                  <a:srgbClr val="6B7282"/>
                </a:solidFill>
                <a:latin typeface="Segoe UI"/>
              </a:rPr>
              <a:t>165–180 мм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3447288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0">
                <a:solidFill>
                  <a:srgbClr val="1B253F"/>
                </a:solidFill>
                <a:latin typeface="Segoe UI"/>
              </a:rPr>
              <a:t>Овочі, шаткування</a:t>
            </a:r>
          </a:p>
        </p:txBody>
      </p:sp>
      <p:pic>
        <p:nvPicPr>
          <p:cNvPr id="28" name="Picture 27" descr="nakiri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7632" y="3069336"/>
            <a:ext cx="2383536" cy="600456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66928" y="3767328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2A7F86"/>
                </a:solidFill>
                <a:latin typeface="Segoe UI"/>
              </a:rPr>
              <a:t>Кіріцуке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3931920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0">
                <a:solidFill>
                  <a:srgbClr val="6B7282"/>
                </a:solidFill>
                <a:latin typeface="Segoe UI"/>
              </a:rPr>
              <a:t>180–240 мм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4096512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0">
                <a:solidFill>
                  <a:srgbClr val="1B253F"/>
                </a:solidFill>
                <a:latin typeface="Segoe UI"/>
              </a:rPr>
              <a:t>Гібрид, статусний</a:t>
            </a:r>
          </a:p>
        </p:txBody>
      </p:sp>
      <p:pic>
        <p:nvPicPr>
          <p:cNvPr id="32" name="Picture 31" descr="kiritsuk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7632" y="3733800"/>
            <a:ext cx="2740152" cy="569976"/>
          </a:xfrm>
          <a:prstGeom prst="rect">
            <a:avLst/>
          </a:prstGeom>
        </p:spPr>
      </p:pic>
      <p:sp>
        <p:nvSpPr>
          <p:cNvPr id="33" name="Rounded Rectangle 32"/>
          <p:cNvSpPr/>
          <p:nvPr/>
        </p:nvSpPr>
        <p:spPr>
          <a:xfrm>
            <a:off x="493776" y="4343400"/>
            <a:ext cx="5779008" cy="612647"/>
          </a:xfrm>
          <a:prstGeom prst="roundRect">
            <a:avLst>
              <a:gd name="adj" fmla="val 12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4416552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554780"/>
                </a:solidFill>
                <a:latin typeface="Segoe UI"/>
              </a:rPr>
              <a:t>Янагіба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4581144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0">
                <a:solidFill>
                  <a:srgbClr val="6B7282"/>
                </a:solidFill>
                <a:latin typeface="Segoe UI"/>
              </a:rPr>
              <a:t>210–300 мм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4745736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0">
                <a:solidFill>
                  <a:srgbClr val="1B253F"/>
                </a:solidFill>
                <a:latin typeface="Segoe UI"/>
              </a:rPr>
              <a:t>Сашимі, одностороннє</a:t>
            </a:r>
          </a:p>
        </p:txBody>
      </p:sp>
      <p:pic>
        <p:nvPicPr>
          <p:cNvPr id="37" name="Picture 36" descr="yanagib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27632" y="4439412"/>
            <a:ext cx="3215640" cy="4572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566928" y="5065776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554780"/>
                </a:solidFill>
                <a:latin typeface="Segoe UI"/>
              </a:rPr>
              <a:t>Деба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6928" y="5230368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0">
                <a:solidFill>
                  <a:srgbClr val="6B7282"/>
                </a:solidFill>
                <a:latin typeface="Segoe UI"/>
              </a:rPr>
              <a:t>150–180 мм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5394960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0">
                <a:solidFill>
                  <a:srgbClr val="1B253F"/>
                </a:solidFill>
                <a:latin typeface="Segoe UI"/>
              </a:rPr>
              <a:t>Розбирання риби</a:t>
            </a:r>
          </a:p>
        </p:txBody>
      </p:sp>
      <p:pic>
        <p:nvPicPr>
          <p:cNvPr id="41" name="Picture 40" descr="deb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627632" y="5024628"/>
            <a:ext cx="2383536" cy="585216"/>
          </a:xfrm>
          <a:prstGeom prst="rect">
            <a:avLst/>
          </a:prstGeom>
        </p:spPr>
      </p:pic>
      <p:sp>
        <p:nvSpPr>
          <p:cNvPr id="42" name="Rounded Rectangle 41"/>
          <p:cNvSpPr/>
          <p:nvPr/>
        </p:nvSpPr>
        <p:spPr>
          <a:xfrm>
            <a:off x="493776" y="5641848"/>
            <a:ext cx="5779008" cy="612647"/>
          </a:xfrm>
          <a:prstGeom prst="roundRect">
            <a:avLst>
              <a:gd name="adj" fmla="val 12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5715000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6B7282"/>
                </a:solidFill>
                <a:latin typeface="Segoe UI"/>
              </a:rPr>
              <a:t>Петті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5879592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0">
                <a:solidFill>
                  <a:srgbClr val="6B7282"/>
                </a:solidFill>
                <a:latin typeface="Segoe UI"/>
              </a:rPr>
              <a:t>90–150 мм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928" y="6044184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0">
                <a:solidFill>
                  <a:srgbClr val="1B253F"/>
                </a:solidFill>
                <a:latin typeface="Segoe UI"/>
              </a:rPr>
              <a:t>Дрібна робота</a:t>
            </a:r>
          </a:p>
        </p:txBody>
      </p:sp>
      <p:pic>
        <p:nvPicPr>
          <p:cNvPr id="46" name="Picture 45" descr="petty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27632" y="5760720"/>
            <a:ext cx="2026920" cy="41148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6419088" y="1536192"/>
            <a:ext cx="12070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ТИП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626096" y="1536192"/>
            <a:ext cx="11704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ЦІНА, ГРН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796528" y="1536192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ДЕ ПРОДАЄТЬСЯ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149840" y="1536192"/>
            <a:ext cx="14813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РОЛЬ У КАТЕГОРІЇ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345936" y="1714500"/>
            <a:ext cx="5285232" cy="224028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19088" y="1755648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B88A3D"/>
                </a:solidFill>
                <a:latin typeface="Segoe UI"/>
              </a:rPr>
              <a:t>Сантоку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626096" y="1755648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51A26"/>
                </a:solidFill>
                <a:latin typeface="Segoe UI"/>
              </a:rPr>
              <a:t>175 – 12 000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796528" y="1755648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Усюди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149840" y="1755648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Драйвер обсягу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19088" y="2029967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966E28"/>
                </a:solidFill>
                <a:latin typeface="Segoe UI"/>
              </a:rPr>
              <a:t>Гюто / шеф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626096" y="2029967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51A26"/>
                </a:solidFill>
                <a:latin typeface="Segoe UI"/>
              </a:rPr>
              <a:t>500 – 27 970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796528" y="2029967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Усюди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149840" y="2029967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Драйвер ціни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345936" y="2263139"/>
            <a:ext cx="5285232" cy="224028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419088" y="2304287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2A7F86"/>
                </a:solidFill>
                <a:latin typeface="Segoe UI"/>
              </a:rPr>
              <a:t>Петті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26096" y="2304287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51A26"/>
                </a:solidFill>
                <a:latin typeface="Segoe UI"/>
              </a:rPr>
              <a:t>175 – 5 000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796528" y="2304287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Усюди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149840" y="2304287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Часта купівля, малий чек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419088" y="2578607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2A7F86"/>
                </a:solidFill>
                <a:latin typeface="Segoe UI"/>
              </a:rPr>
              <a:t>Накірі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626096" y="2578607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51A26"/>
                </a:solidFill>
                <a:latin typeface="Segoe UI"/>
              </a:rPr>
              <a:t>1 249 – 13 290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796528" y="2578607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Спеціаліст, Епіцентр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149840" y="2578607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Зростає вдома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6345936" y="2811779"/>
            <a:ext cx="5285232" cy="224028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419088" y="2852927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554780"/>
                </a:solidFill>
                <a:latin typeface="Segoe UI"/>
              </a:rPr>
              <a:t>Янагіба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626096" y="2852927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51A26"/>
                </a:solidFill>
                <a:latin typeface="Segoe UI"/>
              </a:rPr>
              <a:t>1 107 – 13 971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796528" y="2852927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Суші-спеціалізація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149840" y="2852927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Вузький HoReCa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419088" y="3127247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554780"/>
                </a:solidFill>
                <a:latin typeface="Segoe UI"/>
              </a:rPr>
              <a:t>Деба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626096" y="3127247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51A26"/>
                </a:solidFill>
                <a:latin typeface="Segoe UI"/>
              </a:rPr>
              <a:t>1 470 – 9 000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796528" y="3127247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Суші-спеціалізація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149840" y="3127247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Вузький HoReCa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345936" y="3360419"/>
            <a:ext cx="5285232" cy="224028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419088" y="3401567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9AA2B4"/>
                </a:solidFill>
                <a:latin typeface="Segoe UI"/>
              </a:rPr>
              <a:t>Кіріцуке, бунка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626096" y="3401567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51A26"/>
                </a:solidFill>
                <a:latin typeface="Segoe UI"/>
              </a:rPr>
              <a:t>3 000 – 20 000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796528" y="3401567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Тільки спеціаліст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149840" y="3401567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Довгий хвіст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419088" y="3675887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A84A6B"/>
                </a:solidFill>
                <a:latin typeface="Segoe UI"/>
              </a:rPr>
              <a:t>Набори 2–5 шт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626096" y="3675887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51A26"/>
                </a:solidFill>
                <a:latin typeface="Segoe UI"/>
              </a:rPr>
              <a:t>2 500 – 27 970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796528" y="3675887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Усюди, пік у грудні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149840" y="3675887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26 % митної бази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419088" y="4041648"/>
            <a:ext cx="1645920" cy="1408176"/>
          </a:xfrm>
          <a:prstGeom prst="roundRect">
            <a:avLst>
              <a:gd name="adj" fmla="val 8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8" name="Picture 87" descr="p_4d367364e4ca0e96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92240" y="4114800"/>
            <a:ext cx="1499616" cy="932688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6565392" y="5120640"/>
            <a:ext cx="13533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2A7F86"/>
                </a:solidFill>
                <a:latin typeface="Segoe UI"/>
              </a:rPr>
              <a:t>Накірі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565392" y="5285232"/>
            <a:ext cx="13533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Росте вдома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8174736" y="4041648"/>
            <a:ext cx="1645920" cy="1408176"/>
          </a:xfrm>
          <a:prstGeom prst="roundRect">
            <a:avLst>
              <a:gd name="adj" fmla="val 8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2" name="Picture 91" descr="p_d55507e899775b1f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47888" y="4114800"/>
            <a:ext cx="1499616" cy="932688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8321040" y="5120640"/>
            <a:ext cx="13533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54780"/>
                </a:solidFill>
                <a:latin typeface="Segoe UI"/>
              </a:rPr>
              <a:t>Янагіба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321040" y="5285232"/>
            <a:ext cx="13533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500–900 шт/рік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9930384" y="4041648"/>
            <a:ext cx="1645920" cy="1408176"/>
          </a:xfrm>
          <a:prstGeom prst="roundRect">
            <a:avLst>
              <a:gd name="adj" fmla="val 8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6" name="Picture 95" descr="p_a5500e2d77c6055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003536" y="4114800"/>
            <a:ext cx="1499616" cy="932688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10076688" y="5120640"/>
            <a:ext cx="13533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A84A6B"/>
                </a:solidFill>
                <a:latin typeface="Segoe UI"/>
              </a:rPr>
              <a:t>Набір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076688" y="5285232"/>
            <a:ext cx="13533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26 % митної бази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6419088" y="5541264"/>
            <a:ext cx="5212080" cy="991971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6419088" y="5541264"/>
            <a:ext cx="36576" cy="991971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656831" y="5696712"/>
            <a:ext cx="47365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B88A3D"/>
                </a:solidFill>
                <a:latin typeface="Segoe UI"/>
              </a:rPr>
              <a:t>ЩО КУПУЮТЬ НАСПРАВДІ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656831" y="5925312"/>
            <a:ext cx="4736592" cy="4616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Сантоку в Україні перестав бути японським ножем і став формою леза: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74 позиції каталогу — сантоку, петті й накірі. Покупець купує геометрію,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походження він не перевіряє.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03504" y="6528816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Профілі — схематичні креслення за типовими пропорціями, а не зображення конкретних моделей. Фото — картки товарів українських магазинів, вересень 2026.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Щ О   Б У В А Є   ·   2   ·   С Т А Л Ь   І   Р Е Г І О 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Georgia"/>
              </a:rPr>
              <a:t>Ціну визначає сталь, а можливість закупівлі — регіон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04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Дві осі, на яких тримається вся категорія. Марка сталі задає ціновий щабель; регіон кузні задає, чи взагалі можлива серійна поставка.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1536192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B88A3D"/>
                </a:solidFill>
                <a:latin typeface="Segoe UI"/>
              </a:rPr>
              <a:t>ВІСЬ 1 · СТАЛЬ І КОНСТРУКЦІЯ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1773936"/>
            <a:ext cx="2148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КОНСТРУКЦІЯ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15768" y="1773936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СТАЛЬ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78808" y="1773936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HRC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18888" y="1773936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РОЗДРІБ, ГРН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6208" y="1773936"/>
            <a:ext cx="5349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ХТО ТУТ СТОЇТЬ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93776" y="1952244"/>
            <a:ext cx="11210544" cy="239572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1993392"/>
            <a:ext cx="2093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Мо-ванадієва моносталь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15768" y="1993392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AUS-6A, AUS-8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78808" y="1993392"/>
            <a:ext cx="5852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56–58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1993392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700 – 2 500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36208" y="1993392"/>
            <a:ext cx="5294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Satake Saku, Seki Kanetsugu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2242108"/>
            <a:ext cx="2093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2A7F86"/>
                </a:solidFill>
                <a:latin typeface="Segoe UI"/>
              </a:rPr>
              <a:t>VG-10 моно або 3 шари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15768" y="2242108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VG-10 core, clad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78808" y="2242108"/>
            <a:ext cx="5852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60–61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18888" y="2242108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2 500 – 6 000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36208" y="2242108"/>
            <a:ext cx="5294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Tojiro DP, KAI Wasabi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93776" y="2449677"/>
            <a:ext cx="11210544" cy="239572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2490825"/>
            <a:ext cx="2093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54780"/>
                </a:solidFill>
                <a:latin typeface="Segoe UI"/>
              </a:rPr>
              <a:t>VG-10 + дамаск 32–69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15768" y="2490825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damascus clad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78808" y="2490825"/>
            <a:ext cx="5852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60–61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18888" y="2490825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5 000 – 12 000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36208" y="2490825"/>
            <a:ext cx="5294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Kasumi, Yaxell Ran, KAI Shun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2739542"/>
            <a:ext cx="2093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A84A6B"/>
                </a:solidFill>
                <a:latin typeface="Segoe UI"/>
              </a:rPr>
              <a:t>Порошкова SG-2 / R2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15768" y="2739542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101–193 шари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78808" y="2739542"/>
            <a:ext cx="5852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62–64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18888" y="2739542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12 000 – 43 020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36208" y="2739542"/>
            <a:ext cx="5294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Yaxell Super Gou, Miyabi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93776" y="2947111"/>
            <a:ext cx="11210544" cy="239572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2988259"/>
            <a:ext cx="2093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B42E3A"/>
                </a:solidFill>
                <a:latin typeface="Segoe UI"/>
              </a:rPr>
              <a:t>Вуглецева Сіроґамі / Аоґамі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15768" y="2988259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одностороннє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78808" y="2988259"/>
            <a:ext cx="5852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62–65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18888" y="2988259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3 000 – 25 000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36208" y="2988259"/>
            <a:ext cx="5294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Tosa, HONMAMON, Sakai Takayuki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3236976"/>
            <a:ext cx="2093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B42E3A"/>
                </a:solidFill>
                <a:latin typeface="Segoe UI"/>
              </a:rPr>
              <a:t>Honyaki, Ginsan моносталь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15768" y="323697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суцільне гартування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178808" y="3236976"/>
            <a:ext cx="5852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63–65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818888" y="3236976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35 000 – 70 000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236208" y="3236976"/>
            <a:ext cx="5294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У країні немає жодної позиції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6928" y="3639312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B88A3D"/>
                </a:solidFill>
                <a:latin typeface="Segoe UI"/>
              </a:rPr>
              <a:t>ВІСЬ 2 · РЕГІОН ВИРОБНИЦТВА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6928" y="3877056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РЕГІОН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984248" y="3877056"/>
            <a:ext cx="374903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ЩО ЦЕ ЗА ВИРОБНИЦТВО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733288" y="3877056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БРЕНДІВ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64807" y="3877056"/>
            <a:ext cx="1691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ЦІНИ, ГРН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156448" y="3877056"/>
            <a:ext cx="3474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ЧИ МОЖЛИВА СЕРІЙНА ПОСТАВКА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93776" y="4055364"/>
            <a:ext cx="11210544" cy="239572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66928" y="4096512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Секі, Гіфу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984248" y="4096512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6B7282"/>
                </a:solidFill>
                <a:latin typeface="Segoe UI"/>
              </a:rPr>
              <a:t>Промисловий центр. Серійне виробництво, західні руків'я, стабільна якість.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733288" y="4096512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10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464807" y="4096512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726 – 70 102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156448" y="4096512"/>
            <a:ext cx="3419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3A7D5A"/>
                </a:solidFill>
                <a:latin typeface="Segoe UI"/>
              </a:rPr>
              <a:t>Так — заводи, контейнерні партії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66928" y="4345228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54780"/>
                </a:solidFill>
                <a:latin typeface="Segoe UI"/>
              </a:rPr>
              <a:t>Сакаї, Осака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984248" y="4345228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6B7282"/>
                </a:solidFill>
                <a:latin typeface="Segoe UI"/>
              </a:rPr>
              <a:t>600+ років. Розподіл праці: коваль, точильник, монтажник. Односторонні ножі.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733288" y="4345228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54780"/>
                </a:solidFill>
                <a:latin typeface="Segoe UI"/>
              </a:rPr>
              <a:t>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464807" y="4345228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1 999 – 15 580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156448" y="4345228"/>
            <a:ext cx="3419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B88A3D"/>
                </a:solidFill>
                <a:latin typeface="Segoe UI"/>
              </a:rPr>
              <a:t>Частково — великі майстерні з експортом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493776" y="4552797"/>
            <a:ext cx="11210544" cy="239572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66928" y="4593945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A84A6B"/>
                </a:solidFill>
                <a:latin typeface="Segoe UI"/>
              </a:rPr>
              <a:t>Ечідзен, Фукуї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984248" y="4593945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6B7282"/>
                </a:solidFill>
                <a:latin typeface="Segoe UI"/>
              </a:rPr>
              <a:t>700 років. Takefu Knife Village. Піонери порошкових сталей.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4593945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A84A6B"/>
                </a:solidFill>
                <a:latin typeface="Segoe UI"/>
              </a:rPr>
              <a:t>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464807" y="4593945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5 320 – 16 677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156448" y="4593945"/>
            <a:ext cx="3419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B42E3A"/>
                </a:solidFill>
                <a:latin typeface="Segoe UI"/>
              </a:rPr>
              <a:t>Ні — ручна кузня, поштучно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66928" y="4842662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2A7F86"/>
                </a:solidFill>
                <a:latin typeface="Segoe UI"/>
              </a:rPr>
              <a:t>Тоса, Коті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984248" y="4842662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6B7282"/>
                </a:solidFill>
                <a:latin typeface="Segoe UI"/>
              </a:rPr>
              <a:t>400+ років. Вільна ковка: один коваль веде ніж від заготовки до кромки.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733288" y="4842662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2A7F86"/>
                </a:solidFill>
                <a:latin typeface="Segoe UI"/>
              </a:rP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464807" y="4842662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2 610 – 10 035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156448" y="4842662"/>
            <a:ext cx="3419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B42E3A"/>
                </a:solidFill>
                <a:latin typeface="Segoe UI"/>
              </a:rPr>
              <a:t>Ні — ручна кузня, поштучно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493776" y="5050231"/>
            <a:ext cx="11210544" cy="239572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66928" y="5091379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A7D5A"/>
                </a:solidFill>
                <a:latin typeface="Segoe UI"/>
              </a:rPr>
              <a:t>Цубаме-Сандзьо, Ніїґата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984248" y="5091379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6B7282"/>
                </a:solidFill>
                <a:latin typeface="Segoe UI"/>
              </a:rPr>
              <a:t>700 років, Ніїґата. Ковальські майстерні та інструмент.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5091379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A7D5A"/>
                </a:solidFill>
                <a:latin typeface="Segoe UI"/>
              </a:rPr>
              <a:t>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464807" y="5091379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9 900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156448" y="5091379"/>
            <a:ext cx="3419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B42E3A"/>
                </a:solidFill>
                <a:latin typeface="Segoe UI"/>
              </a:rPr>
              <a:t>Ні — ручна кузня, поштучно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66928" y="5340096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B42E3A"/>
                </a:solidFill>
                <a:latin typeface="Segoe UI"/>
              </a:rPr>
              <a:t>Хіросакі, Аоморі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984248" y="5340096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6B7282"/>
                </a:solidFill>
                <a:latin typeface="Segoe UI"/>
              </a:rPr>
              <a:t>Nigara Hamono: 350 років, ковалі клану Цуґару, 8 поколінь.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733288" y="5340096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B42E3A"/>
                </a:solidFill>
                <a:latin typeface="Segoe UI"/>
              </a:rPr>
              <a:t>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464807" y="5340096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14 800 – 16 740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156448" y="5340096"/>
            <a:ext cx="3419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B42E3A"/>
                </a:solidFill>
                <a:latin typeface="Segoe UI"/>
              </a:rPr>
              <a:t>Ні — ручна кузня, поштучно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566928" y="5632704"/>
            <a:ext cx="5413248" cy="851712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566928" y="5632704"/>
            <a:ext cx="36576" cy="851712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804672" y="578815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B88A3D"/>
                </a:solidFill>
                <a:latin typeface="Segoe UI"/>
              </a:rPr>
              <a:t>ЧОМУ ЦЕ ВИРІШАЛЬНО ДЛЯ ЗАКУПІВЛІ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04672" y="6016752"/>
            <a:ext cx="4937760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Секі продасть контейнер. Сакаї — партію. Тоса, Ечідзен, Сандзьо й Аоморі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кують поштучно: це вітрина для репутації, а не канал постачання.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6217920" y="5632704"/>
            <a:ext cx="5413248" cy="851712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6217920" y="5632704"/>
            <a:ext cx="36576" cy="851712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455664" y="578815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2A7F86"/>
                </a:solidFill>
                <a:latin typeface="Segoe UI"/>
              </a:rPr>
              <a:t>ДЕ В ЦЬОМУ SAKAI TAKAYUKI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455664" y="6016752"/>
            <a:ext cx="4937760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Сакаї, Осака. Велика майстерня з експортом у 100+ країн — тобто другий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за масштабованістю регіон після Секі, і єдиний із традицією ручної кузні.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03504" y="6565392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HRC — твердість клинка за Роквеллом. Ціни — спостережений роздріб в Україні, жовтень 2026. «Серійна поставка» — оцінка на основі структури виробництва регіону, не підтверджена переговорами з виробниками.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О Б С Я Г   Р О Б О Т И   І   Р О З М І Р   Р И Н К 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50" b="1">
                <a:solidFill>
                  <a:srgbClr val="FFFFFF"/>
                </a:solidFill>
                <a:latin typeface="Georgia"/>
              </a:rPr>
              <a:t>Рахуємо тільки Японію: 16–19 млн грн із 9,02 млн $ категорії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05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Під вивіскою «японський ніж» в Україні продають три різні товари. Ця колода рахує лише перший — вироблений у Японії.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66928" y="1517904"/>
            <a:ext cx="6638544" cy="2304288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1517904"/>
            <a:ext cx="6638544" cy="54864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68096" y="1700784"/>
            <a:ext cx="310896" cy="2377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8096" y="1760220"/>
            <a:ext cx="31089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FFFFFF"/>
                </a:solidFill>
                <a:latin typeface="Segoe UI"/>
              </a:rPr>
              <a:t>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1737360"/>
            <a:ext cx="4023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151A26"/>
                </a:solidFill>
                <a:latin typeface="Segoe UI"/>
              </a:rPr>
              <a:t>ЗРОБЛЕНО В ЯПОНІЇ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0" y="1719072"/>
            <a:ext cx="1536192" cy="219456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0" y="1769363"/>
            <a:ext cx="15361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FFFFFF"/>
                </a:solidFill>
                <a:latin typeface="Segoe UI"/>
              </a:rPr>
              <a:t>ПРЕДМЕТ КОЛОДИ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" y="2103120"/>
            <a:ext cx="1554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6B7282"/>
                </a:solidFill>
                <a:latin typeface="Segoe UI"/>
              </a:rPr>
              <a:t>РОЗДРІБ НА РІК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" y="2249424"/>
            <a:ext cx="1554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2A7F86"/>
                </a:solidFill>
                <a:latin typeface="Segoe UI"/>
              </a:rPr>
              <a:t>16–19 млн грн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95728" y="2103120"/>
            <a:ext cx="1554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6B7282"/>
                </a:solidFill>
                <a:latin typeface="Segoe UI"/>
              </a:rPr>
              <a:t>ШТУК НА РІК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95728" y="2249424"/>
            <a:ext cx="1554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554780"/>
                </a:solidFill>
                <a:latin typeface="Segoe UI"/>
              </a:rPr>
              <a:t>≈ 3 700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23360" y="2103120"/>
            <a:ext cx="1554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6B7282"/>
                </a:solidFill>
                <a:latin typeface="Segoe UI"/>
              </a:rPr>
              <a:t>ЧАСТКА РИНКУ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23360" y="2249424"/>
            <a:ext cx="1554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966E28"/>
                </a:solidFill>
                <a:latin typeface="Segoe UI"/>
              </a:rPr>
              <a:t>2 % у грошах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50992" y="2103120"/>
            <a:ext cx="1554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6B7282"/>
                </a:solidFill>
                <a:latin typeface="Segoe UI"/>
              </a:rPr>
              <a:t>БРЕНДІВ У КРАЇНІ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50992" y="2249424"/>
            <a:ext cx="1554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A84A6B"/>
                </a:solidFill>
                <a:latin typeface="Segoe UI"/>
              </a:rPr>
              <a:t>56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68096" y="2615184"/>
            <a:ext cx="6236208" cy="13716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8096" y="2724912"/>
            <a:ext cx="6236208" cy="987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760" b="0">
                <a:solidFill>
                  <a:srgbClr val="1B253F"/>
                </a:solidFill>
                <a:latin typeface="Segoe UI"/>
              </a:rPr>
              <a:t>Критерій: країна виробництва — Японія, підтверджена митним кодом або карткою товару продавця.</a:t>
            </a:r>
          </a:p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760" b="0">
                <a:solidFill>
                  <a:srgbClr val="1B253F"/>
                </a:solidFill>
                <a:latin typeface="Segoe UI"/>
              </a:rPr>
              <a:t>KAI / Shun, Yaxell, Suncraft, Tojiro, Satake, Kasumi, Miyabi, Seki Kanetsugu, Tosa, Takamura,</a:t>
            </a:r>
          </a:p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760" b="0">
                <a:solidFill>
                  <a:srgbClr val="1B253F"/>
                </a:solidFill>
                <a:latin typeface="Segoe UI"/>
              </a:rPr>
              <a:t>Mcusta Zanmai, Sakai Takayuki, Takeshi Saji, Tamahagane і ще 42 марки — усі в переписі далі.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443216" y="1517904"/>
            <a:ext cx="4187952" cy="1097280"/>
          </a:xfrm>
          <a:prstGeom prst="roundRect">
            <a:avLst>
              <a:gd name="adj" fmla="val 10000"/>
            </a:avLst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443216" y="1517904"/>
            <a:ext cx="4187952" cy="45720"/>
          </a:xfrm>
          <a:prstGeom prst="rect">
            <a:avLst/>
          </a:prstGeom>
          <a:solidFill>
            <a:srgbClr val="9AA2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7626096" y="1664207"/>
            <a:ext cx="274320" cy="201168"/>
          </a:xfrm>
          <a:prstGeom prst="roundRect">
            <a:avLst>
              <a:gd name="adj" fmla="val 35000"/>
            </a:avLst>
          </a:prstGeom>
          <a:solidFill>
            <a:srgbClr val="9AA2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626096" y="1705355"/>
            <a:ext cx="274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FFFFFF"/>
                </a:solidFill>
                <a:latin typeface="Segoe UI"/>
              </a:rPr>
              <a:t>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73568" y="1664207"/>
            <a:ext cx="3566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720" b="1">
                <a:solidFill>
                  <a:srgbClr val="6B7282"/>
                </a:solidFill>
                <a:latin typeface="Segoe UI"/>
              </a:rPr>
              <a:t>ЯПОНСЬКИЙ БРЕНД, АЗІЙСЬКИЙ ЗАВОД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26096" y="1956815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9AA2B4"/>
                </a:solidFill>
                <a:latin typeface="Segoe UI"/>
              </a:rPr>
              <a:t>150–230 млн грн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076688" y="1993391"/>
            <a:ext cx="1371600" cy="201168"/>
          </a:xfrm>
          <a:prstGeom prst="roundRect">
            <a:avLst>
              <a:gd name="adj" fmla="val 35000"/>
            </a:avLst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76688" y="2034540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Segoe UI"/>
              </a:rPr>
              <a:t>ПОЗА ОБСЯГОМ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26096" y="2249424"/>
            <a:ext cx="38221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Назва японська, виробництво — ні. Видалено з усіх цифр колоди.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443216" y="2724912"/>
            <a:ext cx="4187952" cy="1097280"/>
          </a:xfrm>
          <a:prstGeom prst="roundRect">
            <a:avLst>
              <a:gd name="adj" fmla="val 10000"/>
            </a:avLst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443216" y="2724912"/>
            <a:ext cx="4187952" cy="45720"/>
          </a:xfrm>
          <a:prstGeom prst="rect">
            <a:avLst/>
          </a:prstGeom>
          <a:solidFill>
            <a:srgbClr val="9AA2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7626096" y="2871216"/>
            <a:ext cx="274320" cy="201168"/>
          </a:xfrm>
          <a:prstGeom prst="roundRect">
            <a:avLst>
              <a:gd name="adj" fmla="val 35000"/>
            </a:avLst>
          </a:prstGeom>
          <a:solidFill>
            <a:srgbClr val="9AA2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26096" y="2912364"/>
            <a:ext cx="274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FFFFFF"/>
                </a:solidFill>
                <a:latin typeface="Segoe UI"/>
              </a:rPr>
              <a:t>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73568" y="2871216"/>
            <a:ext cx="3566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720" b="1">
                <a:solidFill>
                  <a:srgbClr val="6B7282"/>
                </a:solidFill>
                <a:latin typeface="Segoe UI"/>
              </a:rPr>
              <a:t>ЯПОНСЬКА ФОРМА БУДЬ-ЯКОГО ПОХОДЖЕННЯ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626096" y="3163824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9AA2B4"/>
                </a:solidFill>
                <a:latin typeface="Segoe UI"/>
              </a:rPr>
              <a:t>140–260 млн грн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076688" y="3200400"/>
            <a:ext cx="1371600" cy="201168"/>
          </a:xfrm>
          <a:prstGeom prst="roundRect">
            <a:avLst>
              <a:gd name="adj" fmla="val 35000"/>
            </a:avLst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076688" y="3241548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Segoe UI"/>
              </a:rPr>
              <a:t>ПОЗА ОБСЯГОМ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626096" y="3456432"/>
            <a:ext cx="38221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Сантоку європейських марок. Японського постачальника тут немає в принципі.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6928" y="3968496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B88A3D"/>
                </a:solidFill>
                <a:latin typeface="Segoe UI"/>
              </a:rPr>
              <a:t>МИТНА БАЗА КАТЕГОРІЇ, ІМПОРТ 2024, ТИС. $ CIF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" y="420624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КОД УКТЗЕД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121408" y="4206240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НАЗВА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315968" y="4206240"/>
            <a:ext cx="1234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ІМПОРТ, ТИС. $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550408" y="4206240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ЧАСТКА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281928" y="4206240"/>
            <a:ext cx="1325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З НИХ ЯПОНІЯ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93776" y="4384548"/>
            <a:ext cx="7187184" cy="224028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66928" y="442569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54780"/>
                </a:solidFill>
                <a:latin typeface="Segoe UI"/>
              </a:rPr>
              <a:t>8211 10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121408" y="4425696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Набори ножів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315968" y="4425696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2 339,2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550408" y="4425696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26 %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281928" y="4425696"/>
            <a:ext cx="12710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B42E3A"/>
                </a:solidFill>
                <a:latin typeface="Segoe UI"/>
              </a:rPr>
              <a:t>не виділена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6928" y="470001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2A7F86"/>
                </a:solidFill>
                <a:latin typeface="Segoe UI"/>
              </a:rPr>
              <a:t>8211 91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121408" y="4700016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Ножі столові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315968" y="4700016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1 093,4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550408" y="4700016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12 %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281928" y="4700016"/>
            <a:ext cx="12710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B42E3A"/>
                </a:solidFill>
                <a:latin typeface="Segoe UI"/>
              </a:rPr>
              <a:t>14,3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93776" y="4933188"/>
            <a:ext cx="7187184" cy="224028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66928" y="497433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8211 92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121408" y="4974336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Ножі з фіксованим лезом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315968" y="4974336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5 587,3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550408" y="4974336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62 %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281928" y="4974336"/>
            <a:ext cx="12710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B42E3A"/>
                </a:solidFill>
                <a:latin typeface="Segoe UI"/>
              </a:rPr>
              <a:t>103,3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66928" y="5266943"/>
            <a:ext cx="7040880" cy="13716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66928" y="5376671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РАЗОМ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121408" y="5376671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Митна база категорії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315968" y="5376671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9 019,8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550408" y="5376671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100 %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281928" y="5376671"/>
            <a:ext cx="12710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B42E3A"/>
                </a:solidFill>
                <a:latin typeface="Segoe UI"/>
              </a:rPr>
              <a:t>117,5 = 1,3 %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863840" y="3968496"/>
            <a:ext cx="37673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B88A3D"/>
                </a:solidFill>
                <a:latin typeface="Segoe UI"/>
              </a:rPr>
              <a:t>ІМПОРТ ІЗ ЯПОНІЇ, 8211 92, ТИС. $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863840" y="4242816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1B253F"/>
                </a:solidFill>
                <a:latin typeface="Segoe UI"/>
              </a:rPr>
              <a:t>2022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430767" y="4283964"/>
            <a:ext cx="2194560" cy="82296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8430767" y="4283964"/>
            <a:ext cx="2012242" cy="82296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0716767" y="4242816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Segoe UI"/>
              </a:rPr>
              <a:t>119,2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863840" y="4535424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1B253F"/>
                </a:solidFill>
                <a:latin typeface="Segoe UI"/>
              </a:rPr>
              <a:t>2023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430767" y="4576572"/>
            <a:ext cx="2194560" cy="82296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8430767" y="4576572"/>
            <a:ext cx="1338681" cy="82296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0716767" y="4535424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Segoe UI"/>
              </a:rPr>
              <a:t>79,3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863840" y="4828032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1B253F"/>
                </a:solidFill>
                <a:latin typeface="Segoe UI"/>
              </a:rPr>
              <a:t>2024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430767" y="4869180"/>
            <a:ext cx="2194560" cy="82296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8430767" y="4869180"/>
            <a:ext cx="1743831" cy="82296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0716767" y="4828032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Segoe UI"/>
              </a:rPr>
              <a:t>103,3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566928" y="5632704"/>
            <a:ext cx="7040880" cy="851712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566928" y="5632704"/>
            <a:ext cx="36576" cy="851712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04672" y="5788152"/>
            <a:ext cx="65653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B88A3D"/>
                </a:solidFill>
                <a:latin typeface="Segoe UI"/>
              </a:rPr>
              <a:t>ЧОМУ ЦЕЙ СЛАЙД — ГОЛОВНИЙ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04672" y="6016752"/>
            <a:ext cx="6565392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Без розмежування A / B / C цифру 16–19 млн грн легко сплутати з розміром усієї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категорії кухонних ножів — а це 691–924 млн грн, у 40 разів більше.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7863840" y="5193792"/>
            <a:ext cx="3767328" cy="1316736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7863840" y="5193792"/>
            <a:ext cx="36576" cy="1316736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101583" y="5349240"/>
            <a:ext cx="3291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554780"/>
                </a:solidFill>
                <a:latin typeface="Segoe UI"/>
              </a:rPr>
              <a:t>ЩО ГОВОРИТЬ ДИНАМІКА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101583" y="5577840"/>
            <a:ext cx="329184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Імпорт 2024 на 13 % нижчий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за 2022 у номінальних доларах.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Стрибок 2023→2024 — це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відновлення після провалу,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а не тренд зростання.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03504" y="6565392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Джерело митних даних: World Bank WITS / UN Comtrade, імпорт України 2022–2024. Оцінки B і C — власний розрахунок за SKU-аудитом.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С Е Г М Е Н Т   Ц І Н И   ·   1   З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Georgia"/>
              </a:rPr>
              <a:t>До 2 500 грн: японське виробництво сюди майже не дістає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06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Нижній діапазон каталогу. Саме тут лежить обсяг усього ринку кухонних ножів — і саме тут японське виробництво представлене найгірше.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_d6e17fcf3d2475b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1618488"/>
            <a:ext cx="1642872" cy="749808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676656" y="2446020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" y="2414016"/>
            <a:ext cx="1533143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Seki Kanetsugu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Kanetsugu Miyabi Isshin Vegetable 2000 90мм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990 грн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44040" y="2807208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41096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p_33a70b88b0d741f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5832" y="1618488"/>
            <a:ext cx="1642872" cy="749808"/>
          </a:xfrm>
          <a:prstGeom prst="rect">
            <a:avLst/>
          </a:prstGeom>
        </p:spPr>
      </p:pic>
      <p:sp>
        <p:nvSpPr>
          <p:cNvPr id="23" name="Oval 22"/>
          <p:cNvSpPr/>
          <p:nvPr/>
        </p:nvSpPr>
        <p:spPr>
          <a:xfrm>
            <a:off x="2520696" y="2446020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602992" y="2414016"/>
            <a:ext cx="1533143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Satake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2069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Шеф малий Satake Swordsmith 803 · 274, 135мм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2069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1 149 грн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88080" y="2807208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5500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p_d59826c51e9236c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09872" y="1618488"/>
            <a:ext cx="1642872" cy="749808"/>
          </a:xfrm>
          <a:prstGeom prst="rect">
            <a:avLst/>
          </a:prstGeom>
        </p:spPr>
      </p:pic>
      <p:sp>
        <p:nvSpPr>
          <p:cNvPr id="30" name="Oval 29"/>
          <p:cNvSpPr/>
          <p:nvPr/>
        </p:nvSpPr>
        <p:spPr>
          <a:xfrm>
            <a:off x="4364736" y="2446020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47032" y="2414016"/>
            <a:ext cx="1533143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Satake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6473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Кухарський Шеф Satake Saku 802 · 369 Air Holes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6473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1 349 грн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32120" y="2807208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9904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p_4abc40943b88d2d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53912" y="1618488"/>
            <a:ext cx="1642872" cy="749808"/>
          </a:xfrm>
          <a:prstGeom prst="rect">
            <a:avLst/>
          </a:prstGeom>
        </p:spPr>
      </p:pic>
      <p:sp>
        <p:nvSpPr>
          <p:cNvPr id="37" name="Oval 36"/>
          <p:cNvSpPr/>
          <p:nvPr/>
        </p:nvSpPr>
        <p:spPr>
          <a:xfrm>
            <a:off x="6208776" y="2446020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91072" y="2414016"/>
            <a:ext cx="1533143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Mikihisa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0877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кухонний MAKIRI MIKIHISA / Макірі Мікіхіса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0877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1 650 грн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76160" y="2807208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943087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p_23652eb649de861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97951" y="1618488"/>
            <a:ext cx="1642872" cy="749808"/>
          </a:xfrm>
          <a:prstGeom prst="rect">
            <a:avLst/>
          </a:prstGeom>
        </p:spPr>
      </p:pic>
      <p:sp>
        <p:nvSpPr>
          <p:cNvPr id="44" name="Oval 43"/>
          <p:cNvSpPr/>
          <p:nvPr/>
        </p:nvSpPr>
        <p:spPr>
          <a:xfrm>
            <a:off x="8052815" y="2446020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135112" y="2414016"/>
            <a:ext cx="1533143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Misono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52815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кухонний Honmamon / Хонмамон Misono, 105 мм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52815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1 690 грн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20200" y="2807208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787127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0" name="Picture 49" descr="p_04ca1fd405b651c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41991" y="1618488"/>
            <a:ext cx="1642872" cy="749808"/>
          </a:xfrm>
          <a:prstGeom prst="rect">
            <a:avLst/>
          </a:prstGeom>
        </p:spPr>
      </p:pic>
      <p:sp>
        <p:nvSpPr>
          <p:cNvPr id="51" name="Oval 50"/>
          <p:cNvSpPr/>
          <p:nvPr/>
        </p:nvSpPr>
        <p:spPr>
          <a:xfrm>
            <a:off x="9896855" y="2446020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979151" y="2414016"/>
            <a:ext cx="1533143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Seki Kanetsugu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896855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Kanetsugu Miyabi Isshin Nakiri 2007 165мм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896855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1 760 грн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064240" y="2807208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2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p_449a0fa005f3fe0b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1792" y="3099815"/>
            <a:ext cx="1642872" cy="749808"/>
          </a:xfrm>
          <a:prstGeom prst="rect">
            <a:avLst/>
          </a:prstGeom>
        </p:spPr>
      </p:pic>
      <p:sp>
        <p:nvSpPr>
          <p:cNvPr id="58" name="Oval 57"/>
          <p:cNvSpPr/>
          <p:nvPr/>
        </p:nvSpPr>
        <p:spPr>
          <a:xfrm>
            <a:off x="676656" y="3927348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58952" y="3895344"/>
            <a:ext cx="1533143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HONMAMON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7665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кухонний Honmamon / Хонмамон Paring, 120 мм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7665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1 905 грн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44040" y="4288536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41096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p_e451123c4ea3ce3b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65832" y="3099815"/>
            <a:ext cx="1642872" cy="749808"/>
          </a:xfrm>
          <a:prstGeom prst="rect">
            <a:avLst/>
          </a:prstGeom>
        </p:spPr>
      </p:pic>
      <p:sp>
        <p:nvSpPr>
          <p:cNvPr id="65" name="Oval 64"/>
          <p:cNvSpPr/>
          <p:nvPr/>
        </p:nvSpPr>
        <p:spPr>
          <a:xfrm>
            <a:off x="2520696" y="3927348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602992" y="3895344"/>
            <a:ext cx="1533143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Kasumi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52069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овочевий Kasumi TORA 36844, 9см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52069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1 991 грн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688080" y="4288536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25500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p_8a8dda7845ccd961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09872" y="3099815"/>
            <a:ext cx="1642872" cy="749808"/>
          </a:xfrm>
          <a:prstGeom prst="rect">
            <a:avLst/>
          </a:prstGeom>
        </p:spPr>
      </p:pic>
      <p:sp>
        <p:nvSpPr>
          <p:cNvPr id="72" name="Oval 71"/>
          <p:cNvSpPr/>
          <p:nvPr/>
        </p:nvSpPr>
        <p:spPr>
          <a:xfrm>
            <a:off x="4364736" y="3927348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447032" y="3895344"/>
            <a:ext cx="1533143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KAI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36473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Wasabi Black 6716N Накірі, 16.5см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36473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2 184 грн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532120" y="4288536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09904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8" name="Picture 77" descr="p_b24bcd2f1c885984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53912" y="3099815"/>
            <a:ext cx="1642872" cy="749808"/>
          </a:xfrm>
          <a:prstGeom prst="rect">
            <a:avLst/>
          </a:prstGeom>
        </p:spPr>
      </p:pic>
      <p:sp>
        <p:nvSpPr>
          <p:cNvPr id="79" name="Oval 78"/>
          <p:cNvSpPr/>
          <p:nvPr/>
        </p:nvSpPr>
        <p:spPr>
          <a:xfrm>
            <a:off x="6208776" y="3927348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291072" y="3895344"/>
            <a:ext cx="1533143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Motokane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20877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кухонний HONMAMON / Хонмамон Deba Motokane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20877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2 200 грн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376160" y="4288536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943087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5" name="Picture 84" descr="p_453450017d7bcce1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997951" y="3099815"/>
            <a:ext cx="1642872" cy="749808"/>
          </a:xfrm>
          <a:prstGeom prst="rect">
            <a:avLst/>
          </a:prstGeom>
        </p:spPr>
      </p:pic>
      <p:sp>
        <p:nvSpPr>
          <p:cNvPr id="86" name="Oval 85"/>
          <p:cNvSpPr/>
          <p:nvPr/>
        </p:nvSpPr>
        <p:spPr>
          <a:xfrm>
            <a:off x="8052815" y="3927348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135112" y="3895344"/>
            <a:ext cx="1533143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Hanakumagawa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052815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Funayuki ніж Shirogami 2 Steel 165 mm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052815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2 390 грн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220200" y="4288536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WildCat</a:t>
            </a:r>
          </a:p>
        </p:txBody>
      </p:sp>
      <p:sp>
        <p:nvSpPr>
          <p:cNvPr id="91" name="Rectangle 90"/>
          <p:cNvSpPr/>
          <p:nvPr/>
        </p:nvSpPr>
        <p:spPr>
          <a:xfrm>
            <a:off x="9787127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2" name="Picture 91" descr="p_2468ec49793a87d5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841991" y="3099815"/>
            <a:ext cx="1642872" cy="749808"/>
          </a:xfrm>
          <a:prstGeom prst="rect">
            <a:avLst/>
          </a:prstGeom>
        </p:spPr>
      </p:pic>
      <p:sp>
        <p:nvSpPr>
          <p:cNvPr id="93" name="Oval 92"/>
          <p:cNvSpPr/>
          <p:nvPr/>
        </p:nvSpPr>
        <p:spPr>
          <a:xfrm>
            <a:off x="9896855" y="3927348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9979151" y="3895344"/>
            <a:ext cx="1533143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Masahiro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896855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Petty MRS · 30 10696 120мм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896855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2 400 грн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1064240" y="4288536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98" name="Rectangle 97"/>
          <p:cNvSpPr/>
          <p:nvPr/>
        </p:nvSpPr>
        <p:spPr>
          <a:xfrm>
            <a:off x="566928" y="4535424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566928" y="4626864"/>
            <a:ext cx="5486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966E28"/>
                </a:solidFill>
                <a:latin typeface="Segoe UI"/>
              </a:rPr>
              <a:t>А Н А Л І Т И К А   С Е Г М Е Н Т А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6928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566928" y="4809744"/>
            <a:ext cx="1389888" cy="20116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694944" y="4919472"/>
            <a:ext cx="117043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6B7282"/>
                </a:solidFill>
                <a:latin typeface="Segoe UI"/>
              </a:rPr>
              <a:t>ПОЗИЦІЙ У СЕГМЕНТІ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94944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966E28"/>
                </a:solidFill>
                <a:latin typeface="Georgia"/>
              </a:rPr>
              <a:t>29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94944" y="5349240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11 % каталогу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2011680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2011680" y="4809744"/>
            <a:ext cx="1389888" cy="20116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2139696" y="4919472"/>
            <a:ext cx="117043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6B7282"/>
                </a:solidFill>
                <a:latin typeface="Segoe UI"/>
              </a:rPr>
              <a:t>МЕДІАННА ЦІНА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139696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51A26"/>
                </a:solidFill>
                <a:latin typeface="Georgia"/>
              </a:rPr>
              <a:t>1 790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139696" y="5349240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грн за один ніж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3456432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3456432" y="4809744"/>
            <a:ext cx="1389888" cy="20116"/>
          </a:xfrm>
          <a:prstGeom prst="rect">
            <a:avLst/>
          </a:prstGeom>
          <a:solidFill>
            <a:srgbClr val="6B7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3584448" y="4919472"/>
            <a:ext cx="117043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6B7282"/>
                </a:solidFill>
                <a:latin typeface="Segoe UI"/>
              </a:rPr>
              <a:t>ДІАПАЗОН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584448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6B7282"/>
                </a:solidFill>
                <a:latin typeface="Georgia"/>
              </a:rPr>
              <a:t>726–2 400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584448" y="5349240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грн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4901184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4901184" y="4809744"/>
            <a:ext cx="1389888" cy="20116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029200" y="4919472"/>
            <a:ext cx="117043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6B7282"/>
                </a:solidFill>
                <a:latin typeface="Segoe UI"/>
              </a:rPr>
              <a:t>БРЕНДІВ У СЕГМЕНТІ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029200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B253F"/>
                </a:solidFill>
                <a:latin typeface="Georgia"/>
              </a:rPr>
              <a:t>11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5029200" y="5349240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усі японського виробництва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400800" y="4809744"/>
            <a:ext cx="2377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Х Т О   Т Р И М А Є   С Е Г М Е Н Т</a:t>
            </a:r>
          </a:p>
        </p:txBody>
      </p:sp>
      <p:sp>
        <p:nvSpPr>
          <p:cNvPr id="121" name="Oval 120"/>
          <p:cNvSpPr/>
          <p:nvPr/>
        </p:nvSpPr>
        <p:spPr>
          <a:xfrm>
            <a:off x="6400800" y="4999939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6492240" y="4974336"/>
            <a:ext cx="13898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Seki Kanetsugu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7918704" y="5009083"/>
            <a:ext cx="1207008" cy="68580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9162288" y="4974336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966E28"/>
                </a:solidFill>
                <a:latin typeface="Segoe UI"/>
              </a:rPr>
              <a:t>8</a:t>
            </a:r>
          </a:p>
        </p:txBody>
      </p:sp>
      <p:sp>
        <p:nvSpPr>
          <p:cNvPr id="125" name="Oval 124"/>
          <p:cNvSpPr/>
          <p:nvPr/>
        </p:nvSpPr>
        <p:spPr>
          <a:xfrm>
            <a:off x="6400800" y="5144414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492240" y="5118811"/>
            <a:ext cx="13898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Satake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7918704" y="5153558"/>
            <a:ext cx="612648" cy="68580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9162288" y="5118811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966E28"/>
                </a:solidFill>
                <a:latin typeface="Segoe UI"/>
              </a:rPr>
              <a:t>4</a:t>
            </a:r>
          </a:p>
        </p:txBody>
      </p:sp>
      <p:sp>
        <p:nvSpPr>
          <p:cNvPr id="129" name="Oval 128"/>
          <p:cNvSpPr/>
          <p:nvPr/>
        </p:nvSpPr>
        <p:spPr>
          <a:xfrm>
            <a:off x="6400800" y="5288889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6492240" y="5263286"/>
            <a:ext cx="13898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HONMAMON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7918704" y="5298033"/>
            <a:ext cx="612648" cy="68580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9162288" y="5263286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966E28"/>
                </a:solidFill>
                <a:latin typeface="Segoe UI"/>
              </a:rPr>
              <a:t>4</a:t>
            </a:r>
          </a:p>
        </p:txBody>
      </p:sp>
      <p:sp>
        <p:nvSpPr>
          <p:cNvPr id="133" name="Oval 132"/>
          <p:cNvSpPr/>
          <p:nvPr/>
        </p:nvSpPr>
        <p:spPr>
          <a:xfrm>
            <a:off x="6400800" y="5433364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492240" y="5407761"/>
            <a:ext cx="13898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KAI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7918704" y="5442508"/>
            <a:ext cx="464058" cy="68580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9162288" y="5407761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966E28"/>
                </a:solidFill>
                <a:latin typeface="Segoe UI"/>
              </a:rPr>
              <a:t>3</a:t>
            </a:r>
          </a:p>
        </p:txBody>
      </p:sp>
      <p:sp>
        <p:nvSpPr>
          <p:cNvPr id="137" name="Oval 136"/>
          <p:cNvSpPr/>
          <p:nvPr/>
        </p:nvSpPr>
        <p:spPr>
          <a:xfrm>
            <a:off x="6400800" y="5577840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6492240" y="5552236"/>
            <a:ext cx="13898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Kasumi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7918704" y="5586984"/>
            <a:ext cx="464058" cy="68580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9162288" y="5552236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966E28"/>
                </a:solidFill>
                <a:latin typeface="Segoe UI"/>
              </a:rP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619488" y="4809744"/>
            <a:ext cx="2011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Д Е   Ц Е   К У П И Т И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619488" y="4974336"/>
            <a:ext cx="1554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ROKS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210544" y="4974336"/>
            <a:ext cx="42062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9619488" y="5118811"/>
            <a:ext cx="1554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ProfiMax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1210544" y="5118811"/>
            <a:ext cx="42062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619488" y="5263286"/>
            <a:ext cx="1554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Sekator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210544" y="5263286"/>
            <a:ext cx="42062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9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619488" y="5407761"/>
            <a:ext cx="1554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WildCat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1210544" y="5407761"/>
            <a:ext cx="42062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2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566928" y="5687568"/>
            <a:ext cx="11064240" cy="844905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566928" y="5687568"/>
            <a:ext cx="36576" cy="844905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804672" y="5843016"/>
            <a:ext cx="105887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966E28"/>
                </a:solidFill>
                <a:latin typeface="Segoe UI"/>
              </a:rPr>
              <a:t>ЩО ВИЗНАЧАЄ СЕГМЕНТ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804672" y="6071616"/>
            <a:ext cx="10588752" cy="314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Моносталь або базова VG-10, штамповка, західне руків'я. Японія дістає сюди лише Satake, Seki Kanetsugu, Fuji Cutlery і бюджетними лініями KAI Wasabi.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Це єдиний діапазон, де японський ніж конкурує з європейським за ціною, а не за походженням — і де покупець найчастіше не перевіряє країну виробництва.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03504" y="658368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Показано 12 позицій, рівномірно розподілених за ціною; аналітика — по всіх позиціях сегмента. Джерело: картки товарів, жовтень 2026.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С Е Г М Е Н Т   Ц І Н И   ·   2   З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Georgia"/>
              </a:rPr>
              <a:t>2 500 – 5 000 грн: вхід у японське виробництво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07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Перший діапазон, де японське виробництво стає нормою, а не винятком. Тут з'являються імена кузень, а не лише промислові бренди.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_43e68bae1d5168a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1618488"/>
            <a:ext cx="1642872" cy="749808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676656" y="2446020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" y="2414016"/>
            <a:ext cx="1533143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Motokane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кухонний Honmamon / Хонмамон Paring Motokane,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2 695 грн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44040" y="2807208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41096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p_c4fb344401d15fb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5832" y="1618488"/>
            <a:ext cx="1642872" cy="749808"/>
          </a:xfrm>
          <a:prstGeom prst="rect">
            <a:avLst/>
          </a:prstGeom>
        </p:spPr>
      </p:pic>
      <p:sp>
        <p:nvSpPr>
          <p:cNvPr id="23" name="Oval 22"/>
          <p:cNvSpPr/>
          <p:nvPr/>
        </p:nvSpPr>
        <p:spPr>
          <a:xfrm>
            <a:off x="2520696" y="2446020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602992" y="2414016"/>
            <a:ext cx="1533143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Hanakumagawa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2069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для фруктів з дамаської сталі Hanakumagawa / 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2069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2 870 грн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88080" y="2807208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5500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p_3797ecda963e1f9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09872" y="1618488"/>
            <a:ext cx="1642872" cy="749808"/>
          </a:xfrm>
          <a:prstGeom prst="rect">
            <a:avLst/>
          </a:prstGeom>
        </p:spPr>
      </p:pic>
      <p:sp>
        <p:nvSpPr>
          <p:cNvPr id="30" name="Oval 29"/>
          <p:cNvSpPr/>
          <p:nvPr/>
        </p:nvSpPr>
        <p:spPr>
          <a:xfrm>
            <a:off x="4364736" y="2446020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47032" y="2414016"/>
            <a:ext cx="1533143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HONMAMON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6473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кухонний Honmamon / Хонмамон Santoku, 165 мм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6473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3 090 грн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32120" y="2807208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9904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p_de561360f20efbd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53912" y="1618488"/>
            <a:ext cx="1642872" cy="749808"/>
          </a:xfrm>
          <a:prstGeom prst="rect">
            <a:avLst/>
          </a:prstGeom>
        </p:spPr>
      </p:pic>
      <p:sp>
        <p:nvSpPr>
          <p:cNvPr id="37" name="Oval 36"/>
          <p:cNvSpPr/>
          <p:nvPr/>
        </p:nvSpPr>
        <p:spPr>
          <a:xfrm>
            <a:off x="6208776" y="2446020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91072" y="2414016"/>
            <a:ext cx="1533143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Tomita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0877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Deba ніж Blue Steel #2 110 mm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0877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3 215 грн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76160" y="2807208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WildCat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943087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p_8c9c80959cd1561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97951" y="1618488"/>
            <a:ext cx="1642872" cy="749808"/>
          </a:xfrm>
          <a:prstGeom prst="rect">
            <a:avLst/>
          </a:prstGeom>
        </p:spPr>
      </p:pic>
      <p:sp>
        <p:nvSpPr>
          <p:cNvPr id="44" name="Oval 43"/>
          <p:cNvSpPr/>
          <p:nvPr/>
        </p:nvSpPr>
        <p:spPr>
          <a:xfrm>
            <a:off x="8052815" y="2446020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135112" y="2414016"/>
            <a:ext cx="1533143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Tojiro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52815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для овочів Tojiro DP F · 800, 9cм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52815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3 499 грн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20200" y="2807208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787127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0" name="Picture 49" descr="p_397660616646e1a8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41991" y="1618488"/>
            <a:ext cx="1642872" cy="749808"/>
          </a:xfrm>
          <a:prstGeom prst="rect">
            <a:avLst/>
          </a:prstGeom>
        </p:spPr>
      </p:pic>
      <p:sp>
        <p:nvSpPr>
          <p:cNvPr id="51" name="Oval 50"/>
          <p:cNvSpPr/>
          <p:nvPr/>
        </p:nvSpPr>
        <p:spPr>
          <a:xfrm>
            <a:off x="9896855" y="2446020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979151" y="2414016"/>
            <a:ext cx="1533143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Tosa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896855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Migaki Yanagiba HC305 · W2 210мм японський кух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896855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3 500 грн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064240" y="2807208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2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p_a318bfe8552265ac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1792" y="3099815"/>
            <a:ext cx="1642872" cy="749808"/>
          </a:xfrm>
          <a:prstGeom prst="rect">
            <a:avLst/>
          </a:prstGeom>
        </p:spPr>
      </p:pic>
      <p:sp>
        <p:nvSpPr>
          <p:cNvPr id="58" name="Oval 57"/>
          <p:cNvSpPr/>
          <p:nvPr/>
        </p:nvSpPr>
        <p:spPr>
          <a:xfrm>
            <a:off x="676656" y="3927348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58952" y="3895344"/>
            <a:ext cx="1533143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Seki Kanetsugu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7665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Kanetsugu SAIUN 9000 90мм VG10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7665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3 980 грн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44040" y="4288536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41096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p_82e91ea756b0ade8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65832" y="3099815"/>
            <a:ext cx="1642872" cy="749808"/>
          </a:xfrm>
          <a:prstGeom prst="rect">
            <a:avLst/>
          </a:prstGeom>
        </p:spPr>
      </p:pic>
      <p:sp>
        <p:nvSpPr>
          <p:cNvPr id="65" name="Oval 64"/>
          <p:cNvSpPr/>
          <p:nvPr/>
        </p:nvSpPr>
        <p:spPr>
          <a:xfrm>
            <a:off x="2520696" y="3927348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602992" y="3895344"/>
            <a:ext cx="1533143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KAI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52069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Seki Magoroku Red Wood MGR · 0210Y Янагіба, 21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52069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4 130 грн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688080" y="4288536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25500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p_89338fbf5fd17d5f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09872" y="3099815"/>
            <a:ext cx="1642872" cy="749808"/>
          </a:xfrm>
          <a:prstGeom prst="rect">
            <a:avLst/>
          </a:prstGeom>
        </p:spPr>
      </p:pic>
      <p:sp>
        <p:nvSpPr>
          <p:cNvPr id="72" name="Oval 71"/>
          <p:cNvSpPr/>
          <p:nvPr/>
        </p:nvSpPr>
        <p:spPr>
          <a:xfrm>
            <a:off x="4364736" y="3927348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447032" y="3895344"/>
            <a:ext cx="1533143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Fukamizu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36473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Sashimi · bocho Black 240мм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36473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4 451 грн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532120" y="4288536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09904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8" name="Picture 77" descr="p_cc824488ee159b87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53912" y="3099815"/>
            <a:ext cx="1642872" cy="749808"/>
          </a:xfrm>
          <a:prstGeom prst="rect">
            <a:avLst/>
          </a:prstGeom>
        </p:spPr>
      </p:pic>
      <p:sp>
        <p:nvSpPr>
          <p:cNvPr id="79" name="Oval 78"/>
          <p:cNvSpPr/>
          <p:nvPr/>
        </p:nvSpPr>
        <p:spPr>
          <a:xfrm>
            <a:off x="6208776" y="3927348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291072" y="3895344"/>
            <a:ext cx="1533143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Yaxell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20877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для стейка Yaxell RAN 36013, 113мм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20877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4 657 грн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376160" y="4288536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943087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5" name="Picture 84" descr="p_9876fa17e2def4a1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997951" y="3099815"/>
            <a:ext cx="1642872" cy="749808"/>
          </a:xfrm>
          <a:prstGeom prst="rect">
            <a:avLst/>
          </a:prstGeom>
        </p:spPr>
      </p:pic>
      <p:sp>
        <p:nvSpPr>
          <p:cNvPr id="86" name="Oval 85"/>
          <p:cNvSpPr/>
          <p:nvPr/>
        </p:nvSpPr>
        <p:spPr>
          <a:xfrm>
            <a:off x="8052815" y="3927348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135112" y="3895344"/>
            <a:ext cx="1533143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Tosa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052815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Sashimi · bocho Black 240мм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052815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4 850 грн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220200" y="4288536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9787127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2" name="Picture 91" descr="p_e4f1f50101e1ad55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841991" y="3099815"/>
            <a:ext cx="1642872" cy="749808"/>
          </a:xfrm>
          <a:prstGeom prst="rect">
            <a:avLst/>
          </a:prstGeom>
        </p:spPr>
      </p:pic>
      <p:sp>
        <p:nvSpPr>
          <p:cNvPr id="93" name="Oval 92"/>
          <p:cNvSpPr/>
          <p:nvPr/>
        </p:nvSpPr>
        <p:spPr>
          <a:xfrm>
            <a:off x="9896855" y="3927348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9979151" y="3895344"/>
            <a:ext cx="1533143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Misono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896855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кухонний Honmamon / Хонмамон Misono MV, 120 мм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896855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4 990 грн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1064240" y="4288536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98" name="Rectangle 97"/>
          <p:cNvSpPr/>
          <p:nvPr/>
        </p:nvSpPr>
        <p:spPr>
          <a:xfrm>
            <a:off x="566928" y="4535424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566928" y="4626864"/>
            <a:ext cx="5486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2A7F86"/>
                </a:solidFill>
                <a:latin typeface="Segoe UI"/>
              </a:rPr>
              <a:t>А Н А Л І Т И К А   С Е Г М Е Н Т А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6928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566928" y="4809744"/>
            <a:ext cx="1389888" cy="20116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694944" y="4919472"/>
            <a:ext cx="117043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6B7282"/>
                </a:solidFill>
                <a:latin typeface="Segoe UI"/>
              </a:rPr>
              <a:t>ПОЗИЦІЙ У СЕГМЕНТІ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94944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2A7F86"/>
                </a:solidFill>
                <a:latin typeface="Georgia"/>
              </a:rPr>
              <a:t>67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94944" y="5349240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26 % каталогу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2011680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2011680" y="4809744"/>
            <a:ext cx="1389888" cy="20116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2139696" y="4919472"/>
            <a:ext cx="117043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6B7282"/>
                </a:solidFill>
                <a:latin typeface="Segoe UI"/>
              </a:rPr>
              <a:t>МЕДІАННА ЦІНА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139696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51A26"/>
                </a:solidFill>
                <a:latin typeface="Georgia"/>
              </a:rPr>
              <a:t>3 539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139696" y="5349240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грн за один ніж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3456432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3456432" y="4809744"/>
            <a:ext cx="1389888" cy="20116"/>
          </a:xfrm>
          <a:prstGeom prst="rect">
            <a:avLst/>
          </a:prstGeom>
          <a:solidFill>
            <a:srgbClr val="6B7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3584448" y="4919472"/>
            <a:ext cx="117043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6B7282"/>
                </a:solidFill>
                <a:latin typeface="Segoe UI"/>
              </a:rPr>
              <a:t>ДІАПАЗОН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584448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6B7282"/>
                </a:solidFill>
                <a:latin typeface="Georgia"/>
              </a:rPr>
              <a:t>2 640–4 996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584448" y="5349240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грн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4901184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4901184" y="4809744"/>
            <a:ext cx="1389888" cy="20116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029200" y="4919472"/>
            <a:ext cx="117043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6B7282"/>
                </a:solidFill>
                <a:latin typeface="Segoe UI"/>
              </a:rPr>
              <a:t>БРЕНДІВ У СЕГМЕНТІ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029200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B253F"/>
                </a:solidFill>
                <a:latin typeface="Georgia"/>
              </a:rPr>
              <a:t>19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5029200" y="5349240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усі японського виробництва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400800" y="4809744"/>
            <a:ext cx="2377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Х Т О   Т Р И М А Є   С Е Г М Е Н Т</a:t>
            </a:r>
          </a:p>
        </p:txBody>
      </p:sp>
      <p:sp>
        <p:nvSpPr>
          <p:cNvPr id="121" name="Oval 120"/>
          <p:cNvSpPr/>
          <p:nvPr/>
        </p:nvSpPr>
        <p:spPr>
          <a:xfrm>
            <a:off x="6400800" y="4999939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6492240" y="4974336"/>
            <a:ext cx="13898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Tosa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7918704" y="5009083"/>
            <a:ext cx="1207008" cy="68580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9162288" y="4974336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2A7F86"/>
                </a:solidFill>
                <a:latin typeface="Segoe UI"/>
              </a:rPr>
              <a:t>10</a:t>
            </a:r>
          </a:p>
        </p:txBody>
      </p:sp>
      <p:sp>
        <p:nvSpPr>
          <p:cNvPr id="125" name="Oval 124"/>
          <p:cNvSpPr/>
          <p:nvPr/>
        </p:nvSpPr>
        <p:spPr>
          <a:xfrm>
            <a:off x="6400800" y="5144414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492240" y="5118811"/>
            <a:ext cx="13898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Masahiro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7918704" y="5153558"/>
            <a:ext cx="969264" cy="68580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9162288" y="5118811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2A7F86"/>
                </a:solidFill>
                <a:latin typeface="Segoe UI"/>
              </a:rPr>
              <a:t>8</a:t>
            </a:r>
          </a:p>
        </p:txBody>
      </p:sp>
      <p:sp>
        <p:nvSpPr>
          <p:cNvPr id="129" name="Oval 128"/>
          <p:cNvSpPr/>
          <p:nvPr/>
        </p:nvSpPr>
        <p:spPr>
          <a:xfrm>
            <a:off x="6400800" y="5288889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6492240" y="5263286"/>
            <a:ext cx="13898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Tojiro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7918704" y="5298033"/>
            <a:ext cx="850392" cy="68580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9162288" y="5263286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2A7F86"/>
                </a:solidFill>
                <a:latin typeface="Segoe UI"/>
              </a:rPr>
              <a:t>7</a:t>
            </a:r>
          </a:p>
        </p:txBody>
      </p:sp>
      <p:sp>
        <p:nvSpPr>
          <p:cNvPr id="133" name="Oval 132"/>
          <p:cNvSpPr/>
          <p:nvPr/>
        </p:nvSpPr>
        <p:spPr>
          <a:xfrm>
            <a:off x="6400800" y="5433364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492240" y="5407761"/>
            <a:ext cx="13898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KAI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7918704" y="5442508"/>
            <a:ext cx="850392" cy="68580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9162288" y="5407761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2A7F86"/>
                </a:solidFill>
                <a:latin typeface="Segoe UI"/>
              </a:rPr>
              <a:t>7</a:t>
            </a:r>
          </a:p>
        </p:txBody>
      </p:sp>
      <p:sp>
        <p:nvSpPr>
          <p:cNvPr id="137" name="Oval 136"/>
          <p:cNvSpPr/>
          <p:nvPr/>
        </p:nvSpPr>
        <p:spPr>
          <a:xfrm>
            <a:off x="6400800" y="5577840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6492240" y="5552236"/>
            <a:ext cx="13898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HONMAMON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7918704" y="5586984"/>
            <a:ext cx="731520" cy="68580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9162288" y="5552236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2A7F86"/>
                </a:solidFill>
                <a:latin typeface="Segoe UI"/>
              </a:rP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619488" y="4809744"/>
            <a:ext cx="2011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Д Е   Ц Е   К У П И Т И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619488" y="4974336"/>
            <a:ext cx="1554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ROKS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210544" y="4974336"/>
            <a:ext cx="42062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23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9619488" y="5118811"/>
            <a:ext cx="1554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ProfiMax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1210544" y="5118811"/>
            <a:ext cx="42062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20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619488" y="5263286"/>
            <a:ext cx="1554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Sekator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210544" y="5263286"/>
            <a:ext cx="42062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13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619488" y="5407761"/>
            <a:ext cx="1554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WildCat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1210544" y="5407761"/>
            <a:ext cx="42062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11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566928" y="5687568"/>
            <a:ext cx="11064240" cy="844905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566928" y="5687568"/>
            <a:ext cx="36576" cy="844905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804672" y="5843016"/>
            <a:ext cx="105887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2A7F86"/>
                </a:solidFill>
                <a:latin typeface="Segoe UI"/>
              </a:rPr>
              <a:t>ЩО ВИЗНАЧАЄ СЕГМЕНТ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804672" y="6071616"/>
            <a:ext cx="10588752" cy="314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VG-10 у три шари, перші куроучі з Тоса, артизанальні ножі з вуглецевої сталі. Руків'я ще західне, але геометрія вже японська.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Найцікавіший діапазон для входу з японським постачальником: покупець уже готовий платити за походження, але ще не вимагає дамаску й порошкової сталі.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03504" y="658368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Показано 12 позицій, рівномірно розподілених за ціною; аналітика — по всіх позиціях сегмента. Джерело: картки товарів, жовтень 2026.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С Е Г М Е Н Т   Ц І Н И   ·   3   З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Georgia"/>
              </a:rPr>
              <a:t>5 000 – 10 000 грн: ядро асортименту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08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Найгустіший діапазон каталогу. Сюди цілиться більшість спеціалізованих продавців країни.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_f3989c9b25a050f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1618488"/>
            <a:ext cx="1642872" cy="749808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676656" y="2446020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" y="2414016"/>
            <a:ext cx="1533143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Tojiro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ніж Tojiro DP F · 502 Накірі, 16.5см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5 299 грн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44040" y="2807208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41096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p_8918967fa976059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5832" y="1618488"/>
            <a:ext cx="1642872" cy="749808"/>
          </a:xfrm>
          <a:prstGeom prst="rect">
            <a:avLst/>
          </a:prstGeom>
        </p:spPr>
      </p:pic>
      <p:sp>
        <p:nvSpPr>
          <p:cNvPr id="23" name="Oval 22"/>
          <p:cNvSpPr/>
          <p:nvPr/>
        </p:nvSpPr>
        <p:spPr>
          <a:xfrm>
            <a:off x="2520696" y="2446020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602992" y="2414016"/>
            <a:ext cx="1533143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Yaxell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2069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Сантоку Yaxell Zen 35512, 125мм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2069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5 538 грн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88080" y="2807208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5500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p_aa251d8125cd559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09872" y="1618488"/>
            <a:ext cx="1642872" cy="749808"/>
          </a:xfrm>
          <a:prstGeom prst="rect">
            <a:avLst/>
          </a:prstGeom>
        </p:spPr>
      </p:pic>
      <p:sp>
        <p:nvSpPr>
          <p:cNvPr id="30" name="Oval 29"/>
          <p:cNvSpPr/>
          <p:nvPr/>
        </p:nvSpPr>
        <p:spPr>
          <a:xfrm>
            <a:off x="4364736" y="2446020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47032" y="2414016"/>
            <a:ext cx="1533143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HONMAMON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6473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кухонний Honmamon / Хонмамон Gyuto (Шеф), 210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6473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5 990 грн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32120" y="2807208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9904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p_3754cc797ae3a1a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53912" y="1618488"/>
            <a:ext cx="1642872" cy="749808"/>
          </a:xfrm>
          <a:prstGeom prst="rect">
            <a:avLst/>
          </a:prstGeom>
        </p:spPr>
      </p:pic>
      <p:sp>
        <p:nvSpPr>
          <p:cNvPr id="37" name="Oval 36"/>
          <p:cNvSpPr/>
          <p:nvPr/>
        </p:nvSpPr>
        <p:spPr>
          <a:xfrm>
            <a:off x="6208776" y="2446020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91072" y="2414016"/>
            <a:ext cx="1533143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KAI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0877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SHUN CLASSIC DM · 0701 універсальний, 15см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0877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6 440 грн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76160" y="2807208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943087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p_deda8d124c955ab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97951" y="1618488"/>
            <a:ext cx="1642872" cy="749808"/>
          </a:xfrm>
          <a:prstGeom prst="rect">
            <a:avLst/>
          </a:prstGeom>
        </p:spPr>
      </p:pic>
      <p:sp>
        <p:nvSpPr>
          <p:cNvPr id="44" name="Oval 43"/>
          <p:cNvSpPr/>
          <p:nvPr/>
        </p:nvSpPr>
        <p:spPr>
          <a:xfrm>
            <a:off x="8052815" y="2446020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135112" y="2414016"/>
            <a:ext cx="1533143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Yoshihiro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52815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Sashimi bocho 240мм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52815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6 747 грн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20200" y="2807208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787127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0" name="Picture 49" descr="p_b3b0138473ac2dd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41991" y="1618488"/>
            <a:ext cx="1642872" cy="749808"/>
          </a:xfrm>
          <a:prstGeom prst="rect">
            <a:avLst/>
          </a:prstGeom>
        </p:spPr>
      </p:pic>
      <p:sp>
        <p:nvSpPr>
          <p:cNvPr id="51" name="Oval 50"/>
          <p:cNvSpPr/>
          <p:nvPr/>
        </p:nvSpPr>
        <p:spPr>
          <a:xfrm>
            <a:off x="9896855" y="2446020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979151" y="2414016"/>
            <a:ext cx="1533143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Kasumi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896855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Сантоку Kasumi Damascus 84013, 130мм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896855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7 199 грн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064240" y="2807208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2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p_9c77e4a68891c074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1792" y="3099815"/>
            <a:ext cx="1642872" cy="749808"/>
          </a:xfrm>
          <a:prstGeom prst="rect">
            <a:avLst/>
          </a:prstGeom>
        </p:spPr>
      </p:pic>
      <p:sp>
        <p:nvSpPr>
          <p:cNvPr id="58" name="Oval 57"/>
          <p:cNvSpPr/>
          <p:nvPr/>
        </p:nvSpPr>
        <p:spPr>
          <a:xfrm>
            <a:off x="676656" y="3927348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58952" y="3895344"/>
            <a:ext cx="1533143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Takamura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7665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Chromax Petty 130мм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7665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7 400 грн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44040" y="4288536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41096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p_d2371d536e521f91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65832" y="3099815"/>
            <a:ext cx="1642872" cy="749808"/>
          </a:xfrm>
          <a:prstGeom prst="rect">
            <a:avLst/>
          </a:prstGeom>
        </p:spPr>
      </p:pic>
      <p:sp>
        <p:nvSpPr>
          <p:cNvPr id="65" name="Oval 64"/>
          <p:cNvSpPr/>
          <p:nvPr/>
        </p:nvSpPr>
        <p:spPr>
          <a:xfrm>
            <a:off x="2520696" y="3927348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602992" y="3895344"/>
            <a:ext cx="1533143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Sakai Takayuki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52069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Янагіба SAKAI TAKAYUKI Yasugi для лівші, 24см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52069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7 640 грн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688080" y="4288536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25500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p_e976c7316ce05898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09872" y="3099815"/>
            <a:ext cx="1642872" cy="749808"/>
          </a:xfrm>
          <a:prstGeom prst="rect">
            <a:avLst/>
          </a:prstGeom>
        </p:spPr>
      </p:pic>
      <p:sp>
        <p:nvSpPr>
          <p:cNvPr id="72" name="Oval 71"/>
          <p:cNvSpPr/>
          <p:nvPr/>
        </p:nvSpPr>
        <p:spPr>
          <a:xfrm>
            <a:off x="4364736" y="3927348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447032" y="3895344"/>
            <a:ext cx="1533143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Tosa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36473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Santoku Damascus TADAYOSHI Tosa 165мм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36473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7 907 грн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532120" y="4288536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09904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8" name="Picture 77" descr="p_69e9e46e10fb56e3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53912" y="3099815"/>
            <a:ext cx="1642872" cy="749808"/>
          </a:xfrm>
          <a:prstGeom prst="rect">
            <a:avLst/>
          </a:prstGeom>
        </p:spPr>
      </p:pic>
      <p:sp>
        <p:nvSpPr>
          <p:cNvPr id="79" name="Oval 78"/>
          <p:cNvSpPr/>
          <p:nvPr/>
        </p:nvSpPr>
        <p:spPr>
          <a:xfrm>
            <a:off x="6208776" y="3927348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291072" y="3895344"/>
            <a:ext cx="1533143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Shigehiro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20877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кухонний HONMAMON / Хонмамон Shigehiro Special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20877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8 490 грн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376160" y="4288536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943087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5" name="Picture 84" descr="p_9db43e088e35fc4b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997951" y="3099815"/>
            <a:ext cx="1642872" cy="749808"/>
          </a:xfrm>
          <a:prstGeom prst="rect">
            <a:avLst/>
          </a:prstGeom>
        </p:spPr>
      </p:pic>
      <p:sp>
        <p:nvSpPr>
          <p:cNvPr id="86" name="Oval 85"/>
          <p:cNvSpPr/>
          <p:nvPr/>
        </p:nvSpPr>
        <p:spPr>
          <a:xfrm>
            <a:off x="8052815" y="3927348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135112" y="3895344"/>
            <a:ext cx="1533143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Seki Kanetsugu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052815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Kanetsugu Kiritsuke Zuiun 9302 150мм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052815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9 040 грн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220200" y="4288536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9787127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2" name="Picture 91" descr="p_418f52bb3af9119b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841991" y="3099815"/>
            <a:ext cx="1642872" cy="749808"/>
          </a:xfrm>
          <a:prstGeom prst="rect">
            <a:avLst/>
          </a:prstGeom>
        </p:spPr>
      </p:pic>
      <p:sp>
        <p:nvSpPr>
          <p:cNvPr id="93" name="Oval 92"/>
          <p:cNvSpPr/>
          <p:nvPr/>
        </p:nvSpPr>
        <p:spPr>
          <a:xfrm>
            <a:off x="9896855" y="3927348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9979151" y="3895344"/>
            <a:ext cx="1533143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Tsukasa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896855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Aogami super ніж слайсер 210 mm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896855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9 900 грн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1064240" y="4288536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WildCat</a:t>
            </a:r>
          </a:p>
        </p:txBody>
      </p:sp>
      <p:sp>
        <p:nvSpPr>
          <p:cNvPr id="98" name="Rectangle 97"/>
          <p:cNvSpPr/>
          <p:nvPr/>
        </p:nvSpPr>
        <p:spPr>
          <a:xfrm>
            <a:off x="566928" y="4535424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566928" y="4626864"/>
            <a:ext cx="5486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554780"/>
                </a:solidFill>
                <a:latin typeface="Segoe UI"/>
              </a:rPr>
              <a:t>А Н А Л І Т И К А   С Е Г М Е Н Т А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6928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566928" y="4809744"/>
            <a:ext cx="1389888" cy="20116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694944" y="4919472"/>
            <a:ext cx="117043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6B7282"/>
                </a:solidFill>
                <a:latin typeface="Segoe UI"/>
              </a:rPr>
              <a:t>ПОЗИЦІЙ У СЕГМЕНТІ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94944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554780"/>
                </a:solidFill>
                <a:latin typeface="Georgia"/>
              </a:rPr>
              <a:t>116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94944" y="5349240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45 % каталогу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2011680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2011680" y="4809744"/>
            <a:ext cx="1389888" cy="20116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2139696" y="4919472"/>
            <a:ext cx="117043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6B7282"/>
                </a:solidFill>
                <a:latin typeface="Segoe UI"/>
              </a:rPr>
              <a:t>МЕДІАННА ЦІНА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139696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51A26"/>
                </a:solidFill>
                <a:latin typeface="Georgia"/>
              </a:rPr>
              <a:t>7 290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139696" y="5349240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грн за один ніж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3456432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3456432" y="4809744"/>
            <a:ext cx="1389888" cy="20116"/>
          </a:xfrm>
          <a:prstGeom prst="rect">
            <a:avLst/>
          </a:prstGeom>
          <a:solidFill>
            <a:srgbClr val="6B7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3584448" y="4919472"/>
            <a:ext cx="117043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6B7282"/>
                </a:solidFill>
                <a:latin typeface="Segoe UI"/>
              </a:rPr>
              <a:t>ДІАПАЗОН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584448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6B7282"/>
                </a:solidFill>
                <a:latin typeface="Georgia"/>
              </a:rPr>
              <a:t>5 060–9 999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584448" y="5349240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грн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4901184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4901184" y="4809744"/>
            <a:ext cx="1389888" cy="20116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029200" y="4919472"/>
            <a:ext cx="117043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6B7282"/>
                </a:solidFill>
                <a:latin typeface="Segoe UI"/>
              </a:rPr>
              <a:t>БРЕНДІВ У СЕГМЕНТІ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029200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B253F"/>
                </a:solidFill>
                <a:latin typeface="Georgia"/>
              </a:rPr>
              <a:t>18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5029200" y="5349240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усі японського виробництва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400800" y="4809744"/>
            <a:ext cx="2377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Х Т О   Т Р И М А Є   С Е Г М Е Н Т</a:t>
            </a:r>
          </a:p>
        </p:txBody>
      </p:sp>
      <p:sp>
        <p:nvSpPr>
          <p:cNvPr id="121" name="Oval 120"/>
          <p:cNvSpPr/>
          <p:nvPr/>
        </p:nvSpPr>
        <p:spPr>
          <a:xfrm>
            <a:off x="6400800" y="4999939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6492240" y="4974336"/>
            <a:ext cx="13898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Tojiro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7918704" y="5009083"/>
            <a:ext cx="1207008" cy="68580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9162288" y="4974336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54780"/>
                </a:solidFill>
                <a:latin typeface="Segoe UI"/>
              </a:rPr>
              <a:t>24</a:t>
            </a:r>
          </a:p>
        </p:txBody>
      </p:sp>
      <p:sp>
        <p:nvSpPr>
          <p:cNvPr id="125" name="Oval 124"/>
          <p:cNvSpPr/>
          <p:nvPr/>
        </p:nvSpPr>
        <p:spPr>
          <a:xfrm>
            <a:off x="6400800" y="5144414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492240" y="5118811"/>
            <a:ext cx="13898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Yaxell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7918704" y="5153558"/>
            <a:ext cx="1157478" cy="68580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9162288" y="5118811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54780"/>
                </a:solidFill>
                <a:latin typeface="Segoe UI"/>
              </a:rPr>
              <a:t>23</a:t>
            </a:r>
          </a:p>
        </p:txBody>
      </p:sp>
      <p:sp>
        <p:nvSpPr>
          <p:cNvPr id="129" name="Oval 128"/>
          <p:cNvSpPr/>
          <p:nvPr/>
        </p:nvSpPr>
        <p:spPr>
          <a:xfrm>
            <a:off x="6400800" y="5288889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6492240" y="5263286"/>
            <a:ext cx="13898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KAI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7918704" y="5298033"/>
            <a:ext cx="761238" cy="68580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9162288" y="5263286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54780"/>
                </a:solidFill>
                <a:latin typeface="Segoe UI"/>
              </a:rPr>
              <a:t>15</a:t>
            </a:r>
          </a:p>
        </p:txBody>
      </p:sp>
      <p:sp>
        <p:nvSpPr>
          <p:cNvPr id="133" name="Oval 132"/>
          <p:cNvSpPr/>
          <p:nvPr/>
        </p:nvSpPr>
        <p:spPr>
          <a:xfrm>
            <a:off x="6400800" y="5433364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492240" y="5407761"/>
            <a:ext cx="13898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Tosa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7918704" y="5442508"/>
            <a:ext cx="563118" cy="68580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9162288" y="5407761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54780"/>
                </a:solidFill>
                <a:latin typeface="Segoe UI"/>
              </a:rPr>
              <a:t>11</a:t>
            </a:r>
          </a:p>
        </p:txBody>
      </p:sp>
      <p:sp>
        <p:nvSpPr>
          <p:cNvPr id="137" name="Oval 136"/>
          <p:cNvSpPr/>
          <p:nvPr/>
        </p:nvSpPr>
        <p:spPr>
          <a:xfrm>
            <a:off x="6400800" y="5577840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6492240" y="5552236"/>
            <a:ext cx="13898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Kasumi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7918704" y="5586984"/>
            <a:ext cx="563118" cy="68580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9162288" y="5552236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54780"/>
                </a:solidFill>
                <a:latin typeface="Segoe UI"/>
              </a:rP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619488" y="4809744"/>
            <a:ext cx="2011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Д Е   Ц Е   К У П И Т И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619488" y="4974336"/>
            <a:ext cx="1554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ProfiMax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210544" y="4974336"/>
            <a:ext cx="42062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77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9619488" y="5118811"/>
            <a:ext cx="1554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ROKS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1210544" y="5118811"/>
            <a:ext cx="42062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19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619488" y="5263286"/>
            <a:ext cx="1554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Sekator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210544" y="5263286"/>
            <a:ext cx="42062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13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619488" y="5407761"/>
            <a:ext cx="1554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WildCat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1210544" y="5407761"/>
            <a:ext cx="42062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7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566928" y="5687568"/>
            <a:ext cx="11064240" cy="844905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566928" y="5687568"/>
            <a:ext cx="36576" cy="844905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804672" y="5843016"/>
            <a:ext cx="105887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554780"/>
                </a:solidFill>
                <a:latin typeface="Segoe UI"/>
              </a:rPr>
              <a:t>ЩО ВИЗНАЧАЄ СЕГМЕНТ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804672" y="6071616"/>
            <a:ext cx="10588752" cy="314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Дамаск 32–69 шарів поверх VG-10, куроучі Тоса, Takamura Chromax, Tojiro DP Damascus. Твердість 60–61 HRC, часто вже wa-руків'я.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Тут найбільша щільність позицій і найбільша конкуренція продавців за одного покупця. Новий бренд без історії аргументу тут не має.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03504" y="658368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Показано 12 позицій, рівномірно розподілених за ціною; аналітика — по всіх позиціях сегмента. Джерело: картки товарів, жовтень 2026.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С Е Г М Е Н Т   Ц І Н И   ·   4   З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Georgia"/>
              </a:rPr>
              <a:t>Понад 10 000 грн: порошкова сталь і іменні ковалі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09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Верхній діапазон. Тут платять за марку сталі, кількість шарів і підпис майстра, а не за зручність.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_2b52150e4883a7f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1618488"/>
            <a:ext cx="1642872" cy="749808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676656" y="2446020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" y="2414016"/>
            <a:ext cx="1533143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A84A6B"/>
                </a:solidFill>
                <a:latin typeface="Segoe UI"/>
              </a:rPr>
              <a:t>Yaxell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універсальний Yaxell Super Gou 37102, 120мм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10 195 грн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44040" y="2807208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41096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p_b91dad844d142b6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5832" y="1618488"/>
            <a:ext cx="1642872" cy="749808"/>
          </a:xfrm>
          <a:prstGeom prst="rect">
            <a:avLst/>
          </a:prstGeom>
        </p:spPr>
      </p:pic>
      <p:sp>
        <p:nvSpPr>
          <p:cNvPr id="23" name="Oval 22"/>
          <p:cNvSpPr/>
          <p:nvPr/>
        </p:nvSpPr>
        <p:spPr>
          <a:xfrm>
            <a:off x="2520696" y="2446020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602992" y="2414016"/>
            <a:ext cx="1533143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A84A6B"/>
                </a:solidFill>
                <a:latin typeface="Segoe UI"/>
              </a:rPr>
              <a:t>KAI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2069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SHUN CLASSIC DM · 0702 Сантоку, 180мм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2069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10 220 грн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88080" y="2807208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5500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p_02d3b3a4d1494e0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09872" y="1618488"/>
            <a:ext cx="1642872" cy="749808"/>
          </a:xfrm>
          <a:prstGeom prst="rect">
            <a:avLst/>
          </a:prstGeom>
        </p:spPr>
      </p:pic>
      <p:sp>
        <p:nvSpPr>
          <p:cNvPr id="30" name="Oval 29"/>
          <p:cNvSpPr/>
          <p:nvPr/>
        </p:nvSpPr>
        <p:spPr>
          <a:xfrm>
            <a:off x="4364736" y="2446020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47032" y="2414016"/>
            <a:ext cx="1533143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A84A6B"/>
                </a:solidFill>
                <a:latin typeface="Segoe UI"/>
              </a:rPr>
              <a:t>Tojiro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6473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Кухарський Шеф Tojiro Shippu Black FD · 1594,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6473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10 799 грн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32120" y="2807208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9904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p_0827187fef7ab34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53912" y="1618488"/>
            <a:ext cx="1642872" cy="749808"/>
          </a:xfrm>
          <a:prstGeom prst="rect">
            <a:avLst/>
          </a:prstGeom>
        </p:spPr>
      </p:pic>
      <p:sp>
        <p:nvSpPr>
          <p:cNvPr id="37" name="Oval 36"/>
          <p:cNvSpPr/>
          <p:nvPr/>
        </p:nvSpPr>
        <p:spPr>
          <a:xfrm>
            <a:off x="6208776" y="2446020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91072" y="2414016"/>
            <a:ext cx="1533143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A84A6B"/>
                </a:solidFill>
                <a:latin typeface="Segoe UI"/>
              </a:rPr>
              <a:t>HONMAMON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0877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кухонний Honmamon / Хонмамон Santoku 170 мм ле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0877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11 790 грн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76160" y="2807208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943087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p_cde04470743a33c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97951" y="1618488"/>
            <a:ext cx="1642872" cy="749808"/>
          </a:xfrm>
          <a:prstGeom prst="rect">
            <a:avLst/>
          </a:prstGeom>
        </p:spPr>
      </p:pic>
      <p:sp>
        <p:nvSpPr>
          <p:cNvPr id="44" name="Oval 43"/>
          <p:cNvSpPr/>
          <p:nvPr/>
        </p:nvSpPr>
        <p:spPr>
          <a:xfrm>
            <a:off x="8052815" y="2446020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135112" y="2414016"/>
            <a:ext cx="1533143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A84A6B"/>
                </a:solidFill>
                <a:latin typeface="Segoe UI"/>
              </a:rPr>
              <a:t>JCK Natures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52815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Aogami Super Series SAKURA · 2 Шеф 180mm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52815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12 220 грн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20200" y="2807208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WildCat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787127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0" name="Picture 49" descr="p_f37e18b42894173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41991" y="1618488"/>
            <a:ext cx="1642872" cy="749808"/>
          </a:xfrm>
          <a:prstGeom prst="rect">
            <a:avLst/>
          </a:prstGeom>
        </p:spPr>
      </p:pic>
      <p:sp>
        <p:nvSpPr>
          <p:cNvPr id="51" name="Oval 50"/>
          <p:cNvSpPr/>
          <p:nvPr/>
        </p:nvSpPr>
        <p:spPr>
          <a:xfrm>
            <a:off x="9896855" y="2446020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979151" y="2414016"/>
            <a:ext cx="1533143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A84A6B"/>
                </a:solidFill>
                <a:latin typeface="Segoe UI"/>
              </a:rPr>
              <a:t>Tojiro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896855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Кухарський Шеф Tojiro Flash FF · CH180, 18см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896855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12 999 грн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064240" y="2807208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2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p_2b4d0d2f644ed9d4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1792" y="3099815"/>
            <a:ext cx="1642872" cy="749808"/>
          </a:xfrm>
          <a:prstGeom prst="rect">
            <a:avLst/>
          </a:prstGeom>
        </p:spPr>
      </p:pic>
      <p:sp>
        <p:nvSpPr>
          <p:cNvPr id="58" name="Oval 57"/>
          <p:cNvSpPr/>
          <p:nvPr/>
        </p:nvSpPr>
        <p:spPr>
          <a:xfrm>
            <a:off x="676656" y="3927348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58952" y="3895344"/>
            <a:ext cx="1533143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A84A6B"/>
                </a:solidFill>
                <a:latin typeface="Segoe UI"/>
              </a:rPr>
              <a:t>Hatsukokoro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7665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HAYABUSA ZDP · 189 150MM PETTY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7665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13 865 грн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44040" y="4288536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WildCat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41096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p_c58b514d4c51b781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65832" y="3099815"/>
            <a:ext cx="1642872" cy="749808"/>
          </a:xfrm>
          <a:prstGeom prst="rect">
            <a:avLst/>
          </a:prstGeom>
        </p:spPr>
      </p:pic>
      <p:sp>
        <p:nvSpPr>
          <p:cNvPr id="65" name="Oval 64"/>
          <p:cNvSpPr/>
          <p:nvPr/>
        </p:nvSpPr>
        <p:spPr>
          <a:xfrm>
            <a:off x="2520696" y="3927348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602992" y="3895344"/>
            <a:ext cx="1533143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A84A6B"/>
                </a:solidFill>
                <a:latin typeface="Segoe UI"/>
              </a:rPr>
              <a:t>KAI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52069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Shun CLASSIC DM · 0712 Сокирка цайдао, 18см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52069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15 120 грн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688080" y="4288536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25500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p_27208732ebeb99d4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09872" y="3099815"/>
            <a:ext cx="1642872" cy="749808"/>
          </a:xfrm>
          <a:prstGeom prst="rect">
            <a:avLst/>
          </a:prstGeom>
        </p:spPr>
      </p:pic>
      <p:sp>
        <p:nvSpPr>
          <p:cNvPr id="72" name="Oval 71"/>
          <p:cNvSpPr/>
          <p:nvPr/>
        </p:nvSpPr>
        <p:spPr>
          <a:xfrm>
            <a:off x="4364736" y="3927348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447032" y="3895344"/>
            <a:ext cx="1533143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A84A6B"/>
                </a:solidFill>
                <a:latin typeface="Segoe UI"/>
              </a:rPr>
              <a:t>Etsu / Ittetsu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36473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Etsu (Ittetsu) R2 Damascus Bunka ніж 165мм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36473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16 677 грн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532120" y="4288536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WildCat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09904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8" name="Picture 77" descr="p_a9020c3c0c6b53c6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53912" y="3099815"/>
            <a:ext cx="1642872" cy="749808"/>
          </a:xfrm>
          <a:prstGeom prst="rect">
            <a:avLst/>
          </a:prstGeom>
        </p:spPr>
      </p:pic>
      <p:sp>
        <p:nvSpPr>
          <p:cNvPr id="79" name="Oval 78"/>
          <p:cNvSpPr/>
          <p:nvPr/>
        </p:nvSpPr>
        <p:spPr>
          <a:xfrm>
            <a:off x="6208776" y="3927348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291072" y="3895344"/>
            <a:ext cx="1533143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A84A6B"/>
                </a:solidFill>
                <a:latin typeface="Segoe UI"/>
              </a:rPr>
              <a:t>Harukaze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20877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кухонний Honmamon / Хонмамон "HARUKAZE" Petty 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20877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19 990 грн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376160" y="4288536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943087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5" name="Picture 84" descr="p_fbf18e2e77d70d15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997951" y="3099815"/>
            <a:ext cx="1642872" cy="749808"/>
          </a:xfrm>
          <a:prstGeom prst="rect">
            <a:avLst/>
          </a:prstGeom>
        </p:spPr>
      </p:pic>
      <p:sp>
        <p:nvSpPr>
          <p:cNvPr id="86" name="Oval 85"/>
          <p:cNvSpPr/>
          <p:nvPr/>
        </p:nvSpPr>
        <p:spPr>
          <a:xfrm>
            <a:off x="8052815" y="3927348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135112" y="3895344"/>
            <a:ext cx="1533143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A84A6B"/>
                </a:solidFill>
                <a:latin typeface="Segoe UI"/>
              </a:rPr>
              <a:t>HONMAMON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052815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кухонний Honmamon / Хонмамон Gyuto (Шеф) Damas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052815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23 990 грн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220200" y="4288536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91" name="Rectangle 90"/>
          <p:cNvSpPr/>
          <p:nvPr/>
        </p:nvSpPr>
        <p:spPr>
          <a:xfrm>
            <a:off x="9787127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2" name="Picture 91" descr="p_89f9892533a47e39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841991" y="3099815"/>
            <a:ext cx="1642872" cy="749808"/>
          </a:xfrm>
          <a:prstGeom prst="rect">
            <a:avLst/>
          </a:prstGeom>
        </p:spPr>
      </p:pic>
      <p:sp>
        <p:nvSpPr>
          <p:cNvPr id="93" name="Oval 92"/>
          <p:cNvSpPr/>
          <p:nvPr/>
        </p:nvSpPr>
        <p:spPr>
          <a:xfrm>
            <a:off x="9896855" y="3927348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9979151" y="3895344"/>
            <a:ext cx="1533143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A84A6B"/>
                </a:solidFill>
                <a:latin typeface="Segoe UI"/>
              </a:rPr>
              <a:t>KAI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896855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Набір з 3 · х ножів KAI Shun Premier Tim Malze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896855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27 970 грн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1064240" y="4288536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98" name="Rectangle 97"/>
          <p:cNvSpPr/>
          <p:nvPr/>
        </p:nvSpPr>
        <p:spPr>
          <a:xfrm>
            <a:off x="566928" y="4535424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566928" y="4626864"/>
            <a:ext cx="5486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A84A6B"/>
                </a:solidFill>
                <a:latin typeface="Segoe UI"/>
              </a:rPr>
              <a:t>А Н А Л І Т И К А   С Е Г М Е Н Т А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6928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566928" y="4809744"/>
            <a:ext cx="1389888" cy="20116"/>
          </a:xfrm>
          <a:prstGeom prst="rect">
            <a:avLst/>
          </a:prstGeom>
          <a:solidFill>
            <a:srgbClr val="A8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694944" y="4919472"/>
            <a:ext cx="117043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6B7282"/>
                </a:solidFill>
                <a:latin typeface="Segoe UI"/>
              </a:rPr>
              <a:t>ПОЗИЦІЙ У СЕГМЕНТІ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94944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A84A6B"/>
                </a:solidFill>
                <a:latin typeface="Georgia"/>
              </a:rPr>
              <a:t>47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94944" y="5349240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18 % каталогу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2011680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2011680" y="4809744"/>
            <a:ext cx="1389888" cy="20116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2139696" y="4919472"/>
            <a:ext cx="117043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6B7282"/>
                </a:solidFill>
                <a:latin typeface="Segoe UI"/>
              </a:rPr>
              <a:t>МЕДІАННА ЦІНА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139696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51A26"/>
                </a:solidFill>
                <a:latin typeface="Georgia"/>
              </a:rPr>
              <a:t>13 500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139696" y="5349240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грн за один ніж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3456432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3456432" y="4809744"/>
            <a:ext cx="1389888" cy="20116"/>
          </a:xfrm>
          <a:prstGeom prst="rect">
            <a:avLst/>
          </a:prstGeom>
          <a:solidFill>
            <a:srgbClr val="6B7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3584448" y="4919472"/>
            <a:ext cx="117043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6B7282"/>
                </a:solidFill>
                <a:latin typeface="Segoe UI"/>
              </a:rPr>
              <a:t>ДІАПАЗОН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584448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6B7282"/>
                </a:solidFill>
                <a:latin typeface="Georgia"/>
              </a:rPr>
              <a:t>10 035–38 640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584448" y="5349240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грн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4901184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4901184" y="4809744"/>
            <a:ext cx="1389888" cy="20116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029200" y="4919472"/>
            <a:ext cx="117043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6B7282"/>
                </a:solidFill>
                <a:latin typeface="Segoe UI"/>
              </a:rPr>
              <a:t>БРЕНДІВ У СЕГМЕНТІ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029200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B253F"/>
                </a:solidFill>
                <a:latin typeface="Georgia"/>
              </a:rPr>
              <a:t>11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5029200" y="5349240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усі японського виробництва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400800" y="4809744"/>
            <a:ext cx="2377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Х Т О   Т Р И М А Є   С Е Г М Е Н Т</a:t>
            </a:r>
          </a:p>
        </p:txBody>
      </p:sp>
      <p:sp>
        <p:nvSpPr>
          <p:cNvPr id="121" name="Oval 120"/>
          <p:cNvSpPr/>
          <p:nvPr/>
        </p:nvSpPr>
        <p:spPr>
          <a:xfrm>
            <a:off x="6400800" y="4999939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6492240" y="4974336"/>
            <a:ext cx="13898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KAI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7918704" y="5009083"/>
            <a:ext cx="1207008" cy="68580"/>
          </a:xfrm>
          <a:prstGeom prst="rect">
            <a:avLst/>
          </a:prstGeom>
          <a:solidFill>
            <a:srgbClr val="A8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9162288" y="4974336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A84A6B"/>
                </a:solidFill>
                <a:latin typeface="Segoe UI"/>
              </a:rPr>
              <a:t>15</a:t>
            </a:r>
          </a:p>
        </p:txBody>
      </p:sp>
      <p:sp>
        <p:nvSpPr>
          <p:cNvPr id="125" name="Oval 124"/>
          <p:cNvSpPr/>
          <p:nvPr/>
        </p:nvSpPr>
        <p:spPr>
          <a:xfrm>
            <a:off x="6400800" y="5144414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492240" y="5118811"/>
            <a:ext cx="13898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Yaxell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7918704" y="5153558"/>
            <a:ext cx="810768" cy="68580"/>
          </a:xfrm>
          <a:prstGeom prst="rect">
            <a:avLst/>
          </a:prstGeom>
          <a:solidFill>
            <a:srgbClr val="A8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9162288" y="5118811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A84A6B"/>
                </a:solidFill>
                <a:latin typeface="Segoe UI"/>
              </a:rPr>
              <a:t>10</a:t>
            </a:r>
          </a:p>
        </p:txBody>
      </p:sp>
      <p:sp>
        <p:nvSpPr>
          <p:cNvPr id="129" name="Oval 128"/>
          <p:cNvSpPr/>
          <p:nvPr/>
        </p:nvSpPr>
        <p:spPr>
          <a:xfrm>
            <a:off x="6400800" y="5288889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6492240" y="5263286"/>
            <a:ext cx="13898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Tojiro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7918704" y="5298033"/>
            <a:ext cx="652272" cy="68580"/>
          </a:xfrm>
          <a:prstGeom prst="rect">
            <a:avLst/>
          </a:prstGeom>
          <a:solidFill>
            <a:srgbClr val="A8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9162288" y="5263286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A84A6B"/>
                </a:solidFill>
                <a:latin typeface="Segoe UI"/>
              </a:rPr>
              <a:t>8</a:t>
            </a:r>
          </a:p>
        </p:txBody>
      </p:sp>
      <p:sp>
        <p:nvSpPr>
          <p:cNvPr id="133" name="Oval 132"/>
          <p:cNvSpPr/>
          <p:nvPr/>
        </p:nvSpPr>
        <p:spPr>
          <a:xfrm>
            <a:off x="6400800" y="5433364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492240" y="5407761"/>
            <a:ext cx="13898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Takamura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7918704" y="5442508"/>
            <a:ext cx="256032" cy="68580"/>
          </a:xfrm>
          <a:prstGeom prst="rect">
            <a:avLst/>
          </a:prstGeom>
          <a:solidFill>
            <a:srgbClr val="A8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9162288" y="5407761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A84A6B"/>
                </a:solidFill>
                <a:latin typeface="Segoe UI"/>
              </a:rPr>
              <a:t>3</a:t>
            </a:r>
          </a:p>
        </p:txBody>
      </p:sp>
      <p:sp>
        <p:nvSpPr>
          <p:cNvPr id="137" name="Oval 136"/>
          <p:cNvSpPr/>
          <p:nvPr/>
        </p:nvSpPr>
        <p:spPr>
          <a:xfrm>
            <a:off x="6400800" y="5577840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6492240" y="5552236"/>
            <a:ext cx="13898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HONMAMON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7918704" y="5586984"/>
            <a:ext cx="256032" cy="68580"/>
          </a:xfrm>
          <a:prstGeom prst="rect">
            <a:avLst/>
          </a:prstGeom>
          <a:solidFill>
            <a:srgbClr val="A8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9162288" y="5552236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A84A6B"/>
                </a:solidFill>
                <a:latin typeface="Segoe UI"/>
              </a:rP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619488" y="4809744"/>
            <a:ext cx="2011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Д Е   Ц Е   К У П И Т И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619488" y="4974336"/>
            <a:ext cx="1554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ProfiMax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210544" y="4974336"/>
            <a:ext cx="42062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33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9619488" y="5118811"/>
            <a:ext cx="1554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ROKS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1210544" y="5118811"/>
            <a:ext cx="42062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619488" y="5263286"/>
            <a:ext cx="1554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Sekator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210544" y="5263286"/>
            <a:ext cx="42062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5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619488" y="5407761"/>
            <a:ext cx="1554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WildCat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1210544" y="5407761"/>
            <a:ext cx="42062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4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566928" y="5687568"/>
            <a:ext cx="11064240" cy="844905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566928" y="5687568"/>
            <a:ext cx="36576" cy="844905"/>
          </a:xfrm>
          <a:prstGeom prst="rect">
            <a:avLst/>
          </a:prstGeom>
          <a:solidFill>
            <a:srgbClr val="A8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804672" y="5843016"/>
            <a:ext cx="105887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A84A6B"/>
                </a:solidFill>
                <a:latin typeface="Segoe UI"/>
              </a:rPr>
              <a:t>ЩО ВИЗНАЧАЄ СЕГМЕНТ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804672" y="6071616"/>
            <a:ext cx="10588752" cy="314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SG-2 і R2 порошкові сталі, 101–193 шари, ZDP-189 при 65–67 HRC, honyaki. Yaxell Super Gou, Takeshi Saji, Nigara, Myojin, Hatsukokoro.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Покупців на всю країну — кілька тисяч. Ніж за 17 746 грн це 57 % середньої місячної зарплати: сегмент обмежений не смаком, а доходом.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03504" y="658368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Показано 12 позицій, рівномірно розподілених за ціною; аналітика — по всіх позиціях сегмента. Джерело: картки товарів, жовтень 2026.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К А Т А Л О Г   ·   С Е Г М Е Н Т А Ц І Я   З А   Ц І Н О 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Georgia"/>
              </a:rPr>
              <a:t>Чотири цінові діапазони японського виробництва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Каталог із 259 ножів японського виробництва. На кожному щаблі — п'ять позицій, рівномірно розподілених за ціною.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554480"/>
            <a:ext cx="11064240" cy="896111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1554480"/>
            <a:ext cx="41148" cy="896111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1600200"/>
            <a:ext cx="2423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966E28"/>
                </a:solidFill>
                <a:latin typeface="Segoe UI"/>
              </a:rPr>
              <a:t>До 2 500 грн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1792224"/>
            <a:ext cx="24505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Японія сюди майже не дістає: моносталь, штамповка, західне руків'я.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2139696"/>
            <a:ext cx="621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51A26"/>
                </a:solidFill>
                <a:latin typeface="Georgia"/>
              </a:rPr>
              <a:t>29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2331720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6B7282"/>
                </a:solidFill>
                <a:latin typeface="Segoe UI"/>
              </a:rPr>
              <a:t>позицій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80744" y="2139696"/>
            <a:ext cx="621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51A26"/>
                </a:solidFill>
                <a:latin typeface="Georgia"/>
              </a:rPr>
              <a:t>11 %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0744" y="2331720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6B7282"/>
                </a:solidFill>
                <a:latin typeface="Segoe UI"/>
              </a:rPr>
              <a:t>каталогу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93392" y="2139696"/>
            <a:ext cx="621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51A26"/>
                </a:solidFill>
                <a:latin typeface="Georgia"/>
              </a:rPr>
              <a:t>1 790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93392" y="2331720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6B7282"/>
                </a:solidFill>
                <a:latin typeface="Segoe UI"/>
              </a:rPr>
              <a:t>медіана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06040" y="2139696"/>
            <a:ext cx="621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51A26"/>
                </a:solidFill>
                <a:latin typeface="Georgia"/>
              </a:rPr>
              <a:t>11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06040" y="2331720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6B7282"/>
                </a:solidFill>
                <a:latin typeface="Segoe UI"/>
              </a:rPr>
              <a:t>брендів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" y="2020824"/>
            <a:ext cx="245059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9AA2B4"/>
                </a:solidFill>
                <a:latin typeface="Segoe UI"/>
              </a:rPr>
              <a:t>Seki Kanetsugu 8 · Satake 4 · HONMAMON 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310128" y="1618488"/>
            <a:ext cx="1514246" cy="45719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p_75c8d1b75469cf9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6704" y="1645920"/>
            <a:ext cx="1441094" cy="402335"/>
          </a:xfrm>
          <a:prstGeom prst="rect">
            <a:avLst/>
          </a:prstGeom>
        </p:spPr>
      </p:pic>
      <p:sp>
        <p:nvSpPr>
          <p:cNvPr id="29" name="Oval 28"/>
          <p:cNvSpPr/>
          <p:nvPr/>
        </p:nvSpPr>
        <p:spPr>
          <a:xfrm>
            <a:off x="3310128" y="2135124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392424" y="2103120"/>
            <a:ext cx="141366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966E28"/>
                </a:solidFill>
                <a:latin typeface="Segoe UI"/>
              </a:rPr>
              <a:t>Seki Kanetsugu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10128" y="2221991"/>
            <a:ext cx="149595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1 140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10128" y="2359151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934102" y="1618488"/>
            <a:ext cx="1514246" cy="45719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p_152c4619023fe0b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0678" y="1645920"/>
            <a:ext cx="1441094" cy="402335"/>
          </a:xfrm>
          <a:prstGeom prst="rect">
            <a:avLst/>
          </a:prstGeom>
        </p:spPr>
      </p:pic>
      <p:sp>
        <p:nvSpPr>
          <p:cNvPr id="35" name="Oval 34"/>
          <p:cNvSpPr/>
          <p:nvPr/>
        </p:nvSpPr>
        <p:spPr>
          <a:xfrm>
            <a:off x="4934102" y="2135124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16398" y="2103120"/>
            <a:ext cx="141366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966E28"/>
                </a:solidFill>
                <a:latin typeface="Segoe UI"/>
              </a:rPr>
              <a:t>HONMAMON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934102" y="2221991"/>
            <a:ext cx="149595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1 650 грн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34102" y="2359151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58076" y="1618488"/>
            <a:ext cx="1514246" cy="45719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p_140499d5980b14f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4652" y="1645920"/>
            <a:ext cx="1441094" cy="402335"/>
          </a:xfrm>
          <a:prstGeom prst="rect">
            <a:avLst/>
          </a:prstGeom>
        </p:spPr>
      </p:pic>
      <p:sp>
        <p:nvSpPr>
          <p:cNvPr id="41" name="Oval 40"/>
          <p:cNvSpPr/>
          <p:nvPr/>
        </p:nvSpPr>
        <p:spPr>
          <a:xfrm>
            <a:off x="6558076" y="2135124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640372" y="2103120"/>
            <a:ext cx="141366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966E28"/>
                </a:solidFill>
                <a:latin typeface="Segoe UI"/>
              </a:rPr>
              <a:t>Takanori Izumi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58076" y="2221991"/>
            <a:ext cx="149595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1 980 грн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58076" y="2359151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WildCat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182051" y="1618488"/>
            <a:ext cx="1514246" cy="45719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p_3e2b685bcef9d36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18627" y="1645920"/>
            <a:ext cx="1441094" cy="402335"/>
          </a:xfrm>
          <a:prstGeom prst="rect">
            <a:avLst/>
          </a:prstGeom>
        </p:spPr>
      </p:pic>
      <p:sp>
        <p:nvSpPr>
          <p:cNvPr id="47" name="Oval 46"/>
          <p:cNvSpPr/>
          <p:nvPr/>
        </p:nvSpPr>
        <p:spPr>
          <a:xfrm>
            <a:off x="8182051" y="2135124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264347" y="2103120"/>
            <a:ext cx="141366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966E28"/>
                </a:solidFill>
                <a:latin typeface="Segoe UI"/>
              </a:rPr>
              <a:t>KAI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82051" y="2221991"/>
            <a:ext cx="149595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2 184 грн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182051" y="2359151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806025" y="1618488"/>
            <a:ext cx="1514246" cy="45719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p_1df0b9393e47522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42601" y="1645920"/>
            <a:ext cx="1441094" cy="402335"/>
          </a:xfrm>
          <a:prstGeom prst="rect">
            <a:avLst/>
          </a:prstGeom>
        </p:spPr>
      </p:pic>
      <p:sp>
        <p:nvSpPr>
          <p:cNvPr id="53" name="Oval 52"/>
          <p:cNvSpPr/>
          <p:nvPr/>
        </p:nvSpPr>
        <p:spPr>
          <a:xfrm>
            <a:off x="9806025" y="2135124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888321" y="2103120"/>
            <a:ext cx="141366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966E28"/>
                </a:solidFill>
                <a:latin typeface="Segoe UI"/>
              </a:rPr>
              <a:t>Kasumi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806025" y="2221991"/>
            <a:ext cx="149595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2 390 грн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806025" y="2359151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66928" y="2560320"/>
            <a:ext cx="11064240" cy="896111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66928" y="2560320"/>
            <a:ext cx="41148" cy="896111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68096" y="2606039"/>
            <a:ext cx="2423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2A7F86"/>
                </a:solidFill>
                <a:latin typeface="Segoe UI"/>
              </a:rPr>
              <a:t>2 500 – 5 000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68096" y="2798063"/>
            <a:ext cx="24505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Вхід у японське виробництво: VG-10 у три шари, перші куроучі з Тоса.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" y="3145536"/>
            <a:ext cx="621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51A26"/>
                </a:solidFill>
                <a:latin typeface="Georgia"/>
              </a:rPr>
              <a:t>67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8096" y="3337560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6B7282"/>
                </a:solidFill>
                <a:latin typeface="Segoe UI"/>
              </a:rPr>
              <a:t>позицій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380744" y="3145536"/>
            <a:ext cx="621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51A26"/>
                </a:solidFill>
                <a:latin typeface="Georgia"/>
              </a:rPr>
              <a:t>26 %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380744" y="3337560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6B7282"/>
                </a:solidFill>
                <a:latin typeface="Segoe UI"/>
              </a:rPr>
              <a:t>каталогу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993392" y="3145536"/>
            <a:ext cx="621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51A26"/>
                </a:solidFill>
                <a:latin typeface="Georgia"/>
              </a:rPr>
              <a:t>3 539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993392" y="3337560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6B7282"/>
                </a:solidFill>
                <a:latin typeface="Segoe UI"/>
              </a:rPr>
              <a:t>медіана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606040" y="3145536"/>
            <a:ext cx="621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51A26"/>
                </a:solidFill>
                <a:latin typeface="Georgia"/>
              </a:rPr>
              <a:t>19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606040" y="3337560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6B7282"/>
                </a:solidFill>
                <a:latin typeface="Segoe UI"/>
              </a:rPr>
              <a:t>брендів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68096" y="3026663"/>
            <a:ext cx="245059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9AA2B4"/>
                </a:solidFill>
                <a:latin typeface="Segoe UI"/>
              </a:rPr>
              <a:t>Tosa 10 · Masahiro 8 · Tojiro 7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310128" y="2624327"/>
            <a:ext cx="1514246" cy="45719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p_67394b62b036ed1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46704" y="2651760"/>
            <a:ext cx="1441094" cy="402335"/>
          </a:xfrm>
          <a:prstGeom prst="rect">
            <a:avLst/>
          </a:prstGeom>
        </p:spPr>
      </p:pic>
      <p:sp>
        <p:nvSpPr>
          <p:cNvPr id="72" name="Oval 71"/>
          <p:cNvSpPr/>
          <p:nvPr/>
        </p:nvSpPr>
        <p:spPr>
          <a:xfrm>
            <a:off x="3310128" y="3140963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392424" y="3108959"/>
            <a:ext cx="141366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2A7F86"/>
                </a:solidFill>
                <a:latin typeface="Segoe UI"/>
              </a:rPr>
              <a:t>Kasumi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310128" y="3227831"/>
            <a:ext cx="149595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2 833 грн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310128" y="3364991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934102" y="2624327"/>
            <a:ext cx="1514246" cy="45719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p_e76760d3f37cb475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970678" y="2651760"/>
            <a:ext cx="1441094" cy="402335"/>
          </a:xfrm>
          <a:prstGeom prst="rect">
            <a:avLst/>
          </a:prstGeom>
        </p:spPr>
      </p:pic>
      <p:sp>
        <p:nvSpPr>
          <p:cNvPr id="78" name="Oval 77"/>
          <p:cNvSpPr/>
          <p:nvPr/>
        </p:nvSpPr>
        <p:spPr>
          <a:xfrm>
            <a:off x="4934102" y="3140963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016398" y="3108959"/>
            <a:ext cx="141366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2A7F86"/>
                </a:solidFill>
                <a:latin typeface="Segoe UI"/>
              </a:rPr>
              <a:t>Tosa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934102" y="3227831"/>
            <a:ext cx="149595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3 231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934102" y="3364991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558076" y="2624327"/>
            <a:ext cx="1514246" cy="45719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3" name="Picture 82" descr="p_ddfbc22ba73d0611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94652" y="2651760"/>
            <a:ext cx="1441094" cy="402335"/>
          </a:xfrm>
          <a:prstGeom prst="rect">
            <a:avLst/>
          </a:prstGeom>
        </p:spPr>
      </p:pic>
      <p:sp>
        <p:nvSpPr>
          <p:cNvPr id="84" name="Oval 83"/>
          <p:cNvSpPr/>
          <p:nvPr/>
        </p:nvSpPr>
        <p:spPr>
          <a:xfrm>
            <a:off x="6558076" y="3140963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640372" y="3108959"/>
            <a:ext cx="141366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2A7F86"/>
                </a:solidFill>
                <a:latin typeface="Segoe UI"/>
              </a:rPr>
              <a:t>Tomita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558076" y="3227831"/>
            <a:ext cx="149595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3 539 грн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558076" y="3364991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WildCat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182051" y="2624327"/>
            <a:ext cx="1514246" cy="45719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9" name="Picture 88" descr="p_8dac3ccf7faf32a9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18627" y="2651760"/>
            <a:ext cx="1441094" cy="402335"/>
          </a:xfrm>
          <a:prstGeom prst="rect">
            <a:avLst/>
          </a:prstGeom>
        </p:spPr>
      </p:pic>
      <p:sp>
        <p:nvSpPr>
          <p:cNvPr id="90" name="Oval 89"/>
          <p:cNvSpPr/>
          <p:nvPr/>
        </p:nvSpPr>
        <p:spPr>
          <a:xfrm>
            <a:off x="8182051" y="3140963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64347" y="3108959"/>
            <a:ext cx="141366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2A7F86"/>
                </a:solidFill>
                <a:latin typeface="Segoe UI"/>
              </a:rPr>
              <a:t>Seki Kanetsugu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182051" y="3227831"/>
            <a:ext cx="149595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4 450 грн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182051" y="3364991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94" name="Rectangle 93"/>
          <p:cNvSpPr/>
          <p:nvPr/>
        </p:nvSpPr>
        <p:spPr>
          <a:xfrm>
            <a:off x="9806025" y="2624327"/>
            <a:ext cx="1514246" cy="45719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5" name="Picture 94" descr="p_cf3aa719792dd910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842601" y="2651760"/>
            <a:ext cx="1441094" cy="402335"/>
          </a:xfrm>
          <a:prstGeom prst="rect">
            <a:avLst/>
          </a:prstGeom>
        </p:spPr>
      </p:pic>
      <p:sp>
        <p:nvSpPr>
          <p:cNvPr id="96" name="Oval 95"/>
          <p:cNvSpPr/>
          <p:nvPr/>
        </p:nvSpPr>
        <p:spPr>
          <a:xfrm>
            <a:off x="9806025" y="3140963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9888321" y="3108959"/>
            <a:ext cx="141366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2A7F86"/>
                </a:solidFill>
                <a:latin typeface="Segoe UI"/>
              </a:rPr>
              <a:t>HONMAMON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806025" y="3227831"/>
            <a:ext cx="149595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4 850 грн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806025" y="3364991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6928" y="3566159"/>
            <a:ext cx="11064240" cy="896111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566928" y="3566159"/>
            <a:ext cx="41148" cy="896111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68096" y="3611879"/>
            <a:ext cx="2423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554780"/>
                </a:solidFill>
                <a:latin typeface="Segoe UI"/>
              </a:rPr>
              <a:t>5 000 – 10 000 грн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68096" y="3803903"/>
            <a:ext cx="24505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Ядро асортименту: дамаск 32–69 шарів, Chromax, 60–61 HRC.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68096" y="4151375"/>
            <a:ext cx="621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51A26"/>
                </a:solidFill>
                <a:latin typeface="Georgia"/>
              </a:rPr>
              <a:t>116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68096" y="4343399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6B7282"/>
                </a:solidFill>
                <a:latin typeface="Segoe UI"/>
              </a:rPr>
              <a:t>позицій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380744" y="4151375"/>
            <a:ext cx="621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51A26"/>
                </a:solidFill>
                <a:latin typeface="Georgia"/>
              </a:rPr>
              <a:t>45 %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380744" y="4343399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6B7282"/>
                </a:solidFill>
                <a:latin typeface="Segoe UI"/>
              </a:rPr>
              <a:t>каталогу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993392" y="4151375"/>
            <a:ext cx="621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51A26"/>
                </a:solidFill>
                <a:latin typeface="Georgia"/>
              </a:rPr>
              <a:t>7 290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993392" y="4343399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6B7282"/>
                </a:solidFill>
                <a:latin typeface="Segoe UI"/>
              </a:rPr>
              <a:t>медіана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606040" y="4151375"/>
            <a:ext cx="621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51A26"/>
                </a:solidFill>
                <a:latin typeface="Georgia"/>
              </a:rPr>
              <a:t>18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2606040" y="4343399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6B7282"/>
                </a:solidFill>
                <a:latin typeface="Segoe UI"/>
              </a:rPr>
              <a:t>брендів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68096" y="4032503"/>
            <a:ext cx="245059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9AA2B4"/>
                </a:solidFill>
                <a:latin typeface="Segoe UI"/>
              </a:rPr>
              <a:t>Tojiro 24 · Yaxell 23 · KAI 15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310128" y="3630167"/>
            <a:ext cx="1514246" cy="45719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4" name="Picture 113" descr="p_d7c9876b54b98bd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346704" y="3657599"/>
            <a:ext cx="1441094" cy="402335"/>
          </a:xfrm>
          <a:prstGeom prst="rect">
            <a:avLst/>
          </a:prstGeom>
        </p:spPr>
      </p:pic>
      <p:sp>
        <p:nvSpPr>
          <p:cNvPr id="115" name="Oval 114"/>
          <p:cNvSpPr/>
          <p:nvPr/>
        </p:nvSpPr>
        <p:spPr>
          <a:xfrm>
            <a:off x="3310128" y="4146803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3392424" y="4114799"/>
            <a:ext cx="141366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554780"/>
                </a:solidFill>
                <a:latin typeface="Segoe UI"/>
              </a:rPr>
              <a:t>HONMAMON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310128" y="4233671"/>
            <a:ext cx="149595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5 490 грн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310128" y="4370831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4934102" y="3630167"/>
            <a:ext cx="1514246" cy="45719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0" name="Picture 119" descr="p_7c612f0bf2038402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970678" y="3657599"/>
            <a:ext cx="1441094" cy="402335"/>
          </a:xfrm>
          <a:prstGeom prst="rect">
            <a:avLst/>
          </a:prstGeom>
        </p:spPr>
      </p:pic>
      <p:sp>
        <p:nvSpPr>
          <p:cNvPr id="121" name="Oval 120"/>
          <p:cNvSpPr/>
          <p:nvPr/>
        </p:nvSpPr>
        <p:spPr>
          <a:xfrm>
            <a:off x="4934102" y="4146803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5016398" y="4114799"/>
            <a:ext cx="141366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554780"/>
                </a:solidFill>
                <a:latin typeface="Segoe UI"/>
              </a:rPr>
              <a:t>Yaxell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934102" y="4233671"/>
            <a:ext cx="149595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6 401 грн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4934102" y="4370831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558076" y="3630167"/>
            <a:ext cx="1514246" cy="45719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6" name="Picture 125" descr="p_0849ef6b2ab669a4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594652" y="3657599"/>
            <a:ext cx="1441094" cy="402335"/>
          </a:xfrm>
          <a:prstGeom prst="rect">
            <a:avLst/>
          </a:prstGeom>
        </p:spPr>
      </p:pic>
      <p:sp>
        <p:nvSpPr>
          <p:cNvPr id="127" name="Oval 126"/>
          <p:cNvSpPr/>
          <p:nvPr/>
        </p:nvSpPr>
        <p:spPr>
          <a:xfrm>
            <a:off x="6558076" y="4146803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6640372" y="4114799"/>
            <a:ext cx="141366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554780"/>
                </a:solidFill>
                <a:latin typeface="Segoe UI"/>
              </a:rPr>
              <a:t>Motokane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558076" y="4233671"/>
            <a:ext cx="149595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7 290 грн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6558076" y="4370831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8182051" y="3630167"/>
            <a:ext cx="1514246" cy="45719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2" name="Picture 131" descr="p_28d76dea152104d1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218627" y="3657599"/>
            <a:ext cx="1441094" cy="402335"/>
          </a:xfrm>
          <a:prstGeom prst="rect">
            <a:avLst/>
          </a:prstGeom>
        </p:spPr>
      </p:pic>
      <p:sp>
        <p:nvSpPr>
          <p:cNvPr id="133" name="Oval 132"/>
          <p:cNvSpPr/>
          <p:nvPr/>
        </p:nvSpPr>
        <p:spPr>
          <a:xfrm>
            <a:off x="8182051" y="4146803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8264347" y="4114799"/>
            <a:ext cx="141366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554780"/>
                </a:solidFill>
                <a:latin typeface="Segoe UI"/>
              </a:rPr>
              <a:t>KAI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182051" y="4233671"/>
            <a:ext cx="149595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8 050 грн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182051" y="4370831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9806025" y="3630167"/>
            <a:ext cx="1514246" cy="45719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8" name="Picture 137" descr="p_42f4ee807831e521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842601" y="3657599"/>
            <a:ext cx="1441094" cy="402335"/>
          </a:xfrm>
          <a:prstGeom prst="rect">
            <a:avLst/>
          </a:prstGeom>
        </p:spPr>
      </p:pic>
      <p:sp>
        <p:nvSpPr>
          <p:cNvPr id="139" name="Oval 138"/>
          <p:cNvSpPr/>
          <p:nvPr/>
        </p:nvSpPr>
        <p:spPr>
          <a:xfrm>
            <a:off x="9806025" y="4146803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9888321" y="4114799"/>
            <a:ext cx="141366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554780"/>
                </a:solidFill>
                <a:latin typeface="Segoe UI"/>
              </a:rPr>
              <a:t>Tojiro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806025" y="4233671"/>
            <a:ext cx="149595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9 470 грн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806025" y="4370831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566928" y="4571999"/>
            <a:ext cx="11064240" cy="896111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566928" y="4571999"/>
            <a:ext cx="41148" cy="896111"/>
          </a:xfrm>
          <a:prstGeom prst="rect">
            <a:avLst/>
          </a:prstGeom>
          <a:solidFill>
            <a:srgbClr val="A8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768096" y="4617719"/>
            <a:ext cx="2423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A84A6B"/>
                </a:solidFill>
                <a:latin typeface="Segoe UI"/>
              </a:rPr>
              <a:t>Понад 10 000 грн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768096" y="4809743"/>
            <a:ext cx="24505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Порошкова сталь SG-2 / R2, 101–193 шари, іменні ковалі.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68096" y="5157215"/>
            <a:ext cx="621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51A26"/>
                </a:solidFill>
                <a:latin typeface="Georgia"/>
              </a:rPr>
              <a:t>47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768096" y="5349239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6B7282"/>
                </a:solidFill>
                <a:latin typeface="Segoe UI"/>
              </a:rPr>
              <a:t>позицій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380744" y="5157215"/>
            <a:ext cx="621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51A26"/>
                </a:solidFill>
                <a:latin typeface="Georgia"/>
              </a:rPr>
              <a:t>18 %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380744" y="5349239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6B7282"/>
                </a:solidFill>
                <a:latin typeface="Segoe UI"/>
              </a:rPr>
              <a:t>каталогу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993392" y="5157215"/>
            <a:ext cx="621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51A26"/>
                </a:solidFill>
                <a:latin typeface="Georgia"/>
              </a:rPr>
              <a:t>13 500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993392" y="5349239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6B7282"/>
                </a:solidFill>
                <a:latin typeface="Segoe UI"/>
              </a:rPr>
              <a:t>медіана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2606040" y="5157215"/>
            <a:ext cx="621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51A26"/>
                </a:solidFill>
                <a:latin typeface="Georgia"/>
              </a:rPr>
              <a:t>11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2606040" y="5349239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6B7282"/>
                </a:solidFill>
                <a:latin typeface="Segoe UI"/>
              </a:rPr>
              <a:t>брендів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768096" y="5038343"/>
            <a:ext cx="245059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9AA2B4"/>
                </a:solidFill>
                <a:latin typeface="Segoe UI"/>
              </a:rPr>
              <a:t>KAI 15 · Yaxell 10 · Tojiro 8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3310128" y="4636007"/>
            <a:ext cx="1514246" cy="45719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7" name="Picture 156" descr="p_5b65bfe8ef210b9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346704" y="4663439"/>
            <a:ext cx="1441094" cy="402335"/>
          </a:xfrm>
          <a:prstGeom prst="rect">
            <a:avLst/>
          </a:prstGeom>
        </p:spPr>
      </p:pic>
      <p:sp>
        <p:nvSpPr>
          <p:cNvPr id="158" name="Oval 157"/>
          <p:cNvSpPr/>
          <p:nvPr/>
        </p:nvSpPr>
        <p:spPr>
          <a:xfrm>
            <a:off x="3310128" y="5152643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3392424" y="5120639"/>
            <a:ext cx="141366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A84A6B"/>
                </a:solidFill>
                <a:latin typeface="Segoe UI"/>
              </a:rPr>
              <a:t>KAI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3310128" y="5239511"/>
            <a:ext cx="149595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10 220 грн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3310128" y="5376671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4934102" y="4636007"/>
            <a:ext cx="1514246" cy="45719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3" name="Picture 162" descr="p_c22e46de500b8e64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970678" y="4663439"/>
            <a:ext cx="1441094" cy="402335"/>
          </a:xfrm>
          <a:prstGeom prst="rect">
            <a:avLst/>
          </a:prstGeom>
        </p:spPr>
      </p:pic>
      <p:sp>
        <p:nvSpPr>
          <p:cNvPr id="164" name="Oval 163"/>
          <p:cNvSpPr/>
          <p:nvPr/>
        </p:nvSpPr>
        <p:spPr>
          <a:xfrm>
            <a:off x="4934102" y="5152643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5016398" y="5120639"/>
            <a:ext cx="141366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A84A6B"/>
                </a:solidFill>
                <a:latin typeface="Segoe UI"/>
              </a:rPr>
              <a:t>Takamura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934102" y="5239511"/>
            <a:ext cx="149595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11 990 грн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4934102" y="5376671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WildCat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6558076" y="4636007"/>
            <a:ext cx="1514246" cy="45719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9" name="Picture 168" descr="p_250ba5e07dfb64d9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594652" y="4663439"/>
            <a:ext cx="1441094" cy="402335"/>
          </a:xfrm>
          <a:prstGeom prst="rect">
            <a:avLst/>
          </a:prstGeom>
        </p:spPr>
      </p:pic>
      <p:sp>
        <p:nvSpPr>
          <p:cNvPr id="170" name="Oval 169"/>
          <p:cNvSpPr/>
          <p:nvPr/>
        </p:nvSpPr>
        <p:spPr>
          <a:xfrm>
            <a:off x="6558076" y="5152643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6640372" y="5120639"/>
            <a:ext cx="141366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A84A6B"/>
                </a:solidFill>
                <a:latin typeface="Segoe UI"/>
              </a:rPr>
              <a:t>Hatsukokoro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558076" y="5239511"/>
            <a:ext cx="149595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13 865 грн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558076" y="5376671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WildCat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8182051" y="4636007"/>
            <a:ext cx="1514246" cy="45719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5" name="Picture 174" descr="p_d31c05a14aaad9f0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218627" y="4663439"/>
            <a:ext cx="1441094" cy="402335"/>
          </a:xfrm>
          <a:prstGeom prst="rect">
            <a:avLst/>
          </a:prstGeom>
        </p:spPr>
      </p:pic>
      <p:sp>
        <p:nvSpPr>
          <p:cNvPr id="176" name="Oval 175"/>
          <p:cNvSpPr/>
          <p:nvPr/>
        </p:nvSpPr>
        <p:spPr>
          <a:xfrm>
            <a:off x="8182051" y="5152643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8264347" y="5120639"/>
            <a:ext cx="141366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A84A6B"/>
                </a:solidFill>
                <a:latin typeface="Segoe UI"/>
              </a:rPr>
              <a:t>Etsu / Ittetsu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8182051" y="5239511"/>
            <a:ext cx="149595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16 677 грн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8182051" y="5376671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WildCat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9806025" y="4636007"/>
            <a:ext cx="1514246" cy="45719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1" name="Picture 180" descr="p_b78a58e2d40d3067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9842601" y="4663439"/>
            <a:ext cx="1441094" cy="402335"/>
          </a:xfrm>
          <a:prstGeom prst="rect">
            <a:avLst/>
          </a:prstGeom>
        </p:spPr>
      </p:pic>
      <p:sp>
        <p:nvSpPr>
          <p:cNvPr id="182" name="Oval 181"/>
          <p:cNvSpPr/>
          <p:nvPr/>
        </p:nvSpPr>
        <p:spPr>
          <a:xfrm>
            <a:off x="9806025" y="5152643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9888321" y="5120639"/>
            <a:ext cx="141366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A84A6B"/>
                </a:solidFill>
                <a:latin typeface="Segoe UI"/>
              </a:rPr>
              <a:t>Yaxell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9806025" y="5239511"/>
            <a:ext cx="149595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27 822 грн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806025" y="5376671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603504" y="5724144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Аналітика рахована по всіх позиціях діапазону, фото — п'ять із них. Джерело: картки товарів ProfiMax, ROKS, WildCat, Sekator, жовтень 2026. Ціна за один ніж, роздріб.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С Е Г М Е Н Т   Т И П У   ·   1   З  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Georgia"/>
              </a:rPr>
              <a:t>Шеф і гюто: найбільший тип каталогу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Робочий ніж кухні, 180–240 мм. Найширше представлений тип і головний драйвер середнього чека.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_596083796f5dc15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1618488"/>
            <a:ext cx="1642872" cy="749808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676656" y="2446020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" y="2414016"/>
            <a:ext cx="1533143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Seki Kanetsugu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Kanetsugu Miyabi Isshin Gyuto 2004 180мм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1 560 грн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44040" y="2807208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41096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p_fac20b8a1e4ffe4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5832" y="1618488"/>
            <a:ext cx="1642872" cy="749808"/>
          </a:xfrm>
          <a:prstGeom prst="rect">
            <a:avLst/>
          </a:prstGeom>
        </p:spPr>
      </p:pic>
      <p:sp>
        <p:nvSpPr>
          <p:cNvPr id="23" name="Oval 22"/>
          <p:cNvSpPr/>
          <p:nvPr/>
        </p:nvSpPr>
        <p:spPr>
          <a:xfrm>
            <a:off x="2520696" y="2446020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602992" y="2414016"/>
            <a:ext cx="1533143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Kasumi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2069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Кухарський Шеф Kasumi TORA 36842, 18см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2069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2 833 грн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88080" y="2807208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5500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p_8382864aecd41cf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09872" y="1618488"/>
            <a:ext cx="1642872" cy="749808"/>
          </a:xfrm>
          <a:prstGeom prst="rect">
            <a:avLst/>
          </a:prstGeom>
        </p:spPr>
      </p:pic>
      <p:sp>
        <p:nvSpPr>
          <p:cNvPr id="30" name="Oval 29"/>
          <p:cNvSpPr/>
          <p:nvPr/>
        </p:nvSpPr>
        <p:spPr>
          <a:xfrm>
            <a:off x="4364736" y="2446020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47032" y="2414016"/>
            <a:ext cx="1533143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Masahiro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6473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Chief MRS · 30 10692 180мм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6473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4 100 грн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32120" y="2807208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9904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p_aa251d8125cd559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53912" y="1618488"/>
            <a:ext cx="1642872" cy="749808"/>
          </a:xfrm>
          <a:prstGeom prst="rect">
            <a:avLst/>
          </a:prstGeom>
        </p:spPr>
      </p:pic>
      <p:sp>
        <p:nvSpPr>
          <p:cNvPr id="37" name="Oval 36"/>
          <p:cNvSpPr/>
          <p:nvPr/>
        </p:nvSpPr>
        <p:spPr>
          <a:xfrm>
            <a:off x="6208776" y="2446020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91072" y="2414016"/>
            <a:ext cx="1533143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HONMAMON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0877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кухонний Honmamon / Хонмамон Gyuto (Шеф), 210 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0877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5 990 грн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76160" y="2807208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943087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p_e5a0943241c5922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97951" y="1618488"/>
            <a:ext cx="1642872" cy="749808"/>
          </a:xfrm>
          <a:prstGeom prst="rect">
            <a:avLst/>
          </a:prstGeom>
        </p:spPr>
      </p:pic>
      <p:sp>
        <p:nvSpPr>
          <p:cNvPr id="44" name="Oval 43"/>
          <p:cNvSpPr/>
          <p:nvPr/>
        </p:nvSpPr>
        <p:spPr>
          <a:xfrm>
            <a:off x="8052815" y="2446020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135112" y="2414016"/>
            <a:ext cx="1533143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Yaxell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52815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Кухарський Шеф Yaxell ZEN 35500, 200мм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52815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6 671 грн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20200" y="2807208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787127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0" name="Picture 49" descr="p_bb99d1bed4318d1b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41991" y="1618488"/>
            <a:ext cx="1642872" cy="749808"/>
          </a:xfrm>
          <a:prstGeom prst="rect">
            <a:avLst/>
          </a:prstGeom>
        </p:spPr>
      </p:pic>
      <p:sp>
        <p:nvSpPr>
          <p:cNvPr id="51" name="Oval 50"/>
          <p:cNvSpPr/>
          <p:nvPr/>
        </p:nvSpPr>
        <p:spPr>
          <a:xfrm>
            <a:off x="9896855" y="2446020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979151" y="2414016"/>
            <a:ext cx="1533143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Takamura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896855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Gyuto Migaki VG10 210мм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896855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7 950 грн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064240" y="2807208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2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p_9f9bd757125b1f1b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1792" y="3099815"/>
            <a:ext cx="1642872" cy="749808"/>
          </a:xfrm>
          <a:prstGeom prst="rect">
            <a:avLst/>
          </a:prstGeom>
        </p:spPr>
      </p:pic>
      <p:sp>
        <p:nvSpPr>
          <p:cNvPr id="58" name="Oval 57"/>
          <p:cNvSpPr/>
          <p:nvPr/>
        </p:nvSpPr>
        <p:spPr>
          <a:xfrm>
            <a:off x="676656" y="3927348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58952" y="3895344"/>
            <a:ext cx="1533143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Tojiro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7665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Кухарський Шеф Tojiro DP Damascus F · 654, 18с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7665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8 845 грн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44040" y="4288536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41096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p_80e12cd6efde637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65832" y="3099815"/>
            <a:ext cx="1642872" cy="749808"/>
          </a:xfrm>
          <a:prstGeom prst="rect">
            <a:avLst/>
          </a:prstGeom>
        </p:spPr>
      </p:pic>
      <p:sp>
        <p:nvSpPr>
          <p:cNvPr id="65" name="Oval 64"/>
          <p:cNvSpPr/>
          <p:nvPr/>
        </p:nvSpPr>
        <p:spPr>
          <a:xfrm>
            <a:off x="2520696" y="3927348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602992" y="3895344"/>
            <a:ext cx="1533143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Tosa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52069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Chief Damascus TADAYOSHI Tosa 210мм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52069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9 720 грн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688080" y="4288536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25500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p_1f6dfad583b1634c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09872" y="3099815"/>
            <a:ext cx="1642872" cy="749808"/>
          </a:xfrm>
          <a:prstGeom prst="rect">
            <a:avLst/>
          </a:prstGeom>
        </p:spPr>
      </p:pic>
      <p:sp>
        <p:nvSpPr>
          <p:cNvPr id="72" name="Oval 71"/>
          <p:cNvSpPr/>
          <p:nvPr/>
        </p:nvSpPr>
        <p:spPr>
          <a:xfrm>
            <a:off x="4364736" y="3927348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447032" y="3895344"/>
            <a:ext cx="1533143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Takamura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36473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Gyuto Migaki SG2 180мм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36473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10 200 грн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532120" y="4288536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09904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8" name="Picture 77" descr="p_90d6c1054787c0c5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53912" y="3099815"/>
            <a:ext cx="1642872" cy="749808"/>
          </a:xfrm>
          <a:prstGeom prst="rect">
            <a:avLst/>
          </a:prstGeom>
        </p:spPr>
      </p:pic>
      <p:sp>
        <p:nvSpPr>
          <p:cNvPr id="79" name="Oval 78"/>
          <p:cNvSpPr/>
          <p:nvPr/>
        </p:nvSpPr>
        <p:spPr>
          <a:xfrm>
            <a:off x="6208776" y="3927348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291072" y="3895344"/>
            <a:ext cx="1533143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KAI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20877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SHUN CLASSIC DM · 0719 Кухарський Шеф, 20см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20877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10 920 грн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376160" y="4288536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943087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5" name="Picture 84" descr="p_cde04470743a33cc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997951" y="3099815"/>
            <a:ext cx="1642872" cy="749808"/>
          </a:xfrm>
          <a:prstGeom prst="rect">
            <a:avLst/>
          </a:prstGeom>
        </p:spPr>
      </p:pic>
      <p:sp>
        <p:nvSpPr>
          <p:cNvPr id="86" name="Oval 85"/>
          <p:cNvSpPr/>
          <p:nvPr/>
        </p:nvSpPr>
        <p:spPr>
          <a:xfrm>
            <a:off x="8052815" y="3927348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135112" y="3895344"/>
            <a:ext cx="1533143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JCK Natures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052815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Aogami Super Series SAKURA · 2 Шеф 180mm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052815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12 220 грн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220200" y="4288536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WildCat</a:t>
            </a:r>
          </a:p>
        </p:txBody>
      </p:sp>
      <p:sp>
        <p:nvSpPr>
          <p:cNvPr id="91" name="Rectangle 90"/>
          <p:cNvSpPr/>
          <p:nvPr/>
        </p:nvSpPr>
        <p:spPr>
          <a:xfrm>
            <a:off x="9787127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2" name="Picture 91" descr="p_8e07256bad34f306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841991" y="3099815"/>
            <a:ext cx="1642872" cy="749808"/>
          </a:xfrm>
          <a:prstGeom prst="rect">
            <a:avLst/>
          </a:prstGeom>
        </p:spPr>
      </p:pic>
      <p:sp>
        <p:nvSpPr>
          <p:cNvPr id="93" name="Oval 92"/>
          <p:cNvSpPr/>
          <p:nvPr/>
        </p:nvSpPr>
        <p:spPr>
          <a:xfrm>
            <a:off x="9896855" y="3927348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9979151" y="3895344"/>
            <a:ext cx="1533143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Harukaze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896855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кухонний Honmamon / Хонмамон "HARUKAZE" Gyuto 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896855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26 990 грн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1064240" y="4288536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98" name="Rectangle 97"/>
          <p:cNvSpPr/>
          <p:nvPr/>
        </p:nvSpPr>
        <p:spPr>
          <a:xfrm>
            <a:off x="566928" y="4535424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566928" y="4626864"/>
            <a:ext cx="5486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966E28"/>
                </a:solidFill>
                <a:latin typeface="Segoe UI"/>
              </a:rPr>
              <a:t>А Н А Л І Т И К А   С Е Г М Е Н Т А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6928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566928" y="4809744"/>
            <a:ext cx="1389888" cy="20116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694944" y="4919472"/>
            <a:ext cx="117043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6B7282"/>
                </a:solidFill>
                <a:latin typeface="Segoe UI"/>
              </a:rPr>
              <a:t>ПОЗИЦІЙ У СЕГМЕНТІ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94944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966E28"/>
                </a:solidFill>
                <a:latin typeface="Georgia"/>
              </a:rPr>
              <a:t>49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94944" y="5349240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19 % каталогу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2011680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2011680" y="4809744"/>
            <a:ext cx="1389888" cy="20116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2139696" y="4919472"/>
            <a:ext cx="117043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6B7282"/>
                </a:solidFill>
                <a:latin typeface="Segoe UI"/>
              </a:rPr>
              <a:t>МЕДІАННА ЦІНА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139696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51A26"/>
                </a:solidFill>
                <a:latin typeface="Georgia"/>
              </a:rPr>
              <a:t>8 490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139696" y="5349240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грн за один ніж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3456432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3456432" y="4809744"/>
            <a:ext cx="1389888" cy="20116"/>
          </a:xfrm>
          <a:prstGeom prst="rect">
            <a:avLst/>
          </a:prstGeom>
          <a:solidFill>
            <a:srgbClr val="6B7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3584448" y="4919472"/>
            <a:ext cx="117043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6B7282"/>
                </a:solidFill>
                <a:latin typeface="Segoe UI"/>
              </a:rPr>
              <a:t>ДІАПАЗОН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584448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6B7282"/>
                </a:solidFill>
                <a:latin typeface="Georgia"/>
              </a:rPr>
              <a:t>1 149–26 990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584448" y="5349240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грн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4901184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4901184" y="4809744"/>
            <a:ext cx="1389888" cy="20116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029200" y="4919472"/>
            <a:ext cx="117043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6B7282"/>
                </a:solidFill>
                <a:latin typeface="Segoe UI"/>
              </a:rPr>
              <a:t>БРЕНДІВ У СЕГМЕНТІ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029200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B253F"/>
                </a:solidFill>
                <a:latin typeface="Georgia"/>
              </a:rPr>
              <a:t>13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5029200" y="5349240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усі японського виробництва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400800" y="4809744"/>
            <a:ext cx="2377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Х Т О   Т Р И М А Є   С Е Г М Е Н Т</a:t>
            </a:r>
          </a:p>
        </p:txBody>
      </p:sp>
      <p:sp>
        <p:nvSpPr>
          <p:cNvPr id="121" name="Oval 120"/>
          <p:cNvSpPr/>
          <p:nvPr/>
        </p:nvSpPr>
        <p:spPr>
          <a:xfrm>
            <a:off x="6400800" y="4999939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6492240" y="4974336"/>
            <a:ext cx="13898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Tojiro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7918704" y="5009083"/>
            <a:ext cx="1207008" cy="68580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9162288" y="4974336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966E28"/>
                </a:solidFill>
                <a:latin typeface="Segoe UI"/>
              </a:rPr>
              <a:t>14</a:t>
            </a:r>
          </a:p>
        </p:txBody>
      </p:sp>
      <p:sp>
        <p:nvSpPr>
          <p:cNvPr id="125" name="Oval 124"/>
          <p:cNvSpPr/>
          <p:nvPr/>
        </p:nvSpPr>
        <p:spPr>
          <a:xfrm>
            <a:off x="6400800" y="5144414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492240" y="5118811"/>
            <a:ext cx="13898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HONMAMON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7918704" y="5153558"/>
            <a:ext cx="612648" cy="68580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9162288" y="5118811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966E28"/>
                </a:solidFill>
                <a:latin typeface="Segoe UI"/>
              </a:rPr>
              <a:t>7</a:t>
            </a:r>
          </a:p>
        </p:txBody>
      </p:sp>
      <p:sp>
        <p:nvSpPr>
          <p:cNvPr id="129" name="Oval 128"/>
          <p:cNvSpPr/>
          <p:nvPr/>
        </p:nvSpPr>
        <p:spPr>
          <a:xfrm>
            <a:off x="6400800" y="5288889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6492240" y="5263286"/>
            <a:ext cx="13898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Yaxell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7918704" y="5298033"/>
            <a:ext cx="442830" cy="68580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9162288" y="5263286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966E28"/>
                </a:solidFill>
                <a:latin typeface="Segoe UI"/>
              </a:rPr>
              <a:t>5</a:t>
            </a:r>
          </a:p>
        </p:txBody>
      </p:sp>
      <p:sp>
        <p:nvSpPr>
          <p:cNvPr id="133" name="Oval 132"/>
          <p:cNvSpPr/>
          <p:nvPr/>
        </p:nvSpPr>
        <p:spPr>
          <a:xfrm>
            <a:off x="6400800" y="5433364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492240" y="5407761"/>
            <a:ext cx="13898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Satake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7918704" y="5442508"/>
            <a:ext cx="357922" cy="68580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9162288" y="5407761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966E28"/>
                </a:solidFill>
                <a:latin typeface="Segoe UI"/>
              </a:rPr>
              <a:t>4</a:t>
            </a:r>
          </a:p>
        </p:txBody>
      </p:sp>
      <p:sp>
        <p:nvSpPr>
          <p:cNvPr id="137" name="Oval 136"/>
          <p:cNvSpPr/>
          <p:nvPr/>
        </p:nvSpPr>
        <p:spPr>
          <a:xfrm>
            <a:off x="6400800" y="5577840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6492240" y="5552236"/>
            <a:ext cx="13898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Kasumi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7918704" y="5586984"/>
            <a:ext cx="357922" cy="68580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9162288" y="5552236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966E28"/>
                </a:solidFill>
                <a:latin typeface="Segoe UI"/>
              </a:rP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619488" y="4809744"/>
            <a:ext cx="2011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Д Е   Ц Е   К У П И Т И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619488" y="4974336"/>
            <a:ext cx="1554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ProfiMax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210544" y="4974336"/>
            <a:ext cx="42062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29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9619488" y="5118811"/>
            <a:ext cx="1554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ROKS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1210544" y="5118811"/>
            <a:ext cx="42062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619488" y="5263286"/>
            <a:ext cx="1554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Sekator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210544" y="5263286"/>
            <a:ext cx="42062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8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619488" y="5407761"/>
            <a:ext cx="1554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WildCat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1210544" y="5407761"/>
            <a:ext cx="42062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4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566928" y="5687568"/>
            <a:ext cx="11064240" cy="844905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566928" y="5687568"/>
            <a:ext cx="36576" cy="844905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804672" y="5843016"/>
            <a:ext cx="105887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966E28"/>
                </a:solidFill>
                <a:latin typeface="Segoe UI"/>
              </a:rPr>
              <a:t>ЩО ЦЕ ЗА СЕГМЕНТ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804672" y="6071616"/>
            <a:ext cx="10588752" cy="314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Універсальний робочий ніж: м'ясо, овочі, риба. Купує і домашній просьюмер, і шеф-кухар для себе.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Саме в цьому типі найширший ціновий розкид — у десятки разів. Тип не визначає ціну; її визначає сталь.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03504" y="658368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Показано 12 позицій, рівномірно розподілених за ціною; аналітика — по всіх позиціях типу. Джерело: картки товарів, жовтень 2026.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С Е Г М Е Н Т   Т И П У   ·   2   З  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Georgia"/>
              </a:rPr>
              <a:t>Сантоку, петті, накірі: домашня трійця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Три типи, які купує домашня кухня і які формують уявлення масового покупця про японський ніж.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_04ca1fd405b651c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1618488"/>
            <a:ext cx="1642872" cy="749808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676656" y="2446020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" y="2414016"/>
            <a:ext cx="1533143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Seki Kanetsugu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Kanetsugu Miyabi Isshin Nakiri 2007 165мм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1 760 грн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44040" y="2807208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41096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p_2dd50e9ce39d19b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5832" y="1618488"/>
            <a:ext cx="1642872" cy="749808"/>
          </a:xfrm>
          <a:prstGeom prst="rect">
            <a:avLst/>
          </a:prstGeom>
        </p:spPr>
      </p:pic>
      <p:sp>
        <p:nvSpPr>
          <p:cNvPr id="23" name="Oval 22"/>
          <p:cNvSpPr/>
          <p:nvPr/>
        </p:nvSpPr>
        <p:spPr>
          <a:xfrm>
            <a:off x="2520696" y="2446020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602992" y="2414016"/>
            <a:ext cx="1533143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Kasumi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2069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кухонний Nakiri Kasumi TORA 36847, 16.5см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2069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2 920 грн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88080" y="2807208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5500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p_1047a123d3bb318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09872" y="1618488"/>
            <a:ext cx="1642872" cy="749808"/>
          </a:xfrm>
          <a:prstGeom prst="rect">
            <a:avLst/>
          </a:prstGeom>
        </p:spPr>
      </p:pic>
      <p:sp>
        <p:nvSpPr>
          <p:cNvPr id="30" name="Oval 29"/>
          <p:cNvSpPr/>
          <p:nvPr/>
        </p:nvSpPr>
        <p:spPr>
          <a:xfrm>
            <a:off x="4364736" y="2446020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47032" y="2414016"/>
            <a:ext cx="1533143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Tojiro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6473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Shirogami Kasumi Петті ніж 150 мм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6473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3 247 грн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32120" y="2807208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WildCat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9904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p_4982b36aba845b3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53912" y="1618488"/>
            <a:ext cx="1642872" cy="749808"/>
          </a:xfrm>
          <a:prstGeom prst="rect">
            <a:avLst/>
          </a:prstGeom>
        </p:spPr>
      </p:pic>
      <p:sp>
        <p:nvSpPr>
          <p:cNvPr id="37" name="Oval 36"/>
          <p:cNvSpPr/>
          <p:nvPr/>
        </p:nvSpPr>
        <p:spPr>
          <a:xfrm>
            <a:off x="6208776" y="2446020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91072" y="2414016"/>
            <a:ext cx="1533143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Tomita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0877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універсальний ніж Super Blue Steel 120 mm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0877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4 362 грн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76160" y="2807208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WildCat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943087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p_fa3a403ceaa1132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97951" y="1618488"/>
            <a:ext cx="1642872" cy="749808"/>
          </a:xfrm>
          <a:prstGeom prst="rect">
            <a:avLst/>
          </a:prstGeom>
        </p:spPr>
      </p:pic>
      <p:sp>
        <p:nvSpPr>
          <p:cNvPr id="44" name="Oval 43"/>
          <p:cNvSpPr/>
          <p:nvPr/>
        </p:nvSpPr>
        <p:spPr>
          <a:xfrm>
            <a:off x="8052815" y="2446020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135112" y="2414016"/>
            <a:ext cx="1533143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Tosa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52815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Nakiri Kanto 54x165мм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52815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5 439 грн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20200" y="2807208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787127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0" name="Picture 49" descr="p_150690736f1ed1a9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41991" y="1618488"/>
            <a:ext cx="1642872" cy="749808"/>
          </a:xfrm>
          <a:prstGeom prst="rect">
            <a:avLst/>
          </a:prstGeom>
        </p:spPr>
      </p:pic>
      <p:sp>
        <p:nvSpPr>
          <p:cNvPr id="51" name="Oval 50"/>
          <p:cNvSpPr/>
          <p:nvPr/>
        </p:nvSpPr>
        <p:spPr>
          <a:xfrm>
            <a:off x="9896855" y="2446020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979151" y="2414016"/>
            <a:ext cx="1533143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KAI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896855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SHUN CLASSIC DM · 0716 універсальний, 10см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896855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6 160 грн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064240" y="2807208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2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p_f30cc82e04ffdb2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1792" y="3099815"/>
            <a:ext cx="1642872" cy="749808"/>
          </a:xfrm>
          <a:prstGeom prst="rect">
            <a:avLst/>
          </a:prstGeom>
        </p:spPr>
      </p:pic>
      <p:sp>
        <p:nvSpPr>
          <p:cNvPr id="58" name="Oval 57"/>
          <p:cNvSpPr/>
          <p:nvPr/>
        </p:nvSpPr>
        <p:spPr>
          <a:xfrm>
            <a:off x="676656" y="3927348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58952" y="3895344"/>
            <a:ext cx="1533143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Yaxell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7665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Накірі Yaxell ZEN 35504, 180мм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7665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6 999 грн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44040" y="4288536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41096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p_9c77e4a68891c074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65832" y="3099815"/>
            <a:ext cx="1642872" cy="749808"/>
          </a:xfrm>
          <a:prstGeom prst="rect">
            <a:avLst/>
          </a:prstGeom>
        </p:spPr>
      </p:pic>
      <p:sp>
        <p:nvSpPr>
          <p:cNvPr id="65" name="Oval 64"/>
          <p:cNvSpPr/>
          <p:nvPr/>
        </p:nvSpPr>
        <p:spPr>
          <a:xfrm>
            <a:off x="2520696" y="3927348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602992" y="3895344"/>
            <a:ext cx="1533143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Takamura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52069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Chromax Petty 130мм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52069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7 400 грн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688080" y="4288536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25500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p_69e9e46e10fb56e3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09872" y="3099815"/>
            <a:ext cx="1642872" cy="749808"/>
          </a:xfrm>
          <a:prstGeom prst="rect">
            <a:avLst/>
          </a:prstGeom>
        </p:spPr>
      </p:pic>
      <p:sp>
        <p:nvSpPr>
          <p:cNvPr id="72" name="Oval 71"/>
          <p:cNvSpPr/>
          <p:nvPr/>
        </p:nvSpPr>
        <p:spPr>
          <a:xfrm>
            <a:off x="4364736" y="3927348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447032" y="3895344"/>
            <a:ext cx="1533143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Shigehiro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36473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кухонний HONMAMON / Хонмамон Shigehiro Special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36473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8 490 грн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532120" y="4288536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09904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8" name="Picture 77" descr="p_6de2ada46424bc7f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53912" y="3099815"/>
            <a:ext cx="1642872" cy="749808"/>
          </a:xfrm>
          <a:prstGeom prst="rect">
            <a:avLst/>
          </a:prstGeom>
        </p:spPr>
      </p:pic>
      <p:sp>
        <p:nvSpPr>
          <p:cNvPr id="79" name="Oval 78"/>
          <p:cNvSpPr/>
          <p:nvPr/>
        </p:nvSpPr>
        <p:spPr>
          <a:xfrm>
            <a:off x="6208776" y="3927348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291072" y="3895344"/>
            <a:ext cx="1533143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Kasumi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20877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Накірі Kasumi Damascus 84017, 180мм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20877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8 999 грн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376160" y="4288536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943087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5" name="Picture 84" descr="p_d0542d538a2f9842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997951" y="3099815"/>
            <a:ext cx="1642872" cy="749808"/>
          </a:xfrm>
          <a:prstGeom prst="rect">
            <a:avLst/>
          </a:prstGeom>
        </p:spPr>
      </p:pic>
      <p:sp>
        <p:nvSpPr>
          <p:cNvPr id="86" name="Oval 85"/>
          <p:cNvSpPr/>
          <p:nvPr/>
        </p:nvSpPr>
        <p:spPr>
          <a:xfrm>
            <a:off x="8052815" y="3927348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135112" y="3895344"/>
            <a:ext cx="1533143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HONMAMON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052815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кухонний HONMAMON / Хонмамон Gyuto/Petty серії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052815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9 950 грн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220200" y="4288536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91" name="Rectangle 90"/>
          <p:cNvSpPr/>
          <p:nvPr/>
        </p:nvSpPr>
        <p:spPr>
          <a:xfrm>
            <a:off x="9787127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2" name="Picture 91" descr="p_a9020c3c0c6b53c6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841991" y="3099815"/>
            <a:ext cx="1642872" cy="749808"/>
          </a:xfrm>
          <a:prstGeom prst="rect">
            <a:avLst/>
          </a:prstGeom>
        </p:spPr>
      </p:pic>
      <p:sp>
        <p:nvSpPr>
          <p:cNvPr id="93" name="Oval 92"/>
          <p:cNvSpPr/>
          <p:nvPr/>
        </p:nvSpPr>
        <p:spPr>
          <a:xfrm>
            <a:off x="9896855" y="3927348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9979151" y="3895344"/>
            <a:ext cx="1533143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Harukaze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896855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кухонний Honmamon / Хонмамон "HARUKAZE" Petty 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896855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19 990 грн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1064240" y="4288536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98" name="Rectangle 97"/>
          <p:cNvSpPr/>
          <p:nvPr/>
        </p:nvSpPr>
        <p:spPr>
          <a:xfrm>
            <a:off x="566928" y="4535424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566928" y="4626864"/>
            <a:ext cx="5486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2A7F86"/>
                </a:solidFill>
                <a:latin typeface="Segoe UI"/>
              </a:rPr>
              <a:t>А Н А Л І Т И К А   С Е Г М Е Н Т А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6928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566928" y="4809744"/>
            <a:ext cx="1389888" cy="20116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694944" y="4919472"/>
            <a:ext cx="117043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6B7282"/>
                </a:solidFill>
                <a:latin typeface="Segoe UI"/>
              </a:rPr>
              <a:t>ПОЗИЦІЙ У СЕГМЕНТІ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94944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2A7F86"/>
                </a:solidFill>
                <a:latin typeface="Georgia"/>
              </a:rPr>
              <a:t>77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94944" y="5349240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30 % каталогу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2011680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2011680" y="4809744"/>
            <a:ext cx="1389888" cy="20116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2139696" y="4919472"/>
            <a:ext cx="117043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6B7282"/>
                </a:solidFill>
                <a:latin typeface="Segoe UI"/>
              </a:rPr>
              <a:t>МЕДІАННА ЦІНА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139696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51A26"/>
                </a:solidFill>
                <a:latin typeface="Georgia"/>
              </a:rPr>
              <a:t>6 671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139696" y="5349240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грн за один ніж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3456432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3456432" y="4809744"/>
            <a:ext cx="1389888" cy="20116"/>
          </a:xfrm>
          <a:prstGeom prst="rect">
            <a:avLst/>
          </a:prstGeom>
          <a:solidFill>
            <a:srgbClr val="6B7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3584448" y="4919472"/>
            <a:ext cx="117043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6B7282"/>
                </a:solidFill>
                <a:latin typeface="Segoe UI"/>
              </a:rPr>
              <a:t>ДІАПАЗОН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584448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6B7282"/>
                </a:solidFill>
                <a:latin typeface="Georgia"/>
              </a:rPr>
              <a:t>1 140–19 990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584448" y="5349240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грн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4901184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4901184" y="4809744"/>
            <a:ext cx="1389888" cy="20116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029200" y="4919472"/>
            <a:ext cx="117043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6B7282"/>
                </a:solidFill>
                <a:latin typeface="Segoe UI"/>
              </a:rPr>
              <a:t>БРЕНДІВ У СЕГМЕНТІ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029200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B253F"/>
                </a:solidFill>
                <a:latin typeface="Georgia"/>
              </a:rPr>
              <a:t>18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5029200" y="5349240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усі японського виробництва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400800" y="4809744"/>
            <a:ext cx="2377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Х Т О   Т Р И М А Є   С Е Г М Е Н Т</a:t>
            </a:r>
          </a:p>
        </p:txBody>
      </p:sp>
      <p:sp>
        <p:nvSpPr>
          <p:cNvPr id="121" name="Oval 120"/>
          <p:cNvSpPr/>
          <p:nvPr/>
        </p:nvSpPr>
        <p:spPr>
          <a:xfrm>
            <a:off x="6400800" y="4999939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6492240" y="4974336"/>
            <a:ext cx="13898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Yaxell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7918704" y="5009083"/>
            <a:ext cx="1207008" cy="68580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9162288" y="4974336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2A7F86"/>
                </a:solidFill>
                <a:latin typeface="Segoe UI"/>
              </a:rPr>
              <a:t>12</a:t>
            </a:r>
          </a:p>
        </p:txBody>
      </p:sp>
      <p:sp>
        <p:nvSpPr>
          <p:cNvPr id="125" name="Oval 124"/>
          <p:cNvSpPr/>
          <p:nvPr/>
        </p:nvSpPr>
        <p:spPr>
          <a:xfrm>
            <a:off x="6400800" y="5144414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492240" y="5118811"/>
            <a:ext cx="13898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Tojiro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7918704" y="5153558"/>
            <a:ext cx="1008888" cy="68580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9162288" y="5118811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2A7F86"/>
                </a:solidFill>
                <a:latin typeface="Segoe UI"/>
              </a:rPr>
              <a:t>10</a:t>
            </a:r>
          </a:p>
        </p:txBody>
      </p:sp>
      <p:sp>
        <p:nvSpPr>
          <p:cNvPr id="129" name="Oval 128"/>
          <p:cNvSpPr/>
          <p:nvPr/>
        </p:nvSpPr>
        <p:spPr>
          <a:xfrm>
            <a:off x="6400800" y="5288889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6492240" y="5263286"/>
            <a:ext cx="13898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HONMAMON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7918704" y="5298033"/>
            <a:ext cx="909828" cy="68580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9162288" y="5263286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2A7F86"/>
                </a:solidFill>
                <a:latin typeface="Segoe UI"/>
              </a:rPr>
              <a:t>9</a:t>
            </a:r>
          </a:p>
        </p:txBody>
      </p:sp>
      <p:sp>
        <p:nvSpPr>
          <p:cNvPr id="133" name="Oval 132"/>
          <p:cNvSpPr/>
          <p:nvPr/>
        </p:nvSpPr>
        <p:spPr>
          <a:xfrm>
            <a:off x="6400800" y="5433364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492240" y="5407761"/>
            <a:ext cx="13898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KAI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7918704" y="5442508"/>
            <a:ext cx="810768" cy="68580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9162288" y="5407761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2A7F86"/>
                </a:solidFill>
                <a:latin typeface="Segoe UI"/>
              </a:rPr>
              <a:t>8</a:t>
            </a:r>
          </a:p>
        </p:txBody>
      </p:sp>
      <p:sp>
        <p:nvSpPr>
          <p:cNvPr id="137" name="Oval 136"/>
          <p:cNvSpPr/>
          <p:nvPr/>
        </p:nvSpPr>
        <p:spPr>
          <a:xfrm>
            <a:off x="6400800" y="5577840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6492240" y="5552236"/>
            <a:ext cx="13898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Kasumi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7918704" y="5586984"/>
            <a:ext cx="711708" cy="68580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9162288" y="5552236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2A7F86"/>
                </a:solidFill>
                <a:latin typeface="Segoe UI"/>
              </a:rP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619488" y="4809744"/>
            <a:ext cx="2011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Д Е   Ц Е   К У П И Т И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619488" y="4974336"/>
            <a:ext cx="1554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ProfiMax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210544" y="4974336"/>
            <a:ext cx="42062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35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9619488" y="5118811"/>
            <a:ext cx="1554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ROKS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1210544" y="5118811"/>
            <a:ext cx="42062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19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619488" y="5263286"/>
            <a:ext cx="1554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Sekator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210544" y="5263286"/>
            <a:ext cx="42062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14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619488" y="5407761"/>
            <a:ext cx="1554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WildCat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1210544" y="5407761"/>
            <a:ext cx="42062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9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566928" y="5687568"/>
            <a:ext cx="11064240" cy="844905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566928" y="5687568"/>
            <a:ext cx="36576" cy="844905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804672" y="5843016"/>
            <a:ext cx="105887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2A7F86"/>
                </a:solidFill>
                <a:latin typeface="Segoe UI"/>
              </a:rPr>
              <a:t>ЩО ЦЕ ЗА СЕГМЕНТ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804672" y="6071616"/>
            <a:ext cx="10588752" cy="314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Сантоку — другий ніж у домі після шефа. Петті — найчастіша купівля з найнижчим чеком. Накірі зростає разом із модою на овочі.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Єдина група, де японська геометрія вже стала масовою — і саме тому тут найважче продати походження: покупець бачить форму, а не країну.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03504" y="658368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Показано 12 позицій, рівномірно розподілених за ціною; аналітика — по всіх позиціях типу. Джерело: картки товарів, жовтень 2026.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С Е Г М Е Н Т   Т И П У   ·   3   З  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Georgia"/>
              </a:rPr>
              <a:t>Односторонні: янагіба, деба, сашимі, усуба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13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Єдина геометрія, де японське виробництво не має європейського замінника в принципі.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_b24bcd2f1c88598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1618488"/>
            <a:ext cx="1642872" cy="749808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676656" y="2446020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" y="2414016"/>
            <a:ext cx="1533143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Motokane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кухонний HONMAMON / Хонмамон Deba Motokane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2 200 грн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44040" y="2807208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41096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p_69ad419a09a1bd7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5832" y="1618488"/>
            <a:ext cx="1642872" cy="749808"/>
          </a:xfrm>
          <a:prstGeom prst="rect">
            <a:avLst/>
          </a:prstGeom>
        </p:spPr>
      </p:pic>
      <p:sp>
        <p:nvSpPr>
          <p:cNvPr id="23" name="Oval 22"/>
          <p:cNvSpPr/>
          <p:nvPr/>
        </p:nvSpPr>
        <p:spPr>
          <a:xfrm>
            <a:off x="2520696" y="2446020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602992" y="2414016"/>
            <a:ext cx="1533143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HONMAMON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2069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кухонний Honmamon / Хонмамон Sashimi Hocho, 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2069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2 695 грн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88080" y="2807208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5500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p_36fcbe5427e2db3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09872" y="1618488"/>
            <a:ext cx="1642872" cy="749808"/>
          </a:xfrm>
          <a:prstGeom prst="rect">
            <a:avLst/>
          </a:prstGeom>
        </p:spPr>
      </p:pic>
      <p:sp>
        <p:nvSpPr>
          <p:cNvPr id="30" name="Oval 29"/>
          <p:cNvSpPr/>
          <p:nvPr/>
        </p:nvSpPr>
        <p:spPr>
          <a:xfrm>
            <a:off x="4364736" y="2446020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47032" y="2414016"/>
            <a:ext cx="1533143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Fukamizu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6473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Sashimi · bocho Black 210мм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6473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3 463 грн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32120" y="2807208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9904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p_397660616646e1a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53912" y="1618488"/>
            <a:ext cx="1642872" cy="749808"/>
          </a:xfrm>
          <a:prstGeom prst="rect">
            <a:avLst/>
          </a:prstGeom>
        </p:spPr>
      </p:pic>
      <p:sp>
        <p:nvSpPr>
          <p:cNvPr id="37" name="Oval 36"/>
          <p:cNvSpPr/>
          <p:nvPr/>
        </p:nvSpPr>
        <p:spPr>
          <a:xfrm>
            <a:off x="6208776" y="2446020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91072" y="2414016"/>
            <a:ext cx="1533143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Tosa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0877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Migaki Yanagiba HC305 · W2 210мм японський кух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0877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3 500 грн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76160" y="2807208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943087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p_e44228ad9d8f07a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97951" y="1618488"/>
            <a:ext cx="1642872" cy="749808"/>
          </a:xfrm>
          <a:prstGeom prst="rect">
            <a:avLst/>
          </a:prstGeom>
        </p:spPr>
      </p:pic>
      <p:sp>
        <p:nvSpPr>
          <p:cNvPr id="44" name="Oval 43"/>
          <p:cNvSpPr/>
          <p:nvPr/>
        </p:nvSpPr>
        <p:spPr>
          <a:xfrm>
            <a:off x="8052815" y="2446020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135112" y="2414016"/>
            <a:ext cx="1533143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KAI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52815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Seki Magoroku Kinju AK · 1106 Янагіба, 24см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52815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3 999 грн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20200" y="2807208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787127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0" name="Picture 49" descr="p_3e210647f2461b7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41991" y="1618488"/>
            <a:ext cx="1642872" cy="749808"/>
          </a:xfrm>
          <a:prstGeom prst="rect">
            <a:avLst/>
          </a:prstGeom>
        </p:spPr>
      </p:pic>
      <p:sp>
        <p:nvSpPr>
          <p:cNvPr id="51" name="Oval 50"/>
          <p:cNvSpPr/>
          <p:nvPr/>
        </p:nvSpPr>
        <p:spPr>
          <a:xfrm>
            <a:off x="9896855" y="2446020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979151" y="2414016"/>
            <a:ext cx="1533143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Tosa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896855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Sashimi · bocho 240мм (двосторонній)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896855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4 400 грн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064240" y="2807208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2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p_2f9af68a7fa6237a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1792" y="3099815"/>
            <a:ext cx="1642872" cy="749808"/>
          </a:xfrm>
          <a:prstGeom prst="rect">
            <a:avLst/>
          </a:prstGeom>
        </p:spPr>
      </p:pic>
      <p:sp>
        <p:nvSpPr>
          <p:cNvPr id="58" name="Oval 57"/>
          <p:cNvSpPr/>
          <p:nvPr/>
        </p:nvSpPr>
        <p:spPr>
          <a:xfrm>
            <a:off x="676656" y="3927348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58952" y="3895344"/>
            <a:ext cx="1533143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Tosa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7665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Sashimi · bocho Black 210мм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7665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4 600 грн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44040" y="4288536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41096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p_7b33a10e2bbc7f6c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65832" y="3099815"/>
            <a:ext cx="1642872" cy="749808"/>
          </a:xfrm>
          <a:prstGeom prst="rect">
            <a:avLst/>
          </a:prstGeom>
        </p:spPr>
      </p:pic>
      <p:sp>
        <p:nvSpPr>
          <p:cNvPr id="65" name="Oval 64"/>
          <p:cNvSpPr/>
          <p:nvPr/>
        </p:nvSpPr>
        <p:spPr>
          <a:xfrm>
            <a:off x="2520696" y="3927348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602992" y="3895344"/>
            <a:ext cx="1533143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Tosa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52069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Sashimi · bocho 270мм (двосторонній)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52069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4 900 грн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688080" y="4288536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25500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p_847d7acc3d88e47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09872" y="3099815"/>
            <a:ext cx="1642872" cy="749808"/>
          </a:xfrm>
          <a:prstGeom prst="rect">
            <a:avLst/>
          </a:prstGeom>
        </p:spPr>
      </p:pic>
      <p:sp>
        <p:nvSpPr>
          <p:cNvPr id="72" name="Oval 71"/>
          <p:cNvSpPr/>
          <p:nvPr/>
        </p:nvSpPr>
        <p:spPr>
          <a:xfrm>
            <a:off x="4364736" y="3927348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447032" y="3895344"/>
            <a:ext cx="1533143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Tanaka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36473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Kamagata Usuba ніж Super Blue Steel 150mm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36473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5 203 грн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532120" y="4288536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WildCat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09904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8" name="Picture 77" descr="p_5376f73217a9bb86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53912" y="3099815"/>
            <a:ext cx="1642872" cy="749808"/>
          </a:xfrm>
          <a:prstGeom prst="rect">
            <a:avLst/>
          </a:prstGeom>
        </p:spPr>
      </p:pic>
      <p:sp>
        <p:nvSpPr>
          <p:cNvPr id="79" name="Oval 78"/>
          <p:cNvSpPr/>
          <p:nvPr/>
        </p:nvSpPr>
        <p:spPr>
          <a:xfrm>
            <a:off x="6208776" y="3927348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291072" y="3895344"/>
            <a:ext cx="1533143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Masahiro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20877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Янагіба Masahiro 16220 Yanagiba, 27см сталь Ki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20877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6 512 грн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376160" y="4288536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943087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5" name="Picture 84" descr="p_3db5b8fa0291a232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997951" y="3099815"/>
            <a:ext cx="1642872" cy="749808"/>
          </a:xfrm>
          <a:prstGeom prst="rect">
            <a:avLst/>
          </a:prstGeom>
        </p:spPr>
      </p:pic>
      <p:sp>
        <p:nvSpPr>
          <p:cNvPr id="86" name="Oval 85"/>
          <p:cNvSpPr/>
          <p:nvPr/>
        </p:nvSpPr>
        <p:spPr>
          <a:xfrm>
            <a:off x="8052815" y="3927348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135112" y="3895344"/>
            <a:ext cx="1533143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Sakai Haruhiko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052815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White 2 Янагіба 240мм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052815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7 040 грн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220200" y="4288536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WildCat</a:t>
            </a:r>
          </a:p>
        </p:txBody>
      </p:sp>
      <p:sp>
        <p:nvSpPr>
          <p:cNvPr id="91" name="Rectangle 90"/>
          <p:cNvSpPr/>
          <p:nvPr/>
        </p:nvSpPr>
        <p:spPr>
          <a:xfrm>
            <a:off x="9787127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2" name="Picture 91" descr="p_d2371d536e521f91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841991" y="3099815"/>
            <a:ext cx="1642872" cy="749808"/>
          </a:xfrm>
          <a:prstGeom prst="rect">
            <a:avLst/>
          </a:prstGeom>
        </p:spPr>
      </p:pic>
      <p:sp>
        <p:nvSpPr>
          <p:cNvPr id="93" name="Oval 92"/>
          <p:cNvSpPr/>
          <p:nvPr/>
        </p:nvSpPr>
        <p:spPr>
          <a:xfrm>
            <a:off x="9896855" y="3927348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9979151" y="3895344"/>
            <a:ext cx="1533143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Sakai Takayuki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896855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Янагіба SAKAI TAKAYUKI Yasugi для лівші, 24см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896855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7 640 грн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1064240" y="4288536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98" name="Rectangle 97"/>
          <p:cNvSpPr/>
          <p:nvPr/>
        </p:nvSpPr>
        <p:spPr>
          <a:xfrm>
            <a:off x="566928" y="4535424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566928" y="4626864"/>
            <a:ext cx="5486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554780"/>
                </a:solidFill>
                <a:latin typeface="Segoe UI"/>
              </a:rPr>
              <a:t>А Н А Л І Т И К А   С Е Г М Е Н Т А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6928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566928" y="4809744"/>
            <a:ext cx="1389888" cy="20116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694944" y="4919472"/>
            <a:ext cx="117043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6B7282"/>
                </a:solidFill>
                <a:latin typeface="Segoe UI"/>
              </a:rPr>
              <a:t>ПОЗИЦІЙ У СЕГМЕНТІ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94944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554780"/>
                </a:solidFill>
                <a:latin typeface="Georgia"/>
              </a:rPr>
              <a:t>35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94944" y="5349240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14 % каталогу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2011680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2011680" y="4809744"/>
            <a:ext cx="1389888" cy="20116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2139696" y="4919472"/>
            <a:ext cx="117043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6B7282"/>
                </a:solidFill>
                <a:latin typeface="Segoe UI"/>
              </a:rPr>
              <a:t>МЕДІАННА ЦІНА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139696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51A26"/>
                </a:solidFill>
                <a:latin typeface="Georgia"/>
              </a:rPr>
              <a:t>4 550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139696" y="5349240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грн за один ніж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3456432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3456432" y="4809744"/>
            <a:ext cx="1389888" cy="20116"/>
          </a:xfrm>
          <a:prstGeom prst="rect">
            <a:avLst/>
          </a:prstGeom>
          <a:solidFill>
            <a:srgbClr val="6B7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3584448" y="4919472"/>
            <a:ext cx="117043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6B7282"/>
                </a:solidFill>
                <a:latin typeface="Segoe UI"/>
              </a:rPr>
              <a:t>ДІАПАЗОН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584448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6B7282"/>
                </a:solidFill>
                <a:latin typeface="Georgia"/>
              </a:rPr>
              <a:t>2 016–7 640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584448" y="5349240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грн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4901184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4901184" y="4809744"/>
            <a:ext cx="1389888" cy="20116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029200" y="4919472"/>
            <a:ext cx="117043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6B7282"/>
                </a:solidFill>
                <a:latin typeface="Segoe UI"/>
              </a:rPr>
              <a:t>БРЕНДІВ У СЕГМЕНТІ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029200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B253F"/>
                </a:solidFill>
                <a:latin typeface="Georgia"/>
              </a:rPr>
              <a:t>12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5029200" y="5349240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усі японського виробництва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400800" y="4809744"/>
            <a:ext cx="2377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Х Т О   Т Р И М А Є   С Е Г М Е Н Т</a:t>
            </a:r>
          </a:p>
        </p:txBody>
      </p:sp>
      <p:sp>
        <p:nvSpPr>
          <p:cNvPr id="121" name="Oval 120"/>
          <p:cNvSpPr/>
          <p:nvPr/>
        </p:nvSpPr>
        <p:spPr>
          <a:xfrm>
            <a:off x="6400800" y="4999939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6492240" y="4974336"/>
            <a:ext cx="13898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Tosa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7918704" y="5009083"/>
            <a:ext cx="1207008" cy="68580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9162288" y="4974336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54780"/>
                </a:solidFill>
                <a:latin typeface="Segoe UI"/>
              </a:rPr>
              <a:t>11</a:t>
            </a:r>
          </a:p>
        </p:txBody>
      </p:sp>
      <p:sp>
        <p:nvSpPr>
          <p:cNvPr id="125" name="Oval 124"/>
          <p:cNvSpPr/>
          <p:nvPr/>
        </p:nvSpPr>
        <p:spPr>
          <a:xfrm>
            <a:off x="6400800" y="5144414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492240" y="5118811"/>
            <a:ext cx="13898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KAI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7918704" y="5153558"/>
            <a:ext cx="882811" cy="68580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9162288" y="5118811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54780"/>
                </a:solidFill>
                <a:latin typeface="Segoe UI"/>
              </a:rPr>
              <a:t>8</a:t>
            </a:r>
          </a:p>
        </p:txBody>
      </p:sp>
      <p:sp>
        <p:nvSpPr>
          <p:cNvPr id="129" name="Oval 128"/>
          <p:cNvSpPr/>
          <p:nvPr/>
        </p:nvSpPr>
        <p:spPr>
          <a:xfrm>
            <a:off x="6400800" y="5288889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6492240" y="5263286"/>
            <a:ext cx="13898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HONMAMON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7918704" y="5298033"/>
            <a:ext cx="342484" cy="68580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9162288" y="5263286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54780"/>
                </a:solidFill>
                <a:latin typeface="Segoe UI"/>
              </a:rPr>
              <a:t>3</a:t>
            </a:r>
          </a:p>
        </p:txBody>
      </p:sp>
      <p:sp>
        <p:nvSpPr>
          <p:cNvPr id="133" name="Oval 132"/>
          <p:cNvSpPr/>
          <p:nvPr/>
        </p:nvSpPr>
        <p:spPr>
          <a:xfrm>
            <a:off x="6400800" y="5433364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492240" y="5407761"/>
            <a:ext cx="13898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Fukamizu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7918704" y="5442508"/>
            <a:ext cx="234418" cy="68580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9162288" y="5407761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54780"/>
                </a:solidFill>
                <a:latin typeface="Segoe UI"/>
              </a:rPr>
              <a:t>2</a:t>
            </a:r>
          </a:p>
        </p:txBody>
      </p:sp>
      <p:sp>
        <p:nvSpPr>
          <p:cNvPr id="137" name="Oval 136"/>
          <p:cNvSpPr/>
          <p:nvPr/>
        </p:nvSpPr>
        <p:spPr>
          <a:xfrm>
            <a:off x="6400800" y="5577840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6492240" y="5552236"/>
            <a:ext cx="13898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Tomita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7918704" y="5586984"/>
            <a:ext cx="234418" cy="68580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9162288" y="5552236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54780"/>
                </a:solidFill>
                <a:latin typeface="Segoe UI"/>
              </a:rP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619488" y="4809744"/>
            <a:ext cx="2011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Д Е   Ц Е   К У П И Т И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619488" y="4974336"/>
            <a:ext cx="1554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ROKS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210544" y="4974336"/>
            <a:ext cx="42062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13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9619488" y="5118811"/>
            <a:ext cx="1554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ProfiMax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1210544" y="5118811"/>
            <a:ext cx="42062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13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619488" y="5263286"/>
            <a:ext cx="1554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WildCat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210544" y="5263286"/>
            <a:ext cx="42062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5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619488" y="5407761"/>
            <a:ext cx="1554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Sekator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1210544" y="5407761"/>
            <a:ext cx="42062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4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566928" y="5687568"/>
            <a:ext cx="11064240" cy="844905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566928" y="5687568"/>
            <a:ext cx="36576" cy="844905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804672" y="5843016"/>
            <a:ext cx="105887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554780"/>
                </a:solidFill>
                <a:latin typeface="Segoe UI"/>
              </a:rPr>
              <a:t>ЩО ЦЕ ЗА СЕГМЕНТ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804672" y="6071616"/>
            <a:ext cx="10588752" cy="314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Одностороннє заточення під праву руку, вуглецева або високовуглецева сталь, традиційне руків'я wa. Вимагає водних каменів і навички.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Професійний інструмент суші-кухні. Попит на всю країну — 500–900 ножів на рік: канал реальний, ринок за обсягом — ні.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03504" y="658368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Показано 12 позицій, рівномірно розподілених за ціною; аналітика — по всіх позиціях типу. Джерело: картки товарів, жовтень 2026.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К А Т А Л О Г   ·   С Е Г М Е Н Т А Ц І Я   З А   Т И П О М   Л Е З 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Georgia"/>
              </a:rPr>
              <a:t>Три групи, які покривають 62 % каталогу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Той самий каталог у розрізі геометрії. Тип не визначає ціну — її визначає сталь.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554480"/>
            <a:ext cx="11064240" cy="1231392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1554480"/>
            <a:ext cx="41148" cy="1231392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1600200"/>
            <a:ext cx="2423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966E28"/>
                </a:solidFill>
                <a:latin typeface="Segoe UI"/>
              </a:rPr>
              <a:t>Шеф і гюто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1792224"/>
            <a:ext cx="24505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Робочий ніж кухні, 180–240 мм. Найширший тип і головний драйвер чека.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2139696"/>
            <a:ext cx="621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51A26"/>
                </a:solidFill>
                <a:latin typeface="Georgia"/>
              </a:rPr>
              <a:t>49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2331720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6B7282"/>
                </a:solidFill>
                <a:latin typeface="Segoe UI"/>
              </a:rPr>
              <a:t>позицій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80744" y="2139696"/>
            <a:ext cx="621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51A26"/>
                </a:solidFill>
                <a:latin typeface="Georgia"/>
              </a:rPr>
              <a:t>19 %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0744" y="2331720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6B7282"/>
                </a:solidFill>
                <a:latin typeface="Segoe UI"/>
              </a:rPr>
              <a:t>каталогу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93392" y="2139696"/>
            <a:ext cx="621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51A26"/>
                </a:solidFill>
                <a:latin typeface="Georgia"/>
              </a:rPr>
              <a:t>8 490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93392" y="2331720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6B7282"/>
                </a:solidFill>
                <a:latin typeface="Segoe UI"/>
              </a:rPr>
              <a:t>медіана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06040" y="2139696"/>
            <a:ext cx="621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51A26"/>
                </a:solidFill>
                <a:latin typeface="Georgia"/>
              </a:rPr>
              <a:t>13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06040" y="2331720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6B7282"/>
                </a:solidFill>
                <a:latin typeface="Segoe UI"/>
              </a:rPr>
              <a:t>брендів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" y="2020824"/>
            <a:ext cx="245059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9AA2B4"/>
                </a:solidFill>
                <a:latin typeface="Segoe UI"/>
              </a:rPr>
              <a:t>Tojiro 14 · HONMAMON 7 · Yaxell 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310128" y="1618488"/>
            <a:ext cx="1243584" cy="79247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p_e6131eedad7ef5c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6704" y="1645920"/>
            <a:ext cx="1170431" cy="737615"/>
          </a:xfrm>
          <a:prstGeom prst="rect">
            <a:avLst/>
          </a:prstGeom>
        </p:spPr>
      </p:pic>
      <p:sp>
        <p:nvSpPr>
          <p:cNvPr id="29" name="Oval 28"/>
          <p:cNvSpPr/>
          <p:nvPr/>
        </p:nvSpPr>
        <p:spPr>
          <a:xfrm>
            <a:off x="3310128" y="2470404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392424" y="2438400"/>
            <a:ext cx="114299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966E28"/>
                </a:solidFill>
                <a:latin typeface="Segoe UI"/>
              </a:rPr>
              <a:t>Satake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10128" y="2557272"/>
            <a:ext cx="1225295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2 099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10128" y="2694431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663440" y="1618488"/>
            <a:ext cx="1243584" cy="79247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p_6c4f3a060e1e32b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0016" y="1645920"/>
            <a:ext cx="1170431" cy="737615"/>
          </a:xfrm>
          <a:prstGeom prst="rect">
            <a:avLst/>
          </a:prstGeom>
        </p:spPr>
      </p:pic>
      <p:sp>
        <p:nvSpPr>
          <p:cNvPr id="35" name="Oval 34"/>
          <p:cNvSpPr/>
          <p:nvPr/>
        </p:nvSpPr>
        <p:spPr>
          <a:xfrm>
            <a:off x="4663440" y="2470404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745736" y="2438400"/>
            <a:ext cx="114299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966E28"/>
                </a:solidFill>
                <a:latin typeface="Segoe UI"/>
              </a:rPr>
              <a:t>Tojiro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557272"/>
            <a:ext cx="1225295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4 976 грн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63440" y="2694431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WildCat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16752" y="1618488"/>
            <a:ext cx="1243584" cy="79247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p_ee85a4a6e0903f9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53328" y="1645920"/>
            <a:ext cx="1170431" cy="737615"/>
          </a:xfrm>
          <a:prstGeom prst="rect">
            <a:avLst/>
          </a:prstGeom>
        </p:spPr>
      </p:pic>
      <p:sp>
        <p:nvSpPr>
          <p:cNvPr id="41" name="Oval 40"/>
          <p:cNvSpPr/>
          <p:nvPr/>
        </p:nvSpPr>
        <p:spPr>
          <a:xfrm>
            <a:off x="6016752" y="2470404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99048" y="2438400"/>
            <a:ext cx="114299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966E28"/>
                </a:solidFill>
                <a:latin typeface="Segoe UI"/>
              </a:rPr>
              <a:t>Yaxell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16752" y="2557272"/>
            <a:ext cx="1225295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7 804 грн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16752" y="2694431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370063" y="1618488"/>
            <a:ext cx="1243584" cy="79247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p_eada97a57faa51a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06639" y="1645920"/>
            <a:ext cx="1170431" cy="737615"/>
          </a:xfrm>
          <a:prstGeom prst="rect">
            <a:avLst/>
          </a:prstGeom>
        </p:spPr>
      </p:pic>
      <p:sp>
        <p:nvSpPr>
          <p:cNvPr id="47" name="Oval 46"/>
          <p:cNvSpPr/>
          <p:nvPr/>
        </p:nvSpPr>
        <p:spPr>
          <a:xfrm>
            <a:off x="7370063" y="2470404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452359" y="2438400"/>
            <a:ext cx="114299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966E28"/>
                </a:solidFill>
                <a:latin typeface="Segoe UI"/>
              </a:rPr>
              <a:t>KAI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370063" y="2557272"/>
            <a:ext cx="1225295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9 520 грн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70063" y="2694431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723376" y="1618488"/>
            <a:ext cx="1243584" cy="79247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p_61a3d4f712db7d7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59951" y="1645920"/>
            <a:ext cx="1170431" cy="737615"/>
          </a:xfrm>
          <a:prstGeom prst="rect">
            <a:avLst/>
          </a:prstGeom>
        </p:spPr>
      </p:pic>
      <p:sp>
        <p:nvSpPr>
          <p:cNvPr id="53" name="Oval 52"/>
          <p:cNvSpPr/>
          <p:nvPr/>
        </p:nvSpPr>
        <p:spPr>
          <a:xfrm>
            <a:off x="8723376" y="2470404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805672" y="2438400"/>
            <a:ext cx="114299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966E28"/>
                </a:solidFill>
                <a:latin typeface="Segoe UI"/>
              </a:rPr>
              <a:t>Takamura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723376" y="2557272"/>
            <a:ext cx="1225295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10 200 грн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723376" y="2694431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0076688" y="1618488"/>
            <a:ext cx="1243584" cy="79247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8" name="Picture 57" descr="p_d78c15035ef2a438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13263" y="1645920"/>
            <a:ext cx="1170431" cy="737615"/>
          </a:xfrm>
          <a:prstGeom prst="rect">
            <a:avLst/>
          </a:prstGeom>
        </p:spPr>
      </p:pic>
      <p:sp>
        <p:nvSpPr>
          <p:cNvPr id="59" name="Oval 58"/>
          <p:cNvSpPr/>
          <p:nvPr/>
        </p:nvSpPr>
        <p:spPr>
          <a:xfrm>
            <a:off x="10076688" y="2470404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158984" y="2438400"/>
            <a:ext cx="114299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966E28"/>
                </a:solidFill>
                <a:latin typeface="Segoe UI"/>
              </a:rPr>
              <a:t>HONMAMON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076688" y="2557272"/>
            <a:ext cx="1225295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23 990 грн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076688" y="2694431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66928" y="2895600"/>
            <a:ext cx="11064240" cy="1231392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566928" y="2895600"/>
            <a:ext cx="41148" cy="1231392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68096" y="2941319"/>
            <a:ext cx="2423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2A7F86"/>
                </a:solidFill>
                <a:latin typeface="Segoe UI"/>
              </a:rPr>
              <a:t>Сантоку, петті, накірі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68096" y="3133344"/>
            <a:ext cx="24505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Домашня трійця. Єдина група, де японська геометрія вже стала масовою.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" y="3480816"/>
            <a:ext cx="621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51A26"/>
                </a:solidFill>
                <a:latin typeface="Georgia"/>
              </a:rPr>
              <a:t>77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68096" y="3672840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6B7282"/>
                </a:solidFill>
                <a:latin typeface="Segoe UI"/>
              </a:rPr>
              <a:t>позицій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380744" y="3480816"/>
            <a:ext cx="621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51A26"/>
                </a:solidFill>
                <a:latin typeface="Georgia"/>
              </a:rPr>
              <a:t>30 %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380744" y="3672840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6B7282"/>
                </a:solidFill>
                <a:latin typeface="Segoe UI"/>
              </a:rPr>
              <a:t>каталогу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993392" y="3480816"/>
            <a:ext cx="621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51A26"/>
                </a:solidFill>
                <a:latin typeface="Georgia"/>
              </a:rPr>
              <a:t>6 671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993392" y="3672840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6B7282"/>
                </a:solidFill>
                <a:latin typeface="Segoe UI"/>
              </a:rPr>
              <a:t>медіана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606040" y="3480816"/>
            <a:ext cx="621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51A26"/>
                </a:solidFill>
                <a:latin typeface="Georgia"/>
              </a:rPr>
              <a:t>18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606040" y="3672840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6B7282"/>
                </a:solidFill>
                <a:latin typeface="Segoe UI"/>
              </a:rPr>
              <a:t>брендів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68096" y="3361944"/>
            <a:ext cx="245059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9AA2B4"/>
                </a:solidFill>
                <a:latin typeface="Segoe UI"/>
              </a:rPr>
              <a:t>Yaxell 12 · Tojiro 10 · HONMAMON 9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310128" y="2959607"/>
            <a:ext cx="1243584" cy="79247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p_2a7cab578ab6f123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46704" y="2987040"/>
            <a:ext cx="1170431" cy="737615"/>
          </a:xfrm>
          <a:prstGeom prst="rect">
            <a:avLst/>
          </a:prstGeom>
        </p:spPr>
      </p:pic>
      <p:sp>
        <p:nvSpPr>
          <p:cNvPr id="78" name="Oval 77"/>
          <p:cNvSpPr/>
          <p:nvPr/>
        </p:nvSpPr>
        <p:spPr>
          <a:xfrm>
            <a:off x="3310128" y="3811523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392424" y="3779519"/>
            <a:ext cx="114299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2A7F86"/>
                </a:solidFill>
                <a:latin typeface="Segoe UI"/>
              </a:rPr>
              <a:t>Kasumi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310128" y="3898391"/>
            <a:ext cx="1225295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2 390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310128" y="4035552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663440" y="2959607"/>
            <a:ext cx="1243584" cy="79247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3" name="Picture 82" descr="p_10804f1d5efbd42b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00016" y="2987040"/>
            <a:ext cx="1170431" cy="737615"/>
          </a:xfrm>
          <a:prstGeom prst="rect">
            <a:avLst/>
          </a:prstGeom>
        </p:spPr>
      </p:pic>
      <p:sp>
        <p:nvSpPr>
          <p:cNvPr id="84" name="Oval 83"/>
          <p:cNvSpPr/>
          <p:nvPr/>
        </p:nvSpPr>
        <p:spPr>
          <a:xfrm>
            <a:off x="4663440" y="3811523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745736" y="3779519"/>
            <a:ext cx="114299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2A7F86"/>
                </a:solidFill>
                <a:latin typeface="Segoe UI"/>
              </a:rPr>
              <a:t>Masahiro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663440" y="3898391"/>
            <a:ext cx="1225295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3 500 грн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663440" y="4035552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016752" y="2959607"/>
            <a:ext cx="1243584" cy="79247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9" name="Picture 88" descr="p_d948675fdf9d5c22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53328" y="2987040"/>
            <a:ext cx="1170431" cy="737615"/>
          </a:xfrm>
          <a:prstGeom prst="rect">
            <a:avLst/>
          </a:prstGeom>
        </p:spPr>
      </p:pic>
      <p:sp>
        <p:nvSpPr>
          <p:cNvPr id="90" name="Oval 89"/>
          <p:cNvSpPr/>
          <p:nvPr/>
        </p:nvSpPr>
        <p:spPr>
          <a:xfrm>
            <a:off x="6016752" y="3811523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099048" y="3779519"/>
            <a:ext cx="114299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2A7F86"/>
                </a:solidFill>
                <a:latin typeface="Segoe UI"/>
              </a:rPr>
              <a:t>Yaxell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016752" y="3898391"/>
            <a:ext cx="1225295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5 538 грн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016752" y="4035552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94" name="Rectangle 93"/>
          <p:cNvSpPr/>
          <p:nvPr/>
        </p:nvSpPr>
        <p:spPr>
          <a:xfrm>
            <a:off x="7370063" y="2959607"/>
            <a:ext cx="1243584" cy="79247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5" name="Picture 94" descr="p_35894a3250f7977a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406639" y="2987040"/>
            <a:ext cx="1170431" cy="737615"/>
          </a:xfrm>
          <a:prstGeom prst="rect">
            <a:avLst/>
          </a:prstGeom>
        </p:spPr>
      </p:pic>
      <p:sp>
        <p:nvSpPr>
          <p:cNvPr id="96" name="Oval 95"/>
          <p:cNvSpPr/>
          <p:nvPr/>
        </p:nvSpPr>
        <p:spPr>
          <a:xfrm>
            <a:off x="7370063" y="3811523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452359" y="3779519"/>
            <a:ext cx="114299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2A7F86"/>
                </a:solidFill>
                <a:latin typeface="Segoe UI"/>
              </a:rPr>
              <a:t>Motokane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370063" y="3898391"/>
            <a:ext cx="1225295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7 290 грн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370063" y="4035552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8723376" y="2959607"/>
            <a:ext cx="1243584" cy="79247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1" name="Picture 100" descr="p_2ffd8c46735cdf79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759951" y="2987040"/>
            <a:ext cx="1170431" cy="737615"/>
          </a:xfrm>
          <a:prstGeom prst="rect">
            <a:avLst/>
          </a:prstGeom>
        </p:spPr>
      </p:pic>
      <p:sp>
        <p:nvSpPr>
          <p:cNvPr id="102" name="Oval 101"/>
          <p:cNvSpPr/>
          <p:nvPr/>
        </p:nvSpPr>
        <p:spPr>
          <a:xfrm>
            <a:off x="8723376" y="3811523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8805672" y="3779519"/>
            <a:ext cx="114299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2A7F86"/>
                </a:solidFill>
                <a:latin typeface="Segoe UI"/>
              </a:rPr>
              <a:t>KAI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723376" y="3898391"/>
            <a:ext cx="1225295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8 610 грн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723376" y="4035552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10076688" y="2959607"/>
            <a:ext cx="1243584" cy="79247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7" name="Picture 106" descr="p_eb3b0ae5dbfaf525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113263" y="2987040"/>
            <a:ext cx="1170431" cy="737615"/>
          </a:xfrm>
          <a:prstGeom prst="rect">
            <a:avLst/>
          </a:prstGeom>
        </p:spPr>
      </p:pic>
      <p:sp>
        <p:nvSpPr>
          <p:cNvPr id="108" name="Oval 107"/>
          <p:cNvSpPr/>
          <p:nvPr/>
        </p:nvSpPr>
        <p:spPr>
          <a:xfrm>
            <a:off x="10076688" y="3811523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10158984" y="3779519"/>
            <a:ext cx="114299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2A7F86"/>
                </a:solidFill>
                <a:latin typeface="Segoe UI"/>
              </a:rPr>
              <a:t>HONMAMON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076688" y="3898391"/>
            <a:ext cx="1225295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11 790 грн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0076688" y="4035552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66928" y="4236720"/>
            <a:ext cx="11064240" cy="1231392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566928" y="4236720"/>
            <a:ext cx="41148" cy="1231392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768096" y="4282439"/>
            <a:ext cx="2423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554780"/>
                </a:solidFill>
                <a:latin typeface="Segoe UI"/>
              </a:rPr>
              <a:t>Односторонні: янагіба, деба, усуба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8096" y="4474463"/>
            <a:ext cx="24505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Професійний інструмент суші-кухні. Єдина геометрія без європейського замінника.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768096" y="4821935"/>
            <a:ext cx="621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51A26"/>
                </a:solidFill>
                <a:latin typeface="Georgia"/>
              </a:rPr>
              <a:t>35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768096" y="5013959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6B7282"/>
                </a:solidFill>
                <a:latin typeface="Segoe UI"/>
              </a:rPr>
              <a:t>позицій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380744" y="4821935"/>
            <a:ext cx="621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51A26"/>
                </a:solidFill>
                <a:latin typeface="Georgia"/>
              </a:rPr>
              <a:t>14 %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380744" y="5013959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6B7282"/>
                </a:solidFill>
                <a:latin typeface="Segoe UI"/>
              </a:rPr>
              <a:t>каталогу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993392" y="4821935"/>
            <a:ext cx="621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51A26"/>
                </a:solidFill>
                <a:latin typeface="Georgia"/>
              </a:rPr>
              <a:t>4 550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993392" y="5013959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6B7282"/>
                </a:solidFill>
                <a:latin typeface="Segoe UI"/>
              </a:rPr>
              <a:t>медіана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606040" y="4821935"/>
            <a:ext cx="621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51A26"/>
                </a:solidFill>
                <a:latin typeface="Georgia"/>
              </a:rPr>
              <a:t>12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606040" y="5013959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6B7282"/>
                </a:solidFill>
                <a:latin typeface="Segoe UI"/>
              </a:rPr>
              <a:t>брендів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768096" y="4703063"/>
            <a:ext cx="245059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9AA2B4"/>
                </a:solidFill>
                <a:latin typeface="Segoe UI"/>
              </a:rPr>
              <a:t>Tosa 11 · KAI 8 · HONMAMON 3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3310128" y="4300728"/>
            <a:ext cx="1243584" cy="79247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6" name="Picture 125" descr="p_06b7b483cde5d030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346704" y="4328159"/>
            <a:ext cx="1170431" cy="737615"/>
          </a:xfrm>
          <a:prstGeom prst="rect">
            <a:avLst/>
          </a:prstGeom>
        </p:spPr>
      </p:pic>
      <p:sp>
        <p:nvSpPr>
          <p:cNvPr id="127" name="Oval 126"/>
          <p:cNvSpPr/>
          <p:nvPr/>
        </p:nvSpPr>
        <p:spPr>
          <a:xfrm>
            <a:off x="3310128" y="5152644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3392424" y="5120640"/>
            <a:ext cx="114299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554780"/>
                </a:solidFill>
                <a:latin typeface="Segoe UI"/>
              </a:rPr>
              <a:t>KAI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3310128" y="5239512"/>
            <a:ext cx="1225295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2 660 грн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3310128" y="5376672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4663440" y="4300728"/>
            <a:ext cx="1243584" cy="79247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2" name="Picture 131" descr="p_df51dc842f3e1971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700016" y="4328159"/>
            <a:ext cx="1170431" cy="737615"/>
          </a:xfrm>
          <a:prstGeom prst="rect">
            <a:avLst/>
          </a:prstGeom>
        </p:spPr>
      </p:pic>
      <p:sp>
        <p:nvSpPr>
          <p:cNvPr id="133" name="Oval 132"/>
          <p:cNvSpPr/>
          <p:nvPr/>
        </p:nvSpPr>
        <p:spPr>
          <a:xfrm>
            <a:off x="4663440" y="5152644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4745736" y="5120640"/>
            <a:ext cx="114299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554780"/>
                </a:solidFill>
                <a:latin typeface="Segoe UI"/>
              </a:rPr>
              <a:t>Tosa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4663440" y="5239512"/>
            <a:ext cx="1225295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3 500 грн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663440" y="5376672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6016752" y="4300728"/>
            <a:ext cx="1243584" cy="79247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8" name="Picture 137" descr="p_0ae5588269613e8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053328" y="4328159"/>
            <a:ext cx="1170431" cy="737615"/>
          </a:xfrm>
          <a:prstGeom prst="rect">
            <a:avLst/>
          </a:prstGeom>
        </p:spPr>
      </p:pic>
      <p:sp>
        <p:nvSpPr>
          <p:cNvPr id="139" name="Oval 138"/>
          <p:cNvSpPr/>
          <p:nvPr/>
        </p:nvSpPr>
        <p:spPr>
          <a:xfrm>
            <a:off x="6016752" y="5152644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6099048" y="5120640"/>
            <a:ext cx="114299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554780"/>
                </a:solidFill>
                <a:latin typeface="Segoe UI"/>
              </a:rPr>
              <a:t>Fukamizu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016752" y="5239512"/>
            <a:ext cx="1225295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4 451 грн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016752" y="5376672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7370063" y="4300728"/>
            <a:ext cx="1243584" cy="79247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4" name="Picture 143" descr="p_6e76766272a82f3a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406639" y="4328159"/>
            <a:ext cx="1170431" cy="737615"/>
          </a:xfrm>
          <a:prstGeom prst="rect">
            <a:avLst/>
          </a:prstGeom>
        </p:spPr>
      </p:pic>
      <p:sp>
        <p:nvSpPr>
          <p:cNvPr id="145" name="Oval 144"/>
          <p:cNvSpPr/>
          <p:nvPr/>
        </p:nvSpPr>
        <p:spPr>
          <a:xfrm>
            <a:off x="7370063" y="5152644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7452359" y="5120640"/>
            <a:ext cx="114299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554780"/>
                </a:solidFill>
                <a:latin typeface="Segoe UI"/>
              </a:rPr>
              <a:t>Tosa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370063" y="5239512"/>
            <a:ext cx="1225295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4 850 грн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7370063" y="5376672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8723376" y="4300728"/>
            <a:ext cx="1243584" cy="79247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0" name="Picture 149" descr="p_c6a8f37b3354cd0c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759951" y="4328159"/>
            <a:ext cx="1170431" cy="737615"/>
          </a:xfrm>
          <a:prstGeom prst="rect">
            <a:avLst/>
          </a:prstGeom>
        </p:spPr>
      </p:pic>
      <p:sp>
        <p:nvSpPr>
          <p:cNvPr id="151" name="Oval 150"/>
          <p:cNvSpPr/>
          <p:nvPr/>
        </p:nvSpPr>
        <p:spPr>
          <a:xfrm>
            <a:off x="8723376" y="5152644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8805672" y="5120640"/>
            <a:ext cx="114299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554780"/>
                </a:solidFill>
                <a:latin typeface="Segoe UI"/>
              </a:rPr>
              <a:t>HONMAMON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8723376" y="5239512"/>
            <a:ext cx="1225295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5 490 грн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723376" y="5376672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10076688" y="4300728"/>
            <a:ext cx="1243584" cy="79247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6" name="Picture 155" descr="p_ee23ada01d2932d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0113263" y="4328159"/>
            <a:ext cx="1170431" cy="737615"/>
          </a:xfrm>
          <a:prstGeom prst="rect">
            <a:avLst/>
          </a:prstGeom>
        </p:spPr>
      </p:pic>
      <p:sp>
        <p:nvSpPr>
          <p:cNvPr id="157" name="Oval 156"/>
          <p:cNvSpPr/>
          <p:nvPr/>
        </p:nvSpPr>
        <p:spPr>
          <a:xfrm>
            <a:off x="10076688" y="5152644"/>
            <a:ext cx="50292" cy="50292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10158984" y="5120640"/>
            <a:ext cx="114299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554780"/>
                </a:solidFill>
                <a:latin typeface="Segoe UI"/>
              </a:rPr>
              <a:t>Sakai Takayuki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0076688" y="5239512"/>
            <a:ext cx="1225295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7 460 грн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0076688" y="5376672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603504" y="5724144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Позиції, які не потрапили в жодну з трьох груп (слайсери, хлібні, бунка, фунаюкі, набори), становлять решту каталогу. Джерело: картки товарів українських магазинів, жовтень 2026.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Ц І Н О В И Й   К О Р И Д О Р   Б Р Е Н Д І 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Georgia"/>
              </a:rPr>
              <a:t>Де кожен бренд стоїть на ціновій шкалі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Смуга — спостережений діапазон цін бренду, крапка — медіана. Лише ножі японського виробництва. У вибірці — бренди, де зібрано не менше двох позицій.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33862" y="1755648"/>
            <a:ext cx="5486" cy="4078224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86390" y="1572768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1 000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90705" y="1755648"/>
            <a:ext cx="5486" cy="4078224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43233" y="1572768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2 500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44059" y="1755648"/>
            <a:ext cx="5486" cy="4078224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96587" y="1572768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5 000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597412" y="1755648"/>
            <a:ext cx="5486" cy="4078224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49940" y="1572768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10 000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850766" y="1755648"/>
            <a:ext cx="5486" cy="4078224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294" y="1572768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20 000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104120" y="1755648"/>
            <a:ext cx="5486" cy="4078224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56648" y="1572768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40 000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1783080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Seki Kanetsugu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57984" y="1783080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n=15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415689" y="1842516"/>
            <a:ext cx="4777173" cy="50292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415689" y="1842516"/>
            <a:ext cx="4777173" cy="50292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450052" y="1796796"/>
            <a:ext cx="73152" cy="141732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241280" y="1783080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1B253F"/>
                </a:solidFill>
                <a:latin typeface="Segoe UI"/>
              </a:rPr>
              <a:t>990 – 13 900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1991563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2A7F86"/>
                </a:solidFill>
                <a:latin typeface="Segoe UI"/>
              </a:rPr>
              <a:t>Satake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57984" y="1991563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n=5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85007" y="2050999"/>
            <a:ext cx="1794080" cy="50292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685007" y="2050999"/>
            <a:ext cx="1794080" cy="50292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738001" y="2005279"/>
            <a:ext cx="73152" cy="141732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241280" y="1991563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1B253F"/>
                </a:solidFill>
                <a:latin typeface="Segoe UI"/>
              </a:rPr>
              <a:t>1 149 – 3 099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" y="2200046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554780"/>
                </a:solidFill>
                <a:latin typeface="Segoe UI"/>
              </a:rPr>
              <a:t>Takanori Izumi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157984" y="2200046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n=3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669042" y="2259482"/>
            <a:ext cx="798925" cy="50292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669042" y="2259482"/>
            <a:ext cx="798925" cy="50292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152655" y="2213762"/>
            <a:ext cx="73152" cy="141732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241280" y="2200046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1B253F"/>
                </a:solidFill>
                <a:latin typeface="Segoe UI"/>
              </a:rPr>
              <a:t>1 980 – 3 080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2408529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554780"/>
                </a:solidFill>
                <a:latin typeface="Segoe UI"/>
              </a:rPr>
              <a:t>Motokane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157984" y="2408529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n=3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859556" y="2467965"/>
            <a:ext cx="2166315" cy="50292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859556" y="2467965"/>
            <a:ext cx="2166315" cy="50292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189939" y="2422245"/>
            <a:ext cx="73152" cy="141732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241280" y="2408529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1B253F"/>
                </a:solidFill>
                <a:latin typeface="Segoe UI"/>
              </a:rPr>
              <a:t>2 200 – 7 290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" y="2617012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2A7F86"/>
                </a:solidFill>
                <a:latin typeface="Segoe UI"/>
              </a:rPr>
              <a:t>Hanakumagawa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157984" y="2617012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n=5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09340" y="2676448"/>
            <a:ext cx="330935" cy="50292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009340" y="2676448"/>
            <a:ext cx="330935" cy="50292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5252581" y="2630728"/>
            <a:ext cx="73152" cy="141732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241280" y="2617012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1B253F"/>
                </a:solidFill>
                <a:latin typeface="Segoe UI"/>
              </a:rPr>
              <a:t>2 390 – 2 870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6928" y="2825496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2A7F86"/>
                </a:solidFill>
                <a:latin typeface="Segoe UI"/>
              </a:rPr>
              <a:t>Masahiro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157984" y="2825496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n=11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16890" y="2884932"/>
            <a:ext cx="1804912" cy="50292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016890" y="2884932"/>
            <a:ext cx="1804912" cy="50292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5662540" y="2839212"/>
            <a:ext cx="73152" cy="141732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0241280" y="2825496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1B253F"/>
                </a:solidFill>
                <a:latin typeface="Segoe UI"/>
              </a:rPr>
              <a:t>2 400 – 6 512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66928" y="3033979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554780"/>
                </a:solidFill>
                <a:latin typeface="Segoe UI"/>
              </a:rPr>
              <a:t>Tomita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157984" y="3033979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n=4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545535" y="3093415"/>
            <a:ext cx="1300538" cy="50292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545535" y="3093415"/>
            <a:ext cx="1300538" cy="50292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6060649" y="3047695"/>
            <a:ext cx="73152" cy="141732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241280" y="3033979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1B253F"/>
                </a:solidFill>
                <a:latin typeface="Segoe UI"/>
              </a:rPr>
              <a:t>3 215 – 6 600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66928" y="3242462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554780"/>
                </a:solidFill>
                <a:latin typeface="Segoe UI"/>
              </a:rPr>
              <a:t>Fukamizu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157984" y="3242462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n=3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679899" y="3301898"/>
            <a:ext cx="609082" cy="50292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5679899" y="3301898"/>
            <a:ext cx="609082" cy="50292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097172" y="3256178"/>
            <a:ext cx="73152" cy="141732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241280" y="3242462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1B253F"/>
                </a:solidFill>
                <a:latin typeface="Segoe UI"/>
              </a:rPr>
              <a:t>3 463 – 4 850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66928" y="3450945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554780"/>
                </a:solidFill>
                <a:latin typeface="Segoe UI"/>
              </a:rPr>
              <a:t>Misono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157984" y="3450945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n=2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382679" y="3510381"/>
            <a:ext cx="1957759" cy="50292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4382679" y="3510381"/>
            <a:ext cx="1957759" cy="50292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6303863" y="3464661"/>
            <a:ext cx="73152" cy="141732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0241280" y="3450945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1B253F"/>
                </a:solidFill>
                <a:latin typeface="Segoe UI"/>
              </a:rPr>
              <a:t>1 690 – 4 990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66928" y="3659428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Tosa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157984" y="3659428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n=22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554512" y="3718864"/>
            <a:ext cx="2049218" cy="50292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554512" y="3718864"/>
            <a:ext cx="2049218" cy="50292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6421354" y="3673144"/>
            <a:ext cx="73152" cy="141732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241280" y="3659428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1B253F"/>
                </a:solidFill>
                <a:latin typeface="Segoe UI"/>
              </a:rPr>
              <a:t>3 231 – 10 035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66928" y="3867912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HONMAMON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157984" y="3867912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n=24</a:t>
            </a:r>
          </a:p>
        </p:txBody>
      </p:sp>
      <p:sp>
        <p:nvSpPr>
          <p:cNvPr id="88" name="Rectangle 87"/>
          <p:cNvSpPr/>
          <p:nvPr/>
        </p:nvSpPr>
        <p:spPr>
          <a:xfrm>
            <a:off x="4339367" y="3927348"/>
            <a:ext cx="4840320" cy="50292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4339367" y="3927348"/>
            <a:ext cx="4840320" cy="50292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6634142" y="3881628"/>
            <a:ext cx="73152" cy="141732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241280" y="3867912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1B253F"/>
                </a:solidFill>
                <a:latin typeface="Segoe UI"/>
              </a:rPr>
              <a:t>1 650 – 23 990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" y="4076395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Tojiro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157984" y="4076395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n=39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490720" y="4135831"/>
            <a:ext cx="3012088" cy="50292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5490720" y="4135831"/>
            <a:ext cx="3012088" cy="50292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6725093" y="4090111"/>
            <a:ext cx="73152" cy="141732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0241280" y="4076395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1B253F"/>
                </a:solidFill>
                <a:latin typeface="Segoe UI"/>
              </a:rPr>
              <a:t>3 119 – 16 499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66928" y="4284878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Kasumi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157984" y="4284878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n=19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4679060" y="4344314"/>
            <a:ext cx="2727637" cy="50292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4679060" y="4344314"/>
            <a:ext cx="2727637" cy="50292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6889614" y="4298594"/>
            <a:ext cx="73152" cy="141732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0241280" y="4284878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1B253F"/>
                </a:solidFill>
                <a:latin typeface="Segoe UI"/>
              </a:rPr>
              <a:t>1 991 – 8 999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66928" y="4493361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554780"/>
                </a:solidFill>
                <a:latin typeface="Segoe UI"/>
              </a:rPr>
              <a:t>Sakai Takayuki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157984" y="4493361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n=2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7067554" y="4552797"/>
            <a:ext cx="45720" cy="50292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7067554" y="4552797"/>
            <a:ext cx="45720" cy="50292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7074090" y="4507077"/>
            <a:ext cx="73152" cy="141732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10241280" y="4493361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1B253F"/>
                </a:solidFill>
                <a:latin typeface="Segoe UI"/>
              </a:rPr>
              <a:t>7 460 – 7 640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66928" y="4701844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Yaxell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2157984" y="4701844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n=37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6215556" y="4761280"/>
            <a:ext cx="3826015" cy="50292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6215556" y="4761280"/>
            <a:ext cx="3826015" cy="50292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7112494" y="4715560"/>
            <a:ext cx="73152" cy="141732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10241280" y="4701844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1B253F"/>
                </a:solidFill>
                <a:latin typeface="Segoe UI"/>
              </a:rPr>
              <a:t>4 657 – 38 640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66928" y="4910328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2A7F86"/>
                </a:solidFill>
                <a:latin typeface="Segoe UI"/>
              </a:rPr>
              <a:t>Takamura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157984" y="4910328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n=9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456231" y="4969764"/>
            <a:ext cx="1469348" cy="50292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6456231" y="4969764"/>
            <a:ext cx="1469348" cy="50292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7245569" y="4924044"/>
            <a:ext cx="73152" cy="141732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10241280" y="4910328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1B253F"/>
                </a:solidFill>
                <a:latin typeface="Segoe UI"/>
              </a:rPr>
              <a:t>5 320 – 11 990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66928" y="5118811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KAI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157984" y="5118811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n=40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2854864" y="5178247"/>
            <a:ext cx="6602374" cy="50292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2854864" y="5178247"/>
            <a:ext cx="6602374" cy="50292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7290219" y="5132527"/>
            <a:ext cx="73152" cy="141732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10241280" y="5118811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1B253F"/>
                </a:solidFill>
                <a:latin typeface="Segoe UI"/>
              </a:rPr>
              <a:t>726 – 27 970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66928" y="5327294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554780"/>
                </a:solidFill>
                <a:latin typeface="Segoe UI"/>
              </a:rPr>
              <a:t>Harukaze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157984" y="5327294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n=2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8849862" y="5386730"/>
            <a:ext cx="542885" cy="50292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8849862" y="5386730"/>
            <a:ext cx="542885" cy="50292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9356171" y="5341010"/>
            <a:ext cx="73152" cy="141732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10241280" y="5327294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1B253F"/>
                </a:solidFill>
                <a:latin typeface="Segoe UI"/>
              </a:rPr>
              <a:t>19 990 – 26 990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566928" y="5907024"/>
            <a:ext cx="5413248" cy="844905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566928" y="5907024"/>
            <a:ext cx="36576" cy="844905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804672" y="606247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B88A3D"/>
                </a:solidFill>
                <a:latin typeface="Segoe UI"/>
              </a:rPr>
              <a:t>ХТО ДЕ СТОЇТЬ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04672" y="6291072"/>
            <a:ext cx="4937760" cy="314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Серед японського виробництва медіану нижче 2 500 грн мають лише Seki Kanetsugu,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Satake, Takanori Izumi і Hanakumagawa. Найвищі медіани: KAI, Takamura, Yaxell.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6217920" y="5907024"/>
            <a:ext cx="5413248" cy="844905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6217920" y="5907024"/>
            <a:ext cx="36576" cy="844905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6455664" y="606247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2A7F86"/>
                </a:solidFill>
                <a:latin typeface="Segoe UI"/>
              </a:rPr>
              <a:t>ДЕ КОРИДОРИ ПЕРЕТИНАЮТЬСЯ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455664" y="6291072"/>
            <a:ext cx="4937760" cy="314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У зоні 5 000 – 12 000 грн лежать коридори щонайменше восьми брендів одразу.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Новий бренд заходить не в порожнечу, а в найгустішу частину шкали.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П Е Р Е П И С   ·   З Р О Б Л Е Н О   В   Я П О Н І 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50" b="1">
                <a:solidFill>
                  <a:srgbClr val="FFFFFF"/>
                </a:solidFill>
                <a:latin typeface="Georgia"/>
              </a:rPr>
              <a:t>П'ятдесят шість перевірених брендів, і полиці немає в жодного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Кожна марка перевірена на країну виробництва. Позначка JP означає підтверджене японське виробництво, її колір — чим саме підтверджене.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1536192"/>
            <a:ext cx="21945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1536192"/>
            <a:ext cx="140817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БРЕНД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31136" y="1536192"/>
            <a:ext cx="5486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РЕГІОН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98064" y="1536192"/>
            <a:ext cx="29260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JP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1536192"/>
            <a:ext cx="3474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SKU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1536192"/>
            <a:ext cx="69494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ЦІНИ, ГРН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1682496"/>
            <a:ext cx="3602736" cy="10972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12064" y="1717243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1737360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1737360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KAI / Shun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31136" y="1737360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966E28"/>
                </a:solidFill>
                <a:latin typeface="Segoe UI"/>
              </a:rPr>
              <a:t>Секі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98064" y="1748332"/>
            <a:ext cx="274320" cy="107899"/>
          </a:xfrm>
          <a:prstGeom prst="roundRect">
            <a:avLst>
              <a:gd name="adj" fmla="val 34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98064" y="1757476"/>
            <a:ext cx="2743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08960" y="1737360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140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74720" y="1737360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726 – 27 970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1918411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6384" y="1918411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Yaxell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31136" y="1918411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966E28"/>
                </a:solidFill>
                <a:latin typeface="Segoe UI"/>
              </a:rPr>
              <a:t>Секі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798064" y="1929384"/>
            <a:ext cx="274320" cy="107899"/>
          </a:xfrm>
          <a:prstGeom prst="roundRect">
            <a:avLst>
              <a:gd name="adj" fmla="val 34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98064" y="1938527"/>
            <a:ext cx="2743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108960" y="1918411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104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74720" y="1918411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1 199 – 70 102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12064" y="2079345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" y="2099462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86384" y="2099462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Suncraft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231136" y="2099462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966E28"/>
                </a:solidFill>
                <a:latin typeface="Segoe UI"/>
              </a:rPr>
              <a:t>Секі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798064" y="2110435"/>
            <a:ext cx="274320" cy="107899"/>
          </a:xfrm>
          <a:prstGeom prst="roundRect">
            <a:avLst>
              <a:gd name="adj" fmla="val 34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798064" y="2119579"/>
            <a:ext cx="2743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108960" y="2099462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97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74720" y="2099462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1 199 – 18 999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2280513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86384" y="2280513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Tojiro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231136" y="2280513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3A7D5A"/>
                </a:solidFill>
                <a:latin typeface="Segoe UI"/>
              </a:rPr>
              <a:t>Цубаме-Са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798064" y="2291486"/>
            <a:ext cx="274320" cy="107899"/>
          </a:xfrm>
          <a:prstGeom prst="roundRect">
            <a:avLst>
              <a:gd name="adj" fmla="val 34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798064" y="2300630"/>
            <a:ext cx="2743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108960" y="2280513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81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474720" y="2280513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599 – 16 499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12064" y="2441448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66928" y="2461564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86384" y="2461564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Satake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231136" y="2461564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966E28"/>
                </a:solidFill>
                <a:latin typeface="Segoe UI"/>
              </a:rPr>
              <a:t>Секі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2798064" y="2472537"/>
            <a:ext cx="274320" cy="107899"/>
          </a:xfrm>
          <a:prstGeom prst="roundRect">
            <a:avLst>
              <a:gd name="adj" fmla="val 34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798064" y="2481681"/>
            <a:ext cx="2743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108960" y="2461564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64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474720" y="2461564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849 – 19 473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6928" y="2642615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86384" y="2642615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Kanetsune Seki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231136" y="2642615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966E28"/>
                </a:solidFill>
                <a:latin typeface="Segoe UI"/>
              </a:rPr>
              <a:t>Секі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2798064" y="2653588"/>
            <a:ext cx="274320" cy="107899"/>
          </a:xfrm>
          <a:prstGeom prst="roundRect">
            <a:avLst>
              <a:gd name="adj" fmla="val 34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798064" y="2662732"/>
            <a:ext cx="2743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108960" y="2642615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38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474720" y="2642615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150 – 25 184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12064" y="2803550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66928" y="2823667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86384" y="2823667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Tosa / Tosauchi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231136" y="2823667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2A7F86"/>
                </a:solidFill>
                <a:latin typeface="Segoe UI"/>
              </a:rPr>
              <a:t>Тоса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2798064" y="2834639"/>
            <a:ext cx="274320" cy="107899"/>
          </a:xfrm>
          <a:prstGeom prst="roundRect">
            <a:avLst>
              <a:gd name="adj" fmla="val 34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798064" y="2843783"/>
            <a:ext cx="2743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108960" y="2823667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29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474720" y="2823667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2 929 – 10 035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66928" y="3004718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86384" y="3004718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Miyabi (Zwilling)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231136" y="3004718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966E28"/>
                </a:solidFill>
                <a:latin typeface="Segoe UI"/>
              </a:rPr>
              <a:t>Секі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2798064" y="3015691"/>
            <a:ext cx="274320" cy="107899"/>
          </a:xfrm>
          <a:prstGeom prst="roundRect">
            <a:avLst>
              <a:gd name="adj" fmla="val 34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2798064" y="3024835"/>
            <a:ext cx="2743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108960" y="3004718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27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74720" y="3004718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5 900 – 43 020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12064" y="3165652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66928" y="3185769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9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86384" y="3185769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Seki Kanetsugu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231136" y="3185769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966E28"/>
                </a:solidFill>
                <a:latin typeface="Segoe UI"/>
              </a:rPr>
              <a:t>Секі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2798064" y="3196742"/>
            <a:ext cx="274320" cy="107899"/>
          </a:xfrm>
          <a:prstGeom prst="roundRect">
            <a:avLst>
              <a:gd name="adj" fmla="val 34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2798064" y="3205886"/>
            <a:ext cx="2743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108960" y="3185769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24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74720" y="3185769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990 – 15 390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66928" y="3366820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10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86384" y="3366820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Kasumi / Sumikama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231136" y="3366820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966E28"/>
                </a:solidFill>
                <a:latin typeface="Segoe UI"/>
              </a:rPr>
              <a:t>Секі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2798064" y="3377793"/>
            <a:ext cx="274320" cy="107899"/>
          </a:xfrm>
          <a:prstGeom prst="roundRect">
            <a:avLst>
              <a:gd name="adj" fmla="val 34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798064" y="3386937"/>
            <a:ext cx="2743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108960" y="3366820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21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474720" y="3366820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1 180 – 15 229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12064" y="3527755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66928" y="3547871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11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86384" y="3547871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Mcusta Zanmai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231136" y="3547871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966E28"/>
                </a:solidFill>
                <a:latin typeface="Segoe UI"/>
              </a:rPr>
              <a:t>Секі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2798064" y="3558844"/>
            <a:ext cx="274320" cy="107899"/>
          </a:xfrm>
          <a:prstGeom prst="roundRect">
            <a:avLst>
              <a:gd name="adj" fmla="val 34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798064" y="3567988"/>
            <a:ext cx="2743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3108960" y="3547871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17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3474720" y="3547871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7 960 – 24 767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66928" y="3728923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12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86384" y="3728923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Yoshihiro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231136" y="3728923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554780"/>
                </a:solidFill>
                <a:latin typeface="Segoe UI"/>
              </a:rPr>
              <a:t>Сакаї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2798064" y="3739895"/>
            <a:ext cx="274320" cy="107899"/>
          </a:xfrm>
          <a:prstGeom prst="roundRect">
            <a:avLst>
              <a:gd name="adj" fmla="val 34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2798064" y="3749039"/>
            <a:ext cx="2743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3108960" y="3728923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11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3474720" y="3728923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3 609 – 6 747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12064" y="3889857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66928" y="3909974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13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86384" y="3909974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Takeshi Saji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231136" y="3909974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A84A6B"/>
                </a:solidFill>
                <a:latin typeface="Segoe UI"/>
              </a:rPr>
              <a:t>Ечідзен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2798064" y="3920947"/>
            <a:ext cx="274320" cy="107899"/>
          </a:xfrm>
          <a:prstGeom prst="roundRect">
            <a:avLst>
              <a:gd name="adj" fmla="val 34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2798064" y="3930091"/>
            <a:ext cx="2743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108960" y="3909974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10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474720" y="3909974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21 684 – 60 125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566928" y="4091025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14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86384" y="4091025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Masahiro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231136" y="4091025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966E28"/>
                </a:solidFill>
                <a:latin typeface="Segoe UI"/>
              </a:rPr>
              <a:t>Секі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2798064" y="4101998"/>
            <a:ext cx="274320" cy="107899"/>
          </a:xfrm>
          <a:prstGeom prst="roundRect">
            <a:avLst>
              <a:gd name="adj" fmla="val 34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2798064" y="4111142"/>
            <a:ext cx="2743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108960" y="4091025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9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474720" y="4091025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2 400 – 4 100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12064" y="4251960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66928" y="4272076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15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786384" y="4272076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Takamura Hamono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231136" y="4272076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A84A6B"/>
                </a:solidFill>
                <a:latin typeface="Segoe UI"/>
              </a:rPr>
              <a:t>Ечідзен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2798064" y="4283049"/>
            <a:ext cx="274320" cy="107899"/>
          </a:xfrm>
          <a:prstGeom prst="roundRect">
            <a:avLst>
              <a:gd name="adj" fmla="val 34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2798064" y="4292193"/>
            <a:ext cx="2743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108960" y="4272076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8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474720" y="4272076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5 320 – 11 990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566928" y="4453128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16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86384" y="4453128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Fuji Cutlery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231136" y="4453128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966E28"/>
                </a:solidFill>
                <a:latin typeface="Segoe UI"/>
              </a:rPr>
              <a:t>Секі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2798064" y="4464100"/>
            <a:ext cx="274320" cy="107899"/>
          </a:xfrm>
          <a:prstGeom prst="roundRect">
            <a:avLst>
              <a:gd name="adj" fmla="val 34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2798064" y="4473244"/>
            <a:ext cx="2743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3108960" y="4453128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3474720" y="4453128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1 190 – 2 850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512064" y="4614062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566928" y="4634179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17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86384" y="4634179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Tamahagane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2231136" y="4634179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3A7D5A"/>
                </a:solidFill>
                <a:latin typeface="Segoe UI"/>
              </a:rPr>
              <a:t>Цубаме-Са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2798064" y="4645152"/>
            <a:ext cx="274320" cy="107899"/>
          </a:xfrm>
          <a:prstGeom prst="roundRect">
            <a:avLst>
              <a:gd name="adj" fmla="val 34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2798064" y="4654296"/>
            <a:ext cx="2743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3108960" y="4634179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3474720" y="4634179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7 242 – 15 873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566928" y="4815230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18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786384" y="4815230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Fukamizu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231136" y="4815230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2A7F86"/>
                </a:solidFill>
                <a:latin typeface="Segoe UI"/>
              </a:rPr>
              <a:t>Тоса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2798064" y="4826203"/>
            <a:ext cx="274320" cy="107899"/>
          </a:xfrm>
          <a:prstGeom prst="roundRect">
            <a:avLst>
              <a:gd name="adj" fmla="val 34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2798064" y="4835347"/>
            <a:ext cx="2743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3108960" y="4815230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3474720" y="4815230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2 610 – 4 850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512064" y="4976164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66928" y="4996281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19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786384" y="4996281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Takanori Izumi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2231136" y="4996281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Японія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2798064" y="5007254"/>
            <a:ext cx="274320" cy="107899"/>
          </a:xfrm>
          <a:prstGeom prst="roundRect">
            <a:avLst>
              <a:gd name="adj" fmla="val 34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2798064" y="5016398"/>
            <a:ext cx="2743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3108960" y="4996281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5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3474720" y="4996281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1 980 – 3 080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566928" y="5177332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20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786384" y="5177332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Tomita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231136" y="5177332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Японія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2798064" y="5188305"/>
            <a:ext cx="274320" cy="107899"/>
          </a:xfrm>
          <a:prstGeom prst="roundRect">
            <a:avLst>
              <a:gd name="adj" fmla="val 34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2798064" y="5197449"/>
            <a:ext cx="2743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3108960" y="5177332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5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3474720" y="5177332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3 215 – 6 600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512064" y="5338267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566928" y="5358384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21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86384" y="5358384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Myojin (Naohito)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2231136" y="5358384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554780"/>
                </a:solidFill>
                <a:latin typeface="Segoe UI"/>
              </a:rPr>
              <a:t>Сакаї</a:t>
            </a:r>
          </a:p>
        </p:txBody>
      </p:sp>
      <p:sp>
        <p:nvSpPr>
          <p:cNvPr id="175" name="Rounded Rectangle 174"/>
          <p:cNvSpPr/>
          <p:nvPr/>
        </p:nvSpPr>
        <p:spPr>
          <a:xfrm>
            <a:off x="2798064" y="5369356"/>
            <a:ext cx="274320" cy="107899"/>
          </a:xfrm>
          <a:prstGeom prst="roundRect">
            <a:avLst>
              <a:gd name="adj" fmla="val 34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2798064" y="5378500"/>
            <a:ext cx="2743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3108960" y="5358384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4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3474720" y="5358384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13 200 – 17 450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4306824" y="1536192"/>
            <a:ext cx="21945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№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4526280" y="1536192"/>
            <a:ext cx="140817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БРЕНД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5971032" y="1536192"/>
            <a:ext cx="5486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РЕГІОН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537960" y="1536192"/>
            <a:ext cx="29260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JP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6848856" y="1536192"/>
            <a:ext cx="3474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SKU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7214616" y="1536192"/>
            <a:ext cx="69494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ЦІНИ, ГРН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306824" y="1682496"/>
            <a:ext cx="3602736" cy="10972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4251960" y="1717243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4306824" y="1737360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22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4526280" y="1737360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Shigeki Tanaka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5971032" y="1737360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966E28"/>
                </a:solidFill>
                <a:latin typeface="Segoe UI"/>
              </a:rPr>
              <a:t>Секі</a:t>
            </a:r>
          </a:p>
        </p:txBody>
      </p:sp>
      <p:sp>
        <p:nvSpPr>
          <p:cNvPr id="190" name="Rounded Rectangle 189"/>
          <p:cNvSpPr/>
          <p:nvPr/>
        </p:nvSpPr>
        <p:spPr>
          <a:xfrm>
            <a:off x="6537960" y="1748332"/>
            <a:ext cx="274320" cy="107899"/>
          </a:xfrm>
          <a:prstGeom prst="roundRect">
            <a:avLst>
              <a:gd name="adj" fmla="val 34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6537960" y="1757476"/>
            <a:ext cx="2743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6848856" y="1737360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4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7214616" y="1737360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5 203 – 26 990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4306824" y="1918411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23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26280" y="1918411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Motokane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5971032" y="1918411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2A7F86"/>
                </a:solidFill>
                <a:latin typeface="Segoe UI"/>
              </a:rPr>
              <a:t>Тоса</a:t>
            </a:r>
          </a:p>
        </p:txBody>
      </p:sp>
      <p:sp>
        <p:nvSpPr>
          <p:cNvPr id="197" name="Rounded Rectangle 196"/>
          <p:cNvSpPr/>
          <p:nvPr/>
        </p:nvSpPr>
        <p:spPr>
          <a:xfrm>
            <a:off x="6537960" y="1929384"/>
            <a:ext cx="274320" cy="107899"/>
          </a:xfrm>
          <a:prstGeom prst="roundRect">
            <a:avLst>
              <a:gd name="adj" fmla="val 34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537960" y="1938527"/>
            <a:ext cx="2743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6848856" y="1918411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3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7214616" y="1918411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2 090 – 2 695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4251960" y="2079345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4306824" y="2099462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24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4526280" y="2099462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Seto Iseya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5971032" y="2099462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Японія</a:t>
            </a:r>
          </a:p>
        </p:txBody>
      </p:sp>
      <p:sp>
        <p:nvSpPr>
          <p:cNvPr id="205" name="Rounded Rectangle 204"/>
          <p:cNvSpPr/>
          <p:nvPr/>
        </p:nvSpPr>
        <p:spPr>
          <a:xfrm>
            <a:off x="6537960" y="2110435"/>
            <a:ext cx="274320" cy="107899"/>
          </a:xfrm>
          <a:prstGeom prst="roundRect">
            <a:avLst>
              <a:gd name="adj" fmla="val 34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6537960" y="2119579"/>
            <a:ext cx="2743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6848856" y="2099462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3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7214616" y="2099462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5 500 – 6 550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4306824" y="2280513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25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4526280" y="2280513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Hanakumagawa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5971032" y="2280513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Японія</a:t>
            </a:r>
          </a:p>
        </p:txBody>
      </p:sp>
      <p:sp>
        <p:nvSpPr>
          <p:cNvPr id="212" name="Rounded Rectangle 211"/>
          <p:cNvSpPr/>
          <p:nvPr/>
        </p:nvSpPr>
        <p:spPr>
          <a:xfrm>
            <a:off x="6537960" y="2291486"/>
            <a:ext cx="274320" cy="107899"/>
          </a:xfrm>
          <a:prstGeom prst="roundRect">
            <a:avLst>
              <a:gd name="adj" fmla="val 34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TextBox 212"/>
          <p:cNvSpPr txBox="1"/>
          <p:nvPr/>
        </p:nvSpPr>
        <p:spPr>
          <a:xfrm>
            <a:off x="6537960" y="2300630"/>
            <a:ext cx="2743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6848856" y="2280513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2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7214616" y="2280513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2 390 – 2 790</a:t>
            </a:r>
          </a:p>
        </p:txBody>
      </p:sp>
      <p:sp>
        <p:nvSpPr>
          <p:cNvPr id="216" name="Rectangle 215"/>
          <p:cNvSpPr/>
          <p:nvPr/>
        </p:nvSpPr>
        <p:spPr>
          <a:xfrm>
            <a:off x="4251960" y="2441448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TextBox 216"/>
          <p:cNvSpPr txBox="1"/>
          <p:nvPr/>
        </p:nvSpPr>
        <p:spPr>
          <a:xfrm>
            <a:off x="4306824" y="2461564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26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4526280" y="2461564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Harukaze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5971032" y="2461564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Японія</a:t>
            </a:r>
          </a:p>
        </p:txBody>
      </p:sp>
      <p:sp>
        <p:nvSpPr>
          <p:cNvPr id="220" name="Rounded Rectangle 219"/>
          <p:cNvSpPr/>
          <p:nvPr/>
        </p:nvSpPr>
        <p:spPr>
          <a:xfrm>
            <a:off x="6537960" y="2472537"/>
            <a:ext cx="274320" cy="107899"/>
          </a:xfrm>
          <a:prstGeom prst="roundRect">
            <a:avLst>
              <a:gd name="adj" fmla="val 34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TextBox 220"/>
          <p:cNvSpPr txBox="1"/>
          <p:nvPr/>
        </p:nvSpPr>
        <p:spPr>
          <a:xfrm>
            <a:off x="6537960" y="2481681"/>
            <a:ext cx="2743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6848856" y="2461564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2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7214616" y="2461564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19 990 – 26 990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4306824" y="2642615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27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4526280" y="2642615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Inoguchi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5971032" y="2642615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Японія</a:t>
            </a:r>
          </a:p>
        </p:txBody>
      </p:sp>
      <p:sp>
        <p:nvSpPr>
          <p:cNvPr id="227" name="Rounded Rectangle 226"/>
          <p:cNvSpPr/>
          <p:nvPr/>
        </p:nvSpPr>
        <p:spPr>
          <a:xfrm>
            <a:off x="6537960" y="2653588"/>
            <a:ext cx="274320" cy="107899"/>
          </a:xfrm>
          <a:prstGeom prst="roundRect">
            <a:avLst>
              <a:gd name="adj" fmla="val 34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TextBox 227"/>
          <p:cNvSpPr txBox="1"/>
          <p:nvPr/>
        </p:nvSpPr>
        <p:spPr>
          <a:xfrm>
            <a:off x="6537960" y="2662732"/>
            <a:ext cx="2743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6848856" y="2642615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2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7214616" y="2642615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1 680 – 2 530</a:t>
            </a:r>
          </a:p>
        </p:txBody>
      </p:sp>
      <p:sp>
        <p:nvSpPr>
          <p:cNvPr id="231" name="Rectangle 230"/>
          <p:cNvSpPr/>
          <p:nvPr/>
        </p:nvSpPr>
        <p:spPr>
          <a:xfrm>
            <a:off x="4251960" y="2803550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TextBox 231"/>
          <p:cNvSpPr txBox="1"/>
          <p:nvPr/>
        </p:nvSpPr>
        <p:spPr>
          <a:xfrm>
            <a:off x="4306824" y="2823667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28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4526280" y="2823667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Misono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5971032" y="2823667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966E28"/>
                </a:solidFill>
                <a:latin typeface="Segoe UI"/>
              </a:rPr>
              <a:t>Секі</a:t>
            </a:r>
          </a:p>
        </p:txBody>
      </p:sp>
      <p:sp>
        <p:nvSpPr>
          <p:cNvPr id="235" name="Rounded Rectangle 234"/>
          <p:cNvSpPr/>
          <p:nvPr/>
        </p:nvSpPr>
        <p:spPr>
          <a:xfrm>
            <a:off x="6537960" y="2834639"/>
            <a:ext cx="274320" cy="107899"/>
          </a:xfrm>
          <a:prstGeom prst="roundRect">
            <a:avLst>
              <a:gd name="adj" fmla="val 34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TextBox 235"/>
          <p:cNvSpPr txBox="1"/>
          <p:nvPr/>
        </p:nvSpPr>
        <p:spPr>
          <a:xfrm>
            <a:off x="6537960" y="2843783"/>
            <a:ext cx="2743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37" name="TextBox 236"/>
          <p:cNvSpPr txBox="1"/>
          <p:nvPr/>
        </p:nvSpPr>
        <p:spPr>
          <a:xfrm>
            <a:off x="6848856" y="2823667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2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214616" y="2823667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1 690 – 4 990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4306824" y="3004718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29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4526280" y="3004718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Nigara Hamono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5971032" y="3004718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B42E3A"/>
                </a:solidFill>
                <a:latin typeface="Segoe UI"/>
              </a:rPr>
              <a:t>Хіросакі</a:t>
            </a:r>
          </a:p>
        </p:txBody>
      </p:sp>
      <p:sp>
        <p:nvSpPr>
          <p:cNvPr id="242" name="Rounded Rectangle 241"/>
          <p:cNvSpPr/>
          <p:nvPr/>
        </p:nvSpPr>
        <p:spPr>
          <a:xfrm>
            <a:off x="6537960" y="3015691"/>
            <a:ext cx="274320" cy="107899"/>
          </a:xfrm>
          <a:prstGeom prst="roundRect">
            <a:avLst>
              <a:gd name="adj" fmla="val 34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TextBox 242"/>
          <p:cNvSpPr txBox="1"/>
          <p:nvPr/>
        </p:nvSpPr>
        <p:spPr>
          <a:xfrm>
            <a:off x="6537960" y="3024835"/>
            <a:ext cx="2743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6848856" y="3004718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2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7214616" y="3004718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14 800 – 16 740</a:t>
            </a:r>
          </a:p>
        </p:txBody>
      </p:sp>
      <p:sp>
        <p:nvSpPr>
          <p:cNvPr id="246" name="Rectangle 245"/>
          <p:cNvSpPr/>
          <p:nvPr/>
        </p:nvSpPr>
        <p:spPr>
          <a:xfrm>
            <a:off x="4251960" y="3165652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TextBox 246"/>
          <p:cNvSpPr txBox="1"/>
          <p:nvPr/>
        </p:nvSpPr>
        <p:spPr>
          <a:xfrm>
            <a:off x="4306824" y="3185769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B42E3A"/>
                </a:solidFill>
                <a:latin typeface="Segoe UI"/>
              </a:rPr>
              <a:t>30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4526280" y="3185769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B42E3A"/>
                </a:solidFill>
                <a:latin typeface="Segoe UI"/>
              </a:rPr>
              <a:t>Sakai Takayuki</a:t>
            </a:r>
          </a:p>
        </p:txBody>
      </p:sp>
      <p:sp>
        <p:nvSpPr>
          <p:cNvPr id="249" name="TextBox 248"/>
          <p:cNvSpPr txBox="1"/>
          <p:nvPr/>
        </p:nvSpPr>
        <p:spPr>
          <a:xfrm>
            <a:off x="5971032" y="3185769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554780"/>
                </a:solidFill>
                <a:latin typeface="Segoe UI"/>
              </a:rPr>
              <a:t>Сакаї</a:t>
            </a:r>
          </a:p>
        </p:txBody>
      </p:sp>
      <p:sp>
        <p:nvSpPr>
          <p:cNvPr id="250" name="Rounded Rectangle 249"/>
          <p:cNvSpPr/>
          <p:nvPr/>
        </p:nvSpPr>
        <p:spPr>
          <a:xfrm>
            <a:off x="6537960" y="3196742"/>
            <a:ext cx="274320" cy="107899"/>
          </a:xfrm>
          <a:prstGeom prst="roundRect">
            <a:avLst>
              <a:gd name="adj" fmla="val 34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TextBox 250"/>
          <p:cNvSpPr txBox="1"/>
          <p:nvPr/>
        </p:nvSpPr>
        <p:spPr>
          <a:xfrm>
            <a:off x="6537960" y="3205886"/>
            <a:ext cx="2743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6848856" y="3185769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B42E3A"/>
                </a:solidFill>
                <a:latin typeface="Segoe UI"/>
              </a:rPr>
              <a:t>2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7214616" y="3185769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7 460 – 7 640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4306824" y="3366820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31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4526280" y="3366820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Sakai Yoshiharu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5971032" y="3366820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554780"/>
                </a:solidFill>
                <a:latin typeface="Segoe UI"/>
              </a:rPr>
              <a:t>Сакаї</a:t>
            </a:r>
          </a:p>
        </p:txBody>
      </p:sp>
      <p:sp>
        <p:nvSpPr>
          <p:cNvPr id="257" name="Rounded Rectangle 256"/>
          <p:cNvSpPr/>
          <p:nvPr/>
        </p:nvSpPr>
        <p:spPr>
          <a:xfrm>
            <a:off x="6537960" y="3377793"/>
            <a:ext cx="274320" cy="107899"/>
          </a:xfrm>
          <a:prstGeom prst="roundRect">
            <a:avLst>
              <a:gd name="adj" fmla="val 34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TextBox 257"/>
          <p:cNvSpPr txBox="1"/>
          <p:nvPr/>
        </p:nvSpPr>
        <p:spPr>
          <a:xfrm>
            <a:off x="6537960" y="3386937"/>
            <a:ext cx="2743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6848856" y="3366820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2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7214616" y="3366820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6 380</a:t>
            </a:r>
          </a:p>
        </p:txBody>
      </p:sp>
      <p:sp>
        <p:nvSpPr>
          <p:cNvPr id="261" name="Rectangle 260"/>
          <p:cNvSpPr/>
          <p:nvPr/>
        </p:nvSpPr>
        <p:spPr>
          <a:xfrm>
            <a:off x="4251960" y="3527755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TextBox 261"/>
          <p:cNvSpPr txBox="1"/>
          <p:nvPr/>
        </p:nvSpPr>
        <p:spPr>
          <a:xfrm>
            <a:off x="4306824" y="3547871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32</a:t>
            </a:r>
          </a:p>
        </p:txBody>
      </p:sp>
      <p:sp>
        <p:nvSpPr>
          <p:cNvPr id="263" name="TextBox 262"/>
          <p:cNvSpPr txBox="1"/>
          <p:nvPr/>
        </p:nvSpPr>
        <p:spPr>
          <a:xfrm>
            <a:off x="4526280" y="3547871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Shimomura Kihan</a:t>
            </a:r>
          </a:p>
        </p:txBody>
      </p:sp>
      <p:sp>
        <p:nvSpPr>
          <p:cNvPr id="264" name="TextBox 263"/>
          <p:cNvSpPr txBox="1"/>
          <p:nvPr/>
        </p:nvSpPr>
        <p:spPr>
          <a:xfrm>
            <a:off x="5971032" y="3547871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3A7D5A"/>
                </a:solidFill>
                <a:latin typeface="Segoe UI"/>
              </a:rPr>
              <a:t>Цубаме-Са</a:t>
            </a:r>
          </a:p>
        </p:txBody>
      </p:sp>
      <p:sp>
        <p:nvSpPr>
          <p:cNvPr id="265" name="Rounded Rectangle 264"/>
          <p:cNvSpPr/>
          <p:nvPr/>
        </p:nvSpPr>
        <p:spPr>
          <a:xfrm>
            <a:off x="6537960" y="3558844"/>
            <a:ext cx="274320" cy="107899"/>
          </a:xfrm>
          <a:prstGeom prst="roundRect">
            <a:avLst>
              <a:gd name="adj" fmla="val 34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TextBox 265"/>
          <p:cNvSpPr txBox="1"/>
          <p:nvPr/>
        </p:nvSpPr>
        <p:spPr>
          <a:xfrm>
            <a:off x="6537960" y="3567988"/>
            <a:ext cx="2743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67" name="TextBox 266"/>
          <p:cNvSpPr txBox="1"/>
          <p:nvPr/>
        </p:nvSpPr>
        <p:spPr>
          <a:xfrm>
            <a:off x="6848856" y="3547871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2</a:t>
            </a:r>
          </a:p>
        </p:txBody>
      </p:sp>
      <p:sp>
        <p:nvSpPr>
          <p:cNvPr id="268" name="TextBox 267"/>
          <p:cNvSpPr txBox="1"/>
          <p:nvPr/>
        </p:nvSpPr>
        <p:spPr>
          <a:xfrm>
            <a:off x="7214616" y="3547871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6 140</a:t>
            </a:r>
          </a:p>
        </p:txBody>
      </p:sp>
      <p:sp>
        <p:nvSpPr>
          <p:cNvPr id="269" name="TextBox 268"/>
          <p:cNvSpPr txBox="1"/>
          <p:nvPr/>
        </p:nvSpPr>
        <p:spPr>
          <a:xfrm>
            <a:off x="4306824" y="3728923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33</a:t>
            </a:r>
          </a:p>
        </p:txBody>
      </p:sp>
      <p:sp>
        <p:nvSpPr>
          <p:cNvPr id="270" name="TextBox 269"/>
          <p:cNvSpPr txBox="1"/>
          <p:nvPr/>
        </p:nvSpPr>
        <p:spPr>
          <a:xfrm>
            <a:off x="4526280" y="3728923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Teruhide</a:t>
            </a:r>
          </a:p>
        </p:txBody>
      </p:sp>
      <p:sp>
        <p:nvSpPr>
          <p:cNvPr id="271" name="TextBox 270"/>
          <p:cNvSpPr txBox="1"/>
          <p:nvPr/>
        </p:nvSpPr>
        <p:spPr>
          <a:xfrm>
            <a:off x="5971032" y="3728923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Японія</a:t>
            </a:r>
          </a:p>
        </p:txBody>
      </p:sp>
      <p:sp>
        <p:nvSpPr>
          <p:cNvPr id="272" name="Rounded Rectangle 271"/>
          <p:cNvSpPr/>
          <p:nvPr/>
        </p:nvSpPr>
        <p:spPr>
          <a:xfrm>
            <a:off x="6537960" y="3739895"/>
            <a:ext cx="274320" cy="107899"/>
          </a:xfrm>
          <a:prstGeom prst="roundRect">
            <a:avLst>
              <a:gd name="adj" fmla="val 34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TextBox 272"/>
          <p:cNvSpPr txBox="1"/>
          <p:nvPr/>
        </p:nvSpPr>
        <p:spPr>
          <a:xfrm>
            <a:off x="6537960" y="3749039"/>
            <a:ext cx="2743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74" name="TextBox 273"/>
          <p:cNvSpPr txBox="1"/>
          <p:nvPr/>
        </p:nvSpPr>
        <p:spPr>
          <a:xfrm>
            <a:off x="6848856" y="3728923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2</a:t>
            </a:r>
          </a:p>
        </p:txBody>
      </p:sp>
      <p:sp>
        <p:nvSpPr>
          <p:cNvPr id="275" name="TextBox 274"/>
          <p:cNvSpPr txBox="1"/>
          <p:nvPr/>
        </p:nvSpPr>
        <p:spPr>
          <a:xfrm>
            <a:off x="7214616" y="3728923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8 000</a:t>
            </a:r>
          </a:p>
        </p:txBody>
      </p:sp>
      <p:sp>
        <p:nvSpPr>
          <p:cNvPr id="276" name="Rectangle 275"/>
          <p:cNvSpPr/>
          <p:nvPr/>
        </p:nvSpPr>
        <p:spPr>
          <a:xfrm>
            <a:off x="4251960" y="3889857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TextBox 276"/>
          <p:cNvSpPr txBox="1"/>
          <p:nvPr/>
        </p:nvSpPr>
        <p:spPr>
          <a:xfrm>
            <a:off x="4306824" y="3909974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34</a:t>
            </a:r>
          </a:p>
        </p:txBody>
      </p:sp>
      <p:sp>
        <p:nvSpPr>
          <p:cNvPr id="278" name="TextBox 277"/>
          <p:cNvSpPr txBox="1"/>
          <p:nvPr/>
        </p:nvSpPr>
        <p:spPr>
          <a:xfrm>
            <a:off x="4526280" y="3909974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Anryu Hamono</a:t>
            </a:r>
          </a:p>
        </p:txBody>
      </p:sp>
      <p:sp>
        <p:nvSpPr>
          <p:cNvPr id="279" name="TextBox 278"/>
          <p:cNvSpPr txBox="1"/>
          <p:nvPr/>
        </p:nvSpPr>
        <p:spPr>
          <a:xfrm>
            <a:off x="5971032" y="3909974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A84A6B"/>
                </a:solidFill>
                <a:latin typeface="Segoe UI"/>
              </a:rPr>
              <a:t>Ечідзен</a:t>
            </a:r>
          </a:p>
        </p:txBody>
      </p:sp>
      <p:sp>
        <p:nvSpPr>
          <p:cNvPr id="280" name="Rounded Rectangle 279"/>
          <p:cNvSpPr/>
          <p:nvPr/>
        </p:nvSpPr>
        <p:spPr>
          <a:xfrm>
            <a:off x="6537960" y="3920947"/>
            <a:ext cx="274320" cy="107899"/>
          </a:xfrm>
          <a:prstGeom prst="roundRect">
            <a:avLst>
              <a:gd name="adj" fmla="val 34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TextBox 280"/>
          <p:cNvSpPr txBox="1"/>
          <p:nvPr/>
        </p:nvSpPr>
        <p:spPr>
          <a:xfrm>
            <a:off x="6537960" y="3930091"/>
            <a:ext cx="2743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82" name="TextBox 281"/>
          <p:cNvSpPr txBox="1"/>
          <p:nvPr/>
        </p:nvSpPr>
        <p:spPr>
          <a:xfrm>
            <a:off x="6848856" y="3909974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283" name="TextBox 282"/>
          <p:cNvSpPr txBox="1"/>
          <p:nvPr/>
        </p:nvSpPr>
        <p:spPr>
          <a:xfrm>
            <a:off x="7214616" y="3909974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н/д</a:t>
            </a:r>
          </a:p>
        </p:txBody>
      </p:sp>
      <p:sp>
        <p:nvSpPr>
          <p:cNvPr id="284" name="TextBox 283"/>
          <p:cNvSpPr txBox="1"/>
          <p:nvPr/>
        </p:nvSpPr>
        <p:spPr>
          <a:xfrm>
            <a:off x="4306824" y="4091025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35</a:t>
            </a:r>
          </a:p>
        </p:txBody>
      </p:sp>
      <p:sp>
        <p:nvSpPr>
          <p:cNvPr id="285" name="TextBox 284"/>
          <p:cNvSpPr txBox="1"/>
          <p:nvPr/>
        </p:nvSpPr>
        <p:spPr>
          <a:xfrm>
            <a:off x="4526280" y="4091025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Etsu / Ittetsu</a:t>
            </a:r>
          </a:p>
        </p:txBody>
      </p:sp>
      <p:sp>
        <p:nvSpPr>
          <p:cNvPr id="286" name="TextBox 285"/>
          <p:cNvSpPr txBox="1"/>
          <p:nvPr/>
        </p:nvSpPr>
        <p:spPr>
          <a:xfrm>
            <a:off x="5971032" y="4091025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A84A6B"/>
                </a:solidFill>
                <a:latin typeface="Segoe UI"/>
              </a:rPr>
              <a:t>Ечідзен</a:t>
            </a:r>
          </a:p>
        </p:txBody>
      </p:sp>
      <p:sp>
        <p:nvSpPr>
          <p:cNvPr id="287" name="Rounded Rectangle 286"/>
          <p:cNvSpPr/>
          <p:nvPr/>
        </p:nvSpPr>
        <p:spPr>
          <a:xfrm>
            <a:off x="6537960" y="4101998"/>
            <a:ext cx="274320" cy="107899"/>
          </a:xfrm>
          <a:prstGeom prst="roundRect">
            <a:avLst>
              <a:gd name="adj" fmla="val 34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TextBox 287"/>
          <p:cNvSpPr txBox="1"/>
          <p:nvPr/>
        </p:nvSpPr>
        <p:spPr>
          <a:xfrm>
            <a:off x="6537960" y="4111142"/>
            <a:ext cx="2743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89" name="TextBox 288"/>
          <p:cNvSpPr txBox="1"/>
          <p:nvPr/>
        </p:nvSpPr>
        <p:spPr>
          <a:xfrm>
            <a:off x="6848856" y="4091025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290" name="TextBox 289"/>
          <p:cNvSpPr txBox="1"/>
          <p:nvPr/>
        </p:nvSpPr>
        <p:spPr>
          <a:xfrm>
            <a:off x="7214616" y="4091025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16 677</a:t>
            </a:r>
          </a:p>
        </p:txBody>
      </p:sp>
      <p:sp>
        <p:nvSpPr>
          <p:cNvPr id="291" name="Rectangle 290"/>
          <p:cNvSpPr/>
          <p:nvPr/>
        </p:nvSpPr>
        <p:spPr>
          <a:xfrm>
            <a:off x="4251960" y="4251960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TextBox 291"/>
          <p:cNvSpPr txBox="1"/>
          <p:nvPr/>
        </p:nvSpPr>
        <p:spPr>
          <a:xfrm>
            <a:off x="4306824" y="4272076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36</a:t>
            </a:r>
          </a:p>
        </p:txBody>
      </p:sp>
      <p:sp>
        <p:nvSpPr>
          <p:cNvPr id="293" name="TextBox 292"/>
          <p:cNvSpPr txBox="1"/>
          <p:nvPr/>
        </p:nvSpPr>
        <p:spPr>
          <a:xfrm>
            <a:off x="4526280" y="4272076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Gyokucho / Kamisaku</a:t>
            </a:r>
          </a:p>
        </p:txBody>
      </p:sp>
      <p:sp>
        <p:nvSpPr>
          <p:cNvPr id="294" name="TextBox 293"/>
          <p:cNvSpPr txBox="1"/>
          <p:nvPr/>
        </p:nvSpPr>
        <p:spPr>
          <a:xfrm>
            <a:off x="5971032" y="4272076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A84A6B"/>
                </a:solidFill>
                <a:latin typeface="Segoe UI"/>
              </a:rPr>
              <a:t>Ечідзен</a:t>
            </a:r>
          </a:p>
        </p:txBody>
      </p:sp>
      <p:sp>
        <p:nvSpPr>
          <p:cNvPr id="295" name="Rounded Rectangle 294"/>
          <p:cNvSpPr/>
          <p:nvPr/>
        </p:nvSpPr>
        <p:spPr>
          <a:xfrm>
            <a:off x="6537960" y="4283049"/>
            <a:ext cx="274320" cy="107899"/>
          </a:xfrm>
          <a:prstGeom prst="roundRect">
            <a:avLst>
              <a:gd name="adj" fmla="val 34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TextBox 295"/>
          <p:cNvSpPr txBox="1"/>
          <p:nvPr/>
        </p:nvSpPr>
        <p:spPr>
          <a:xfrm>
            <a:off x="6537960" y="4292193"/>
            <a:ext cx="2743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6848856" y="4272076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298" name="TextBox 297"/>
          <p:cNvSpPr txBox="1"/>
          <p:nvPr/>
        </p:nvSpPr>
        <p:spPr>
          <a:xfrm>
            <a:off x="7214616" y="4272076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7 300</a:t>
            </a:r>
          </a:p>
        </p:txBody>
      </p:sp>
      <p:sp>
        <p:nvSpPr>
          <p:cNvPr id="299" name="TextBox 298"/>
          <p:cNvSpPr txBox="1"/>
          <p:nvPr/>
        </p:nvSpPr>
        <p:spPr>
          <a:xfrm>
            <a:off x="4306824" y="4453128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37</a:t>
            </a:r>
          </a:p>
        </p:txBody>
      </p:sp>
      <p:sp>
        <p:nvSpPr>
          <p:cNvPr id="300" name="TextBox 299"/>
          <p:cNvSpPr txBox="1"/>
          <p:nvPr/>
        </p:nvSpPr>
        <p:spPr>
          <a:xfrm>
            <a:off x="4526280" y="4453128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Hatsukokoro</a:t>
            </a:r>
          </a:p>
        </p:txBody>
      </p:sp>
      <p:sp>
        <p:nvSpPr>
          <p:cNvPr id="301" name="TextBox 300"/>
          <p:cNvSpPr txBox="1"/>
          <p:nvPr/>
        </p:nvSpPr>
        <p:spPr>
          <a:xfrm>
            <a:off x="5971032" y="4453128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Японія</a:t>
            </a:r>
          </a:p>
        </p:txBody>
      </p:sp>
      <p:sp>
        <p:nvSpPr>
          <p:cNvPr id="302" name="Rounded Rectangle 301"/>
          <p:cNvSpPr/>
          <p:nvPr/>
        </p:nvSpPr>
        <p:spPr>
          <a:xfrm>
            <a:off x="6537960" y="4464100"/>
            <a:ext cx="274320" cy="107899"/>
          </a:xfrm>
          <a:prstGeom prst="roundRect">
            <a:avLst>
              <a:gd name="adj" fmla="val 34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TextBox 302"/>
          <p:cNvSpPr txBox="1"/>
          <p:nvPr/>
        </p:nvSpPr>
        <p:spPr>
          <a:xfrm>
            <a:off x="6537960" y="4473244"/>
            <a:ext cx="2743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6848856" y="4453128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7214616" y="4453128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13 865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251960" y="4614062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TextBox 306"/>
          <p:cNvSpPr txBox="1"/>
          <p:nvPr/>
        </p:nvSpPr>
        <p:spPr>
          <a:xfrm>
            <a:off x="4306824" y="4634179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38</a:t>
            </a:r>
          </a:p>
        </p:txBody>
      </p:sp>
      <p:sp>
        <p:nvSpPr>
          <p:cNvPr id="308" name="TextBox 307"/>
          <p:cNvSpPr txBox="1"/>
          <p:nvPr/>
        </p:nvSpPr>
        <p:spPr>
          <a:xfrm>
            <a:off x="4526280" y="4634179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Higonokami</a:t>
            </a:r>
          </a:p>
        </p:txBody>
      </p:sp>
      <p:sp>
        <p:nvSpPr>
          <p:cNvPr id="309" name="TextBox 308"/>
          <p:cNvSpPr txBox="1"/>
          <p:nvPr/>
        </p:nvSpPr>
        <p:spPr>
          <a:xfrm>
            <a:off x="5971032" y="4634179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Японія</a:t>
            </a:r>
          </a:p>
        </p:txBody>
      </p:sp>
      <p:sp>
        <p:nvSpPr>
          <p:cNvPr id="310" name="Rounded Rectangle 309"/>
          <p:cNvSpPr/>
          <p:nvPr/>
        </p:nvSpPr>
        <p:spPr>
          <a:xfrm>
            <a:off x="6537960" y="4645152"/>
            <a:ext cx="274320" cy="107899"/>
          </a:xfrm>
          <a:prstGeom prst="roundRect">
            <a:avLst>
              <a:gd name="adj" fmla="val 34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TextBox 310"/>
          <p:cNvSpPr txBox="1"/>
          <p:nvPr/>
        </p:nvSpPr>
        <p:spPr>
          <a:xfrm>
            <a:off x="6537960" y="4654296"/>
            <a:ext cx="2743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12" name="TextBox 311"/>
          <p:cNvSpPr txBox="1"/>
          <p:nvPr/>
        </p:nvSpPr>
        <p:spPr>
          <a:xfrm>
            <a:off x="6848856" y="4634179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313" name="TextBox 312"/>
          <p:cNvSpPr txBox="1"/>
          <p:nvPr/>
        </p:nvSpPr>
        <p:spPr>
          <a:xfrm>
            <a:off x="7214616" y="4634179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2 090</a:t>
            </a:r>
          </a:p>
        </p:txBody>
      </p:sp>
      <p:sp>
        <p:nvSpPr>
          <p:cNvPr id="314" name="TextBox 313"/>
          <p:cNvSpPr txBox="1"/>
          <p:nvPr/>
        </p:nvSpPr>
        <p:spPr>
          <a:xfrm>
            <a:off x="4306824" y="4815230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39</a:t>
            </a:r>
          </a:p>
        </p:txBody>
      </p:sp>
      <p:sp>
        <p:nvSpPr>
          <p:cNvPr id="315" name="TextBox 314"/>
          <p:cNvSpPr txBox="1"/>
          <p:nvPr/>
        </p:nvSpPr>
        <p:spPr>
          <a:xfrm>
            <a:off x="4526280" y="4815230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Hisashige</a:t>
            </a:r>
          </a:p>
        </p:txBody>
      </p:sp>
      <p:sp>
        <p:nvSpPr>
          <p:cNvPr id="316" name="TextBox 315"/>
          <p:cNvSpPr txBox="1"/>
          <p:nvPr/>
        </p:nvSpPr>
        <p:spPr>
          <a:xfrm>
            <a:off x="5971032" y="4815230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Японія</a:t>
            </a:r>
          </a:p>
        </p:txBody>
      </p:sp>
      <p:sp>
        <p:nvSpPr>
          <p:cNvPr id="317" name="Rounded Rectangle 316"/>
          <p:cNvSpPr/>
          <p:nvPr/>
        </p:nvSpPr>
        <p:spPr>
          <a:xfrm>
            <a:off x="6537960" y="4826203"/>
            <a:ext cx="274320" cy="107899"/>
          </a:xfrm>
          <a:prstGeom prst="roundRect">
            <a:avLst>
              <a:gd name="adj" fmla="val 34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TextBox 317"/>
          <p:cNvSpPr txBox="1"/>
          <p:nvPr/>
        </p:nvSpPr>
        <p:spPr>
          <a:xfrm>
            <a:off x="6537960" y="4835347"/>
            <a:ext cx="2743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19" name="TextBox 318"/>
          <p:cNvSpPr txBox="1"/>
          <p:nvPr/>
        </p:nvSpPr>
        <p:spPr>
          <a:xfrm>
            <a:off x="6848856" y="4815230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320" name="TextBox 319"/>
          <p:cNvSpPr txBox="1"/>
          <p:nvPr/>
        </p:nvSpPr>
        <p:spPr>
          <a:xfrm>
            <a:off x="7214616" y="4815230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3 520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251960" y="4976164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TextBox 321"/>
          <p:cNvSpPr txBox="1"/>
          <p:nvPr/>
        </p:nvSpPr>
        <p:spPr>
          <a:xfrm>
            <a:off x="4306824" y="4996281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40</a:t>
            </a:r>
          </a:p>
        </p:txBody>
      </p:sp>
      <p:sp>
        <p:nvSpPr>
          <p:cNvPr id="323" name="TextBox 322"/>
          <p:cNvSpPr txBox="1"/>
          <p:nvPr/>
        </p:nvSpPr>
        <p:spPr>
          <a:xfrm>
            <a:off x="4526280" y="4996281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JCK Natures</a:t>
            </a:r>
          </a:p>
        </p:txBody>
      </p:sp>
      <p:sp>
        <p:nvSpPr>
          <p:cNvPr id="324" name="TextBox 323"/>
          <p:cNvSpPr txBox="1"/>
          <p:nvPr/>
        </p:nvSpPr>
        <p:spPr>
          <a:xfrm>
            <a:off x="5971032" y="4996281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Японія</a:t>
            </a:r>
          </a:p>
        </p:txBody>
      </p:sp>
      <p:sp>
        <p:nvSpPr>
          <p:cNvPr id="325" name="Rounded Rectangle 324"/>
          <p:cNvSpPr/>
          <p:nvPr/>
        </p:nvSpPr>
        <p:spPr>
          <a:xfrm>
            <a:off x="6537960" y="5007254"/>
            <a:ext cx="274320" cy="107899"/>
          </a:xfrm>
          <a:prstGeom prst="roundRect">
            <a:avLst>
              <a:gd name="adj" fmla="val 34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TextBox 325"/>
          <p:cNvSpPr txBox="1"/>
          <p:nvPr/>
        </p:nvSpPr>
        <p:spPr>
          <a:xfrm>
            <a:off x="6537960" y="5016398"/>
            <a:ext cx="2743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27" name="TextBox 326"/>
          <p:cNvSpPr txBox="1"/>
          <p:nvPr/>
        </p:nvSpPr>
        <p:spPr>
          <a:xfrm>
            <a:off x="6848856" y="4996281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328" name="TextBox 327"/>
          <p:cNvSpPr txBox="1"/>
          <p:nvPr/>
        </p:nvSpPr>
        <p:spPr>
          <a:xfrm>
            <a:off x="7214616" y="4996281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12 220</a:t>
            </a:r>
          </a:p>
        </p:txBody>
      </p:sp>
      <p:sp>
        <p:nvSpPr>
          <p:cNvPr id="329" name="TextBox 328"/>
          <p:cNvSpPr txBox="1"/>
          <p:nvPr/>
        </p:nvSpPr>
        <p:spPr>
          <a:xfrm>
            <a:off x="4306824" y="5177332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41</a:t>
            </a:r>
          </a:p>
        </p:txBody>
      </p:sp>
      <p:sp>
        <p:nvSpPr>
          <p:cNvPr id="330" name="TextBox 329"/>
          <p:cNvSpPr txBox="1"/>
          <p:nvPr/>
        </p:nvSpPr>
        <p:spPr>
          <a:xfrm>
            <a:off x="4526280" y="5177332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KAI Sekimagoroku Imayo</a:t>
            </a:r>
          </a:p>
        </p:txBody>
      </p:sp>
      <p:sp>
        <p:nvSpPr>
          <p:cNvPr id="331" name="TextBox 330"/>
          <p:cNvSpPr txBox="1"/>
          <p:nvPr/>
        </p:nvSpPr>
        <p:spPr>
          <a:xfrm>
            <a:off x="5971032" y="5177332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966E28"/>
                </a:solidFill>
                <a:latin typeface="Segoe UI"/>
              </a:rPr>
              <a:t>Секі</a:t>
            </a:r>
          </a:p>
        </p:txBody>
      </p:sp>
      <p:sp>
        <p:nvSpPr>
          <p:cNvPr id="332" name="Rounded Rectangle 331"/>
          <p:cNvSpPr/>
          <p:nvPr/>
        </p:nvSpPr>
        <p:spPr>
          <a:xfrm>
            <a:off x="6537960" y="5188305"/>
            <a:ext cx="274320" cy="107899"/>
          </a:xfrm>
          <a:prstGeom prst="roundRect">
            <a:avLst>
              <a:gd name="adj" fmla="val 34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TextBox 332"/>
          <p:cNvSpPr txBox="1"/>
          <p:nvPr/>
        </p:nvSpPr>
        <p:spPr>
          <a:xfrm>
            <a:off x="6537960" y="5197449"/>
            <a:ext cx="2743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34" name="TextBox 333"/>
          <p:cNvSpPr txBox="1"/>
          <p:nvPr/>
        </p:nvSpPr>
        <p:spPr>
          <a:xfrm>
            <a:off x="6848856" y="5177332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335" name="TextBox 334"/>
          <p:cNvSpPr txBox="1"/>
          <p:nvPr/>
        </p:nvSpPr>
        <p:spPr>
          <a:xfrm>
            <a:off x="7214616" y="5177332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2 700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4251960" y="5338267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TextBox 336"/>
          <p:cNvSpPr txBox="1"/>
          <p:nvPr/>
        </p:nvSpPr>
        <p:spPr>
          <a:xfrm>
            <a:off x="4306824" y="5358384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42</a:t>
            </a:r>
          </a:p>
        </p:txBody>
      </p:sp>
      <p:sp>
        <p:nvSpPr>
          <p:cNvPr id="338" name="TextBox 337"/>
          <p:cNvSpPr txBox="1"/>
          <p:nvPr/>
        </p:nvSpPr>
        <p:spPr>
          <a:xfrm>
            <a:off x="4526280" y="5358384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Kanetaka</a:t>
            </a:r>
          </a:p>
        </p:txBody>
      </p:sp>
      <p:sp>
        <p:nvSpPr>
          <p:cNvPr id="339" name="TextBox 338"/>
          <p:cNvSpPr txBox="1"/>
          <p:nvPr/>
        </p:nvSpPr>
        <p:spPr>
          <a:xfrm>
            <a:off x="5971032" y="5358384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Японія</a:t>
            </a:r>
          </a:p>
        </p:txBody>
      </p:sp>
      <p:sp>
        <p:nvSpPr>
          <p:cNvPr id="340" name="Rounded Rectangle 339"/>
          <p:cNvSpPr/>
          <p:nvPr/>
        </p:nvSpPr>
        <p:spPr>
          <a:xfrm>
            <a:off x="6537960" y="5369356"/>
            <a:ext cx="274320" cy="107899"/>
          </a:xfrm>
          <a:prstGeom prst="roundRect">
            <a:avLst>
              <a:gd name="adj" fmla="val 34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TextBox 340"/>
          <p:cNvSpPr txBox="1"/>
          <p:nvPr/>
        </p:nvSpPr>
        <p:spPr>
          <a:xfrm>
            <a:off x="6537960" y="5378500"/>
            <a:ext cx="2743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42" name="TextBox 341"/>
          <p:cNvSpPr txBox="1"/>
          <p:nvPr/>
        </p:nvSpPr>
        <p:spPr>
          <a:xfrm>
            <a:off x="6848856" y="5358384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343" name="TextBox 342"/>
          <p:cNvSpPr txBox="1"/>
          <p:nvPr/>
        </p:nvSpPr>
        <p:spPr>
          <a:xfrm>
            <a:off x="7214616" y="5358384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3 520</a:t>
            </a:r>
          </a:p>
        </p:txBody>
      </p:sp>
      <p:sp>
        <p:nvSpPr>
          <p:cNvPr id="344" name="TextBox 343"/>
          <p:cNvSpPr txBox="1"/>
          <p:nvPr/>
        </p:nvSpPr>
        <p:spPr>
          <a:xfrm>
            <a:off x="8046719" y="1536192"/>
            <a:ext cx="21945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№</a:t>
            </a:r>
          </a:p>
        </p:txBody>
      </p:sp>
      <p:sp>
        <p:nvSpPr>
          <p:cNvPr id="345" name="TextBox 344"/>
          <p:cNvSpPr txBox="1"/>
          <p:nvPr/>
        </p:nvSpPr>
        <p:spPr>
          <a:xfrm>
            <a:off x="8266175" y="1536192"/>
            <a:ext cx="140817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БРЕНД</a:t>
            </a:r>
          </a:p>
        </p:txBody>
      </p:sp>
      <p:sp>
        <p:nvSpPr>
          <p:cNvPr id="346" name="TextBox 345"/>
          <p:cNvSpPr txBox="1"/>
          <p:nvPr/>
        </p:nvSpPr>
        <p:spPr>
          <a:xfrm>
            <a:off x="9710928" y="1536192"/>
            <a:ext cx="5486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РЕГІОН</a:t>
            </a:r>
          </a:p>
        </p:txBody>
      </p:sp>
      <p:sp>
        <p:nvSpPr>
          <p:cNvPr id="347" name="TextBox 346"/>
          <p:cNvSpPr txBox="1"/>
          <p:nvPr/>
        </p:nvSpPr>
        <p:spPr>
          <a:xfrm>
            <a:off x="10277855" y="1536192"/>
            <a:ext cx="29260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JP</a:t>
            </a:r>
          </a:p>
        </p:txBody>
      </p:sp>
      <p:sp>
        <p:nvSpPr>
          <p:cNvPr id="348" name="TextBox 347"/>
          <p:cNvSpPr txBox="1"/>
          <p:nvPr/>
        </p:nvSpPr>
        <p:spPr>
          <a:xfrm>
            <a:off x="10588751" y="1536192"/>
            <a:ext cx="3474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SKU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10954511" y="1536192"/>
            <a:ext cx="69494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ЦІНИ, ГРН</a:t>
            </a:r>
          </a:p>
        </p:txBody>
      </p:sp>
      <p:sp>
        <p:nvSpPr>
          <p:cNvPr id="350" name="Rectangle 349"/>
          <p:cNvSpPr/>
          <p:nvPr/>
        </p:nvSpPr>
        <p:spPr>
          <a:xfrm>
            <a:off x="8046719" y="1682496"/>
            <a:ext cx="3602736" cy="10972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Rectangle 350"/>
          <p:cNvSpPr/>
          <p:nvPr/>
        </p:nvSpPr>
        <p:spPr>
          <a:xfrm>
            <a:off x="7991855" y="1717243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TextBox 351"/>
          <p:cNvSpPr txBox="1"/>
          <p:nvPr/>
        </p:nvSpPr>
        <p:spPr>
          <a:xfrm>
            <a:off x="8046719" y="1737360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43</a:t>
            </a:r>
          </a:p>
        </p:txBody>
      </p:sp>
      <p:sp>
        <p:nvSpPr>
          <p:cNvPr id="353" name="TextBox 352"/>
          <p:cNvSpPr txBox="1"/>
          <p:nvPr/>
        </p:nvSpPr>
        <p:spPr>
          <a:xfrm>
            <a:off x="8266175" y="1737360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Kazuhira</a:t>
            </a:r>
          </a:p>
        </p:txBody>
      </p:sp>
      <p:sp>
        <p:nvSpPr>
          <p:cNvPr id="354" name="TextBox 353"/>
          <p:cNvSpPr txBox="1"/>
          <p:nvPr/>
        </p:nvSpPr>
        <p:spPr>
          <a:xfrm>
            <a:off x="9710928" y="1737360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Японія</a:t>
            </a:r>
          </a:p>
        </p:txBody>
      </p:sp>
      <p:sp>
        <p:nvSpPr>
          <p:cNvPr id="355" name="Rounded Rectangle 354"/>
          <p:cNvSpPr/>
          <p:nvPr/>
        </p:nvSpPr>
        <p:spPr>
          <a:xfrm>
            <a:off x="10277855" y="1748332"/>
            <a:ext cx="274320" cy="107899"/>
          </a:xfrm>
          <a:prstGeom prst="roundRect">
            <a:avLst>
              <a:gd name="adj" fmla="val 34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TextBox 355"/>
          <p:cNvSpPr txBox="1"/>
          <p:nvPr/>
        </p:nvSpPr>
        <p:spPr>
          <a:xfrm>
            <a:off x="10277855" y="1757476"/>
            <a:ext cx="2743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57" name="TextBox 356"/>
          <p:cNvSpPr txBox="1"/>
          <p:nvPr/>
        </p:nvSpPr>
        <p:spPr>
          <a:xfrm>
            <a:off x="10588751" y="1737360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358" name="TextBox 357"/>
          <p:cNvSpPr txBox="1"/>
          <p:nvPr/>
        </p:nvSpPr>
        <p:spPr>
          <a:xfrm>
            <a:off x="10954511" y="1737360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н/д</a:t>
            </a:r>
          </a:p>
        </p:txBody>
      </p:sp>
      <p:sp>
        <p:nvSpPr>
          <p:cNvPr id="359" name="TextBox 358"/>
          <p:cNvSpPr txBox="1"/>
          <p:nvPr/>
        </p:nvSpPr>
        <p:spPr>
          <a:xfrm>
            <a:off x="8046719" y="1918411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44</a:t>
            </a:r>
          </a:p>
        </p:txBody>
      </p:sp>
      <p:sp>
        <p:nvSpPr>
          <p:cNvPr id="360" name="TextBox 359"/>
          <p:cNvSpPr txBox="1"/>
          <p:nvPr/>
        </p:nvSpPr>
        <p:spPr>
          <a:xfrm>
            <a:off x="8266175" y="1918411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Kiyokane</a:t>
            </a:r>
          </a:p>
        </p:txBody>
      </p:sp>
      <p:sp>
        <p:nvSpPr>
          <p:cNvPr id="361" name="TextBox 360"/>
          <p:cNvSpPr txBox="1"/>
          <p:nvPr/>
        </p:nvSpPr>
        <p:spPr>
          <a:xfrm>
            <a:off x="9710928" y="1918411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2A7F86"/>
                </a:solidFill>
                <a:latin typeface="Segoe UI"/>
              </a:rPr>
              <a:t>Тоса</a:t>
            </a:r>
          </a:p>
        </p:txBody>
      </p:sp>
      <p:sp>
        <p:nvSpPr>
          <p:cNvPr id="362" name="Rounded Rectangle 361"/>
          <p:cNvSpPr/>
          <p:nvPr/>
        </p:nvSpPr>
        <p:spPr>
          <a:xfrm>
            <a:off x="10277855" y="1929384"/>
            <a:ext cx="274320" cy="107899"/>
          </a:xfrm>
          <a:prstGeom prst="roundRect">
            <a:avLst>
              <a:gd name="adj" fmla="val 34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TextBox 362"/>
          <p:cNvSpPr txBox="1"/>
          <p:nvPr/>
        </p:nvSpPr>
        <p:spPr>
          <a:xfrm>
            <a:off x="10277855" y="1938527"/>
            <a:ext cx="2743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64" name="TextBox 363"/>
          <p:cNvSpPr txBox="1"/>
          <p:nvPr/>
        </p:nvSpPr>
        <p:spPr>
          <a:xfrm>
            <a:off x="10588751" y="1918411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365" name="TextBox 364"/>
          <p:cNvSpPr txBox="1"/>
          <p:nvPr/>
        </p:nvSpPr>
        <p:spPr>
          <a:xfrm>
            <a:off x="10954511" y="1918411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4 590</a:t>
            </a:r>
          </a:p>
        </p:txBody>
      </p:sp>
      <p:sp>
        <p:nvSpPr>
          <p:cNvPr id="366" name="Rectangle 365"/>
          <p:cNvSpPr/>
          <p:nvPr/>
        </p:nvSpPr>
        <p:spPr>
          <a:xfrm>
            <a:off x="7991855" y="2079345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TextBox 366"/>
          <p:cNvSpPr txBox="1"/>
          <p:nvPr/>
        </p:nvSpPr>
        <p:spPr>
          <a:xfrm>
            <a:off x="8046719" y="2099462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45</a:t>
            </a:r>
          </a:p>
        </p:txBody>
      </p:sp>
      <p:sp>
        <p:nvSpPr>
          <p:cNvPr id="368" name="TextBox 367"/>
          <p:cNvSpPr txBox="1"/>
          <p:nvPr/>
        </p:nvSpPr>
        <p:spPr>
          <a:xfrm>
            <a:off x="8266175" y="2099462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Mikihisa</a:t>
            </a:r>
          </a:p>
        </p:txBody>
      </p:sp>
      <p:sp>
        <p:nvSpPr>
          <p:cNvPr id="369" name="TextBox 368"/>
          <p:cNvSpPr txBox="1"/>
          <p:nvPr/>
        </p:nvSpPr>
        <p:spPr>
          <a:xfrm>
            <a:off x="9710928" y="2099462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Японія</a:t>
            </a:r>
          </a:p>
        </p:txBody>
      </p:sp>
      <p:sp>
        <p:nvSpPr>
          <p:cNvPr id="370" name="Rounded Rectangle 369"/>
          <p:cNvSpPr/>
          <p:nvPr/>
        </p:nvSpPr>
        <p:spPr>
          <a:xfrm>
            <a:off x="10277855" y="2110435"/>
            <a:ext cx="274320" cy="107899"/>
          </a:xfrm>
          <a:prstGeom prst="roundRect">
            <a:avLst>
              <a:gd name="adj" fmla="val 34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TextBox 370"/>
          <p:cNvSpPr txBox="1"/>
          <p:nvPr/>
        </p:nvSpPr>
        <p:spPr>
          <a:xfrm>
            <a:off x="10277855" y="2119579"/>
            <a:ext cx="2743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72" name="TextBox 371"/>
          <p:cNvSpPr txBox="1"/>
          <p:nvPr/>
        </p:nvSpPr>
        <p:spPr>
          <a:xfrm>
            <a:off x="10588751" y="2099462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373" name="TextBox 372"/>
          <p:cNvSpPr txBox="1"/>
          <p:nvPr/>
        </p:nvSpPr>
        <p:spPr>
          <a:xfrm>
            <a:off x="10954511" y="2099462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н/д</a:t>
            </a:r>
          </a:p>
        </p:txBody>
      </p:sp>
      <p:sp>
        <p:nvSpPr>
          <p:cNvPr id="374" name="TextBox 373"/>
          <p:cNvSpPr txBox="1"/>
          <p:nvPr/>
        </p:nvSpPr>
        <p:spPr>
          <a:xfrm>
            <a:off x="8046719" y="2280513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46</a:t>
            </a:r>
          </a:p>
        </p:txBody>
      </p:sp>
      <p:sp>
        <p:nvSpPr>
          <p:cNvPr id="375" name="TextBox 374"/>
          <p:cNvSpPr txBox="1"/>
          <p:nvPr/>
        </p:nvSpPr>
        <p:spPr>
          <a:xfrm>
            <a:off x="8266175" y="2280513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Sakai Haruhiko</a:t>
            </a:r>
          </a:p>
        </p:txBody>
      </p:sp>
      <p:sp>
        <p:nvSpPr>
          <p:cNvPr id="376" name="TextBox 375"/>
          <p:cNvSpPr txBox="1"/>
          <p:nvPr/>
        </p:nvSpPr>
        <p:spPr>
          <a:xfrm>
            <a:off x="9710928" y="2280513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554780"/>
                </a:solidFill>
                <a:latin typeface="Segoe UI"/>
              </a:rPr>
              <a:t>Сакаї</a:t>
            </a:r>
          </a:p>
        </p:txBody>
      </p:sp>
      <p:sp>
        <p:nvSpPr>
          <p:cNvPr id="377" name="Rounded Rectangle 376"/>
          <p:cNvSpPr/>
          <p:nvPr/>
        </p:nvSpPr>
        <p:spPr>
          <a:xfrm>
            <a:off x="10277855" y="2291486"/>
            <a:ext cx="274320" cy="107899"/>
          </a:xfrm>
          <a:prstGeom prst="roundRect">
            <a:avLst>
              <a:gd name="adj" fmla="val 34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TextBox 377"/>
          <p:cNvSpPr txBox="1"/>
          <p:nvPr/>
        </p:nvSpPr>
        <p:spPr>
          <a:xfrm>
            <a:off x="10277855" y="2300630"/>
            <a:ext cx="2743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79" name="TextBox 378"/>
          <p:cNvSpPr txBox="1"/>
          <p:nvPr/>
        </p:nvSpPr>
        <p:spPr>
          <a:xfrm>
            <a:off x="10588751" y="2280513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380" name="TextBox 379"/>
          <p:cNvSpPr txBox="1"/>
          <p:nvPr/>
        </p:nvSpPr>
        <p:spPr>
          <a:xfrm>
            <a:off x="10954511" y="2280513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7 040</a:t>
            </a:r>
          </a:p>
        </p:txBody>
      </p:sp>
      <p:sp>
        <p:nvSpPr>
          <p:cNvPr id="381" name="Rectangle 380"/>
          <p:cNvSpPr/>
          <p:nvPr/>
        </p:nvSpPr>
        <p:spPr>
          <a:xfrm>
            <a:off x="7991855" y="2441448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TextBox 381"/>
          <p:cNvSpPr txBox="1"/>
          <p:nvPr/>
        </p:nvSpPr>
        <p:spPr>
          <a:xfrm>
            <a:off x="8046719" y="2461564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47</a:t>
            </a:r>
          </a:p>
        </p:txBody>
      </p:sp>
      <p:sp>
        <p:nvSpPr>
          <p:cNvPr id="383" name="TextBox 382"/>
          <p:cNvSpPr txBox="1"/>
          <p:nvPr/>
        </p:nvSpPr>
        <p:spPr>
          <a:xfrm>
            <a:off x="8266175" y="2461564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Sakai Ichiji</a:t>
            </a:r>
          </a:p>
        </p:txBody>
      </p:sp>
      <p:sp>
        <p:nvSpPr>
          <p:cNvPr id="384" name="TextBox 383"/>
          <p:cNvSpPr txBox="1"/>
          <p:nvPr/>
        </p:nvSpPr>
        <p:spPr>
          <a:xfrm>
            <a:off x="9710928" y="2461564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554780"/>
                </a:solidFill>
                <a:latin typeface="Segoe UI"/>
              </a:rPr>
              <a:t>Сакаї</a:t>
            </a:r>
          </a:p>
        </p:txBody>
      </p:sp>
      <p:sp>
        <p:nvSpPr>
          <p:cNvPr id="385" name="Rounded Rectangle 384"/>
          <p:cNvSpPr/>
          <p:nvPr/>
        </p:nvSpPr>
        <p:spPr>
          <a:xfrm>
            <a:off x="10277855" y="2472537"/>
            <a:ext cx="274320" cy="107899"/>
          </a:xfrm>
          <a:prstGeom prst="roundRect">
            <a:avLst>
              <a:gd name="adj" fmla="val 34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TextBox 385"/>
          <p:cNvSpPr txBox="1"/>
          <p:nvPr/>
        </p:nvSpPr>
        <p:spPr>
          <a:xfrm>
            <a:off x="10277855" y="2481681"/>
            <a:ext cx="2743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87" name="TextBox 386"/>
          <p:cNvSpPr txBox="1"/>
          <p:nvPr/>
        </p:nvSpPr>
        <p:spPr>
          <a:xfrm>
            <a:off x="10588751" y="2461564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388" name="TextBox 387"/>
          <p:cNvSpPr txBox="1"/>
          <p:nvPr/>
        </p:nvSpPr>
        <p:spPr>
          <a:xfrm>
            <a:off x="10954511" y="2461564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1 999</a:t>
            </a:r>
          </a:p>
        </p:txBody>
      </p:sp>
      <p:sp>
        <p:nvSpPr>
          <p:cNvPr id="389" name="TextBox 388"/>
          <p:cNvSpPr txBox="1"/>
          <p:nvPr/>
        </p:nvSpPr>
        <p:spPr>
          <a:xfrm>
            <a:off x="8046719" y="2642615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48</a:t>
            </a:r>
          </a:p>
        </p:txBody>
      </p:sp>
      <p:sp>
        <p:nvSpPr>
          <p:cNvPr id="390" name="TextBox 389"/>
          <p:cNvSpPr txBox="1"/>
          <p:nvPr/>
        </p:nvSpPr>
        <p:spPr>
          <a:xfrm>
            <a:off x="8266175" y="2642615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Satake Masamune</a:t>
            </a:r>
          </a:p>
        </p:txBody>
      </p:sp>
      <p:sp>
        <p:nvSpPr>
          <p:cNvPr id="391" name="TextBox 390"/>
          <p:cNvSpPr txBox="1"/>
          <p:nvPr/>
        </p:nvSpPr>
        <p:spPr>
          <a:xfrm>
            <a:off x="9710928" y="2642615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966E28"/>
                </a:solidFill>
                <a:latin typeface="Segoe UI"/>
              </a:rPr>
              <a:t>Секі</a:t>
            </a:r>
          </a:p>
        </p:txBody>
      </p:sp>
      <p:sp>
        <p:nvSpPr>
          <p:cNvPr id="392" name="Rounded Rectangle 391"/>
          <p:cNvSpPr/>
          <p:nvPr/>
        </p:nvSpPr>
        <p:spPr>
          <a:xfrm>
            <a:off x="10277855" y="2653588"/>
            <a:ext cx="274320" cy="107899"/>
          </a:xfrm>
          <a:prstGeom prst="roundRect">
            <a:avLst>
              <a:gd name="adj" fmla="val 34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TextBox 392"/>
          <p:cNvSpPr txBox="1"/>
          <p:nvPr/>
        </p:nvSpPr>
        <p:spPr>
          <a:xfrm>
            <a:off x="10277855" y="2662732"/>
            <a:ext cx="2743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94" name="TextBox 393"/>
          <p:cNvSpPr txBox="1"/>
          <p:nvPr/>
        </p:nvSpPr>
        <p:spPr>
          <a:xfrm>
            <a:off x="10588751" y="2642615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395" name="TextBox 394"/>
          <p:cNvSpPr txBox="1"/>
          <p:nvPr/>
        </p:nvSpPr>
        <p:spPr>
          <a:xfrm>
            <a:off x="10954511" y="2642615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н/д</a:t>
            </a:r>
          </a:p>
        </p:txBody>
      </p:sp>
      <p:sp>
        <p:nvSpPr>
          <p:cNvPr id="396" name="Rectangle 395"/>
          <p:cNvSpPr/>
          <p:nvPr/>
        </p:nvSpPr>
        <p:spPr>
          <a:xfrm>
            <a:off x="7991855" y="2803550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TextBox 396"/>
          <p:cNvSpPr txBox="1"/>
          <p:nvPr/>
        </p:nvSpPr>
        <p:spPr>
          <a:xfrm>
            <a:off x="8046719" y="2823667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49</a:t>
            </a:r>
          </a:p>
        </p:txBody>
      </p:sp>
      <p:sp>
        <p:nvSpPr>
          <p:cNvPr id="398" name="TextBox 397"/>
          <p:cNvSpPr txBox="1"/>
          <p:nvPr/>
        </p:nvSpPr>
        <p:spPr>
          <a:xfrm>
            <a:off x="8266175" y="2823667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Shigehiro</a:t>
            </a:r>
          </a:p>
        </p:txBody>
      </p:sp>
      <p:sp>
        <p:nvSpPr>
          <p:cNvPr id="399" name="TextBox 398"/>
          <p:cNvSpPr txBox="1"/>
          <p:nvPr/>
        </p:nvSpPr>
        <p:spPr>
          <a:xfrm>
            <a:off x="9710928" y="2823667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Японія</a:t>
            </a:r>
          </a:p>
        </p:txBody>
      </p:sp>
      <p:sp>
        <p:nvSpPr>
          <p:cNvPr id="400" name="Rounded Rectangle 399"/>
          <p:cNvSpPr/>
          <p:nvPr/>
        </p:nvSpPr>
        <p:spPr>
          <a:xfrm>
            <a:off x="10277855" y="2834639"/>
            <a:ext cx="274320" cy="107899"/>
          </a:xfrm>
          <a:prstGeom prst="roundRect">
            <a:avLst>
              <a:gd name="adj" fmla="val 34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TextBox 400"/>
          <p:cNvSpPr txBox="1"/>
          <p:nvPr/>
        </p:nvSpPr>
        <p:spPr>
          <a:xfrm>
            <a:off x="10277855" y="2843783"/>
            <a:ext cx="2743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02" name="TextBox 401"/>
          <p:cNvSpPr txBox="1"/>
          <p:nvPr/>
        </p:nvSpPr>
        <p:spPr>
          <a:xfrm>
            <a:off x="10588751" y="2823667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403" name="TextBox 402"/>
          <p:cNvSpPr txBox="1"/>
          <p:nvPr/>
        </p:nvSpPr>
        <p:spPr>
          <a:xfrm>
            <a:off x="10954511" y="2823667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8 490</a:t>
            </a:r>
          </a:p>
        </p:txBody>
      </p:sp>
      <p:sp>
        <p:nvSpPr>
          <p:cNvPr id="404" name="TextBox 403"/>
          <p:cNvSpPr txBox="1"/>
          <p:nvPr/>
        </p:nvSpPr>
        <p:spPr>
          <a:xfrm>
            <a:off x="8046719" y="3004718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50</a:t>
            </a:r>
          </a:p>
        </p:txBody>
      </p:sp>
      <p:sp>
        <p:nvSpPr>
          <p:cNvPr id="405" name="TextBox 404"/>
          <p:cNvSpPr txBox="1"/>
          <p:nvPr/>
        </p:nvSpPr>
        <p:spPr>
          <a:xfrm>
            <a:off x="8266175" y="3004718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Tadafusa / Ohishi</a:t>
            </a:r>
          </a:p>
        </p:txBody>
      </p:sp>
      <p:sp>
        <p:nvSpPr>
          <p:cNvPr id="406" name="TextBox 405"/>
          <p:cNvSpPr txBox="1"/>
          <p:nvPr/>
        </p:nvSpPr>
        <p:spPr>
          <a:xfrm>
            <a:off x="9710928" y="3004718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3A7D5A"/>
                </a:solidFill>
                <a:latin typeface="Segoe UI"/>
              </a:rPr>
              <a:t>Цубаме-Са</a:t>
            </a:r>
          </a:p>
        </p:txBody>
      </p:sp>
      <p:sp>
        <p:nvSpPr>
          <p:cNvPr id="407" name="Rounded Rectangle 406"/>
          <p:cNvSpPr/>
          <p:nvPr/>
        </p:nvSpPr>
        <p:spPr>
          <a:xfrm>
            <a:off x="10277855" y="3015691"/>
            <a:ext cx="274320" cy="107899"/>
          </a:xfrm>
          <a:prstGeom prst="roundRect">
            <a:avLst>
              <a:gd name="adj" fmla="val 34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TextBox 407"/>
          <p:cNvSpPr txBox="1"/>
          <p:nvPr/>
        </p:nvSpPr>
        <p:spPr>
          <a:xfrm>
            <a:off x="10277855" y="3024835"/>
            <a:ext cx="2743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09" name="TextBox 408"/>
          <p:cNvSpPr txBox="1"/>
          <p:nvPr/>
        </p:nvSpPr>
        <p:spPr>
          <a:xfrm>
            <a:off x="10588751" y="3004718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410" name="TextBox 409"/>
          <p:cNvSpPr txBox="1"/>
          <p:nvPr/>
        </p:nvSpPr>
        <p:spPr>
          <a:xfrm>
            <a:off x="10954511" y="3004718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5 891</a:t>
            </a:r>
          </a:p>
        </p:txBody>
      </p:sp>
      <p:sp>
        <p:nvSpPr>
          <p:cNvPr id="411" name="Rectangle 410"/>
          <p:cNvSpPr/>
          <p:nvPr/>
        </p:nvSpPr>
        <p:spPr>
          <a:xfrm>
            <a:off x="7991855" y="3165652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TextBox 411"/>
          <p:cNvSpPr txBox="1"/>
          <p:nvPr/>
        </p:nvSpPr>
        <p:spPr>
          <a:xfrm>
            <a:off x="8046719" y="3185769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51</a:t>
            </a:r>
          </a:p>
        </p:txBody>
      </p:sp>
      <p:sp>
        <p:nvSpPr>
          <p:cNvPr id="413" name="TextBox 412"/>
          <p:cNvSpPr txBox="1"/>
          <p:nvPr/>
        </p:nvSpPr>
        <p:spPr>
          <a:xfrm>
            <a:off x="8266175" y="3185769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Tsukasa (Hinoura)</a:t>
            </a:r>
          </a:p>
        </p:txBody>
      </p:sp>
      <p:sp>
        <p:nvSpPr>
          <p:cNvPr id="414" name="TextBox 413"/>
          <p:cNvSpPr txBox="1"/>
          <p:nvPr/>
        </p:nvSpPr>
        <p:spPr>
          <a:xfrm>
            <a:off x="9710928" y="3185769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3A7D5A"/>
                </a:solidFill>
                <a:latin typeface="Segoe UI"/>
              </a:rPr>
              <a:t>Цубаме-Са</a:t>
            </a:r>
          </a:p>
        </p:txBody>
      </p:sp>
      <p:sp>
        <p:nvSpPr>
          <p:cNvPr id="415" name="Rounded Rectangle 414"/>
          <p:cNvSpPr/>
          <p:nvPr/>
        </p:nvSpPr>
        <p:spPr>
          <a:xfrm>
            <a:off x="10277855" y="3196742"/>
            <a:ext cx="274320" cy="107899"/>
          </a:xfrm>
          <a:prstGeom prst="roundRect">
            <a:avLst>
              <a:gd name="adj" fmla="val 34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TextBox 415"/>
          <p:cNvSpPr txBox="1"/>
          <p:nvPr/>
        </p:nvSpPr>
        <p:spPr>
          <a:xfrm>
            <a:off x="10277855" y="3205886"/>
            <a:ext cx="2743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17" name="TextBox 416"/>
          <p:cNvSpPr txBox="1"/>
          <p:nvPr/>
        </p:nvSpPr>
        <p:spPr>
          <a:xfrm>
            <a:off x="10588751" y="3185769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418" name="TextBox 417"/>
          <p:cNvSpPr txBox="1"/>
          <p:nvPr/>
        </p:nvSpPr>
        <p:spPr>
          <a:xfrm>
            <a:off x="10954511" y="3185769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9 900</a:t>
            </a:r>
          </a:p>
        </p:txBody>
      </p:sp>
      <p:sp>
        <p:nvSpPr>
          <p:cNvPr id="419" name="TextBox 418"/>
          <p:cNvSpPr txBox="1"/>
          <p:nvPr/>
        </p:nvSpPr>
        <p:spPr>
          <a:xfrm>
            <a:off x="8046719" y="3366820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52</a:t>
            </a:r>
          </a:p>
        </p:txBody>
      </p:sp>
      <p:sp>
        <p:nvSpPr>
          <p:cNvPr id="420" name="TextBox 419"/>
          <p:cNvSpPr txBox="1"/>
          <p:nvPr/>
        </p:nvSpPr>
        <p:spPr>
          <a:xfrm>
            <a:off x="8266175" y="3366820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Yamawaki Hamono</a:t>
            </a:r>
          </a:p>
        </p:txBody>
      </p:sp>
      <p:sp>
        <p:nvSpPr>
          <p:cNvPr id="421" name="TextBox 420"/>
          <p:cNvSpPr txBox="1"/>
          <p:nvPr/>
        </p:nvSpPr>
        <p:spPr>
          <a:xfrm>
            <a:off x="9710928" y="3366820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554780"/>
                </a:solidFill>
                <a:latin typeface="Segoe UI"/>
              </a:rPr>
              <a:t>Сакаї</a:t>
            </a:r>
          </a:p>
        </p:txBody>
      </p:sp>
      <p:sp>
        <p:nvSpPr>
          <p:cNvPr id="422" name="Rounded Rectangle 421"/>
          <p:cNvSpPr/>
          <p:nvPr/>
        </p:nvSpPr>
        <p:spPr>
          <a:xfrm>
            <a:off x="10277855" y="3377793"/>
            <a:ext cx="274320" cy="107899"/>
          </a:xfrm>
          <a:prstGeom prst="roundRect">
            <a:avLst>
              <a:gd name="adj" fmla="val 34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TextBox 422"/>
          <p:cNvSpPr txBox="1"/>
          <p:nvPr/>
        </p:nvSpPr>
        <p:spPr>
          <a:xfrm>
            <a:off x="10277855" y="3386937"/>
            <a:ext cx="2743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24" name="TextBox 423"/>
          <p:cNvSpPr txBox="1"/>
          <p:nvPr/>
        </p:nvSpPr>
        <p:spPr>
          <a:xfrm>
            <a:off x="10588751" y="3366820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425" name="TextBox 424"/>
          <p:cNvSpPr txBox="1"/>
          <p:nvPr/>
        </p:nvSpPr>
        <p:spPr>
          <a:xfrm>
            <a:off x="10954511" y="3366820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3 528</a:t>
            </a:r>
          </a:p>
        </p:txBody>
      </p:sp>
      <p:sp>
        <p:nvSpPr>
          <p:cNvPr id="426" name="Rectangle 425"/>
          <p:cNvSpPr/>
          <p:nvPr/>
        </p:nvSpPr>
        <p:spPr>
          <a:xfrm>
            <a:off x="7991855" y="3527755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TextBox 426"/>
          <p:cNvSpPr txBox="1"/>
          <p:nvPr/>
        </p:nvSpPr>
        <p:spPr>
          <a:xfrm>
            <a:off x="8046719" y="3547871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53</a:t>
            </a:r>
          </a:p>
        </p:txBody>
      </p:sp>
      <p:sp>
        <p:nvSpPr>
          <p:cNvPr id="428" name="TextBox 427"/>
          <p:cNvSpPr txBox="1"/>
          <p:nvPr/>
        </p:nvSpPr>
        <p:spPr>
          <a:xfrm>
            <a:off x="8266175" y="3547871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Global (Yoshikin)</a:t>
            </a:r>
          </a:p>
        </p:txBody>
      </p:sp>
      <p:sp>
        <p:nvSpPr>
          <p:cNvPr id="429" name="TextBox 428"/>
          <p:cNvSpPr txBox="1"/>
          <p:nvPr/>
        </p:nvSpPr>
        <p:spPr>
          <a:xfrm>
            <a:off x="9710928" y="3547871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3A7D5A"/>
                </a:solidFill>
                <a:latin typeface="Segoe UI"/>
              </a:rPr>
              <a:t>Цубаме-Са</a:t>
            </a:r>
          </a:p>
        </p:txBody>
      </p:sp>
      <p:sp>
        <p:nvSpPr>
          <p:cNvPr id="430" name="Rounded Rectangle 429"/>
          <p:cNvSpPr/>
          <p:nvPr/>
        </p:nvSpPr>
        <p:spPr>
          <a:xfrm>
            <a:off x="10277855" y="3558844"/>
            <a:ext cx="274320" cy="107899"/>
          </a:xfrm>
          <a:prstGeom prst="roundRect">
            <a:avLst>
              <a:gd name="adj" fmla="val 34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TextBox 430"/>
          <p:cNvSpPr txBox="1"/>
          <p:nvPr/>
        </p:nvSpPr>
        <p:spPr>
          <a:xfrm>
            <a:off x="10277855" y="3567988"/>
            <a:ext cx="2743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32" name="TextBox 431"/>
          <p:cNvSpPr txBox="1"/>
          <p:nvPr/>
        </p:nvSpPr>
        <p:spPr>
          <a:xfrm>
            <a:off x="10588751" y="3547871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н/д</a:t>
            </a:r>
          </a:p>
        </p:txBody>
      </p:sp>
      <p:sp>
        <p:nvSpPr>
          <p:cNvPr id="433" name="TextBox 432"/>
          <p:cNvSpPr txBox="1"/>
          <p:nvPr/>
        </p:nvSpPr>
        <p:spPr>
          <a:xfrm>
            <a:off x="10954511" y="3547871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2 618 – 13 195</a:t>
            </a:r>
          </a:p>
        </p:txBody>
      </p:sp>
      <p:sp>
        <p:nvSpPr>
          <p:cNvPr id="434" name="TextBox 433"/>
          <p:cNvSpPr txBox="1"/>
          <p:nvPr/>
        </p:nvSpPr>
        <p:spPr>
          <a:xfrm>
            <a:off x="8046719" y="3728923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54</a:t>
            </a:r>
          </a:p>
        </p:txBody>
      </p:sp>
      <p:sp>
        <p:nvSpPr>
          <p:cNvPr id="435" name="TextBox 434"/>
          <p:cNvSpPr txBox="1"/>
          <p:nvPr/>
        </p:nvSpPr>
        <p:spPr>
          <a:xfrm>
            <a:off x="8266175" y="3728923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HONMAMON</a:t>
            </a:r>
          </a:p>
        </p:txBody>
      </p:sp>
      <p:sp>
        <p:nvSpPr>
          <p:cNvPr id="436" name="TextBox 435"/>
          <p:cNvSpPr txBox="1"/>
          <p:nvPr/>
        </p:nvSpPr>
        <p:spPr>
          <a:xfrm>
            <a:off x="9710928" y="3728923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2A7F86"/>
                </a:solidFill>
                <a:latin typeface="Segoe UI"/>
              </a:rPr>
              <a:t>Тоса</a:t>
            </a:r>
          </a:p>
        </p:txBody>
      </p:sp>
      <p:sp>
        <p:nvSpPr>
          <p:cNvPr id="437" name="Rounded Rectangle 436"/>
          <p:cNvSpPr/>
          <p:nvPr/>
        </p:nvSpPr>
        <p:spPr>
          <a:xfrm>
            <a:off x="10277855" y="3739895"/>
            <a:ext cx="274320" cy="107899"/>
          </a:xfrm>
          <a:prstGeom prst="roundRect">
            <a:avLst>
              <a:gd name="adj" fmla="val 34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TextBox 437"/>
          <p:cNvSpPr txBox="1"/>
          <p:nvPr/>
        </p:nvSpPr>
        <p:spPr>
          <a:xfrm>
            <a:off x="10277855" y="3749039"/>
            <a:ext cx="2743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39" name="TextBox 438"/>
          <p:cNvSpPr txBox="1"/>
          <p:nvPr/>
        </p:nvSpPr>
        <p:spPr>
          <a:xfrm>
            <a:off x="10588751" y="3728923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н/д</a:t>
            </a:r>
          </a:p>
        </p:txBody>
      </p:sp>
      <p:sp>
        <p:nvSpPr>
          <p:cNvPr id="440" name="TextBox 439"/>
          <p:cNvSpPr txBox="1"/>
          <p:nvPr/>
        </p:nvSpPr>
        <p:spPr>
          <a:xfrm>
            <a:off x="10954511" y="3728923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н/д</a:t>
            </a:r>
          </a:p>
        </p:txBody>
      </p:sp>
      <p:sp>
        <p:nvSpPr>
          <p:cNvPr id="441" name="Rectangle 440"/>
          <p:cNvSpPr/>
          <p:nvPr/>
        </p:nvSpPr>
        <p:spPr>
          <a:xfrm>
            <a:off x="7991855" y="3889857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TextBox 441"/>
          <p:cNvSpPr txBox="1"/>
          <p:nvPr/>
        </p:nvSpPr>
        <p:spPr>
          <a:xfrm>
            <a:off x="8046719" y="3909974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55</a:t>
            </a:r>
          </a:p>
        </p:txBody>
      </p:sp>
      <p:sp>
        <p:nvSpPr>
          <p:cNvPr id="443" name="TextBox 442"/>
          <p:cNvSpPr txBox="1"/>
          <p:nvPr/>
        </p:nvSpPr>
        <p:spPr>
          <a:xfrm>
            <a:off x="8266175" y="3909974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Sekiryu</a:t>
            </a:r>
          </a:p>
        </p:txBody>
      </p:sp>
      <p:sp>
        <p:nvSpPr>
          <p:cNvPr id="444" name="TextBox 443"/>
          <p:cNvSpPr txBox="1"/>
          <p:nvPr/>
        </p:nvSpPr>
        <p:spPr>
          <a:xfrm>
            <a:off x="9710928" y="3909974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966E28"/>
                </a:solidFill>
                <a:latin typeface="Segoe UI"/>
              </a:rPr>
              <a:t>Секі</a:t>
            </a:r>
          </a:p>
        </p:txBody>
      </p:sp>
      <p:sp>
        <p:nvSpPr>
          <p:cNvPr id="445" name="Rounded Rectangle 444"/>
          <p:cNvSpPr/>
          <p:nvPr/>
        </p:nvSpPr>
        <p:spPr>
          <a:xfrm>
            <a:off x="10277855" y="3920947"/>
            <a:ext cx="274320" cy="107899"/>
          </a:xfrm>
          <a:prstGeom prst="roundRect">
            <a:avLst>
              <a:gd name="adj" fmla="val 34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TextBox 445"/>
          <p:cNvSpPr txBox="1"/>
          <p:nvPr/>
        </p:nvSpPr>
        <p:spPr>
          <a:xfrm>
            <a:off x="10277855" y="3930091"/>
            <a:ext cx="2743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47" name="TextBox 446"/>
          <p:cNvSpPr txBox="1"/>
          <p:nvPr/>
        </p:nvSpPr>
        <p:spPr>
          <a:xfrm>
            <a:off x="10588751" y="3909974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н/д</a:t>
            </a:r>
          </a:p>
        </p:txBody>
      </p:sp>
      <p:sp>
        <p:nvSpPr>
          <p:cNvPr id="448" name="TextBox 447"/>
          <p:cNvSpPr txBox="1"/>
          <p:nvPr/>
        </p:nvSpPr>
        <p:spPr>
          <a:xfrm>
            <a:off x="10954511" y="3909974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1 107 – 1 638</a:t>
            </a:r>
          </a:p>
        </p:txBody>
      </p:sp>
      <p:sp>
        <p:nvSpPr>
          <p:cNvPr id="449" name="TextBox 448"/>
          <p:cNvSpPr txBox="1"/>
          <p:nvPr/>
        </p:nvSpPr>
        <p:spPr>
          <a:xfrm>
            <a:off x="8046719" y="4091025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56</a:t>
            </a:r>
          </a:p>
        </p:txBody>
      </p:sp>
      <p:sp>
        <p:nvSpPr>
          <p:cNvPr id="450" name="TextBox 449"/>
          <p:cNvSpPr txBox="1"/>
          <p:nvPr/>
        </p:nvSpPr>
        <p:spPr>
          <a:xfrm>
            <a:off x="8266175" y="4091025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Suisin</a:t>
            </a:r>
          </a:p>
        </p:txBody>
      </p:sp>
      <p:sp>
        <p:nvSpPr>
          <p:cNvPr id="451" name="TextBox 450"/>
          <p:cNvSpPr txBox="1"/>
          <p:nvPr/>
        </p:nvSpPr>
        <p:spPr>
          <a:xfrm>
            <a:off x="9710928" y="4091025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554780"/>
                </a:solidFill>
                <a:latin typeface="Segoe UI"/>
              </a:rPr>
              <a:t>Сакаї</a:t>
            </a:r>
          </a:p>
        </p:txBody>
      </p:sp>
      <p:sp>
        <p:nvSpPr>
          <p:cNvPr id="452" name="Rounded Rectangle 451"/>
          <p:cNvSpPr/>
          <p:nvPr/>
        </p:nvSpPr>
        <p:spPr>
          <a:xfrm>
            <a:off x="10277855" y="4101998"/>
            <a:ext cx="274320" cy="107899"/>
          </a:xfrm>
          <a:prstGeom prst="roundRect">
            <a:avLst>
              <a:gd name="adj" fmla="val 34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TextBox 452"/>
          <p:cNvSpPr txBox="1"/>
          <p:nvPr/>
        </p:nvSpPr>
        <p:spPr>
          <a:xfrm>
            <a:off x="10277855" y="4111142"/>
            <a:ext cx="2743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54" name="TextBox 453"/>
          <p:cNvSpPr txBox="1"/>
          <p:nvPr/>
        </p:nvSpPr>
        <p:spPr>
          <a:xfrm>
            <a:off x="10588751" y="4091025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н/д</a:t>
            </a:r>
          </a:p>
        </p:txBody>
      </p:sp>
      <p:sp>
        <p:nvSpPr>
          <p:cNvPr id="455" name="TextBox 454"/>
          <p:cNvSpPr txBox="1"/>
          <p:nvPr/>
        </p:nvSpPr>
        <p:spPr>
          <a:xfrm>
            <a:off x="10954511" y="4091025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н/д</a:t>
            </a:r>
          </a:p>
        </p:txBody>
      </p:sp>
      <p:sp>
        <p:nvSpPr>
          <p:cNvPr id="456" name="TextBox 455"/>
          <p:cNvSpPr txBox="1"/>
          <p:nvPr/>
        </p:nvSpPr>
        <p:spPr>
          <a:xfrm>
            <a:off x="566928" y="5650992"/>
            <a:ext cx="6400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B88A3D"/>
                </a:solidFill>
                <a:latin typeface="Segoe UI"/>
              </a:rPr>
              <a:t>ПОЗНАЧКА JP БІЛЯ КОЖНОГО ВИРОБНИКА — ЯК САМЕ ПІДТВЕРДЖЕНО ЯПОНСЬКЕ ПОХОДЖЕННЯ</a:t>
            </a:r>
          </a:p>
        </p:txBody>
      </p:sp>
      <p:sp>
        <p:nvSpPr>
          <p:cNvPr id="457" name="Rounded Rectangle 456"/>
          <p:cNvSpPr/>
          <p:nvPr/>
        </p:nvSpPr>
        <p:spPr>
          <a:xfrm>
            <a:off x="566928" y="5833872"/>
            <a:ext cx="4187952" cy="731520"/>
          </a:xfrm>
          <a:prstGeom prst="roundRect">
            <a:avLst>
              <a:gd name="adj" fmla="val 7000"/>
            </a:avLst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Rectangle 457"/>
          <p:cNvSpPr/>
          <p:nvPr/>
        </p:nvSpPr>
        <p:spPr>
          <a:xfrm>
            <a:off x="566928" y="5833872"/>
            <a:ext cx="36576" cy="731520"/>
          </a:xfrm>
          <a:prstGeom prst="rect">
            <a:avLst/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Rounded Rectangle 458"/>
          <p:cNvSpPr/>
          <p:nvPr/>
        </p:nvSpPr>
        <p:spPr>
          <a:xfrm>
            <a:off x="731520" y="5934456"/>
            <a:ext cx="274320" cy="107899"/>
          </a:xfrm>
          <a:prstGeom prst="roundRect">
            <a:avLst>
              <a:gd name="adj" fmla="val 34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TextBox 459"/>
          <p:cNvSpPr txBox="1"/>
          <p:nvPr/>
        </p:nvSpPr>
        <p:spPr>
          <a:xfrm>
            <a:off x="731520" y="5943600"/>
            <a:ext cx="2743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61" name="TextBox 460"/>
          <p:cNvSpPr txBox="1"/>
          <p:nvPr/>
        </p:nvSpPr>
        <p:spPr>
          <a:xfrm>
            <a:off x="1078992" y="5907024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A7D5A"/>
                </a:solidFill>
                <a:latin typeface="Segoe UI"/>
              </a:rPr>
              <a:t>ЗАВОД</a:t>
            </a:r>
          </a:p>
        </p:txBody>
      </p:sp>
      <p:sp>
        <p:nvSpPr>
          <p:cNvPr id="462" name="TextBox 461"/>
          <p:cNvSpPr txBox="1"/>
          <p:nvPr/>
        </p:nvSpPr>
        <p:spPr>
          <a:xfrm>
            <a:off x="2395728" y="5907024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30 брендів</a:t>
            </a:r>
          </a:p>
        </p:txBody>
      </p:sp>
      <p:sp>
        <p:nvSpPr>
          <p:cNvPr id="463" name="TextBox 462"/>
          <p:cNvSpPr txBox="1"/>
          <p:nvPr/>
        </p:nvSpPr>
        <p:spPr>
          <a:xfrm>
            <a:off x="731520" y="6108192"/>
            <a:ext cx="39136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Виробника і завод встановлено
за джерелами самого виробника</a:t>
            </a:r>
          </a:p>
        </p:txBody>
      </p:sp>
      <p:sp>
        <p:nvSpPr>
          <p:cNvPr id="464" name="Rounded Rectangle 463"/>
          <p:cNvSpPr/>
          <p:nvPr/>
        </p:nvSpPr>
        <p:spPr>
          <a:xfrm>
            <a:off x="4864608" y="5833872"/>
            <a:ext cx="4187952" cy="731520"/>
          </a:xfrm>
          <a:prstGeom prst="roundRect">
            <a:avLst>
              <a:gd name="adj" fmla="val 7000"/>
            </a:avLst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Rectangle 464"/>
          <p:cNvSpPr/>
          <p:nvPr/>
        </p:nvSpPr>
        <p:spPr>
          <a:xfrm>
            <a:off x="4864608" y="5833872"/>
            <a:ext cx="36576" cy="731520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6" name="Rounded Rectangle 465"/>
          <p:cNvSpPr/>
          <p:nvPr/>
        </p:nvSpPr>
        <p:spPr>
          <a:xfrm>
            <a:off x="5029200" y="5934456"/>
            <a:ext cx="274320" cy="107899"/>
          </a:xfrm>
          <a:prstGeom prst="roundRect">
            <a:avLst>
              <a:gd name="adj" fmla="val 34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TextBox 466"/>
          <p:cNvSpPr txBox="1"/>
          <p:nvPr/>
        </p:nvSpPr>
        <p:spPr>
          <a:xfrm>
            <a:off x="5029200" y="5943600"/>
            <a:ext cx="2743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68" name="TextBox 467"/>
          <p:cNvSpPr txBox="1"/>
          <p:nvPr/>
        </p:nvSpPr>
        <p:spPr>
          <a:xfrm>
            <a:off x="5376672" y="5907024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2A7F86"/>
                </a:solidFill>
                <a:latin typeface="Segoe UI"/>
              </a:rPr>
              <a:t>КАРТКА</a:t>
            </a:r>
          </a:p>
        </p:txBody>
      </p:sp>
      <p:sp>
        <p:nvSpPr>
          <p:cNvPr id="469" name="TextBox 468"/>
          <p:cNvSpPr txBox="1"/>
          <p:nvPr/>
        </p:nvSpPr>
        <p:spPr>
          <a:xfrm>
            <a:off x="6693408" y="5907024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26 брендів</a:t>
            </a:r>
          </a:p>
        </p:txBody>
      </p:sp>
      <p:sp>
        <p:nvSpPr>
          <p:cNvPr id="470" name="TextBox 469"/>
          <p:cNvSpPr txBox="1"/>
          <p:nvPr/>
        </p:nvSpPr>
        <p:spPr>
          <a:xfrm>
            <a:off x="5029200" y="6108192"/>
            <a:ext cx="39136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Походження підтверджене карткою продавця
або профільним торговим каталогом</a:t>
            </a:r>
          </a:p>
        </p:txBody>
      </p:sp>
      <p:sp>
        <p:nvSpPr>
          <p:cNvPr id="471" name="Rounded Rectangle 470"/>
          <p:cNvSpPr/>
          <p:nvPr/>
        </p:nvSpPr>
        <p:spPr>
          <a:xfrm>
            <a:off x="9162288" y="5833872"/>
            <a:ext cx="2468880" cy="731520"/>
          </a:xfrm>
          <a:prstGeom prst="roundRect">
            <a:avLst>
              <a:gd name="adj" fmla="val 7000"/>
            </a:avLst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Rectangle 471"/>
          <p:cNvSpPr/>
          <p:nvPr/>
        </p:nvSpPr>
        <p:spPr>
          <a:xfrm>
            <a:off x="9162288" y="5833872"/>
            <a:ext cx="36576" cy="731520"/>
          </a:xfrm>
          <a:prstGeom prst="rect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TextBox 472"/>
          <p:cNvSpPr txBox="1"/>
          <p:nvPr/>
        </p:nvSpPr>
        <p:spPr>
          <a:xfrm>
            <a:off x="9326880" y="5888736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B42E3A"/>
                </a:solidFill>
                <a:latin typeface="Segoe UI"/>
              </a:rPr>
              <a:t>НЕ ПРОЙШЛИ ПЕРЕВІРКУ</a:t>
            </a:r>
          </a:p>
        </p:txBody>
      </p:sp>
      <p:sp>
        <p:nvSpPr>
          <p:cNvPr id="474" name="TextBox 473"/>
          <p:cNvSpPr txBox="1"/>
          <p:nvPr/>
        </p:nvSpPr>
        <p:spPr>
          <a:xfrm>
            <a:off x="9326880" y="6053328"/>
            <a:ext cx="22311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Kyocera, Hattori, Ittosai, Aritsugu, Sakon Shiraume,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Samura, Chang Keng, Satori · Takagi · TURWHO,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XINZUO, HEZHEN, Tokisu, Hasaki, S.K.K., Jikko</a:t>
            </a:r>
          </a:p>
        </p:txBody>
      </p:sp>
      <p:sp>
        <p:nvSpPr>
          <p:cNvPr id="475" name="TextBox 474"/>
          <p:cNvSpPr txBox="1"/>
          <p:nvPr/>
        </p:nvSpPr>
        <p:spPr>
          <a:xfrm>
            <a:off x="603504" y="6556248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У переписі лише марки з підтвердженим японським виробництвом. SKU — позиції в публічних каталогах, жовтень 2026.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К А Н А Л И   З Б У Т 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Georgia"/>
              </a:rPr>
              <a:t>П'ять каналів, і японська глибина лише в одному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Де в Україні фізично можна купити ніж японського виробництва, із глибиною асортименту й цінами жовтня 2026.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1554480"/>
            <a:ext cx="187451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КАНАЛ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41448" y="1554480"/>
            <a:ext cx="3063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ХТО ЦЕ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04688" y="1554480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ЯПОН. SKU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1554480"/>
            <a:ext cx="1600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ЦІНИ,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19288" y="1554480"/>
            <a:ext cx="3611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ЩО ЦЕ ЗА КАНАЛ ДЛЯ ПОСТАЧАЛЬНИКА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93776" y="1719072"/>
            <a:ext cx="11210544" cy="566928"/>
          </a:xfrm>
          <a:prstGeom prst="roundRect">
            <a:avLst>
              <a:gd name="adj" fmla="val 14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1810512"/>
            <a:ext cx="18105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80" b="1">
                <a:solidFill>
                  <a:srgbClr val="B88A3D"/>
                </a:solidFill>
                <a:latin typeface="Segoe UI"/>
              </a:rPr>
              <a:t>Спеціалізований онлайн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41448" y="1773936"/>
            <a:ext cx="29992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80" b="0">
                <a:solidFill>
                  <a:srgbClr val="6B7282"/>
                </a:solidFill>
                <a:latin typeface="Segoe UI"/>
              </a:rPr>
              <a:t>ProfiMax, ROKS, WildCat, Sekator, Volod,
rezat, japan-knife, Hangiri, vodospad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1847088"/>
            <a:ext cx="84124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B88A3D"/>
                </a:solidFill>
                <a:latin typeface="Segoe UI"/>
              </a:rPr>
              <a:t>≈ 1 000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9088" y="1847088"/>
            <a:ext cx="15361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51A26"/>
                </a:solidFill>
                <a:latin typeface="Segoe UI"/>
              </a:rPr>
              <a:t>217 – 38 640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19288" y="1773936"/>
            <a:ext cx="36576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90" b="0">
                <a:solidFill>
                  <a:srgbClr val="1B253F"/>
                </a:solidFill>
                <a:latin typeface="Segoe UI"/>
              </a:rPr>
              <a:t>Уся глибина країни. Малий обіг, висока компетенція.
Єдиний канал, що тримає склад японських марок.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2432304"/>
            <a:ext cx="18105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80" b="1">
                <a:solidFill>
                  <a:srgbClr val="2A7F86"/>
                </a:solidFill>
                <a:latin typeface="Segoe UI"/>
              </a:rPr>
              <a:t>Великий формат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41448" y="2395728"/>
            <a:ext cx="29992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80" b="0">
                <a:solidFill>
                  <a:srgbClr val="6B7282"/>
                </a:solidFill>
                <a:latin typeface="Segoe UI"/>
              </a:rPr>
              <a:t>Епіцентр: 4 950 ножів,
з них японських 133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04688" y="2468880"/>
            <a:ext cx="84124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2A7F86"/>
                </a:solidFill>
                <a:latin typeface="Segoe UI"/>
              </a:rPr>
              <a:t>133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19088" y="2468880"/>
            <a:ext cx="15361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51A26"/>
                </a:solidFill>
                <a:latin typeface="Segoe UI"/>
              </a:rPr>
              <a:t>2 787 – 11 271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19288" y="2395728"/>
            <a:ext cx="36576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90" b="0">
                <a:solidFill>
                  <a:srgbClr val="1B253F"/>
                </a:solidFill>
                <a:latin typeface="Segoe UI"/>
              </a:rPr>
              <a:t>Єдиний офлайн-масштаб. Suncraft із 97 SKU доводить,
що бар'єр не в мережі й не в покупцеві.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93776" y="2962656"/>
            <a:ext cx="11210544" cy="566928"/>
          </a:xfrm>
          <a:prstGeom prst="roundRect">
            <a:avLst>
              <a:gd name="adj" fmla="val 14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3054096"/>
            <a:ext cx="18105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80" b="1">
                <a:solidFill>
                  <a:srgbClr val="A84A6B"/>
                </a:solidFill>
                <a:latin typeface="Segoe UI"/>
              </a:rPr>
              <a:t>Монобрендові імпортери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41448" y="3017520"/>
            <a:ext cx="29992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80" b="0">
                <a:solidFill>
                  <a:srgbClr val="6B7282"/>
                </a:solidFill>
                <a:latin typeface="Segoe UI"/>
              </a:rPr>
              <a:t>yaxell.com.ua, zwilling.in.ua (Miyabi),
lacocotte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04688" y="3090672"/>
            <a:ext cx="84124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A84A6B"/>
                </a:solidFill>
                <a:latin typeface="Segoe UI"/>
              </a:rPr>
              <a:t>≈ 130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19088" y="3090672"/>
            <a:ext cx="15361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51A26"/>
                </a:solidFill>
                <a:latin typeface="Segoe UI"/>
              </a:rPr>
              <a:t>2 145 – 70 102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19288" y="3017520"/>
            <a:ext cx="36576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90" b="0">
                <a:solidFill>
                  <a:srgbClr val="1B253F"/>
                </a:solidFill>
                <a:latin typeface="Segoe UI"/>
              </a:rPr>
              <a:t>Топові слоти вже зайняті ексклюзивами.
Для нового бренду вхід закритий.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3675888"/>
            <a:ext cx="18105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80" b="1">
                <a:solidFill>
                  <a:srgbClr val="B42E3A"/>
                </a:solidFill>
                <a:latin typeface="Segoe UI"/>
              </a:rPr>
              <a:t>Маркетплейси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41448" y="3639312"/>
            <a:ext cx="29992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80" b="0">
                <a:solidFill>
                  <a:srgbClr val="6B7282"/>
                </a:solidFill>
                <a:latin typeface="Segoe UI"/>
              </a:rPr>
              <a:t>Rozetka, Prom, Kasta, Bigl, Shafa.
Дропшип-вітрини без складу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504688" y="3712464"/>
            <a:ext cx="84124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B42E3A"/>
                </a:solidFill>
                <a:latin typeface="Segoe UI"/>
              </a:rPr>
              <a:t>н/д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19088" y="3712464"/>
            <a:ext cx="15361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51A26"/>
                </a:solidFill>
                <a:latin typeface="Segoe UI"/>
              </a:rPr>
              <a:t>2 618 – 13 195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19288" y="3639312"/>
            <a:ext cx="36576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90" b="0">
                <a:solidFill>
                  <a:srgbClr val="1B253F"/>
                </a:solidFill>
                <a:latin typeface="Segoe UI"/>
              </a:rPr>
              <a:t>Полиця без складу: транслює чужий каталог.
Присутність без продажів і без контролю ціни.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93776" y="4206240"/>
            <a:ext cx="11210544" cy="566928"/>
          </a:xfrm>
          <a:prstGeom prst="roundRect">
            <a:avLst>
              <a:gd name="adj" fmla="val 14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6928" y="4297680"/>
            <a:ext cx="18105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80" b="1">
                <a:solidFill>
                  <a:srgbClr val="B42E3A"/>
                </a:solidFill>
                <a:latin typeface="Segoe UI"/>
              </a:rPr>
              <a:t>Опт HoReCa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41448" y="4261104"/>
            <a:ext cx="29992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80" b="0">
                <a:solidFill>
                  <a:srgbClr val="6B7282"/>
                </a:solidFill>
                <a:latin typeface="Segoe UI"/>
              </a:rPr>
              <a:t>AL-Group (523 проф. ножі), LFood,
Gastro24, Profood, System4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504688" y="4334256"/>
            <a:ext cx="84124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B42E3A"/>
                </a:solidFill>
                <a:latin typeface="Segoe UI"/>
              </a:rPr>
              <a:t>2 бренди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19088" y="4334256"/>
            <a:ext cx="15361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51A26"/>
                </a:solidFill>
                <a:latin typeface="Segoe UI"/>
              </a:rPr>
              <a:t>5 740 – 13 290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19288" y="4261104"/>
            <a:ext cx="36576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90" b="0">
                <a:solidFill>
                  <a:srgbClr val="1B253F"/>
                </a:solidFill>
                <a:latin typeface="Segoe UI"/>
              </a:rPr>
              <a:t>Практично закритий: тримають європейські марки.
Шість структурних причин — у блоці нижче.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" y="4956048"/>
            <a:ext cx="64008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B42E3A"/>
                </a:solidFill>
                <a:latin typeface="Segoe UI"/>
              </a:rPr>
              <a:t>ЧОМУ ПРОФЕСІЙНА КУХНЯ НЕ КУПУЄ ЯПОНІЮ · ШІСТЬ ПРИЧИН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66928" y="5175504"/>
            <a:ext cx="3602736" cy="658368"/>
          </a:xfrm>
          <a:prstGeom prst="roundRect">
            <a:avLst>
              <a:gd name="adj" fmla="val 7000"/>
            </a:avLst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66928" y="5175504"/>
            <a:ext cx="36576" cy="658368"/>
          </a:xfrm>
          <a:prstGeom prst="rect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31520" y="5248656"/>
            <a:ext cx="33101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B42E3A"/>
                </a:solidFill>
                <a:latin typeface="Segoe UI"/>
              </a:rPr>
              <a:t>ЕКОНОМІКА ВТРАТ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31520" y="5413248"/>
            <a:ext cx="33467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50" b="0">
                <a:solidFill>
                  <a:srgbClr val="1B253F"/>
                </a:solidFill>
                <a:latin typeface="Segoe UI"/>
              </a:rPr>
              <a:t>Плинність кухарів 40–60 % на рік. Списати 8 000 грн
так само легко, як 500 грн, неможливо.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306824" y="5175504"/>
            <a:ext cx="3602736" cy="658368"/>
          </a:xfrm>
          <a:prstGeom prst="roundRect">
            <a:avLst>
              <a:gd name="adj" fmla="val 7000"/>
            </a:avLst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306824" y="5175504"/>
            <a:ext cx="36576" cy="658368"/>
          </a:xfrm>
          <a:prstGeom prst="rect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471416" y="5248656"/>
            <a:ext cx="33101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B42E3A"/>
                </a:solidFill>
                <a:latin typeface="Segoe UI"/>
              </a:rPr>
              <a:t>ГЕОМЕТРІЯ ПРОТИ ПРОДУКТУ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471416" y="5413248"/>
            <a:ext cx="33467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50" b="0">
                <a:solidFill>
                  <a:srgbClr val="1B253F"/>
                </a:solidFill>
                <a:latin typeface="Segoe UI"/>
              </a:rPr>
              <a:t>60–64 HRC викришується на кістці й замороженому.
Європейський ніж 56 HRC гнеться, японський ламається.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046719" y="5175504"/>
            <a:ext cx="3602736" cy="658368"/>
          </a:xfrm>
          <a:prstGeom prst="roundRect">
            <a:avLst>
              <a:gd name="adj" fmla="val 7000"/>
            </a:avLst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046719" y="5175504"/>
            <a:ext cx="36576" cy="658368"/>
          </a:xfrm>
          <a:prstGeom prst="rect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211311" y="5248656"/>
            <a:ext cx="33101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B42E3A"/>
                </a:solidFill>
                <a:latin typeface="Segoe UI"/>
              </a:rPr>
              <a:t>НЕМАЄ СЕРВІСУ ЗАТОЧЕННЯ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11311" y="5413248"/>
            <a:ext cx="33467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50" b="0">
                <a:solidFill>
                  <a:srgbClr val="1B253F"/>
                </a:solidFill>
                <a:latin typeface="Segoe UI"/>
              </a:rPr>
              <a:t>Правка на водних каменях кожні 2–3 дні.
Організованого ринку заточення в Україні немає.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566928" y="5907024"/>
            <a:ext cx="3602736" cy="658368"/>
          </a:xfrm>
          <a:prstGeom prst="roundRect">
            <a:avLst>
              <a:gd name="adj" fmla="val 7000"/>
            </a:avLst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66928" y="5907024"/>
            <a:ext cx="36576" cy="658368"/>
          </a:xfrm>
          <a:prstGeom prst="rect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31520" y="5980176"/>
            <a:ext cx="33101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B42E3A"/>
                </a:solidFill>
                <a:latin typeface="Segoe UI"/>
              </a:rPr>
              <a:t>ЛОГІСТИКА ЗАКУПІВЛІ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31520" y="6144768"/>
            <a:ext cx="33467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50" b="0">
                <a:solidFill>
                  <a:srgbClr val="1B253F"/>
                </a:solidFill>
                <a:latin typeface="Segoe UI"/>
              </a:rPr>
              <a:t>Ножі купують разом із посудом одним рахунком.
Японцю доведеться будувати окремий канал.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306824" y="5907024"/>
            <a:ext cx="3602736" cy="658368"/>
          </a:xfrm>
          <a:prstGeom prst="roundRect">
            <a:avLst>
              <a:gd name="adj" fmla="val 7000"/>
            </a:avLst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306824" y="5907024"/>
            <a:ext cx="36576" cy="658368"/>
          </a:xfrm>
          <a:prstGeom prst="rect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471416" y="5980176"/>
            <a:ext cx="33101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B42E3A"/>
                </a:solidFill>
                <a:latin typeface="Segoe UI"/>
              </a:rPr>
              <a:t>ОДНОСТОРОННЄ ЗАТОЧЕННЯ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71416" y="6144768"/>
            <a:ext cx="33467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50" b="0">
                <a:solidFill>
                  <a:srgbClr val="1B253F"/>
                </a:solidFill>
                <a:latin typeface="Segoe UI"/>
              </a:rPr>
              <a:t>Вимагає навички, якої лінійний кухар не має
і вчити якої ніхто не буде.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8046719" y="5907024"/>
            <a:ext cx="3602736" cy="658368"/>
          </a:xfrm>
          <a:prstGeom prst="roundRect">
            <a:avLst>
              <a:gd name="adj" fmla="val 7000"/>
            </a:avLst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8046719" y="5907024"/>
            <a:ext cx="36576" cy="658368"/>
          </a:xfrm>
          <a:prstGeom prst="rect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211311" y="5980176"/>
            <a:ext cx="33101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B42E3A"/>
                </a:solidFill>
                <a:latin typeface="Segoe UI"/>
              </a:rPr>
              <a:t>ШЕФ КУПУЄ СОБІ САМ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211311" y="6144768"/>
            <a:ext cx="33467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50" b="0">
                <a:solidFill>
                  <a:srgbClr val="1B253F"/>
                </a:solidFill>
                <a:latin typeface="Segoe UI"/>
              </a:rPr>
              <a:t>Часто за кордоном, не через дистриб'ютора закладу.
Він референс, а не канал збуту.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03504" y="658368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«Японські SKU» — оцінка за публічними каталогами. Жодну з шести причин не можна зняти засобами постачальника: HoReCa не є точкою входу, лише джерелом референсів для B2C.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П О Т Е Н Ц І Й Н И Й   П О С Т А Ч А Л Ь Н И К   ·   1   З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Georgia"/>
              </a:rPr>
              <a:t>Sakai Takayuki: хто це і чому це інший клас задачі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Профіль кандидата у постачальники за даними виробника й незалежних каталогів. Усе, що нижче, — публічна інформація, не комерційна пропозиція.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517904"/>
            <a:ext cx="2706624" cy="109728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1517904"/>
            <a:ext cx="2706624" cy="25603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" y="1691639"/>
            <a:ext cx="22677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З А С Н О В А Н 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1883664"/>
            <a:ext cx="22677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>
                <a:solidFill>
                  <a:srgbClr val="966E28"/>
                </a:solidFill>
                <a:latin typeface="Georgia"/>
              </a:rPr>
              <a:t>1950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" y="2377439"/>
            <a:ext cx="2267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Майстерня Aokі Hamono,
родина Аокі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19856" y="1517904"/>
            <a:ext cx="2706624" cy="109728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19856" y="1517904"/>
            <a:ext cx="2706624" cy="25603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39312" y="1691639"/>
            <a:ext cx="22677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Р Е Г І О 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9312" y="1883664"/>
            <a:ext cx="22677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>
                <a:solidFill>
                  <a:srgbClr val="2A7F86"/>
                </a:solidFill>
                <a:latin typeface="Georgia"/>
              </a:rPr>
              <a:t>Сакаї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39312" y="2377439"/>
            <a:ext cx="2267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Осака. 600 років
ковальської традиції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72784" y="1517904"/>
            <a:ext cx="2706624" cy="109728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72784" y="1517904"/>
            <a:ext cx="2706624" cy="25603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1691639"/>
            <a:ext cx="22677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С Е Р І Й   У   Л І Н І Й Ц 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1883664"/>
            <a:ext cx="22677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>
                <a:solidFill>
                  <a:srgbClr val="554780"/>
                </a:solidFill>
                <a:latin typeface="Georgia"/>
              </a:rPr>
              <a:t>50+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2377439"/>
            <a:ext cx="2267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За власним каталогом
виробника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25711" y="1517904"/>
            <a:ext cx="2706624" cy="109728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125711" y="1517904"/>
            <a:ext cx="2706624" cy="25603"/>
          </a:xfrm>
          <a:prstGeom prst="rect">
            <a:avLst/>
          </a:prstGeom>
          <a:solidFill>
            <a:srgbClr val="A8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45167" y="1691639"/>
            <a:ext cx="22677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Е К С П О Р 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45167" y="1883664"/>
            <a:ext cx="22677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>
                <a:solidFill>
                  <a:srgbClr val="A84A6B"/>
                </a:solidFill>
                <a:latin typeface="Georgia"/>
              </a:rPr>
              <a:t>100+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5167" y="2377439"/>
            <a:ext cx="2267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країн збуту
за заявою виробника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2761488"/>
            <a:ext cx="11064240" cy="210312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3232" y="2802636"/>
            <a:ext cx="60853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Segoe UI"/>
              </a:rPr>
              <a:t>ЩО САМЕ ВИРОБЛЯЄ SAKAI TAKAYUKI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3054096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ГРУПА СТАЛІ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670048" y="3054096"/>
            <a:ext cx="3017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КОНКРЕТНО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87568" y="3054096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ДЕ ЦЕ В ЦІНІ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82127" y="3054096"/>
            <a:ext cx="3657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ХТО ВЖЕ ТРИМАЄ ЦЮ ЗОНУ В УКРАЇНІ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93776" y="3232404"/>
            <a:ext cx="11210544" cy="260603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66928" y="3273552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Нержавіюча базова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670048" y="3273552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Hakugin INOX, молібден-ванадій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87568" y="3273552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3 000 – 7 000 грн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882127" y="3273552"/>
            <a:ext cx="3602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Satake, Seki Kanetsugu, Tojiro Basic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928" y="3543300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2A7F86"/>
                </a:solidFill>
                <a:latin typeface="Segoe UI"/>
              </a:rPr>
              <a:t>VG-10 і дамаск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670048" y="3543300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17 / 33 / 45 шарів, Grand Chef SP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87568" y="3543300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7 000 – 16 000 грн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882127" y="3543300"/>
            <a:ext cx="3602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Tojiro DP, Kasumi, KAI Shun, Yaxell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93776" y="3771900"/>
            <a:ext cx="11210544" cy="260603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66928" y="3813048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54780"/>
                </a:solidFill>
                <a:latin typeface="Segoe UI"/>
              </a:rPr>
              <a:t>Ginsan / Silver #3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670048" y="3813048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моносталь, Ginsan Warikomi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87568" y="3813048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9 000 – 20 000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882127" y="3813048"/>
            <a:ext cx="3602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Практично ніхто: 1–2 позиції в країні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6928" y="4082796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54780"/>
                </a:solidFill>
                <a:latin typeface="Segoe UI"/>
              </a:rPr>
              <a:t>Вуглецева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70048" y="4082796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Aogami #2, Shirogami, Aoniko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87568" y="4082796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6 000 – 25 000 грн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882127" y="4082796"/>
            <a:ext cx="3602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Tosa, HONMAMON, Takamura — артизанальний край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93776" y="4311396"/>
            <a:ext cx="11210544" cy="260603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66928" y="4352544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A84A6B"/>
                </a:solidFill>
                <a:latin typeface="Segoe UI"/>
              </a:rPr>
              <a:t>Порошкова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670048" y="4352544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SPG2 / R2, ZA-18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87568" y="4352544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16 000 – 45 000 грн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882127" y="4352544"/>
            <a:ext cx="3602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Yaxell Super Gou, Nigara, Hatsukokoro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66928" y="4622292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B42E3A"/>
                </a:solidFill>
                <a:latin typeface="Segoe UI"/>
              </a:rPr>
              <a:t>Honyaki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670048" y="4622292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Ginsan моносталь, Shoryu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687568" y="4622292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35 000 – 70 000 грн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882127" y="4622292"/>
            <a:ext cx="3602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Порожньо. У країні немає жодного honyaki на складі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566928" y="5047488"/>
            <a:ext cx="5413248" cy="1012393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566928" y="5047488"/>
            <a:ext cx="36576" cy="1012393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04672" y="5202936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2A7F86"/>
                </a:solidFill>
                <a:latin typeface="Segoe UI"/>
              </a:rPr>
              <a:t>ЧОМУ ЦЕЙ ПОСТАЧАЛЬНИК НЕ «ЩЕ ОДИН БРЕНД»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04672" y="5431536"/>
            <a:ext cx="4937760" cy="4820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Sakai Takayuki закриває весь діапазон від 3 000 до 70 000 грн однією лінійкою.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Жоден із присутніх в Україні японських брендів цього не робить: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KAI і Yaxell сильні зверху, Satake і Seki Kanetsugu — знизу.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6217920" y="5047488"/>
            <a:ext cx="5413248" cy="1012393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217920" y="5047488"/>
            <a:ext cx="36576" cy="1012393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455664" y="5202936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B88A3D"/>
                </a:solidFill>
                <a:latin typeface="Segoe UI"/>
              </a:rPr>
              <a:t>ЩО ЦЕ ОЗНАЧАЄ ДЛЯ ПЕРЕГОВОРІВ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455664" y="5431536"/>
            <a:ext cx="4937760" cy="4820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Виробник із 50+ серіями і експортом у 100+ країн має готову дилерську схему,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а отже й готові вимоги: мінімальна партія, ексклюзив по території, цінова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дисципліна. Це переговори про дистрибуцію, а не разова закупівля.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03504" y="649224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Джерело профілю: офіційний каталог виробника (sakaitakayukiknives.com), жовтень 2026. Цінові зони — перерахунок спостережених роздрібних цін в Україні на відповідні типи сталі, не прайс виробника.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П О Т Е Н Ц І Й Н И Й   П О С Т А Ч А Л Ь Н И К   ·   2   З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Georgia"/>
              </a:rPr>
              <a:t>Дев'ятнадцять позицій на всю країну — і лише дві справжні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Обхід 17 продавців, Prom, Rozetka й Епіцентру на 1 жовтня 2026. Кожен рядок перевірено на картці товару.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463040"/>
            <a:ext cx="2706624" cy="1115568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1463040"/>
            <a:ext cx="2706624" cy="25603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" y="1636776"/>
            <a:ext cx="22677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З Н А Й Д Е Н О   П О З И Ц І 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1828800"/>
            <a:ext cx="22677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1">
                <a:solidFill>
                  <a:srgbClr val="966E28"/>
                </a:solidFill>
                <a:latin typeface="Georgia"/>
              </a:rPr>
              <a:t>19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" y="2322576"/>
            <a:ext cx="2267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в усіх каналах
країни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19856" y="1463040"/>
            <a:ext cx="2706624" cy="1115568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19856" y="1463040"/>
            <a:ext cx="2706624" cy="25603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39312" y="1636776"/>
            <a:ext cx="22677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Р Е А Л Ь Н О   Н А   С К Л А Д 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9312" y="1828800"/>
            <a:ext cx="22677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1">
                <a:solidFill>
                  <a:srgbClr val="2A7F86"/>
                </a:solidFill>
                <a:latin typeface="Georgia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39312" y="2322576"/>
            <a:ext cx="2267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ProfiMax, обидві —
янагіба 24 см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72784" y="1463040"/>
            <a:ext cx="2706624" cy="1115568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72784" y="1463040"/>
            <a:ext cx="2706624" cy="25603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1636776"/>
            <a:ext cx="22677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Д Р О П Ш И П - Л І С Т И Н Г 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1828800"/>
            <a:ext cx="22677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1">
                <a:solidFill>
                  <a:srgbClr val="966E28"/>
                </a:solidFill>
                <a:latin typeface="Georgia"/>
              </a:rPr>
              <a:t>15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2322576"/>
            <a:ext cx="2267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у пʼяти вітринах
Prom, складу немає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25711" y="1463040"/>
            <a:ext cx="2706624" cy="1115568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125711" y="1463040"/>
            <a:ext cx="2706624" cy="25603"/>
          </a:xfrm>
          <a:prstGeom prst="rect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45167" y="1636776"/>
            <a:ext cx="22677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Ф А Х О В И Х   П Р О Д А В Ц І В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45167" y="1828800"/>
            <a:ext cx="22677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1">
                <a:solidFill>
                  <a:srgbClr val="B42E3A"/>
                </a:solidFill>
                <a:latin typeface="Georgia"/>
              </a:rP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5167" y="2322576"/>
            <a:ext cx="2267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ProfiMax — єдиний,
хто тримає склад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2688336"/>
            <a:ext cx="3931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ПОЗИЦІЯ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98848" y="2688336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ПРОДАВЕЦЬ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36208" y="2688336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ЦІНА, ГРН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24928" y="2688336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СТАТУС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79408" y="2688336"/>
            <a:ext cx="2560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ЩО ЦЕ ЗНАЧИТЬ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93776" y="2830068"/>
            <a:ext cx="11210544" cy="148132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6928" y="2871216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Yanagiba Yasugi 24 см, з ножнами (07003)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98848" y="2871216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36208" y="2871216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2A7F86"/>
                </a:solidFill>
                <a:latin typeface="Segoe UI"/>
              </a:rPr>
              <a:t>7 460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24928" y="287121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2A7F86"/>
                </a:solidFill>
                <a:latin typeface="Segoe UI"/>
              </a:rPr>
              <a:t>СКЛАД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979408" y="2871216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Картка продавця, походження: Japan (Sakai, Osaka)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928" y="3024835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Yanagiba Yasugi 24 см, для лівші (07005)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98848" y="3024835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36208" y="3024835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2A7F86"/>
                </a:solidFill>
                <a:latin typeface="Segoe UI"/>
              </a:rPr>
              <a:t>7 640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24928" y="3024835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2A7F86"/>
                </a:solidFill>
                <a:latin typeface="Segoe UI"/>
              </a:rPr>
              <a:t>СКЛАД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979408" y="3024835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/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93776" y="3137306"/>
            <a:ext cx="11210544" cy="148132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66928" y="3178454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Chief 210мм (вінтажний)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498848" y="3178454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ROKS·Prom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236208" y="3178454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B42E3A"/>
                </a:solidFill>
                <a:latin typeface="Segoe UI"/>
              </a:rPr>
              <a:t>3 520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424928" y="3178454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B42E3A"/>
                </a:solidFill>
                <a:latin typeface="Segoe UI"/>
              </a:rPr>
              <a:t>РОЗБІЖНІСТЬ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979408" y="3178454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На власному сайті продавця товару немає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6928" y="3332073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Chief 240мм (вінтажний)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498848" y="3332073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ROKS·Prom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36208" y="3332073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B42E3A"/>
                </a:solidFill>
                <a:latin typeface="Segoe UI"/>
              </a:rPr>
              <a:t>4 070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424928" y="3332073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B42E3A"/>
                </a:solidFill>
                <a:latin typeface="Segoe UI"/>
              </a:rPr>
              <a:t>РОЗБІЖНІСТЬ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79408" y="3332073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/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93776" y="3444544"/>
            <a:ext cx="11210544" cy="148132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66928" y="3485692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Urushi Vg 10 15см (07942)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498848" y="3485692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Techdom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236208" y="3485692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12 550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424928" y="3485692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966E28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979408" y="3485692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Термін постачання 5–10 днів, складу немає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" y="3639312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Urushi Sairen Kengata 16см (VG-10)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498848" y="3639312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Techdom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236208" y="3639312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15 266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424928" y="3639312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966E28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979408" y="3639312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/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493776" y="3751783"/>
            <a:ext cx="11210544" cy="148132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66928" y="3792931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Urushi Saiu Santoku 17см (VG-10)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498848" y="3792931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tech.dp.ua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236208" y="3792931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15 326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424928" y="3792931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966E28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979408" y="3792931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/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66928" y="3946550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Urushi Sairen Kengata 16см (VG-10)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498848" y="3946550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Shopnica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236208" y="3946550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15 326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424928" y="3946550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966E28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979408" y="3946550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/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493776" y="4059021"/>
            <a:ext cx="11210544" cy="148132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66928" y="4100169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Urushi Vg-10 Saiseki Kengata (7966)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498848" y="4100169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Shopnica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236208" y="4100169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15 326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424928" y="4100169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966E28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979408" y="4100169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/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66928" y="4253788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Сантоку Nanairo Vg 10 Green (14576)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498848" y="4253788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tech.dp.ua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236208" y="4253788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15 326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424928" y="4253788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966E28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979408" y="4253788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/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493776" y="4366260"/>
            <a:ext cx="11210544" cy="148132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66928" y="4407408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шеф-кухаря Aogami#2 Iron Kurouchi 24см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498848" y="4407408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Techdom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236208" y="4407408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17 387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424928" y="4407408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966E28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979408" y="4407408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/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66928" y="4561027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Шеф Urushi Saiseki 24см (VG-10)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498848" y="4561027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Techdom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36208" y="4561027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18 415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424928" y="4561027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966E28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979408" y="4561027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/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493776" y="4673498"/>
            <a:ext cx="11210544" cy="148132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566928" y="4714646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Santoku Ginga Za 18 см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498848" y="4714646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Techdom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236208" y="4714646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20 572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7424928" y="471464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966E28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979408" y="4714646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/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66928" y="4868265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Kasumi Shirogami 3 24см (6083)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4498848" y="4868265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tech.dp.ua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6236208" y="4868265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20 750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7424928" y="4868265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966E28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979408" y="4868265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/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493776" y="4980736"/>
            <a:ext cx="11210544" cy="148132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66928" y="5021884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Silver#3 Yanagiba 27см (4231)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498848" y="5021884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Shopnica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36208" y="5021884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34 857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424928" y="5021884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966E28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979408" y="5021884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/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66928" y="5175504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Byakko Shirogami Kiritsuke Yanagiba 27см (2204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498848" y="5175504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tech.dp.ua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236208" y="5175504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44 169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7424928" y="5175504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966E28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8979408" y="5175504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/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493776" y="5287975"/>
            <a:ext cx="11210544" cy="148132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566928" y="5329123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Shoryu Honyaki Vg 10 Kengata Yanagiba 30см (20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498848" y="5329123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Shopnica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6236208" y="5329123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57 903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7424928" y="5329123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966E28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8979408" y="5329123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/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66928" y="5482742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Shoryu Honyaki VG-10 Sakimaru 30см (0204)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498848" y="5482742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Shopnica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6236208" y="5482742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60 495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7424928" y="5482742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966E28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979408" y="5482742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/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493776" y="5595213"/>
            <a:ext cx="11210544" cy="148132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566928" y="5636361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Genbu Aogami 2 Sakimaru 30Cm (2245)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498848" y="5636361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Livico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36208" y="5636361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61 891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7424928" y="5636361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966E28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8979408" y="5636361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/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566928" y="5852160"/>
            <a:ext cx="3584448" cy="684225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566928" y="5852160"/>
            <a:ext cx="36576" cy="684225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804672" y="6007608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966E28"/>
                </a:solidFill>
                <a:latin typeface="Segoe UI"/>
              </a:rPr>
              <a:t>ЧОМУ 15 326 ГРН ЧОТИРИ РАЗИ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804672" y="6236208"/>
            <a:ext cx="3108960" cy="1538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Чотири моделі, одна ціна — спільний фід.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4297680" y="5852160"/>
            <a:ext cx="3584448" cy="684225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4297680" y="5852160"/>
            <a:ext cx="36576" cy="684225"/>
          </a:xfrm>
          <a:prstGeom prst="rect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4535424" y="6007608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B42E3A"/>
                </a:solidFill>
                <a:latin typeface="Segoe UI"/>
              </a:rPr>
              <a:t>РОЗБІЖНІСТЬ ПО ROKS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535424" y="6236208"/>
            <a:ext cx="3108960" cy="1538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На Prom дві позиції, на roks.com.ua — жодної.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8046720" y="5852160"/>
            <a:ext cx="3584448" cy="684225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8046720" y="5852160"/>
            <a:ext cx="36576" cy="684225"/>
          </a:xfrm>
          <a:prstGeom prst="rect">
            <a:avLst/>
          </a:prstGeom>
          <a:solidFill>
            <a:srgbClr val="6B7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8284464" y="6007608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6B7282"/>
                </a:solidFill>
                <a:latin typeface="Segoe UI"/>
              </a:rPr>
              <a:t>ДЕ БРЕНДУ НЕМАЄ ВЗАГАЛІ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284464" y="6236208"/>
            <a:ext cx="3108960" cy="1538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Rozetka, Епіцентр, Sekator, WildCat, rezat.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603504" y="649224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Перевірено 1 жовтня 2026. «Склад» — картка продавця з прямою наявністю і зазначеним походженням. «Під замовлення» — лістинг Prom із терміном постачання 5–10 днів. Hangiri перевірити не вдалося: сайт закритий Cloudflare.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П О Т Е Н Ц І Й Н И Й   П О С Т А Ч А Л Ь Н И К   ·   3   З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50" b="1">
                <a:solidFill>
                  <a:srgbClr val="FFFFFF"/>
                </a:solidFill>
                <a:latin typeface="Georgia"/>
              </a:rPr>
              <a:t>Усі дев'ятнадцять позицій бренду в країні — на одній сторінці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Фотографії з карток продавців. Зелена позначка — склад із підтвердженим походженням, жовта — лістинг під замовлення, червона — розбіжність із власним сайтом продавця.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66928" y="1517904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_062701c6bdd722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1563624"/>
            <a:ext cx="1361149" cy="73152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640080" y="2331720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2340864"/>
            <a:ext cx="96926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СКЛАД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505456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Yanagiba Yasugi 24 см, з ножнами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2679192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2A7F86"/>
                </a:solidFill>
                <a:latin typeface="Segoe UI"/>
              </a:rPr>
              <a:t>7 460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91056" y="2697480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147533" y="1517904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p_56cc87b54bc0cc4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11541" y="1563624"/>
            <a:ext cx="1361149" cy="731520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2220685" y="2331720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220685" y="2340864"/>
            <a:ext cx="96926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СКЛАД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20685" y="2505456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Yanagiba Yasugi 24 см, для лівші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20685" y="2679192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2A7F86"/>
                </a:solidFill>
                <a:latin typeface="Segoe UI"/>
              </a:rPr>
              <a:t>7 640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71661" y="2697480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728139" y="1517904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p_097322211c3da44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92147" y="1563624"/>
            <a:ext cx="1361149" cy="731520"/>
          </a:xfrm>
          <a:prstGeom prst="rect">
            <a:avLst/>
          </a:prstGeom>
        </p:spPr>
      </p:pic>
      <p:sp>
        <p:nvSpPr>
          <p:cNvPr id="30" name="Rounded Rectangle 29"/>
          <p:cNvSpPr/>
          <p:nvPr/>
        </p:nvSpPr>
        <p:spPr>
          <a:xfrm>
            <a:off x="3801291" y="2331720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01291" y="2340864"/>
            <a:ext cx="96926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РОЗБІЖНІСТЬ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01291" y="2505456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Chief 210мм (вінтажний)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01291" y="2679192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B42E3A"/>
                </a:solidFill>
                <a:latin typeface="Segoe UI"/>
              </a:rPr>
              <a:t>3 520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52267" y="2697480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308745" y="1517904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p_31cbfa5f76fbf1b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72753" y="1563624"/>
            <a:ext cx="1361149" cy="73152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5381897" y="2331720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381897" y="2340864"/>
            <a:ext cx="96926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РОЗБІЖНІСТЬ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81897" y="2505456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Chief 240мм (вінтажний)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81897" y="2679192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B42E3A"/>
                </a:solidFill>
                <a:latin typeface="Segoe UI"/>
              </a:rPr>
              <a:t>4 070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32873" y="2697480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889350" y="1517904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p_8c72624cb8cb4aa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53358" y="1563624"/>
            <a:ext cx="1361149" cy="731520"/>
          </a:xfrm>
          <a:prstGeom prst="rect">
            <a:avLst/>
          </a:prstGeom>
        </p:spPr>
      </p:pic>
      <p:sp>
        <p:nvSpPr>
          <p:cNvPr id="44" name="Rounded Rectangle 43"/>
          <p:cNvSpPr/>
          <p:nvPr/>
        </p:nvSpPr>
        <p:spPr>
          <a:xfrm>
            <a:off x="6962502" y="2331720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962502" y="2340864"/>
            <a:ext cx="96926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62502" y="2505456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універсальний Urushi Vg 10 15см (07942)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62502" y="2679192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12 550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913478" y="2697480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Techdom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469956" y="1517904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0" name="Picture 49" descr="p_1687a41703a9aa9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33964" y="1563624"/>
            <a:ext cx="1361149" cy="731520"/>
          </a:xfrm>
          <a:prstGeom prst="rect">
            <a:avLst/>
          </a:prstGeom>
        </p:spPr>
      </p:pic>
      <p:sp>
        <p:nvSpPr>
          <p:cNvPr id="51" name="Rounded Rectangle 50"/>
          <p:cNvSpPr/>
          <p:nvPr/>
        </p:nvSpPr>
        <p:spPr>
          <a:xfrm>
            <a:off x="8543108" y="2331720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543108" y="2340864"/>
            <a:ext cx="96926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43108" y="2505456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Urushi Sairen Kengata 16см (VG-10)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543108" y="2679192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15 266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494084" y="2697480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Techdom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0050562" y="1517904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p_e13e4aecb494f27f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14570" y="1563624"/>
            <a:ext cx="1361149" cy="731520"/>
          </a:xfrm>
          <a:prstGeom prst="rect">
            <a:avLst/>
          </a:prstGeom>
        </p:spPr>
      </p:pic>
      <p:sp>
        <p:nvSpPr>
          <p:cNvPr id="58" name="Rounded Rectangle 57"/>
          <p:cNvSpPr/>
          <p:nvPr/>
        </p:nvSpPr>
        <p:spPr>
          <a:xfrm>
            <a:off x="10123714" y="2331720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123714" y="2340864"/>
            <a:ext cx="96926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123714" y="2505456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Urushi Saiu Santoku 17см (VG-10)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123714" y="2679192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15 326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074690" y="2697480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tech.dp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66928" y="2953512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p_20a10ffb6ac10f38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0936" y="2999232"/>
            <a:ext cx="1361149" cy="731520"/>
          </a:xfrm>
          <a:prstGeom prst="rect">
            <a:avLst/>
          </a:prstGeom>
        </p:spPr>
      </p:pic>
      <p:sp>
        <p:nvSpPr>
          <p:cNvPr id="65" name="Rounded Rectangle 64"/>
          <p:cNvSpPr/>
          <p:nvPr/>
        </p:nvSpPr>
        <p:spPr>
          <a:xfrm>
            <a:off x="640080" y="3767328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40080" y="3776472"/>
            <a:ext cx="96926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0080" y="3941064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Urushi Sairen Kengata 16см (VG-10)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40080" y="4114800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15 326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591056" y="4133087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Shopnica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2147533" y="2953512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p_284ff0752eb21dc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211541" y="2999232"/>
            <a:ext cx="1361149" cy="731520"/>
          </a:xfrm>
          <a:prstGeom prst="rect">
            <a:avLst/>
          </a:prstGeom>
        </p:spPr>
      </p:pic>
      <p:sp>
        <p:nvSpPr>
          <p:cNvPr id="72" name="Rounded Rectangle 71"/>
          <p:cNvSpPr/>
          <p:nvPr/>
        </p:nvSpPr>
        <p:spPr>
          <a:xfrm>
            <a:off x="2220685" y="3767328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220685" y="3776472"/>
            <a:ext cx="96926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220685" y="3941064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Urushi Vg-10 Saiseki Kengata (7966)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220685" y="4114800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15 326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171661" y="4133087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Shopnica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3728139" y="2953512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8" name="Picture 77" descr="p_de239a57651f6e4a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792147" y="2999232"/>
            <a:ext cx="1361149" cy="731520"/>
          </a:xfrm>
          <a:prstGeom prst="rect">
            <a:avLst/>
          </a:prstGeom>
        </p:spPr>
      </p:pic>
      <p:sp>
        <p:nvSpPr>
          <p:cNvPr id="79" name="Rounded Rectangle 78"/>
          <p:cNvSpPr/>
          <p:nvPr/>
        </p:nvSpPr>
        <p:spPr>
          <a:xfrm>
            <a:off x="3801291" y="3767328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801291" y="3776472"/>
            <a:ext cx="96926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801291" y="3941064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Сантоку Nanairo Vg 10 Green (14576)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801291" y="4114800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15 326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752267" y="4133087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tech.dp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5308745" y="2953512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5" name="Picture 84" descr="p_6fc69c5adeb0e5d8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372753" y="2999232"/>
            <a:ext cx="1361149" cy="731520"/>
          </a:xfrm>
          <a:prstGeom prst="rect">
            <a:avLst/>
          </a:prstGeom>
        </p:spPr>
      </p:pic>
      <p:sp>
        <p:nvSpPr>
          <p:cNvPr id="86" name="Rounded Rectangle 85"/>
          <p:cNvSpPr/>
          <p:nvPr/>
        </p:nvSpPr>
        <p:spPr>
          <a:xfrm>
            <a:off x="5381897" y="3767328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381897" y="3776472"/>
            <a:ext cx="96926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381897" y="3941064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шеф-кухаря Aogami#2 Iron Kurouchi 24см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381897" y="4114800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17 387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332873" y="4133087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Techdom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6889350" y="2953512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2" name="Picture 91" descr="p_7a6ca1f08184868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953358" y="2999232"/>
            <a:ext cx="1361149" cy="731520"/>
          </a:xfrm>
          <a:prstGeom prst="rect">
            <a:avLst/>
          </a:prstGeom>
        </p:spPr>
      </p:pic>
      <p:sp>
        <p:nvSpPr>
          <p:cNvPr id="93" name="Rounded Rectangle 92"/>
          <p:cNvSpPr/>
          <p:nvPr/>
        </p:nvSpPr>
        <p:spPr>
          <a:xfrm>
            <a:off x="6962502" y="3767328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6962502" y="3776472"/>
            <a:ext cx="96926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962502" y="3941064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Шеф Urushi Saiseki 24см (VG-10)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962502" y="4114800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18 415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913478" y="4133087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Techdom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8469956" y="2953512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9" name="Picture 98" descr="p_870d8e72a0bc497a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533964" y="2999232"/>
            <a:ext cx="1361149" cy="731520"/>
          </a:xfrm>
          <a:prstGeom prst="rect">
            <a:avLst/>
          </a:prstGeom>
        </p:spPr>
      </p:pic>
      <p:sp>
        <p:nvSpPr>
          <p:cNvPr id="100" name="Rounded Rectangle 99"/>
          <p:cNvSpPr/>
          <p:nvPr/>
        </p:nvSpPr>
        <p:spPr>
          <a:xfrm>
            <a:off x="8543108" y="3767328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543108" y="3776472"/>
            <a:ext cx="96926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43108" y="3941064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Santoku Ginga Za 18 см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543108" y="4114800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20 572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494084" y="4133087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Techdom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10050562" y="2953512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6" name="Picture 105" descr="p_9e3c84dc09761d93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114570" y="2999232"/>
            <a:ext cx="1361149" cy="731520"/>
          </a:xfrm>
          <a:prstGeom prst="rect">
            <a:avLst/>
          </a:prstGeom>
        </p:spPr>
      </p:pic>
      <p:sp>
        <p:nvSpPr>
          <p:cNvPr id="107" name="Rounded Rectangle 106"/>
          <p:cNvSpPr/>
          <p:nvPr/>
        </p:nvSpPr>
        <p:spPr>
          <a:xfrm>
            <a:off x="10123714" y="3767328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10123714" y="3776472"/>
            <a:ext cx="96926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123714" y="3941064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Kasumi Shirogami 3 24см (6083)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123714" y="4114800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20 750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1074690" y="4133087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tech.dp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566928" y="4389120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3" name="Picture 112" descr="p_a8884f1317e00cc0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30936" y="4434840"/>
            <a:ext cx="1361149" cy="731520"/>
          </a:xfrm>
          <a:prstGeom prst="rect">
            <a:avLst/>
          </a:prstGeom>
        </p:spPr>
      </p:pic>
      <p:sp>
        <p:nvSpPr>
          <p:cNvPr id="114" name="Rounded Rectangle 113"/>
          <p:cNvSpPr/>
          <p:nvPr/>
        </p:nvSpPr>
        <p:spPr>
          <a:xfrm>
            <a:off x="640080" y="5202936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640080" y="5212079"/>
            <a:ext cx="96926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40080" y="5376672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Silver#3 Yanagiba 27см (4231)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40080" y="5550408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34 857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591056" y="5568696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Shopnica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2147533" y="4389120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0" name="Picture 119" descr="p_21440b925015ef16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211541" y="4434840"/>
            <a:ext cx="1361149" cy="731520"/>
          </a:xfrm>
          <a:prstGeom prst="rect">
            <a:avLst/>
          </a:prstGeom>
        </p:spPr>
      </p:pic>
      <p:sp>
        <p:nvSpPr>
          <p:cNvPr id="121" name="Rounded Rectangle 120"/>
          <p:cNvSpPr/>
          <p:nvPr/>
        </p:nvSpPr>
        <p:spPr>
          <a:xfrm>
            <a:off x="2220685" y="5202936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2220685" y="5212079"/>
            <a:ext cx="96926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220685" y="5376672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Byakko Shirogami Kiritsuke Yanagiba 27см (2204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220685" y="5550408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44 169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171661" y="5568696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tech.dp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3728139" y="4389120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7" name="Picture 126" descr="p_f7f53c299894aac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792147" y="4434840"/>
            <a:ext cx="1361149" cy="731520"/>
          </a:xfrm>
          <a:prstGeom prst="rect">
            <a:avLst/>
          </a:prstGeom>
        </p:spPr>
      </p:pic>
      <p:sp>
        <p:nvSpPr>
          <p:cNvPr id="128" name="Rounded Rectangle 127"/>
          <p:cNvSpPr/>
          <p:nvPr/>
        </p:nvSpPr>
        <p:spPr>
          <a:xfrm>
            <a:off x="3801291" y="5202936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3801291" y="5212079"/>
            <a:ext cx="96926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3801291" y="5376672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Shoryu Honyaki Vg 10 Kengata Yanagiba 30см (20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801291" y="5550408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57 903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4752267" y="5568696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Shopnica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5308745" y="4389120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4" name="Picture 133" descr="p_2ed6ae5f98147da7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372753" y="4434840"/>
            <a:ext cx="1361149" cy="731520"/>
          </a:xfrm>
          <a:prstGeom prst="rect">
            <a:avLst/>
          </a:prstGeom>
        </p:spPr>
      </p:pic>
      <p:sp>
        <p:nvSpPr>
          <p:cNvPr id="135" name="Rounded Rectangle 134"/>
          <p:cNvSpPr/>
          <p:nvPr/>
        </p:nvSpPr>
        <p:spPr>
          <a:xfrm>
            <a:off x="5381897" y="5202936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5381897" y="5212079"/>
            <a:ext cx="96926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5381897" y="5376672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Shoryu Honyaki VG-10 Sakimaru 30см (0204)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5381897" y="5550408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60 495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6332873" y="5568696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Shopnica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6889350" y="4389120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1" name="Picture 140" descr="p_c774391e57a98baf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953358" y="4434840"/>
            <a:ext cx="1361149" cy="731520"/>
          </a:xfrm>
          <a:prstGeom prst="rect">
            <a:avLst/>
          </a:prstGeom>
        </p:spPr>
      </p:pic>
      <p:sp>
        <p:nvSpPr>
          <p:cNvPr id="142" name="Rounded Rectangle 141"/>
          <p:cNvSpPr/>
          <p:nvPr/>
        </p:nvSpPr>
        <p:spPr>
          <a:xfrm>
            <a:off x="6962502" y="5202936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6962502" y="5212079"/>
            <a:ext cx="96926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6962502" y="5376672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Genbu Aogami 2 Sakimaru 30Cm (2245)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6962502" y="5550408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61 891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7913478" y="5568696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Livico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566928" y="5870448"/>
            <a:ext cx="5413248" cy="687628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566928" y="5870448"/>
            <a:ext cx="36576" cy="687628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804672" y="6025896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2A7F86"/>
                </a:solidFill>
                <a:latin typeface="Segoe UI"/>
              </a:rPr>
              <a:t>ЩО ВИДНО НА ЦІЙ СТОРІНЦІ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804672" y="6254496"/>
            <a:ext cx="4937760" cy="1572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Зі складу — лише дві янагіби 24 см. Решта, разом із сантоку й гюто, тільки під замовлення.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6217920" y="5870448"/>
            <a:ext cx="5413248" cy="687628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6217920" y="5870448"/>
            <a:ext cx="36576" cy="687628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6455664" y="6025896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B88A3D"/>
                </a:solidFill>
                <a:latin typeface="Segoe UI"/>
              </a:rPr>
              <a:t>ЯК ЦЕ ЧИТАТИ ПЕРЕД ПЕРЕГОВОРАМИ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455664" y="6254496"/>
            <a:ext cx="4937760" cy="1572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Асортимент зібрано не дистрибʼютором, а дропшиперами. Брендом у країні ніхто не керує.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03504" y="6574536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Фотографії — з публічних карток товару ProfiMax і вітрин prom.ua, жовтень 2026. Наведено для ідентифікації позицій; права на зображення належать продавцям і виробнику.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П О Т Е Н Ц І Й Н И Й   П О С Т А Ч А Л Ь Н И К   ·   4   З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Georgia"/>
              </a:rPr>
              <a:t>Куди став би цей бренд і проти кого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21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Позиція Sakai Takayuki на тій самій шкалі, що й решта каталогу. Зіставлення з брендами, які вже мають в Україні полицю і глибину лінійки.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499616"/>
            <a:ext cx="7223760" cy="210312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" y="1540763"/>
            <a:ext cx="39730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Segoe UI"/>
              </a:rPr>
              <a:t>ЦІЛЬОВА ЗОНА 7 000 – 20 000 ГРН: ХТО ЇЇ ВЖЕ ТРИМАЄ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1828800"/>
            <a:ext cx="17373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Yaxell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377439" y="1869948"/>
            <a:ext cx="4206240" cy="82296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377439" y="1869948"/>
            <a:ext cx="4206240" cy="82296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19" y="1828800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51A26"/>
                </a:solidFill>
                <a:latin typeface="Segoe UI"/>
              </a:rPr>
              <a:t>21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2098548"/>
            <a:ext cx="17373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KAI / Shun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77439" y="2139696"/>
            <a:ext cx="4206240" cy="82296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77439" y="2139696"/>
            <a:ext cx="3605348" cy="82296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5119" y="2098548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51A26"/>
                </a:solidFill>
                <a:latin typeface="Segoe UI"/>
              </a:rPr>
              <a:t>18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2368296"/>
            <a:ext cx="17373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Tojiro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377439" y="2409444"/>
            <a:ext cx="4206240" cy="82296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377439" y="2409444"/>
            <a:ext cx="3605348" cy="82296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75119" y="2368296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51A26"/>
                </a:solidFill>
                <a:latin typeface="Segoe UI"/>
              </a:rPr>
              <a:t>18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2638044"/>
            <a:ext cx="17373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Kasumi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377439" y="2679191"/>
            <a:ext cx="4206240" cy="82296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377439" y="2679191"/>
            <a:ext cx="1802674" cy="82296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75119" y="2638044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51A26"/>
                </a:solidFill>
                <a:latin typeface="Segoe UI"/>
              </a:rPr>
              <a:t>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2907791"/>
            <a:ext cx="17373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Takamura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377439" y="2948939"/>
            <a:ext cx="4206240" cy="82296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377439" y="2948939"/>
            <a:ext cx="1602377" cy="82296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75119" y="2907791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51A26"/>
                </a:solidFill>
                <a:latin typeface="Segoe UI"/>
              </a:rPr>
              <a:t>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3177539"/>
            <a:ext cx="17373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Tosa (кузні)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377439" y="3218687"/>
            <a:ext cx="4206240" cy="82296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377439" y="3218687"/>
            <a:ext cx="1602377" cy="82296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75119" y="3177539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51A26"/>
                </a:solidFill>
                <a:latin typeface="Segoe UI"/>
              </a:rPr>
              <a:t>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" y="3447287"/>
            <a:ext cx="17373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HONMAMON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377439" y="3488435"/>
            <a:ext cx="4206240" cy="82296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377439" y="3488435"/>
            <a:ext cx="1602377" cy="82296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75119" y="3447287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51A26"/>
                </a:solidFill>
                <a:latin typeface="Segoe UI"/>
              </a:rPr>
              <a:t>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" y="3717035"/>
            <a:ext cx="17373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Seki Kanetsugu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377439" y="3758183"/>
            <a:ext cx="4206240" cy="82296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377439" y="3758183"/>
            <a:ext cx="801188" cy="82296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75119" y="3717035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51A26"/>
                </a:solidFill>
                <a:latin typeface="Segoe UI"/>
              </a:rPr>
              <a:t>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0080" y="3986783"/>
            <a:ext cx="17373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Sakai Takayuki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377439" y="4027931"/>
            <a:ext cx="4206240" cy="82296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377439" y="4027931"/>
            <a:ext cx="400594" cy="82296"/>
          </a:xfrm>
          <a:prstGeom prst="rect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675119" y="3986783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51A26"/>
                </a:solidFill>
                <a:latin typeface="Segoe UI"/>
              </a:rPr>
              <a:t>2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40080" y="4315968"/>
            <a:ext cx="7077456" cy="1012393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40080" y="4315968"/>
            <a:ext cx="36576" cy="1012393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77824" y="4471416"/>
            <a:ext cx="66019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B88A3D"/>
                </a:solidFill>
                <a:latin typeface="Segoe UI"/>
              </a:rPr>
              <a:t>ЧИТАННЯ ЦІЄЇ ШКАЛИ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77824" y="4700016"/>
            <a:ext cx="6601968" cy="4820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105 позицій каталогу, тобто 41 % усього японського виробництва в країні,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лежать у зоні 7 000 – 20 000 грн. Зона не порожня — вона зайнята.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Sakai Takayuki тримає в ній 2 позиції з 105, тобто менше 2 %.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010144" y="1499616"/>
            <a:ext cx="3621024" cy="210312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156448" y="1540763"/>
            <a:ext cx="199156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Segoe UI"/>
              </a:rPr>
              <a:t>ДЕ ЗОНА СПРАВДІ ПОРОЖНЯ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010144" y="1828800"/>
            <a:ext cx="3621024" cy="548640"/>
          </a:xfrm>
          <a:prstGeom prst="roundRect">
            <a:avLst>
              <a:gd name="adj" fmla="val 7000"/>
            </a:avLst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8010144" y="1828800"/>
            <a:ext cx="41148" cy="548640"/>
          </a:xfrm>
          <a:prstGeom prst="rect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174736" y="1901952"/>
            <a:ext cx="3291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40" b="1">
                <a:solidFill>
                  <a:srgbClr val="B42E3A"/>
                </a:solidFill>
                <a:latin typeface="Segoe UI"/>
              </a:rPr>
              <a:t>Honyaki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174736" y="2057400"/>
            <a:ext cx="3291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80" b="0">
                <a:solidFill>
                  <a:srgbClr val="1B253F"/>
                </a:solidFill>
                <a:latin typeface="Segoe UI"/>
              </a:rPr>
              <a:t>Жодної позиції в країні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010144" y="2505456"/>
            <a:ext cx="3621024" cy="548640"/>
          </a:xfrm>
          <a:prstGeom prst="roundRect">
            <a:avLst>
              <a:gd name="adj" fmla="val 7000"/>
            </a:avLst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8010144" y="2505456"/>
            <a:ext cx="41148" cy="548640"/>
          </a:xfrm>
          <a:prstGeom prst="rect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174736" y="2578608"/>
            <a:ext cx="3291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40" b="1">
                <a:solidFill>
                  <a:srgbClr val="B42E3A"/>
                </a:solidFill>
                <a:latin typeface="Segoe UI"/>
              </a:rPr>
              <a:t>Ginsan / Silver #3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74736" y="2734056"/>
            <a:ext cx="3291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80" b="0">
                <a:solidFill>
                  <a:srgbClr val="1B253F"/>
                </a:solidFill>
                <a:latin typeface="Segoe UI"/>
              </a:rPr>
              <a:t>1 позиція, і та дропшип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8010144" y="3182112"/>
            <a:ext cx="3621024" cy="804672"/>
          </a:xfrm>
          <a:prstGeom prst="roundRect">
            <a:avLst>
              <a:gd name="adj" fmla="val 7000"/>
            </a:avLst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010144" y="3182112"/>
            <a:ext cx="41148" cy="804672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174736" y="3255264"/>
            <a:ext cx="3291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Односторонні понад
10 000 грн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174736" y="3566160"/>
            <a:ext cx="32918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80" b="0">
                <a:solidFill>
                  <a:srgbClr val="1B253F"/>
                </a:solidFill>
                <a:latin typeface="Segoe UI"/>
              </a:rPr>
              <a:t>Немає. Стеля янагіби —
7 640 грн, і це
Sakai Takayuki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010144" y="4114800"/>
            <a:ext cx="3621024" cy="548640"/>
          </a:xfrm>
          <a:prstGeom prst="roundRect">
            <a:avLst>
              <a:gd name="adj" fmla="val 7000"/>
            </a:avLst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010144" y="4114800"/>
            <a:ext cx="41148" cy="548640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174736" y="4187952"/>
            <a:ext cx="3291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Wa-руків'я в
профканалі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174736" y="4498848"/>
            <a:ext cx="3291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80" b="0">
                <a:solidFill>
                  <a:srgbClr val="1B253F"/>
                </a:solidFill>
                <a:latin typeface="Segoe UI"/>
              </a:rPr>
              <a:t>AL-Group: 0 із 523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640080" y="5376672"/>
            <a:ext cx="7077456" cy="1173073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40080" y="5376672"/>
            <a:ext cx="36576" cy="1173073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77824" y="5532120"/>
            <a:ext cx="66019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2A7F86"/>
                </a:solidFill>
                <a:latin typeface="Segoe UI"/>
              </a:rPr>
              <a:t>ЩО З ЦЬОГО ВИПЛИВАЄ ДЛЯ РІШЕННЯ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77824" y="5760720"/>
            <a:ext cx="6601968" cy="6427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Бренд не має в Україні ані дистриб'ютора, ані полиці, ані жодного SKU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у великому форматі й в опті HoReCa. Це означає вільну територію —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і водночас нульовий упізнаваний попит: 2 позиції за всю історію каналу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не створили впізнаваності, на яку можна спертися в першій партії.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03504" y="6574536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Кількість позицій у зоні 7 000 – 20 000 грн порахована за каталогом із 259 ножів японського виробництва, зібраним у цій роботі. Це не обсяг продажів, а ширина присутності на полиці.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